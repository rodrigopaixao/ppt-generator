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3.xml" ContentType="application/vnd.openxmlformats-officedocument.theme+xml"/>
  <Override PartName="/ppt/tags/tag12.xml" ContentType="application/vnd.openxmlformats-officedocument.presentationml.tags+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4.xml" ContentType="application/vnd.openxmlformats-officedocument.theme+xml"/>
  <Override PartName="/ppt/tags/tag13.xml" ContentType="application/vnd.openxmlformats-officedocument.presentationml.tags+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5.xml" ContentType="application/vnd.openxmlformats-officedocument.theme+xml"/>
  <Override PartName="/ppt/tags/tag14.xml" ContentType="application/vnd.openxmlformats-officedocument.presentationml.tags+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6.xml" ContentType="application/vnd.openxmlformats-officedocument.them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7.xml" ContentType="application/vnd.openxmlformats-officedocument.theme+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heme/theme8.xml" ContentType="application/vnd.openxmlformats-officedocument.theme+xml"/>
  <Override PartName="/ppt/tags/tag30.xml" ContentType="application/vnd.openxmlformats-officedocument.presentationml.tags+xml"/>
  <Override PartName="/ppt/notesSlides/notesSlide1.xml" ContentType="application/vnd.openxmlformats-officedocument.presentationml.notesSlide+xml"/>
  <Override PartName="/ppt/tags/tag31.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32.xml" ContentType="application/vnd.openxmlformats-officedocument.presentationml.tags+xml"/>
  <Override PartName="/ppt/notesSlides/notesSlide4.xml" ContentType="application/vnd.openxmlformats-officedocument.presentationml.notesSlide+xml"/>
  <Override PartName="/ppt/tags/tag33.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34.xml" ContentType="application/vnd.openxmlformats-officedocument.presentationml.tags+xml"/>
  <Override PartName="/ppt/notesSlides/notesSlide7.xml" ContentType="application/vnd.openxmlformats-officedocument.presentationml.notesSlide+xml"/>
  <Override PartName="/ppt/tags/tag35.xml" ContentType="application/vnd.openxmlformats-officedocument.presentationml.tags+xml"/>
  <Override PartName="/ppt/notesSlides/notesSlide8.xml" ContentType="application/vnd.openxmlformats-officedocument.presentationml.notesSlide+xml"/>
  <Override PartName="/ppt/tags/tag36.xml" ContentType="application/vnd.openxmlformats-officedocument.presentationml.tags+xml"/>
  <Override PartName="/ppt/notesSlides/notesSlide9.xml" ContentType="application/vnd.openxmlformats-officedocument.presentationml.notesSlide+xml"/>
  <Override PartName="/ppt/tags/tag37.xml" ContentType="application/vnd.openxmlformats-officedocument.presentationml.tags+xml"/>
  <Override PartName="/ppt/notesSlides/notesSlide10.xml" ContentType="application/vnd.openxmlformats-officedocument.presentationml.notesSlide+xml"/>
  <Override PartName="/ppt/tags/tag38.xml" ContentType="application/vnd.openxmlformats-officedocument.presentationml.tags+xml"/>
  <Override PartName="/ppt/notesSlides/notesSlide11.xml" ContentType="application/vnd.openxmlformats-officedocument.presentationml.notesSlide+xml"/>
  <Override PartName="/ppt/tags/tag39.xml" ContentType="application/vnd.openxmlformats-officedocument.presentationml.tags+xml"/>
  <Override PartName="/ppt/notesSlides/notesSlide12.xml" ContentType="application/vnd.openxmlformats-officedocument.presentationml.notesSlide+xml"/>
  <Override PartName="/ppt/tags/tag40.xml" ContentType="application/vnd.openxmlformats-officedocument.presentationml.tags+xml"/>
  <Override PartName="/ppt/notesSlides/notesSlide13.xml" ContentType="application/vnd.openxmlformats-officedocument.presentationml.notesSlide+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notesSlides/notesSlide14.xml" ContentType="application/vnd.openxmlformats-officedocument.presentationml.notesSlide+xml"/>
  <Override PartName="/ppt/tags/tag65.xml" ContentType="application/vnd.openxmlformats-officedocument.presentationml.tags+xml"/>
  <Override PartName="/ppt/tags/tag66.xml" ContentType="application/vnd.openxmlformats-officedocument.presentationml.tags+xml"/>
  <Override PartName="/ppt/notesSlides/notesSlide15.xml" ContentType="application/vnd.openxmlformats-officedocument.presentationml.notesSlide+xml"/>
  <Override PartName="/ppt/tags/tag67.xml" ContentType="application/vnd.openxmlformats-officedocument.presentationml.tags+xml"/>
  <Override PartName="/ppt/tags/tag68.xml" ContentType="application/vnd.openxmlformats-officedocument.presentationml.tags+xml"/>
  <Override PartName="/ppt/notesSlides/notesSlide16.xml" ContentType="application/vnd.openxmlformats-officedocument.presentationml.notesSlide+xml"/>
  <Override PartName="/ppt/tags/tag69.xml" ContentType="application/vnd.openxmlformats-officedocument.presentationml.tags+xml"/>
  <Override PartName="/ppt/tags/tag70.xml" ContentType="application/vnd.openxmlformats-officedocument.presentationml.tags+xml"/>
  <Override PartName="/ppt/notesSlides/notesSlide17.xml" ContentType="application/vnd.openxmlformats-officedocument.presentationml.notesSlide+xml"/>
  <Override PartName="/ppt/tags/tag71.xml" ContentType="application/vnd.openxmlformats-officedocument.presentationml.tags+xml"/>
  <Override PartName="/ppt/notesSlides/notesSlide18.xml" ContentType="application/vnd.openxmlformats-officedocument.presentationml.notesSlide+xml"/>
  <Override PartName="/ppt/tags/tag72.xml" ContentType="application/vnd.openxmlformats-officedocument.presentationml.tags+xml"/>
  <Override PartName="/ppt/notesSlides/notesSlide19.xml" ContentType="application/vnd.openxmlformats-officedocument.presentationml.notesSlide+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notesSlides/notesSlide20.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notesSlides/notesSlide21.xml" ContentType="application/vnd.openxmlformats-officedocument.presentationml.notesSlide+xml"/>
  <Override PartName="/ppt/charts/chart5.xml" ContentType="application/vnd.openxmlformats-officedocument.drawingml.chart+xml"/>
  <Override PartName="/ppt/tags/tag134.xml" ContentType="application/vnd.openxmlformats-officedocument.presentationml.tags+xml"/>
  <Override PartName="/ppt/notesSlides/notesSlide22.xml" ContentType="application/vnd.openxmlformats-officedocument.presentationml.notesSlide+xml"/>
  <Override PartName="/ppt/tags/tag135.xml" ContentType="application/vnd.openxmlformats-officedocument.presentationml.tags+xml"/>
  <Override PartName="/ppt/notesSlides/notesSlide23.xml" ContentType="application/vnd.openxmlformats-officedocument.presentationml.notesSlide+xml"/>
  <Override PartName="/ppt/tags/tag136.xml" ContentType="application/vnd.openxmlformats-officedocument.presentationml.tags+xml"/>
  <Override PartName="/ppt/notesSlides/notesSlide24.xml" ContentType="application/vnd.openxmlformats-officedocument.presentationml.notesSlide+xml"/>
  <Override PartName="/ppt/tags/tag137.xml" ContentType="application/vnd.openxmlformats-officedocument.presentationml.tags+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notesSlides/notesSlide27.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notesSlides/notesSlide28.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tags/tag241.xml" ContentType="application/vnd.openxmlformats-officedocument.presentationml.tags+xml"/>
  <Override PartName="/ppt/notesSlides/notesSlide29.xml" ContentType="application/vnd.openxmlformats-officedocument.presentationml.notesSlide+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notesSlides/notesSlide30.xml" ContentType="application/vnd.openxmlformats-officedocument.presentationml.notesSlide+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notesSlides/notesSlide31.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tags/tag331.xml" ContentType="application/vnd.openxmlformats-officedocument.presentationml.tags+xml"/>
  <Override PartName="/ppt/notesSlides/notesSlide32.xml" ContentType="application/vnd.openxmlformats-officedocument.presentationml.notesSlide+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notesSlides/notesSlide33.xml" ContentType="application/vnd.openxmlformats-officedocument.presentationml.notesSlid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tags/tag360.xml" ContentType="application/vnd.openxmlformats-officedocument.presentationml.tags+xml"/>
  <Override PartName="/ppt/notesSlides/notesSlide37.xml" ContentType="application/vnd.openxmlformats-officedocument.presentationml.notesSlide+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notesSlides/notesSlide38.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notesSlides/notesSlide39.xml" ContentType="application/vnd.openxmlformats-officedocument.presentationml.notesSlide+xml"/>
  <Override PartName="/ppt/tags/tag403.xml" ContentType="application/vnd.openxmlformats-officedocument.presentationml.tags+xml"/>
  <Override PartName="/ppt/notesSlides/notesSlide40.xml" ContentType="application/vnd.openxmlformats-officedocument.presentationml.notesSlide+xml"/>
  <Override PartName="/ppt/tags/tag404.xml" ContentType="application/vnd.openxmlformats-officedocument.presentationml.tags+xml"/>
  <Override PartName="/ppt/notesSlides/notesSlide41.xml" ContentType="application/vnd.openxmlformats-officedocument.presentationml.notesSlide+xml"/>
  <Override PartName="/ppt/tags/tag405.xml" ContentType="application/vnd.openxmlformats-officedocument.presentationml.tags+xml"/>
  <Override PartName="/ppt/notesSlides/notesSlide42.xml" ContentType="application/vnd.openxmlformats-officedocument.presentationml.notesSlide+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notesSlides/notesSlide43.xml" ContentType="application/vnd.openxmlformats-officedocument.presentationml.notesSlide+xml"/>
  <Override PartName="/ppt/charts/chart22.xml" ContentType="application/vnd.openxmlformats-officedocument.drawingml.chart+xml"/>
  <Override PartName="/ppt/charts/chart23.xml" ContentType="application/vnd.openxmlformats-officedocument.drawingml.chart+xml"/>
  <Override PartName="/ppt/tags/tag441.xml" ContentType="application/vnd.openxmlformats-officedocument.presentationml.tags+xml"/>
  <Override PartName="/ppt/notesSlides/notesSlide44.xml" ContentType="application/vnd.openxmlformats-officedocument.presentationml.notesSlide+xml"/>
  <Override PartName="/ppt/tags/tag442.xml" ContentType="application/vnd.openxmlformats-officedocument.presentationml.tags+xml"/>
  <Override PartName="/ppt/notesSlides/notesSlide45.xml" ContentType="application/vnd.openxmlformats-officedocument.presentationml.notesSlide+xml"/>
  <Override PartName="/ppt/tags/tag443.xml" ContentType="application/vnd.openxmlformats-officedocument.presentationml.tags+xml"/>
  <Override PartName="/ppt/notesSlides/notesSlide46.xml" ContentType="application/vnd.openxmlformats-officedocument.presentationml.notesSlide+xml"/>
  <Override PartName="/ppt/tags/tag444.xml" ContentType="application/vnd.openxmlformats-officedocument.presentationml.tags+xml"/>
  <Override PartName="/ppt/notesSlides/notesSlide47.xml" ContentType="application/vnd.openxmlformats-officedocument.presentationml.notesSlide+xml"/>
  <Override PartName="/ppt/tags/tag445.xml" ContentType="application/vnd.openxmlformats-officedocument.presentationml.tags+xml"/>
  <Override PartName="/ppt/tags/tag446.xml" ContentType="application/vnd.openxmlformats-officedocument.presentationml.tags+xml"/>
  <Override PartName="/ppt/charts/chart24.xml" ContentType="application/vnd.openxmlformats-officedocument.drawingml.chart+xml"/>
  <Override PartName="/ppt/charts/style1.xml" ContentType="application/vnd.ms-office.chartstyle+xml"/>
  <Override PartName="/ppt/charts/colors1.xml" ContentType="application/vnd.ms-office.chartcolorstyle+xml"/>
  <Override PartName="/ppt/charts/chart25.xml" ContentType="application/vnd.openxmlformats-officedocument.drawingml.chart+xml"/>
  <Override PartName="/ppt/charts/style2.xml" ContentType="application/vnd.ms-office.chartstyle+xml"/>
  <Override PartName="/ppt/charts/colors2.xml" ContentType="application/vnd.ms-office.chartcolorstyle+xml"/>
  <Override PartName="/ppt/charts/chart26.xml" ContentType="application/vnd.openxmlformats-officedocument.drawingml.chart+xml"/>
  <Override PartName="/ppt/charts/style3.xml" ContentType="application/vnd.ms-office.chartstyle+xml"/>
  <Override PartName="/ppt/charts/colors3.xml" ContentType="application/vnd.ms-office.chartcolorstyle+xml"/>
  <Override PartName="/ppt/tags/tag447.xml" ContentType="application/vnd.openxmlformats-officedocument.presentationml.tags+xml"/>
  <Override PartName="/ppt/notesSlides/notesSlide48.xml" ContentType="application/vnd.openxmlformats-officedocument.presentationml.notesSlide+xml"/>
  <Override PartName="/ppt/tags/tag448.xml" ContentType="application/vnd.openxmlformats-officedocument.presentationml.tags+xml"/>
  <Override PartName="/ppt/notesSlides/notesSlide4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682" r:id="rId5"/>
    <p:sldMasterId id="2147483703" r:id="rId6"/>
    <p:sldMasterId id="2147483724" r:id="rId7"/>
    <p:sldMasterId id="2147483746" r:id="rId8"/>
    <p:sldMasterId id="2147483767" r:id="rId9"/>
    <p:sldMasterId id="2147483789" r:id="rId10"/>
  </p:sldMasterIdLst>
  <p:notesMasterIdLst>
    <p:notesMasterId r:id="rId82"/>
  </p:notesMasterIdLst>
  <p:sldIdLst>
    <p:sldId id="289" r:id="rId11"/>
    <p:sldId id="2147483613" r:id="rId12"/>
    <p:sldId id="2147483609" r:id="rId13"/>
    <p:sldId id="2147483610" r:id="rId14"/>
    <p:sldId id="2147483607" r:id="rId15"/>
    <p:sldId id="260" r:id="rId16"/>
    <p:sldId id="331" r:id="rId17"/>
    <p:sldId id="2147483645" r:id="rId18"/>
    <p:sldId id="2147483614" r:id="rId19"/>
    <p:sldId id="368" r:id="rId20"/>
    <p:sldId id="609" r:id="rId21"/>
    <p:sldId id="435" r:id="rId22"/>
    <p:sldId id="2147376860" r:id="rId23"/>
    <p:sldId id="2147483615" r:id="rId24"/>
    <p:sldId id="2147378911" r:id="rId25"/>
    <p:sldId id="297" r:id="rId26"/>
    <p:sldId id="2147483563" r:id="rId27"/>
    <p:sldId id="2147483616" r:id="rId28"/>
    <p:sldId id="2147483641" r:id="rId29"/>
    <p:sldId id="2147483617" r:id="rId30"/>
    <p:sldId id="296" r:id="rId31"/>
    <p:sldId id="280" r:id="rId32"/>
    <p:sldId id="2147378927" r:id="rId33"/>
    <p:sldId id="2147483642" r:id="rId34"/>
    <p:sldId id="279" r:id="rId35"/>
    <p:sldId id="2147483618" r:id="rId36"/>
    <p:sldId id="2147483643" r:id="rId37"/>
    <p:sldId id="266" r:id="rId38"/>
    <p:sldId id="2147483631" r:id="rId39"/>
    <p:sldId id="2147483619" r:id="rId40"/>
    <p:sldId id="327" r:id="rId41"/>
    <p:sldId id="2147483566" r:id="rId42"/>
    <p:sldId id="2147483620" r:id="rId43"/>
    <p:sldId id="308" r:id="rId44"/>
    <p:sldId id="307" r:id="rId45"/>
    <p:sldId id="2147483644" r:id="rId46"/>
    <p:sldId id="323" r:id="rId47"/>
    <p:sldId id="262" r:id="rId48"/>
    <p:sldId id="317" r:id="rId49"/>
    <p:sldId id="263" r:id="rId50"/>
    <p:sldId id="2147483489" r:id="rId51"/>
    <p:sldId id="293" r:id="rId52"/>
    <p:sldId id="2147483628" r:id="rId53"/>
    <p:sldId id="2147483637" r:id="rId54"/>
    <p:sldId id="2147482674" r:id="rId55"/>
    <p:sldId id="2147483621" r:id="rId56"/>
    <p:sldId id="329" r:id="rId57"/>
    <p:sldId id="468" r:id="rId58"/>
    <p:sldId id="2147483622" r:id="rId59"/>
    <p:sldId id="320" r:id="rId60"/>
    <p:sldId id="271" r:id="rId61"/>
    <p:sldId id="294" r:id="rId62"/>
    <p:sldId id="2147483623" r:id="rId63"/>
    <p:sldId id="277" r:id="rId64"/>
    <p:sldId id="318" r:id="rId65"/>
    <p:sldId id="2147483588" r:id="rId66"/>
    <p:sldId id="304" r:id="rId67"/>
    <p:sldId id="319" r:id="rId68"/>
    <p:sldId id="2147483624" r:id="rId69"/>
    <p:sldId id="303" r:id="rId70"/>
    <p:sldId id="2147483571" r:id="rId71"/>
    <p:sldId id="387" r:id="rId72"/>
    <p:sldId id="2147483625" r:id="rId73"/>
    <p:sldId id="2147378980" r:id="rId74"/>
    <p:sldId id="300" r:id="rId75"/>
    <p:sldId id="2147483626" r:id="rId76"/>
    <p:sldId id="2147483646" r:id="rId77"/>
    <p:sldId id="330" r:id="rId78"/>
    <p:sldId id="2147483627" r:id="rId79"/>
    <p:sldId id="2147482874" r:id="rId80"/>
    <p:sldId id="2147482794" r:id="rId8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2CA11921-9127-8BCF-FB65-EA15C3802623}" name="Barragan Bravo, Rodrigo" initials="RB" userId="S::rbarragan@scotiabank.com.mx::c01b3605-dd87-4c0b-9dbb-f4972340a603" providerId="AD"/>
  <p188:author id="{AC0D4F99-E4BF-B086-ACAA-342A30B77421}" name="Gill, Daniyal" initials="DG" userId="S::daniyal.gill@scotiabank.com::16b903ca-6b76-45d9-bdb4-80ce72c6214b"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EDECE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3225EEE-A265-4532-9735-282AA7028A75}" v="8" dt="2026-06-25T19:36:55.796"/>
    <p1510:client id="{8CCCF46B-0C5C-4BAE-9453-BB9E7983ED0F}" v="76" dt="2026-06-25T14:52:08.91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69674" autoAdjust="0"/>
  </p:normalViewPr>
  <p:slideViewPr>
    <p:cSldViewPr snapToGrid="0">
      <p:cViewPr>
        <p:scale>
          <a:sx n="48" d="100"/>
          <a:sy n="48" d="100"/>
        </p:scale>
        <p:origin x="1268" y="176"/>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6.xml"/><Relationship Id="rId21" Type="http://schemas.openxmlformats.org/officeDocument/2006/relationships/slide" Target="slides/slide11.xml"/><Relationship Id="rId42" Type="http://schemas.openxmlformats.org/officeDocument/2006/relationships/slide" Target="slides/slide32.xml"/><Relationship Id="rId47" Type="http://schemas.openxmlformats.org/officeDocument/2006/relationships/slide" Target="slides/slide37.xml"/><Relationship Id="rId63" Type="http://schemas.openxmlformats.org/officeDocument/2006/relationships/slide" Target="slides/slide53.xml"/><Relationship Id="rId68" Type="http://schemas.openxmlformats.org/officeDocument/2006/relationships/slide" Target="slides/slide58.xml"/><Relationship Id="rId84" Type="http://schemas.openxmlformats.org/officeDocument/2006/relationships/viewProps" Target="viewProps.xml"/><Relationship Id="rId89" Type="http://schemas.microsoft.com/office/2018/10/relationships/authors" Target="authors.xml"/><Relationship Id="rId16" Type="http://schemas.openxmlformats.org/officeDocument/2006/relationships/slide" Target="slides/slide6.xml"/><Relationship Id="rId11" Type="http://schemas.openxmlformats.org/officeDocument/2006/relationships/slide" Target="slides/slide1.xml"/><Relationship Id="rId32" Type="http://schemas.openxmlformats.org/officeDocument/2006/relationships/slide" Target="slides/slide22.xml"/><Relationship Id="rId37" Type="http://schemas.openxmlformats.org/officeDocument/2006/relationships/slide" Target="slides/slide27.xml"/><Relationship Id="rId53" Type="http://schemas.openxmlformats.org/officeDocument/2006/relationships/slide" Target="slides/slide43.xml"/><Relationship Id="rId58" Type="http://schemas.openxmlformats.org/officeDocument/2006/relationships/slide" Target="slides/slide48.xml"/><Relationship Id="rId74" Type="http://schemas.openxmlformats.org/officeDocument/2006/relationships/slide" Target="slides/slide64.xml"/><Relationship Id="rId79" Type="http://schemas.openxmlformats.org/officeDocument/2006/relationships/slide" Target="slides/slide69.xml"/><Relationship Id="rId5" Type="http://schemas.openxmlformats.org/officeDocument/2006/relationships/slideMaster" Target="slideMasters/slideMaster2.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56" Type="http://schemas.openxmlformats.org/officeDocument/2006/relationships/slide" Target="slides/slide46.xml"/><Relationship Id="rId64" Type="http://schemas.openxmlformats.org/officeDocument/2006/relationships/slide" Target="slides/slide54.xml"/><Relationship Id="rId69" Type="http://schemas.openxmlformats.org/officeDocument/2006/relationships/slide" Target="slides/slide59.xml"/><Relationship Id="rId77" Type="http://schemas.openxmlformats.org/officeDocument/2006/relationships/slide" Target="slides/slide67.xml"/><Relationship Id="rId8" Type="http://schemas.openxmlformats.org/officeDocument/2006/relationships/slideMaster" Target="slideMasters/slideMaster5.xml"/><Relationship Id="rId51" Type="http://schemas.openxmlformats.org/officeDocument/2006/relationships/slide" Target="slides/slide41.xml"/><Relationship Id="rId72" Type="http://schemas.openxmlformats.org/officeDocument/2006/relationships/slide" Target="slides/slide62.xml"/><Relationship Id="rId80" Type="http://schemas.openxmlformats.org/officeDocument/2006/relationships/slide" Target="slides/slide70.xml"/><Relationship Id="rId85"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59" Type="http://schemas.openxmlformats.org/officeDocument/2006/relationships/slide" Target="slides/slide49.xml"/><Relationship Id="rId67" Type="http://schemas.openxmlformats.org/officeDocument/2006/relationships/slide" Target="slides/slide57.xml"/><Relationship Id="rId20" Type="http://schemas.openxmlformats.org/officeDocument/2006/relationships/slide" Target="slides/slide10.xml"/><Relationship Id="rId41" Type="http://schemas.openxmlformats.org/officeDocument/2006/relationships/slide" Target="slides/slide31.xml"/><Relationship Id="rId54" Type="http://schemas.openxmlformats.org/officeDocument/2006/relationships/slide" Target="slides/slide44.xml"/><Relationship Id="rId62" Type="http://schemas.openxmlformats.org/officeDocument/2006/relationships/slide" Target="slides/slide52.xml"/><Relationship Id="rId70" Type="http://schemas.openxmlformats.org/officeDocument/2006/relationships/slide" Target="slides/slide60.xml"/><Relationship Id="rId75" Type="http://schemas.openxmlformats.org/officeDocument/2006/relationships/slide" Target="slides/slide65.xml"/><Relationship Id="rId83" Type="http://schemas.openxmlformats.org/officeDocument/2006/relationships/presProps" Target="presProps.xml"/><Relationship Id="rId88"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slide" Target="slides/slide47.xml"/><Relationship Id="rId10" Type="http://schemas.openxmlformats.org/officeDocument/2006/relationships/slideMaster" Target="slideMasters/slideMaster7.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slide" Target="slides/slide50.xml"/><Relationship Id="rId65" Type="http://schemas.openxmlformats.org/officeDocument/2006/relationships/slide" Target="slides/slide55.xml"/><Relationship Id="rId73" Type="http://schemas.openxmlformats.org/officeDocument/2006/relationships/slide" Target="slides/slide63.xml"/><Relationship Id="rId78" Type="http://schemas.openxmlformats.org/officeDocument/2006/relationships/slide" Target="slides/slide68.xml"/><Relationship Id="rId81" Type="http://schemas.openxmlformats.org/officeDocument/2006/relationships/slide" Target="slides/slide71.xml"/><Relationship Id="rId86"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slide" Target="slides/slide66.xml"/><Relationship Id="rId7" Type="http://schemas.openxmlformats.org/officeDocument/2006/relationships/slideMaster" Target="slideMasters/slideMaster4.xml"/><Relationship Id="rId71" Type="http://schemas.openxmlformats.org/officeDocument/2006/relationships/slide" Target="slides/slide61.xml"/><Relationship Id="rId2" Type="http://schemas.openxmlformats.org/officeDocument/2006/relationships/customXml" Target="../customXml/item2.xml"/><Relationship Id="rId29" Type="http://schemas.openxmlformats.org/officeDocument/2006/relationships/slide" Target="slides/slide19.xml"/><Relationship Id="rId24" Type="http://schemas.openxmlformats.org/officeDocument/2006/relationships/slide" Target="slides/slide14.xml"/><Relationship Id="rId40" Type="http://schemas.openxmlformats.org/officeDocument/2006/relationships/slide" Target="slides/slide30.xml"/><Relationship Id="rId45" Type="http://schemas.openxmlformats.org/officeDocument/2006/relationships/slide" Target="slides/slide35.xml"/><Relationship Id="rId66" Type="http://schemas.openxmlformats.org/officeDocument/2006/relationships/slide" Target="slides/slide56.xml"/><Relationship Id="rId87" Type="http://schemas.microsoft.com/office/2016/11/relationships/changesInfo" Target="changesInfos/changesInfo1.xml"/><Relationship Id="rId61" Type="http://schemas.openxmlformats.org/officeDocument/2006/relationships/slide" Target="slides/slide51.xml"/><Relationship Id="rId82" Type="http://schemas.openxmlformats.org/officeDocument/2006/relationships/notesMaster" Target="notesMasters/notesMaster1.xml"/><Relationship Id="rId19" Type="http://schemas.openxmlformats.org/officeDocument/2006/relationships/slide" Target="slides/slide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ng, Darcy" userId="526d52f0-35ad-439e-b1fd-e567c8da7ca6" providerId="ADAL" clId="{8A9A85BA-3F8D-4F1E-B787-BF6506953DCA}"/>
    <pc:docChg chg="custSel addSld delSld modSld">
      <pc:chgData name="Yang, Darcy" userId="526d52f0-35ad-439e-b1fd-e567c8da7ca6" providerId="ADAL" clId="{8A9A85BA-3F8D-4F1E-B787-BF6506953DCA}" dt="2026-06-25T14:52:08.900" v="75"/>
      <pc:docMkLst>
        <pc:docMk/>
      </pc:docMkLst>
      <pc:sldChg chg="addSp delSp modSp add mod">
        <pc:chgData name="Yang, Darcy" userId="526d52f0-35ad-439e-b1fd-e567c8da7ca6" providerId="ADAL" clId="{8A9A85BA-3F8D-4F1E-B787-BF6506953DCA}" dt="2026-06-24T21:20:20.739" v="19" actId="478"/>
        <pc:sldMkLst>
          <pc:docMk/>
          <pc:sldMk cId="1457180280" sldId="266"/>
        </pc:sldMkLst>
        <pc:spChg chg="add del mod">
          <ac:chgData name="Yang, Darcy" userId="526d52f0-35ad-439e-b1fd-e567c8da7ca6" providerId="ADAL" clId="{8A9A85BA-3F8D-4F1E-B787-BF6506953DCA}" dt="2026-06-24T21:20:20.739" v="19" actId="478"/>
          <ac:spMkLst>
            <pc:docMk/>
            <pc:sldMk cId="1457180280" sldId="266"/>
            <ac:spMk id="5" creationId="{123AD983-4BE4-4B5B-BB2B-486FF42704A3}"/>
          </ac:spMkLst>
        </pc:spChg>
        <pc:spChg chg="del">
          <ac:chgData name="Yang, Darcy" userId="526d52f0-35ad-439e-b1fd-e567c8da7ca6" providerId="ADAL" clId="{8A9A85BA-3F8D-4F1E-B787-BF6506953DCA}" dt="2026-06-24T21:20:18.607" v="18" actId="478"/>
          <ac:spMkLst>
            <pc:docMk/>
            <pc:sldMk cId="1457180280" sldId="266"/>
            <ac:spMk id="11" creationId="{EDC30B83-840E-5A0D-5FE6-22353ABA2EBB}"/>
          </ac:spMkLst>
        </pc:spChg>
      </pc:sldChg>
      <pc:sldChg chg="add">
        <pc:chgData name="Yang, Darcy" userId="526d52f0-35ad-439e-b1fd-e567c8da7ca6" providerId="ADAL" clId="{8A9A85BA-3F8D-4F1E-B787-BF6506953DCA}" dt="2026-06-24T21:22:59.634" v="25"/>
        <pc:sldMkLst>
          <pc:docMk/>
          <pc:sldMk cId="1483740190" sldId="279"/>
        </pc:sldMkLst>
      </pc:sldChg>
      <pc:sldChg chg="delSp modSp add mod">
        <pc:chgData name="Yang, Darcy" userId="526d52f0-35ad-439e-b1fd-e567c8da7ca6" providerId="ADAL" clId="{8A9A85BA-3F8D-4F1E-B787-BF6506953DCA}" dt="2026-06-24T21:19:46.789" v="12" actId="478"/>
        <pc:sldMkLst>
          <pc:docMk/>
          <pc:sldMk cId="2763718642" sldId="280"/>
        </pc:sldMkLst>
        <pc:spChg chg="del mod">
          <ac:chgData name="Yang, Darcy" userId="526d52f0-35ad-439e-b1fd-e567c8da7ca6" providerId="ADAL" clId="{8A9A85BA-3F8D-4F1E-B787-BF6506953DCA}" dt="2026-06-24T21:19:46.789" v="12" actId="478"/>
          <ac:spMkLst>
            <pc:docMk/>
            <pc:sldMk cId="2763718642" sldId="280"/>
            <ac:spMk id="38" creationId="{DD64ED29-E02B-AC52-0813-66CD0C0B7892}"/>
          </ac:spMkLst>
        </pc:spChg>
      </pc:sldChg>
      <pc:sldChg chg="add">
        <pc:chgData name="Yang, Darcy" userId="526d52f0-35ad-439e-b1fd-e567c8da7ca6" providerId="ADAL" clId="{8A9A85BA-3F8D-4F1E-B787-BF6506953DCA}" dt="2026-06-24T21:21:21.736" v="22"/>
        <pc:sldMkLst>
          <pc:docMk/>
          <pc:sldMk cId="2789214672" sldId="293"/>
        </pc:sldMkLst>
      </pc:sldChg>
      <pc:sldChg chg="add">
        <pc:chgData name="Yang, Darcy" userId="526d52f0-35ad-439e-b1fd-e567c8da7ca6" providerId="ADAL" clId="{8A9A85BA-3F8D-4F1E-B787-BF6506953DCA}" dt="2026-06-24T21:22:25.750" v="24"/>
        <pc:sldMkLst>
          <pc:docMk/>
          <pc:sldMk cId="119302027" sldId="294"/>
        </pc:sldMkLst>
      </pc:sldChg>
      <pc:sldChg chg="add">
        <pc:chgData name="Yang, Darcy" userId="526d52f0-35ad-439e-b1fd-e567c8da7ca6" providerId="ADAL" clId="{8A9A85BA-3F8D-4F1E-B787-BF6506953DCA}" dt="2026-06-25T13:29:32.156" v="73"/>
        <pc:sldMkLst>
          <pc:docMk/>
          <pc:sldMk cId="3423854525" sldId="297"/>
        </pc:sldMkLst>
      </pc:sldChg>
      <pc:sldChg chg="add">
        <pc:chgData name="Yang, Darcy" userId="526d52f0-35ad-439e-b1fd-e567c8da7ca6" providerId="ADAL" clId="{8A9A85BA-3F8D-4F1E-B787-BF6506953DCA}" dt="2026-06-25T13:07:31.153" v="28"/>
        <pc:sldMkLst>
          <pc:docMk/>
          <pc:sldMk cId="407418251" sldId="300"/>
        </pc:sldMkLst>
      </pc:sldChg>
      <pc:sldChg chg="modSp">
        <pc:chgData name="Yang, Darcy" userId="526d52f0-35ad-439e-b1fd-e567c8da7ca6" providerId="ADAL" clId="{8A9A85BA-3F8D-4F1E-B787-BF6506953DCA}" dt="2026-06-25T14:29:32.030" v="74"/>
        <pc:sldMkLst>
          <pc:docMk/>
          <pc:sldMk cId="2485875361" sldId="304"/>
        </pc:sldMkLst>
        <pc:graphicFrameChg chg="mod">
          <ac:chgData name="Yang, Darcy" userId="526d52f0-35ad-439e-b1fd-e567c8da7ca6" providerId="ADAL" clId="{8A9A85BA-3F8D-4F1E-B787-BF6506953DCA}" dt="2026-06-25T14:29:32.030" v="74"/>
          <ac:graphicFrameMkLst>
            <pc:docMk/>
            <pc:sldMk cId="2485875361" sldId="304"/>
            <ac:graphicFrameMk id="18" creationId="{4B73AF47-FB77-8135-DD3E-2289AD1C116C}"/>
          </ac:graphicFrameMkLst>
        </pc:graphicFrameChg>
      </pc:sldChg>
      <pc:sldChg chg="add">
        <pc:chgData name="Yang, Darcy" userId="526d52f0-35ad-439e-b1fd-e567c8da7ca6" providerId="ADAL" clId="{8A9A85BA-3F8D-4F1E-B787-BF6506953DCA}" dt="2026-06-24T21:20:53.593" v="20"/>
        <pc:sldMkLst>
          <pc:docMk/>
          <pc:sldMk cId="2482332127" sldId="307"/>
        </pc:sldMkLst>
      </pc:sldChg>
      <pc:sldChg chg="add">
        <pc:chgData name="Yang, Darcy" userId="526d52f0-35ad-439e-b1fd-e567c8da7ca6" providerId="ADAL" clId="{8A9A85BA-3F8D-4F1E-B787-BF6506953DCA}" dt="2026-06-24T21:20:53.593" v="20"/>
        <pc:sldMkLst>
          <pc:docMk/>
          <pc:sldMk cId="867292" sldId="308"/>
        </pc:sldMkLst>
      </pc:sldChg>
      <pc:sldChg chg="add">
        <pc:chgData name="Yang, Darcy" userId="526d52f0-35ad-439e-b1fd-e567c8da7ca6" providerId="ADAL" clId="{8A9A85BA-3F8D-4F1E-B787-BF6506953DCA}" dt="2026-06-25T13:07:57.151" v="29"/>
        <pc:sldMkLst>
          <pc:docMk/>
          <pc:sldMk cId="2831315775" sldId="319"/>
        </pc:sldMkLst>
      </pc:sldChg>
      <pc:sldChg chg="add">
        <pc:chgData name="Yang, Darcy" userId="526d52f0-35ad-439e-b1fd-e567c8da7ca6" providerId="ADAL" clId="{8A9A85BA-3F8D-4F1E-B787-BF6506953DCA}" dt="2026-06-24T21:20:53.593" v="20"/>
        <pc:sldMkLst>
          <pc:docMk/>
          <pc:sldMk cId="3928934307" sldId="323"/>
        </pc:sldMkLst>
      </pc:sldChg>
      <pc:sldChg chg="add">
        <pc:chgData name="Yang, Darcy" userId="526d52f0-35ad-439e-b1fd-e567c8da7ca6" providerId="ADAL" clId="{8A9A85BA-3F8D-4F1E-B787-BF6506953DCA}" dt="2026-06-25T14:52:08.900" v="75"/>
        <pc:sldMkLst>
          <pc:docMk/>
          <pc:sldMk cId="3800276746" sldId="330"/>
        </pc:sldMkLst>
      </pc:sldChg>
      <pc:sldChg chg="add">
        <pc:chgData name="Yang, Darcy" userId="526d52f0-35ad-439e-b1fd-e567c8da7ca6" providerId="ADAL" clId="{8A9A85BA-3F8D-4F1E-B787-BF6506953DCA}" dt="2026-06-25T13:13:14.324" v="67"/>
        <pc:sldMkLst>
          <pc:docMk/>
          <pc:sldMk cId="2962979944" sldId="387"/>
        </pc:sldMkLst>
      </pc:sldChg>
      <pc:sldChg chg="delSp add mod">
        <pc:chgData name="Yang, Darcy" userId="526d52f0-35ad-439e-b1fd-e567c8da7ca6" providerId="ADAL" clId="{8A9A85BA-3F8D-4F1E-B787-BF6506953DCA}" dt="2026-06-24T21:18:42.680" v="3" actId="478"/>
        <pc:sldMkLst>
          <pc:docMk/>
          <pc:sldMk cId="2198240792" sldId="609"/>
        </pc:sldMkLst>
        <pc:spChg chg="del">
          <ac:chgData name="Yang, Darcy" userId="526d52f0-35ad-439e-b1fd-e567c8da7ca6" providerId="ADAL" clId="{8A9A85BA-3F8D-4F1E-B787-BF6506953DCA}" dt="2026-06-24T21:18:42.680" v="3" actId="478"/>
          <ac:spMkLst>
            <pc:docMk/>
            <pc:sldMk cId="2198240792" sldId="609"/>
            <ac:spMk id="5" creationId="{691B8B24-86DC-6390-F5F9-27A1790E7F0A}"/>
          </ac:spMkLst>
        </pc:spChg>
      </pc:sldChg>
      <pc:sldChg chg="addSp delSp modSp add mod">
        <pc:chgData name="Yang, Darcy" userId="526d52f0-35ad-439e-b1fd-e567c8da7ca6" providerId="ADAL" clId="{8A9A85BA-3F8D-4F1E-B787-BF6506953DCA}" dt="2026-06-24T21:18:48.386" v="5" actId="478"/>
        <pc:sldMkLst>
          <pc:docMk/>
          <pc:sldMk cId="913594328" sldId="2147376860"/>
        </pc:sldMkLst>
        <pc:spChg chg="add mod">
          <ac:chgData name="Yang, Darcy" userId="526d52f0-35ad-439e-b1fd-e567c8da7ca6" providerId="ADAL" clId="{8A9A85BA-3F8D-4F1E-B787-BF6506953DCA}" dt="2026-06-24T21:18:48.386" v="5" actId="478"/>
          <ac:spMkLst>
            <pc:docMk/>
            <pc:sldMk cId="913594328" sldId="2147376860"/>
            <ac:spMk id="6" creationId="{209B2599-7764-1801-9364-F0E81087F3B4}"/>
          </ac:spMkLst>
        </pc:spChg>
        <pc:spChg chg="del">
          <ac:chgData name="Yang, Darcy" userId="526d52f0-35ad-439e-b1fd-e567c8da7ca6" providerId="ADAL" clId="{8A9A85BA-3F8D-4F1E-B787-BF6506953DCA}" dt="2026-06-24T21:18:48.386" v="5" actId="478"/>
          <ac:spMkLst>
            <pc:docMk/>
            <pc:sldMk cId="913594328" sldId="2147376860"/>
            <ac:spMk id="7" creationId="{D85BBB8A-16CA-E864-7918-0E4D5D8A4B41}"/>
          </ac:spMkLst>
        </pc:spChg>
      </pc:sldChg>
      <pc:sldChg chg="delSp add del mod">
        <pc:chgData name="Yang, Darcy" userId="526d52f0-35ad-439e-b1fd-e567c8da7ca6" providerId="ADAL" clId="{8A9A85BA-3F8D-4F1E-B787-BF6506953DCA}" dt="2026-06-24T21:19:16.423" v="8" actId="478"/>
        <pc:sldMkLst>
          <pc:docMk/>
          <pc:sldMk cId="2368625399" sldId="2147378911"/>
        </pc:sldMkLst>
        <pc:spChg chg="del">
          <ac:chgData name="Yang, Darcy" userId="526d52f0-35ad-439e-b1fd-e567c8da7ca6" providerId="ADAL" clId="{8A9A85BA-3F8D-4F1E-B787-BF6506953DCA}" dt="2026-06-24T21:19:16.423" v="8" actId="478"/>
          <ac:spMkLst>
            <pc:docMk/>
            <pc:sldMk cId="2368625399" sldId="2147378911"/>
            <ac:spMk id="24" creationId="{D2E08E6A-C7C3-6574-D11F-6CDF7E3E06E0}"/>
          </ac:spMkLst>
        </pc:spChg>
      </pc:sldChg>
      <pc:sldChg chg="delSp modSp add mod">
        <pc:chgData name="Yang, Darcy" userId="526d52f0-35ad-439e-b1fd-e567c8da7ca6" providerId="ADAL" clId="{8A9A85BA-3F8D-4F1E-B787-BF6506953DCA}" dt="2026-06-24T21:19:53.893" v="14" actId="478"/>
        <pc:sldMkLst>
          <pc:docMk/>
          <pc:sldMk cId="1916151740" sldId="2147378927"/>
        </pc:sldMkLst>
        <pc:spChg chg="del mod">
          <ac:chgData name="Yang, Darcy" userId="526d52f0-35ad-439e-b1fd-e567c8da7ca6" providerId="ADAL" clId="{8A9A85BA-3F8D-4F1E-B787-BF6506953DCA}" dt="2026-06-24T21:19:53.893" v="14" actId="478"/>
          <ac:spMkLst>
            <pc:docMk/>
            <pc:sldMk cId="1916151740" sldId="2147378927"/>
            <ac:spMk id="21" creationId="{949936EC-B95C-3B7E-5F8D-055B011BEF19}"/>
          </ac:spMkLst>
        </pc:spChg>
      </pc:sldChg>
      <pc:sldChg chg="add">
        <pc:chgData name="Yang, Darcy" userId="526d52f0-35ad-439e-b1fd-e567c8da7ca6" providerId="ADAL" clId="{8A9A85BA-3F8D-4F1E-B787-BF6506953DCA}" dt="2026-06-24T21:24:31.439" v="26"/>
        <pc:sldMkLst>
          <pc:docMk/>
          <pc:sldMk cId="659633529" sldId="2147378980"/>
        </pc:sldMkLst>
      </pc:sldChg>
      <pc:sldChg chg="add">
        <pc:chgData name="Yang, Darcy" userId="526d52f0-35ad-439e-b1fd-e567c8da7ca6" providerId="ADAL" clId="{8A9A85BA-3F8D-4F1E-B787-BF6506953DCA}" dt="2026-06-24T21:21:39.770" v="23"/>
        <pc:sldMkLst>
          <pc:docMk/>
          <pc:sldMk cId="1353806785" sldId="2147482674"/>
        </pc:sldMkLst>
      </pc:sldChg>
      <pc:sldChg chg="add">
        <pc:chgData name="Yang, Darcy" userId="526d52f0-35ad-439e-b1fd-e567c8da7ca6" providerId="ADAL" clId="{8A9A85BA-3F8D-4F1E-B787-BF6506953DCA}" dt="2026-06-25T13:17:23.195" v="68"/>
        <pc:sldMkLst>
          <pc:docMk/>
          <pc:sldMk cId="3030901374" sldId="2147482794"/>
        </pc:sldMkLst>
      </pc:sldChg>
      <pc:sldChg chg="add del">
        <pc:chgData name="Yang, Darcy" userId="526d52f0-35ad-439e-b1fd-e567c8da7ca6" providerId="ADAL" clId="{8A9A85BA-3F8D-4F1E-B787-BF6506953DCA}" dt="2026-06-25T13:22:03.989" v="70"/>
        <pc:sldMkLst>
          <pc:docMk/>
          <pc:sldMk cId="1865729796" sldId="2147482862"/>
        </pc:sldMkLst>
      </pc:sldChg>
      <pc:sldChg chg="add">
        <pc:chgData name="Yang, Darcy" userId="526d52f0-35ad-439e-b1fd-e567c8da7ca6" providerId="ADAL" clId="{8A9A85BA-3F8D-4F1E-B787-BF6506953DCA}" dt="2026-06-25T13:22:15.680" v="71"/>
        <pc:sldMkLst>
          <pc:docMk/>
          <pc:sldMk cId="831939428" sldId="2147482874"/>
        </pc:sldMkLst>
      </pc:sldChg>
      <pc:sldChg chg="add">
        <pc:chgData name="Yang, Darcy" userId="526d52f0-35ad-439e-b1fd-e567c8da7ca6" providerId="ADAL" clId="{8A9A85BA-3F8D-4F1E-B787-BF6506953DCA}" dt="2026-06-24T21:21:11.808" v="21"/>
        <pc:sldMkLst>
          <pc:docMk/>
          <pc:sldMk cId="1211280195" sldId="2147483489"/>
        </pc:sldMkLst>
      </pc:sldChg>
      <pc:sldChg chg="delSp add mod">
        <pc:chgData name="Yang, Darcy" userId="526d52f0-35ad-439e-b1fd-e567c8da7ca6" providerId="ADAL" clId="{8A9A85BA-3F8D-4F1E-B787-BF6506953DCA}" dt="2026-06-24T21:19:18.702" v="9" actId="478"/>
        <pc:sldMkLst>
          <pc:docMk/>
          <pc:sldMk cId="1825107588" sldId="2147483563"/>
        </pc:sldMkLst>
        <pc:spChg chg="del">
          <ac:chgData name="Yang, Darcy" userId="526d52f0-35ad-439e-b1fd-e567c8da7ca6" providerId="ADAL" clId="{8A9A85BA-3F8D-4F1E-B787-BF6506953DCA}" dt="2026-06-24T21:19:18.702" v="9" actId="478"/>
          <ac:spMkLst>
            <pc:docMk/>
            <pc:sldMk cId="1825107588" sldId="2147483563"/>
            <ac:spMk id="18" creationId="{4C41D0DF-2792-52BE-B199-9C73E97C1B62}"/>
          </ac:spMkLst>
        </pc:spChg>
      </pc:sldChg>
      <pc:sldChg chg="modSp mod">
        <pc:chgData name="Yang, Darcy" userId="526d52f0-35ad-439e-b1fd-e567c8da7ca6" providerId="ADAL" clId="{8A9A85BA-3F8D-4F1E-B787-BF6506953DCA}" dt="2026-06-25T13:13:10.196" v="66" actId="20577"/>
        <pc:sldMkLst>
          <pc:docMk/>
          <pc:sldMk cId="3785970658" sldId="2147483624"/>
        </pc:sldMkLst>
        <pc:spChg chg="mod">
          <ac:chgData name="Yang, Darcy" userId="526d52f0-35ad-439e-b1fd-e567c8da7ca6" providerId="ADAL" clId="{8A9A85BA-3F8D-4F1E-B787-BF6506953DCA}" dt="2026-06-25T13:13:10.196" v="66" actId="20577"/>
          <ac:spMkLst>
            <pc:docMk/>
            <pc:sldMk cId="3785970658" sldId="2147483624"/>
            <ac:spMk id="2" creationId="{D5D1BA30-54AD-966A-3FBE-5550134FEDA5}"/>
          </ac:spMkLst>
        </pc:spChg>
      </pc:sldChg>
      <pc:sldChg chg="delSp add mod">
        <pc:chgData name="Yang, Darcy" userId="526d52f0-35ad-439e-b1fd-e567c8da7ca6" providerId="ADAL" clId="{8A9A85BA-3F8D-4F1E-B787-BF6506953DCA}" dt="2026-06-24T21:19:59.602" v="15" actId="478"/>
        <pc:sldMkLst>
          <pc:docMk/>
          <pc:sldMk cId="2787921539" sldId="2147483642"/>
        </pc:sldMkLst>
        <pc:spChg chg="del">
          <ac:chgData name="Yang, Darcy" userId="526d52f0-35ad-439e-b1fd-e567c8da7ca6" providerId="ADAL" clId="{8A9A85BA-3F8D-4F1E-B787-BF6506953DCA}" dt="2026-06-24T21:19:59.602" v="15" actId="478"/>
          <ac:spMkLst>
            <pc:docMk/>
            <pc:sldMk cId="2787921539" sldId="2147483642"/>
            <ac:spMk id="31" creationId="{CCDD5082-B6D0-AE51-7880-407F560DEA0C}"/>
          </ac:spMkLst>
        </pc:spChg>
      </pc:sldChg>
      <pc:sldChg chg="delSp add mod">
        <pc:chgData name="Yang, Darcy" userId="526d52f0-35ad-439e-b1fd-e567c8da7ca6" providerId="ADAL" clId="{8A9A85BA-3F8D-4F1E-B787-BF6506953DCA}" dt="2026-06-24T21:20:16.402" v="17" actId="478"/>
        <pc:sldMkLst>
          <pc:docMk/>
          <pc:sldMk cId="1668295052" sldId="2147483643"/>
        </pc:sldMkLst>
        <pc:spChg chg="del">
          <ac:chgData name="Yang, Darcy" userId="526d52f0-35ad-439e-b1fd-e567c8da7ca6" providerId="ADAL" clId="{8A9A85BA-3F8D-4F1E-B787-BF6506953DCA}" dt="2026-06-24T21:20:16.402" v="17" actId="478"/>
          <ac:spMkLst>
            <pc:docMk/>
            <pc:sldMk cId="1668295052" sldId="2147483643"/>
            <ac:spMk id="19" creationId="{776802A2-9AA6-B36E-8A0E-2A0CDC6EF58A}"/>
          </ac:spMkLst>
        </pc:spChg>
      </pc:sldChg>
      <pc:sldChg chg="add">
        <pc:chgData name="Yang, Darcy" userId="526d52f0-35ad-439e-b1fd-e567c8da7ca6" providerId="ADAL" clId="{8A9A85BA-3F8D-4F1E-B787-BF6506953DCA}" dt="2026-06-24T21:20:53.593" v="20"/>
        <pc:sldMkLst>
          <pc:docMk/>
          <pc:sldMk cId="218586015" sldId="2147483644"/>
        </pc:sldMkLst>
      </pc:sldChg>
      <pc:sldChg chg="add">
        <pc:chgData name="Yang, Darcy" userId="526d52f0-35ad-439e-b1fd-e567c8da7ca6" providerId="ADAL" clId="{8A9A85BA-3F8D-4F1E-B787-BF6506953DCA}" dt="2026-06-25T13:06:43.106" v="27"/>
        <pc:sldMkLst>
          <pc:docMk/>
          <pc:sldMk cId="4183419702" sldId="2147483645"/>
        </pc:sldMkLst>
      </pc:sldChg>
      <pc:sldChg chg="add">
        <pc:chgData name="Yang, Darcy" userId="526d52f0-35ad-439e-b1fd-e567c8da7ca6" providerId="ADAL" clId="{8A9A85BA-3F8D-4F1E-B787-BF6506953DCA}" dt="2026-06-25T13:24:35.586" v="72"/>
        <pc:sldMkLst>
          <pc:docMk/>
          <pc:sldMk cId="1246455635" sldId="2147483646"/>
        </pc:sldMkLst>
      </pc:sldChg>
    </pc:docChg>
  </pc:docChgLst>
  <pc:docChgLst>
    <pc:chgData name="Deupmann, Tom" userId="42f79f7f-d333-4513-9df1-7e0fe314adfc" providerId="ADAL" clId="{0EFDBF12-008D-4A81-98A6-16360573017C}"/>
    <pc:docChg chg="custSel addSld modSld">
      <pc:chgData name="Deupmann, Tom" userId="42f79f7f-d333-4513-9df1-7e0fe314adfc" providerId="ADAL" clId="{0EFDBF12-008D-4A81-98A6-16360573017C}" dt="2026-06-24T19:10:54.467" v="1157" actId="20577"/>
      <pc:docMkLst>
        <pc:docMk/>
      </pc:docMkLst>
      <pc:sldChg chg="add modNotesTx">
        <pc:chgData name="Deupmann, Tom" userId="42f79f7f-d333-4513-9df1-7e0fe314adfc" providerId="ADAL" clId="{0EFDBF12-008D-4A81-98A6-16360573017C}" dt="2026-06-24T19:05:49.325" v="545" actId="20577"/>
        <pc:sldMkLst>
          <pc:docMk/>
          <pc:sldMk cId="435700202" sldId="296"/>
        </pc:sldMkLst>
      </pc:sldChg>
      <pc:sldChg chg="modNotesTx">
        <pc:chgData name="Deupmann, Tom" userId="42f79f7f-d333-4513-9df1-7e0fe314adfc" providerId="ADAL" clId="{0EFDBF12-008D-4A81-98A6-16360573017C}" dt="2026-06-24T18:54:55.723" v="55" actId="115"/>
        <pc:sldMkLst>
          <pc:docMk/>
          <pc:sldMk cId="758357888" sldId="2147483607"/>
        </pc:sldMkLst>
      </pc:sldChg>
      <pc:sldChg chg="modSp mod">
        <pc:chgData name="Deupmann, Tom" userId="42f79f7f-d333-4513-9df1-7e0fe314adfc" providerId="ADAL" clId="{0EFDBF12-008D-4A81-98A6-16360573017C}" dt="2026-06-03T14:14:26.968" v="8" actId="20577"/>
        <pc:sldMkLst>
          <pc:docMk/>
          <pc:sldMk cId="3766094255" sldId="2147483613"/>
        </pc:sldMkLst>
        <pc:graphicFrameChg chg="modGraphic">
          <ac:chgData name="Deupmann, Tom" userId="42f79f7f-d333-4513-9df1-7e0fe314adfc" providerId="ADAL" clId="{0EFDBF12-008D-4A81-98A6-16360573017C}" dt="2026-06-03T14:14:26.968" v="8" actId="20577"/>
          <ac:graphicFrameMkLst>
            <pc:docMk/>
            <pc:sldMk cId="3766094255" sldId="2147483613"/>
            <ac:graphicFrameMk id="8" creationId="{C148CE1E-CCEC-8FFC-D1E2-B7A7ED09C76D}"/>
          </ac:graphicFrameMkLst>
        </pc:graphicFrameChg>
      </pc:sldChg>
      <pc:sldChg chg="add modNotesTx">
        <pc:chgData name="Deupmann, Tom" userId="42f79f7f-d333-4513-9df1-7e0fe314adfc" providerId="ADAL" clId="{0EFDBF12-008D-4A81-98A6-16360573017C}" dt="2026-06-24T19:07:34.983" v="773" actId="20577"/>
        <pc:sldMkLst>
          <pc:docMk/>
          <pc:sldMk cId="2419719327" sldId="2147483631"/>
        </pc:sldMkLst>
      </pc:sldChg>
      <pc:sldChg chg="add modNotesTx">
        <pc:chgData name="Deupmann, Tom" userId="42f79f7f-d333-4513-9df1-7e0fe314adfc" providerId="ADAL" clId="{0EFDBF12-008D-4A81-98A6-16360573017C}" dt="2026-06-24T19:10:54.467" v="1157" actId="20577"/>
        <pc:sldMkLst>
          <pc:docMk/>
          <pc:sldMk cId="3148389758" sldId="2147483641"/>
        </pc:sldMkLst>
      </pc:sldChg>
    </pc:docChg>
  </pc:docChgLst>
  <pc:docChgLst>
    <pc:chgData name="Phu, Valerie" userId="87ed9c79-690f-4d1b-a280-2909988b0e3e" providerId="ADAL" clId="{A7316851-D975-499D-B83B-04BA555691AD}"/>
    <pc:docChg chg="undo custSel addSld delSld modSld sldOrd">
      <pc:chgData name="Phu, Valerie" userId="87ed9c79-690f-4d1b-a280-2909988b0e3e" providerId="ADAL" clId="{A7316851-D975-499D-B83B-04BA555691AD}" dt="2026-06-25T19:38:59.267" v="268" actId="115"/>
      <pc:docMkLst>
        <pc:docMk/>
      </pc:docMkLst>
      <pc:sldChg chg="add modNotesTx">
        <pc:chgData name="Phu, Valerie" userId="87ed9c79-690f-4d1b-a280-2909988b0e3e" providerId="ADAL" clId="{A7316851-D975-499D-B83B-04BA555691AD}" dt="2026-06-25T19:27:55.646" v="119" actId="20577"/>
        <pc:sldMkLst>
          <pc:docMk/>
          <pc:sldMk cId="1803961752" sldId="260"/>
        </pc:sldMkLst>
      </pc:sldChg>
      <pc:sldChg chg="delSp add mod">
        <pc:chgData name="Phu, Valerie" userId="87ed9c79-690f-4d1b-a280-2909988b0e3e" providerId="ADAL" clId="{A7316851-D975-499D-B83B-04BA555691AD}" dt="2026-06-04T22:16:55.677" v="6" actId="478"/>
        <pc:sldMkLst>
          <pc:docMk/>
          <pc:sldMk cId="2497844278" sldId="262"/>
        </pc:sldMkLst>
      </pc:sldChg>
      <pc:sldChg chg="delSp add mod">
        <pc:chgData name="Phu, Valerie" userId="87ed9c79-690f-4d1b-a280-2909988b0e3e" providerId="ADAL" clId="{A7316851-D975-499D-B83B-04BA555691AD}" dt="2026-06-04T22:18:33.785" v="16" actId="478"/>
        <pc:sldMkLst>
          <pc:docMk/>
          <pc:sldMk cId="1300137925" sldId="263"/>
        </pc:sldMkLst>
      </pc:sldChg>
      <pc:sldChg chg="delSp add mod">
        <pc:chgData name="Phu, Valerie" userId="87ed9c79-690f-4d1b-a280-2909988b0e3e" providerId="ADAL" clId="{A7316851-D975-499D-B83B-04BA555691AD}" dt="2026-06-04T22:18:50.543" v="18" actId="478"/>
        <pc:sldMkLst>
          <pc:docMk/>
          <pc:sldMk cId="2793101355" sldId="271"/>
        </pc:sldMkLst>
      </pc:sldChg>
      <pc:sldChg chg="add">
        <pc:chgData name="Phu, Valerie" userId="87ed9c79-690f-4d1b-a280-2909988b0e3e" providerId="ADAL" clId="{A7316851-D975-499D-B83B-04BA555691AD}" dt="2026-06-04T22:20:08.044" v="24"/>
        <pc:sldMkLst>
          <pc:docMk/>
          <pc:sldMk cId="3280268431" sldId="277"/>
        </pc:sldMkLst>
      </pc:sldChg>
      <pc:sldChg chg="delSp add mod">
        <pc:chgData name="Phu, Valerie" userId="87ed9c79-690f-4d1b-a280-2909988b0e3e" providerId="ADAL" clId="{A7316851-D975-499D-B83B-04BA555691AD}" dt="2026-06-04T22:18:20.846" v="14" actId="478"/>
        <pc:sldMkLst>
          <pc:docMk/>
          <pc:sldMk cId="3281015527" sldId="303"/>
        </pc:sldMkLst>
      </pc:sldChg>
      <pc:sldChg chg="add">
        <pc:chgData name="Phu, Valerie" userId="87ed9c79-690f-4d1b-a280-2909988b0e3e" providerId="ADAL" clId="{A7316851-D975-499D-B83B-04BA555691AD}" dt="2026-06-04T22:29:46.779" v="48"/>
        <pc:sldMkLst>
          <pc:docMk/>
          <pc:sldMk cId="2485875361" sldId="304"/>
        </pc:sldMkLst>
      </pc:sldChg>
      <pc:sldChg chg="add">
        <pc:chgData name="Phu, Valerie" userId="87ed9c79-690f-4d1b-a280-2909988b0e3e" providerId="ADAL" clId="{A7316851-D975-499D-B83B-04BA555691AD}" dt="2026-06-04T22:17:45.575" v="11"/>
        <pc:sldMkLst>
          <pc:docMk/>
          <pc:sldMk cId="2378353675" sldId="317"/>
        </pc:sldMkLst>
      </pc:sldChg>
      <pc:sldChg chg="delSp add mod">
        <pc:chgData name="Phu, Valerie" userId="87ed9c79-690f-4d1b-a280-2909988b0e3e" providerId="ADAL" clId="{A7316851-D975-499D-B83B-04BA555691AD}" dt="2026-06-04T22:25:07.169" v="30" actId="478"/>
        <pc:sldMkLst>
          <pc:docMk/>
          <pc:sldMk cId="3067664102" sldId="318"/>
        </pc:sldMkLst>
      </pc:sldChg>
      <pc:sldChg chg="add">
        <pc:chgData name="Phu, Valerie" userId="87ed9c79-690f-4d1b-a280-2909988b0e3e" providerId="ADAL" clId="{A7316851-D975-499D-B83B-04BA555691AD}" dt="2026-06-04T22:17:58.405" v="12"/>
        <pc:sldMkLst>
          <pc:docMk/>
          <pc:sldMk cId="3815635923" sldId="320"/>
        </pc:sldMkLst>
      </pc:sldChg>
      <pc:sldChg chg="delSp add mod modNotesTx">
        <pc:chgData name="Phu, Valerie" userId="87ed9c79-690f-4d1b-a280-2909988b0e3e" providerId="ADAL" clId="{A7316851-D975-499D-B83B-04BA555691AD}" dt="2026-06-25T19:38:59.267" v="268" actId="115"/>
        <pc:sldMkLst>
          <pc:docMk/>
          <pc:sldMk cId="652798075" sldId="327"/>
        </pc:sldMkLst>
      </pc:sldChg>
      <pc:sldChg chg="add ord">
        <pc:chgData name="Phu, Valerie" userId="87ed9c79-690f-4d1b-a280-2909988b0e3e" providerId="ADAL" clId="{A7316851-D975-499D-B83B-04BA555691AD}" dt="2026-06-04T22:19:27.137" v="21"/>
        <pc:sldMkLst>
          <pc:docMk/>
          <pc:sldMk cId="1885750183" sldId="329"/>
        </pc:sldMkLst>
      </pc:sldChg>
      <pc:sldChg chg="delSp add mod modNotesTx">
        <pc:chgData name="Phu, Valerie" userId="87ed9c79-690f-4d1b-a280-2909988b0e3e" providerId="ADAL" clId="{A7316851-D975-499D-B83B-04BA555691AD}" dt="2026-06-25T19:29:13.623" v="159" actId="20577"/>
        <pc:sldMkLst>
          <pc:docMk/>
          <pc:sldMk cId="1186058573" sldId="331"/>
        </pc:sldMkLst>
      </pc:sldChg>
      <pc:sldChg chg="add modNotesTx">
        <pc:chgData name="Phu, Valerie" userId="87ed9c79-690f-4d1b-a280-2909988b0e3e" providerId="ADAL" clId="{A7316851-D975-499D-B83B-04BA555691AD}" dt="2026-06-25T19:34:04.213" v="213" actId="115"/>
        <pc:sldMkLst>
          <pc:docMk/>
          <pc:sldMk cId="3153471383" sldId="368"/>
        </pc:sldMkLst>
      </pc:sldChg>
      <pc:sldChg chg="delSp add mod modNotesTx">
        <pc:chgData name="Phu, Valerie" userId="87ed9c79-690f-4d1b-a280-2909988b0e3e" providerId="ADAL" clId="{A7316851-D975-499D-B83B-04BA555691AD}" dt="2026-06-25T19:35:34.940" v="262" actId="20577"/>
        <pc:sldMkLst>
          <pc:docMk/>
          <pc:sldMk cId="2215173117" sldId="435"/>
        </pc:sldMkLst>
        <pc:spChg chg="del">
          <ac:chgData name="Phu, Valerie" userId="87ed9c79-690f-4d1b-a280-2909988b0e3e" providerId="ADAL" clId="{A7316851-D975-499D-B83B-04BA555691AD}" dt="2026-06-25T19:34:18.908" v="214" actId="478"/>
          <ac:spMkLst>
            <pc:docMk/>
            <pc:sldMk cId="2215173117" sldId="435"/>
            <ac:spMk id="5" creationId="{D3EB3908-6D26-6B60-4E61-BB36B9CBF46F}"/>
          </ac:spMkLst>
        </pc:spChg>
      </pc:sldChg>
      <pc:sldChg chg="add">
        <pc:chgData name="Phu, Valerie" userId="87ed9c79-690f-4d1b-a280-2909988b0e3e" providerId="ADAL" clId="{A7316851-D975-499D-B83B-04BA555691AD}" dt="2026-06-04T22:16:23.273" v="4"/>
        <pc:sldMkLst>
          <pc:docMk/>
          <pc:sldMk cId="1013899356" sldId="468"/>
        </pc:sldMkLst>
      </pc:sldChg>
      <pc:sldChg chg="modSp add mod">
        <pc:chgData name="Phu, Valerie" userId="87ed9c79-690f-4d1b-a280-2909988b0e3e" providerId="ADAL" clId="{A7316851-D975-499D-B83B-04BA555691AD}" dt="2026-06-04T22:28:38.891" v="43" actId="242"/>
        <pc:sldMkLst>
          <pc:docMk/>
          <pc:sldMk cId="186386735" sldId="2147483566"/>
        </pc:sldMkLst>
        <pc:spChg chg="mod">
          <ac:chgData name="Phu, Valerie" userId="87ed9c79-690f-4d1b-a280-2909988b0e3e" providerId="ADAL" clId="{A7316851-D975-499D-B83B-04BA555691AD}" dt="2026-06-04T22:28:38.891" v="43" actId="242"/>
          <ac:spMkLst>
            <pc:docMk/>
            <pc:sldMk cId="186386735" sldId="2147483566"/>
            <ac:spMk id="41" creationId="{BFB31B42-2853-3779-C390-7720001F313A}"/>
          </ac:spMkLst>
        </pc:spChg>
      </pc:sldChg>
      <pc:sldChg chg="add">
        <pc:chgData name="Phu, Valerie" userId="87ed9c79-690f-4d1b-a280-2909988b0e3e" providerId="ADAL" clId="{A7316851-D975-499D-B83B-04BA555691AD}" dt="2026-06-04T22:29:00.546" v="44"/>
        <pc:sldMkLst>
          <pc:docMk/>
          <pc:sldMk cId="2181407812" sldId="2147483571"/>
        </pc:sldMkLst>
      </pc:sldChg>
      <pc:sldChg chg="add ord">
        <pc:chgData name="Phu, Valerie" userId="87ed9c79-690f-4d1b-a280-2909988b0e3e" providerId="ADAL" clId="{A7316851-D975-499D-B83B-04BA555691AD}" dt="2026-06-04T22:29:29.948" v="47"/>
        <pc:sldMkLst>
          <pc:docMk/>
          <pc:sldMk cId="1755051606" sldId="2147483588"/>
        </pc:sldMkLst>
      </pc:sldChg>
      <pc:sldChg chg="addSp delSp mod">
        <pc:chgData name="Phu, Valerie" userId="87ed9c79-690f-4d1b-a280-2909988b0e3e" providerId="ADAL" clId="{A7316851-D975-499D-B83B-04BA555691AD}" dt="2026-06-04T22:15:04.301" v="1" actId="478"/>
        <pc:sldMkLst>
          <pc:docMk/>
          <pc:sldMk cId="2602035824" sldId="2147483614"/>
        </pc:sldMkLst>
      </pc:sldChg>
      <pc:sldChg chg="add">
        <pc:chgData name="Phu, Valerie" userId="87ed9c79-690f-4d1b-a280-2909988b0e3e" providerId="ADAL" clId="{A7316851-D975-499D-B83B-04BA555691AD}" dt="2026-06-04T22:20:40.615" v="25"/>
        <pc:sldMkLst>
          <pc:docMk/>
          <pc:sldMk cId="2213919945" sldId="2147483628"/>
        </pc:sldMkLst>
      </pc:sldChg>
      <pc:sldChg chg="add">
        <pc:chgData name="Phu, Valerie" userId="87ed9c79-690f-4d1b-a280-2909988b0e3e" providerId="ADAL" clId="{A7316851-D975-499D-B83B-04BA555691AD}" dt="2026-06-04T22:22:20.545" v="26"/>
        <pc:sldMkLst>
          <pc:docMk/>
          <pc:sldMk cId="2101723487" sldId="2147483637"/>
        </pc:sldMkLst>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Binary_Worksheet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Binary_Worksheet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Binary_Worksheet8.xlsb"/></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Binary_Worksheet9.xlsb"/></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Binary_Worksheet10.xlsb"/></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Binary_Worksheet11.xlsb"/></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Binary_Worksheet12.xlsb"/></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Binary_Worksheet13.xlsb"/></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Binary_Worksheet14.xlsb"/></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Binary_Worksheet15.xlsb"/></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Binary_Worksheet16.xlsb"/></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Binary_Worksheet17.xlsb"/></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Binary_Worksheet18.xlsb"/></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Binary_Worksheet19.xlsb"/></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Binary_Worksheet20.xlsb"/></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Binary_Worksheet21.xlsb"/></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Binary_Worksheet22.xlsb"/></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xml"/><Relationship Id="rId1" Type="http://schemas.microsoft.com/office/2011/relationships/chartStyle" Target="style2.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626220362622036E-2"/>
          <c:y val="0.21032863849765257"/>
          <c:w val="0.92747559274755931"/>
          <c:h val="0.64413145539906103"/>
        </c:manualLayout>
      </c:layout>
      <c:barChart>
        <c:barDir val="col"/>
        <c:grouping val="stacked"/>
        <c:varyColors val="0"/>
        <c:ser>
          <c:idx val="0"/>
          <c:order val="0"/>
          <c:spPr>
            <a:solidFill>
              <a:srgbClr val="E1111A"/>
            </a:solidFill>
            <a:ln>
              <a:noFill/>
            </a:ln>
          </c:spPr>
          <c:invertIfNegative val="0"/>
          <c:dPt>
            <c:idx val="0"/>
            <c:invertIfNegative val="0"/>
            <c:bubble3D val="0"/>
            <c:spPr>
              <a:solidFill>
                <a:srgbClr val="D8D6CA"/>
              </a:solidFill>
              <a:ln>
                <a:noFill/>
              </a:ln>
            </c:spPr>
            <c:extLst>
              <c:ext xmlns:c16="http://schemas.microsoft.com/office/drawing/2014/chart" uri="{C3380CC4-5D6E-409C-BE32-E72D297353CC}">
                <c16:uniqueId val="{00000000-049D-4E65-ADAF-4FDBF8997F54}"/>
              </c:ext>
            </c:extLst>
          </c:dPt>
          <c:dLbls>
            <c:dLbl>
              <c:idx val="0"/>
              <c:layout>
                <c:manualLayout>
                  <c:x val="0"/>
                  <c:y val="-0.38685446009389673"/>
                </c:manualLayout>
              </c:layout>
              <c:numFmt formatCode="#,##0;&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49D-4E65-ADAF-4FDBF8997F54}"/>
                </c:ext>
              </c:extLst>
            </c:dLbl>
            <c:dLbl>
              <c:idx val="1"/>
              <c:layout>
                <c:manualLayout>
                  <c:x val="0"/>
                  <c:y val="-0.31361502347417841"/>
                </c:manualLayout>
              </c:layout>
              <c:numFmt formatCode="#,##0;&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49D-4E65-ADAF-4FDBF8997F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529</c:v>
                </c:pt>
                <c:pt idx="1">
                  <c:v>409</c:v>
                </c:pt>
              </c:numCache>
            </c:numRef>
          </c:val>
          <c:extLst>
            <c:ext xmlns:c16="http://schemas.microsoft.com/office/drawing/2014/chart" uri="{C3380CC4-5D6E-409C-BE32-E72D297353CC}">
              <c16:uniqueId val="{00000002-049D-4E65-ADAF-4FDBF8997F54}"/>
            </c:ext>
          </c:extLst>
        </c:ser>
        <c:dLbls>
          <c:showLegendKey val="0"/>
          <c:showVal val="0"/>
          <c:showCatName val="0"/>
          <c:showSerName val="0"/>
          <c:showPercent val="0"/>
          <c:showBubbleSize val="0"/>
        </c:dLbls>
        <c:gapWidth val="80"/>
        <c:overlap val="100"/>
        <c:axId val="1253882624"/>
        <c:axId val="1"/>
      </c:barChart>
      <c:catAx>
        <c:axId val="1253882624"/>
        <c:scaling>
          <c:orientation val="minMax"/>
        </c:scaling>
        <c:delete val="0"/>
        <c:axPos val="b"/>
        <c:majorGridlines>
          <c:spPr>
            <a:ln>
              <a:noFill/>
            </a:ln>
          </c:spPr>
        </c:majorGridlines>
        <c:majorTickMark val="none"/>
        <c:minorTickMark val="none"/>
        <c:tickLblPos val="none"/>
        <c:spPr>
          <a:ln w="9525" cmpd="sng" algn="ctr">
            <a:solidFill>
              <a:srgbClr val="F5EFE8"/>
            </a:solidFill>
            <a:prstDash val="solid"/>
          </a:ln>
        </c:spPr>
        <c:crossAx val="1"/>
        <c:crosses val="min"/>
        <c:auto val="0"/>
        <c:lblAlgn val="ctr"/>
        <c:lblOffset val="100"/>
        <c:noMultiLvlLbl val="0"/>
      </c:catAx>
      <c:valAx>
        <c:axId val="1"/>
        <c:scaling>
          <c:orientation val="minMax"/>
          <c:max val="529"/>
          <c:min val="0"/>
        </c:scaling>
        <c:delete val="0"/>
        <c:axPos val="l"/>
        <c:majorGridlines>
          <c:spPr>
            <a:ln>
              <a:noFill/>
            </a:ln>
          </c:spPr>
        </c:majorGridlines>
        <c:numFmt formatCode="General" sourceLinked="1"/>
        <c:majorTickMark val="none"/>
        <c:minorTickMark val="none"/>
        <c:tickLblPos val="none"/>
        <c:spPr>
          <a:ln>
            <a:noFill/>
          </a:ln>
        </c:spPr>
        <c:crossAx val="1253882624"/>
        <c:crosses val="min"/>
        <c:crossBetween val="between"/>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4630872483221477"/>
          <c:y val="0.21032863849765257"/>
          <c:w val="0.70805369127516782"/>
          <c:h val="0.64413145539906103"/>
        </c:manualLayout>
      </c:layout>
      <c:barChart>
        <c:barDir val="col"/>
        <c:grouping val="stacked"/>
        <c:varyColors val="0"/>
        <c:ser>
          <c:idx val="0"/>
          <c:order val="0"/>
          <c:spPr>
            <a:solidFill>
              <a:srgbClr val="E1111A"/>
            </a:solidFill>
            <a:ln>
              <a:noFill/>
            </a:ln>
          </c:spPr>
          <c:invertIfNegative val="0"/>
          <c:dPt>
            <c:idx val="0"/>
            <c:invertIfNegative val="0"/>
            <c:bubble3D val="0"/>
            <c:spPr>
              <a:solidFill>
                <a:srgbClr val="D8D6CA"/>
              </a:solidFill>
              <a:ln>
                <a:noFill/>
              </a:ln>
            </c:spPr>
            <c:extLst>
              <c:ext xmlns:c16="http://schemas.microsoft.com/office/drawing/2014/chart" uri="{C3380CC4-5D6E-409C-BE32-E72D297353CC}">
                <c16:uniqueId val="{00000000-5460-4028-87F4-9DF147B738D7}"/>
              </c:ext>
            </c:extLst>
          </c:dPt>
          <c:dLbls>
            <c:dLbl>
              <c:idx val="0"/>
              <c:layout>
                <c:manualLayout>
                  <c:x val="0"/>
                  <c:y val="-0.37370892018779345"/>
                </c:manualLayout>
              </c:layout>
              <c:numFmt formatCode="&quot;$&quot;#,##0;&quot;-&quot;&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460-4028-87F4-9DF147B738D7}"/>
                </c:ext>
              </c:extLst>
            </c:dLbl>
            <c:dLbl>
              <c:idx val="1"/>
              <c:layout>
                <c:manualLayout>
                  <c:x val="0"/>
                  <c:y val="-0.38685446009389673"/>
                </c:manualLayout>
              </c:layout>
              <c:numFmt formatCode="&quot;$&quot;#,##0;&quot;-&quot;&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460-4028-87F4-9DF147B738D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939</c:v>
                </c:pt>
                <c:pt idx="1">
                  <c:v>979</c:v>
                </c:pt>
              </c:numCache>
            </c:numRef>
          </c:val>
          <c:extLst>
            <c:ext xmlns:c16="http://schemas.microsoft.com/office/drawing/2014/chart" uri="{C3380CC4-5D6E-409C-BE32-E72D297353CC}">
              <c16:uniqueId val="{00000002-5460-4028-87F4-9DF147B738D7}"/>
            </c:ext>
          </c:extLst>
        </c:ser>
        <c:dLbls>
          <c:showLegendKey val="0"/>
          <c:showVal val="0"/>
          <c:showCatName val="0"/>
          <c:showSerName val="0"/>
          <c:showPercent val="0"/>
          <c:showBubbleSize val="0"/>
        </c:dLbls>
        <c:gapWidth val="80"/>
        <c:overlap val="100"/>
        <c:axId val="1253861504"/>
        <c:axId val="1"/>
      </c:barChart>
      <c:catAx>
        <c:axId val="1253861504"/>
        <c:scaling>
          <c:orientation val="minMax"/>
        </c:scaling>
        <c:delete val="0"/>
        <c:axPos val="b"/>
        <c:majorGridlines>
          <c:spPr>
            <a:ln>
              <a:noFill/>
            </a:ln>
          </c:spPr>
        </c:majorGridlines>
        <c:majorTickMark val="none"/>
        <c:minorTickMark val="none"/>
        <c:tickLblPos val="none"/>
        <c:spPr>
          <a:ln w="9525" cmpd="sng" algn="ctr">
            <a:solidFill>
              <a:srgbClr val="F5EFE8"/>
            </a:solidFill>
            <a:prstDash val="solid"/>
          </a:ln>
        </c:spPr>
        <c:crossAx val="1"/>
        <c:crosses val="min"/>
        <c:auto val="0"/>
        <c:lblAlgn val="ctr"/>
        <c:lblOffset val="100"/>
        <c:noMultiLvlLbl val="0"/>
      </c:catAx>
      <c:valAx>
        <c:axId val="1"/>
        <c:scaling>
          <c:orientation val="minMax"/>
          <c:max val="979"/>
          <c:min val="0"/>
        </c:scaling>
        <c:delete val="0"/>
        <c:axPos val="l"/>
        <c:majorGridlines>
          <c:spPr>
            <a:ln>
              <a:noFill/>
            </a:ln>
          </c:spPr>
        </c:majorGridlines>
        <c:numFmt formatCode="General" sourceLinked="1"/>
        <c:majorTickMark val="none"/>
        <c:minorTickMark val="none"/>
        <c:tickLblPos val="none"/>
        <c:spPr>
          <a:ln>
            <a:noFill/>
          </a:ln>
        </c:spPr>
        <c:crossAx val="1253861504"/>
        <c:crosses val="min"/>
        <c:crossBetween val="between"/>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6804680468046804E-2"/>
          <c:y val="6.8062827225130892E-2"/>
          <c:w val="0.90639063906390638"/>
          <c:h val="0.86387434554973819"/>
        </c:manualLayout>
      </c:layout>
      <c:barChart>
        <c:barDir val="col"/>
        <c:grouping val="stacked"/>
        <c:varyColors val="0"/>
        <c:ser>
          <c:idx val="0"/>
          <c:order val="0"/>
          <c:spPr>
            <a:solidFill>
              <a:srgbClr val="E1111A"/>
            </a:solidFill>
            <a:ln>
              <a:noFill/>
            </a:ln>
          </c:spPr>
          <c:invertIfNegative val="0"/>
          <c:dPt>
            <c:idx val="0"/>
            <c:invertIfNegative val="0"/>
            <c:bubble3D val="0"/>
            <c:spPr>
              <a:solidFill>
                <a:srgbClr val="D8D6CA"/>
              </a:solidFill>
              <a:ln>
                <a:noFill/>
              </a:ln>
            </c:spPr>
            <c:extLst>
              <c:ext xmlns:c16="http://schemas.microsoft.com/office/drawing/2014/chart" uri="{C3380CC4-5D6E-409C-BE32-E72D297353CC}">
                <c16:uniqueId val="{00000000-9DD7-4B33-B6F7-A207A52A9056}"/>
              </c:ext>
            </c:extLst>
          </c:dPt>
          <c:val>
            <c:numRef>
              <c:f>Sheet1!$A$1:$B$1</c:f>
              <c:numCache>
                <c:formatCode>General</c:formatCode>
                <c:ptCount val="2"/>
                <c:pt idx="0">
                  <c:v>2315405</c:v>
                </c:pt>
                <c:pt idx="1">
                  <c:v>2319670.6999794538</c:v>
                </c:pt>
              </c:numCache>
            </c:numRef>
          </c:val>
          <c:extLst>
            <c:ext xmlns:c16="http://schemas.microsoft.com/office/drawing/2014/chart" uri="{C3380CC4-5D6E-409C-BE32-E72D297353CC}">
              <c16:uniqueId val="{00000001-9DD7-4B33-B6F7-A207A52A9056}"/>
            </c:ext>
          </c:extLst>
        </c:ser>
        <c:ser>
          <c:idx val="1"/>
          <c:order val="1"/>
          <c:spPr>
            <a:solidFill>
              <a:srgbClr val="B10D13"/>
            </a:solidFill>
            <a:ln>
              <a:noFill/>
            </a:ln>
          </c:spPr>
          <c:invertIfNegative val="0"/>
          <c:dPt>
            <c:idx val="0"/>
            <c:invertIfNegative val="0"/>
            <c:bubble3D val="0"/>
            <c:spPr>
              <a:solidFill>
                <a:srgbClr val="B5B598"/>
              </a:solidFill>
              <a:ln>
                <a:noFill/>
              </a:ln>
            </c:spPr>
            <c:extLst>
              <c:ext xmlns:c16="http://schemas.microsoft.com/office/drawing/2014/chart" uri="{C3380CC4-5D6E-409C-BE32-E72D297353CC}">
                <c16:uniqueId val="{00000002-9DD7-4B33-B6F7-A207A52A9056}"/>
              </c:ext>
            </c:extLst>
          </c:dPt>
          <c:val>
            <c:numRef>
              <c:f>Sheet1!$A$2:$B$2</c:f>
              <c:numCache>
                <c:formatCode>General</c:formatCode>
                <c:ptCount val="2"/>
                <c:pt idx="0">
                  <c:v>136743</c:v>
                </c:pt>
                <c:pt idx="1">
                  <c:v>123065.96206639847</c:v>
                </c:pt>
              </c:numCache>
            </c:numRef>
          </c:val>
          <c:extLst>
            <c:ext xmlns:c16="http://schemas.microsoft.com/office/drawing/2014/chart" uri="{C3380CC4-5D6E-409C-BE32-E72D297353CC}">
              <c16:uniqueId val="{00000003-9DD7-4B33-B6F7-A207A52A9056}"/>
            </c:ext>
          </c:extLst>
        </c:ser>
        <c:dLbls>
          <c:showLegendKey val="0"/>
          <c:showVal val="0"/>
          <c:showCatName val="0"/>
          <c:showSerName val="0"/>
          <c:showPercent val="0"/>
          <c:showBubbleSize val="0"/>
        </c:dLbls>
        <c:gapWidth val="80"/>
        <c:overlap val="100"/>
        <c:axId val="1253894144"/>
        <c:axId val="1"/>
      </c:barChart>
      <c:catAx>
        <c:axId val="1253894144"/>
        <c:scaling>
          <c:orientation val="minMax"/>
        </c:scaling>
        <c:delete val="0"/>
        <c:axPos val="b"/>
        <c:majorGridlines>
          <c:spPr>
            <a:ln>
              <a:noFill/>
            </a:ln>
          </c:spPr>
        </c:majorGridlines>
        <c:majorTickMark val="none"/>
        <c:minorTickMark val="none"/>
        <c:tickLblPos val="none"/>
        <c:spPr>
          <a:ln w="9525" cmpd="sng" algn="ctr">
            <a:solidFill>
              <a:srgbClr val="F5EFE8"/>
            </a:solidFill>
            <a:prstDash val="solid"/>
          </a:ln>
        </c:spPr>
        <c:crossAx val="1"/>
        <c:crosses val="min"/>
        <c:auto val="0"/>
        <c:lblAlgn val="ctr"/>
        <c:lblOffset val="100"/>
        <c:noMultiLvlLbl val="0"/>
      </c:catAx>
      <c:valAx>
        <c:axId val="1"/>
        <c:scaling>
          <c:orientation val="minMax"/>
          <c:max val="2452148"/>
          <c:min val="0"/>
        </c:scaling>
        <c:delete val="0"/>
        <c:axPos val="l"/>
        <c:majorGridlines>
          <c:spPr>
            <a:ln>
              <a:noFill/>
            </a:ln>
          </c:spPr>
        </c:majorGridlines>
        <c:numFmt formatCode="General" sourceLinked="1"/>
        <c:majorTickMark val="none"/>
        <c:minorTickMark val="none"/>
        <c:tickLblPos val="none"/>
        <c:spPr>
          <a:ln>
            <a:noFill/>
          </a:ln>
        </c:spPr>
        <c:crossAx val="1253894144"/>
        <c:crosses val="min"/>
        <c:crossBetween val="between"/>
      </c:valAx>
    </c:plotArea>
    <c:plotVisOnly val="0"/>
    <c:dispBlanksAs val="gap"/>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0226628895184137"/>
          <c:y val="0.21032863849765257"/>
          <c:w val="0.59546742209631731"/>
          <c:h val="0.64413145539906103"/>
        </c:manualLayout>
      </c:layout>
      <c:barChart>
        <c:barDir val="col"/>
        <c:grouping val="stacked"/>
        <c:varyColors val="0"/>
        <c:ser>
          <c:idx val="0"/>
          <c:order val="0"/>
          <c:spPr>
            <a:solidFill>
              <a:srgbClr val="E1111A"/>
            </a:solidFill>
            <a:ln>
              <a:noFill/>
            </a:ln>
          </c:spPr>
          <c:invertIfNegative val="0"/>
          <c:dPt>
            <c:idx val="0"/>
            <c:invertIfNegative val="0"/>
            <c:bubble3D val="0"/>
            <c:spPr>
              <a:solidFill>
                <a:srgbClr val="D8D6CA"/>
              </a:solidFill>
              <a:ln>
                <a:noFill/>
              </a:ln>
            </c:spPr>
            <c:extLst>
              <c:ext xmlns:c16="http://schemas.microsoft.com/office/drawing/2014/chart" uri="{C3380CC4-5D6E-409C-BE32-E72D297353CC}">
                <c16:uniqueId val="{00000000-A998-43EE-A5EC-30AF8FF72490}"/>
              </c:ext>
            </c:extLst>
          </c:dPt>
          <c:dLbls>
            <c:dLbl>
              <c:idx val="0"/>
              <c:layout>
                <c:manualLayout>
                  <c:x val="0"/>
                  <c:y val="-0.33896713615023472"/>
                </c:manualLayout>
              </c:layout>
              <c:numFmt formatCode="&quot;$&quot;#,##0;&quot;-&quot;&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998-43EE-A5EC-30AF8FF72490}"/>
                </c:ext>
              </c:extLst>
            </c:dLbl>
            <c:dLbl>
              <c:idx val="1"/>
              <c:layout>
                <c:manualLayout>
                  <c:x val="0"/>
                  <c:y val="-0.38685446009389673"/>
                </c:manualLayout>
              </c:layout>
              <c:numFmt formatCode="&quot;$&quot;#,##0;&quot;-&quot;&quot;$&quot;#,##0"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998-43EE-A5EC-30AF8FF7249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1559</c:v>
                </c:pt>
                <c:pt idx="1">
                  <c:v>1828</c:v>
                </c:pt>
              </c:numCache>
            </c:numRef>
          </c:val>
          <c:extLst>
            <c:ext xmlns:c16="http://schemas.microsoft.com/office/drawing/2014/chart" uri="{C3380CC4-5D6E-409C-BE32-E72D297353CC}">
              <c16:uniqueId val="{00000002-A998-43EE-A5EC-30AF8FF72490}"/>
            </c:ext>
          </c:extLst>
        </c:ser>
        <c:dLbls>
          <c:showLegendKey val="0"/>
          <c:showVal val="0"/>
          <c:showCatName val="0"/>
          <c:showSerName val="0"/>
          <c:showPercent val="0"/>
          <c:showBubbleSize val="0"/>
        </c:dLbls>
        <c:gapWidth val="80"/>
        <c:overlap val="100"/>
        <c:axId val="1253896544"/>
        <c:axId val="1"/>
      </c:barChart>
      <c:catAx>
        <c:axId val="1253896544"/>
        <c:scaling>
          <c:orientation val="minMax"/>
        </c:scaling>
        <c:delete val="0"/>
        <c:axPos val="b"/>
        <c:majorGridlines>
          <c:spPr>
            <a:ln>
              <a:noFill/>
            </a:ln>
          </c:spPr>
        </c:majorGridlines>
        <c:majorTickMark val="none"/>
        <c:minorTickMark val="none"/>
        <c:tickLblPos val="none"/>
        <c:spPr>
          <a:ln w="9525" cmpd="sng" algn="ctr">
            <a:solidFill>
              <a:srgbClr val="F5EFE8"/>
            </a:solidFill>
            <a:prstDash val="solid"/>
          </a:ln>
        </c:spPr>
        <c:crossAx val="1"/>
        <c:crosses val="min"/>
        <c:auto val="0"/>
        <c:lblAlgn val="ctr"/>
        <c:lblOffset val="100"/>
        <c:noMultiLvlLbl val="0"/>
      </c:catAx>
      <c:valAx>
        <c:axId val="1"/>
        <c:scaling>
          <c:orientation val="minMax"/>
          <c:max val="1828"/>
          <c:min val="0"/>
        </c:scaling>
        <c:delete val="0"/>
        <c:axPos val="l"/>
        <c:majorGridlines>
          <c:spPr>
            <a:ln>
              <a:noFill/>
            </a:ln>
          </c:spPr>
        </c:majorGridlines>
        <c:numFmt formatCode="General" sourceLinked="1"/>
        <c:majorTickMark val="none"/>
        <c:minorTickMark val="none"/>
        <c:tickLblPos val="none"/>
        <c:spPr>
          <a:ln>
            <a:noFill/>
          </a:ln>
        </c:spPr>
        <c:crossAx val="1253896544"/>
        <c:crosses val="min"/>
        <c:crossBetween val="between"/>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193768672641914E-2"/>
          <c:y val="6.3414634146341464E-2"/>
          <c:w val="0.95561246265471622"/>
          <c:h val="0.87317073170731707"/>
        </c:manualLayout>
      </c:layout>
      <c:barChart>
        <c:barDir val="col"/>
        <c:grouping val="stacked"/>
        <c:varyColors val="0"/>
        <c:ser>
          <c:idx val="0"/>
          <c:order val="0"/>
          <c:spPr>
            <a:solidFill>
              <a:srgbClr val="D8D6CA"/>
            </a:solidFill>
            <a:ln>
              <a:noFill/>
            </a:ln>
          </c:spPr>
          <c:invertIfNegative val="0"/>
          <c:dPt>
            <c:idx val="3"/>
            <c:invertIfNegative val="0"/>
            <c:bubble3D val="0"/>
            <c:spPr>
              <a:solidFill>
                <a:schemeClr val="accent1"/>
              </a:solidFill>
              <a:ln>
                <a:noFill/>
              </a:ln>
            </c:spPr>
            <c:extLst>
              <c:ext xmlns:c16="http://schemas.microsoft.com/office/drawing/2014/chart" uri="{C3380CC4-5D6E-409C-BE32-E72D297353CC}">
                <c16:uniqueId val="{00000000-FB46-443C-BE7A-6D884B88D9B4}"/>
              </c:ext>
            </c:extLst>
          </c:dPt>
          <c:val>
            <c:numRef>
              <c:f>Sheet1!$A$1:$D$1</c:f>
              <c:numCache>
                <c:formatCode>General</c:formatCode>
                <c:ptCount val="4"/>
                <c:pt idx="0">
                  <c:v>4749</c:v>
                </c:pt>
                <c:pt idx="1">
                  <c:v>5317.9234042021299</c:v>
                </c:pt>
                <c:pt idx="2">
                  <c:v>5847.0628512786598</c:v>
                </c:pt>
                <c:pt idx="3">
                  <c:v>6060.9706098890001</c:v>
                </c:pt>
              </c:numCache>
            </c:numRef>
          </c:val>
          <c:extLst>
            <c:ext xmlns:c16="http://schemas.microsoft.com/office/drawing/2014/chart" uri="{C3380CC4-5D6E-409C-BE32-E72D297353CC}">
              <c16:uniqueId val="{00000001-FB46-443C-BE7A-6D884B88D9B4}"/>
            </c:ext>
          </c:extLst>
        </c:ser>
        <c:dLbls>
          <c:showLegendKey val="0"/>
          <c:showVal val="0"/>
          <c:showCatName val="0"/>
          <c:showSerName val="0"/>
          <c:showPercent val="0"/>
          <c:showBubbleSize val="0"/>
        </c:dLbls>
        <c:gapWidth val="80"/>
        <c:overlap val="100"/>
        <c:axId val="291862095"/>
        <c:axId val="1"/>
      </c:barChart>
      <c:catAx>
        <c:axId val="291862095"/>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6060.9706098890001"/>
          <c:min val="0"/>
        </c:scaling>
        <c:delete val="1"/>
        <c:axPos val="l"/>
        <c:numFmt formatCode="General" sourceLinked="1"/>
        <c:majorTickMark val="out"/>
        <c:minorTickMark val="none"/>
        <c:tickLblPos val="nextTo"/>
        <c:crossAx val="291862095"/>
        <c:crosses val="min"/>
        <c:crossBetween val="between"/>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0535506402793947E-2"/>
          <c:y val="2.8353326063249727E-2"/>
          <c:w val="0.87892898719441215"/>
          <c:h val="0.9432933478735005"/>
        </c:manualLayout>
      </c:layout>
      <c:barChart>
        <c:barDir val="bar"/>
        <c:grouping val="stacked"/>
        <c:varyColors val="0"/>
        <c:ser>
          <c:idx val="0"/>
          <c:order val="0"/>
          <c:spPr>
            <a:solidFill>
              <a:srgbClr val="EBDFD1"/>
            </a:solidFill>
            <a:ln w="9525" cmpd="sng" algn="ctr">
              <a:solidFill>
                <a:srgbClr val="FFFFFF"/>
              </a:solidFill>
              <a:prstDash val="solid"/>
            </a:ln>
          </c:spPr>
          <c:invertIfNegative val="0"/>
          <c:val>
            <c:numRef>
              <c:f>Sheet1!$A$1:$F$1</c:f>
              <c:numCache>
                <c:formatCode>General</c:formatCode>
                <c:ptCount val="6"/>
                <c:pt idx="0">
                  <c:v>120899.84660855251</c:v>
                </c:pt>
                <c:pt idx="1">
                  <c:v>58668.487410677546</c:v>
                </c:pt>
                <c:pt idx="2">
                  <c:v>48859.964832204721</c:v>
                </c:pt>
                <c:pt idx="3">
                  <c:v>21496.202626360882</c:v>
                </c:pt>
                <c:pt idx="4">
                  <c:v>41463.12993377979</c:v>
                </c:pt>
                <c:pt idx="5">
                  <c:v>27909.686108720867</c:v>
                </c:pt>
              </c:numCache>
            </c:numRef>
          </c:val>
          <c:extLst>
            <c:ext xmlns:c16="http://schemas.microsoft.com/office/drawing/2014/chart" uri="{C3380CC4-5D6E-409C-BE32-E72D297353CC}">
              <c16:uniqueId val="{00000000-7617-42F6-B972-7093BA638138}"/>
            </c:ext>
          </c:extLst>
        </c:ser>
        <c:ser>
          <c:idx val="1"/>
          <c:order val="1"/>
          <c:spPr>
            <a:solidFill>
              <a:srgbClr val="BCB8A4"/>
            </a:solidFill>
            <a:ln w="9525" cmpd="sng" algn="ctr">
              <a:solidFill>
                <a:srgbClr val="FFFFFF"/>
              </a:solidFill>
              <a:prstDash val="solid"/>
            </a:ln>
          </c:spPr>
          <c:invertIfNegative val="0"/>
          <c:val>
            <c:numRef>
              <c:f>Sheet1!$A$2:$F$2</c:f>
              <c:numCache>
                <c:formatCode>General</c:formatCode>
                <c:ptCount val="6"/>
                <c:pt idx="0">
                  <c:v>22622.619626622778</c:v>
                </c:pt>
                <c:pt idx="1">
                  <c:v>28473.41838452618</c:v>
                </c:pt>
                <c:pt idx="2">
                  <c:v>20205.469714542261</c:v>
                </c:pt>
                <c:pt idx="3">
                  <c:v>13488.046690860112</c:v>
                </c:pt>
                <c:pt idx="4">
                  <c:v>9348.5727112873647</c:v>
                </c:pt>
                <c:pt idx="5">
                  <c:v>11613.528377417788</c:v>
                </c:pt>
              </c:numCache>
            </c:numRef>
          </c:val>
          <c:extLst>
            <c:ext xmlns:c16="http://schemas.microsoft.com/office/drawing/2014/chart" uri="{C3380CC4-5D6E-409C-BE32-E72D297353CC}">
              <c16:uniqueId val="{00000001-7617-42F6-B972-7093BA638138}"/>
            </c:ext>
          </c:extLst>
        </c:ser>
        <c:dLbls>
          <c:showLegendKey val="0"/>
          <c:showVal val="0"/>
          <c:showCatName val="0"/>
          <c:showSerName val="0"/>
          <c:showPercent val="0"/>
          <c:showBubbleSize val="0"/>
        </c:dLbls>
        <c:gapWidth val="80"/>
        <c:overlap val="100"/>
        <c:axId val="1013304911"/>
        <c:axId val="1"/>
      </c:barChart>
      <c:catAx>
        <c:axId val="1013304911"/>
        <c:scaling>
          <c:orientation val="maxMin"/>
        </c:scaling>
        <c:delete val="0"/>
        <c:axPos val="l"/>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143522.46623517529"/>
          <c:min val="0"/>
        </c:scaling>
        <c:delete val="0"/>
        <c:axPos val="t"/>
        <c:majorGridlines>
          <c:spPr>
            <a:ln>
              <a:noFill/>
            </a:ln>
          </c:spPr>
        </c:majorGridlines>
        <c:numFmt formatCode="General" sourceLinked="1"/>
        <c:majorTickMark val="none"/>
        <c:minorTickMark val="none"/>
        <c:tickLblPos val="none"/>
        <c:spPr>
          <a:ln>
            <a:noFill/>
          </a:ln>
        </c:spPr>
        <c:crossAx val="1013304911"/>
        <c:crosses val="min"/>
        <c:crossBetween val="between"/>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8734770384254923E-2"/>
          <c:y val="2.8353326063249727E-2"/>
          <c:w val="0.90253045923149011"/>
          <c:h val="0.9432933478735005"/>
        </c:manualLayout>
      </c:layout>
      <c:barChart>
        <c:barDir val="bar"/>
        <c:grouping val="stacked"/>
        <c:varyColors val="0"/>
        <c:ser>
          <c:idx val="0"/>
          <c:order val="0"/>
          <c:spPr>
            <a:solidFill>
              <a:srgbClr val="B10D13"/>
            </a:solidFill>
            <a:ln w="9525" cmpd="sng" algn="ctr">
              <a:solidFill>
                <a:srgbClr val="FFFFFF"/>
              </a:solidFill>
              <a:prstDash val="solid"/>
            </a:ln>
          </c:spPr>
          <c:invertIfNegative val="0"/>
          <c:val>
            <c:numRef>
              <c:f>Sheet1!$A$1:$F$1</c:f>
              <c:numCache>
                <c:formatCode>General</c:formatCode>
                <c:ptCount val="6"/>
                <c:pt idx="0">
                  <c:v>29713.345055931761</c:v>
                </c:pt>
                <c:pt idx="1">
                  <c:v>22000.224475289011</c:v>
                </c:pt>
                <c:pt idx="2">
                  <c:v>19168.094578921769</c:v>
                </c:pt>
                <c:pt idx="3">
                  <c:v>19014.179355755921</c:v>
                </c:pt>
                <c:pt idx="4">
                  <c:v>6007.9314602117556</c:v>
                </c:pt>
                <c:pt idx="5">
                  <c:v>11152.680609076284</c:v>
                </c:pt>
              </c:numCache>
            </c:numRef>
          </c:val>
          <c:extLst>
            <c:ext xmlns:c16="http://schemas.microsoft.com/office/drawing/2014/chart" uri="{C3380CC4-5D6E-409C-BE32-E72D297353CC}">
              <c16:uniqueId val="{00000000-AA69-4581-BD1D-43776C59665B}"/>
            </c:ext>
          </c:extLst>
        </c:ser>
        <c:ser>
          <c:idx val="1"/>
          <c:order val="1"/>
          <c:spPr>
            <a:solidFill>
              <a:schemeClr val="accent1"/>
            </a:solidFill>
            <a:ln w="9525" cmpd="sng" algn="ctr">
              <a:solidFill>
                <a:srgbClr val="FFFFFF"/>
              </a:solidFill>
              <a:prstDash val="solid"/>
            </a:ln>
          </c:spPr>
          <c:invertIfNegative val="0"/>
          <c:val>
            <c:numRef>
              <c:f>Sheet1!$A$2:$F$2</c:f>
              <c:numCache>
                <c:formatCode>General</c:formatCode>
                <c:ptCount val="6"/>
                <c:pt idx="0">
                  <c:v>124837.36765311086</c:v>
                </c:pt>
                <c:pt idx="1">
                  <c:v>70578.023869205732</c:v>
                </c:pt>
                <c:pt idx="2">
                  <c:v>51816.454038684577</c:v>
                </c:pt>
                <c:pt idx="3">
                  <c:v>20959.407385237013</c:v>
                </c:pt>
                <c:pt idx="4">
                  <c:v>33475.027124097425</c:v>
                </c:pt>
                <c:pt idx="5">
                  <c:v>24787.534138950206</c:v>
                </c:pt>
              </c:numCache>
            </c:numRef>
          </c:val>
          <c:extLst>
            <c:ext xmlns:c16="http://schemas.microsoft.com/office/drawing/2014/chart" uri="{C3380CC4-5D6E-409C-BE32-E72D297353CC}">
              <c16:uniqueId val="{00000001-AA69-4581-BD1D-43776C59665B}"/>
            </c:ext>
          </c:extLst>
        </c:ser>
        <c:dLbls>
          <c:showLegendKey val="0"/>
          <c:showVal val="0"/>
          <c:showCatName val="0"/>
          <c:showSerName val="0"/>
          <c:showPercent val="0"/>
          <c:showBubbleSize val="0"/>
        </c:dLbls>
        <c:gapWidth val="80"/>
        <c:overlap val="100"/>
        <c:axId val="2064951664"/>
        <c:axId val="1"/>
      </c:barChart>
      <c:catAx>
        <c:axId val="2064951664"/>
        <c:scaling>
          <c:orientation val="maxMin"/>
        </c:scaling>
        <c:delete val="0"/>
        <c:axPos val="l"/>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154550.71270904262"/>
          <c:min val="0"/>
        </c:scaling>
        <c:delete val="0"/>
        <c:axPos val="t"/>
        <c:majorGridlines>
          <c:spPr>
            <a:ln>
              <a:noFill/>
            </a:ln>
          </c:spPr>
        </c:majorGridlines>
        <c:numFmt formatCode="General" sourceLinked="1"/>
        <c:majorTickMark val="none"/>
        <c:minorTickMark val="none"/>
        <c:tickLblPos val="none"/>
        <c:spPr>
          <a:ln>
            <a:noFill/>
          </a:ln>
        </c:spPr>
        <c:crossAx val="2064951664"/>
        <c:crosses val="min"/>
        <c:crossBetween val="between"/>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0535506402793947E-2"/>
          <c:y val="2.8353326063249727E-2"/>
          <c:w val="0.87892898719441215"/>
          <c:h val="0.9432933478735005"/>
        </c:manualLayout>
      </c:layout>
      <c:barChart>
        <c:barDir val="bar"/>
        <c:grouping val="stacked"/>
        <c:varyColors val="0"/>
        <c:ser>
          <c:idx val="0"/>
          <c:order val="0"/>
          <c:spPr>
            <a:solidFill>
              <a:srgbClr val="D6D7D9"/>
            </a:solidFill>
            <a:ln w="9525" cmpd="sng" algn="ctr">
              <a:solidFill>
                <a:srgbClr val="FFFFFF"/>
              </a:solidFill>
              <a:prstDash val="solid"/>
            </a:ln>
          </c:spPr>
          <c:invertIfNegative val="0"/>
          <c:val>
            <c:numRef>
              <c:f>Sheet1!$A$1:$F$1</c:f>
              <c:numCache>
                <c:formatCode>General</c:formatCode>
                <c:ptCount val="6"/>
                <c:pt idx="0">
                  <c:v>50252.75917542744</c:v>
                </c:pt>
                <c:pt idx="1">
                  <c:v>15460.286580118973</c:v>
                </c:pt>
                <c:pt idx="2">
                  <c:v>23743.798870141047</c:v>
                </c:pt>
                <c:pt idx="3">
                  <c:v>11597.964757379625</c:v>
                </c:pt>
                <c:pt idx="4">
                  <c:v>44655.467843914848</c:v>
                </c:pt>
                <c:pt idx="5">
                  <c:v>15944.62942871039</c:v>
                </c:pt>
              </c:numCache>
            </c:numRef>
          </c:val>
          <c:extLst>
            <c:ext xmlns:c16="http://schemas.microsoft.com/office/drawing/2014/chart" uri="{C3380CC4-5D6E-409C-BE32-E72D297353CC}">
              <c16:uniqueId val="{00000000-7DA8-499F-8041-D454FE80A04F}"/>
            </c:ext>
          </c:extLst>
        </c:ser>
        <c:ser>
          <c:idx val="1"/>
          <c:order val="1"/>
          <c:spPr>
            <a:solidFill>
              <a:srgbClr val="C0C0C0"/>
            </a:solidFill>
            <a:ln w="9525" cmpd="sng" algn="ctr">
              <a:solidFill>
                <a:srgbClr val="FFFFFF"/>
              </a:solidFill>
              <a:prstDash val="solid"/>
            </a:ln>
          </c:spPr>
          <c:invertIfNegative val="0"/>
          <c:val>
            <c:numRef>
              <c:f>Sheet1!$A$2:$F$2</c:f>
              <c:numCache>
                <c:formatCode>General</c:formatCode>
                <c:ptCount val="6"/>
                <c:pt idx="0">
                  <c:v>24897.003254891686</c:v>
                </c:pt>
                <c:pt idx="1">
                  <c:v>6645.3664559093122</c:v>
                </c:pt>
                <c:pt idx="2">
                  <c:v>5751.8051554491358</c:v>
                </c:pt>
                <c:pt idx="3">
                  <c:v>2958.3598338882857</c:v>
                </c:pt>
                <c:pt idx="4">
                  <c:v>6033.895768640803</c:v>
                </c:pt>
                <c:pt idx="5">
                  <c:v>4682.5545287889563</c:v>
                </c:pt>
              </c:numCache>
            </c:numRef>
          </c:val>
          <c:extLst>
            <c:ext xmlns:c16="http://schemas.microsoft.com/office/drawing/2014/chart" uri="{C3380CC4-5D6E-409C-BE32-E72D297353CC}">
              <c16:uniqueId val="{00000001-7DA8-499F-8041-D454FE80A04F}"/>
            </c:ext>
          </c:extLst>
        </c:ser>
        <c:dLbls>
          <c:showLegendKey val="0"/>
          <c:showVal val="0"/>
          <c:showCatName val="0"/>
          <c:showSerName val="0"/>
          <c:showPercent val="0"/>
          <c:showBubbleSize val="0"/>
        </c:dLbls>
        <c:gapWidth val="80"/>
        <c:overlap val="100"/>
        <c:axId val="39952063"/>
        <c:axId val="1"/>
      </c:barChart>
      <c:catAx>
        <c:axId val="39952063"/>
        <c:scaling>
          <c:orientation val="maxMin"/>
        </c:scaling>
        <c:delete val="0"/>
        <c:axPos val="l"/>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75149.762430319126"/>
          <c:min val="0"/>
        </c:scaling>
        <c:delete val="0"/>
        <c:axPos val="t"/>
        <c:majorGridlines>
          <c:spPr>
            <a:ln>
              <a:noFill/>
            </a:ln>
          </c:spPr>
        </c:majorGridlines>
        <c:numFmt formatCode="General" sourceLinked="1"/>
        <c:majorTickMark val="none"/>
        <c:minorTickMark val="none"/>
        <c:tickLblPos val="none"/>
        <c:spPr>
          <a:ln>
            <a:noFill/>
          </a:ln>
        </c:spPr>
        <c:crossAx val="39952063"/>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348288075560802E-2"/>
          <c:y val="8.953341740226986E-2"/>
          <c:w val="0.96930342384887835"/>
          <c:h val="0.82093316519546022"/>
        </c:manualLayout>
      </c:layout>
      <c:barChart>
        <c:barDir val="col"/>
        <c:grouping val="stacked"/>
        <c:varyColors val="0"/>
        <c:ser>
          <c:idx val="0"/>
          <c:order val="0"/>
          <c:spPr>
            <a:solidFill>
              <a:srgbClr val="EBDFD1"/>
            </a:solidFill>
            <a:ln w="12700" cmpd="sng" algn="ctr">
              <a:solidFill>
                <a:srgbClr val="FFFFFF"/>
              </a:solidFill>
              <a:prstDash val="solid"/>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511-4F0C-943B-E26086C05818}"/>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511-4F0C-943B-E26086C05818}"/>
                </c:ext>
              </c:extLst>
            </c:dLbl>
            <c:dLbl>
              <c:idx val="2"/>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511-4F0C-943B-E26086C05818}"/>
                </c:ext>
              </c:extLst>
            </c:dLbl>
            <c:dLbl>
              <c:idx val="3"/>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511-4F0C-943B-E26086C05818}"/>
                </c:ext>
              </c:extLst>
            </c:dLbl>
            <c:dLbl>
              <c:idx val="4"/>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511-4F0C-943B-E26086C05818}"/>
                </c:ext>
              </c:extLst>
            </c:dLbl>
            <c:dLbl>
              <c:idx val="5"/>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511-4F0C-943B-E26086C058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41.576520842263683</c:v>
                </c:pt>
                <c:pt idx="1">
                  <c:v>53.004704927731574</c:v>
                </c:pt>
                <c:pt idx="2">
                  <c:v>48.891683304776166</c:v>
                </c:pt>
                <c:pt idx="3">
                  <c:v>49.753181549385303</c:v>
                </c:pt>
                <c:pt idx="4">
                  <c:v>56.423619249601131</c:v>
                </c:pt>
                <c:pt idx="5">
                  <c:v>57.311914205881195</c:v>
                </c:pt>
              </c:numCache>
            </c:numRef>
          </c:val>
          <c:extLst>
            <c:ext xmlns:c16="http://schemas.microsoft.com/office/drawing/2014/chart" uri="{C3380CC4-5D6E-409C-BE32-E72D297353CC}">
              <c16:uniqueId val="{00000006-8511-4F0C-943B-E26086C05818}"/>
            </c:ext>
          </c:extLst>
        </c:ser>
        <c:ser>
          <c:idx val="1"/>
          <c:order val="1"/>
          <c:spPr>
            <a:solidFill>
              <a:srgbClr val="BCB8A4"/>
            </a:solidFill>
            <a:ln w="12700" cmpd="sng" algn="ctr">
              <a:solidFill>
                <a:srgbClr val="FFFFFF"/>
              </a:solidFill>
              <a:prstDash val="solid"/>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511-4F0C-943B-E26086C05818}"/>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511-4F0C-943B-E26086C05818}"/>
                </c:ext>
              </c:extLst>
            </c:dLbl>
            <c:dLbl>
              <c:idx val="2"/>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8511-4F0C-943B-E26086C05818}"/>
                </c:ext>
              </c:extLst>
            </c:dLbl>
            <c:dLbl>
              <c:idx val="3"/>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8511-4F0C-943B-E26086C05818}"/>
                </c:ext>
              </c:extLst>
            </c:dLbl>
            <c:dLbl>
              <c:idx val="4"/>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8511-4F0C-943B-E26086C05818}"/>
                </c:ext>
              </c:extLst>
            </c:dLbl>
            <c:dLbl>
              <c:idx val="5"/>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8511-4F0C-943B-E26086C058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0">
                  <c:v>47.566858283089402</c:v>
                </c:pt>
                <c:pt idx="1">
                  <c:v>19.22561866555894</c:v>
                </c:pt>
                <c:pt idx="2">
                  <c:v>31.031201920374414</c:v>
                </c:pt>
                <c:pt idx="3">
                  <c:v>27.003192881003251</c:v>
                </c:pt>
                <c:pt idx="4">
                  <c:v>23.763923890008741</c:v>
                </c:pt>
                <c:pt idx="5">
                  <c:v>18.532742380988342</c:v>
                </c:pt>
              </c:numCache>
            </c:numRef>
          </c:val>
          <c:extLst>
            <c:ext xmlns:c16="http://schemas.microsoft.com/office/drawing/2014/chart" uri="{C3380CC4-5D6E-409C-BE32-E72D297353CC}">
              <c16:uniqueId val="{0000000D-8511-4F0C-943B-E26086C05818}"/>
            </c:ext>
          </c:extLst>
        </c:ser>
        <c:ser>
          <c:idx val="2"/>
          <c:order val="2"/>
          <c:spPr>
            <a:solidFill>
              <a:srgbClr val="B10D13"/>
            </a:solidFill>
            <a:ln w="12700" cmpd="sng" algn="ctr">
              <a:solidFill>
                <a:srgbClr val="FFFFFF"/>
              </a:solidFill>
              <a:prstDash val="solid"/>
            </a:ln>
          </c:spPr>
          <c:invertIfNegative val="0"/>
          <c:dLbls>
            <c:dLbl>
              <c:idx val="3"/>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8511-4F0C-943B-E26086C058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Sheet1!$A$3:$F$3</c:f>
              <c:numCache>
                <c:formatCode>General</c:formatCode>
                <c:ptCount val="6"/>
                <c:pt idx="0">
                  <c:v>6.0307696915356201</c:v>
                </c:pt>
                <c:pt idx="1">
                  <c:v>3.7917321473700749</c:v>
                </c:pt>
                <c:pt idx="2">
                  <c:v>2.4989434193240845</c:v>
                </c:pt>
                <c:pt idx="3">
                  <c:v>6.4485866046572475</c:v>
                </c:pt>
                <c:pt idx="4">
                  <c:v>5.5449047978520349</c:v>
                </c:pt>
                <c:pt idx="5">
                  <c:v>4.3392052005514659</c:v>
                </c:pt>
              </c:numCache>
            </c:numRef>
          </c:val>
          <c:extLst>
            <c:ext xmlns:c16="http://schemas.microsoft.com/office/drawing/2014/chart" uri="{C3380CC4-5D6E-409C-BE32-E72D297353CC}">
              <c16:uniqueId val="{0000000F-8511-4F0C-943B-E26086C05818}"/>
            </c:ext>
          </c:extLst>
        </c:ser>
        <c:ser>
          <c:idx val="3"/>
          <c:order val="3"/>
          <c:spPr>
            <a:solidFill>
              <a:schemeClr val="accent1"/>
            </a:solidFill>
            <a:ln w="12700" cmpd="sng" algn="ctr">
              <a:solidFill>
                <a:srgbClr val="FFFFFF"/>
              </a:solidFill>
              <a:prstDash val="solid"/>
            </a:ln>
          </c:spPr>
          <c:invertIfNegative val="0"/>
          <c:dLbls>
            <c:dLbl>
              <c:idx val="1"/>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8511-4F0C-943B-E26086C05818}"/>
                </c:ext>
              </c:extLst>
            </c:dLbl>
            <c:dLbl>
              <c:idx val="2"/>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8511-4F0C-943B-E26086C05818}"/>
                </c:ext>
              </c:extLst>
            </c:dLbl>
            <c:dLbl>
              <c:idx val="3"/>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8511-4F0C-943B-E26086C05818}"/>
                </c:ext>
              </c:extLst>
            </c:dLbl>
            <c:dLbl>
              <c:idx val="4"/>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8511-4F0C-943B-E26086C05818}"/>
                </c:ext>
              </c:extLst>
            </c:dLbl>
            <c:dLbl>
              <c:idx val="5"/>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8511-4F0C-943B-E26086C058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Sheet1!$A$4:$F$4</c:f>
              <c:numCache>
                <c:formatCode>General</c:formatCode>
                <c:ptCount val="6"/>
                <c:pt idx="0">
                  <c:v>4.825851183111296</c:v>
                </c:pt>
                <c:pt idx="1">
                  <c:v>23.977895844771279</c:v>
                </c:pt>
                <c:pt idx="2">
                  <c:v>17.578171355525342</c:v>
                </c:pt>
                <c:pt idx="3">
                  <c:v>16.795144375353786</c:v>
                </c:pt>
                <c:pt idx="4">
                  <c:v>14.26755206253809</c:v>
                </c:pt>
                <c:pt idx="5">
                  <c:v>19.816138212578991</c:v>
                </c:pt>
              </c:numCache>
            </c:numRef>
          </c:val>
          <c:extLst>
            <c:ext xmlns:c16="http://schemas.microsoft.com/office/drawing/2014/chart" uri="{C3380CC4-5D6E-409C-BE32-E72D297353CC}">
              <c16:uniqueId val="{00000015-8511-4F0C-943B-E26086C05818}"/>
            </c:ext>
          </c:extLst>
        </c:ser>
        <c:dLbls>
          <c:showLegendKey val="0"/>
          <c:showVal val="0"/>
          <c:showCatName val="0"/>
          <c:showSerName val="0"/>
          <c:showPercent val="0"/>
          <c:showBubbleSize val="0"/>
        </c:dLbls>
        <c:gapWidth val="80"/>
        <c:overlap val="100"/>
        <c:axId val="1693391615"/>
        <c:axId val="1"/>
      </c:barChart>
      <c:catAx>
        <c:axId val="1693391615"/>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100.00010541039958"/>
          <c:min val="0"/>
        </c:scaling>
        <c:delete val="0"/>
        <c:axPos val="l"/>
        <c:majorGridlines>
          <c:spPr>
            <a:ln>
              <a:noFill/>
            </a:ln>
          </c:spPr>
        </c:majorGridlines>
        <c:numFmt formatCode="General" sourceLinked="1"/>
        <c:majorTickMark val="none"/>
        <c:minorTickMark val="none"/>
        <c:tickLblPos val="none"/>
        <c:spPr>
          <a:ln>
            <a:noFill/>
          </a:ln>
        </c:spPr>
        <c:crossAx val="1693391615"/>
        <c:crosses val="min"/>
        <c:crossBetween val="between"/>
      </c:valAx>
    </c:plotArea>
    <c:plotVisOnly val="0"/>
    <c:dispBlanksAs val="gap"/>
    <c:showDLblsOverMax val="1"/>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55023923444976E-2"/>
          <c:y val="8.953341740226986E-2"/>
          <c:w val="0.96889952153110048"/>
          <c:h val="0.82093316519546022"/>
        </c:manualLayout>
      </c:layout>
      <c:barChart>
        <c:barDir val="col"/>
        <c:grouping val="stacked"/>
        <c:varyColors val="0"/>
        <c:ser>
          <c:idx val="0"/>
          <c:order val="0"/>
          <c:spPr>
            <a:solidFill>
              <a:srgbClr val="EBDFD1"/>
            </a:solidFill>
            <a:ln w="12700" cmpd="sng" algn="ctr">
              <a:solidFill>
                <a:srgbClr val="FFFFFF"/>
              </a:solidFill>
              <a:prstDash val="solid"/>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F6B-405E-B9FE-A053ABA1D763}"/>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F6B-405E-B9FE-A053ABA1D763}"/>
                </c:ext>
              </c:extLst>
            </c:dLbl>
            <c:dLbl>
              <c:idx val="2"/>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F6B-405E-B9FE-A053ABA1D763}"/>
                </c:ext>
              </c:extLst>
            </c:dLbl>
            <c:dLbl>
              <c:idx val="3"/>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F6B-405E-B9FE-A053ABA1D763}"/>
                </c:ext>
              </c:extLst>
            </c:dLbl>
            <c:dLbl>
              <c:idx val="4"/>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F6B-405E-B9FE-A053ABA1D763}"/>
                </c:ext>
              </c:extLst>
            </c:dLbl>
            <c:dLbl>
              <c:idx val="5"/>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F6B-405E-B9FE-A053ABA1D76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38.554626593690045</c:v>
                </c:pt>
                <c:pt idx="1">
                  <c:v>15.762423974483161</c:v>
                </c:pt>
                <c:pt idx="2">
                  <c:v>29.384068397298037</c:v>
                </c:pt>
                <c:pt idx="3">
                  <c:v>29.255545624441375</c:v>
                </c:pt>
                <c:pt idx="4">
                  <c:v>32.674771253503323</c:v>
                </c:pt>
                <c:pt idx="5">
                  <c:v>26.274303102199632</c:v>
                </c:pt>
              </c:numCache>
            </c:numRef>
          </c:val>
          <c:extLst>
            <c:ext xmlns:c16="http://schemas.microsoft.com/office/drawing/2014/chart" uri="{C3380CC4-5D6E-409C-BE32-E72D297353CC}">
              <c16:uniqueId val="{00000006-5F6B-405E-B9FE-A053ABA1D763}"/>
            </c:ext>
          </c:extLst>
        </c:ser>
        <c:ser>
          <c:idx val="1"/>
          <c:order val="1"/>
          <c:spPr>
            <a:solidFill>
              <a:srgbClr val="BCB8A4"/>
            </a:solidFill>
            <a:ln w="12700" cmpd="sng" algn="ctr">
              <a:solidFill>
                <a:srgbClr val="FFFFFF"/>
              </a:solidFill>
              <a:prstDash val="solid"/>
            </a:ln>
          </c:spPr>
          <c:invertIfNegative val="0"/>
          <c:dLbls>
            <c:dLbl>
              <c:idx val="0"/>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5F6B-405E-B9FE-A053ABA1D763}"/>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5F6B-405E-B9FE-A053ABA1D763}"/>
                </c:ext>
              </c:extLst>
            </c:dLbl>
            <c:dLbl>
              <c:idx val="2"/>
              <c:layout>
                <c:manualLayout>
                  <c:x val="0"/>
                  <c:y val="-6.305170239596469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5F6B-405E-B9FE-A053ABA1D763}"/>
                </c:ext>
              </c:extLst>
            </c:dLbl>
            <c:dLbl>
              <c:idx val="3"/>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5F6B-405E-B9FE-A053ABA1D763}"/>
                </c:ext>
              </c:extLst>
            </c:dLbl>
            <c:dLbl>
              <c:idx val="4"/>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5F6B-405E-B9FE-A053ABA1D763}"/>
                </c:ext>
              </c:extLst>
            </c:dLbl>
            <c:dLbl>
              <c:idx val="5"/>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5F6B-405E-B9FE-A053ABA1D76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0">
                  <c:v>40.152113049597162</c:v>
                </c:pt>
                <c:pt idx="1">
                  <c:v>41.329415579743767</c:v>
                </c:pt>
                <c:pt idx="2">
                  <c:v>44.169342380274436</c:v>
                </c:pt>
                <c:pt idx="3">
                  <c:v>19.977573738522793</c:v>
                </c:pt>
                <c:pt idx="4">
                  <c:v>25.277260674836516</c:v>
                </c:pt>
                <c:pt idx="5">
                  <c:v>39.43172061096503</c:v>
                </c:pt>
              </c:numCache>
            </c:numRef>
          </c:val>
          <c:extLst>
            <c:ext xmlns:c16="http://schemas.microsoft.com/office/drawing/2014/chart" uri="{C3380CC4-5D6E-409C-BE32-E72D297353CC}">
              <c16:uniqueId val="{0000000D-5F6B-405E-B9FE-A053ABA1D763}"/>
            </c:ext>
          </c:extLst>
        </c:ser>
        <c:ser>
          <c:idx val="2"/>
          <c:order val="2"/>
          <c:spPr>
            <a:solidFill>
              <a:srgbClr val="E1111A"/>
            </a:solidFill>
            <a:ln w="12700" cmpd="sng" algn="ctr">
              <a:solidFill>
                <a:srgbClr val="FFFFFF"/>
              </a:solidFill>
              <a:prstDash val="solid"/>
            </a:ln>
          </c:spPr>
          <c:invertIfNegative val="0"/>
          <c:dLbls>
            <c:dLbl>
              <c:idx val="0"/>
              <c:layout>
                <c:manualLayout>
                  <c:x val="0"/>
                  <c:y val="-6.3051702395964691E-4"/>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5F6B-405E-B9FE-A053ABA1D763}"/>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5F6B-405E-B9FE-A053ABA1D763}"/>
                </c:ext>
              </c:extLst>
            </c:dLbl>
            <c:dLbl>
              <c:idx val="2"/>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5F6B-405E-B9FE-A053ABA1D763}"/>
                </c:ext>
              </c:extLst>
            </c:dLbl>
            <c:dLbl>
              <c:idx val="3"/>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5F6B-405E-B9FE-A053ABA1D763}"/>
                </c:ext>
              </c:extLst>
            </c:dLbl>
            <c:dLbl>
              <c:idx val="4"/>
              <c:layout>
                <c:manualLayout>
                  <c:x val="0"/>
                  <c:y val="-6.3051702395964691E-4"/>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5F6B-405E-B9FE-A053ABA1D763}"/>
                </c:ext>
              </c:extLst>
            </c:dLbl>
            <c:dLbl>
              <c:idx val="5"/>
              <c:layout>
                <c:manualLayout>
                  <c:x val="0"/>
                  <c:y val="0"/>
                </c:manualLayout>
              </c:layout>
              <c:numFmt formatCode="#,##0&quot;%&quot;;&quot;-&quot;#,##0&quot;%&quot;"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5F6B-405E-B9FE-A053ABA1D76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Sheet1!$A$3:$F$3</c:f>
              <c:numCache>
                <c:formatCode>General</c:formatCode>
                <c:ptCount val="6"/>
                <c:pt idx="0">
                  <c:v>21.293260356712796</c:v>
                </c:pt>
                <c:pt idx="1">
                  <c:v>42.908160445773071</c:v>
                </c:pt>
                <c:pt idx="2">
                  <c:v>26.44658922242753</c:v>
                </c:pt>
                <c:pt idx="3">
                  <c:v>50.766880637035825</c:v>
                </c:pt>
                <c:pt idx="4">
                  <c:v>42.047968071660158</c:v>
                </c:pt>
                <c:pt idx="5">
                  <c:v>34.293976286835338</c:v>
                </c:pt>
              </c:numCache>
            </c:numRef>
          </c:val>
          <c:extLst>
            <c:ext xmlns:c16="http://schemas.microsoft.com/office/drawing/2014/chart" uri="{C3380CC4-5D6E-409C-BE32-E72D297353CC}">
              <c16:uniqueId val="{00000014-5F6B-405E-B9FE-A053ABA1D763}"/>
            </c:ext>
          </c:extLst>
        </c:ser>
        <c:dLbls>
          <c:showLegendKey val="0"/>
          <c:showVal val="0"/>
          <c:showCatName val="0"/>
          <c:showSerName val="0"/>
          <c:showPercent val="0"/>
          <c:showBubbleSize val="0"/>
        </c:dLbls>
        <c:gapWidth val="80"/>
        <c:overlap val="100"/>
        <c:axId val="330669839"/>
        <c:axId val="1"/>
      </c:barChart>
      <c:catAx>
        <c:axId val="330669839"/>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330669839"/>
        <c:crosses val="min"/>
        <c:crossBetween val="between"/>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0372670807453416E-2"/>
          <c:y val="7.9507278835386344E-2"/>
          <c:w val="0.91925465838509313"/>
          <c:h val="0.84098544232922734"/>
        </c:manualLayout>
      </c:layout>
      <c:barChart>
        <c:barDir val="col"/>
        <c:grouping val="stacked"/>
        <c:varyColors val="0"/>
        <c:ser>
          <c:idx val="0"/>
          <c:order val="0"/>
          <c:spPr>
            <a:pattFill prst="ltUpDiag">
              <a:fgClr>
                <a:schemeClr val="tx1"/>
              </a:fgClr>
              <a:bgClr>
                <a:schemeClr val="bg1"/>
              </a:bgClr>
            </a:pattFill>
            <a:ln>
              <a:noFill/>
            </a:ln>
          </c:spPr>
          <c:invertIfNegative val="0"/>
          <c:val>
            <c:numRef>
              <c:f>Sheet1!$A$1:$B$1</c:f>
              <c:numCache>
                <c:formatCode>General</c:formatCode>
                <c:ptCount val="2"/>
                <c:pt idx="0">
                  <c:v>11.130456135197722</c:v>
                </c:pt>
                <c:pt idx="1">
                  <c:v>10.987734091567363</c:v>
                </c:pt>
              </c:numCache>
            </c:numRef>
          </c:val>
          <c:extLst>
            <c:ext xmlns:c16="http://schemas.microsoft.com/office/drawing/2014/chart" uri="{C3380CC4-5D6E-409C-BE32-E72D297353CC}">
              <c16:uniqueId val="{00000000-74FB-4AB4-99BD-57474EBFA3A3}"/>
            </c:ext>
          </c:extLst>
        </c:ser>
        <c:ser>
          <c:idx val="1"/>
          <c:order val="1"/>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4FB-4AB4-99BD-57474EBFA3A3}"/>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8.6207348191184892</c:v>
                </c:pt>
                <c:pt idx="1">
                  <c:v>10.794994632098737</c:v>
                </c:pt>
              </c:numCache>
            </c:numRef>
          </c:val>
          <c:extLst>
            <c:ext xmlns:c16="http://schemas.microsoft.com/office/drawing/2014/chart" uri="{C3380CC4-5D6E-409C-BE32-E72D297353CC}">
              <c16:uniqueId val="{00000003-74FB-4AB4-99BD-57474EBFA3A3}"/>
            </c:ext>
          </c:extLst>
        </c:ser>
        <c:ser>
          <c:idx val="2"/>
          <c:order val="2"/>
          <c:spPr>
            <a:solidFill>
              <a:srgbClr val="F2F2F2"/>
            </a:solidFill>
            <a:ln>
              <a:noFill/>
            </a:ln>
          </c:spPr>
          <c:invertIfNegative val="0"/>
          <c:dLbls>
            <c:dLbl>
              <c:idx val="0"/>
              <c:layout>
                <c:manualLayout>
                  <c:x val="0"/>
                  <c:y val="-5.5991041433370661E-4"/>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4FB-4AB4-99BD-57474EBFA3A3}"/>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14.046520317625127</c:v>
                </c:pt>
                <c:pt idx="1">
                  <c:v>12.360395836977151</c:v>
                </c:pt>
              </c:numCache>
            </c:numRef>
          </c:val>
          <c:extLst>
            <c:ext xmlns:c16="http://schemas.microsoft.com/office/drawing/2014/chart" uri="{C3380CC4-5D6E-409C-BE32-E72D297353CC}">
              <c16:uniqueId val="{00000006-74FB-4AB4-99BD-57474EBFA3A3}"/>
            </c:ext>
          </c:extLst>
        </c:ser>
        <c:ser>
          <c:idx val="3"/>
          <c:order val="3"/>
          <c:spPr>
            <a:solidFill>
              <a:schemeClr val="accent1"/>
            </a:solidFill>
            <a:ln>
              <a:noFill/>
            </a:ln>
          </c:spPr>
          <c:invertIfNegative val="0"/>
          <c:dLbls>
            <c:dLbl>
              <c:idx val="0"/>
              <c:layout>
                <c:manualLayout>
                  <c:x val="0"/>
                  <c:y val="-5.5991041433370661E-4"/>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4FB-4AB4-99BD-57474EBFA3A3}"/>
                </c:ext>
              </c:extLst>
            </c:dLbl>
            <c:dLbl>
              <c:idx val="1"/>
              <c:layout>
                <c:manualLayout>
                  <c:x val="0"/>
                  <c:y val="-5.5991041433370661E-4"/>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Sheet1!$A$4:$B$4</c:f>
              <c:numCache>
                <c:formatCode>General</c:formatCode>
                <c:ptCount val="2"/>
                <c:pt idx="0">
                  <c:v>12.186228514977598</c:v>
                </c:pt>
                <c:pt idx="1">
                  <c:v>13.260575106424543</c:v>
                </c:pt>
              </c:numCache>
            </c:numRef>
          </c:val>
          <c:extLst>
            <c:ext xmlns:c16="http://schemas.microsoft.com/office/drawing/2014/chart" uri="{C3380CC4-5D6E-409C-BE32-E72D297353CC}">
              <c16:uniqueId val="{00000009-74FB-4AB4-99BD-57474EBFA3A3}"/>
            </c:ext>
          </c:extLst>
        </c:ser>
        <c:ser>
          <c:idx val="4"/>
          <c:order val="4"/>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4FB-4AB4-99BD-57474EBFA3A3}"/>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Sheet1!$A$5:$B$5</c:f>
              <c:numCache>
                <c:formatCode>General</c:formatCode>
                <c:ptCount val="2"/>
                <c:pt idx="0">
                  <c:v>14.694954967511409</c:v>
                </c:pt>
                <c:pt idx="1">
                  <c:v>15.263463427156093</c:v>
                </c:pt>
              </c:numCache>
            </c:numRef>
          </c:val>
          <c:extLst>
            <c:ext xmlns:c16="http://schemas.microsoft.com/office/drawing/2014/chart" uri="{C3380CC4-5D6E-409C-BE32-E72D297353CC}">
              <c16:uniqueId val="{0000000C-74FB-4AB4-99BD-57474EBFA3A3}"/>
            </c:ext>
          </c:extLst>
        </c:ser>
        <c:ser>
          <c:idx val="5"/>
          <c:order val="5"/>
          <c:spPr>
            <a:solidFill>
              <a:srgbClr val="BFBFBF"/>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74FB-4AB4-99BD-57474EBFA3A3}"/>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Sheet1!$A$6:$B$6</c:f>
              <c:numCache>
                <c:formatCode>General</c:formatCode>
                <c:ptCount val="2"/>
                <c:pt idx="0">
                  <c:v>18.235521756423047</c:v>
                </c:pt>
                <c:pt idx="1">
                  <c:v>17.704454078175512</c:v>
                </c:pt>
              </c:numCache>
            </c:numRef>
          </c:val>
          <c:extLst>
            <c:ext xmlns:c16="http://schemas.microsoft.com/office/drawing/2014/chart" uri="{C3380CC4-5D6E-409C-BE32-E72D297353CC}">
              <c16:uniqueId val="{0000000F-74FB-4AB4-99BD-57474EBFA3A3}"/>
            </c:ext>
          </c:extLst>
        </c:ser>
        <c:ser>
          <c:idx val="6"/>
          <c:order val="6"/>
          <c:spPr>
            <a:solidFill>
              <a:srgbClr val="A6A6A6"/>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74FB-4AB4-99BD-57474EBFA3A3}"/>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74FB-4AB4-99BD-57474EBFA3A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Sheet1!$A$7:$B$7</c:f>
              <c:numCache>
                <c:formatCode>General</c:formatCode>
                <c:ptCount val="2"/>
                <c:pt idx="0">
                  <c:v>21.085583489146607</c:v>
                </c:pt>
                <c:pt idx="1">
                  <c:v>19.6283828276006</c:v>
                </c:pt>
              </c:numCache>
            </c:numRef>
          </c:val>
          <c:extLst>
            <c:ext xmlns:c16="http://schemas.microsoft.com/office/drawing/2014/chart" uri="{C3380CC4-5D6E-409C-BE32-E72D297353CC}">
              <c16:uniqueId val="{00000012-74FB-4AB4-99BD-57474EBFA3A3}"/>
            </c:ext>
          </c:extLst>
        </c:ser>
        <c:dLbls>
          <c:showLegendKey val="0"/>
          <c:showVal val="0"/>
          <c:showCatName val="0"/>
          <c:showSerName val="0"/>
          <c:showPercent val="0"/>
          <c:showBubbleSize val="0"/>
        </c:dLbls>
        <c:gapWidth val="80"/>
        <c:overlap val="100"/>
        <c:axId val="1034748479"/>
        <c:axId val="1"/>
      </c:barChart>
      <c:catAx>
        <c:axId val="103474847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1034748479"/>
        <c:crosses val="min"/>
        <c:crossBetween val="between"/>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0372670807453416E-2"/>
          <c:y val="7.9507278835386344E-2"/>
          <c:w val="0.91925465838509313"/>
          <c:h val="0.84098544232922734"/>
        </c:manualLayout>
      </c:layout>
      <c:barChart>
        <c:barDir val="col"/>
        <c:grouping val="stacked"/>
        <c:varyColors val="0"/>
        <c:ser>
          <c:idx val="0"/>
          <c:order val="0"/>
          <c:spPr>
            <a:pattFill prst="ltUpDiag">
              <a:fgClr>
                <a:schemeClr val="tx1"/>
              </a:fgClr>
              <a:bgClr>
                <a:schemeClr val="bg1"/>
              </a:bgClr>
            </a:pattFill>
            <a:ln>
              <a:noFill/>
            </a:ln>
          </c:spPr>
          <c:invertIfNegative val="0"/>
          <c:val>
            <c:numRef>
              <c:f>Sheet1!$A$1:$B$1</c:f>
              <c:numCache>
                <c:formatCode>General</c:formatCode>
                <c:ptCount val="2"/>
                <c:pt idx="0">
                  <c:v>15.446858744527232</c:v>
                </c:pt>
                <c:pt idx="1">
                  <c:v>14.124500549015506</c:v>
                </c:pt>
              </c:numCache>
            </c:numRef>
          </c:val>
          <c:extLst>
            <c:ext xmlns:c16="http://schemas.microsoft.com/office/drawing/2014/chart" uri="{C3380CC4-5D6E-409C-BE32-E72D297353CC}">
              <c16:uniqueId val="{00000000-3CA7-4809-8AC4-81D3E6ADC885}"/>
            </c:ext>
          </c:extLst>
        </c:ser>
        <c:ser>
          <c:idx val="1"/>
          <c:order val="1"/>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CA7-4809-8AC4-81D3E6ADC885}"/>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7.6828104761324294</c:v>
                </c:pt>
                <c:pt idx="1">
                  <c:v>8.6566807976508287</c:v>
                </c:pt>
              </c:numCache>
            </c:numRef>
          </c:val>
          <c:extLst>
            <c:ext xmlns:c16="http://schemas.microsoft.com/office/drawing/2014/chart" uri="{C3380CC4-5D6E-409C-BE32-E72D297353CC}">
              <c16:uniqueId val="{00000003-3CA7-4809-8AC4-81D3E6ADC885}"/>
            </c:ext>
          </c:extLst>
        </c:ser>
        <c:ser>
          <c:idx val="2"/>
          <c:order val="2"/>
          <c:spPr>
            <a:solidFill>
              <a:srgbClr val="F2F2F2"/>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CA7-4809-8AC4-81D3E6ADC885}"/>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12.405190808492877</c:v>
                </c:pt>
                <c:pt idx="1">
                  <c:v>13.324923264494453</c:v>
                </c:pt>
              </c:numCache>
            </c:numRef>
          </c:val>
          <c:extLst>
            <c:ext xmlns:c16="http://schemas.microsoft.com/office/drawing/2014/chart" uri="{C3380CC4-5D6E-409C-BE32-E72D297353CC}">
              <c16:uniqueId val="{00000006-3CA7-4809-8AC4-81D3E6ADC885}"/>
            </c:ext>
          </c:extLst>
        </c:ser>
        <c:ser>
          <c:idx val="3"/>
          <c:order val="3"/>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CA7-4809-8AC4-81D3E6ADC885}"/>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Sheet1!$A$4:$B$4</c:f>
              <c:numCache>
                <c:formatCode>General</c:formatCode>
                <c:ptCount val="2"/>
                <c:pt idx="0">
                  <c:v>13.57827082483859</c:v>
                </c:pt>
                <c:pt idx="1">
                  <c:v>14.517385127035892</c:v>
                </c:pt>
              </c:numCache>
            </c:numRef>
          </c:val>
          <c:extLst>
            <c:ext xmlns:c16="http://schemas.microsoft.com/office/drawing/2014/chart" uri="{C3380CC4-5D6E-409C-BE32-E72D297353CC}">
              <c16:uniqueId val="{00000009-3CA7-4809-8AC4-81D3E6ADC885}"/>
            </c:ext>
          </c:extLst>
        </c:ser>
        <c:ser>
          <c:idx val="4"/>
          <c:order val="4"/>
          <c:spPr>
            <a:solidFill>
              <a:srgbClr val="BFBFBF"/>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3CA7-4809-8AC4-81D3E6ADC885}"/>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Sheet1!$A$5:$B$5</c:f>
              <c:numCache>
                <c:formatCode>General</c:formatCode>
                <c:ptCount val="2"/>
                <c:pt idx="0">
                  <c:v>18.41122638552546</c:v>
                </c:pt>
                <c:pt idx="1">
                  <c:v>15.114933521557617</c:v>
                </c:pt>
              </c:numCache>
            </c:numRef>
          </c:val>
          <c:extLst>
            <c:ext xmlns:c16="http://schemas.microsoft.com/office/drawing/2014/chart" uri="{C3380CC4-5D6E-409C-BE32-E72D297353CC}">
              <c16:uniqueId val="{0000000C-3CA7-4809-8AC4-81D3E6ADC885}"/>
            </c:ext>
          </c:extLst>
        </c:ser>
        <c:ser>
          <c:idx val="5"/>
          <c:order val="5"/>
          <c:spPr>
            <a:solidFill>
              <a:schemeClr val="accent1"/>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3CA7-4809-8AC4-81D3E6ADC885}"/>
                </c:ext>
              </c:extLst>
            </c:dLbl>
            <c:dLbl>
              <c:idx val="1"/>
              <c:layout>
                <c:manualLayout>
                  <c:x val="0"/>
                  <c:y val="-5.5991041433370661E-4"/>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Sheet1!$A$6:$B$6</c:f>
              <c:numCache>
                <c:formatCode>General</c:formatCode>
                <c:ptCount val="2"/>
                <c:pt idx="0">
                  <c:v>14.043915484711222</c:v>
                </c:pt>
                <c:pt idx="1">
                  <c:v>17.053791385373508</c:v>
                </c:pt>
              </c:numCache>
            </c:numRef>
          </c:val>
          <c:extLst>
            <c:ext xmlns:c16="http://schemas.microsoft.com/office/drawing/2014/chart" uri="{C3380CC4-5D6E-409C-BE32-E72D297353CC}">
              <c16:uniqueId val="{0000000F-3CA7-4809-8AC4-81D3E6ADC885}"/>
            </c:ext>
          </c:extLst>
        </c:ser>
        <c:ser>
          <c:idx val="6"/>
          <c:order val="6"/>
          <c:spPr>
            <a:solidFill>
              <a:srgbClr val="A6A6A6"/>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3CA7-4809-8AC4-81D3E6ADC885}"/>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3CA7-4809-8AC4-81D3E6ADC8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Sheet1!$A$7:$B$7</c:f>
              <c:numCache>
                <c:formatCode>General</c:formatCode>
                <c:ptCount val="2"/>
                <c:pt idx="0">
                  <c:v>18.431727275772193</c:v>
                </c:pt>
                <c:pt idx="1">
                  <c:v>17.207785354872197</c:v>
                </c:pt>
              </c:numCache>
            </c:numRef>
          </c:val>
          <c:extLst>
            <c:ext xmlns:c16="http://schemas.microsoft.com/office/drawing/2014/chart" uri="{C3380CC4-5D6E-409C-BE32-E72D297353CC}">
              <c16:uniqueId val="{00000012-3CA7-4809-8AC4-81D3E6ADC885}"/>
            </c:ext>
          </c:extLst>
        </c:ser>
        <c:dLbls>
          <c:showLegendKey val="0"/>
          <c:showVal val="0"/>
          <c:showCatName val="0"/>
          <c:showSerName val="0"/>
          <c:showPercent val="0"/>
          <c:showBubbleSize val="0"/>
        </c:dLbls>
        <c:gapWidth val="80"/>
        <c:overlap val="100"/>
        <c:axId val="969626959"/>
        <c:axId val="1"/>
      </c:barChart>
      <c:catAx>
        <c:axId val="96962695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969626959"/>
        <c:crosses val="min"/>
        <c:crossBetween val="between"/>
      </c:valAx>
    </c:plotArea>
    <c:plotVisOnly val="0"/>
    <c:dispBlanksAs val="gap"/>
    <c:showDLblsOverMax val="1"/>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0372670807453416E-2"/>
          <c:y val="7.9507278835386344E-2"/>
          <c:w val="0.91925465838509313"/>
          <c:h val="0.84098544232922734"/>
        </c:manualLayout>
      </c:layout>
      <c:barChart>
        <c:barDir val="col"/>
        <c:grouping val="stacked"/>
        <c:varyColors val="0"/>
        <c:ser>
          <c:idx val="0"/>
          <c:order val="0"/>
          <c:spPr>
            <a:pattFill prst="ltUpDiag">
              <a:fgClr>
                <a:schemeClr val="tx1"/>
              </a:fgClr>
              <a:bgClr>
                <a:schemeClr val="bg1"/>
              </a:bgClr>
            </a:pattFill>
            <a:ln>
              <a:noFill/>
            </a:ln>
          </c:spPr>
          <c:invertIfNegative val="0"/>
          <c:val>
            <c:numRef>
              <c:f>Sheet1!$A$1:$B$1</c:f>
              <c:numCache>
                <c:formatCode>General</c:formatCode>
                <c:ptCount val="2"/>
                <c:pt idx="0">
                  <c:v>18.304672966642499</c:v>
                </c:pt>
                <c:pt idx="1">
                  <c:v>15.195025778390853</c:v>
                </c:pt>
              </c:numCache>
            </c:numRef>
          </c:val>
          <c:extLst>
            <c:ext xmlns:c16="http://schemas.microsoft.com/office/drawing/2014/chart" uri="{C3380CC4-5D6E-409C-BE32-E72D297353CC}">
              <c16:uniqueId val="{00000000-C6FD-4461-A0C1-A1C6867AD8E2}"/>
            </c:ext>
          </c:extLst>
        </c:ser>
        <c:ser>
          <c:idx val="1"/>
          <c:order val="1"/>
          <c:spPr>
            <a:solidFill>
              <a:schemeClr val="accent1"/>
            </a:solidFill>
            <a:ln>
              <a:noFill/>
            </a:ln>
          </c:spPr>
          <c:invertIfNegative val="0"/>
          <c:dLbls>
            <c:dLbl>
              <c:idx val="0"/>
              <c:layout>
                <c:manualLayout>
                  <c:x val="0"/>
                  <c:y val="-5.5991041433370661E-4"/>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6FD-4461-A0C1-A1C6867AD8E2}"/>
                </c:ext>
              </c:extLst>
            </c:dLbl>
            <c:dLbl>
              <c:idx val="1"/>
              <c:layout>
                <c:manualLayout>
                  <c:x val="0"/>
                  <c:y val="0"/>
                </c:manualLayout>
              </c:layout>
              <c:numFmt formatCode="#,##0&quot;%&quot;;&quot;-&quot;#,##0&quot;%&quot;" sourceLinked="0"/>
              <c:spPr>
                <a:noFill/>
                <a:ln>
                  <a:noFill/>
                </a:ln>
              </c:spPr>
              <c:txPr>
                <a:bodyPr wrap="none"/>
                <a:lstStyle/>
                <a:p>
                  <a:pPr>
                    <a:defRPr sz="10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9.0956521981005451</c:v>
                </c:pt>
                <c:pt idx="1">
                  <c:v>9.4482209204013454</c:v>
                </c:pt>
              </c:numCache>
            </c:numRef>
          </c:val>
          <c:extLst>
            <c:ext xmlns:c16="http://schemas.microsoft.com/office/drawing/2014/chart" uri="{C3380CC4-5D6E-409C-BE32-E72D297353CC}">
              <c16:uniqueId val="{00000003-C6FD-4461-A0C1-A1C6867AD8E2}"/>
            </c:ext>
          </c:extLst>
        </c:ser>
        <c:ser>
          <c:idx val="2"/>
          <c:order val="2"/>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C6FD-4461-A0C1-A1C6867AD8E2}"/>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10.003196810898007</c:v>
                </c:pt>
                <c:pt idx="1">
                  <c:v>10.711404498438471</c:v>
                </c:pt>
              </c:numCache>
            </c:numRef>
          </c:val>
          <c:extLst>
            <c:ext xmlns:c16="http://schemas.microsoft.com/office/drawing/2014/chart" uri="{C3380CC4-5D6E-409C-BE32-E72D297353CC}">
              <c16:uniqueId val="{00000006-C6FD-4461-A0C1-A1C6867AD8E2}"/>
            </c:ext>
          </c:extLst>
        </c:ser>
        <c:ser>
          <c:idx val="3"/>
          <c:order val="3"/>
          <c:spPr>
            <a:solidFill>
              <a:srgbClr val="F2F2F2"/>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C6FD-4461-A0C1-A1C6867AD8E2}"/>
                </c:ext>
              </c:extLst>
            </c:dLbl>
            <c:dLbl>
              <c:idx val="1"/>
              <c:layout>
                <c:manualLayout>
                  <c:x val="0"/>
                  <c:y val="0"/>
                </c:manualLayout>
              </c:layout>
              <c:numFmt formatCode="#,##0&quot;%&quot;;&quot;-&quot;#,##0&quot;%&quot;"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Sheet1!$A$4:$B$4</c:f>
              <c:numCache>
                <c:formatCode>General</c:formatCode>
                <c:ptCount val="2"/>
                <c:pt idx="0">
                  <c:v>10.896038875127878</c:v>
                </c:pt>
                <c:pt idx="1">
                  <c:v>11.389465112998899</c:v>
                </c:pt>
              </c:numCache>
            </c:numRef>
          </c:val>
          <c:extLst>
            <c:ext xmlns:c16="http://schemas.microsoft.com/office/drawing/2014/chart" uri="{C3380CC4-5D6E-409C-BE32-E72D297353CC}">
              <c16:uniqueId val="{00000009-C6FD-4461-A0C1-A1C6867AD8E2}"/>
            </c:ext>
          </c:extLst>
        </c:ser>
        <c:ser>
          <c:idx val="4"/>
          <c:order val="4"/>
          <c:spPr>
            <a:solidFill>
              <a:srgbClr val="D9D9D9"/>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C6FD-4461-A0C1-A1C6867AD8E2}"/>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Sheet1!$A$5:$B$5</c:f>
              <c:numCache>
                <c:formatCode>General</c:formatCode>
                <c:ptCount val="2"/>
                <c:pt idx="0">
                  <c:v>13.140988897390315</c:v>
                </c:pt>
                <c:pt idx="1">
                  <c:v>14.23042741873639</c:v>
                </c:pt>
              </c:numCache>
            </c:numRef>
          </c:val>
          <c:extLst>
            <c:ext xmlns:c16="http://schemas.microsoft.com/office/drawing/2014/chart" uri="{C3380CC4-5D6E-409C-BE32-E72D297353CC}">
              <c16:uniqueId val="{0000000C-C6FD-4461-A0C1-A1C6867AD8E2}"/>
            </c:ext>
          </c:extLst>
        </c:ser>
        <c:ser>
          <c:idx val="5"/>
          <c:order val="5"/>
          <c:spPr>
            <a:solidFill>
              <a:srgbClr val="BFBFBF"/>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C6FD-4461-A0C1-A1C6867AD8E2}"/>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Sheet1!$A$6:$B$6</c:f>
              <c:numCache>
                <c:formatCode>General</c:formatCode>
                <c:ptCount val="2"/>
                <c:pt idx="0">
                  <c:v>15.68601992274804</c:v>
                </c:pt>
                <c:pt idx="1">
                  <c:v>15.864352975437724</c:v>
                </c:pt>
              </c:numCache>
            </c:numRef>
          </c:val>
          <c:extLst>
            <c:ext xmlns:c16="http://schemas.microsoft.com/office/drawing/2014/chart" uri="{C3380CC4-5D6E-409C-BE32-E72D297353CC}">
              <c16:uniqueId val="{0000000F-C6FD-4461-A0C1-A1C6867AD8E2}"/>
            </c:ext>
          </c:extLst>
        </c:ser>
        <c:ser>
          <c:idx val="6"/>
          <c:order val="6"/>
          <c:spPr>
            <a:solidFill>
              <a:srgbClr val="A6A6A6"/>
            </a:solidFill>
            <a:ln>
              <a:noFill/>
            </a:ln>
          </c:spPr>
          <c:invertIfNegative val="0"/>
          <c:dLbls>
            <c:dLbl>
              <c:idx val="0"/>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C6FD-4461-A0C1-A1C6867AD8E2}"/>
                </c:ext>
              </c:extLst>
            </c:dLbl>
            <c:dLbl>
              <c:idx val="1"/>
              <c:layout>
                <c:manualLayout>
                  <c:x val="0"/>
                  <c:y val="0"/>
                </c:manualLayout>
              </c:layout>
              <c:numFmt formatCode="#,##0&quot;%&quot;;&quot;-&quot;#,##0&quot;%&quot;"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C6FD-4461-A0C1-A1C6867AD8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Sheet1!$A$7:$B$7</c:f>
              <c:numCache>
                <c:formatCode>General</c:formatCode>
                <c:ptCount val="2"/>
                <c:pt idx="0">
                  <c:v>22.873430329092702</c:v>
                </c:pt>
                <c:pt idx="1">
                  <c:v>23.16110329559632</c:v>
                </c:pt>
              </c:numCache>
            </c:numRef>
          </c:val>
          <c:extLst>
            <c:ext xmlns:c16="http://schemas.microsoft.com/office/drawing/2014/chart" uri="{C3380CC4-5D6E-409C-BE32-E72D297353CC}">
              <c16:uniqueId val="{00000012-C6FD-4461-A0C1-A1C6867AD8E2}"/>
            </c:ext>
          </c:extLst>
        </c:ser>
        <c:dLbls>
          <c:showLegendKey val="0"/>
          <c:showVal val="0"/>
          <c:showCatName val="0"/>
          <c:showSerName val="0"/>
          <c:showPercent val="0"/>
          <c:showBubbleSize val="0"/>
        </c:dLbls>
        <c:gapWidth val="80"/>
        <c:overlap val="100"/>
        <c:axId val="25453039"/>
        <c:axId val="1"/>
      </c:barChart>
      <c:catAx>
        <c:axId val="2545303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25453039"/>
        <c:crosses val="min"/>
        <c:crossBetween val="between"/>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4900074019245E-2"/>
          <c:y val="3.4076015727391877E-2"/>
          <c:w val="0.92301998519615103"/>
          <c:h val="0.93184796854521623"/>
        </c:manualLayout>
      </c:layout>
      <c:scatterChart>
        <c:scatterStyle val="lineMarker"/>
        <c:varyColors val="0"/>
        <c:ser>
          <c:idx val="0"/>
          <c:order val="0"/>
          <c:spPr>
            <a:ln w="19050" cmpd="sng" algn="ctr">
              <a:solidFill>
                <a:srgbClr val="E1111A"/>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Sheet1!$A$2:$G$2</c:f>
              <c:numCache>
                <c:formatCode>General</c:formatCode>
                <c:ptCount val="7"/>
                <c:pt idx="0">
                  <c:v>2.85</c:v>
                </c:pt>
                <c:pt idx="1">
                  <c:v>2.84</c:v>
                </c:pt>
                <c:pt idx="2">
                  <c:v>2.35</c:v>
                </c:pt>
                <c:pt idx="3">
                  <c:v>2.21</c:v>
                </c:pt>
                <c:pt idx="4">
                  <c:v>1.92</c:v>
                </c:pt>
                <c:pt idx="5">
                  <c:v>1.92</c:v>
                </c:pt>
                <c:pt idx="6">
                  <c:v>2.04</c:v>
                </c:pt>
              </c:numCache>
            </c:numRef>
          </c:yVal>
          <c:smooth val="1"/>
          <c:extLst>
            <c:ext xmlns:c16="http://schemas.microsoft.com/office/drawing/2014/chart" uri="{C3380CC4-5D6E-409C-BE32-E72D297353CC}">
              <c16:uniqueId val="{00000000-1B99-4CF7-B059-7C81808FDA45}"/>
            </c:ext>
          </c:extLst>
        </c:ser>
        <c:ser>
          <c:idx val="1"/>
          <c:order val="1"/>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Sheet1!$A$3:$G$3</c:f>
              <c:numCache>
                <c:formatCode>General</c:formatCode>
                <c:ptCount val="7"/>
                <c:pt idx="0">
                  <c:v>26.649999999999995</c:v>
                </c:pt>
                <c:pt idx="1">
                  <c:v>25.15</c:v>
                </c:pt>
                <c:pt idx="2">
                  <c:v>23.6</c:v>
                </c:pt>
                <c:pt idx="3">
                  <c:v>23.85</c:v>
                </c:pt>
                <c:pt idx="4">
                  <c:v>22.62</c:v>
                </c:pt>
                <c:pt idx="5">
                  <c:v>23.55</c:v>
                </c:pt>
                <c:pt idx="6">
                  <c:v>23.34</c:v>
                </c:pt>
              </c:numCache>
            </c:numRef>
          </c:yVal>
          <c:smooth val="1"/>
          <c:extLst>
            <c:ext xmlns:c16="http://schemas.microsoft.com/office/drawing/2014/chart" uri="{C3380CC4-5D6E-409C-BE32-E72D297353CC}">
              <c16:uniqueId val="{00000001-1B99-4CF7-B059-7C81808FDA45}"/>
            </c:ext>
          </c:extLst>
        </c:ser>
        <c:ser>
          <c:idx val="2"/>
          <c:order val="2"/>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Sheet1!$A$4:$G$4</c:f>
              <c:numCache>
                <c:formatCode>General</c:formatCode>
                <c:ptCount val="7"/>
                <c:pt idx="0">
                  <c:v>5.72</c:v>
                </c:pt>
                <c:pt idx="1">
                  <c:v>5.68</c:v>
                </c:pt>
                <c:pt idx="2">
                  <c:v>5.85</c:v>
                </c:pt>
                <c:pt idx="3">
                  <c:v>5.85</c:v>
                </c:pt>
                <c:pt idx="4">
                  <c:v>7.24</c:v>
                </c:pt>
                <c:pt idx="5">
                  <c:v>7.16</c:v>
                </c:pt>
                <c:pt idx="6">
                  <c:v>6.16</c:v>
                </c:pt>
              </c:numCache>
            </c:numRef>
          </c:yVal>
          <c:smooth val="1"/>
          <c:extLst>
            <c:ext xmlns:c16="http://schemas.microsoft.com/office/drawing/2014/chart" uri="{C3380CC4-5D6E-409C-BE32-E72D297353CC}">
              <c16:uniqueId val="{00000002-1B99-4CF7-B059-7C81808FDA45}"/>
            </c:ext>
          </c:extLst>
        </c:ser>
        <c:ser>
          <c:idx val="3"/>
          <c:order val="3"/>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Sheet1!$A$5:$G$5</c:f>
              <c:numCache>
                <c:formatCode>General</c:formatCode>
                <c:ptCount val="7"/>
                <c:pt idx="0">
                  <c:v>14.13</c:v>
                </c:pt>
                <c:pt idx="1">
                  <c:v>14.400000000000002</c:v>
                </c:pt>
                <c:pt idx="2">
                  <c:v>13.44</c:v>
                </c:pt>
                <c:pt idx="3">
                  <c:v>14.04</c:v>
                </c:pt>
                <c:pt idx="4">
                  <c:v>14.510000000000002</c:v>
                </c:pt>
                <c:pt idx="5">
                  <c:v>13.77</c:v>
                </c:pt>
                <c:pt idx="6">
                  <c:v>12.06</c:v>
                </c:pt>
              </c:numCache>
            </c:numRef>
          </c:yVal>
          <c:smooth val="1"/>
          <c:extLst>
            <c:ext xmlns:c16="http://schemas.microsoft.com/office/drawing/2014/chart" uri="{C3380CC4-5D6E-409C-BE32-E72D297353CC}">
              <c16:uniqueId val="{00000003-1B99-4CF7-B059-7C81808FDA45}"/>
            </c:ext>
          </c:extLst>
        </c:ser>
        <c:ser>
          <c:idx val="4"/>
          <c:order val="4"/>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Sheet1!$A$6:$G$6</c:f>
              <c:numCache>
                <c:formatCode>General</c:formatCode>
                <c:ptCount val="7"/>
                <c:pt idx="0">
                  <c:v>9.82</c:v>
                </c:pt>
                <c:pt idx="1">
                  <c:v>10.52</c:v>
                </c:pt>
                <c:pt idx="2">
                  <c:v>10.27</c:v>
                </c:pt>
                <c:pt idx="3">
                  <c:v>10.32</c:v>
                </c:pt>
                <c:pt idx="4">
                  <c:v>9.92</c:v>
                </c:pt>
                <c:pt idx="5">
                  <c:v>10.67</c:v>
                </c:pt>
                <c:pt idx="6">
                  <c:v>11.49</c:v>
                </c:pt>
              </c:numCache>
            </c:numRef>
          </c:yVal>
          <c:smooth val="1"/>
          <c:extLst>
            <c:ext xmlns:c16="http://schemas.microsoft.com/office/drawing/2014/chart" uri="{C3380CC4-5D6E-409C-BE32-E72D297353CC}">
              <c16:uniqueId val="{00000004-1B99-4CF7-B059-7C81808FDA45}"/>
            </c:ext>
          </c:extLst>
        </c:ser>
        <c:ser>
          <c:idx val="5"/>
          <c:order val="5"/>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Sheet1!$A$7:$G$7</c:f>
              <c:numCache>
                <c:formatCode>General</c:formatCode>
                <c:ptCount val="7"/>
                <c:pt idx="0">
                  <c:v>27.399999999999995</c:v>
                </c:pt>
                <c:pt idx="1">
                  <c:v>28.63</c:v>
                </c:pt>
                <c:pt idx="2">
                  <c:v>30.579999999999995</c:v>
                </c:pt>
                <c:pt idx="3">
                  <c:v>31.430000000000003</c:v>
                </c:pt>
                <c:pt idx="4">
                  <c:v>31.45</c:v>
                </c:pt>
                <c:pt idx="5">
                  <c:v>31.069999999999997</c:v>
                </c:pt>
                <c:pt idx="6">
                  <c:v>32.43</c:v>
                </c:pt>
              </c:numCache>
            </c:numRef>
          </c:yVal>
          <c:smooth val="1"/>
          <c:extLst>
            <c:ext xmlns:c16="http://schemas.microsoft.com/office/drawing/2014/chart" uri="{C3380CC4-5D6E-409C-BE32-E72D297353CC}">
              <c16:uniqueId val="{00000005-1B99-4CF7-B059-7C81808FDA45}"/>
            </c:ext>
          </c:extLst>
        </c:ser>
        <c:dLbls>
          <c:showLegendKey val="0"/>
          <c:showVal val="0"/>
          <c:showCatName val="0"/>
          <c:showSerName val="0"/>
          <c:showPercent val="0"/>
          <c:showBubbleSize val="0"/>
        </c:dLbls>
        <c:axId val="4"/>
        <c:axId val="5"/>
      </c:scatterChart>
      <c:valAx>
        <c:axId val="4"/>
        <c:scaling>
          <c:orientation val="minMax"/>
          <c:max val="25"/>
          <c:min val="19"/>
        </c:scaling>
        <c:delete val="0"/>
        <c:axPos val="b"/>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b="1" kern="1200">
                <a:latin typeface="+mn-lt"/>
                <a:ea typeface="+mn-ea"/>
                <a:cs typeface="+mn-cs"/>
              </a:defRPr>
            </a:pPr>
            <a:endParaRPr lang="en-US"/>
          </a:p>
        </c:txPr>
        <c:crossAx val="5"/>
        <c:crosses val="min"/>
        <c:crossBetween val="midCat"/>
        <c:majorUnit val="1"/>
      </c:valAx>
      <c:valAx>
        <c:axId val="5"/>
        <c:scaling>
          <c:orientation val="minMax"/>
          <c:max val="45"/>
          <c:min val="0"/>
        </c:scaling>
        <c:delete val="0"/>
        <c:axPos val="l"/>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en-US"/>
          </a:p>
        </c:txPr>
        <c:crossAx val="4"/>
        <c:crosses val="min"/>
        <c:crossBetween val="midCat"/>
        <c:majorUnit val="5"/>
      </c:valAx>
    </c:plotArea>
    <c:plotVisOnly val="0"/>
    <c:dispBlanksAs val="gap"/>
    <c:showDLblsOverMax val="1"/>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7845705967976713E-2"/>
          <c:y val="8.3138173302107723E-2"/>
          <c:w val="0.92430858806404659"/>
          <c:h val="0.83372365339578458"/>
        </c:manualLayout>
      </c:layout>
      <c:scatterChart>
        <c:scatterStyle val="lineMarker"/>
        <c:varyColors val="0"/>
        <c:ser>
          <c:idx val="0"/>
          <c:order val="0"/>
          <c:spPr>
            <a:ln w="19050" cmpd="sng" algn="ctr">
              <a:solidFill>
                <a:schemeClr val="accent1"/>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Sheet1!$A$2:$G$2</c:f>
              <c:numCache>
                <c:formatCode>General</c:formatCode>
                <c:ptCount val="7"/>
                <c:pt idx="0">
                  <c:v>15.130000000000003</c:v>
                </c:pt>
                <c:pt idx="1">
                  <c:v>15.39</c:v>
                </c:pt>
                <c:pt idx="2">
                  <c:v>12.76</c:v>
                </c:pt>
                <c:pt idx="3">
                  <c:v>11.12</c:v>
                </c:pt>
                <c:pt idx="4">
                  <c:v>10.74</c:v>
                </c:pt>
                <c:pt idx="5">
                  <c:v>10.51</c:v>
                </c:pt>
                <c:pt idx="6">
                  <c:v>8.76</c:v>
                </c:pt>
              </c:numCache>
            </c:numRef>
          </c:yVal>
          <c:smooth val="1"/>
          <c:extLst>
            <c:ext xmlns:c16="http://schemas.microsoft.com/office/drawing/2014/chart" uri="{C3380CC4-5D6E-409C-BE32-E72D297353CC}">
              <c16:uniqueId val="{00000000-429D-4DD9-B13D-2E311495DB43}"/>
            </c:ext>
          </c:extLst>
        </c:ser>
        <c:ser>
          <c:idx val="1"/>
          <c:order val="1"/>
          <c:spPr>
            <a:ln w="9525" cmpd="sng" algn="ctr">
              <a:solidFill>
                <a:srgbClr val="969696"/>
              </a:solidFill>
              <a:prstDash val="solid"/>
            </a:ln>
          </c:spPr>
          <c:marker>
            <c:symbol val="none"/>
          </c:marker>
          <c:dLbls>
            <c:dLbl>
              <c:idx val="2"/>
              <c:layout>
                <c:manualLayout>
                  <c:x val="0"/>
                  <c:y val="-4.7423887587822011E-2"/>
                </c:manualLayout>
              </c:layout>
              <c:numFmt formatCode="#,##0;&quot;-&quot;#,##0" sourceLinked="0"/>
              <c:spPr>
                <a:noFill/>
                <a:ln>
                  <a:noFill/>
                </a:ln>
              </c:spPr>
              <c:txPr>
                <a:bodyPr wrap="none"/>
                <a:lstStyle/>
                <a:p>
                  <a:pPr>
                    <a:defRPr sz="1000" kern="1200">
                      <a:solidFill>
                        <a:srgbClr val="80808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29D-4DD9-B13D-2E311495DB43}"/>
                </c:ext>
              </c:extLst>
            </c:dLbl>
            <c:dLbl>
              <c:idx val="4"/>
              <c:layout>
                <c:manualLayout>
                  <c:x val="0"/>
                  <c:y val="-4.7423887587822011E-2"/>
                </c:manualLayout>
              </c:layout>
              <c:numFmt formatCode="#,##0;&quot;-&quot;#,##0" sourceLinked="0"/>
              <c:spPr>
                <a:noFill/>
                <a:ln>
                  <a:noFill/>
                </a:ln>
              </c:spPr>
              <c:txPr>
                <a:bodyPr wrap="none"/>
                <a:lstStyle/>
                <a:p>
                  <a:pPr>
                    <a:defRPr sz="1000" kern="1200">
                      <a:solidFill>
                        <a:srgbClr val="80808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29D-4DD9-B13D-2E311495DB4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Sheet1!$A$1:$G$1</c:f>
              <c:numCache>
                <c:formatCode>General</c:formatCode>
                <c:ptCount val="7"/>
                <c:pt idx="0">
                  <c:v>19</c:v>
                </c:pt>
                <c:pt idx="1">
                  <c:v>20</c:v>
                </c:pt>
                <c:pt idx="2">
                  <c:v>21</c:v>
                </c:pt>
                <c:pt idx="3">
                  <c:v>22</c:v>
                </c:pt>
                <c:pt idx="4">
                  <c:v>23</c:v>
                </c:pt>
                <c:pt idx="5">
                  <c:v>24</c:v>
                </c:pt>
                <c:pt idx="6">
                  <c:v>25</c:v>
                </c:pt>
              </c:numCache>
            </c:numRef>
          </c:xVal>
          <c:yVal>
            <c:numRef>
              <c:f>Sheet1!$A$3:$G$3</c:f>
              <c:numCache>
                <c:formatCode>General</c:formatCode>
                <c:ptCount val="7"/>
                <c:pt idx="0">
                  <c:v>25.21</c:v>
                </c:pt>
                <c:pt idx="1">
                  <c:v>23.28</c:v>
                </c:pt>
                <c:pt idx="2">
                  <c:v>22.94</c:v>
                </c:pt>
                <c:pt idx="3">
                  <c:v>22.78</c:v>
                </c:pt>
                <c:pt idx="4">
                  <c:v>23.34</c:v>
                </c:pt>
                <c:pt idx="5">
                  <c:v>25.16</c:v>
                </c:pt>
                <c:pt idx="6">
                  <c:v>27.33</c:v>
                </c:pt>
              </c:numCache>
            </c:numRef>
          </c:yVal>
          <c:smooth val="1"/>
          <c:extLst>
            <c:ext xmlns:c16="http://schemas.microsoft.com/office/drawing/2014/chart" uri="{C3380CC4-5D6E-409C-BE32-E72D297353CC}">
              <c16:uniqueId val="{00000003-429D-4DD9-B13D-2E311495DB43}"/>
            </c:ext>
          </c:extLst>
        </c:ser>
        <c:ser>
          <c:idx val="2"/>
          <c:order val="2"/>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Sheet1!$A$4:$G$4</c:f>
              <c:numCache>
                <c:formatCode>General</c:formatCode>
                <c:ptCount val="7"/>
                <c:pt idx="0">
                  <c:v>10.15</c:v>
                </c:pt>
                <c:pt idx="1">
                  <c:v>10.28</c:v>
                </c:pt>
                <c:pt idx="2">
                  <c:v>11.34</c:v>
                </c:pt>
                <c:pt idx="3">
                  <c:v>11.88</c:v>
                </c:pt>
                <c:pt idx="4">
                  <c:v>13.720000000000002</c:v>
                </c:pt>
                <c:pt idx="5">
                  <c:v>14.790000000000001</c:v>
                </c:pt>
                <c:pt idx="6">
                  <c:v>15.920000000000002</c:v>
                </c:pt>
              </c:numCache>
            </c:numRef>
          </c:yVal>
          <c:smooth val="1"/>
          <c:extLst>
            <c:ext xmlns:c16="http://schemas.microsoft.com/office/drawing/2014/chart" uri="{C3380CC4-5D6E-409C-BE32-E72D297353CC}">
              <c16:uniqueId val="{00000004-429D-4DD9-B13D-2E311495DB43}"/>
            </c:ext>
          </c:extLst>
        </c:ser>
        <c:ser>
          <c:idx val="3"/>
          <c:order val="3"/>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Sheet1!$A$5:$G$5</c:f>
              <c:numCache>
                <c:formatCode>General</c:formatCode>
                <c:ptCount val="7"/>
                <c:pt idx="0">
                  <c:v>27.1</c:v>
                </c:pt>
                <c:pt idx="1">
                  <c:v>28.63</c:v>
                </c:pt>
                <c:pt idx="2">
                  <c:v>28.18</c:v>
                </c:pt>
                <c:pt idx="3">
                  <c:v>29.350000000000005</c:v>
                </c:pt>
                <c:pt idx="4">
                  <c:v>29.049999999999997</c:v>
                </c:pt>
                <c:pt idx="5">
                  <c:v>26.83</c:v>
                </c:pt>
                <c:pt idx="6">
                  <c:v>25.86</c:v>
                </c:pt>
              </c:numCache>
            </c:numRef>
          </c:yVal>
          <c:smooth val="1"/>
          <c:extLst>
            <c:ext xmlns:c16="http://schemas.microsoft.com/office/drawing/2014/chart" uri="{C3380CC4-5D6E-409C-BE32-E72D297353CC}">
              <c16:uniqueId val="{00000005-429D-4DD9-B13D-2E311495DB43}"/>
            </c:ext>
          </c:extLst>
        </c:ser>
        <c:dLbls>
          <c:showLegendKey val="0"/>
          <c:showVal val="0"/>
          <c:showCatName val="0"/>
          <c:showSerName val="0"/>
          <c:showPercent val="0"/>
          <c:showBubbleSize val="0"/>
        </c:dLbls>
        <c:axId val="4"/>
        <c:axId val="5"/>
      </c:scatterChart>
      <c:valAx>
        <c:axId val="4"/>
        <c:scaling>
          <c:orientation val="minMax"/>
          <c:max val="25"/>
          <c:min val="19"/>
        </c:scaling>
        <c:delete val="0"/>
        <c:axPos val="b"/>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b="1" kern="1200">
                <a:latin typeface="+mn-lt"/>
                <a:ea typeface="+mn-ea"/>
                <a:cs typeface="+mn-cs"/>
              </a:defRPr>
            </a:pPr>
            <a:endParaRPr lang="en-US"/>
          </a:p>
        </c:txPr>
        <c:crossAx val="5"/>
        <c:crosses val="min"/>
        <c:crossBetween val="midCat"/>
        <c:majorUnit val="1"/>
      </c:valAx>
      <c:valAx>
        <c:axId val="5"/>
        <c:scaling>
          <c:orientation val="minMax"/>
          <c:max val="35"/>
          <c:min val="5"/>
        </c:scaling>
        <c:delete val="0"/>
        <c:axPos val="l"/>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en-US"/>
          </a:p>
        </c:txPr>
        <c:crossAx val="4"/>
        <c:crosses val="min"/>
        <c:crossBetween val="midCat"/>
        <c:majorUnit val="5"/>
      </c:valAx>
    </c:plotArea>
    <c:plotVisOnly val="0"/>
    <c:dispBlanksAs val="gap"/>
    <c:showDLblsOverMax val="1"/>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604305864884926E-2"/>
          <c:y val="3.6111111111111108E-2"/>
          <c:w val="0.92279138827023011"/>
          <c:h val="0.92777777777777781"/>
        </c:manualLayout>
      </c:layout>
      <c:scatterChart>
        <c:scatterStyle val="lineMarker"/>
        <c:varyColors val="0"/>
        <c:ser>
          <c:idx val="0"/>
          <c:order val="0"/>
          <c:spPr>
            <a:ln w="19050" cmpd="sng" algn="ctr">
              <a:solidFill>
                <a:schemeClr val="accent1"/>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Sheet1!$A$2:$G$2</c:f>
              <c:numCache>
                <c:formatCode>General</c:formatCode>
                <c:ptCount val="7"/>
                <c:pt idx="0">
                  <c:v>17.03</c:v>
                </c:pt>
                <c:pt idx="1">
                  <c:v>17.62</c:v>
                </c:pt>
                <c:pt idx="2">
                  <c:v>17.64</c:v>
                </c:pt>
                <c:pt idx="3">
                  <c:v>18.45</c:v>
                </c:pt>
                <c:pt idx="4">
                  <c:v>20.56</c:v>
                </c:pt>
                <c:pt idx="5">
                  <c:v>20.420000000000002</c:v>
                </c:pt>
                <c:pt idx="6">
                  <c:v>20.440000000000001</c:v>
                </c:pt>
              </c:numCache>
            </c:numRef>
          </c:yVal>
          <c:smooth val="1"/>
          <c:extLst>
            <c:ext xmlns:c16="http://schemas.microsoft.com/office/drawing/2014/chart" uri="{C3380CC4-5D6E-409C-BE32-E72D297353CC}">
              <c16:uniqueId val="{00000000-E64B-4B4E-A8D5-31B68DD650E2}"/>
            </c:ext>
          </c:extLst>
        </c:ser>
        <c:ser>
          <c:idx val="1"/>
          <c:order val="1"/>
          <c:spPr>
            <a:ln w="9525" cmpd="sng" algn="ctr">
              <a:solidFill>
                <a:schemeClr val="accent1"/>
              </a:solidFill>
              <a:prstDash val="lgDash"/>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Sheet1!$A$3:$G$3</c:f>
              <c:numCache>
                <c:formatCode>General</c:formatCode>
                <c:ptCount val="7"/>
                <c:pt idx="3">
                  <c:v>14.133291164305744</c:v>
                </c:pt>
                <c:pt idx="4">
                  <c:v>15.577429504932672</c:v>
                </c:pt>
                <c:pt idx="5">
                  <c:v>15.822314822845199</c:v>
                </c:pt>
                <c:pt idx="6">
                  <c:v>15.89750931024145</c:v>
                </c:pt>
              </c:numCache>
            </c:numRef>
          </c:yVal>
          <c:smooth val="1"/>
          <c:extLst>
            <c:ext xmlns:c16="http://schemas.microsoft.com/office/drawing/2014/chart" uri="{C3380CC4-5D6E-409C-BE32-E72D297353CC}">
              <c16:uniqueId val="{00000001-E64B-4B4E-A8D5-31B68DD650E2}"/>
            </c:ext>
          </c:extLst>
        </c:ser>
        <c:ser>
          <c:idx val="2"/>
          <c:order val="2"/>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Sheet1!$A$4:$G$4</c:f>
              <c:numCache>
                <c:formatCode>General</c:formatCode>
                <c:ptCount val="7"/>
                <c:pt idx="0">
                  <c:v>15.21</c:v>
                </c:pt>
                <c:pt idx="1">
                  <c:v>13.74</c:v>
                </c:pt>
                <c:pt idx="2">
                  <c:v>13.780000000000001</c:v>
                </c:pt>
                <c:pt idx="3">
                  <c:v>12.509999999999998</c:v>
                </c:pt>
                <c:pt idx="4">
                  <c:v>13.970000000000002</c:v>
                </c:pt>
                <c:pt idx="5">
                  <c:v>14.980000000000002</c:v>
                </c:pt>
                <c:pt idx="6">
                  <c:v>14.78</c:v>
                </c:pt>
              </c:numCache>
            </c:numRef>
          </c:yVal>
          <c:smooth val="1"/>
          <c:extLst>
            <c:ext xmlns:c16="http://schemas.microsoft.com/office/drawing/2014/chart" uri="{C3380CC4-5D6E-409C-BE32-E72D297353CC}">
              <c16:uniqueId val="{00000002-E64B-4B4E-A8D5-31B68DD650E2}"/>
            </c:ext>
          </c:extLst>
        </c:ser>
        <c:ser>
          <c:idx val="3"/>
          <c:order val="3"/>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Sheet1!$A$5:$G$5</c:f>
              <c:numCache>
                <c:formatCode>General</c:formatCode>
                <c:ptCount val="7"/>
                <c:pt idx="0">
                  <c:v>12.76</c:v>
                </c:pt>
                <c:pt idx="1">
                  <c:v>13.4</c:v>
                </c:pt>
                <c:pt idx="2">
                  <c:v>12.960000000000003</c:v>
                </c:pt>
                <c:pt idx="3">
                  <c:v>13.08</c:v>
                </c:pt>
                <c:pt idx="4">
                  <c:v>15.289999999999997</c:v>
                </c:pt>
                <c:pt idx="5">
                  <c:v>15.329999999999998</c:v>
                </c:pt>
                <c:pt idx="6">
                  <c:v>14.829999999999998</c:v>
                </c:pt>
              </c:numCache>
            </c:numRef>
          </c:yVal>
          <c:smooth val="1"/>
          <c:extLst>
            <c:ext xmlns:c16="http://schemas.microsoft.com/office/drawing/2014/chart" uri="{C3380CC4-5D6E-409C-BE32-E72D297353CC}">
              <c16:uniqueId val="{00000003-E64B-4B4E-A8D5-31B68DD650E2}"/>
            </c:ext>
          </c:extLst>
        </c:ser>
        <c:ser>
          <c:idx val="4"/>
          <c:order val="4"/>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Sheet1!$A$6:$G$6</c:f>
              <c:numCache>
                <c:formatCode>General</c:formatCode>
                <c:ptCount val="7"/>
                <c:pt idx="0">
                  <c:v>14.649999999999999</c:v>
                </c:pt>
                <c:pt idx="1">
                  <c:v>15.76</c:v>
                </c:pt>
                <c:pt idx="2">
                  <c:v>14.92</c:v>
                </c:pt>
                <c:pt idx="3">
                  <c:v>13.780000000000001</c:v>
                </c:pt>
                <c:pt idx="4">
                  <c:v>11.5</c:v>
                </c:pt>
                <c:pt idx="5">
                  <c:v>10.55</c:v>
                </c:pt>
                <c:pt idx="6">
                  <c:v>9.9</c:v>
                </c:pt>
              </c:numCache>
            </c:numRef>
          </c:yVal>
          <c:smooth val="1"/>
          <c:extLst>
            <c:ext xmlns:c16="http://schemas.microsoft.com/office/drawing/2014/chart" uri="{C3380CC4-5D6E-409C-BE32-E72D297353CC}">
              <c16:uniqueId val="{00000004-E64B-4B4E-A8D5-31B68DD650E2}"/>
            </c:ext>
          </c:extLst>
        </c:ser>
        <c:ser>
          <c:idx val="5"/>
          <c:order val="5"/>
          <c:spPr>
            <a:ln w="9525" cmpd="sng" algn="ctr">
              <a:solidFill>
                <a:srgbClr val="969696"/>
              </a:solidFill>
              <a:prstDash val="solid"/>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Sheet1!$A$7:$G$7</c:f>
              <c:numCache>
                <c:formatCode>General</c:formatCode>
                <c:ptCount val="7"/>
                <c:pt idx="0">
                  <c:v>4.3</c:v>
                </c:pt>
                <c:pt idx="1">
                  <c:v>4.2699999999999996</c:v>
                </c:pt>
                <c:pt idx="2">
                  <c:v>4.4000000000000004</c:v>
                </c:pt>
                <c:pt idx="3">
                  <c:v>4.82</c:v>
                </c:pt>
                <c:pt idx="4">
                  <c:v>5.56</c:v>
                </c:pt>
                <c:pt idx="5">
                  <c:v>5.63</c:v>
                </c:pt>
                <c:pt idx="6">
                  <c:v>5.33</c:v>
                </c:pt>
              </c:numCache>
            </c:numRef>
          </c:yVal>
          <c:smooth val="1"/>
          <c:extLst>
            <c:ext xmlns:c16="http://schemas.microsoft.com/office/drawing/2014/chart" uri="{C3380CC4-5D6E-409C-BE32-E72D297353CC}">
              <c16:uniqueId val="{00000005-E64B-4B4E-A8D5-31B68DD650E2}"/>
            </c:ext>
          </c:extLst>
        </c:ser>
        <c:ser>
          <c:idx val="6"/>
          <c:order val="6"/>
          <c:spPr>
            <a:ln w="9525" cmpd="sng" algn="ctr">
              <a:solidFill>
                <a:schemeClr val="accent1"/>
              </a:solidFill>
              <a:prstDash val="lgDash"/>
            </a:ln>
          </c:spPr>
          <c:marker>
            <c:symbol val="none"/>
          </c:marker>
          <c:xVal>
            <c:numRef>
              <c:f>Sheet1!$A$1:$G$1</c:f>
              <c:numCache>
                <c:formatCode>General</c:formatCode>
                <c:ptCount val="7"/>
                <c:pt idx="0">
                  <c:v>19</c:v>
                </c:pt>
                <c:pt idx="1">
                  <c:v>20</c:v>
                </c:pt>
                <c:pt idx="2">
                  <c:v>21</c:v>
                </c:pt>
                <c:pt idx="3">
                  <c:v>22</c:v>
                </c:pt>
                <c:pt idx="4">
                  <c:v>23</c:v>
                </c:pt>
                <c:pt idx="5">
                  <c:v>24</c:v>
                </c:pt>
                <c:pt idx="6">
                  <c:v>25</c:v>
                </c:pt>
              </c:numCache>
            </c:numRef>
          </c:xVal>
          <c:yVal>
            <c:numRef>
              <c:f>Sheet1!$A$8:$G$8</c:f>
              <c:numCache>
                <c:formatCode>General</c:formatCode>
                <c:ptCount val="7"/>
                <c:pt idx="3">
                  <c:v>4.3167088356942553</c:v>
                </c:pt>
                <c:pt idx="4">
                  <c:v>4.9825704950673257</c:v>
                </c:pt>
                <c:pt idx="5">
                  <c:v>4.5976851771548031</c:v>
                </c:pt>
                <c:pt idx="6">
                  <c:v>4.5424906897585524</c:v>
                </c:pt>
              </c:numCache>
            </c:numRef>
          </c:yVal>
          <c:smooth val="1"/>
          <c:extLst>
            <c:ext xmlns:c16="http://schemas.microsoft.com/office/drawing/2014/chart" uri="{C3380CC4-5D6E-409C-BE32-E72D297353CC}">
              <c16:uniqueId val="{00000006-E64B-4B4E-A8D5-31B68DD650E2}"/>
            </c:ext>
          </c:extLst>
        </c:ser>
        <c:dLbls>
          <c:showLegendKey val="0"/>
          <c:showVal val="0"/>
          <c:showCatName val="0"/>
          <c:showSerName val="0"/>
          <c:showPercent val="0"/>
          <c:showBubbleSize val="0"/>
        </c:dLbls>
        <c:axId val="4"/>
        <c:axId val="5"/>
      </c:scatterChart>
      <c:valAx>
        <c:axId val="4"/>
        <c:scaling>
          <c:orientation val="minMax"/>
          <c:max val="25"/>
          <c:min val="19"/>
        </c:scaling>
        <c:delete val="0"/>
        <c:axPos val="b"/>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b="1" kern="1200">
                <a:latin typeface="+mn-lt"/>
                <a:ea typeface="+mn-ea"/>
                <a:cs typeface="+mn-cs"/>
              </a:defRPr>
            </a:pPr>
            <a:endParaRPr lang="en-US"/>
          </a:p>
        </c:txPr>
        <c:crossAx val="5"/>
        <c:crosses val="min"/>
        <c:crossBetween val="midCat"/>
        <c:majorUnit val="1"/>
      </c:valAx>
      <c:valAx>
        <c:axId val="5"/>
        <c:scaling>
          <c:orientation val="minMax"/>
          <c:max val="22"/>
          <c:min val="2"/>
        </c:scaling>
        <c:delete val="0"/>
        <c:axPos val="l"/>
        <c:majorGridlines>
          <c:spPr>
            <a:ln>
              <a:noFill/>
            </a:ln>
          </c:spPr>
        </c:majorGridlines>
        <c:numFmt formatCode="General" sourceLinked="1"/>
        <c:majorTickMark val="out"/>
        <c:minorTickMark val="none"/>
        <c:tickLblPos val="none"/>
        <c:spPr>
          <a:ln w="9525" cmpd="sng" algn="ctr">
            <a:solidFill>
              <a:srgbClr val="FFFFFF"/>
            </a:solidFill>
            <a:prstDash val="solid"/>
          </a:ln>
        </c:spPr>
        <c:txPr>
          <a:bodyPr wrap="none"/>
          <a:lstStyle/>
          <a:p>
            <a:pPr>
              <a:defRPr sz="1000" kern="1200">
                <a:latin typeface="+mn-lt"/>
                <a:ea typeface="+mn-ea"/>
                <a:cs typeface="+mn-cs"/>
              </a:defRPr>
            </a:pPr>
            <a:endParaRPr lang="en-US"/>
          </a:p>
        </c:txPr>
        <c:crossAx val="4"/>
        <c:crosses val="min"/>
        <c:crossBetween val="midCat"/>
        <c:majorUnit val="2"/>
      </c:valAx>
    </c:plotArea>
    <c:plotVisOnly val="0"/>
    <c:dispBlanksAs val="gap"/>
    <c:showDLblsOverMax val="1"/>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911392405063293E-2"/>
          <c:y val="0.21798941798941798"/>
          <c:w val="0.9341772151898734"/>
          <c:h val="0.63174603174603172"/>
        </c:manualLayout>
      </c:layout>
      <c:barChart>
        <c:barDir val="col"/>
        <c:grouping val="stacked"/>
        <c:varyColors val="0"/>
        <c:ser>
          <c:idx val="0"/>
          <c:order val="0"/>
          <c:spPr>
            <a:solidFill>
              <a:srgbClr val="D8D6CA"/>
            </a:solidFill>
            <a:ln>
              <a:noFill/>
            </a:ln>
          </c:spPr>
          <c:invertIfNegative val="0"/>
          <c:dPt>
            <c:idx val="1"/>
            <c:invertIfNegative val="0"/>
            <c:bubble3D val="0"/>
            <c:spPr>
              <a:solidFill>
                <a:srgbClr val="E1111A"/>
              </a:solidFill>
              <a:ln>
                <a:noFill/>
              </a:ln>
            </c:spPr>
            <c:extLst>
              <c:ext xmlns:c16="http://schemas.microsoft.com/office/drawing/2014/chart" uri="{C3380CC4-5D6E-409C-BE32-E72D297353CC}">
                <c16:uniqueId val="{00000000-AFDD-47CB-9CF9-F01975B5BAF0}"/>
              </c:ext>
            </c:extLst>
          </c:dPt>
          <c:dLbls>
            <c:dLbl>
              <c:idx val="0"/>
              <c:layout>
                <c:manualLayout>
                  <c:x val="0"/>
                  <c:y val="-0.38412698412698415"/>
                </c:manualLayout>
              </c:layout>
              <c:numFmt formatCode="#,##0;&quot;-&quot;#,##0"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FDD-47CB-9CF9-F01975B5BAF0}"/>
                </c:ext>
              </c:extLst>
            </c:dLbl>
            <c:dLbl>
              <c:idx val="1"/>
              <c:layout>
                <c:manualLayout>
                  <c:x val="0"/>
                  <c:y val="-0.37883597883597886"/>
                </c:manualLayout>
              </c:layout>
              <c:numFmt formatCode="#,##0;&quot;-&quot;#,##0" sourceLinked="0"/>
              <c:spPr>
                <a:noFill/>
                <a:ln>
                  <a:noFill/>
                </a:ln>
              </c:spPr>
              <c:txPr>
                <a:bodyPr wrap="none"/>
                <a:lstStyle/>
                <a:p>
                  <a:pPr>
                    <a:defRPr sz="1000" b="1"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FDD-47CB-9CF9-F01975B5BAF0}"/>
                </c:ext>
              </c:extLst>
            </c:dLbl>
            <c:dLbl>
              <c:idx val="2"/>
              <c:layout>
                <c:manualLayout>
                  <c:x val="0"/>
                  <c:y val="-0.34074074074074073"/>
                </c:manualLayout>
              </c:layout>
              <c:numFmt formatCode="#,##0;&quot;-&quot;#,##0"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FDD-47CB-9CF9-F01975B5BAF0}"/>
                </c:ext>
              </c:extLst>
            </c:dLbl>
            <c:dLbl>
              <c:idx val="3"/>
              <c:layout>
                <c:manualLayout>
                  <c:x val="0"/>
                  <c:y val="-0.21798941798941798"/>
                </c:manualLayout>
              </c:layout>
              <c:numFmt formatCode="#,##0;&quot;-&quot;#,##0"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FDD-47CB-9CF9-F01975B5BAF0}"/>
                </c:ext>
              </c:extLst>
            </c:dLbl>
            <c:dLbl>
              <c:idx val="4"/>
              <c:layout>
                <c:manualLayout>
                  <c:x val="0"/>
                  <c:y val="-0.10899470899470899"/>
                </c:manualLayout>
              </c:layout>
              <c:numFmt formatCode="#,##0;&quot;-&quot;#,##0" sourceLinked="0"/>
              <c:spPr>
                <a:noFill/>
                <a:ln>
                  <a:noFill/>
                </a:ln>
              </c:spPr>
              <c:txPr>
                <a:bodyPr wrap="none"/>
                <a:lstStyle/>
                <a:p>
                  <a:pPr>
                    <a:defRPr sz="10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FDD-47CB-9CF9-F01975B5BAF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38.200000000000003</c:v>
                </c:pt>
                <c:pt idx="1">
                  <c:v>37.6</c:v>
                </c:pt>
                <c:pt idx="2">
                  <c:v>33.1</c:v>
                </c:pt>
                <c:pt idx="3">
                  <c:v>18.100000000000001</c:v>
                </c:pt>
                <c:pt idx="4">
                  <c:v>4.9000000000000004</c:v>
                </c:pt>
              </c:numCache>
            </c:numRef>
          </c:val>
          <c:extLst>
            <c:ext xmlns:c16="http://schemas.microsoft.com/office/drawing/2014/chart" uri="{C3380CC4-5D6E-409C-BE32-E72D297353CC}">
              <c16:uniqueId val="{00000005-AFDD-47CB-9CF9-F01975B5BAF0}"/>
            </c:ext>
          </c:extLst>
        </c:ser>
        <c:dLbls>
          <c:showLegendKey val="0"/>
          <c:showVal val="0"/>
          <c:showCatName val="0"/>
          <c:showSerName val="0"/>
          <c:showPercent val="0"/>
          <c:showBubbleSize val="0"/>
        </c:dLbls>
        <c:gapWidth val="80"/>
        <c:overlap val="100"/>
        <c:axId val="782418799"/>
        <c:axId val="1"/>
      </c:barChart>
      <c:catAx>
        <c:axId val="782418799"/>
        <c:scaling>
          <c:orientation val="minMax"/>
        </c:scaling>
        <c:delete val="0"/>
        <c:axPos val="b"/>
        <c:majorGridlines>
          <c:spPr>
            <a:ln>
              <a:noFill/>
            </a:ln>
          </c:spPr>
        </c:majorGridlines>
        <c:majorTickMark val="none"/>
        <c:minorTickMark val="none"/>
        <c:tickLblPos val="none"/>
        <c:spPr>
          <a:ln>
            <a:noFill/>
          </a:ln>
        </c:spPr>
        <c:crossAx val="1"/>
        <c:crosses val="min"/>
        <c:auto val="0"/>
        <c:lblAlgn val="ctr"/>
        <c:lblOffset val="100"/>
        <c:noMultiLvlLbl val="0"/>
      </c:catAx>
      <c:valAx>
        <c:axId val="1"/>
        <c:scaling>
          <c:orientation val="minMax"/>
          <c:max val="38.200000000000003"/>
          <c:min val="0"/>
        </c:scaling>
        <c:delete val="0"/>
        <c:axPos val="l"/>
        <c:majorGridlines>
          <c:spPr>
            <a:ln>
              <a:noFill/>
            </a:ln>
          </c:spPr>
        </c:majorGridlines>
        <c:numFmt formatCode="General" sourceLinked="1"/>
        <c:majorTickMark val="none"/>
        <c:minorTickMark val="none"/>
        <c:tickLblPos val="none"/>
        <c:spPr>
          <a:ln>
            <a:noFill/>
          </a:ln>
        </c:spPr>
        <c:crossAx val="782418799"/>
        <c:crosses val="min"/>
        <c:crossBetween val="between"/>
      </c:valAx>
    </c:plotArea>
    <c:plotVisOnly val="0"/>
    <c:dispBlanksAs val="gap"/>
    <c:showDLblsOverMax val="1"/>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3142128744423197E-2"/>
          <c:y val="7.6583210603829166E-2"/>
          <c:w val="0.93371574251115363"/>
          <c:h val="0.84683357879234167"/>
        </c:manualLayout>
      </c:layout>
      <c:barChart>
        <c:barDir val="col"/>
        <c:grouping val="stacked"/>
        <c:varyColors val="0"/>
        <c:ser>
          <c:idx val="0"/>
          <c:order val="0"/>
          <c:spPr>
            <a:solidFill>
              <a:srgbClr val="D8D6CA"/>
            </a:solidFill>
            <a:ln>
              <a:noFill/>
            </a:ln>
          </c:spPr>
          <c:invertIfNegative val="0"/>
          <c:dPt>
            <c:idx val="4"/>
            <c:invertIfNegative val="0"/>
            <c:bubble3D val="0"/>
            <c:spPr>
              <a:solidFill>
                <a:schemeClr val="accent1"/>
              </a:solidFill>
              <a:ln>
                <a:noFill/>
              </a:ln>
            </c:spPr>
            <c:extLst>
              <c:ext xmlns:c16="http://schemas.microsoft.com/office/drawing/2014/chart" uri="{C3380CC4-5D6E-409C-BE32-E72D297353CC}">
                <c16:uniqueId val="{00000000-B843-4412-8E27-A17FE13A712E}"/>
              </c:ext>
            </c:extLst>
          </c:dPt>
          <c:val>
            <c:numRef>
              <c:f>Sheet1!$A$1:$E$1</c:f>
              <c:numCache>
                <c:formatCode>General</c:formatCode>
                <c:ptCount val="5"/>
                <c:pt idx="0">
                  <c:v>45</c:v>
                </c:pt>
                <c:pt idx="1">
                  <c:v>30</c:v>
                </c:pt>
                <c:pt idx="2">
                  <c:v>19</c:v>
                </c:pt>
                <c:pt idx="3">
                  <c:v>19</c:v>
                </c:pt>
                <c:pt idx="4">
                  <c:v>8</c:v>
                </c:pt>
              </c:numCache>
            </c:numRef>
          </c:val>
          <c:extLst>
            <c:ext xmlns:c16="http://schemas.microsoft.com/office/drawing/2014/chart" uri="{C3380CC4-5D6E-409C-BE32-E72D297353CC}">
              <c16:uniqueId val="{00000001-B843-4412-8E27-A17FE13A712E}"/>
            </c:ext>
          </c:extLst>
        </c:ser>
        <c:dLbls>
          <c:showLegendKey val="0"/>
          <c:showVal val="0"/>
          <c:showCatName val="0"/>
          <c:showSerName val="0"/>
          <c:showPercent val="0"/>
          <c:showBubbleSize val="0"/>
        </c:dLbls>
        <c:gapWidth val="80"/>
        <c:overlap val="100"/>
        <c:axId val="782434639"/>
        <c:axId val="1"/>
      </c:barChart>
      <c:catAx>
        <c:axId val="782434639"/>
        <c:scaling>
          <c:orientation val="minMax"/>
        </c:scaling>
        <c:delete val="0"/>
        <c:axPos val="b"/>
        <c:majorGridlines>
          <c:spPr>
            <a:ln>
              <a:noFill/>
            </a:ln>
          </c:spPr>
        </c:majorGridlines>
        <c:majorTickMark val="none"/>
        <c:minorTickMark val="none"/>
        <c:tickLblPos val="none"/>
        <c:spPr>
          <a:ln w="9525" cmpd="sng" algn="ctr">
            <a:solidFill>
              <a:srgbClr val="F5EFE8"/>
            </a:solidFill>
            <a:prstDash val="solid"/>
          </a:ln>
        </c:spPr>
        <c:crossAx val="1"/>
        <c:crosses val="min"/>
        <c:auto val="0"/>
        <c:lblAlgn val="ctr"/>
        <c:lblOffset val="100"/>
        <c:noMultiLvlLbl val="0"/>
      </c:catAx>
      <c:valAx>
        <c:axId val="1"/>
        <c:scaling>
          <c:orientation val="minMax"/>
          <c:max val="45"/>
          <c:min val="0"/>
        </c:scaling>
        <c:delete val="0"/>
        <c:axPos val="l"/>
        <c:majorGridlines>
          <c:spPr>
            <a:ln>
              <a:noFill/>
            </a:ln>
          </c:spPr>
        </c:majorGridlines>
        <c:numFmt formatCode="General" sourceLinked="1"/>
        <c:majorTickMark val="none"/>
        <c:minorTickMark val="none"/>
        <c:tickLblPos val="none"/>
        <c:spPr>
          <a:ln>
            <a:noFill/>
          </a:ln>
        </c:spPr>
        <c:crossAx val="782434639"/>
        <c:crosses val="min"/>
        <c:crossBetween val="between"/>
      </c:valAx>
    </c:plotArea>
    <c:plotVisOnly val="0"/>
    <c:dispBlanksAs val="gap"/>
    <c:showDLblsOverMax val="1"/>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28099173553719"/>
          <c:y val="0.11487088156723063"/>
          <c:w val="0.41900826446280992"/>
          <c:h val="0.77025823686553874"/>
        </c:manualLayout>
      </c:layout>
      <c:barChart>
        <c:barDir val="bar"/>
        <c:grouping val="stacked"/>
        <c:varyColors val="0"/>
        <c:ser>
          <c:idx val="0"/>
          <c:order val="0"/>
          <c:spPr>
            <a:solidFill>
              <a:srgbClr val="D8D6CA"/>
            </a:solidFill>
            <a:ln>
              <a:noFill/>
            </a:ln>
          </c:spPr>
          <c:invertIfNegative val="0"/>
          <c:dPt>
            <c:idx val="0"/>
            <c:invertIfNegative val="0"/>
            <c:bubble3D val="0"/>
            <c:spPr>
              <a:solidFill>
                <a:srgbClr val="E1111A"/>
              </a:solidFill>
              <a:ln>
                <a:noFill/>
              </a:ln>
            </c:spPr>
            <c:extLst>
              <c:ext xmlns:c16="http://schemas.microsoft.com/office/drawing/2014/chart" uri="{C3380CC4-5D6E-409C-BE32-E72D297353CC}">
                <c16:uniqueId val="{00000000-3F66-4B8C-81DD-43A0A91AE044}"/>
              </c:ext>
            </c:extLst>
          </c:dPt>
          <c:dPt>
            <c:idx val="1"/>
            <c:invertIfNegative val="0"/>
            <c:bubble3D val="0"/>
            <c:spPr>
              <a:solidFill>
                <a:srgbClr val="E1111A"/>
              </a:solidFill>
              <a:ln>
                <a:noFill/>
              </a:ln>
            </c:spPr>
            <c:extLst>
              <c:ext xmlns:c16="http://schemas.microsoft.com/office/drawing/2014/chart" uri="{C3380CC4-5D6E-409C-BE32-E72D297353CC}">
                <c16:uniqueId val="{00000001-3F66-4B8C-81DD-43A0A91AE044}"/>
              </c:ext>
            </c:extLst>
          </c:dPt>
          <c:dPt>
            <c:idx val="2"/>
            <c:invertIfNegative val="0"/>
            <c:bubble3D val="0"/>
            <c:spPr>
              <a:solidFill>
                <a:srgbClr val="E1111A"/>
              </a:solidFill>
              <a:ln>
                <a:noFill/>
              </a:ln>
            </c:spPr>
            <c:extLst>
              <c:ext xmlns:c16="http://schemas.microsoft.com/office/drawing/2014/chart" uri="{C3380CC4-5D6E-409C-BE32-E72D297353CC}">
                <c16:uniqueId val="{00000002-3F66-4B8C-81DD-43A0A91AE044}"/>
              </c:ext>
            </c:extLst>
          </c:dPt>
          <c:dPt>
            <c:idx val="4"/>
            <c:invertIfNegative val="0"/>
            <c:bubble3D val="0"/>
            <c:spPr>
              <a:solidFill>
                <a:srgbClr val="B10D13"/>
              </a:solidFill>
              <a:ln>
                <a:noFill/>
              </a:ln>
            </c:spPr>
            <c:extLst>
              <c:ext xmlns:c16="http://schemas.microsoft.com/office/drawing/2014/chart" uri="{C3380CC4-5D6E-409C-BE32-E72D297353CC}">
                <c16:uniqueId val="{00000003-3F66-4B8C-81DD-43A0A91AE044}"/>
              </c:ext>
            </c:extLst>
          </c:dPt>
          <c:dPt>
            <c:idx val="6"/>
            <c:invertIfNegative val="0"/>
            <c:bubble3D val="0"/>
            <c:spPr>
              <a:solidFill>
                <a:srgbClr val="B10D13"/>
              </a:solidFill>
              <a:ln>
                <a:noFill/>
              </a:ln>
            </c:spPr>
            <c:extLst>
              <c:ext xmlns:c16="http://schemas.microsoft.com/office/drawing/2014/chart" uri="{C3380CC4-5D6E-409C-BE32-E72D297353CC}">
                <c16:uniqueId val="{00000004-3F66-4B8C-81DD-43A0A91AE044}"/>
              </c:ext>
            </c:extLst>
          </c:dPt>
          <c:dPt>
            <c:idx val="9"/>
            <c:invertIfNegative val="0"/>
            <c:bubble3D val="0"/>
            <c:spPr>
              <a:solidFill>
                <a:srgbClr val="B10D13"/>
              </a:solidFill>
              <a:ln>
                <a:noFill/>
              </a:ln>
            </c:spPr>
            <c:extLst>
              <c:ext xmlns:c16="http://schemas.microsoft.com/office/drawing/2014/chart" uri="{C3380CC4-5D6E-409C-BE32-E72D297353CC}">
                <c16:uniqueId val="{00000005-3F66-4B8C-81DD-43A0A91AE044}"/>
              </c:ext>
            </c:extLst>
          </c:dPt>
          <c:dLbls>
            <c:dLbl>
              <c:idx val="0"/>
              <c:layout>
                <c:manualLayout>
                  <c:x val="0.29173553719008266"/>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F66-4B8C-81DD-43A0A91AE044}"/>
                </c:ext>
              </c:extLst>
            </c:dLbl>
            <c:dLbl>
              <c:idx val="1"/>
              <c:layout>
                <c:manualLayout>
                  <c:x val="0.24710743801652893"/>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F66-4B8C-81DD-43A0A91AE044}"/>
                </c:ext>
              </c:extLst>
            </c:dLbl>
            <c:dLbl>
              <c:idx val="2"/>
              <c:layout>
                <c:manualLayout>
                  <c:x val="0.23884297520661157"/>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F66-4B8C-81DD-43A0A91AE044}"/>
                </c:ext>
              </c:extLst>
            </c:dLbl>
            <c:dLbl>
              <c:idx val="3"/>
              <c:layout>
                <c:manualLayout>
                  <c:x val="0.23884297520661157"/>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F66-4B8C-81DD-43A0A91AE044}"/>
                </c:ext>
              </c:extLst>
            </c:dLbl>
            <c:dLbl>
              <c:idx val="4"/>
              <c:layout>
                <c:manualLayout>
                  <c:x val="0.21735537190082643"/>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F66-4B8C-81DD-43A0A91AE044}"/>
                </c:ext>
              </c:extLst>
            </c:dLbl>
            <c:dLbl>
              <c:idx val="5"/>
              <c:layout>
                <c:manualLayout>
                  <c:x val="0.20578512396694215"/>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F66-4B8C-81DD-43A0A91AE044}"/>
                </c:ext>
              </c:extLst>
            </c:dLbl>
            <c:dLbl>
              <c:idx val="6"/>
              <c:layout>
                <c:manualLayout>
                  <c:x val="0.2"/>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F66-4B8C-81DD-43A0A91AE044}"/>
                </c:ext>
              </c:extLst>
            </c:dLbl>
            <c:dLbl>
              <c:idx val="7"/>
              <c:layout>
                <c:manualLayout>
                  <c:x val="0.2"/>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F66-4B8C-81DD-43A0A91AE044}"/>
                </c:ext>
              </c:extLst>
            </c:dLbl>
            <c:dLbl>
              <c:idx val="8"/>
              <c:layout>
                <c:manualLayout>
                  <c:x val="0.19504132231404958"/>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3F66-4B8C-81DD-43A0A91AE044}"/>
                </c:ext>
              </c:extLst>
            </c:dLbl>
            <c:dLbl>
              <c:idx val="9"/>
              <c:layout>
                <c:manualLayout>
                  <c:x val="0.18512396694214875"/>
                  <c:y val="0"/>
                </c:manualLayout>
              </c:layout>
              <c:numFmt formatCode="#,##0&quot;%&quot;;&quot;-&quot;#,##0&quot;%&quot;" sourceLinked="0"/>
              <c:spPr>
                <a:noFill/>
                <a:ln>
                  <a:noFill/>
                </a:ln>
              </c:spPr>
              <c:txPr>
                <a:bodyPr wrap="none"/>
                <a:lstStyle/>
                <a:p>
                  <a:pPr>
                    <a:defRPr sz="9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F66-4B8C-81DD-43A0A91AE04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Sheet1!$A$1:$J$1</c:f>
              <c:numCache>
                <c:formatCode>General</c:formatCode>
                <c:ptCount val="10"/>
                <c:pt idx="0">
                  <c:v>40</c:v>
                </c:pt>
                <c:pt idx="1">
                  <c:v>32</c:v>
                </c:pt>
                <c:pt idx="2">
                  <c:v>30</c:v>
                </c:pt>
                <c:pt idx="3">
                  <c:v>30</c:v>
                </c:pt>
                <c:pt idx="4">
                  <c:v>26</c:v>
                </c:pt>
                <c:pt idx="5">
                  <c:v>24</c:v>
                </c:pt>
                <c:pt idx="6">
                  <c:v>23</c:v>
                </c:pt>
                <c:pt idx="7">
                  <c:v>23</c:v>
                </c:pt>
                <c:pt idx="8">
                  <c:v>22</c:v>
                </c:pt>
                <c:pt idx="9">
                  <c:v>21</c:v>
                </c:pt>
              </c:numCache>
            </c:numRef>
          </c:val>
          <c:extLst>
            <c:ext xmlns:c16="http://schemas.microsoft.com/office/drawing/2014/chart" uri="{C3380CC4-5D6E-409C-BE32-E72D297353CC}">
              <c16:uniqueId val="{0000000A-3F66-4B8C-81DD-43A0A91AE044}"/>
            </c:ext>
          </c:extLst>
        </c:ser>
        <c:dLbls>
          <c:showLegendKey val="0"/>
          <c:showVal val="0"/>
          <c:showCatName val="0"/>
          <c:showSerName val="0"/>
          <c:showPercent val="0"/>
          <c:showBubbleSize val="0"/>
        </c:dLbls>
        <c:gapWidth val="80"/>
        <c:overlap val="100"/>
        <c:axId val="782414959"/>
        <c:axId val="1"/>
      </c:barChart>
      <c:catAx>
        <c:axId val="782414959"/>
        <c:scaling>
          <c:orientation val="maxMin"/>
        </c:scaling>
        <c:delete val="0"/>
        <c:axPos val="l"/>
        <c:majorGridlines>
          <c:spPr>
            <a:ln>
              <a:noFill/>
            </a:ln>
          </c:spPr>
        </c:majorGridlines>
        <c:majorTickMark val="none"/>
        <c:minorTickMark val="none"/>
        <c:tickLblPos val="none"/>
        <c:spPr>
          <a:ln>
            <a:noFill/>
          </a:ln>
        </c:spPr>
        <c:crossAx val="1"/>
        <c:crosses val="min"/>
        <c:auto val="0"/>
        <c:lblAlgn val="ctr"/>
        <c:lblOffset val="100"/>
        <c:noMultiLvlLbl val="0"/>
      </c:catAx>
      <c:valAx>
        <c:axId val="1"/>
        <c:scaling>
          <c:orientation val="minMax"/>
          <c:max val="40"/>
          <c:min val="0"/>
        </c:scaling>
        <c:delete val="0"/>
        <c:axPos val="t"/>
        <c:majorGridlines>
          <c:spPr>
            <a:ln>
              <a:noFill/>
            </a:ln>
          </c:spPr>
        </c:majorGridlines>
        <c:numFmt formatCode="General" sourceLinked="1"/>
        <c:majorTickMark val="none"/>
        <c:minorTickMark val="none"/>
        <c:tickLblPos val="none"/>
        <c:spPr>
          <a:ln>
            <a:noFill/>
          </a:ln>
        </c:spPr>
        <c:crossAx val="782414959"/>
        <c:crosses val="min"/>
        <c:crossBetween val="between"/>
      </c:valAx>
    </c:plotArea>
    <c:plotVisOnly val="0"/>
    <c:dispBlanksAs val="gap"/>
    <c:showDLblsOverMax val="1"/>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89820359281437E-2"/>
          <c:y val="6.4235391628677987E-2"/>
          <c:w val="0.89820359281437123"/>
          <c:h val="0.87152921674264405"/>
        </c:manualLayout>
      </c:layout>
      <c:barChart>
        <c:barDir val="col"/>
        <c:grouping val="stacked"/>
        <c:varyColors val="0"/>
        <c:ser>
          <c:idx val="0"/>
          <c:order val="0"/>
          <c:spPr>
            <a:solidFill>
              <a:srgbClr val="BEBBA6"/>
            </a:solidFill>
            <a:ln w="12700" cmpd="sng" algn="ctr">
              <a:solidFill>
                <a:srgbClr val="FFFFFF"/>
              </a:solidFill>
              <a:prstDash val="solid"/>
            </a:ln>
          </c:spPr>
          <c:invertIfNegative val="0"/>
          <c:dLbls>
            <c:dLbl>
              <c:idx val="1"/>
              <c:layout>
                <c:manualLayout>
                  <c:x val="0"/>
                  <c:y val="-4.1442188147534188E-4"/>
                </c:manualLayout>
              </c:layout>
              <c:numFmt formatCode="#,##0.0&quot;%&quot;;&quot;-&quot;#,##0.0&quot;%&quot;"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1C8-4403-98E5-51418C2C08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2.7932960893854748</c:v>
                </c:pt>
                <c:pt idx="1">
                  <c:v>25.422022330697917</c:v>
                </c:pt>
              </c:numCache>
            </c:numRef>
          </c:val>
          <c:extLst>
            <c:ext xmlns:c16="http://schemas.microsoft.com/office/drawing/2014/chart" uri="{C3380CC4-5D6E-409C-BE32-E72D297353CC}">
              <c16:uniqueId val="{00000001-11C8-4403-98E5-51418C2C0806}"/>
            </c:ext>
          </c:extLst>
        </c:ser>
        <c:ser>
          <c:idx val="1"/>
          <c:order val="1"/>
          <c:spPr>
            <a:solidFill>
              <a:srgbClr val="EBDFD1"/>
            </a:solidFill>
            <a:ln w="12700" cmpd="sng" algn="ctr">
              <a:solidFill>
                <a:srgbClr val="FFFFFF"/>
              </a:solidFill>
              <a:prstDash val="solid"/>
            </a:ln>
          </c:spPr>
          <c:invertIfNegative val="0"/>
          <c:dLbls>
            <c:dLbl>
              <c:idx val="1"/>
              <c:layout>
                <c:manualLayout>
                  <c:x val="0"/>
                  <c:y val="-4.1442188147534188E-4"/>
                </c:manualLayout>
              </c:layout>
              <c:numFmt formatCode="#,##0.0&quot;%&quot;;&quot;-&quot;#,##0.0&quot;%&quot;"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1C8-4403-98E5-51418C2C08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10.614525139664805</c:v>
                </c:pt>
                <c:pt idx="1">
                  <c:v>18.793446763610582</c:v>
                </c:pt>
              </c:numCache>
            </c:numRef>
          </c:val>
          <c:extLst>
            <c:ext xmlns:c16="http://schemas.microsoft.com/office/drawing/2014/chart" uri="{C3380CC4-5D6E-409C-BE32-E72D297353CC}">
              <c16:uniqueId val="{00000003-11C8-4403-98E5-51418C2C0806}"/>
            </c:ext>
          </c:extLst>
        </c:ser>
        <c:ser>
          <c:idx val="2"/>
          <c:order val="2"/>
          <c:spPr>
            <a:solidFill>
              <a:srgbClr val="D8D6CA"/>
            </a:solidFill>
            <a:ln w="12700" cmpd="sng" algn="ctr">
              <a:solidFill>
                <a:srgbClr val="FFFFFF"/>
              </a:solidFill>
              <a:prstDash val="solid"/>
            </a:ln>
          </c:spPr>
          <c:invertIfNegative val="0"/>
          <c:dLbls>
            <c:dLbl>
              <c:idx val="1"/>
              <c:layout>
                <c:manualLayout>
                  <c:x val="0"/>
                  <c:y val="-4.1442188147534188E-4"/>
                </c:manualLayout>
              </c:layout>
              <c:numFmt formatCode="#,##0.0&quot;%&quot;;&quot;-&quot;#,##0.0&quot;%&quot;"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1C8-4403-98E5-51418C2C08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44.506517690875235</c:v>
                </c:pt>
                <c:pt idx="1">
                  <c:v>22.302860995715655</c:v>
                </c:pt>
              </c:numCache>
            </c:numRef>
          </c:val>
          <c:extLst>
            <c:ext xmlns:c16="http://schemas.microsoft.com/office/drawing/2014/chart" uri="{C3380CC4-5D6E-409C-BE32-E72D297353CC}">
              <c16:uniqueId val="{00000005-11C8-4403-98E5-51418C2C0806}"/>
            </c:ext>
          </c:extLst>
        </c:ser>
        <c:ser>
          <c:idx val="3"/>
          <c:order val="3"/>
          <c:spPr>
            <a:solidFill>
              <a:srgbClr val="B10D13"/>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1C8-4403-98E5-51418C2C08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Sheet1!$A$4:$B$4</c:f>
              <c:numCache>
                <c:formatCode>General</c:formatCode>
                <c:ptCount val="2"/>
                <c:pt idx="0">
                  <c:v>12.849162011173188</c:v>
                </c:pt>
                <c:pt idx="1">
                  <c:v>15.275400806557304</c:v>
                </c:pt>
              </c:numCache>
            </c:numRef>
          </c:val>
          <c:extLst>
            <c:ext xmlns:c16="http://schemas.microsoft.com/office/drawing/2014/chart" uri="{C3380CC4-5D6E-409C-BE32-E72D297353CC}">
              <c16:uniqueId val="{00000007-11C8-4403-98E5-51418C2C0806}"/>
            </c:ext>
          </c:extLst>
        </c:ser>
        <c:ser>
          <c:idx val="4"/>
          <c:order val="4"/>
          <c:spPr>
            <a:solidFill>
              <a:schemeClr val="accent1"/>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1C8-4403-98E5-51418C2C08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Sheet1!$A$5:$B$5</c:f>
              <c:numCache>
                <c:formatCode>General</c:formatCode>
                <c:ptCount val="2"/>
                <c:pt idx="0">
                  <c:v>29.236499068901299</c:v>
                </c:pt>
                <c:pt idx="1">
                  <c:v>18.206269103418538</c:v>
                </c:pt>
              </c:numCache>
            </c:numRef>
          </c:val>
          <c:extLst>
            <c:ext xmlns:c16="http://schemas.microsoft.com/office/drawing/2014/chart" uri="{C3380CC4-5D6E-409C-BE32-E72D297353CC}">
              <c16:uniqueId val="{00000009-11C8-4403-98E5-51418C2C0806}"/>
            </c:ext>
          </c:extLst>
        </c:ser>
        <c:dLbls>
          <c:showLegendKey val="0"/>
          <c:showVal val="0"/>
          <c:showCatName val="0"/>
          <c:showSerName val="0"/>
          <c:showPercent val="0"/>
          <c:showBubbleSize val="0"/>
        </c:dLbls>
        <c:gapWidth val="80"/>
        <c:overlap val="100"/>
        <c:axId val="172394287"/>
        <c:axId val="1"/>
      </c:barChart>
      <c:catAx>
        <c:axId val="172394287"/>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172394287"/>
        <c:crosses val="min"/>
        <c:crossBetween val="between"/>
      </c:valAx>
    </c:plotArea>
    <c:plotVisOnly val="0"/>
    <c:dispBlanksAs val="gap"/>
    <c:showDLblsOverMax val="1"/>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7227138643067846E-2"/>
          <c:y val="6.4235391628677987E-2"/>
          <c:w val="0.88495575221238942"/>
          <c:h val="0.87152921674264405"/>
        </c:manualLayout>
      </c:layout>
      <c:barChart>
        <c:barDir val="col"/>
        <c:grouping val="stacked"/>
        <c:varyColors val="0"/>
        <c:ser>
          <c:idx val="0"/>
          <c:order val="0"/>
          <c:spPr>
            <a:solidFill>
              <a:srgbClr val="D8D6CA"/>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F53-4AA5-8C60-CB7822A454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21.787709497206702</c:v>
                </c:pt>
                <c:pt idx="1">
                  <c:v>10.665880515197554</c:v>
                </c:pt>
              </c:numCache>
            </c:numRef>
          </c:val>
          <c:extLst>
            <c:ext xmlns:c16="http://schemas.microsoft.com/office/drawing/2014/chart" uri="{C3380CC4-5D6E-409C-BE32-E72D297353CC}">
              <c16:uniqueId val="{00000001-3F53-4AA5-8C60-CB7822A45468}"/>
            </c:ext>
          </c:extLst>
        </c:ser>
        <c:ser>
          <c:idx val="1"/>
          <c:order val="1"/>
          <c:spPr>
            <a:solidFill>
              <a:srgbClr val="F89FA3"/>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rgbClr val="000000"/>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F53-4AA5-8C60-CB7822A454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23.091247672253264</c:v>
                </c:pt>
                <c:pt idx="1">
                  <c:v>14.537098045397753</c:v>
                </c:pt>
              </c:numCache>
            </c:numRef>
          </c:val>
          <c:extLst>
            <c:ext xmlns:c16="http://schemas.microsoft.com/office/drawing/2014/chart" uri="{C3380CC4-5D6E-409C-BE32-E72D297353CC}">
              <c16:uniqueId val="{00000003-3F53-4AA5-8C60-CB7822A45468}"/>
            </c:ext>
          </c:extLst>
        </c:ser>
        <c:ser>
          <c:idx val="2"/>
          <c:order val="2"/>
          <c:spPr>
            <a:solidFill>
              <a:srgbClr val="B10D13"/>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F53-4AA5-8C60-CB7822A454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7.6350093109869626</c:v>
                </c:pt>
                <c:pt idx="1">
                  <c:v>6.2831217501441046</c:v>
                </c:pt>
              </c:numCache>
            </c:numRef>
          </c:val>
          <c:extLst>
            <c:ext xmlns:c16="http://schemas.microsoft.com/office/drawing/2014/chart" uri="{C3380CC4-5D6E-409C-BE32-E72D297353CC}">
              <c16:uniqueId val="{00000005-3F53-4AA5-8C60-CB7822A45468}"/>
            </c:ext>
          </c:extLst>
        </c:ser>
        <c:ser>
          <c:idx val="3"/>
          <c:order val="3"/>
          <c:spPr>
            <a:solidFill>
              <a:schemeClr val="accent1"/>
            </a:solidFill>
            <a:ln w="12700" cmpd="sng" algn="ctr">
              <a:solidFill>
                <a:srgbClr val="FFFFFF"/>
              </a:solidFill>
              <a:prstDash val="solid"/>
            </a:ln>
          </c:spPr>
          <c:invertIfNegative val="0"/>
          <c:dLbls>
            <c:dLbl>
              <c:idx val="1"/>
              <c:layout>
                <c:manualLayout>
                  <c:x val="0"/>
                  <c:y val="0"/>
                </c:manualLayout>
              </c:layout>
              <c:numFmt formatCode="#,##0.0&quot;%&quot;;&quot;-&quot;#,##0.0&quot;%&quot;" sourceLinked="0"/>
              <c:spPr>
                <a:noFill/>
                <a:ln>
                  <a:noFill/>
                </a:ln>
              </c:spPr>
              <c:txPr>
                <a:bodyPr wrap="none"/>
                <a:lstStyle/>
                <a:p>
                  <a:pPr>
                    <a:defRPr sz="11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F53-4AA5-8C60-CB7822A454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Sheet1!$A$4:$B$4</c:f>
              <c:numCache>
                <c:formatCode>General</c:formatCode>
                <c:ptCount val="2"/>
                <c:pt idx="0">
                  <c:v>47.486033519553075</c:v>
                </c:pt>
                <c:pt idx="1">
                  <c:v>68.513899689260583</c:v>
                </c:pt>
              </c:numCache>
            </c:numRef>
          </c:val>
          <c:extLst>
            <c:ext xmlns:c16="http://schemas.microsoft.com/office/drawing/2014/chart" uri="{C3380CC4-5D6E-409C-BE32-E72D297353CC}">
              <c16:uniqueId val="{00000007-3F53-4AA5-8C60-CB7822A45468}"/>
            </c:ext>
          </c:extLst>
        </c:ser>
        <c:dLbls>
          <c:showLegendKey val="0"/>
          <c:showVal val="0"/>
          <c:showCatName val="0"/>
          <c:showSerName val="0"/>
          <c:showPercent val="0"/>
          <c:showBubbleSize val="0"/>
        </c:dLbls>
        <c:gapWidth val="80"/>
        <c:overlap val="100"/>
        <c:axId val="329565631"/>
        <c:axId val="1"/>
      </c:barChart>
      <c:catAx>
        <c:axId val="329565631"/>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329565631"/>
        <c:crosses val="min"/>
        <c:crossBetween val="between"/>
      </c:valAx>
    </c:plotArea>
    <c:plotVisOnly val="0"/>
    <c:dispBlanksAs val="gap"/>
    <c:showDLblsOverMax val="1"/>
  </c:chart>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592203898050975E-2"/>
          <c:y val="7.7611940298507459E-2"/>
          <c:w val="0.96881559220389801"/>
          <c:h val="0.84477611940298503"/>
        </c:manualLayout>
      </c:layout>
      <c:barChart>
        <c:barDir val="col"/>
        <c:grouping val="clustered"/>
        <c:varyColors val="0"/>
        <c:ser>
          <c:idx val="0"/>
          <c:order val="0"/>
          <c:spPr>
            <a:solidFill>
              <a:srgbClr val="E1111A"/>
            </a:solidFill>
            <a:ln w="12700" cmpd="sng" algn="ctr">
              <a:solidFill>
                <a:srgbClr val="FFFFFF"/>
              </a:solidFill>
              <a:prstDash val="solid"/>
            </a:ln>
          </c:spPr>
          <c:invertIfNegative val="0"/>
          <c:val>
            <c:numRef>
              <c:f>Sheet1!$A$1:$G$1</c:f>
              <c:numCache>
                <c:formatCode>General</c:formatCode>
                <c:ptCount val="7"/>
                <c:pt idx="0">
                  <c:v>66</c:v>
                </c:pt>
                <c:pt idx="1">
                  <c:v>64</c:v>
                </c:pt>
                <c:pt idx="2">
                  <c:v>56.999999999999993</c:v>
                </c:pt>
                <c:pt idx="3">
                  <c:v>63</c:v>
                </c:pt>
                <c:pt idx="4">
                  <c:v>56.000000000000007</c:v>
                </c:pt>
                <c:pt idx="5">
                  <c:v>56.999999999999993</c:v>
                </c:pt>
                <c:pt idx="6">
                  <c:v>51</c:v>
                </c:pt>
              </c:numCache>
            </c:numRef>
          </c:val>
          <c:extLst>
            <c:ext xmlns:c16="http://schemas.microsoft.com/office/drawing/2014/chart" uri="{C3380CC4-5D6E-409C-BE32-E72D297353CC}">
              <c16:uniqueId val="{00000000-1D91-4BB0-9E74-9AD517BAE6AF}"/>
            </c:ext>
          </c:extLst>
        </c:ser>
        <c:ser>
          <c:idx val="1"/>
          <c:order val="1"/>
          <c:spPr>
            <a:solidFill>
              <a:srgbClr val="D8D6CA"/>
            </a:solidFill>
            <a:ln w="12700" cmpd="sng" algn="ctr">
              <a:solidFill>
                <a:srgbClr val="FFFFFF"/>
              </a:solidFill>
              <a:prstDash val="solid"/>
            </a:ln>
          </c:spPr>
          <c:invertIfNegative val="0"/>
          <c:val>
            <c:numRef>
              <c:f>Sheet1!$A$2:$G$2</c:f>
              <c:numCache>
                <c:formatCode>General</c:formatCode>
                <c:ptCount val="7"/>
                <c:pt idx="0">
                  <c:v>75</c:v>
                </c:pt>
                <c:pt idx="1">
                  <c:v>66</c:v>
                </c:pt>
                <c:pt idx="2">
                  <c:v>64</c:v>
                </c:pt>
                <c:pt idx="3">
                  <c:v>78</c:v>
                </c:pt>
                <c:pt idx="4">
                  <c:v>61</c:v>
                </c:pt>
                <c:pt idx="5">
                  <c:v>65</c:v>
                </c:pt>
                <c:pt idx="6">
                  <c:v>52</c:v>
                </c:pt>
              </c:numCache>
            </c:numRef>
          </c:val>
          <c:extLst>
            <c:ext xmlns:c16="http://schemas.microsoft.com/office/drawing/2014/chart" uri="{C3380CC4-5D6E-409C-BE32-E72D297353CC}">
              <c16:uniqueId val="{00000001-1D91-4BB0-9E74-9AD517BAE6AF}"/>
            </c:ext>
          </c:extLst>
        </c:ser>
        <c:dLbls>
          <c:showLegendKey val="0"/>
          <c:showVal val="0"/>
          <c:showCatName val="0"/>
          <c:showSerName val="0"/>
          <c:showPercent val="0"/>
          <c:showBubbleSize val="0"/>
        </c:dLbls>
        <c:gapWidth val="80"/>
        <c:axId val="114954560"/>
        <c:axId val="1"/>
      </c:barChart>
      <c:catAx>
        <c:axId val="114954560"/>
        <c:scaling>
          <c:orientation val="minMax"/>
        </c:scaling>
        <c:delete val="0"/>
        <c:axPos val="b"/>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78"/>
          <c:min val="0"/>
        </c:scaling>
        <c:delete val="0"/>
        <c:axPos val="l"/>
        <c:majorGridlines>
          <c:spPr>
            <a:ln>
              <a:noFill/>
            </a:ln>
          </c:spPr>
        </c:majorGridlines>
        <c:numFmt formatCode="General" sourceLinked="1"/>
        <c:majorTickMark val="none"/>
        <c:minorTickMark val="none"/>
        <c:tickLblPos val="none"/>
        <c:spPr>
          <a:ln>
            <a:noFill/>
          </a:ln>
        </c:spPr>
        <c:crossAx val="114954560"/>
        <c:crosses val="min"/>
        <c:crossBetween val="between"/>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9127163280662153E-2"/>
          <c:y val="6.0889929742388757E-2"/>
          <c:w val="0.92174567343867575"/>
          <c:h val="0.87822014051522246"/>
        </c:manualLayout>
      </c:layout>
      <c:barChart>
        <c:barDir val="col"/>
        <c:grouping val="stacked"/>
        <c:varyColors val="0"/>
        <c:ser>
          <c:idx val="0"/>
          <c:order val="0"/>
          <c:spPr>
            <a:solidFill>
              <a:srgbClr val="D8D6CA"/>
            </a:solidFill>
            <a:ln>
              <a:noFill/>
            </a:ln>
          </c:spPr>
          <c:invertIfNegative val="0"/>
          <c:dPt>
            <c:idx val="2"/>
            <c:invertIfNegative val="0"/>
            <c:bubble3D val="0"/>
            <c:spPr>
              <a:solidFill>
                <a:schemeClr val="accent1"/>
              </a:solidFill>
              <a:ln>
                <a:noFill/>
              </a:ln>
            </c:spPr>
            <c:extLst>
              <c:ext xmlns:c16="http://schemas.microsoft.com/office/drawing/2014/chart" uri="{C3380CC4-5D6E-409C-BE32-E72D297353CC}">
                <c16:uniqueId val="{00000000-7290-4F53-9E05-9B178A4CD27A}"/>
              </c:ext>
            </c:extLst>
          </c:dPt>
          <c:val>
            <c:numRef>
              <c:f>Sheet1!$A$1:$D$1</c:f>
              <c:numCache>
                <c:formatCode>General</c:formatCode>
                <c:ptCount val="4"/>
                <c:pt idx="0">
                  <c:v>50.160000000000004</c:v>
                </c:pt>
                <c:pt idx="1">
                  <c:v>20.51</c:v>
                </c:pt>
                <c:pt idx="2">
                  <c:v>16.650000000000002</c:v>
                </c:pt>
                <c:pt idx="3">
                  <c:v>16.470000000000002</c:v>
                </c:pt>
              </c:numCache>
            </c:numRef>
          </c:val>
          <c:extLst>
            <c:ext xmlns:c16="http://schemas.microsoft.com/office/drawing/2014/chart" uri="{C3380CC4-5D6E-409C-BE32-E72D297353CC}">
              <c16:uniqueId val="{00000001-7290-4F53-9E05-9B178A4CD27A}"/>
            </c:ext>
          </c:extLst>
        </c:ser>
        <c:dLbls>
          <c:showLegendKey val="0"/>
          <c:showVal val="0"/>
          <c:showCatName val="0"/>
          <c:showSerName val="0"/>
          <c:showPercent val="0"/>
          <c:showBubbleSize val="0"/>
        </c:dLbls>
        <c:gapWidth val="80"/>
        <c:overlap val="100"/>
        <c:axId val="114945920"/>
        <c:axId val="1"/>
      </c:barChart>
      <c:catAx>
        <c:axId val="114945920"/>
        <c:scaling>
          <c:orientation val="minMax"/>
        </c:scaling>
        <c:delete val="0"/>
        <c:axPos val="b"/>
        <c:majorGridlines>
          <c:spPr>
            <a:ln>
              <a:noFill/>
            </a:ln>
          </c:spPr>
        </c:majorGridlines>
        <c:majorTickMark val="none"/>
        <c:minorTickMark val="none"/>
        <c:tickLblPos val="none"/>
        <c:spPr>
          <a:ln w="9525" cmpd="sng" algn="ctr">
            <a:solidFill>
              <a:srgbClr val="FFFFFF"/>
            </a:solidFill>
            <a:prstDash val="solid"/>
          </a:ln>
        </c:spPr>
        <c:crossAx val="1"/>
        <c:crosses val="min"/>
        <c:auto val="0"/>
        <c:lblAlgn val="ctr"/>
        <c:lblOffset val="100"/>
        <c:noMultiLvlLbl val="0"/>
      </c:catAx>
      <c:valAx>
        <c:axId val="1"/>
        <c:scaling>
          <c:orientation val="minMax"/>
          <c:max val="50.160000000000004"/>
          <c:min val="0"/>
        </c:scaling>
        <c:delete val="0"/>
        <c:axPos val="l"/>
        <c:majorGridlines>
          <c:spPr>
            <a:ln>
              <a:noFill/>
            </a:ln>
          </c:spPr>
        </c:majorGridlines>
        <c:numFmt formatCode="General" sourceLinked="1"/>
        <c:majorTickMark val="none"/>
        <c:minorTickMark val="none"/>
        <c:tickLblPos val="none"/>
        <c:spPr>
          <a:ln>
            <a:noFill/>
          </a:ln>
        </c:spPr>
        <c:crossAx val="114945920"/>
        <c:crosses val="min"/>
        <c:crossBetween val="between"/>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42744056771085"/>
          <c:y val="5.781428083090337E-2"/>
          <c:w val="0.80340953218879829"/>
          <c:h val="0.69609677042888518"/>
        </c:manualLayout>
      </c:layout>
      <c:doughnutChart>
        <c:varyColors val="1"/>
        <c:ser>
          <c:idx val="0"/>
          <c:order val="0"/>
          <c:tx>
            <c:strRef>
              <c:f>Sheet1!$B$1</c:f>
              <c:strCache>
                <c:ptCount val="1"/>
                <c:pt idx="0">
                  <c:v>Column1</c:v>
                </c:pt>
              </c:strCache>
            </c:strRef>
          </c:tx>
          <c:dPt>
            <c:idx val="0"/>
            <c:bubble3D val="0"/>
            <c:spPr>
              <a:solidFill>
                <a:srgbClr val="0070C0"/>
              </a:solidFill>
              <a:ln w="19050">
                <a:solidFill>
                  <a:schemeClr val="lt1"/>
                </a:solidFill>
              </a:ln>
              <a:effectLst/>
            </c:spPr>
            <c:extLst>
              <c:ext xmlns:c16="http://schemas.microsoft.com/office/drawing/2014/chart" uri="{C3380CC4-5D6E-409C-BE32-E72D297353CC}">
                <c16:uniqueId val="{00000001-2FB5-44E0-8008-B57F6FCD0DBA}"/>
              </c:ext>
            </c:extLst>
          </c:dPt>
          <c:dPt>
            <c:idx val="1"/>
            <c:bubble3D val="0"/>
            <c:spPr>
              <a:solidFill>
                <a:srgbClr val="D8D6CA"/>
              </a:solidFill>
              <a:ln w="19050">
                <a:solidFill>
                  <a:schemeClr val="lt1"/>
                </a:solidFill>
              </a:ln>
              <a:effectLst/>
            </c:spPr>
            <c:extLst>
              <c:ext xmlns:c16="http://schemas.microsoft.com/office/drawing/2014/chart" uri="{C3380CC4-5D6E-409C-BE32-E72D297353CC}">
                <c16:uniqueId val="{00000002-197D-42B4-B889-64CA32B96E69}"/>
              </c:ext>
            </c:extLst>
          </c:dPt>
          <c:dPt>
            <c:idx val="2"/>
            <c:bubble3D val="0"/>
            <c:spPr>
              <a:solidFill>
                <a:schemeClr val="bg2">
                  <a:lumMod val="20000"/>
                  <a:lumOff val="80000"/>
                </a:schemeClr>
              </a:solidFill>
              <a:ln w="19050">
                <a:solidFill>
                  <a:schemeClr val="lt1"/>
                </a:solidFill>
              </a:ln>
              <a:effectLst/>
            </c:spPr>
            <c:extLst>
              <c:ext xmlns:c16="http://schemas.microsoft.com/office/drawing/2014/chart" uri="{C3380CC4-5D6E-409C-BE32-E72D297353CC}">
                <c16:uniqueId val="{00000003-197D-42B4-B889-64CA32B96E69}"/>
              </c:ext>
            </c:extLst>
          </c:dPt>
          <c:dPt>
            <c:idx val="3"/>
            <c:bubble3D val="0"/>
            <c:spPr>
              <a:solidFill>
                <a:schemeClr val="bg1"/>
              </a:solidFill>
              <a:ln w="19050">
                <a:solidFill>
                  <a:schemeClr val="lt1"/>
                </a:solidFill>
              </a:ln>
              <a:effectLst/>
            </c:spPr>
            <c:extLst>
              <c:ext xmlns:c16="http://schemas.microsoft.com/office/drawing/2014/chart" uri="{C3380CC4-5D6E-409C-BE32-E72D297353CC}">
                <c16:uniqueId val="{00000001-197D-42B4-B889-64CA32B96E69}"/>
              </c:ext>
            </c:extLst>
          </c:dPt>
          <c:dLbls>
            <c:dLbl>
              <c:idx val="0"/>
              <c:tx>
                <c:rich>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fld id="{36C67405-9104-4612-A046-8EEA3E4FF852}" type="VALUE">
                      <a:rPr lang="en-US">
                        <a:solidFill>
                          <a:schemeClr val="bg1"/>
                        </a:solidFill>
                      </a:rPr>
                      <a:pPr>
                        <a:defRPr>
                          <a:solidFill>
                            <a:schemeClr val="bg1"/>
                          </a:solidFill>
                        </a:defRPr>
                      </a:pPr>
                      <a:t>[VALUE]</a:t>
                    </a:fld>
                    <a:endParaRPr lang="en-US"/>
                  </a:p>
                </c:rich>
              </c:tx>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2FB5-44E0-8008-B57F6FCD0DBA}"/>
                </c:ext>
              </c:extLst>
            </c:dLbl>
            <c:dLbl>
              <c:idx val="3"/>
              <c:delete val="1"/>
              <c:extLst>
                <c:ext xmlns:c15="http://schemas.microsoft.com/office/drawing/2012/chart" uri="{CE6537A1-D6FC-4f65-9D91-7224C49458BB}"/>
                <c:ext xmlns:c16="http://schemas.microsoft.com/office/drawing/2014/chart" uri="{C3380CC4-5D6E-409C-BE32-E72D297353CC}">
                  <c16:uniqueId val="{00000001-197D-42B4-B889-64CA32B96E6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Complete</c:v>
                </c:pt>
                <c:pt idx="1">
                  <c:v>In Progress</c:v>
                </c:pt>
                <c:pt idx="2">
                  <c:v>Not Started</c:v>
                </c:pt>
                <c:pt idx="3">
                  <c:v>Extra</c:v>
                </c:pt>
              </c:strCache>
            </c:strRef>
          </c:cat>
          <c:val>
            <c:numRef>
              <c:f>Sheet1!$B$2:$B$5</c:f>
              <c:numCache>
                <c:formatCode>General</c:formatCode>
                <c:ptCount val="4"/>
                <c:pt idx="0">
                  <c:v>1</c:v>
                </c:pt>
                <c:pt idx="1">
                  <c:v>8</c:v>
                </c:pt>
                <c:pt idx="2">
                  <c:v>2</c:v>
                </c:pt>
                <c:pt idx="3">
                  <c:v>11</c:v>
                </c:pt>
              </c:numCache>
            </c:numRef>
          </c:val>
          <c:extLst>
            <c:ext xmlns:c16="http://schemas.microsoft.com/office/drawing/2014/chart" uri="{C3380CC4-5D6E-409C-BE32-E72D297353CC}">
              <c16:uniqueId val="{00000000-197D-42B4-B889-64CA32B96E69}"/>
            </c:ext>
          </c:extLst>
        </c:ser>
        <c:dLbls>
          <c:showLegendKey val="0"/>
          <c:showVal val="0"/>
          <c:showCatName val="0"/>
          <c:showSerName val="0"/>
          <c:showPercent val="0"/>
          <c:showBubbleSize val="0"/>
          <c:showLeaderLines val="1"/>
        </c:dLbls>
        <c:firstSliceAng val="270"/>
        <c:holeSize val="50"/>
      </c:doughnutChart>
      <c:spPr>
        <a:noFill/>
        <a:ln>
          <a:noFill/>
        </a:ln>
        <a:effectLst/>
      </c:spPr>
    </c:plotArea>
    <c:legend>
      <c:legendPos val="b"/>
      <c:legendEntry>
        <c:idx val="3"/>
        <c:delete val="1"/>
      </c:legendEntry>
      <c:layout>
        <c:manualLayout>
          <c:xMode val="edge"/>
          <c:yMode val="edge"/>
          <c:x val="4.4764976707596131E-3"/>
          <c:y val="0.42654896335725084"/>
          <c:w val="0.99076805943443846"/>
          <c:h val="0.10568094628362189"/>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42744056771085"/>
          <c:y val="5.781428083090337E-2"/>
          <c:w val="0.80340953218879829"/>
          <c:h val="0.69609677042888518"/>
        </c:manualLayout>
      </c:layout>
      <c:doughnutChart>
        <c:varyColors val="1"/>
        <c:ser>
          <c:idx val="0"/>
          <c:order val="0"/>
          <c:tx>
            <c:strRef>
              <c:f>Sheet1!$B$1</c:f>
              <c:strCache>
                <c:ptCount val="1"/>
                <c:pt idx="0">
                  <c:v>Column1</c:v>
                </c:pt>
              </c:strCache>
            </c:strRef>
          </c:tx>
          <c:dPt>
            <c:idx val="0"/>
            <c:bubble3D val="0"/>
            <c:spPr>
              <a:solidFill>
                <a:srgbClr val="0070C0"/>
              </a:solidFill>
              <a:ln w="19050">
                <a:solidFill>
                  <a:schemeClr val="lt1"/>
                </a:solidFill>
              </a:ln>
              <a:effectLst/>
            </c:spPr>
            <c:extLst>
              <c:ext xmlns:c16="http://schemas.microsoft.com/office/drawing/2014/chart" uri="{C3380CC4-5D6E-409C-BE32-E72D297353CC}">
                <c16:uniqueId val="{00000001-5246-43B1-AF0A-E21904C197F1}"/>
              </c:ext>
            </c:extLst>
          </c:dPt>
          <c:dPt>
            <c:idx val="1"/>
            <c:bubble3D val="0"/>
            <c:spPr>
              <a:solidFill>
                <a:srgbClr val="D8D6CA"/>
              </a:solidFill>
              <a:ln w="19050">
                <a:solidFill>
                  <a:schemeClr val="lt1"/>
                </a:solidFill>
              </a:ln>
              <a:effectLst/>
            </c:spPr>
            <c:extLst>
              <c:ext xmlns:c16="http://schemas.microsoft.com/office/drawing/2014/chart" uri="{C3380CC4-5D6E-409C-BE32-E72D297353CC}">
                <c16:uniqueId val="{00000003-5246-43B1-AF0A-E21904C197F1}"/>
              </c:ext>
            </c:extLst>
          </c:dPt>
          <c:dPt>
            <c:idx val="2"/>
            <c:bubble3D val="0"/>
            <c:spPr>
              <a:solidFill>
                <a:schemeClr val="bg2">
                  <a:lumMod val="20000"/>
                  <a:lumOff val="80000"/>
                </a:schemeClr>
              </a:solidFill>
              <a:ln w="19050">
                <a:solidFill>
                  <a:schemeClr val="lt1"/>
                </a:solidFill>
              </a:ln>
              <a:effectLst/>
            </c:spPr>
            <c:extLst>
              <c:ext xmlns:c16="http://schemas.microsoft.com/office/drawing/2014/chart" uri="{C3380CC4-5D6E-409C-BE32-E72D297353CC}">
                <c16:uniqueId val="{00000005-5246-43B1-AF0A-E21904C197F1}"/>
              </c:ext>
            </c:extLst>
          </c:dPt>
          <c:dPt>
            <c:idx val="3"/>
            <c:bubble3D val="0"/>
            <c:spPr>
              <a:solidFill>
                <a:schemeClr val="bg1"/>
              </a:solidFill>
              <a:ln w="19050">
                <a:solidFill>
                  <a:schemeClr val="lt1"/>
                </a:solidFill>
              </a:ln>
              <a:effectLst/>
            </c:spPr>
            <c:extLst>
              <c:ext xmlns:c16="http://schemas.microsoft.com/office/drawing/2014/chart" uri="{C3380CC4-5D6E-409C-BE32-E72D297353CC}">
                <c16:uniqueId val="{00000007-5246-43B1-AF0A-E21904C197F1}"/>
              </c:ext>
            </c:extLst>
          </c:dPt>
          <c:dLbls>
            <c:dLbl>
              <c:idx val="0"/>
              <c:layout>
                <c:manualLayout>
                  <c:x val="-6.6727136641604581E-2"/>
                  <c:y val="-5.2558437119003066E-3"/>
                </c:manualLayout>
              </c:layout>
              <c:tx>
                <c:rich>
                  <a:bodyPr rot="0" spcFirstLastPara="1" vertOverflow="ellipsis" vert="horz" wrap="square" lIns="38100" tIns="19050" rIns="38100" bIns="19050" anchor="ctr" anchorCtr="1">
                    <a:noAutofit/>
                  </a:bodyPr>
                  <a:lstStyle/>
                  <a:p>
                    <a:pPr>
                      <a:defRPr sz="1197" b="0" i="0" u="none" strike="noStrike" kern="1200" baseline="0">
                        <a:solidFill>
                          <a:schemeClr val="bg1"/>
                        </a:solidFill>
                        <a:latin typeface="+mn-lt"/>
                        <a:ea typeface="+mn-ea"/>
                        <a:cs typeface="+mn-cs"/>
                      </a:defRPr>
                    </a:pPr>
                    <a:fld id="{40359A0B-7124-46DE-8F8F-665717EFE345}" type="VALUE">
                      <a:rPr lang="en-US">
                        <a:solidFill>
                          <a:schemeClr val="bg1"/>
                        </a:solidFill>
                      </a:rPr>
                      <a:pPr>
                        <a:defRPr>
                          <a:solidFill>
                            <a:schemeClr val="bg1"/>
                          </a:solidFill>
                        </a:defRPr>
                      </a:pPr>
                      <a:t>[VALUE]</a:t>
                    </a:fld>
                    <a:endParaRPr lang="en-US"/>
                  </a:p>
                </c:rich>
              </c:tx>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3.5699256926224242E-2"/>
                      <c:h val="5.9180800195997446E-2"/>
                    </c:manualLayout>
                  </c15:layout>
                  <c15:dlblFieldTable/>
                  <c15:showDataLabelsRange val="0"/>
                </c:ext>
                <c:ext xmlns:c16="http://schemas.microsoft.com/office/drawing/2014/chart" uri="{C3380CC4-5D6E-409C-BE32-E72D297353CC}">
                  <c16:uniqueId val="{00000001-5246-43B1-AF0A-E21904C197F1}"/>
                </c:ext>
              </c:extLst>
            </c:dLbl>
            <c:dLbl>
              <c:idx val="3"/>
              <c:delete val="1"/>
              <c:extLst>
                <c:ext xmlns:c15="http://schemas.microsoft.com/office/drawing/2012/chart" uri="{CE6537A1-D6FC-4f65-9D91-7224C49458BB}"/>
                <c:ext xmlns:c16="http://schemas.microsoft.com/office/drawing/2014/chart" uri="{C3380CC4-5D6E-409C-BE32-E72D297353CC}">
                  <c16:uniqueId val="{00000007-5246-43B1-AF0A-E21904C197F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Complete</c:v>
                </c:pt>
                <c:pt idx="1">
                  <c:v>In Progress</c:v>
                </c:pt>
                <c:pt idx="2">
                  <c:v>Not Started</c:v>
                </c:pt>
                <c:pt idx="3">
                  <c:v>Extra</c:v>
                </c:pt>
              </c:strCache>
            </c:strRef>
          </c:cat>
          <c:val>
            <c:numRef>
              <c:f>Sheet1!$B$2:$B$5</c:f>
              <c:numCache>
                <c:formatCode>General</c:formatCode>
                <c:ptCount val="4"/>
                <c:pt idx="0">
                  <c:v>1</c:v>
                </c:pt>
                <c:pt idx="1">
                  <c:v>13</c:v>
                </c:pt>
                <c:pt idx="2">
                  <c:v>6</c:v>
                </c:pt>
                <c:pt idx="3">
                  <c:v>20</c:v>
                </c:pt>
              </c:numCache>
            </c:numRef>
          </c:val>
          <c:extLst>
            <c:ext xmlns:c16="http://schemas.microsoft.com/office/drawing/2014/chart" uri="{C3380CC4-5D6E-409C-BE32-E72D297353CC}">
              <c16:uniqueId val="{00000008-5246-43B1-AF0A-E21904C197F1}"/>
            </c:ext>
          </c:extLst>
        </c:ser>
        <c:dLbls>
          <c:showLegendKey val="0"/>
          <c:showVal val="0"/>
          <c:showCatName val="0"/>
          <c:showSerName val="0"/>
          <c:showPercent val="0"/>
          <c:showBubbleSize val="0"/>
          <c:showLeaderLines val="1"/>
        </c:dLbls>
        <c:firstSliceAng val="270"/>
        <c:holeSize val="50"/>
      </c:doughnutChart>
      <c:spPr>
        <a:noFill/>
        <a:ln>
          <a:noFill/>
        </a:ln>
        <a:effectLst/>
      </c:spPr>
    </c:plotArea>
    <c:legend>
      <c:legendPos val="b"/>
      <c:legendEntry>
        <c:idx val="3"/>
        <c:delete val="1"/>
      </c:legendEntry>
      <c:layout>
        <c:manualLayout>
          <c:xMode val="edge"/>
          <c:yMode val="edge"/>
          <c:x val="4.4764976707596131E-3"/>
          <c:y val="0.42654896335725084"/>
          <c:w val="0.99076805943443846"/>
          <c:h val="0.10568094628362189"/>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42744056771085"/>
          <c:y val="5.781428083090337E-2"/>
          <c:w val="0.80340953218879829"/>
          <c:h val="0.69609677042888518"/>
        </c:manualLayout>
      </c:layout>
      <c:doughnutChart>
        <c:varyColors val="1"/>
        <c:ser>
          <c:idx val="0"/>
          <c:order val="0"/>
          <c:tx>
            <c:strRef>
              <c:f>Sheet1!$B$1</c:f>
              <c:strCache>
                <c:ptCount val="1"/>
                <c:pt idx="0">
                  <c:v>Column1</c:v>
                </c:pt>
              </c:strCache>
            </c:strRef>
          </c:tx>
          <c:dPt>
            <c:idx val="0"/>
            <c:bubble3D val="0"/>
            <c:spPr>
              <a:solidFill>
                <a:srgbClr val="0070C0"/>
              </a:solidFill>
              <a:ln w="19050">
                <a:solidFill>
                  <a:schemeClr val="lt1"/>
                </a:solidFill>
              </a:ln>
              <a:effectLst/>
            </c:spPr>
            <c:extLst>
              <c:ext xmlns:c16="http://schemas.microsoft.com/office/drawing/2014/chart" uri="{C3380CC4-5D6E-409C-BE32-E72D297353CC}">
                <c16:uniqueId val="{00000001-5246-43B1-AF0A-E21904C197F1}"/>
              </c:ext>
            </c:extLst>
          </c:dPt>
          <c:dPt>
            <c:idx val="1"/>
            <c:bubble3D val="0"/>
            <c:spPr>
              <a:solidFill>
                <a:srgbClr val="D8D6CA"/>
              </a:solidFill>
              <a:ln w="19050">
                <a:solidFill>
                  <a:schemeClr val="lt1"/>
                </a:solidFill>
              </a:ln>
              <a:effectLst/>
            </c:spPr>
            <c:extLst>
              <c:ext xmlns:c16="http://schemas.microsoft.com/office/drawing/2014/chart" uri="{C3380CC4-5D6E-409C-BE32-E72D297353CC}">
                <c16:uniqueId val="{00000003-5246-43B1-AF0A-E21904C197F1}"/>
              </c:ext>
            </c:extLst>
          </c:dPt>
          <c:dPt>
            <c:idx val="2"/>
            <c:bubble3D val="0"/>
            <c:spPr>
              <a:solidFill>
                <a:schemeClr val="bg2">
                  <a:lumMod val="20000"/>
                  <a:lumOff val="80000"/>
                </a:schemeClr>
              </a:solidFill>
              <a:ln w="19050">
                <a:solidFill>
                  <a:schemeClr val="lt1"/>
                </a:solidFill>
              </a:ln>
              <a:effectLst/>
            </c:spPr>
            <c:extLst>
              <c:ext xmlns:c16="http://schemas.microsoft.com/office/drawing/2014/chart" uri="{C3380CC4-5D6E-409C-BE32-E72D297353CC}">
                <c16:uniqueId val="{00000005-5246-43B1-AF0A-E21904C197F1}"/>
              </c:ext>
            </c:extLst>
          </c:dPt>
          <c:dPt>
            <c:idx val="3"/>
            <c:bubble3D val="0"/>
            <c:spPr>
              <a:solidFill>
                <a:schemeClr val="bg1"/>
              </a:solidFill>
              <a:ln w="19050">
                <a:solidFill>
                  <a:schemeClr val="lt1"/>
                </a:solidFill>
              </a:ln>
              <a:effectLst/>
            </c:spPr>
            <c:extLst>
              <c:ext xmlns:c16="http://schemas.microsoft.com/office/drawing/2014/chart" uri="{C3380CC4-5D6E-409C-BE32-E72D297353CC}">
                <c16:uniqueId val="{00000007-5246-43B1-AF0A-E21904C197F1}"/>
              </c:ext>
            </c:extLst>
          </c:dPt>
          <c:dLbls>
            <c:dLbl>
              <c:idx val="0"/>
              <c:layout>
                <c:manualLayout>
                  <c:x val="-5.7628220467987934E-2"/>
                  <c:y val="-5.2558437119003543E-3"/>
                </c:manualLayout>
              </c:layout>
              <c:tx>
                <c:rich>
                  <a:bodyPr rot="0" spcFirstLastPara="1" vertOverflow="ellipsis" vert="horz" wrap="square" lIns="38100" tIns="19050" rIns="38100" bIns="19050" anchor="ctr" anchorCtr="1">
                    <a:noAutofit/>
                  </a:bodyPr>
                  <a:lstStyle/>
                  <a:p>
                    <a:pPr>
                      <a:defRPr sz="1197" b="0" i="0" u="none" strike="noStrike" kern="1200" baseline="0">
                        <a:solidFill>
                          <a:schemeClr val="bg1"/>
                        </a:solidFill>
                        <a:latin typeface="+mn-lt"/>
                        <a:ea typeface="+mn-ea"/>
                        <a:cs typeface="+mn-cs"/>
                      </a:defRPr>
                    </a:pPr>
                    <a:fld id="{F35C6832-0C35-4BAC-880E-D4EC8CC90DE6}" type="VALUE">
                      <a:rPr lang="en-US">
                        <a:solidFill>
                          <a:schemeClr val="bg1"/>
                        </a:solidFill>
                      </a:rPr>
                      <a:pPr>
                        <a:defRPr>
                          <a:solidFill>
                            <a:schemeClr val="bg1"/>
                          </a:solidFill>
                        </a:defRPr>
                      </a:pPr>
                      <a:t>[VALUE]</a:t>
                    </a:fld>
                    <a:endParaRPr lang="en-US"/>
                  </a:p>
                </c:rich>
              </c:tx>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5.9963670250444086E-2"/>
                      <c:h val="7.494833133169837E-2"/>
                    </c:manualLayout>
                  </c15:layout>
                  <c15:dlblFieldTable/>
                  <c15:showDataLabelsRange val="0"/>
                </c:ext>
                <c:ext xmlns:c16="http://schemas.microsoft.com/office/drawing/2014/chart" uri="{C3380CC4-5D6E-409C-BE32-E72D297353CC}">
                  <c16:uniqueId val="{00000001-5246-43B1-AF0A-E21904C197F1}"/>
                </c:ext>
              </c:extLst>
            </c:dLbl>
            <c:dLbl>
              <c:idx val="3"/>
              <c:delete val="1"/>
              <c:extLst>
                <c:ext xmlns:c15="http://schemas.microsoft.com/office/drawing/2012/chart" uri="{CE6537A1-D6FC-4f65-9D91-7224C49458BB}"/>
                <c:ext xmlns:c16="http://schemas.microsoft.com/office/drawing/2014/chart" uri="{C3380CC4-5D6E-409C-BE32-E72D297353CC}">
                  <c16:uniqueId val="{00000007-5246-43B1-AF0A-E21904C197F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Complete</c:v>
                </c:pt>
                <c:pt idx="1">
                  <c:v>In Progress</c:v>
                </c:pt>
                <c:pt idx="2">
                  <c:v>Not Started</c:v>
                </c:pt>
                <c:pt idx="3">
                  <c:v>Extra</c:v>
                </c:pt>
              </c:strCache>
            </c:strRef>
          </c:cat>
          <c:val>
            <c:numRef>
              <c:f>Sheet1!$B$2:$B$5</c:f>
              <c:numCache>
                <c:formatCode>General</c:formatCode>
                <c:ptCount val="4"/>
                <c:pt idx="0">
                  <c:v>2</c:v>
                </c:pt>
                <c:pt idx="1">
                  <c:v>27</c:v>
                </c:pt>
                <c:pt idx="2">
                  <c:v>7</c:v>
                </c:pt>
                <c:pt idx="3">
                  <c:v>36</c:v>
                </c:pt>
              </c:numCache>
            </c:numRef>
          </c:val>
          <c:extLst>
            <c:ext xmlns:c16="http://schemas.microsoft.com/office/drawing/2014/chart" uri="{C3380CC4-5D6E-409C-BE32-E72D297353CC}">
              <c16:uniqueId val="{00000008-5246-43B1-AF0A-E21904C197F1}"/>
            </c:ext>
          </c:extLst>
        </c:ser>
        <c:dLbls>
          <c:showLegendKey val="0"/>
          <c:showVal val="0"/>
          <c:showCatName val="0"/>
          <c:showSerName val="0"/>
          <c:showPercent val="0"/>
          <c:showBubbleSize val="0"/>
          <c:showLeaderLines val="1"/>
        </c:dLbls>
        <c:firstSliceAng val="270"/>
        <c:holeSize val="50"/>
      </c:doughnutChart>
      <c:spPr>
        <a:noFill/>
        <a:ln>
          <a:noFill/>
        </a:ln>
        <a:effectLst/>
      </c:spPr>
    </c:plotArea>
    <c:legend>
      <c:legendPos val="b"/>
      <c:legendEntry>
        <c:idx val="3"/>
        <c:delete val="1"/>
      </c:legendEntry>
      <c:layout>
        <c:manualLayout>
          <c:xMode val="edge"/>
          <c:yMode val="edge"/>
          <c:x val="4.4764976707596131E-3"/>
          <c:y val="0.42654896335725084"/>
          <c:w val="0.99076805943443846"/>
          <c:h val="0.10568094628362189"/>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CA"/>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8C5A0B6-6EB9-487C-AA65-B7B3CAF6BDD3}" type="datetimeFigureOut">
              <a:rPr lang="en-CA" smtClean="0"/>
              <a:t>2026-06-25</a:t>
            </a:fld>
            <a:endParaRPr lang="en-CA"/>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CA"/>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CA"/>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4781F2-84E1-4FD0-96BC-5A28C1AAEF7A}" type="slidenum">
              <a:rPr lang="en-CA" smtClean="0"/>
              <a:t>‹#›</a:t>
            </a:fld>
            <a:endParaRPr lang="en-CA"/>
          </a:p>
        </p:txBody>
      </p:sp>
    </p:spTree>
    <p:extLst>
      <p:ext uri="{BB962C8B-B14F-4D97-AF65-F5344CB8AC3E}">
        <p14:creationId xmlns:p14="http://schemas.microsoft.com/office/powerpoint/2010/main" val="351993576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884781F2-84E1-4FD0-96BC-5A28C1AAEF7A}" type="slidenum">
              <a:rPr lang="en-CA" smtClean="0"/>
              <a:t>2</a:t>
            </a:fld>
            <a:endParaRPr lang="en-CA"/>
          </a:p>
        </p:txBody>
      </p:sp>
    </p:spTree>
    <p:extLst>
      <p:ext uri="{BB962C8B-B14F-4D97-AF65-F5344CB8AC3E}">
        <p14:creationId xmlns:p14="http://schemas.microsoft.com/office/powerpoint/2010/main" val="164010402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eaLnBrk="1" fontAlgn="t" latinLnBrk="0" hangingPunct="1"/>
            <a:r>
              <a:rPr lang="en-CA" sz="1200" b="1" i="0" u="none" strike="noStrike" kern="1200" dirty="0">
                <a:solidFill>
                  <a:schemeClr val="tx1"/>
                </a:solidFill>
                <a:effectLst/>
                <a:latin typeface="+mn-lt"/>
                <a:ea typeface="+mn-ea"/>
                <a:cs typeface="+mn-cs"/>
              </a:rPr>
              <a:t>[Context]</a:t>
            </a:r>
          </a:p>
          <a:p>
            <a:pPr rtl="0" eaLnBrk="1" fontAlgn="t" latinLnBrk="0" hangingPunct="1"/>
            <a:r>
              <a:rPr lang="en-CA" sz="1200" b="0" i="0" u="sng" strike="noStrike" kern="1200" dirty="0">
                <a:solidFill>
                  <a:schemeClr val="tx1"/>
                </a:solidFill>
                <a:effectLst/>
                <a:latin typeface="+mn-lt"/>
                <a:ea typeface="+mn-ea"/>
                <a:cs typeface="+mn-cs"/>
              </a:rPr>
              <a:t>Typical name</a:t>
            </a:r>
            <a:r>
              <a:rPr lang="en-CA" sz="1200" b="0" i="0" u="none" strike="noStrike" kern="1200" dirty="0">
                <a:solidFill>
                  <a:schemeClr val="tx1"/>
                </a:solidFill>
                <a:effectLst/>
                <a:latin typeface="+mn-lt"/>
                <a:ea typeface="+mn-ea"/>
                <a:cs typeface="+mn-cs"/>
              </a:rPr>
              <a:t>: </a:t>
            </a:r>
            <a:r>
              <a:rPr lang="en-CA" sz="1200" dirty="0"/>
              <a:t>Exec Summ. / Executive Summary</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Target Audience</a:t>
            </a:r>
            <a:r>
              <a:rPr lang="en-CA" sz="1200" b="0" i="0" u="none" strike="noStrike" kern="1200" dirty="0">
                <a:solidFill>
                  <a:schemeClr val="tx1"/>
                </a:solidFill>
                <a:effectLst/>
                <a:latin typeface="+mn-lt"/>
                <a:ea typeface="+mn-ea"/>
                <a:cs typeface="+mn-cs"/>
              </a:rPr>
              <a:t>: </a:t>
            </a:r>
            <a:r>
              <a:rPr lang="en-CA" sz="1200" dirty="0"/>
              <a:t>Board of Directors – for Technology topics.</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Target Forum</a:t>
            </a:r>
            <a:r>
              <a:rPr lang="en-CA" sz="1200" b="0" i="0" u="none" strike="noStrike" kern="1200" dirty="0">
                <a:solidFill>
                  <a:schemeClr val="tx1"/>
                </a:solidFill>
                <a:effectLst/>
                <a:latin typeface="+mn-lt"/>
                <a:ea typeface="+mn-ea"/>
                <a:cs typeface="+mn-cs"/>
              </a:rPr>
              <a:t>: </a:t>
            </a:r>
            <a:r>
              <a:rPr lang="en-CA" sz="1200" dirty="0"/>
              <a:t>Board meeting</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Slide Purpose</a:t>
            </a:r>
            <a:r>
              <a:rPr lang="en-CA" sz="1200" b="0" i="0" u="none" strike="noStrike" kern="1200" dirty="0">
                <a:solidFill>
                  <a:schemeClr val="tx1"/>
                </a:solidFill>
                <a:effectLst/>
                <a:latin typeface="+mn-lt"/>
                <a:ea typeface="+mn-ea"/>
                <a:cs typeface="+mn-cs"/>
              </a:rPr>
              <a:t>: </a:t>
            </a:r>
            <a:r>
              <a:rPr lang="en-CA" sz="1200" dirty="0"/>
              <a:t>Inform</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Key Takeaway</a:t>
            </a:r>
            <a:r>
              <a:rPr lang="en-CA" sz="1200" b="0" i="0" u="none" strike="noStrike" kern="1200" dirty="0">
                <a:solidFill>
                  <a:schemeClr val="tx1"/>
                </a:solidFill>
                <a:effectLst/>
                <a:latin typeface="+mn-lt"/>
                <a:ea typeface="+mn-ea"/>
                <a:cs typeface="+mn-cs"/>
              </a:rPr>
              <a:t>: “</a:t>
            </a:r>
            <a:r>
              <a:rPr lang="en-CA" sz="1200" dirty="0"/>
              <a:t>The following section introduces our end-user strategy that requires changing”</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Usage</a:t>
            </a:r>
            <a:r>
              <a:rPr lang="en-CA" sz="1200" b="0" i="0" u="none" strike="noStrike" kern="1200" dirty="0">
                <a:solidFill>
                  <a:schemeClr val="tx1"/>
                </a:solidFill>
                <a:effectLst/>
                <a:latin typeface="+mn-lt"/>
                <a:ea typeface="+mn-ea"/>
                <a:cs typeface="+mn-cs"/>
              </a:rPr>
              <a:t>: </a:t>
            </a:r>
            <a:r>
              <a:rPr lang="en-CA" sz="1200" dirty="0"/>
              <a:t>Offline review as a pre-read</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Content Type</a:t>
            </a:r>
            <a:r>
              <a:rPr lang="en-CA" sz="1200" b="0" i="0" u="none" strike="noStrike" kern="1200" dirty="0">
                <a:solidFill>
                  <a:schemeClr val="tx1"/>
                </a:solidFill>
                <a:effectLst/>
                <a:latin typeface="+mn-lt"/>
                <a:ea typeface="+mn-ea"/>
                <a:cs typeface="+mn-cs"/>
              </a:rPr>
              <a:t>: </a:t>
            </a:r>
            <a:r>
              <a:rPr lang="en-CA" sz="1200" dirty="0"/>
              <a:t>Executive summary</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Position in Narrative</a:t>
            </a:r>
            <a:r>
              <a:rPr lang="en-CA" sz="1200" b="0" i="0" u="none" strike="noStrike" kern="1200" dirty="0">
                <a:solidFill>
                  <a:schemeClr val="tx1"/>
                </a:solidFill>
                <a:effectLst/>
                <a:latin typeface="+mn-lt"/>
                <a:ea typeface="+mn-ea"/>
                <a:cs typeface="+mn-cs"/>
              </a:rPr>
              <a:t>: </a:t>
            </a:r>
            <a:r>
              <a:rPr lang="en-CA" sz="1200" dirty="0"/>
              <a:t>Context</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Information Density</a:t>
            </a:r>
            <a:r>
              <a:rPr lang="en-CA" sz="1200" b="0" i="0" u="none" strike="noStrike" kern="1200" dirty="0">
                <a:solidFill>
                  <a:schemeClr val="tx1"/>
                </a:solidFill>
                <a:effectLst/>
                <a:latin typeface="+mn-lt"/>
                <a:ea typeface="+mn-ea"/>
                <a:cs typeface="+mn-cs"/>
              </a:rPr>
              <a:t>: </a:t>
            </a:r>
            <a:r>
              <a:rPr lang="en-CA" sz="1200" dirty="0"/>
              <a:t>Detailed reference slide</a:t>
            </a:r>
            <a:endParaRPr lang="en-US" sz="1200" b="0" i="0" u="none" strike="noStrike" kern="1200" dirty="0">
              <a:solidFill>
                <a:schemeClr val="tx1"/>
              </a:solidFill>
              <a:effectLst/>
              <a:latin typeface="+mn-lt"/>
              <a:ea typeface="+mn-ea"/>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825A3F-E852-4EA0-BCF3-6A28BC4E2AF2}"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4158404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36600" y="1154113"/>
            <a:ext cx="5537200" cy="3116262"/>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effectLst/>
                <a:latin typeface="+mn-lt"/>
                <a:ea typeface="+mn-ea"/>
                <a:cs typeface="+mn-cs"/>
              </a:rPr>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Typical name: </a:t>
            </a:r>
            <a:r>
              <a:rPr lang="en-US" sz="1200" b="0" i="0" kern="1200" dirty="0">
                <a:solidFill>
                  <a:schemeClr val="tx1"/>
                </a:solidFill>
                <a:effectLst/>
                <a:latin typeface="+mn-lt"/>
                <a:ea typeface="+mn-ea"/>
                <a:cs typeface="+mn-cs"/>
              </a:rPr>
              <a:t>Executive Summary / Exec Sum</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Audience</a:t>
            </a:r>
            <a:r>
              <a:rPr lang="en-US" sz="1200" b="0" i="0" kern="1200" dirty="0">
                <a:solidFill>
                  <a:schemeClr val="tx1"/>
                </a:solidFill>
                <a:effectLst/>
                <a:latin typeface="+mn-lt"/>
                <a:ea typeface="+mn-ea"/>
                <a:cs typeface="+mn-cs"/>
              </a:rPr>
              <a:t>: </a:t>
            </a:r>
            <a:r>
              <a:rPr lang="en-US" sz="1200" b="0" i="0" kern="1200" dirty="0" err="1">
                <a:solidFill>
                  <a:schemeClr val="tx1"/>
                </a:solidFill>
                <a:effectLst/>
                <a:latin typeface="+mn-lt"/>
                <a:ea typeface="+mn-ea"/>
                <a:cs typeface="+mn-cs"/>
              </a:rPr>
              <a:t>OpCo</a:t>
            </a:r>
            <a:r>
              <a:rPr lang="en-US" sz="1200" b="0" i="0" kern="1200" dirty="0">
                <a:solidFill>
                  <a:schemeClr val="tx1"/>
                </a:solidFill>
                <a:effectLst/>
                <a:latin typeface="+mn-lt"/>
                <a:ea typeface="+mn-ea"/>
                <a:cs typeface="+mn-cs"/>
              </a:rPr>
              <a:t> (SVP+)</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Forum:</a:t>
            </a:r>
            <a:r>
              <a:rPr lang="en-US" sz="1200" b="0" i="0" kern="1200" dirty="0">
                <a:solidFill>
                  <a:schemeClr val="tx1"/>
                </a:solidFill>
                <a:effectLst/>
                <a:latin typeface="+mn-lt"/>
                <a:ea typeface="+mn-ea"/>
                <a:cs typeface="+mn-cs"/>
              </a:rPr>
              <a:t> </a:t>
            </a:r>
            <a:r>
              <a:rPr lang="en-US" sz="1200" b="0" i="0" kern="1200" dirty="0" err="1">
                <a:solidFill>
                  <a:schemeClr val="tx1"/>
                </a:solidFill>
                <a:effectLst/>
                <a:latin typeface="+mn-lt"/>
                <a:ea typeface="+mn-ea"/>
                <a:cs typeface="+mn-cs"/>
              </a:rPr>
              <a:t>OpCo</a:t>
            </a:r>
            <a:r>
              <a:rPr lang="en-US" sz="1200" b="0" i="0" kern="1200" dirty="0">
                <a:solidFill>
                  <a:schemeClr val="tx1"/>
                </a:solidFill>
                <a:effectLst/>
                <a:latin typeface="+mn-lt"/>
                <a:ea typeface="+mn-ea"/>
                <a:cs typeface="+mn-cs"/>
              </a:rPr>
              <a:t> Strategy Session</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Slide Purpose:</a:t>
            </a:r>
            <a:r>
              <a:rPr lang="en-US" sz="1200" b="0" i="0" kern="1200" dirty="0">
                <a:solidFill>
                  <a:schemeClr val="tx1"/>
                </a:solidFill>
                <a:effectLst/>
                <a:latin typeface="+mn-lt"/>
                <a:ea typeface="+mn-ea"/>
                <a:cs typeface="+mn-cs"/>
              </a:rPr>
              <a:t> Inform and frame overall deck</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Key Takeaway:</a:t>
            </a:r>
            <a:r>
              <a:rPr lang="en-US" sz="1200" b="0" i="0" kern="1200" dirty="0">
                <a:solidFill>
                  <a:schemeClr val="tx1"/>
                </a:solidFill>
                <a:effectLst/>
                <a:latin typeface="+mn-lt"/>
                <a:ea typeface="+mn-ea"/>
                <a:cs typeface="+mn-cs"/>
              </a:rPr>
              <a:t> “Mexico is delivering solid near-term performance with strong execution and momentum in key businesses, but structural challenges (funding mix, productivity, and client acquisition) must be addressed to achieve 2030 ambitions.”</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Usage:</a:t>
            </a:r>
            <a:r>
              <a:rPr lang="en-US" sz="1200" b="0" i="0" kern="1200" dirty="0">
                <a:solidFill>
                  <a:schemeClr val="tx1"/>
                </a:solidFill>
                <a:effectLst/>
                <a:latin typeface="+mn-lt"/>
                <a:ea typeface="+mn-ea"/>
                <a:cs typeface="+mn-cs"/>
              </a:rPr>
              <a:t> Pre-read and in-meeting framing for discussion</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Content Type:</a:t>
            </a:r>
            <a:r>
              <a:rPr lang="en-US" sz="1200" b="0" i="0" kern="1200" dirty="0">
                <a:solidFill>
                  <a:schemeClr val="tx1"/>
                </a:solidFill>
                <a:effectLst/>
                <a:latin typeface="+mn-lt"/>
                <a:ea typeface="+mn-ea"/>
                <a:cs typeface="+mn-cs"/>
              </a:rPr>
              <a:t> Executive summary</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Position in Narrative:</a:t>
            </a:r>
            <a:r>
              <a:rPr lang="en-US" sz="1200" b="0" i="0" kern="1200" dirty="0">
                <a:solidFill>
                  <a:schemeClr val="tx1"/>
                </a:solidFill>
                <a:effectLst/>
                <a:latin typeface="+mn-lt"/>
                <a:ea typeface="+mn-ea"/>
                <a:cs typeface="+mn-cs"/>
              </a:rPr>
              <a:t> </a:t>
            </a:r>
            <a:r>
              <a:rPr lang="en-CA" sz="1200" dirty="0"/>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Information Density:</a:t>
            </a:r>
            <a:r>
              <a:rPr lang="en-US" sz="1200" b="0" i="0" kern="1200" dirty="0">
                <a:solidFill>
                  <a:schemeClr val="tx1"/>
                </a:solidFill>
                <a:effectLst/>
                <a:latin typeface="+mn-lt"/>
                <a:ea typeface="+mn-ea"/>
                <a:cs typeface="+mn-cs"/>
              </a:rPr>
              <a:t> Medium–high</a:t>
            </a:r>
            <a:endParaRPr lang="en-US" dirty="0"/>
          </a:p>
        </p:txBody>
      </p:sp>
      <p:sp>
        <p:nvSpPr>
          <p:cNvPr id="4" name="Slide Number Placeholder 3"/>
          <p:cNvSpPr>
            <a:spLocks noGrp="1"/>
          </p:cNvSpPr>
          <p:nvPr>
            <p:ph type="sldNum" sz="quarter" idx="5"/>
          </p:nvPr>
        </p:nvSpPr>
        <p:spPr/>
        <p:txBody>
          <a:bodyPr/>
          <a:lstStyle/>
          <a:p>
            <a:fld id="{7E7203EF-64D0-4F90-A09E-90F11301C8D6}" type="slidenum">
              <a:rPr lang="en-US" smtClean="0"/>
              <a:pPr/>
              <a:t>6</a:t>
            </a:fld>
            <a:endParaRPr lang="en-US"/>
          </a:p>
        </p:txBody>
      </p:sp>
    </p:spTree>
    <p:extLst>
      <p:ext uri="{BB962C8B-B14F-4D97-AF65-F5344CB8AC3E}">
        <p14:creationId xmlns:p14="http://schemas.microsoft.com/office/powerpoint/2010/main" val="335224651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effectLst/>
                <a:latin typeface="+mn-lt"/>
                <a:ea typeface="+mn-ea"/>
                <a:cs typeface="+mn-cs"/>
              </a:rPr>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Typical name:</a:t>
            </a:r>
            <a:r>
              <a:rPr lang="en-US" sz="1200" b="0" i="0" u="none" kern="120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Executive Summary / Exec Sum</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Audience:</a:t>
            </a:r>
            <a:r>
              <a:rPr lang="en-US" sz="1200" b="0" i="0" kern="1200" dirty="0">
                <a:solidFill>
                  <a:schemeClr val="tx1"/>
                </a:solidFill>
                <a:effectLst/>
                <a:latin typeface="+mn-lt"/>
                <a:ea typeface="+mn-ea"/>
                <a:cs typeface="+mn-cs"/>
              </a:rPr>
              <a:t> SVP+</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Forum:</a:t>
            </a:r>
            <a:r>
              <a:rPr lang="en-US" sz="1200" b="0" i="0" kern="1200" dirty="0">
                <a:solidFill>
                  <a:schemeClr val="tx1"/>
                </a:solidFill>
                <a:effectLst/>
                <a:latin typeface="+mn-lt"/>
                <a:ea typeface="+mn-ea"/>
                <a:cs typeface="+mn-cs"/>
              </a:rPr>
              <a:t> Strategic product update</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Slide Purpose: </a:t>
            </a:r>
            <a:r>
              <a:rPr lang="en-US" sz="1200" b="0" i="0" kern="1200" dirty="0">
                <a:solidFill>
                  <a:schemeClr val="tx1"/>
                </a:solidFill>
                <a:effectLst/>
                <a:latin typeface="+mn-lt"/>
                <a:ea typeface="+mn-ea"/>
                <a:cs typeface="+mn-cs"/>
              </a:rPr>
              <a:t>Inform on product-level performance, strategic relevance, and key gaps</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Key Takeaway:</a:t>
            </a:r>
            <a:r>
              <a:rPr lang="en-US" sz="1200" b="0" i="0" kern="1200" dirty="0">
                <a:solidFill>
                  <a:schemeClr val="tx1"/>
                </a:solidFill>
                <a:effectLst/>
                <a:latin typeface="+mn-lt"/>
                <a:ea typeface="+mn-ea"/>
                <a:cs typeface="+mn-cs"/>
              </a:rPr>
              <a:t> “Credit cards remain a structurally important and profitable growth driver across </a:t>
            </a:r>
            <a:r>
              <a:rPr lang="en-US" sz="1200" b="0" i="0" kern="1200" dirty="0" err="1">
                <a:solidFill>
                  <a:schemeClr val="tx1"/>
                </a:solidFill>
                <a:effectLst/>
                <a:latin typeface="+mn-lt"/>
                <a:ea typeface="+mn-ea"/>
                <a:cs typeface="+mn-cs"/>
              </a:rPr>
              <a:t>LatAm</a:t>
            </a:r>
            <a:r>
              <a:rPr lang="en-US" sz="1200" b="0" i="0" kern="1200" dirty="0">
                <a:solidFill>
                  <a:schemeClr val="tx1"/>
                </a:solidFill>
                <a:effectLst/>
                <a:latin typeface="+mn-lt"/>
                <a:ea typeface="+mn-ea"/>
                <a:cs typeface="+mn-cs"/>
              </a:rPr>
              <a:t> &amp; Caribbean, but monetization gaps and fragmented loyalty limit full value capture—requiring focused actions on primacy, engagement, and profitability.”</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Usage: </a:t>
            </a:r>
            <a:r>
              <a:rPr lang="en-US" sz="1200" b="0" i="0" kern="1200" dirty="0">
                <a:solidFill>
                  <a:schemeClr val="tx1"/>
                </a:solidFill>
                <a:effectLst/>
                <a:latin typeface="+mn-lt"/>
                <a:ea typeface="+mn-ea"/>
                <a:cs typeface="+mn-cs"/>
              </a:rPr>
              <a:t>In-meeting discussion anchor for product deep dive</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Content Type:</a:t>
            </a:r>
            <a:r>
              <a:rPr lang="en-US" sz="1200" b="0" i="0" kern="1200" dirty="0">
                <a:solidFill>
                  <a:schemeClr val="tx1"/>
                </a:solidFill>
                <a:effectLst/>
                <a:latin typeface="+mn-lt"/>
                <a:ea typeface="+mn-ea"/>
                <a:cs typeface="+mn-cs"/>
              </a:rPr>
              <a:t> Executive summary (product performance + strategic implications)</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Position in Narrative: </a:t>
            </a:r>
            <a:r>
              <a:rPr lang="en-CA" sz="1200" dirty="0"/>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Information Density: </a:t>
            </a:r>
            <a:r>
              <a:rPr lang="en-US" sz="1200" b="0" i="0" kern="1200" dirty="0">
                <a:solidFill>
                  <a:schemeClr val="tx1"/>
                </a:solidFill>
                <a:effectLst/>
                <a:latin typeface="+mn-lt"/>
                <a:ea typeface="+mn-ea"/>
                <a:cs typeface="+mn-cs"/>
              </a:rPr>
              <a:t>Medium–high</a:t>
            </a:r>
            <a:endParaRPr lang="en-US" dirty="0"/>
          </a:p>
        </p:txBody>
      </p:sp>
      <p:sp>
        <p:nvSpPr>
          <p:cNvPr id="4" name="Slide Number Placeholder 3"/>
          <p:cNvSpPr>
            <a:spLocks noGrp="1"/>
          </p:cNvSpPr>
          <p:nvPr>
            <p:ph type="sldNum" sz="quarter" idx="5"/>
          </p:nvPr>
        </p:nvSpPr>
        <p:spPr/>
        <p:txBody>
          <a:bodyPr/>
          <a:lstStyle/>
          <a:p>
            <a:fld id="{884781F2-84E1-4FD0-96BC-5A28C1AAEF7A}" type="slidenum">
              <a:rPr lang="en-CA" smtClean="0"/>
              <a:t>7</a:t>
            </a:fld>
            <a:endParaRPr lang="en-CA"/>
          </a:p>
        </p:txBody>
      </p:sp>
    </p:spTree>
    <p:extLst>
      <p:ext uri="{BB962C8B-B14F-4D97-AF65-F5344CB8AC3E}">
        <p14:creationId xmlns:p14="http://schemas.microsoft.com/office/powerpoint/2010/main" val="192312597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846038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effectLst/>
                <a:latin typeface="+mn-lt"/>
                <a:ea typeface="+mn-ea"/>
                <a:cs typeface="+mn-cs"/>
              </a:rPr>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Typical name:</a:t>
            </a:r>
            <a:r>
              <a:rPr lang="en-US" sz="1200" b="0" i="0" kern="1200" dirty="0">
                <a:solidFill>
                  <a:schemeClr val="tx1"/>
                </a:solidFill>
                <a:effectLst/>
                <a:latin typeface="+mn-lt"/>
                <a:ea typeface="+mn-ea"/>
                <a:cs typeface="+mn-cs"/>
              </a:rPr>
              <a:t> Agenda</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Audience: </a:t>
            </a:r>
            <a:r>
              <a:rPr lang="en-US" sz="1200" b="0" i="0" kern="1200" dirty="0">
                <a:solidFill>
                  <a:schemeClr val="tx1"/>
                </a:solidFill>
                <a:effectLst/>
                <a:latin typeface="+mn-lt"/>
                <a:ea typeface="+mn-ea"/>
                <a:cs typeface="+mn-cs"/>
              </a:rPr>
              <a:t>Senior Leadership (SVP+) / </a:t>
            </a:r>
            <a:r>
              <a:rPr lang="en-US" sz="1200" b="0" i="0" kern="1200" dirty="0" err="1">
                <a:solidFill>
                  <a:schemeClr val="tx1"/>
                </a:solidFill>
                <a:effectLst/>
                <a:latin typeface="+mn-lt"/>
                <a:ea typeface="+mn-ea"/>
                <a:cs typeface="+mn-cs"/>
              </a:rPr>
              <a:t>OpCo</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Forum:</a:t>
            </a:r>
            <a:r>
              <a:rPr lang="en-US" sz="1200" b="0" i="0" kern="1200" dirty="0">
                <a:solidFill>
                  <a:schemeClr val="tx1"/>
                </a:solidFill>
                <a:effectLst/>
                <a:latin typeface="+mn-lt"/>
                <a:ea typeface="+mn-ea"/>
                <a:cs typeface="+mn-cs"/>
              </a:rPr>
              <a:t> Pre-read</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Slide Purpose:</a:t>
            </a:r>
            <a:r>
              <a:rPr lang="en-US" sz="1200" b="0" i="0" kern="1200" dirty="0">
                <a:solidFill>
                  <a:schemeClr val="tx1"/>
                </a:solidFill>
                <a:effectLst/>
                <a:latin typeface="+mn-lt"/>
                <a:ea typeface="+mn-ea"/>
                <a:cs typeface="+mn-cs"/>
              </a:rPr>
              <a:t> Show schedule, flow of sessions, and key touchpoints</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Key Takeaway:</a:t>
            </a:r>
            <a:r>
              <a:rPr lang="en-US" sz="1200" b="0" i="0" kern="1200" dirty="0">
                <a:solidFill>
                  <a:schemeClr val="tx1"/>
                </a:solidFill>
                <a:effectLst/>
                <a:latin typeface="+mn-lt"/>
                <a:ea typeface="+mn-ea"/>
                <a:cs typeface="+mn-cs"/>
              </a:rPr>
              <a:t> “Day 1 is structured to balance strategic discussions, leadership engagement, and client exposure.”</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Usage:</a:t>
            </a:r>
            <a:r>
              <a:rPr lang="en-US" sz="1200" b="0" i="0" kern="1200" dirty="0">
                <a:solidFill>
                  <a:schemeClr val="tx1"/>
                </a:solidFill>
                <a:effectLst/>
                <a:latin typeface="+mn-lt"/>
                <a:ea typeface="+mn-ea"/>
                <a:cs typeface="+mn-cs"/>
              </a:rPr>
              <a:t> In-meeting reference and coordination tool</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Content Type:</a:t>
            </a:r>
            <a:r>
              <a:rPr lang="en-US" sz="1200" b="0" i="0" kern="1200" dirty="0">
                <a:solidFill>
                  <a:schemeClr val="tx1"/>
                </a:solidFill>
                <a:effectLst/>
                <a:latin typeface="+mn-lt"/>
                <a:ea typeface="+mn-ea"/>
                <a:cs typeface="+mn-cs"/>
              </a:rPr>
              <a:t> Agenda / logistics overview</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Position in Narrative:</a:t>
            </a:r>
            <a:r>
              <a:rPr lang="en-US" sz="1200" b="0" i="0" kern="1200" dirty="0">
                <a:solidFill>
                  <a:schemeClr val="tx1"/>
                </a:solidFill>
                <a:effectLst/>
                <a:latin typeface="+mn-lt"/>
                <a:ea typeface="+mn-ea"/>
                <a:cs typeface="+mn-cs"/>
              </a:rPr>
              <a:t> Pre-read / agenda</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Information Density:</a:t>
            </a:r>
            <a:r>
              <a:rPr lang="en-US" sz="1200" b="0" i="0" kern="1200" dirty="0">
                <a:solidFill>
                  <a:schemeClr val="tx1"/>
                </a:solidFill>
                <a:effectLst/>
                <a:latin typeface="+mn-lt"/>
                <a:ea typeface="+mn-ea"/>
                <a:cs typeface="+mn-cs"/>
              </a:rPr>
              <a:t> Medium</a:t>
            </a:r>
          </a:p>
          <a:p>
            <a:endParaRPr lang="es-MX" dirty="0"/>
          </a:p>
        </p:txBody>
      </p:sp>
      <p:sp>
        <p:nvSpPr>
          <p:cNvPr id="4" name="Marcador de número de diapositiva 3"/>
          <p:cNvSpPr>
            <a:spLocks noGrp="1"/>
          </p:cNvSpPr>
          <p:nvPr>
            <p:ph type="sldNum" sz="quarter" idx="5"/>
          </p:nvPr>
        </p:nvSpPr>
        <p:spPr/>
        <p:txBody>
          <a:bodyPr/>
          <a:lstStyle/>
          <a:p>
            <a:fld id="{7E7203EF-64D0-4F90-A09E-90F11301C8D6}" type="slidenum">
              <a:rPr lang="en-CA" smtClean="0"/>
              <a:pPr/>
              <a:t>10</a:t>
            </a:fld>
            <a:endParaRPr lang="en-CA"/>
          </a:p>
        </p:txBody>
      </p:sp>
    </p:spTree>
    <p:extLst>
      <p:ext uri="{BB962C8B-B14F-4D97-AF65-F5344CB8AC3E}">
        <p14:creationId xmlns:p14="http://schemas.microsoft.com/office/powerpoint/2010/main" val="32343361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85D8D752-02DD-4783-8905-F6D2D7A9CA3D}" type="slidenum">
              <a:rPr lang="en-US" smtClean="0"/>
              <a:t>11</a:t>
            </a:fld>
            <a:endParaRPr lang="en-US"/>
          </a:p>
        </p:txBody>
      </p:sp>
    </p:spTree>
    <p:extLst>
      <p:ext uri="{BB962C8B-B14F-4D97-AF65-F5344CB8AC3E}">
        <p14:creationId xmlns:p14="http://schemas.microsoft.com/office/powerpoint/2010/main" val="14962466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480F8D-F565-F3E3-CC9C-DBE553FC4F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6047F1-6D0A-F2AC-2027-7A3649835EC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F173737-7D20-C245-C43D-53ED67787C4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effectLst/>
                <a:latin typeface="+mn-lt"/>
                <a:ea typeface="+mn-ea"/>
                <a:cs typeface="+mn-cs"/>
              </a:rPr>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Typical name:</a:t>
            </a:r>
            <a:r>
              <a:rPr lang="en-US" sz="1200" b="0" i="0" kern="1200" dirty="0">
                <a:solidFill>
                  <a:schemeClr val="tx1"/>
                </a:solidFill>
                <a:effectLst/>
                <a:latin typeface="+mn-lt"/>
                <a:ea typeface="+mn-ea"/>
                <a:cs typeface="+mn-cs"/>
              </a:rPr>
              <a:t> Agenda (Workshop / Day 1 – Internal Audit)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Audience</a:t>
            </a:r>
            <a:r>
              <a:rPr lang="en-US" sz="1200" b="0" i="0" kern="1200" dirty="0">
                <a:solidFill>
                  <a:schemeClr val="tx1"/>
                </a:solidFill>
                <a:effectLst/>
                <a:latin typeface="+mn-lt"/>
                <a:ea typeface="+mn-ea"/>
                <a:cs typeface="+mn-cs"/>
              </a:rPr>
              <a:t>: Director+ and working team</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Forum:</a:t>
            </a:r>
            <a:r>
              <a:rPr lang="en-US" sz="1200" b="0" i="0" kern="1200" dirty="0">
                <a:solidFill>
                  <a:schemeClr val="tx1"/>
                </a:solidFill>
                <a:effectLst/>
                <a:latin typeface="+mn-lt"/>
                <a:ea typeface="+mn-ea"/>
                <a:cs typeface="+mn-cs"/>
              </a:rPr>
              <a:t> Strategy workshop / offsite</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Slide Purpose:</a:t>
            </a:r>
            <a:r>
              <a:rPr lang="en-US" sz="1200" b="0" i="0" kern="1200" dirty="0">
                <a:solidFill>
                  <a:schemeClr val="tx1"/>
                </a:solidFill>
                <a:effectLst/>
                <a:latin typeface="+mn-lt"/>
                <a:ea typeface="+mn-ea"/>
                <a:cs typeface="+mn-cs"/>
              </a:rPr>
              <a:t> Show session flow, objectives, and activities</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Key Takeaway:</a:t>
            </a:r>
            <a:r>
              <a:rPr lang="en-US" sz="1200" b="0" i="0" kern="1200" dirty="0">
                <a:solidFill>
                  <a:schemeClr val="tx1"/>
                </a:solidFill>
                <a:effectLst/>
                <a:latin typeface="+mn-lt"/>
                <a:ea typeface="+mn-ea"/>
                <a:cs typeface="+mn-cs"/>
              </a:rPr>
              <a:t> “Day 1 progresses from context-setting to future-state ideation and alignment.”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Usage:</a:t>
            </a:r>
            <a:r>
              <a:rPr lang="en-US" sz="1200" b="0" i="0" kern="1200" dirty="0">
                <a:solidFill>
                  <a:schemeClr val="tx1"/>
                </a:solidFill>
                <a:effectLst/>
                <a:latin typeface="+mn-lt"/>
                <a:ea typeface="+mn-ea"/>
                <a:cs typeface="+mn-cs"/>
              </a:rPr>
              <a:t> In-session facilitation guide / pre-read</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Content Type:</a:t>
            </a:r>
            <a:r>
              <a:rPr lang="en-US" sz="1200" b="0" i="0" kern="1200" dirty="0">
                <a:solidFill>
                  <a:schemeClr val="tx1"/>
                </a:solidFill>
                <a:effectLst/>
                <a:latin typeface="+mn-lt"/>
                <a:ea typeface="+mn-ea"/>
                <a:cs typeface="+mn-cs"/>
              </a:rPr>
              <a:t> Agenda</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Position in Narrative:</a:t>
            </a:r>
            <a:r>
              <a:rPr lang="en-US" sz="1200" b="0" i="0" kern="1200" dirty="0">
                <a:solidFill>
                  <a:schemeClr val="tx1"/>
                </a:solidFill>
                <a:effectLst/>
                <a:latin typeface="+mn-lt"/>
                <a:ea typeface="+mn-ea"/>
                <a:cs typeface="+mn-cs"/>
              </a:rPr>
              <a:t> Opening / framing for workshop execution</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Information Density:</a:t>
            </a:r>
            <a:r>
              <a:rPr lang="en-US" sz="1200" b="0" i="0" kern="1200" dirty="0">
                <a:solidFill>
                  <a:schemeClr val="tx1"/>
                </a:solidFill>
                <a:effectLst/>
                <a:latin typeface="+mn-lt"/>
                <a:ea typeface="+mn-ea"/>
                <a:cs typeface="+mn-cs"/>
              </a:rPr>
              <a:t> Low</a:t>
            </a:r>
          </a:p>
          <a:p>
            <a:endParaRPr lang="en-US" dirty="0"/>
          </a:p>
        </p:txBody>
      </p:sp>
      <p:sp>
        <p:nvSpPr>
          <p:cNvPr id="4" name="Slide Number Placeholder 3">
            <a:extLst>
              <a:ext uri="{FF2B5EF4-FFF2-40B4-BE49-F238E27FC236}">
                <a16:creationId xmlns:a16="http://schemas.microsoft.com/office/drawing/2014/main" id="{2273DD95-425F-17B8-4D9F-8669680C8FEB}"/>
              </a:ext>
            </a:extLst>
          </p:cNvPr>
          <p:cNvSpPr>
            <a:spLocks noGrp="1"/>
          </p:cNvSpPr>
          <p:nvPr>
            <p:ph type="sldNum" sz="quarter" idx="5"/>
          </p:nvPr>
        </p:nvSpPr>
        <p:spPr/>
        <p:txBody>
          <a:bodyPr/>
          <a:lstStyle/>
          <a:p>
            <a:fld id="{7E7203EF-64D0-4F90-A09E-90F11301C8D6}" type="slidenum">
              <a:rPr lang="en-US" smtClean="0"/>
              <a:pPr/>
              <a:t>12</a:t>
            </a:fld>
            <a:endParaRPr lang="en-US"/>
          </a:p>
        </p:txBody>
      </p:sp>
    </p:spTree>
    <p:extLst>
      <p:ext uri="{BB962C8B-B14F-4D97-AF65-F5344CB8AC3E}">
        <p14:creationId xmlns:p14="http://schemas.microsoft.com/office/powerpoint/2010/main" val="25406059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1669A8D2-9DAC-4C37-B820-4E05FFB612EE}" type="slidenum">
              <a:rPr lang="en-CA" smtClean="0"/>
              <a:pPr/>
              <a:t>13</a:t>
            </a:fld>
            <a:endParaRPr lang="en-CA"/>
          </a:p>
        </p:txBody>
      </p:sp>
    </p:spTree>
    <p:extLst>
      <p:ext uri="{BB962C8B-B14F-4D97-AF65-F5344CB8AC3E}">
        <p14:creationId xmlns:p14="http://schemas.microsoft.com/office/powerpoint/2010/main" val="32172703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4133BCF8-79F2-4122-B229-1493462A556A}" type="slidenum">
              <a:rPr lang="en-CA" smtClean="0"/>
              <a:pPr/>
              <a:t>15</a:t>
            </a:fld>
            <a:endParaRPr lang="en-CA"/>
          </a:p>
        </p:txBody>
      </p:sp>
    </p:spTree>
    <p:extLst>
      <p:ext uri="{BB962C8B-B14F-4D97-AF65-F5344CB8AC3E}">
        <p14:creationId xmlns:p14="http://schemas.microsoft.com/office/powerpoint/2010/main" val="7878119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CA"/>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056BE4-3C3F-4A0D-920C-4B3CB0B902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50200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4DFB1AD8-02D1-4665-867A-2C6FE8D3A53D}" type="slidenum">
              <a:rPr lang="en-CA" smtClean="0"/>
              <a:pPr/>
              <a:t>17</a:t>
            </a:fld>
            <a:endParaRPr lang="en-CA"/>
          </a:p>
        </p:txBody>
      </p:sp>
    </p:spTree>
    <p:extLst>
      <p:ext uri="{BB962C8B-B14F-4D97-AF65-F5344CB8AC3E}">
        <p14:creationId xmlns:p14="http://schemas.microsoft.com/office/powerpoint/2010/main" val="29046987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eaLnBrk="1" fontAlgn="t" latinLnBrk="0" hangingPunct="1"/>
            <a:r>
              <a:rPr lang="en-CA" sz="1200" b="1" i="0" u="none" strike="noStrike" kern="1200" dirty="0">
                <a:solidFill>
                  <a:schemeClr val="tx1"/>
                </a:solidFill>
                <a:effectLst/>
                <a:latin typeface="+mn-lt"/>
                <a:ea typeface="+mn-ea"/>
                <a:cs typeface="+mn-cs"/>
              </a:rPr>
              <a:t>[Context]</a:t>
            </a:r>
          </a:p>
          <a:p>
            <a:pPr rtl="0" eaLnBrk="1" fontAlgn="t" latinLnBrk="0" hangingPunct="1"/>
            <a:r>
              <a:rPr lang="en-CA" sz="1200" b="0" i="0" u="sng" strike="noStrike" kern="1200" dirty="0">
                <a:solidFill>
                  <a:schemeClr val="tx1"/>
                </a:solidFill>
                <a:effectLst/>
                <a:latin typeface="+mn-lt"/>
                <a:ea typeface="+mn-ea"/>
                <a:cs typeface="+mn-cs"/>
              </a:rPr>
              <a:t>Typical name</a:t>
            </a:r>
            <a:r>
              <a:rPr lang="en-CA" sz="1200" b="0" i="0" u="none" strike="noStrike" kern="1200" dirty="0">
                <a:solidFill>
                  <a:schemeClr val="tx1"/>
                </a:solidFill>
                <a:effectLst/>
                <a:latin typeface="+mn-lt"/>
                <a:ea typeface="+mn-ea"/>
                <a:cs typeface="+mn-cs"/>
              </a:rPr>
              <a:t>: </a:t>
            </a:r>
            <a:r>
              <a:rPr lang="en-CA" sz="1200" dirty="0"/>
              <a:t>Board Update storyline or Outline</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Target Audience</a:t>
            </a:r>
            <a:r>
              <a:rPr lang="en-CA" sz="1200" b="0" i="0" u="none" strike="noStrike" kern="1200" dirty="0">
                <a:solidFill>
                  <a:schemeClr val="tx1"/>
                </a:solidFill>
                <a:effectLst/>
                <a:latin typeface="+mn-lt"/>
                <a:ea typeface="+mn-ea"/>
                <a:cs typeface="+mn-cs"/>
              </a:rPr>
              <a:t>: </a:t>
            </a:r>
            <a:r>
              <a:rPr lang="en-CA" sz="1200" dirty="0"/>
              <a:t>Project Sponsor typically SVP+ </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Target Forum</a:t>
            </a:r>
            <a:r>
              <a:rPr lang="en-CA" sz="1200" b="0" i="0" u="none" strike="noStrike" kern="1200" dirty="0">
                <a:solidFill>
                  <a:schemeClr val="tx1"/>
                </a:solidFill>
                <a:effectLst/>
                <a:latin typeface="+mn-lt"/>
                <a:ea typeface="+mn-ea"/>
                <a:cs typeface="+mn-cs"/>
              </a:rPr>
              <a:t>: </a:t>
            </a:r>
            <a:r>
              <a:rPr lang="en-CA" sz="1200" dirty="0"/>
              <a:t>Project </a:t>
            </a:r>
            <a:r>
              <a:rPr lang="en-CA" sz="1200" dirty="0" err="1"/>
              <a:t>SteerCo</a:t>
            </a:r>
            <a:r>
              <a:rPr lang="en-CA" sz="1200" dirty="0"/>
              <a:t> and Working team</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Slide Purpose</a:t>
            </a:r>
            <a:r>
              <a:rPr lang="en-CA" sz="1200" b="0" i="0" u="none" strike="noStrike" kern="1200" dirty="0">
                <a:solidFill>
                  <a:schemeClr val="tx1"/>
                </a:solidFill>
                <a:effectLst/>
                <a:latin typeface="+mn-lt"/>
                <a:ea typeface="+mn-ea"/>
                <a:cs typeface="+mn-cs"/>
              </a:rPr>
              <a:t>: </a:t>
            </a:r>
            <a:r>
              <a:rPr lang="en-CA" sz="1200" dirty="0"/>
              <a:t>Align team on key deliverables and structure of the final deliverable</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Key Takeaway</a:t>
            </a:r>
            <a:r>
              <a:rPr lang="en-CA" sz="1200" b="0" i="0" u="none" strike="noStrike" kern="1200" dirty="0">
                <a:solidFill>
                  <a:schemeClr val="tx1"/>
                </a:solidFill>
                <a:effectLst/>
                <a:latin typeface="+mn-lt"/>
                <a:ea typeface="+mn-ea"/>
                <a:cs typeface="+mn-cs"/>
              </a:rPr>
              <a:t>: “We have structured the board update around 2 main sections that represents the standard format for this update. The Go Forward strategy will articulate focus for 2027 and key priorities.</a:t>
            </a:r>
            <a:r>
              <a:rPr lang="en-CA" sz="1200" dirty="0"/>
              <a:t>”</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Usage</a:t>
            </a:r>
            <a:r>
              <a:rPr lang="en-CA" sz="1200" b="0" i="0" u="none" strike="noStrike" kern="1200" dirty="0">
                <a:solidFill>
                  <a:schemeClr val="tx1"/>
                </a:solidFill>
                <a:effectLst/>
                <a:latin typeface="+mn-lt"/>
                <a:ea typeface="+mn-ea"/>
                <a:cs typeface="+mn-cs"/>
              </a:rPr>
              <a:t>: </a:t>
            </a:r>
            <a:r>
              <a:rPr lang="en-CA" sz="1200" dirty="0"/>
              <a:t>In meeting discussion</a:t>
            </a:r>
            <a:endParaRPr lang="en-US" sz="1200" b="0" i="0" u="none" strike="noStrike"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dirty="0">
                <a:solidFill>
                  <a:schemeClr val="tx1"/>
                </a:solidFill>
                <a:effectLst/>
                <a:latin typeface="+mn-lt"/>
                <a:ea typeface="+mn-ea"/>
                <a:cs typeface="+mn-cs"/>
              </a:rPr>
              <a:t>Content Type</a:t>
            </a:r>
            <a:r>
              <a:rPr lang="en-CA" sz="1200" b="0" i="0" u="none" strike="noStrike" kern="1200" dirty="0">
                <a:solidFill>
                  <a:schemeClr val="tx1"/>
                </a:solidFill>
                <a:effectLst/>
                <a:latin typeface="+mn-lt"/>
                <a:ea typeface="+mn-ea"/>
                <a:cs typeface="+mn-cs"/>
              </a:rPr>
              <a:t>: </a:t>
            </a:r>
            <a:r>
              <a:rPr lang="en-CA" sz="1200" dirty="0"/>
              <a:t>Workplan /  High level Output</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Position in Narrative</a:t>
            </a:r>
            <a:r>
              <a:rPr lang="en-CA" sz="1200" b="0" i="0" u="none" strike="noStrike" kern="1200" dirty="0">
                <a:solidFill>
                  <a:schemeClr val="tx1"/>
                </a:solidFill>
                <a:effectLst/>
                <a:latin typeface="+mn-lt"/>
                <a:ea typeface="+mn-ea"/>
                <a:cs typeface="+mn-cs"/>
              </a:rPr>
              <a:t>: </a:t>
            </a:r>
            <a:r>
              <a:rPr lang="en-CA" sz="1200" dirty="0"/>
              <a:t>Setup and project management – typically used early in or prior to work kickoff</a:t>
            </a:r>
            <a:endParaRPr lang="en-US" sz="1200" b="0" i="0" u="none" strike="noStrike" kern="1200" dirty="0">
              <a:solidFill>
                <a:schemeClr val="tx1"/>
              </a:solidFill>
              <a:effectLst/>
              <a:latin typeface="+mn-lt"/>
              <a:ea typeface="+mn-ea"/>
              <a:cs typeface="+mn-cs"/>
            </a:endParaRPr>
          </a:p>
          <a:p>
            <a:pPr rtl="0" eaLnBrk="1" fontAlgn="t" latinLnBrk="0" hangingPunct="1"/>
            <a:r>
              <a:rPr lang="en-CA" sz="1200" b="0" i="0" u="sng" strike="noStrike" kern="1200" dirty="0">
                <a:solidFill>
                  <a:schemeClr val="tx1"/>
                </a:solidFill>
                <a:effectLst/>
                <a:latin typeface="+mn-lt"/>
                <a:ea typeface="+mn-ea"/>
                <a:cs typeface="+mn-cs"/>
              </a:rPr>
              <a:t>Information Density</a:t>
            </a:r>
            <a:r>
              <a:rPr lang="en-CA" sz="1200" b="0" i="0" u="none" strike="noStrike" kern="1200" dirty="0">
                <a:solidFill>
                  <a:schemeClr val="tx1"/>
                </a:solidFill>
                <a:effectLst/>
                <a:latin typeface="+mn-lt"/>
                <a:ea typeface="+mn-ea"/>
                <a:cs typeface="+mn-cs"/>
              </a:rPr>
              <a:t>: </a:t>
            </a:r>
            <a:r>
              <a:rPr lang="en-CA" sz="1200" dirty="0"/>
              <a:t>Detailed reference slide</a:t>
            </a:r>
            <a:endParaRPr lang="en-US" sz="1200" b="0" i="0" u="none" strike="noStrike" kern="1200" dirty="0">
              <a:solidFill>
                <a:schemeClr val="tx1"/>
              </a:solidFill>
              <a:effectLst/>
              <a:latin typeface="+mn-lt"/>
              <a:ea typeface="+mn-ea"/>
              <a:cs typeface="+mn-cs"/>
            </a:endParaRPr>
          </a:p>
          <a:p>
            <a:endParaRPr lang="en-CA" dirty="0"/>
          </a:p>
        </p:txBody>
      </p:sp>
      <p:sp>
        <p:nvSpPr>
          <p:cNvPr id="4" name="Slide Number Placeholder 3"/>
          <p:cNvSpPr>
            <a:spLocks noGrp="1"/>
          </p:cNvSpPr>
          <p:nvPr>
            <p:ph type="sldNum" sz="quarter" idx="5"/>
          </p:nvPr>
        </p:nvSpPr>
        <p:spPr/>
        <p:txBody>
          <a:bodyPr/>
          <a:lstStyle/>
          <a:p>
            <a:fld id="{884781F2-84E1-4FD0-96BC-5A28C1AAEF7A}" type="slidenum">
              <a:rPr lang="en-CA" smtClean="0"/>
              <a:t>19</a:t>
            </a:fld>
            <a:endParaRPr lang="en-CA"/>
          </a:p>
        </p:txBody>
      </p:sp>
    </p:spTree>
    <p:extLst>
      <p:ext uri="{BB962C8B-B14F-4D97-AF65-F5344CB8AC3E}">
        <p14:creationId xmlns:p14="http://schemas.microsoft.com/office/powerpoint/2010/main" val="276731227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eaLnBrk="1" fontAlgn="t" latinLnBrk="0" hangingPunct="1"/>
            <a:r>
              <a:rPr lang="en-CA" sz="1200" b="1" i="0" u="none" strike="noStrike" kern="1200">
                <a:solidFill>
                  <a:schemeClr val="tx1"/>
                </a:solidFill>
                <a:effectLst/>
                <a:latin typeface="+mn-lt"/>
                <a:ea typeface="+mn-ea"/>
                <a:cs typeface="+mn-cs"/>
              </a:rPr>
              <a:t>[Context]</a:t>
            </a:r>
          </a:p>
          <a:p>
            <a:pPr rtl="0" eaLnBrk="1" fontAlgn="t" latinLnBrk="0" hangingPunct="1"/>
            <a:r>
              <a:rPr lang="en-CA" sz="1200" b="0" i="0" u="sng" strike="noStrike" kern="1200">
                <a:solidFill>
                  <a:schemeClr val="tx1"/>
                </a:solidFill>
                <a:effectLst/>
                <a:latin typeface="+mn-lt"/>
                <a:ea typeface="+mn-ea"/>
                <a:cs typeface="+mn-cs"/>
              </a:rPr>
              <a:t>Typical name</a:t>
            </a:r>
            <a:r>
              <a:rPr lang="en-CA" sz="1200" b="0" i="0" u="none" strike="noStrike" kern="1200">
                <a:solidFill>
                  <a:schemeClr val="tx1"/>
                </a:solidFill>
                <a:effectLst/>
                <a:latin typeface="+mn-lt"/>
                <a:ea typeface="+mn-ea"/>
                <a:cs typeface="+mn-cs"/>
              </a:rPr>
              <a:t>: </a:t>
            </a:r>
            <a:r>
              <a:rPr lang="en-CA" sz="1200"/>
              <a:t>Project timeline and milestones</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Target Audience</a:t>
            </a:r>
            <a:r>
              <a:rPr lang="en-CA" sz="1200" b="0" i="0" u="none" strike="noStrike" kern="1200">
                <a:solidFill>
                  <a:schemeClr val="tx1"/>
                </a:solidFill>
                <a:effectLst/>
                <a:latin typeface="+mn-lt"/>
                <a:ea typeface="+mn-ea"/>
                <a:cs typeface="+mn-cs"/>
              </a:rPr>
              <a:t>: </a:t>
            </a:r>
            <a:r>
              <a:rPr lang="en-CA" sz="1200"/>
              <a:t>Project Sponsor typically SVP+ </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Target Forum</a:t>
            </a:r>
            <a:r>
              <a:rPr lang="en-CA" sz="1200" b="0" i="0" u="none" strike="noStrike" kern="1200">
                <a:solidFill>
                  <a:schemeClr val="tx1"/>
                </a:solidFill>
                <a:effectLst/>
                <a:latin typeface="+mn-lt"/>
                <a:ea typeface="+mn-ea"/>
                <a:cs typeface="+mn-cs"/>
              </a:rPr>
              <a:t>: </a:t>
            </a:r>
            <a:r>
              <a:rPr lang="en-CA" sz="1200"/>
              <a:t>Project </a:t>
            </a:r>
            <a:r>
              <a:rPr lang="en-CA" sz="1200" err="1"/>
              <a:t>SteerCo</a:t>
            </a:r>
            <a:r>
              <a:rPr lang="en-CA" sz="1200"/>
              <a:t> and Working team</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Slide Purpose</a:t>
            </a:r>
            <a:r>
              <a:rPr lang="en-CA" sz="1200" b="0" i="0" u="none" strike="noStrike" kern="1200">
                <a:solidFill>
                  <a:schemeClr val="tx1"/>
                </a:solidFill>
                <a:effectLst/>
                <a:latin typeface="+mn-lt"/>
                <a:ea typeface="+mn-ea"/>
                <a:cs typeface="+mn-cs"/>
              </a:rPr>
              <a:t>: </a:t>
            </a:r>
            <a:r>
              <a:rPr lang="en-CA" sz="1200"/>
              <a:t>Inform &amp; Align on timelines</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Key Takeaway</a:t>
            </a:r>
            <a:r>
              <a:rPr lang="en-CA" sz="1200" b="0" i="0" u="none" strike="noStrike" kern="1200">
                <a:solidFill>
                  <a:schemeClr val="tx1"/>
                </a:solidFill>
                <a:effectLst/>
                <a:latin typeface="+mn-lt"/>
                <a:ea typeface="+mn-ea"/>
                <a:cs typeface="+mn-cs"/>
              </a:rPr>
              <a:t>: “</a:t>
            </a:r>
            <a:r>
              <a:rPr lang="en-CA" sz="1200"/>
              <a:t>We will have 5 steerco meetings scheduled around critical dates and milestones to align on the answer in time for the Board </a:t>
            </a:r>
            <a:r>
              <a:rPr lang="en-CA" sz="1200" err="1"/>
              <a:t>meetign</a:t>
            </a:r>
            <a:r>
              <a:rPr lang="en-CA" sz="1200"/>
              <a:t>”</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Usage</a:t>
            </a:r>
            <a:r>
              <a:rPr lang="en-CA" sz="1200" b="0" i="0" u="none" strike="noStrike" kern="1200">
                <a:solidFill>
                  <a:schemeClr val="tx1"/>
                </a:solidFill>
                <a:effectLst/>
                <a:latin typeface="+mn-lt"/>
                <a:ea typeface="+mn-ea"/>
                <a:cs typeface="+mn-cs"/>
              </a:rPr>
              <a:t>: </a:t>
            </a:r>
            <a:r>
              <a:rPr lang="en-CA" sz="1200"/>
              <a:t>In meeting discussion</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Content Type</a:t>
            </a:r>
            <a:r>
              <a:rPr lang="en-CA" sz="1200" b="0" i="0" u="none" strike="noStrike" kern="1200">
                <a:solidFill>
                  <a:schemeClr val="tx1"/>
                </a:solidFill>
                <a:effectLst/>
                <a:latin typeface="+mn-lt"/>
                <a:ea typeface="+mn-ea"/>
                <a:cs typeface="+mn-cs"/>
              </a:rPr>
              <a:t>: </a:t>
            </a:r>
            <a:r>
              <a:rPr lang="en-CA" sz="1200"/>
              <a:t>Workplan /  Timelines</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Position in Narrative</a:t>
            </a:r>
            <a:r>
              <a:rPr lang="en-CA" sz="1200" b="0" i="0" u="none" strike="noStrike" kern="1200">
                <a:solidFill>
                  <a:schemeClr val="tx1"/>
                </a:solidFill>
                <a:effectLst/>
                <a:latin typeface="+mn-lt"/>
                <a:ea typeface="+mn-ea"/>
                <a:cs typeface="+mn-cs"/>
              </a:rPr>
              <a:t>: </a:t>
            </a:r>
            <a:r>
              <a:rPr lang="en-CA" sz="1200"/>
              <a:t>Setup and project management – typically used early in or prior to work kickoff</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Information Density</a:t>
            </a:r>
            <a:r>
              <a:rPr lang="en-CA" sz="1200" b="0" i="0" u="none" strike="noStrike" kern="1200">
                <a:solidFill>
                  <a:schemeClr val="tx1"/>
                </a:solidFill>
                <a:effectLst/>
                <a:latin typeface="+mn-lt"/>
                <a:ea typeface="+mn-ea"/>
                <a:cs typeface="+mn-cs"/>
              </a:rPr>
              <a:t>: </a:t>
            </a:r>
            <a:r>
              <a:rPr lang="en-CA" sz="1200"/>
              <a:t>Detailed reference slide</a:t>
            </a:r>
            <a:endParaRPr lang="en-US" sz="1200" b="0" i="0" u="none" strike="noStrike" kern="1200">
              <a:solidFill>
                <a:schemeClr val="tx1"/>
              </a:solidFill>
              <a:effectLst/>
              <a:latin typeface="+mn-lt"/>
              <a:ea typeface="+mn-ea"/>
              <a:cs typeface="+mn-cs"/>
            </a:endParaRPr>
          </a:p>
          <a:p>
            <a:endParaRPr lang="en-US"/>
          </a:p>
        </p:txBody>
      </p:sp>
      <p:sp>
        <p:nvSpPr>
          <p:cNvPr id="4" name="Slide Number Placeholder 3"/>
          <p:cNvSpPr>
            <a:spLocks noGrp="1"/>
          </p:cNvSpPr>
          <p:nvPr>
            <p:ph type="sldNum" sz="quarter" idx="5"/>
          </p:nvPr>
        </p:nvSpPr>
        <p:spPr/>
        <p:txBody>
          <a:bodyPr/>
          <a:lstStyle/>
          <a:p>
            <a:fld id="{884781F2-84E1-4FD0-96BC-5A28C1AAEF7A}" type="slidenum">
              <a:rPr lang="en-CA" smtClean="0"/>
              <a:t>21</a:t>
            </a:fld>
            <a:endParaRPr lang="en-CA"/>
          </a:p>
        </p:txBody>
      </p:sp>
    </p:spTree>
    <p:extLst>
      <p:ext uri="{BB962C8B-B14F-4D97-AF65-F5344CB8AC3E}">
        <p14:creationId xmlns:p14="http://schemas.microsoft.com/office/powerpoint/2010/main" val="229723331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69A8D2-9DAC-4C37-B820-4E05FFB612EE}" type="slidenum">
              <a:rPr kumimoji="0" lang="en-CA"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CA"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934950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355"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9227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355" rtl="0" eaLnBrk="1" fontAlgn="auto" latinLnBrk="0" hangingPunct="1">
              <a:lnSpc>
                <a:spcPct val="100000"/>
              </a:lnSpc>
              <a:spcBef>
                <a:spcPts val="0"/>
              </a:spcBef>
              <a:spcAft>
                <a:spcPts val="0"/>
              </a:spcAft>
              <a:buClrTx/>
              <a:buSzTx/>
              <a:buFontTx/>
              <a:buNone/>
              <a:tabLst/>
              <a:defRPr/>
            </a:pPr>
            <a:fld id="{6BCB5711-DA30-9A41-8B82-7B31DCE5A28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355"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23783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69A8D2-9DAC-4C37-B820-4E05FFB612E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0905251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eaLnBrk="1" fontAlgn="t" latinLnBrk="0" hangingPunct="1"/>
            <a:r>
              <a:rPr lang="en-CA" sz="1200" b="1" i="0" u="none" strike="noStrike" kern="1200">
                <a:solidFill>
                  <a:schemeClr val="tx1"/>
                </a:solidFill>
                <a:effectLst/>
                <a:latin typeface="+mn-lt"/>
                <a:ea typeface="+mn-ea"/>
                <a:cs typeface="+mn-cs"/>
              </a:rPr>
              <a:t>[Context]</a:t>
            </a:r>
          </a:p>
          <a:p>
            <a:pPr rtl="0" eaLnBrk="1" fontAlgn="t" latinLnBrk="0" hangingPunct="1"/>
            <a:r>
              <a:rPr lang="en-CA" sz="1200" b="0" i="0" u="sng" strike="noStrike" kern="1200">
                <a:solidFill>
                  <a:schemeClr val="tx1"/>
                </a:solidFill>
                <a:effectLst/>
                <a:latin typeface="+mn-lt"/>
                <a:ea typeface="+mn-ea"/>
                <a:cs typeface="+mn-cs"/>
              </a:rPr>
              <a:t>Typical name</a:t>
            </a:r>
            <a:r>
              <a:rPr lang="en-CA" sz="1200" b="0" i="0" u="none" strike="noStrike" kern="1200">
                <a:solidFill>
                  <a:schemeClr val="tx1"/>
                </a:solidFill>
                <a:effectLst/>
                <a:latin typeface="+mn-lt"/>
                <a:ea typeface="+mn-ea"/>
                <a:cs typeface="+mn-cs"/>
              </a:rPr>
              <a:t>: </a:t>
            </a:r>
            <a:r>
              <a:rPr lang="en-CA" sz="1200"/>
              <a:t>project governance</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Target Audience</a:t>
            </a:r>
            <a:r>
              <a:rPr lang="en-CA" sz="1200" b="0" i="0" u="none" strike="noStrike" kern="1200">
                <a:solidFill>
                  <a:schemeClr val="tx1"/>
                </a:solidFill>
                <a:effectLst/>
                <a:latin typeface="+mn-lt"/>
                <a:ea typeface="+mn-ea"/>
                <a:cs typeface="+mn-cs"/>
              </a:rPr>
              <a:t>: </a:t>
            </a:r>
            <a:r>
              <a:rPr lang="en-CA" sz="1200"/>
              <a:t>Project Sponsor typically SVP+ </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Target Forum</a:t>
            </a:r>
            <a:r>
              <a:rPr lang="en-CA" sz="1200" b="0" i="0" u="none" strike="noStrike" kern="1200">
                <a:solidFill>
                  <a:schemeClr val="tx1"/>
                </a:solidFill>
                <a:effectLst/>
                <a:latin typeface="+mn-lt"/>
                <a:ea typeface="+mn-ea"/>
                <a:cs typeface="+mn-cs"/>
              </a:rPr>
              <a:t>: </a:t>
            </a:r>
            <a:r>
              <a:rPr lang="en-CA" sz="1200"/>
              <a:t>Project </a:t>
            </a:r>
            <a:r>
              <a:rPr lang="en-CA" sz="1200" err="1"/>
              <a:t>SteerCo</a:t>
            </a:r>
            <a:r>
              <a:rPr lang="en-CA" sz="1200"/>
              <a:t> and Working team</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Slide Purpose</a:t>
            </a:r>
            <a:r>
              <a:rPr lang="en-CA" sz="1200" b="0" i="0" u="none" strike="noStrike" kern="1200">
                <a:solidFill>
                  <a:schemeClr val="tx1"/>
                </a:solidFill>
                <a:effectLst/>
                <a:latin typeface="+mn-lt"/>
                <a:ea typeface="+mn-ea"/>
                <a:cs typeface="+mn-cs"/>
              </a:rPr>
              <a:t>: </a:t>
            </a:r>
            <a:r>
              <a:rPr lang="en-CA" sz="1200"/>
              <a:t>Inform &amp; Align on roles and responsibilities across the project team</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Key Takeaway</a:t>
            </a:r>
            <a:r>
              <a:rPr lang="en-CA" sz="1200" b="0" i="0" u="none" strike="noStrike" kern="1200">
                <a:solidFill>
                  <a:schemeClr val="tx1"/>
                </a:solidFill>
                <a:effectLst/>
                <a:latin typeface="+mn-lt"/>
                <a:ea typeface="+mn-ea"/>
                <a:cs typeface="+mn-cs"/>
              </a:rPr>
              <a:t>: “</a:t>
            </a:r>
            <a:r>
              <a:rPr lang="en-CA" sz="1200"/>
              <a:t>Align on the who, what and review cadence of the project”</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Usage</a:t>
            </a:r>
            <a:r>
              <a:rPr lang="en-CA" sz="1200" b="0" i="0" u="none" strike="noStrike" kern="1200">
                <a:solidFill>
                  <a:schemeClr val="tx1"/>
                </a:solidFill>
                <a:effectLst/>
                <a:latin typeface="+mn-lt"/>
                <a:ea typeface="+mn-ea"/>
                <a:cs typeface="+mn-cs"/>
              </a:rPr>
              <a:t>: </a:t>
            </a:r>
            <a:r>
              <a:rPr lang="en-CA" sz="1200"/>
              <a:t>In meeting discussion but also used in pre-reads</a:t>
            </a:r>
            <a:endParaRPr lang="en-US" sz="1200" b="0" i="0" u="none" strike="noStrike"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CA" sz="1200" b="0" i="0" u="sng" strike="noStrike" kern="1200">
                <a:solidFill>
                  <a:schemeClr val="tx1"/>
                </a:solidFill>
                <a:effectLst/>
                <a:latin typeface="+mn-lt"/>
                <a:ea typeface="+mn-ea"/>
                <a:cs typeface="+mn-cs"/>
              </a:rPr>
              <a:t>Content Type</a:t>
            </a:r>
            <a:r>
              <a:rPr lang="en-CA" sz="1200" b="0" i="0" u="none" strike="noStrike" kern="1200">
                <a:solidFill>
                  <a:schemeClr val="tx1"/>
                </a:solidFill>
                <a:effectLst/>
                <a:latin typeface="+mn-lt"/>
                <a:ea typeface="+mn-ea"/>
                <a:cs typeface="+mn-cs"/>
              </a:rPr>
              <a:t>: </a:t>
            </a:r>
            <a:r>
              <a:rPr lang="en-CA" sz="1200"/>
              <a:t>Project Team /  Project Governance</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Position in Narrative</a:t>
            </a:r>
            <a:r>
              <a:rPr lang="en-CA" sz="1200" b="0" i="0" u="none" strike="noStrike" kern="1200">
                <a:solidFill>
                  <a:schemeClr val="tx1"/>
                </a:solidFill>
                <a:effectLst/>
                <a:latin typeface="+mn-lt"/>
                <a:ea typeface="+mn-ea"/>
                <a:cs typeface="+mn-cs"/>
              </a:rPr>
              <a:t>: </a:t>
            </a:r>
            <a:r>
              <a:rPr lang="en-CA" sz="1200"/>
              <a:t>Setup and project management – typically used early in or prior to work kickoff</a:t>
            </a:r>
            <a:endParaRPr lang="en-US" sz="1200" b="0" i="0" u="none" strike="noStrike" kern="1200">
              <a:solidFill>
                <a:schemeClr val="tx1"/>
              </a:solidFill>
              <a:effectLst/>
              <a:latin typeface="+mn-lt"/>
              <a:ea typeface="+mn-ea"/>
              <a:cs typeface="+mn-cs"/>
            </a:endParaRPr>
          </a:p>
          <a:p>
            <a:pPr rtl="0" eaLnBrk="1" fontAlgn="t" latinLnBrk="0" hangingPunct="1"/>
            <a:r>
              <a:rPr lang="en-CA" sz="1200" b="0" i="0" u="sng" strike="noStrike" kern="1200">
                <a:solidFill>
                  <a:schemeClr val="tx1"/>
                </a:solidFill>
                <a:effectLst/>
                <a:latin typeface="+mn-lt"/>
                <a:ea typeface="+mn-ea"/>
                <a:cs typeface="+mn-cs"/>
              </a:rPr>
              <a:t>Information Density</a:t>
            </a:r>
            <a:r>
              <a:rPr lang="en-CA" sz="1200" b="0" i="0" u="none" strike="noStrike" kern="1200">
                <a:solidFill>
                  <a:schemeClr val="tx1"/>
                </a:solidFill>
                <a:effectLst/>
                <a:latin typeface="+mn-lt"/>
                <a:ea typeface="+mn-ea"/>
                <a:cs typeface="+mn-cs"/>
              </a:rPr>
              <a:t>: </a:t>
            </a:r>
            <a:r>
              <a:rPr lang="en-CA" sz="1200"/>
              <a:t>Detailed reference slide</a:t>
            </a:r>
            <a:endParaRPr lang="en-US" sz="1200" b="0" i="0" u="none" strike="noStrike" kern="1200">
              <a:solidFill>
                <a:schemeClr val="tx1"/>
              </a:solidFill>
              <a:effectLst/>
              <a:latin typeface="+mn-lt"/>
              <a:ea typeface="+mn-ea"/>
              <a:cs typeface="+mn-cs"/>
            </a:endParaRPr>
          </a:p>
          <a:p>
            <a:endParaRPr lang="en-CA"/>
          </a:p>
        </p:txBody>
      </p:sp>
      <p:sp>
        <p:nvSpPr>
          <p:cNvPr id="4" name="Slide Number Placeholder 3"/>
          <p:cNvSpPr>
            <a:spLocks noGrp="1"/>
          </p:cNvSpPr>
          <p:nvPr>
            <p:ph type="sldNum" sz="quarter" idx="5"/>
          </p:nvPr>
        </p:nvSpPr>
        <p:spPr/>
        <p:txBody>
          <a:bodyPr/>
          <a:lstStyle/>
          <a:p>
            <a:fld id="{884781F2-84E1-4FD0-96BC-5A28C1AAEF7A}" type="slidenum">
              <a:rPr lang="en-CA" smtClean="0"/>
              <a:t>29</a:t>
            </a:fld>
            <a:endParaRPr lang="en-CA"/>
          </a:p>
        </p:txBody>
      </p:sp>
    </p:spTree>
    <p:extLst>
      <p:ext uri="{BB962C8B-B14F-4D97-AF65-F5344CB8AC3E}">
        <p14:creationId xmlns:p14="http://schemas.microsoft.com/office/powerpoint/2010/main" val="18816557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AF0EF8-B6FE-D750-BE89-C235A98BC7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0FD5FB-45B7-B7E7-F2FE-DF0A1D1F7903}"/>
              </a:ext>
            </a:extLst>
          </p:cNvPr>
          <p:cNvSpPr>
            <a:spLocks noGrp="1" noRot="1" noChangeAspect="1"/>
          </p:cNvSpPr>
          <p:nvPr>
            <p:ph type="sldImg"/>
          </p:nvPr>
        </p:nvSpPr>
        <p:spPr>
          <a:xfrm>
            <a:off x="736600" y="1154113"/>
            <a:ext cx="5537200" cy="3116262"/>
          </a:xfrm>
        </p:spPr>
        <p:txBody>
          <a:bodyPr/>
          <a:lstStyle/>
          <a:p>
            <a:endParaRPr lang="en-US"/>
          </a:p>
        </p:txBody>
      </p:sp>
      <p:sp>
        <p:nvSpPr>
          <p:cNvPr id="3" name="Notes Placeholder 2">
            <a:extLst>
              <a:ext uri="{FF2B5EF4-FFF2-40B4-BE49-F238E27FC236}">
                <a16:creationId xmlns:a16="http://schemas.microsoft.com/office/drawing/2014/main" id="{66E12A83-A6A7-0ABE-4088-1790B489C10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effectLst/>
                <a:latin typeface="+mn-lt"/>
                <a:ea typeface="+mn-ea"/>
                <a:cs typeface="+mn-cs"/>
              </a:rPr>
              <a:t>[Context]</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Typical name:</a:t>
            </a:r>
            <a:r>
              <a:rPr lang="en-US" sz="1200" b="0" i="0" kern="1200" dirty="0">
                <a:solidFill>
                  <a:schemeClr val="tx1"/>
                </a:solidFill>
                <a:effectLst/>
                <a:latin typeface="+mn-lt"/>
                <a:ea typeface="+mn-ea"/>
                <a:cs typeface="+mn-cs"/>
              </a:rPr>
              <a:t> Current State / First Impressions (Market Diagnostic – Retail)</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Audience:</a:t>
            </a:r>
            <a:r>
              <a:rPr lang="en-US" sz="1200" b="0" i="0" kern="1200" dirty="0">
                <a:solidFill>
                  <a:schemeClr val="tx1"/>
                </a:solidFill>
                <a:effectLst/>
                <a:latin typeface="+mn-lt"/>
                <a:ea typeface="+mn-ea"/>
                <a:cs typeface="+mn-cs"/>
              </a:rPr>
              <a:t> Board of Directors / Executive Committee (SVP+)</a:t>
            </a:r>
            <a:br>
              <a:rPr lang="en-US" sz="1200" b="0" i="0" kern="1200" dirty="0">
                <a:solidFill>
                  <a:schemeClr val="tx1"/>
                </a:solidFill>
                <a:effectLst/>
                <a:latin typeface="+mn-lt"/>
                <a:ea typeface="+mn-ea"/>
                <a:cs typeface="+mn-cs"/>
              </a:rPr>
            </a:br>
            <a:r>
              <a:rPr lang="en-US" sz="1200" b="0" i="0" u="sng" kern="1200" dirty="0">
                <a:solidFill>
                  <a:schemeClr val="tx1"/>
                </a:solidFill>
                <a:effectLst/>
                <a:latin typeface="+mn-lt"/>
                <a:ea typeface="+mn-ea"/>
                <a:cs typeface="+mn-cs"/>
              </a:rPr>
              <a:t>Target Forum:</a:t>
            </a:r>
            <a:r>
              <a:rPr lang="en-US" sz="1200" b="0" i="0" kern="1200" dirty="0">
                <a:solidFill>
                  <a:schemeClr val="tx1"/>
                </a:solidFill>
                <a:effectLst/>
                <a:latin typeface="+mn-lt"/>
                <a:ea typeface="+mn-ea"/>
                <a:cs typeface="+mn-cs"/>
              </a:rPr>
              <a:t> Board Strategy Session / </a:t>
            </a:r>
            <a:r>
              <a:rPr lang="en-US" sz="1200" b="0" i="0" kern="1200" dirty="0" err="1">
                <a:solidFill>
                  <a:schemeClr val="tx1"/>
                </a:solidFill>
                <a:effectLst/>
                <a:latin typeface="+mn-lt"/>
                <a:ea typeface="+mn-ea"/>
                <a:cs typeface="+mn-cs"/>
              </a:rPr>
              <a:t>OpCo</a:t>
            </a:r>
            <a:r>
              <a:rPr lang="en-US" sz="1200" b="0" i="0" kern="1200" dirty="0">
                <a:solidFill>
                  <a:schemeClr val="tx1"/>
                </a:solidFill>
                <a:effectLst/>
                <a:latin typeface="+mn-lt"/>
                <a:ea typeface="+mn-ea"/>
                <a:cs typeface="+mn-cs"/>
              </a:rPr>
              <a:t> review</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Slide Purpose:</a:t>
            </a:r>
            <a:r>
              <a:rPr lang="en-US" sz="1200" b="0" i="0" kern="1200" dirty="0">
                <a:solidFill>
                  <a:schemeClr val="tx1"/>
                </a:solidFill>
                <a:effectLst/>
                <a:latin typeface="+mn-lt"/>
                <a:ea typeface="+mn-ea"/>
                <a:cs typeface="+mn-cs"/>
              </a:rPr>
              <a:t> Diagnose current performance and highlight key structural gaps</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Key Takeaway:</a:t>
            </a:r>
            <a:r>
              <a:rPr lang="en-US" sz="1200" b="0" i="0" kern="1200" dirty="0">
                <a:solidFill>
                  <a:schemeClr val="tx1"/>
                </a:solidFill>
                <a:effectLst/>
                <a:latin typeface="+mn-lt"/>
                <a:ea typeface="+mn-ea"/>
                <a:cs typeface="+mn-cs"/>
              </a:rPr>
              <a:t> “Growth is driven by mortgages and cost efficiencies, but underlying client and revenue growth remain constrained, with foundational enablers underdeveloped.”</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Usage:</a:t>
            </a:r>
            <a:r>
              <a:rPr lang="en-US" sz="1200" b="0" i="0" kern="1200" dirty="0">
                <a:solidFill>
                  <a:schemeClr val="tx1"/>
                </a:solidFill>
                <a:effectLst/>
                <a:latin typeface="+mn-lt"/>
                <a:ea typeface="+mn-ea"/>
                <a:cs typeface="+mn-cs"/>
              </a:rPr>
              <a:t> Pre-read and in-meeting context setting</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Content Type:</a:t>
            </a:r>
            <a:r>
              <a:rPr lang="en-US" sz="1200" b="0" i="0" kern="1200" dirty="0">
                <a:solidFill>
                  <a:schemeClr val="tx1"/>
                </a:solidFill>
                <a:effectLst/>
                <a:latin typeface="+mn-lt"/>
                <a:ea typeface="+mn-ea"/>
                <a:cs typeface="+mn-cs"/>
              </a:rPr>
              <a:t> Diagnostic (performance + drivers + gaps)</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Position in Narrative:</a:t>
            </a:r>
            <a:r>
              <a:rPr lang="en-US" sz="1200" b="0" i="0" kern="1200" dirty="0">
                <a:solidFill>
                  <a:schemeClr val="tx1"/>
                </a:solidFill>
                <a:effectLst/>
                <a:latin typeface="+mn-lt"/>
                <a:ea typeface="+mn-ea"/>
                <a:cs typeface="+mn-cs"/>
              </a:rPr>
              <a:t> Early context-setting ahead of strategy / deep dives</a:t>
            </a:r>
            <a:br>
              <a:rPr lang="en-US" sz="1200" b="0" i="0" kern="1200" dirty="0">
                <a:solidFill>
                  <a:schemeClr val="tx1"/>
                </a:solidFill>
                <a:effectLst/>
                <a:latin typeface="+mn-lt"/>
                <a:ea typeface="+mn-ea"/>
                <a:cs typeface="+mn-cs"/>
              </a:rPr>
            </a:br>
            <a:r>
              <a:rPr lang="en-US" sz="1200" b="1" i="0" kern="1200" dirty="0">
                <a:solidFill>
                  <a:schemeClr val="tx1"/>
                </a:solidFill>
                <a:effectLst/>
                <a:latin typeface="+mn-lt"/>
                <a:ea typeface="+mn-ea"/>
                <a:cs typeface="+mn-cs"/>
              </a:rPr>
              <a:t>Information Density:</a:t>
            </a:r>
            <a:r>
              <a:rPr lang="en-US" sz="1200" b="0" i="0" kern="1200" dirty="0">
                <a:solidFill>
                  <a:schemeClr val="tx1"/>
                </a:solidFill>
                <a:effectLst/>
                <a:latin typeface="+mn-lt"/>
                <a:ea typeface="+mn-ea"/>
                <a:cs typeface="+mn-cs"/>
              </a:rPr>
              <a:t> High</a:t>
            </a:r>
          </a:p>
          <a:p>
            <a:endParaRPr lang="en-US" dirty="0"/>
          </a:p>
        </p:txBody>
      </p:sp>
      <p:sp>
        <p:nvSpPr>
          <p:cNvPr id="4" name="Slide Number Placeholder 3">
            <a:extLst>
              <a:ext uri="{FF2B5EF4-FFF2-40B4-BE49-F238E27FC236}">
                <a16:creationId xmlns:a16="http://schemas.microsoft.com/office/drawing/2014/main" id="{4B9B5922-01A7-5C2A-CD95-C12ECF2E6D48}"/>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3A4D0807-16FF-4D2A-8638-D1EE70FC0C7A}"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027296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2DD7F6-029F-C2E5-3FA6-33D5F83288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02CA2C-4395-61DC-255A-2FBD7E705B1E}"/>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DDB17013-A47C-E79F-C1E1-4FF12AEEA90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1772065-2A5D-E7AD-E9EC-D14D1DFBF8A4}"/>
              </a:ext>
            </a:extLst>
          </p:cNvPr>
          <p:cNvSpPr>
            <a:spLocks noGrp="1"/>
          </p:cNvSpPr>
          <p:nvPr>
            <p:ph type="sldNum" sz="quarter" idx="5"/>
          </p:nvPr>
        </p:nvSpPr>
        <p:spPr/>
        <p:txBody>
          <a:bodyPr/>
          <a:lstStyle/>
          <a:p>
            <a:fld id="{D6DDB4C8-BA8F-42C0-B327-C192891CB5A0}" type="slidenum">
              <a:rPr lang="en-US" smtClean="0"/>
              <a:t>32</a:t>
            </a:fld>
            <a:endParaRPr lang="en-US"/>
          </a:p>
        </p:txBody>
      </p:sp>
    </p:spTree>
    <p:extLst>
      <p:ext uri="{BB962C8B-B14F-4D97-AF65-F5344CB8AC3E}">
        <p14:creationId xmlns:p14="http://schemas.microsoft.com/office/powerpoint/2010/main" val="946586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187CB3-7A62-8327-1CB4-C5D02B9114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7B2823-834E-3AE3-D9C2-C3FC239FE4A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845524D-831A-B1C3-3222-15492AAE698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04BEE47-F936-CB10-D74E-97F09E63C6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0368F2-146B-4F0F-8172-5F9412A3279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8914936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0368F2-146B-4F0F-8172-5F9412A3279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9061842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ABE5B4-07E6-484E-8C5A-429A56388EBF}"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9651657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a:t>Onboarding (Based on Adrian’s team’s analysis): </a:t>
            </a:r>
          </a:p>
          <a:p>
            <a:pPr marL="171450" indent="-171450">
              <a:buFont typeface="Arial" panose="020B0604020202020204" pitchFamily="34" charset="0"/>
              <a:buChar char="•"/>
            </a:pPr>
            <a:r>
              <a:rPr lang="en-CA" err="1"/>
              <a:t>Wealthsimple</a:t>
            </a:r>
            <a:r>
              <a:rPr lang="en-CA"/>
              <a:t> is the easiest (E</a:t>
            </a:r>
            <a:r>
              <a:rPr lang="en-US" err="1"/>
              <a:t>asy</a:t>
            </a:r>
            <a:r>
              <a:rPr lang="en-US"/>
              <a:t> process, questions are worded in simple terms, with a blurb for explanation and icons/pictures to better understand the question. The process took less 5-7 mins</a:t>
            </a:r>
            <a:r>
              <a:rPr lang="en-CA"/>
              <a:t>), it is similar to Questrade. </a:t>
            </a:r>
            <a:r>
              <a:rPr lang="en-CA" err="1"/>
              <a:t>Wealthsimple</a:t>
            </a:r>
            <a:r>
              <a:rPr lang="en-CA"/>
              <a:t> enable same-day approval and trading while Questrade generally enables it on next business day. </a:t>
            </a:r>
          </a:p>
          <a:p>
            <a:pPr marL="171450" indent="-171450">
              <a:buFont typeface="Arial" panose="020B0604020202020204" pitchFamily="34" charset="0"/>
              <a:buChar char="•"/>
            </a:pPr>
            <a:r>
              <a:rPr lang="en-CA"/>
              <a:t>TD and RBC accounts can be opened through mobile app (i.e., their banking apps) vs. BMO, CIBC and iTRADE cannot be opened via app. Hence, TD and RBC are rated better than rest three banks.</a:t>
            </a:r>
          </a:p>
          <a:p>
            <a:pPr marL="171450" indent="-171450">
              <a:buFont typeface="Arial" panose="020B0604020202020204" pitchFamily="34" charset="0"/>
              <a:buChar char="•"/>
            </a:pPr>
            <a:r>
              <a:rPr lang="en-CA"/>
              <a:t>TD has easier application process vs. RBC and iTRADE. Hence, rated better than RBC.</a:t>
            </a:r>
          </a:p>
          <a:p>
            <a:pPr marL="171450" indent="-171450">
              <a:buFont typeface="Arial" panose="020B0604020202020204" pitchFamily="34" charset="0"/>
              <a:buChar char="•"/>
            </a:pPr>
            <a:r>
              <a:rPr lang="en-CA"/>
              <a:t>Overall ease of user: Similar across iTRADE, RBC, BMO and CIBC </a:t>
            </a:r>
          </a:p>
          <a:p>
            <a:pPr marL="171450" indent="-171450">
              <a:buFont typeface="Arial" panose="020B0604020202020204" pitchFamily="34" charset="0"/>
              <a:buChar char="•"/>
            </a:pPr>
            <a:endParaRPr lang="en-CA"/>
          </a:p>
          <a:p>
            <a:pPr marL="0" indent="0">
              <a:buFont typeface="Arial" panose="020B0604020202020204" pitchFamily="34" charset="0"/>
              <a:buNone/>
            </a:pPr>
            <a:r>
              <a:rPr lang="en-CA"/>
              <a:t>Product Suite (Based on Competitive Analysis shared by George’s team):</a:t>
            </a:r>
          </a:p>
          <a:p>
            <a:pPr marL="171450" indent="-171450">
              <a:buFont typeface="Arial" panose="020B0604020202020204" pitchFamily="34" charset="0"/>
              <a:buChar char="•"/>
            </a:pPr>
            <a:r>
              <a:rPr lang="en-CA"/>
              <a:t>TD has most broad range of products, including Online Global trading and Online Gold/Silver; Only Bank to offer Fractional Trading</a:t>
            </a:r>
          </a:p>
          <a:p>
            <a:pPr marL="171450" indent="-171450">
              <a:buFont typeface="Arial" panose="020B0604020202020204" pitchFamily="34" charset="0"/>
              <a:buChar char="•"/>
            </a:pPr>
            <a:r>
              <a:rPr lang="en-CA"/>
              <a:t>Other Banks have Stocks, ETFs, MFs, Options, GICs, Fixed Income and some of the other products (Global trading, Gold/Silver) over Phone</a:t>
            </a:r>
          </a:p>
          <a:p>
            <a:pPr marL="171450" indent="-171450">
              <a:buFont typeface="Arial" panose="020B0604020202020204" pitchFamily="34" charset="0"/>
              <a:buChar char="•"/>
            </a:pPr>
            <a:r>
              <a:rPr lang="en-CA" err="1"/>
              <a:t>Wealthsimple</a:t>
            </a:r>
            <a:r>
              <a:rPr lang="en-CA"/>
              <a:t> only has Stocks, ETFs, Options and no MFs, GICs, Fixed Income but it has broad range of Alternative investments like Crypto, Robo Advisory, Private Equity, Private Credit, plus Fractional Trading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a:t>Questrade has all similar products as Banks (Stocks, ETFs, MFs, Options, GICs, Fixed Income), plus other products (Commodities, Online Forex trading). Fractional trading is planned for 2025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CA"/>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CA"/>
              <a:t>Advanced Features: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a:t>TD offers DI across wide variety of platforms apple watch app, mobile apps, web, desktop application. Also offers Easy Trade app. It provides features like advanced charting, heatmap, push notifications.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a:t>RBC has similar features as other banks – it offers </a:t>
            </a:r>
            <a:r>
              <a:rPr lang="en-US" b="0" i="0">
                <a:solidFill>
                  <a:srgbClr val="333333"/>
                </a:solidFill>
                <a:effectLst/>
                <a:latin typeface="Pratt"/>
              </a:rPr>
              <a:t>a portfolio overview with asset mix, projected income for the month and recent events driving your holdings. Mobile app is integrated into banking app.</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i="0">
                <a:solidFill>
                  <a:srgbClr val="333333"/>
                </a:solidFill>
                <a:effectLst/>
                <a:latin typeface="Pratt"/>
              </a:rPr>
              <a:t>Questrade has features such as Tip Ranks, which provides </a:t>
            </a:r>
            <a:r>
              <a:rPr lang="en-US" b="0" i="0" err="1">
                <a:solidFill>
                  <a:srgbClr val="333333"/>
                </a:solidFill>
                <a:effectLst/>
                <a:latin typeface="Pratt"/>
              </a:rPr>
              <a:t>SmartScore</a:t>
            </a:r>
            <a:r>
              <a:rPr lang="en-US" b="0" i="0">
                <a:solidFill>
                  <a:srgbClr val="333333"/>
                </a:solidFill>
                <a:effectLst/>
                <a:latin typeface="Pratt"/>
              </a:rPr>
              <a:t> for stocks based on 8 market factors including analyst ratings, technical analysis (ROE etc.), fundamentals, investor sentiment, blog opinions etc.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CA"/>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CA"/>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DDB4C8-BA8F-42C0-B327-C192891CB5A0}"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5152924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6437E9-DF0D-D221-A46C-80DA23220A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892E7E-A1DC-6BDE-73D5-92E3150DB8DE}"/>
              </a:ext>
            </a:extLst>
          </p:cNvPr>
          <p:cNvSpPr>
            <a:spLocks noGrp="1" noRot="1" noChangeAspect="1"/>
          </p:cNvSpPr>
          <p:nvPr>
            <p:ph type="sldImg"/>
          </p:nvPr>
        </p:nvSpPr>
        <p:spPr>
          <a:xfrm>
            <a:off x="736600" y="1154113"/>
            <a:ext cx="5537200" cy="3116262"/>
          </a:xfrm>
        </p:spPr>
        <p:txBody>
          <a:bodyPr/>
          <a:lstStyle/>
          <a:p>
            <a:endParaRPr lang="en-US"/>
          </a:p>
        </p:txBody>
      </p:sp>
      <p:sp>
        <p:nvSpPr>
          <p:cNvPr id="3" name="Notes Placeholder 2">
            <a:extLst>
              <a:ext uri="{FF2B5EF4-FFF2-40B4-BE49-F238E27FC236}">
                <a16:creationId xmlns:a16="http://schemas.microsoft.com/office/drawing/2014/main" id="{8C267681-27D3-DBCC-A0B5-CDFCD4E9C05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2E6D3DB-CE2D-2D1B-DE00-94B05AB6BC9F}"/>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7E7203EF-64D0-4F90-A09E-90F11301C8D6}"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14140284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4A4F1C-07B0-9137-3F68-2AF87D177145}"/>
            </a:ext>
          </a:extLst>
        </p:cNvPr>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2BF1CBAE-76AE-61A9-9DED-626107682E30}"/>
              </a:ext>
            </a:extLst>
          </p:cNvPr>
          <p:cNvSpPr>
            <a:spLocks noGrp="1" noRot="1" noChangeAspect="1"/>
          </p:cNvSpPr>
          <p:nvPr>
            <p:ph type="sldImg"/>
          </p:nvPr>
        </p:nvSpPr>
        <p:spPr>
          <a:xfrm>
            <a:off x="736600" y="1154113"/>
            <a:ext cx="5537200" cy="3116262"/>
          </a:xfrm>
        </p:spPr>
        <p:txBody>
          <a:bodyPr/>
          <a:lstStyle/>
          <a:p>
            <a:endParaRPr lang="en-CA"/>
          </a:p>
        </p:txBody>
      </p:sp>
      <p:sp>
        <p:nvSpPr>
          <p:cNvPr id="3" name="Marcador de notas 2">
            <a:extLst>
              <a:ext uri="{FF2B5EF4-FFF2-40B4-BE49-F238E27FC236}">
                <a16:creationId xmlns:a16="http://schemas.microsoft.com/office/drawing/2014/main" id="{14D5B9BC-0EB9-9B17-7726-0550F35B7D1F}"/>
              </a:ext>
            </a:extLst>
          </p:cNvPr>
          <p:cNvSpPr>
            <a:spLocks noGrp="1"/>
          </p:cNvSpPr>
          <p:nvPr>
            <p:ph type="body" idx="1"/>
          </p:nvPr>
        </p:nvSpPr>
        <p:spPr/>
        <p:txBody>
          <a:bodyPr/>
          <a:lstStyle/>
          <a:p>
            <a:endParaRPr lang="en-US"/>
          </a:p>
        </p:txBody>
      </p:sp>
      <p:sp>
        <p:nvSpPr>
          <p:cNvPr id="4" name="Marcador de número de diapositiva 3">
            <a:extLst>
              <a:ext uri="{FF2B5EF4-FFF2-40B4-BE49-F238E27FC236}">
                <a16:creationId xmlns:a16="http://schemas.microsoft.com/office/drawing/2014/main" id="{272DA57C-7AC0-7CE3-0359-7E8448554A97}"/>
              </a:ext>
            </a:extLst>
          </p:cNvPr>
          <p:cNvSpPr>
            <a:spLocks noGrp="1"/>
          </p:cNvSpPr>
          <p:nvPr>
            <p:ph type="sldNum" sz="quarter" idx="5"/>
          </p:nvPr>
        </p:nvSpPr>
        <p:spPr/>
        <p:txBody>
          <a:bodyPr/>
          <a:lstStyle/>
          <a:p>
            <a:fld id="{6BCB5711-DA30-9A41-8B82-7B31DCE5A286}" type="slidenum">
              <a:rPr lang="en-US" smtClean="0"/>
              <a:pPr/>
              <a:t>39</a:t>
            </a:fld>
            <a:endParaRPr lang="en-US"/>
          </a:p>
        </p:txBody>
      </p:sp>
    </p:spTree>
    <p:extLst>
      <p:ext uri="{BB962C8B-B14F-4D97-AF65-F5344CB8AC3E}">
        <p14:creationId xmlns:p14="http://schemas.microsoft.com/office/powerpoint/2010/main" val="224292343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36600" y="1154113"/>
            <a:ext cx="5537200" cy="3116262"/>
          </a:xfrm>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7E7203EF-64D0-4F90-A09E-90F11301C8D6}" type="slidenum">
              <a:rPr lang="en-US" smtClean="0"/>
              <a:pPr/>
              <a:t>40</a:t>
            </a:fld>
            <a:endParaRPr lang="en-US"/>
          </a:p>
        </p:txBody>
      </p:sp>
    </p:spTree>
    <p:extLst>
      <p:ext uri="{BB962C8B-B14F-4D97-AF65-F5344CB8AC3E}">
        <p14:creationId xmlns:p14="http://schemas.microsoft.com/office/powerpoint/2010/main" val="42660667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1498AD-23E8-C233-74EE-31828F1BF9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B040829-DBF9-6A8D-9C3B-D5E1A4ED525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9B7312-6A6F-A2C5-2408-9B4F11A7BF0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77F0D20-3134-D059-8D52-2A3AC11B26B6}"/>
              </a:ext>
            </a:extLst>
          </p:cNvPr>
          <p:cNvSpPr>
            <a:spLocks noGrp="1"/>
          </p:cNvSpPr>
          <p:nvPr>
            <p:ph type="sldNum" sz="quarter" idx="5"/>
          </p:nvPr>
        </p:nvSpPr>
        <p:spPr/>
        <p:txBody>
          <a:bodyPr/>
          <a:lstStyle/>
          <a:p>
            <a:endParaRPr lang="en-US"/>
          </a:p>
        </p:txBody>
      </p:sp>
    </p:spTree>
    <p:extLst>
      <p:ext uri="{BB962C8B-B14F-4D97-AF65-F5344CB8AC3E}">
        <p14:creationId xmlns:p14="http://schemas.microsoft.com/office/powerpoint/2010/main" val="11420227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AA76FD-D4EF-A5EB-9AC9-57822D85A9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8EE3E7-63CC-6F45-D998-763A2B732BDE}"/>
              </a:ext>
            </a:extLst>
          </p:cNvPr>
          <p:cNvSpPr>
            <a:spLocks noGrp="1" noRot="1" noChangeAspect="1"/>
          </p:cNvSpPr>
          <p:nvPr>
            <p:ph type="sldImg"/>
          </p:nvPr>
        </p:nvSpPr>
        <p:spPr>
          <a:xfrm>
            <a:off x="736600" y="1154113"/>
            <a:ext cx="5537200" cy="3116262"/>
          </a:xfrm>
        </p:spPr>
        <p:txBody>
          <a:bodyPr/>
          <a:lstStyle/>
          <a:p>
            <a:endParaRPr lang="en-CA"/>
          </a:p>
        </p:txBody>
      </p:sp>
      <p:sp>
        <p:nvSpPr>
          <p:cNvPr id="3" name="Notes Placeholder 2">
            <a:extLst>
              <a:ext uri="{FF2B5EF4-FFF2-40B4-BE49-F238E27FC236}">
                <a16:creationId xmlns:a16="http://schemas.microsoft.com/office/drawing/2014/main" id="{2715B8E4-FCB7-C643-7BB8-09FD976A075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8DDB546-B4B9-69E7-252F-61052BED7838}"/>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91E6A3CD-C160-40E0-A878-B903527F9470}"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6491480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7E7203EF-64D0-4F90-A09E-90F11301C8D6}" type="slidenum">
              <a:rPr lang="en-US" smtClean="0"/>
              <a:pPr/>
              <a:t>44</a:t>
            </a:fld>
            <a:endParaRPr lang="en-US"/>
          </a:p>
        </p:txBody>
      </p:sp>
    </p:spTree>
    <p:extLst>
      <p:ext uri="{BB962C8B-B14F-4D97-AF65-F5344CB8AC3E}">
        <p14:creationId xmlns:p14="http://schemas.microsoft.com/office/powerpoint/2010/main" val="327185304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A1437-3D9C-6338-CD9F-16A1B9CDD54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CE676D-F816-725E-710D-E14BF9EDAB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0BD0C8-4DCC-378B-63CD-FC0B82A9774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3E3CA74-DC46-82C4-7EC4-47270B42D705}"/>
              </a:ext>
            </a:extLst>
          </p:cNvPr>
          <p:cNvSpPr>
            <a:spLocks noGrp="1"/>
          </p:cNvSpPr>
          <p:nvPr>
            <p:ph type="sldNum" sz="quarter" idx="5"/>
          </p:nvPr>
        </p:nvSpPr>
        <p:spPr/>
        <p:txBody>
          <a:bodyPr/>
          <a:lstStyle/>
          <a:p>
            <a:endParaRPr lang="en-US"/>
          </a:p>
        </p:txBody>
      </p:sp>
    </p:spTree>
    <p:extLst>
      <p:ext uri="{BB962C8B-B14F-4D97-AF65-F5344CB8AC3E}">
        <p14:creationId xmlns:p14="http://schemas.microsoft.com/office/powerpoint/2010/main" val="11082008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7A1DA2-16A3-A19F-9FDC-CC2ABEB816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F5A7F2-0D21-4B7D-827E-155C0C262D47}"/>
              </a:ext>
            </a:extLst>
          </p:cNvPr>
          <p:cNvSpPr>
            <a:spLocks noGrp="1" noRot="1" noChangeAspect="1"/>
          </p:cNvSpPr>
          <p:nvPr>
            <p:ph type="sldImg"/>
          </p:nvPr>
        </p:nvSpPr>
        <p:spPr>
          <a:xfrm>
            <a:off x="736600" y="1154113"/>
            <a:ext cx="5537200" cy="3116262"/>
          </a:xfrm>
        </p:spPr>
        <p:txBody>
          <a:bodyPr/>
          <a:lstStyle/>
          <a:p>
            <a:endParaRPr lang="en-US"/>
          </a:p>
        </p:txBody>
      </p:sp>
      <p:sp>
        <p:nvSpPr>
          <p:cNvPr id="3" name="Notes Placeholder 2">
            <a:extLst>
              <a:ext uri="{FF2B5EF4-FFF2-40B4-BE49-F238E27FC236}">
                <a16:creationId xmlns:a16="http://schemas.microsoft.com/office/drawing/2014/main" id="{64DDDEB2-940D-F3B4-AC68-1D07A5392B9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DFDEC83-4B69-185E-B247-42260F5FC5F1}"/>
              </a:ext>
            </a:extLst>
          </p:cNvPr>
          <p:cNvSpPr>
            <a:spLocks noGrp="1"/>
          </p:cNvSpPr>
          <p:nvPr>
            <p:ph type="sldNum" sz="quarter" idx="5"/>
          </p:nvPr>
        </p:nvSpPr>
        <p:spPr/>
        <p:txBody>
          <a:bodyPr/>
          <a:lstStyle/>
          <a:p>
            <a:fld id="{7E7203EF-64D0-4F90-A09E-90F11301C8D6}" type="slidenum">
              <a:rPr lang="en-US" smtClean="0"/>
              <a:pPr/>
              <a:t>47</a:t>
            </a:fld>
            <a:endParaRPr lang="en-US"/>
          </a:p>
        </p:txBody>
      </p:sp>
    </p:spTree>
    <p:extLst>
      <p:ext uri="{BB962C8B-B14F-4D97-AF65-F5344CB8AC3E}">
        <p14:creationId xmlns:p14="http://schemas.microsoft.com/office/powerpoint/2010/main" val="344325390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B8305-8614-47A6-E056-92A5AFBB5F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97CDDF-5A38-52B1-FDAA-BBA0E74BA3DC}"/>
              </a:ext>
            </a:extLst>
          </p:cNvPr>
          <p:cNvSpPr>
            <a:spLocks noGrp="1" noRot="1" noChangeAspect="1"/>
          </p:cNvSpPr>
          <p:nvPr>
            <p:ph type="sldImg"/>
          </p:nvPr>
        </p:nvSpPr>
        <p:spPr>
          <a:xfrm>
            <a:off x="736600" y="1154113"/>
            <a:ext cx="5537200" cy="3116262"/>
          </a:xfrm>
        </p:spPr>
        <p:txBody>
          <a:bodyPr/>
          <a:lstStyle/>
          <a:p>
            <a:endParaRPr lang="en-CA"/>
          </a:p>
        </p:txBody>
      </p:sp>
      <p:sp>
        <p:nvSpPr>
          <p:cNvPr id="3" name="Notes Placeholder 2">
            <a:extLst>
              <a:ext uri="{FF2B5EF4-FFF2-40B4-BE49-F238E27FC236}">
                <a16:creationId xmlns:a16="http://schemas.microsoft.com/office/drawing/2014/main" id="{4C569771-CF03-3648-D9C3-A155C349C7B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8CBB502-A835-D62B-C2E0-98C850232EBE}"/>
              </a:ext>
            </a:extLst>
          </p:cNvPr>
          <p:cNvSpPr>
            <a:spLocks noGrp="1"/>
          </p:cNvSpPr>
          <p:nvPr>
            <p:ph type="sldNum" sz="quarter" idx="5"/>
          </p:nvPr>
        </p:nvSpPr>
        <p:spPr/>
        <p:txBody>
          <a:bodyPr/>
          <a:lstStyle/>
          <a:p>
            <a:fld id="{7E7203EF-64D0-4F90-A09E-90F11301C8D6}" type="slidenum">
              <a:rPr lang="en-US" smtClean="0"/>
              <a:pPr/>
              <a:t>48</a:t>
            </a:fld>
            <a:endParaRPr lang="en-US"/>
          </a:p>
        </p:txBody>
      </p:sp>
    </p:spTree>
    <p:extLst>
      <p:ext uri="{BB962C8B-B14F-4D97-AF65-F5344CB8AC3E}">
        <p14:creationId xmlns:p14="http://schemas.microsoft.com/office/powerpoint/2010/main" val="126581172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7F3FDB-477A-0855-FCE5-6ADC85BCBB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445BB3-514E-4E4B-B086-6C5E04E7ABB7}"/>
              </a:ext>
            </a:extLst>
          </p:cNvPr>
          <p:cNvSpPr>
            <a:spLocks noGrp="1" noRot="1" noChangeAspect="1"/>
          </p:cNvSpPr>
          <p:nvPr>
            <p:ph type="sldImg"/>
          </p:nvPr>
        </p:nvSpPr>
        <p:spPr>
          <a:xfrm>
            <a:off x="736600" y="1154113"/>
            <a:ext cx="5537200" cy="3116262"/>
          </a:xfrm>
        </p:spPr>
        <p:txBody>
          <a:bodyPr/>
          <a:lstStyle/>
          <a:p>
            <a:endParaRPr lang="en-US"/>
          </a:p>
        </p:txBody>
      </p:sp>
      <p:sp>
        <p:nvSpPr>
          <p:cNvPr id="3" name="Notes Placeholder 2">
            <a:extLst>
              <a:ext uri="{FF2B5EF4-FFF2-40B4-BE49-F238E27FC236}">
                <a16:creationId xmlns:a16="http://schemas.microsoft.com/office/drawing/2014/main" id="{A75B3F5B-5588-5058-3734-F4D86D18A0C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6C4EF33-53E7-B654-4AD9-2BA15C4482D1}"/>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7E7203EF-64D0-4F90-A09E-90F11301C8D6}"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8233127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36600" y="1154113"/>
            <a:ext cx="5537200" cy="3116262"/>
          </a:xfrm>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7E7203EF-64D0-4F90-A09E-90F11301C8D6}" type="slidenum">
              <a:rPr lang="en-US" smtClean="0"/>
              <a:pPr/>
              <a:t>51</a:t>
            </a:fld>
            <a:endParaRPr lang="en-US"/>
          </a:p>
        </p:txBody>
      </p:sp>
    </p:spTree>
    <p:extLst>
      <p:ext uri="{BB962C8B-B14F-4D97-AF65-F5344CB8AC3E}">
        <p14:creationId xmlns:p14="http://schemas.microsoft.com/office/powerpoint/2010/main" val="31471961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8BB150-ACF4-03FF-B46A-BF7CD20A4F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7C6D4BC-8FC1-ED72-AB27-2ADD7E7A47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44B48CC-9902-A65F-D8BD-B6CF871F3C0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C8AEAF4-ADC7-A154-AE87-A2C62667252C}"/>
              </a:ext>
            </a:extLst>
          </p:cNvPr>
          <p:cNvSpPr>
            <a:spLocks noGrp="1"/>
          </p:cNvSpPr>
          <p:nvPr>
            <p:ph type="sldNum" sz="quarter" idx="5"/>
          </p:nvPr>
        </p:nvSpPr>
        <p:spPr/>
        <p:txBody>
          <a:bodyPr/>
          <a:lstStyle/>
          <a:p>
            <a:endParaRPr lang="en-US"/>
          </a:p>
        </p:txBody>
      </p:sp>
    </p:spTree>
    <p:extLst>
      <p:ext uri="{BB962C8B-B14F-4D97-AF65-F5344CB8AC3E}">
        <p14:creationId xmlns:p14="http://schemas.microsoft.com/office/powerpoint/2010/main" val="128703129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46816D-F83D-3615-6A16-F4B0F1CDF0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70FB07-D325-E298-668F-459776AA4222}"/>
              </a:ext>
            </a:extLst>
          </p:cNvPr>
          <p:cNvSpPr>
            <a:spLocks noGrp="1" noRot="1" noChangeAspect="1"/>
          </p:cNvSpPr>
          <p:nvPr>
            <p:ph type="sldImg"/>
          </p:nvPr>
        </p:nvSpPr>
        <p:spPr>
          <a:xfrm>
            <a:off x="736600" y="1154113"/>
            <a:ext cx="5537200" cy="3116262"/>
          </a:xfrm>
        </p:spPr>
        <p:txBody>
          <a:bodyPr/>
          <a:lstStyle/>
          <a:p>
            <a:endParaRPr lang="en-US"/>
          </a:p>
        </p:txBody>
      </p:sp>
      <p:sp>
        <p:nvSpPr>
          <p:cNvPr id="3" name="Notes Placeholder 2">
            <a:extLst>
              <a:ext uri="{FF2B5EF4-FFF2-40B4-BE49-F238E27FC236}">
                <a16:creationId xmlns:a16="http://schemas.microsoft.com/office/drawing/2014/main" id="{1C977042-DF6E-42AF-EED2-73FCB63FA9D0}"/>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A2A13494-C3D7-85CD-AF0A-E78D9F20F4BB}"/>
              </a:ext>
            </a:extLst>
          </p:cNvPr>
          <p:cNvSpPr>
            <a:spLocks noGrp="1"/>
          </p:cNvSpPr>
          <p:nvPr>
            <p:ph type="sldNum" sz="quarter" idx="5"/>
          </p:nvPr>
        </p:nvSpPr>
        <p:spPr/>
        <p:txBody>
          <a:bodyPr/>
          <a:lstStyle/>
          <a:p>
            <a:fld id="{7E7203EF-64D0-4F90-A09E-90F11301C8D6}" type="slidenum">
              <a:rPr lang="en-CA" smtClean="0"/>
              <a:pPr/>
              <a:t>54</a:t>
            </a:fld>
            <a:endParaRPr lang="en-CA"/>
          </a:p>
        </p:txBody>
      </p:sp>
    </p:spTree>
    <p:extLst>
      <p:ext uri="{BB962C8B-B14F-4D97-AF65-F5344CB8AC3E}">
        <p14:creationId xmlns:p14="http://schemas.microsoft.com/office/powerpoint/2010/main" val="30944909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7E7203EF-64D0-4F90-A09E-90F11301C8D6}" type="slidenum">
              <a:rPr lang="en-US" smtClean="0"/>
              <a:pPr/>
              <a:t>55</a:t>
            </a:fld>
            <a:endParaRPr lang="en-US"/>
          </a:p>
        </p:txBody>
      </p:sp>
    </p:spTree>
    <p:extLst>
      <p:ext uri="{BB962C8B-B14F-4D97-AF65-F5344CB8AC3E}">
        <p14:creationId xmlns:p14="http://schemas.microsoft.com/office/powerpoint/2010/main" val="385038367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67140F-4064-D296-A809-322F715A7F4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EDEB2A-1210-8A17-AF94-F9C95E957C9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32C9C5-D9B4-CBDC-EF70-04D0C43FA154}"/>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4DCF11E2-97A8-0486-12AF-968763549C89}"/>
              </a:ext>
            </a:extLst>
          </p:cNvPr>
          <p:cNvSpPr>
            <a:spLocks noGrp="1"/>
          </p:cNvSpPr>
          <p:nvPr>
            <p:ph type="sldNum" sz="quarter" idx="5"/>
          </p:nvPr>
        </p:nvSpPr>
        <p:spPr/>
        <p:txBody>
          <a:bodyPr/>
          <a:lstStyle/>
          <a:p>
            <a:fld id="{53DA708B-D518-488B-9D38-93BB7A67BF86}" type="slidenum">
              <a:rPr lang="en-US" smtClean="0"/>
              <a:pPr/>
              <a:t>56</a:t>
            </a:fld>
            <a:endParaRPr lang="en-US"/>
          </a:p>
        </p:txBody>
      </p:sp>
    </p:spTree>
    <p:extLst>
      <p:ext uri="{BB962C8B-B14F-4D97-AF65-F5344CB8AC3E}">
        <p14:creationId xmlns:p14="http://schemas.microsoft.com/office/powerpoint/2010/main" val="247719779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84781F2-84E1-4FD0-96BC-5A28C1AAEF7A}" type="slidenum">
              <a:rPr lang="en-CA" smtClean="0"/>
              <a:t>57</a:t>
            </a:fld>
            <a:endParaRPr lang="en-CA"/>
          </a:p>
        </p:txBody>
      </p:sp>
    </p:spTree>
    <p:extLst>
      <p:ext uri="{BB962C8B-B14F-4D97-AF65-F5344CB8AC3E}">
        <p14:creationId xmlns:p14="http://schemas.microsoft.com/office/powerpoint/2010/main" val="414155815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CA"/>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9167367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E09170-AFE4-6A9C-E084-CA84DC783B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49E22D-7FB5-1960-CFA0-32279895ACC6}"/>
              </a:ext>
            </a:extLst>
          </p:cNvPr>
          <p:cNvSpPr>
            <a:spLocks noGrp="1" noRot="1" noChangeAspect="1"/>
          </p:cNvSpPr>
          <p:nvPr>
            <p:ph type="sldImg"/>
          </p:nvPr>
        </p:nvSpPr>
        <p:spPr>
          <a:xfrm>
            <a:off x="736600" y="1154113"/>
            <a:ext cx="5537200" cy="3116262"/>
          </a:xfrm>
        </p:spPr>
        <p:txBody>
          <a:bodyPr/>
          <a:lstStyle/>
          <a:p>
            <a:endParaRPr lang="en-CA"/>
          </a:p>
        </p:txBody>
      </p:sp>
      <p:sp>
        <p:nvSpPr>
          <p:cNvPr id="3" name="Notes Placeholder 2">
            <a:extLst>
              <a:ext uri="{FF2B5EF4-FFF2-40B4-BE49-F238E27FC236}">
                <a16:creationId xmlns:a16="http://schemas.microsoft.com/office/drawing/2014/main" id="{41FF3AFA-D4DF-3039-57C4-5C7BAE34691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0B77F4D-3820-4439-9753-63406A5DF5F9}"/>
              </a:ext>
            </a:extLst>
          </p:cNvPr>
          <p:cNvSpPr>
            <a:spLocks noGrp="1"/>
          </p:cNvSpPr>
          <p:nvPr>
            <p:ph type="sldNum" sz="quarter" idx="5"/>
          </p:nvPr>
        </p:nvSpPr>
        <p:spPr/>
        <p:txBody>
          <a:bodyPr/>
          <a:lstStyle/>
          <a:p>
            <a:pPr marL="0" marR="0" lvl="0" indent="0" algn="r" defTabSz="948507" eaLnBrk="1" fontAlgn="auto" latinLnBrk="0" hangingPunct="1">
              <a:lnSpc>
                <a:spcPct val="100000"/>
              </a:lnSpc>
              <a:spcBef>
                <a:spcPts val="0"/>
              </a:spcBef>
              <a:spcAft>
                <a:spcPts val="0"/>
              </a:spcAft>
              <a:buClrTx/>
              <a:buSzTx/>
              <a:buFontTx/>
              <a:buNone/>
              <a:tabLst/>
              <a:defRPr/>
            </a:pPr>
            <a:fld id="{E37C4370-2A23-4479-AD14-4C0AD70823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48507"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435209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4FB811-4898-D3AB-3F56-E182D1B4DC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B5F340-35D0-120D-B41E-72BC5BC123D6}"/>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F63CE28B-626A-E035-89ED-D1CBE9FC7A5D}"/>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FBF62156-9E5A-0BFE-71C6-F4A291C0B3A9}"/>
              </a:ext>
            </a:extLst>
          </p:cNvPr>
          <p:cNvSpPr>
            <a:spLocks noGrp="1"/>
          </p:cNvSpPr>
          <p:nvPr>
            <p:ph type="sldNum" sz="quarter" idx="5"/>
          </p:nvPr>
        </p:nvSpPr>
        <p:spPr/>
        <p:txBody>
          <a:bodyPr/>
          <a:lstStyle/>
          <a:p>
            <a:fld id="{53DA708B-D518-488B-9D38-93BB7A67BF86}" type="slidenum">
              <a:rPr lang="en-US" smtClean="0"/>
              <a:pPr/>
              <a:t>61</a:t>
            </a:fld>
            <a:endParaRPr lang="en-US"/>
          </a:p>
        </p:txBody>
      </p:sp>
    </p:spTree>
    <p:extLst>
      <p:ext uri="{BB962C8B-B14F-4D97-AF65-F5344CB8AC3E}">
        <p14:creationId xmlns:p14="http://schemas.microsoft.com/office/powerpoint/2010/main" val="178935145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2491446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B922A2-01AC-5C63-72D3-952EBA9AAE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F9E52F-4B43-1D3D-045A-DFCCEAF871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0F9E71-9CF7-0380-2E9A-D0107C481082}"/>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0DC3ACE5-7F06-869D-1F9A-DB981BBF564F}"/>
              </a:ext>
            </a:extLst>
          </p:cNvPr>
          <p:cNvSpPr>
            <a:spLocks noGrp="1"/>
          </p:cNvSpPr>
          <p:nvPr>
            <p:ph type="sldNum" sz="quarter" idx="5"/>
          </p:nvPr>
        </p:nvSpPr>
        <p:spPr/>
        <p:txBody>
          <a:bodyPr/>
          <a:lstStyle/>
          <a:p>
            <a:fld id="{5D1054FF-65ED-4DCE-A7A2-7A2DD5F30114}" type="slidenum">
              <a:rPr lang="en-CA" smtClean="0"/>
              <a:t>64</a:t>
            </a:fld>
            <a:endParaRPr lang="en-CA"/>
          </a:p>
        </p:txBody>
      </p:sp>
    </p:spTree>
    <p:extLst>
      <p:ext uri="{BB962C8B-B14F-4D97-AF65-F5344CB8AC3E}">
        <p14:creationId xmlns:p14="http://schemas.microsoft.com/office/powerpoint/2010/main" val="195861462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A5CED1-15A2-F7F4-8850-41D7B917D9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0DF4C3-D369-BF87-1319-0A0378823831}"/>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680CE670-76CF-0BDF-A8D4-DFC2BF70CAE0}"/>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F7F981AE-5FCA-F02E-79AC-BBCCC0F722A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2715183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6DD8C3-8557-8B19-39D4-C9482AEE6B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2B2580-C984-9A44-FDB9-0A597833076F}"/>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D184A4A4-E7B3-C855-12AF-36774ABB205A}"/>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A47B1060-3B6E-C2D9-5F02-DAABBBBBCD9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09986-F645-431C-8403-97E34AE0637C}"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5229540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3B4289-D7D4-6945-AE74-D366FB200C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D0F1C2-AC2D-8A9A-2087-B80C3DC9B589}"/>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3F64A67B-95C5-797C-97BC-02CC4B66F5E6}"/>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193CF637-3BEC-47D1-080C-CBD31C9E57C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6412522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2.xml"/><Relationship Id="rId4" Type="http://schemas.openxmlformats.org/officeDocument/2006/relationships/image" Target="../media/image3.emf"/></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3.emf"/></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76.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74.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72.svg"/><Relationship Id="rId75" Type="http://schemas.openxmlformats.org/officeDocument/2006/relationships/image" Target="../media/image77.svg"/><Relationship Id="rId1" Type="http://schemas.openxmlformats.org/officeDocument/2006/relationships/slideMaster" Target="../slideMasters/slideMaster1.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78.svg"/><Relationship Id="rId7" Type="http://schemas.openxmlformats.org/officeDocument/2006/relationships/image" Target="../media/image9.svg"/><Relationship Id="rId71" Type="http://schemas.openxmlformats.org/officeDocument/2006/relationships/image" Target="../media/image73.svg"/></Relationships>
</file>

<file path=ppt/slideLayouts/_rels/slideLayout13.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79.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1.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14.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152.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1.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15.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1.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79.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4.xml"/><Relationship Id="rId4" Type="http://schemas.openxmlformats.org/officeDocument/2006/relationships/image" Target="../media/image3.emf"/></Relationships>
</file>

<file path=ppt/slideLayouts/_rels/slideLayout17.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3.emf"/></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1.xml"/><Relationship Id="rId1" Type="http://schemas.openxmlformats.org/officeDocument/2006/relationships/tags" Target="../tags/tag6.xml"/><Relationship Id="rId5" Type="http://schemas.openxmlformats.org/officeDocument/2006/relationships/image" Target="../media/image196.png"/><Relationship Id="rId4" Type="http://schemas.openxmlformats.org/officeDocument/2006/relationships/image" Target="../media/image3.emf"/></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2.xml"/><Relationship Id="rId1" Type="http://schemas.openxmlformats.org/officeDocument/2006/relationships/tags" Target="../tags/tag9.xml"/><Relationship Id="rId4" Type="http://schemas.openxmlformats.org/officeDocument/2006/relationships/image" Target="../media/image197.emf"/></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2.xml"/><Relationship Id="rId1" Type="http://schemas.openxmlformats.org/officeDocument/2006/relationships/tags" Target="../tags/tag10.xml"/><Relationship Id="rId4" Type="http://schemas.openxmlformats.org/officeDocument/2006/relationships/image" Target="../media/image197.emf"/></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76.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74.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72.svg"/><Relationship Id="rId75" Type="http://schemas.openxmlformats.org/officeDocument/2006/relationships/image" Target="../media/image77.svg"/><Relationship Id="rId1" Type="http://schemas.openxmlformats.org/officeDocument/2006/relationships/slideMaster" Target="../slideMasters/slideMaster2.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78.svg"/><Relationship Id="rId7" Type="http://schemas.openxmlformats.org/officeDocument/2006/relationships/image" Target="../media/image9.svg"/><Relationship Id="rId71" Type="http://schemas.openxmlformats.org/officeDocument/2006/relationships/image" Target="../media/image73.svg"/></Relationships>
</file>

<file path=ppt/slideLayouts/_rels/slideLayout38.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198.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2.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39.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152.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2.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40.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2.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198.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41.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2.xml"/><Relationship Id="rId1" Type="http://schemas.openxmlformats.org/officeDocument/2006/relationships/tags" Target="../tags/tag11.xml"/><Relationship Id="rId4" Type="http://schemas.openxmlformats.org/officeDocument/2006/relationships/image" Target="../media/image197.emf"/></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76.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74.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72.svg"/><Relationship Id="rId75" Type="http://schemas.openxmlformats.org/officeDocument/2006/relationships/image" Target="../media/image77.svg"/><Relationship Id="rId1" Type="http://schemas.openxmlformats.org/officeDocument/2006/relationships/slideMaster" Target="../slideMasters/slideMaster3.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78.svg"/><Relationship Id="rId7" Type="http://schemas.openxmlformats.org/officeDocument/2006/relationships/image" Target="../media/image9.svg"/><Relationship Id="rId71" Type="http://schemas.openxmlformats.org/officeDocument/2006/relationships/image" Target="../media/image73.svg"/></Relationships>
</file>

<file path=ppt/slideLayouts/_rels/slideLayout59.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79.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3.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60.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152.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3.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61.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3.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79.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76.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74.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72.svg"/><Relationship Id="rId75" Type="http://schemas.openxmlformats.org/officeDocument/2006/relationships/image" Target="../media/image77.svg"/><Relationship Id="rId1" Type="http://schemas.openxmlformats.org/officeDocument/2006/relationships/slideMaster" Target="../slideMasters/slideMaster4.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78.svg"/><Relationship Id="rId7" Type="http://schemas.openxmlformats.org/officeDocument/2006/relationships/image" Target="../media/image9.svg"/><Relationship Id="rId71" Type="http://schemas.openxmlformats.org/officeDocument/2006/relationships/image" Target="../media/image73.svg"/></Relationships>
</file>

<file path=ppt/slideLayouts/_rels/slideLayout79.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79.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4.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80.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152.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4.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81.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4.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79.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5.svg"/><Relationship Id="rId47" Type="http://schemas.openxmlformats.org/officeDocument/2006/relationships/image" Target="../media/image50.svg"/><Relationship Id="rId63" Type="http://schemas.openxmlformats.org/officeDocument/2006/relationships/image" Target="../media/image67.svg"/><Relationship Id="rId68" Type="http://schemas.openxmlformats.org/officeDocument/2006/relationships/image" Target="../media/image72.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8.svg"/><Relationship Id="rId53" Type="http://schemas.openxmlformats.org/officeDocument/2006/relationships/image" Target="../media/image56.svg"/><Relationship Id="rId58" Type="http://schemas.openxmlformats.org/officeDocument/2006/relationships/image" Target="../media/image61.svg"/><Relationship Id="rId66" Type="http://schemas.openxmlformats.org/officeDocument/2006/relationships/image" Target="../media/image70.svg"/><Relationship Id="rId74" Type="http://schemas.openxmlformats.org/officeDocument/2006/relationships/image" Target="../media/image78.svg"/><Relationship Id="rId5" Type="http://schemas.openxmlformats.org/officeDocument/2006/relationships/image" Target="../media/image7.svg"/><Relationship Id="rId61" Type="http://schemas.openxmlformats.org/officeDocument/2006/relationships/image" Target="../media/image65.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6.svg"/><Relationship Id="rId48" Type="http://schemas.openxmlformats.org/officeDocument/2006/relationships/image" Target="../media/image51.svg"/><Relationship Id="rId56" Type="http://schemas.openxmlformats.org/officeDocument/2006/relationships/image" Target="../media/image59.svg"/><Relationship Id="rId64" Type="http://schemas.openxmlformats.org/officeDocument/2006/relationships/image" Target="../media/image68.svg"/><Relationship Id="rId69" Type="http://schemas.openxmlformats.org/officeDocument/2006/relationships/image" Target="../media/image73.svg"/><Relationship Id="rId8" Type="http://schemas.openxmlformats.org/officeDocument/2006/relationships/image" Target="../media/image10.svg"/><Relationship Id="rId51" Type="http://schemas.openxmlformats.org/officeDocument/2006/relationships/image" Target="../media/image54.svg"/><Relationship Id="rId72" Type="http://schemas.openxmlformats.org/officeDocument/2006/relationships/image" Target="../media/image76.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9.svg"/><Relationship Id="rId59" Type="http://schemas.openxmlformats.org/officeDocument/2006/relationships/image" Target="../media/image63.svg"/><Relationship Id="rId67" Type="http://schemas.openxmlformats.org/officeDocument/2006/relationships/image" Target="../media/image71.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7.svg"/><Relationship Id="rId62" Type="http://schemas.openxmlformats.org/officeDocument/2006/relationships/image" Target="../media/image66.svg"/><Relationship Id="rId70" Type="http://schemas.openxmlformats.org/officeDocument/2006/relationships/image" Target="../media/image74.svg"/><Relationship Id="rId1" Type="http://schemas.openxmlformats.org/officeDocument/2006/relationships/slideMaster" Target="../slideMasters/slideMaster5.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2.svg"/><Relationship Id="rId57" Type="http://schemas.openxmlformats.org/officeDocument/2006/relationships/image" Target="../media/image60.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7.svg"/><Relationship Id="rId52" Type="http://schemas.openxmlformats.org/officeDocument/2006/relationships/image" Target="../media/image55.svg"/><Relationship Id="rId60" Type="http://schemas.openxmlformats.org/officeDocument/2006/relationships/image" Target="../media/image64.svg"/><Relationship Id="rId65" Type="http://schemas.openxmlformats.org/officeDocument/2006/relationships/image" Target="../media/image69.svg"/><Relationship Id="rId73" Type="http://schemas.openxmlformats.org/officeDocument/2006/relationships/image" Target="../media/image77.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3.svg"/><Relationship Id="rId55" Type="http://schemas.openxmlformats.org/officeDocument/2006/relationships/image" Target="../media/image58.svg"/><Relationship Id="rId7" Type="http://schemas.openxmlformats.org/officeDocument/2006/relationships/image" Target="../media/image9.svg"/><Relationship Id="rId71" Type="http://schemas.openxmlformats.org/officeDocument/2006/relationships/image" Target="../media/image75.svg"/></Relationships>
</file>

<file path=ppt/slideLayouts/_rels/slideLayout100.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79.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5.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101.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152.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5.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102.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5.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79.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6.xml"/><Relationship Id="rId1" Type="http://schemas.openxmlformats.org/officeDocument/2006/relationships/tags" Target="../tags/tag16.xml"/><Relationship Id="rId4" Type="http://schemas.openxmlformats.org/officeDocument/2006/relationships/image" Target="../media/image3.emf"/></Relationships>
</file>

<file path=ppt/slideLayouts/_rels/slideLayout106.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6.xml"/><Relationship Id="rId1" Type="http://schemas.openxmlformats.org/officeDocument/2006/relationships/tags" Target="../tags/tag17.xml"/><Relationship Id="rId4" Type="http://schemas.openxmlformats.org/officeDocument/2006/relationships/image" Target="../media/image3.emf"/></Relationships>
</file>

<file path=ppt/slideLayouts/_rels/slideLayout107.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6.xml"/><Relationship Id="rId1" Type="http://schemas.openxmlformats.org/officeDocument/2006/relationships/tags" Target="../tags/tag18.xml"/><Relationship Id="rId4" Type="http://schemas.openxmlformats.org/officeDocument/2006/relationships/image" Target="../media/image3.emf"/></Relationships>
</file>

<file path=ppt/slideLayouts/_rels/slideLayout108.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6.xml"/><Relationship Id="rId1" Type="http://schemas.openxmlformats.org/officeDocument/2006/relationships/tags" Target="../tags/tag19.xml"/><Relationship Id="rId4" Type="http://schemas.openxmlformats.org/officeDocument/2006/relationships/image" Target="../media/image3.emf"/></Relationships>
</file>

<file path=ppt/slideLayouts/_rels/slideLayout109.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6.xml"/><Relationship Id="rId1" Type="http://schemas.openxmlformats.org/officeDocument/2006/relationships/tags" Target="../tags/tag20.xml"/><Relationship Id="rId4" Type="http://schemas.openxmlformats.org/officeDocument/2006/relationships/image" Target="../media/image3.emf"/></Relationships>
</file>

<file path=ppt/slideLayouts/_rels/slideLayout110.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6.xml"/><Relationship Id="rId1" Type="http://schemas.openxmlformats.org/officeDocument/2006/relationships/tags" Target="../tags/tag21.xml"/><Relationship Id="rId4" Type="http://schemas.openxmlformats.org/officeDocument/2006/relationships/image" Target="../media/image3.emf"/></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76.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74.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72.svg"/><Relationship Id="rId75" Type="http://schemas.openxmlformats.org/officeDocument/2006/relationships/image" Target="../media/image77.svg"/><Relationship Id="rId1" Type="http://schemas.openxmlformats.org/officeDocument/2006/relationships/slideMaster" Target="../slideMasters/slideMaster6.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78.svg"/><Relationship Id="rId7" Type="http://schemas.openxmlformats.org/officeDocument/2006/relationships/image" Target="../media/image9.svg"/><Relationship Id="rId71" Type="http://schemas.openxmlformats.org/officeDocument/2006/relationships/image" Target="../media/image73.svg"/></Relationships>
</file>

<file path=ppt/slideLayouts/_rels/slideLayout121.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80.svg"/><Relationship Id="rId21" Type="http://schemas.openxmlformats.org/officeDocument/2006/relationships/image" Target="../media/image98.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102.svg"/><Relationship Id="rId2" Type="http://schemas.openxmlformats.org/officeDocument/2006/relationships/image" Target="../media/image199.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6.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101.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100.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99.svg"/></Relationships>
</file>

<file path=ppt/slideLayouts/_rels/slideLayout122.xml.rels><?xml version="1.0" encoding="UTF-8" standalone="yes"?>
<Relationships xmlns="http://schemas.openxmlformats.org/package/2006/relationships"><Relationship Id="rId26" Type="http://schemas.openxmlformats.org/officeDocument/2006/relationships/image" Target="../media/image127.svg"/><Relationship Id="rId21" Type="http://schemas.openxmlformats.org/officeDocument/2006/relationships/image" Target="../media/image122.svg"/><Relationship Id="rId42" Type="http://schemas.openxmlformats.org/officeDocument/2006/relationships/image" Target="../media/image143.svg"/><Relationship Id="rId47" Type="http://schemas.openxmlformats.org/officeDocument/2006/relationships/image" Target="../media/image148.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108.svg"/><Relationship Id="rId71" Type="http://schemas.openxmlformats.org/officeDocument/2006/relationships/image" Target="../media/image172.svg"/><Relationship Id="rId2" Type="http://schemas.openxmlformats.org/officeDocument/2006/relationships/image" Target="../media/image103.svg"/><Relationship Id="rId16" Type="http://schemas.openxmlformats.org/officeDocument/2006/relationships/image" Target="../media/image117.svg"/><Relationship Id="rId29" Type="http://schemas.openxmlformats.org/officeDocument/2006/relationships/image" Target="../media/image130.svg"/><Relationship Id="rId11" Type="http://schemas.openxmlformats.org/officeDocument/2006/relationships/image" Target="../media/image112.svg"/><Relationship Id="rId24" Type="http://schemas.openxmlformats.org/officeDocument/2006/relationships/image" Target="../media/image125.svg"/><Relationship Id="rId32" Type="http://schemas.openxmlformats.org/officeDocument/2006/relationships/image" Target="../media/image133.svg"/><Relationship Id="rId37" Type="http://schemas.openxmlformats.org/officeDocument/2006/relationships/image" Target="../media/image138.svg"/><Relationship Id="rId40" Type="http://schemas.openxmlformats.org/officeDocument/2006/relationships/image" Target="../media/image141.svg"/><Relationship Id="rId45" Type="http://schemas.openxmlformats.org/officeDocument/2006/relationships/image" Target="../media/image146.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106.svg"/><Relationship Id="rId61" Type="http://schemas.openxmlformats.org/officeDocument/2006/relationships/image" Target="../media/image162.svg"/><Relationship Id="rId19" Type="http://schemas.openxmlformats.org/officeDocument/2006/relationships/image" Target="../media/image120.svg"/><Relationship Id="rId14" Type="http://schemas.openxmlformats.org/officeDocument/2006/relationships/image" Target="../media/image115.svg"/><Relationship Id="rId22" Type="http://schemas.openxmlformats.org/officeDocument/2006/relationships/image" Target="../media/image123.svg"/><Relationship Id="rId27" Type="http://schemas.openxmlformats.org/officeDocument/2006/relationships/image" Target="../media/image128.svg"/><Relationship Id="rId30" Type="http://schemas.openxmlformats.org/officeDocument/2006/relationships/image" Target="../media/image131.svg"/><Relationship Id="rId35" Type="http://schemas.openxmlformats.org/officeDocument/2006/relationships/image" Target="../media/image136.svg"/><Relationship Id="rId43" Type="http://schemas.openxmlformats.org/officeDocument/2006/relationships/image" Target="../media/image144.svg"/><Relationship Id="rId48" Type="http://schemas.openxmlformats.org/officeDocument/2006/relationships/image" Target="../media/image149.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109.svg"/><Relationship Id="rId51" Type="http://schemas.openxmlformats.org/officeDocument/2006/relationships/image" Target="../media/image200.svg"/><Relationship Id="rId3" Type="http://schemas.openxmlformats.org/officeDocument/2006/relationships/image" Target="../media/image104.svg"/><Relationship Id="rId12" Type="http://schemas.openxmlformats.org/officeDocument/2006/relationships/image" Target="../media/image113.svg"/><Relationship Id="rId17" Type="http://schemas.openxmlformats.org/officeDocument/2006/relationships/image" Target="../media/image118.svg"/><Relationship Id="rId25" Type="http://schemas.openxmlformats.org/officeDocument/2006/relationships/image" Target="../media/image126.svg"/><Relationship Id="rId33" Type="http://schemas.openxmlformats.org/officeDocument/2006/relationships/image" Target="../media/image134.svg"/><Relationship Id="rId38" Type="http://schemas.openxmlformats.org/officeDocument/2006/relationships/image" Target="../media/image139.svg"/><Relationship Id="rId46" Type="http://schemas.openxmlformats.org/officeDocument/2006/relationships/image" Target="../media/image147.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121.svg"/><Relationship Id="rId41" Type="http://schemas.openxmlformats.org/officeDocument/2006/relationships/image" Target="../media/image142.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6.xml"/><Relationship Id="rId6" Type="http://schemas.openxmlformats.org/officeDocument/2006/relationships/image" Target="../media/image107.svg"/><Relationship Id="rId15" Type="http://schemas.openxmlformats.org/officeDocument/2006/relationships/image" Target="../media/image116.svg"/><Relationship Id="rId23" Type="http://schemas.openxmlformats.org/officeDocument/2006/relationships/image" Target="../media/image124.svg"/><Relationship Id="rId28" Type="http://schemas.openxmlformats.org/officeDocument/2006/relationships/image" Target="../media/image129.svg"/><Relationship Id="rId36" Type="http://schemas.openxmlformats.org/officeDocument/2006/relationships/image" Target="../media/image137.svg"/><Relationship Id="rId49" Type="http://schemas.openxmlformats.org/officeDocument/2006/relationships/image" Target="../media/image150.svg"/><Relationship Id="rId57" Type="http://schemas.openxmlformats.org/officeDocument/2006/relationships/image" Target="../media/image158.svg"/><Relationship Id="rId10" Type="http://schemas.openxmlformats.org/officeDocument/2006/relationships/image" Target="../media/image111.svg"/><Relationship Id="rId31" Type="http://schemas.openxmlformats.org/officeDocument/2006/relationships/image" Target="../media/image132.svg"/><Relationship Id="rId44" Type="http://schemas.openxmlformats.org/officeDocument/2006/relationships/image" Target="../media/image145.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105.svg"/><Relationship Id="rId9" Type="http://schemas.openxmlformats.org/officeDocument/2006/relationships/image" Target="../media/image110.svg"/><Relationship Id="rId13" Type="http://schemas.openxmlformats.org/officeDocument/2006/relationships/image" Target="../media/image114.svg"/><Relationship Id="rId18" Type="http://schemas.openxmlformats.org/officeDocument/2006/relationships/image" Target="../media/image119.svg"/><Relationship Id="rId39" Type="http://schemas.openxmlformats.org/officeDocument/2006/relationships/image" Target="../media/image140.svg"/><Relationship Id="rId34" Type="http://schemas.openxmlformats.org/officeDocument/2006/relationships/image" Target="../media/image135.svg"/><Relationship Id="rId50" Type="http://schemas.openxmlformats.org/officeDocument/2006/relationships/image" Target="../media/image151.svg"/><Relationship Id="rId55" Type="http://schemas.openxmlformats.org/officeDocument/2006/relationships/image" Target="../media/image156.svg"/></Relationships>
</file>

<file path=ppt/slideLayouts/_rels/slideLayout123.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image" Target="../media/image18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174.svg"/><Relationship Id="rId21" Type="http://schemas.openxmlformats.org/officeDocument/2006/relationships/image" Target="../media/image192.svg"/><Relationship Id="rId7" Type="http://schemas.openxmlformats.org/officeDocument/2006/relationships/image" Target="../media/image178.svg"/><Relationship Id="rId12" Type="http://schemas.openxmlformats.org/officeDocument/2006/relationships/image" Target="../media/image183.svg"/><Relationship Id="rId17" Type="http://schemas.openxmlformats.org/officeDocument/2006/relationships/image" Target="../media/image188.svg"/><Relationship Id="rId25" Type="http://schemas.openxmlformats.org/officeDocument/2006/relationships/image" Target="../media/image80.svg"/><Relationship Id="rId2" Type="http://schemas.openxmlformats.org/officeDocument/2006/relationships/image" Target="../media/image17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6.xml"/><Relationship Id="rId6" Type="http://schemas.openxmlformats.org/officeDocument/2006/relationships/image" Target="../media/image177.svg"/><Relationship Id="rId11" Type="http://schemas.openxmlformats.org/officeDocument/2006/relationships/image" Target="../media/image182.svg"/><Relationship Id="rId24" Type="http://schemas.openxmlformats.org/officeDocument/2006/relationships/image" Target="../media/image199.svg"/><Relationship Id="rId5" Type="http://schemas.openxmlformats.org/officeDocument/2006/relationships/image" Target="../media/image17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181.svg"/><Relationship Id="rId19" Type="http://schemas.openxmlformats.org/officeDocument/2006/relationships/image" Target="../media/image190.svg"/><Relationship Id="rId4" Type="http://schemas.openxmlformats.org/officeDocument/2006/relationships/image" Target="../media/image175.svg"/><Relationship Id="rId9" Type="http://schemas.openxmlformats.org/officeDocument/2006/relationships/image" Target="../media/image18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7.xml"/><Relationship Id="rId1" Type="http://schemas.openxmlformats.org/officeDocument/2006/relationships/tags" Target="../tags/tag23.xml"/><Relationship Id="rId4" Type="http://schemas.openxmlformats.org/officeDocument/2006/relationships/image" Target="../media/image3.emf"/></Relationships>
</file>

<file path=ppt/slideLayouts/_rels/slideLayout127.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7.xml"/><Relationship Id="rId1" Type="http://schemas.openxmlformats.org/officeDocument/2006/relationships/tags" Target="../tags/tag24.xml"/><Relationship Id="rId4" Type="http://schemas.openxmlformats.org/officeDocument/2006/relationships/image" Target="../media/image3.emf"/></Relationships>
</file>

<file path=ppt/slideLayouts/_rels/slideLayout128.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7.xml"/><Relationship Id="rId1" Type="http://schemas.openxmlformats.org/officeDocument/2006/relationships/tags" Target="../tags/tag25.xml"/><Relationship Id="rId4" Type="http://schemas.openxmlformats.org/officeDocument/2006/relationships/image" Target="../media/image3.emf"/></Relationships>
</file>

<file path=ppt/slideLayouts/_rels/slideLayout129.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7.xml"/><Relationship Id="rId1" Type="http://schemas.openxmlformats.org/officeDocument/2006/relationships/tags" Target="../tags/tag26.xml"/><Relationship Id="rId4" Type="http://schemas.openxmlformats.org/officeDocument/2006/relationships/image" Target="../media/image3.emf"/></Relationships>
</file>

<file path=ppt/slideLayouts/_rels/slideLayout130.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7.xml"/><Relationship Id="rId1" Type="http://schemas.openxmlformats.org/officeDocument/2006/relationships/tags" Target="../tags/tag27.xml"/><Relationship Id="rId4" Type="http://schemas.openxmlformats.org/officeDocument/2006/relationships/image" Target="../media/image3.emf"/></Relationships>
</file>

<file path=ppt/slideLayouts/_rels/slideLayout131.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7.xml"/><Relationship Id="rId1" Type="http://schemas.openxmlformats.org/officeDocument/2006/relationships/tags" Target="../tags/tag28.xml"/><Relationship Id="rId4" Type="http://schemas.openxmlformats.org/officeDocument/2006/relationships/image" Target="../media/image3.emf"/></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26" Type="http://schemas.openxmlformats.org/officeDocument/2006/relationships/image" Target="../media/image28.svg"/><Relationship Id="rId21" Type="http://schemas.openxmlformats.org/officeDocument/2006/relationships/image" Target="../media/image23.svg"/><Relationship Id="rId42" Type="http://schemas.openxmlformats.org/officeDocument/2006/relationships/image" Target="../media/image44.svg"/><Relationship Id="rId47" Type="http://schemas.openxmlformats.org/officeDocument/2006/relationships/image" Target="../media/image49.svg"/><Relationship Id="rId63" Type="http://schemas.openxmlformats.org/officeDocument/2006/relationships/image" Target="../media/image65.svg"/><Relationship Id="rId68" Type="http://schemas.openxmlformats.org/officeDocument/2006/relationships/image" Target="../media/image70.svg"/><Relationship Id="rId2" Type="http://schemas.openxmlformats.org/officeDocument/2006/relationships/image" Target="../media/image4.svg"/><Relationship Id="rId16" Type="http://schemas.openxmlformats.org/officeDocument/2006/relationships/image" Target="../media/image18.svg"/><Relationship Id="rId29" Type="http://schemas.openxmlformats.org/officeDocument/2006/relationships/image" Target="../media/image31.svg"/><Relationship Id="rId11" Type="http://schemas.openxmlformats.org/officeDocument/2006/relationships/image" Target="../media/image13.svg"/><Relationship Id="rId24" Type="http://schemas.openxmlformats.org/officeDocument/2006/relationships/image" Target="../media/image26.svg"/><Relationship Id="rId32" Type="http://schemas.openxmlformats.org/officeDocument/2006/relationships/image" Target="../media/image34.svg"/><Relationship Id="rId37" Type="http://schemas.openxmlformats.org/officeDocument/2006/relationships/image" Target="../media/image39.svg"/><Relationship Id="rId40" Type="http://schemas.openxmlformats.org/officeDocument/2006/relationships/image" Target="../media/image42.svg"/><Relationship Id="rId45" Type="http://schemas.openxmlformats.org/officeDocument/2006/relationships/image" Target="../media/image47.svg"/><Relationship Id="rId53" Type="http://schemas.openxmlformats.org/officeDocument/2006/relationships/image" Target="../media/image55.svg"/><Relationship Id="rId58" Type="http://schemas.openxmlformats.org/officeDocument/2006/relationships/image" Target="../media/image60.svg"/><Relationship Id="rId66" Type="http://schemas.openxmlformats.org/officeDocument/2006/relationships/image" Target="../media/image68.svg"/><Relationship Id="rId74" Type="http://schemas.openxmlformats.org/officeDocument/2006/relationships/image" Target="../media/image204.svg"/><Relationship Id="rId5" Type="http://schemas.openxmlformats.org/officeDocument/2006/relationships/image" Target="../media/image7.svg"/><Relationship Id="rId61" Type="http://schemas.openxmlformats.org/officeDocument/2006/relationships/image" Target="../media/image63.svg"/><Relationship Id="rId19" Type="http://schemas.openxmlformats.org/officeDocument/2006/relationships/image" Target="../media/image21.svg"/><Relationship Id="rId14" Type="http://schemas.openxmlformats.org/officeDocument/2006/relationships/image" Target="../media/image16.svg"/><Relationship Id="rId22" Type="http://schemas.openxmlformats.org/officeDocument/2006/relationships/image" Target="../media/image24.svg"/><Relationship Id="rId27" Type="http://schemas.openxmlformats.org/officeDocument/2006/relationships/image" Target="../media/image29.svg"/><Relationship Id="rId30" Type="http://schemas.openxmlformats.org/officeDocument/2006/relationships/image" Target="../media/image32.svg"/><Relationship Id="rId35" Type="http://schemas.openxmlformats.org/officeDocument/2006/relationships/image" Target="../media/image37.svg"/><Relationship Id="rId43" Type="http://schemas.openxmlformats.org/officeDocument/2006/relationships/image" Target="../media/image45.svg"/><Relationship Id="rId48" Type="http://schemas.openxmlformats.org/officeDocument/2006/relationships/image" Target="../media/image50.svg"/><Relationship Id="rId56" Type="http://schemas.openxmlformats.org/officeDocument/2006/relationships/image" Target="../media/image58.svg"/><Relationship Id="rId64" Type="http://schemas.openxmlformats.org/officeDocument/2006/relationships/image" Target="../media/image66.svg"/><Relationship Id="rId69" Type="http://schemas.openxmlformats.org/officeDocument/2006/relationships/image" Target="../media/image71.svg"/><Relationship Id="rId8" Type="http://schemas.openxmlformats.org/officeDocument/2006/relationships/image" Target="../media/image10.svg"/><Relationship Id="rId51" Type="http://schemas.openxmlformats.org/officeDocument/2006/relationships/image" Target="../media/image53.svg"/><Relationship Id="rId72" Type="http://schemas.openxmlformats.org/officeDocument/2006/relationships/image" Target="../media/image203.svg"/><Relationship Id="rId3" Type="http://schemas.openxmlformats.org/officeDocument/2006/relationships/image" Target="../media/image5.svg"/><Relationship Id="rId12" Type="http://schemas.openxmlformats.org/officeDocument/2006/relationships/image" Target="../media/image14.svg"/><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image" Target="../media/image35.svg"/><Relationship Id="rId38" Type="http://schemas.openxmlformats.org/officeDocument/2006/relationships/image" Target="../media/image40.svg"/><Relationship Id="rId46" Type="http://schemas.openxmlformats.org/officeDocument/2006/relationships/image" Target="../media/image48.svg"/><Relationship Id="rId59" Type="http://schemas.openxmlformats.org/officeDocument/2006/relationships/image" Target="../media/image61.svg"/><Relationship Id="rId67" Type="http://schemas.openxmlformats.org/officeDocument/2006/relationships/image" Target="../media/image69.svg"/><Relationship Id="rId20" Type="http://schemas.openxmlformats.org/officeDocument/2006/relationships/image" Target="../media/image22.svg"/><Relationship Id="rId41" Type="http://schemas.openxmlformats.org/officeDocument/2006/relationships/image" Target="../media/image43.svg"/><Relationship Id="rId54" Type="http://schemas.openxmlformats.org/officeDocument/2006/relationships/image" Target="../media/image56.svg"/><Relationship Id="rId62" Type="http://schemas.openxmlformats.org/officeDocument/2006/relationships/image" Target="../media/image64.svg"/><Relationship Id="rId70" Type="http://schemas.openxmlformats.org/officeDocument/2006/relationships/image" Target="../media/image201.svg"/><Relationship Id="rId75" Type="http://schemas.openxmlformats.org/officeDocument/2006/relationships/image" Target="../media/image205.svg"/><Relationship Id="rId1" Type="http://schemas.openxmlformats.org/officeDocument/2006/relationships/slideMaster" Target="../slideMasters/slideMaster7.xml"/><Relationship Id="rId6" Type="http://schemas.openxmlformats.org/officeDocument/2006/relationships/image" Target="../media/image8.svg"/><Relationship Id="rId15" Type="http://schemas.openxmlformats.org/officeDocument/2006/relationships/image" Target="../media/image17.svg"/><Relationship Id="rId23" Type="http://schemas.openxmlformats.org/officeDocument/2006/relationships/image" Target="../media/image25.svg"/><Relationship Id="rId28" Type="http://schemas.openxmlformats.org/officeDocument/2006/relationships/image" Target="../media/image30.svg"/><Relationship Id="rId36" Type="http://schemas.openxmlformats.org/officeDocument/2006/relationships/image" Target="../media/image38.svg"/><Relationship Id="rId49" Type="http://schemas.openxmlformats.org/officeDocument/2006/relationships/image" Target="../media/image51.svg"/><Relationship Id="rId57" Type="http://schemas.openxmlformats.org/officeDocument/2006/relationships/image" Target="../media/image59.svg"/><Relationship Id="rId10" Type="http://schemas.openxmlformats.org/officeDocument/2006/relationships/image" Target="../media/image12.svg"/><Relationship Id="rId31" Type="http://schemas.openxmlformats.org/officeDocument/2006/relationships/image" Target="../media/image33.svg"/><Relationship Id="rId44" Type="http://schemas.openxmlformats.org/officeDocument/2006/relationships/image" Target="../media/image46.svg"/><Relationship Id="rId52" Type="http://schemas.openxmlformats.org/officeDocument/2006/relationships/image" Target="../media/image54.svg"/><Relationship Id="rId60" Type="http://schemas.openxmlformats.org/officeDocument/2006/relationships/image" Target="../media/image62.svg"/><Relationship Id="rId65" Type="http://schemas.openxmlformats.org/officeDocument/2006/relationships/image" Target="../media/image67.svg"/><Relationship Id="rId73" Type="http://schemas.openxmlformats.org/officeDocument/2006/relationships/image" Target="../media/image75.svg"/><Relationship Id="rId4" Type="http://schemas.openxmlformats.org/officeDocument/2006/relationships/image" Target="../media/image6.svg"/><Relationship Id="rId9" Type="http://schemas.openxmlformats.org/officeDocument/2006/relationships/image" Target="../media/image11.svg"/><Relationship Id="rId13" Type="http://schemas.openxmlformats.org/officeDocument/2006/relationships/image" Target="../media/image15.svg"/><Relationship Id="rId18" Type="http://schemas.openxmlformats.org/officeDocument/2006/relationships/image" Target="../media/image20.svg"/><Relationship Id="rId39" Type="http://schemas.openxmlformats.org/officeDocument/2006/relationships/image" Target="../media/image41.svg"/><Relationship Id="rId34" Type="http://schemas.openxmlformats.org/officeDocument/2006/relationships/image" Target="../media/image36.svg"/><Relationship Id="rId50" Type="http://schemas.openxmlformats.org/officeDocument/2006/relationships/image" Target="../media/image52.svg"/><Relationship Id="rId55" Type="http://schemas.openxmlformats.org/officeDocument/2006/relationships/image" Target="../media/image57.svg"/><Relationship Id="rId76" Type="http://schemas.openxmlformats.org/officeDocument/2006/relationships/image" Target="../media/image206.svg"/><Relationship Id="rId7" Type="http://schemas.openxmlformats.org/officeDocument/2006/relationships/image" Target="../media/image9.svg"/><Relationship Id="rId71" Type="http://schemas.openxmlformats.org/officeDocument/2006/relationships/image" Target="../media/image202.svg"/></Relationships>
</file>

<file path=ppt/slideLayouts/_rels/slideLayout141.xml.rels><?xml version="1.0" encoding="UTF-8" standalone="yes"?>
<Relationships xmlns="http://schemas.openxmlformats.org/package/2006/relationships"><Relationship Id="rId8" Type="http://schemas.openxmlformats.org/officeDocument/2006/relationships/image" Target="../media/image85.svg"/><Relationship Id="rId13" Type="http://schemas.openxmlformats.org/officeDocument/2006/relationships/image" Target="../media/image90.svg"/><Relationship Id="rId18" Type="http://schemas.openxmlformats.org/officeDocument/2006/relationships/image" Target="../media/image95.svg"/><Relationship Id="rId3" Type="http://schemas.openxmlformats.org/officeDocument/2006/relationships/image" Target="../media/image208.svg"/><Relationship Id="rId21" Type="http://schemas.openxmlformats.org/officeDocument/2006/relationships/image" Target="../media/image209.svg"/><Relationship Id="rId7" Type="http://schemas.openxmlformats.org/officeDocument/2006/relationships/image" Target="../media/image84.svg"/><Relationship Id="rId12" Type="http://schemas.openxmlformats.org/officeDocument/2006/relationships/image" Target="../media/image89.svg"/><Relationship Id="rId17" Type="http://schemas.openxmlformats.org/officeDocument/2006/relationships/image" Target="../media/image94.svg"/><Relationship Id="rId25" Type="http://schemas.openxmlformats.org/officeDocument/2006/relationships/image" Target="../media/image213.svg"/><Relationship Id="rId2" Type="http://schemas.openxmlformats.org/officeDocument/2006/relationships/image" Target="../media/image207.svg"/><Relationship Id="rId16" Type="http://schemas.openxmlformats.org/officeDocument/2006/relationships/image" Target="../media/image93.svg"/><Relationship Id="rId20" Type="http://schemas.openxmlformats.org/officeDocument/2006/relationships/image" Target="../media/image97.svg"/><Relationship Id="rId1" Type="http://schemas.openxmlformats.org/officeDocument/2006/relationships/slideMaster" Target="../slideMasters/slideMaster7.xml"/><Relationship Id="rId6" Type="http://schemas.openxmlformats.org/officeDocument/2006/relationships/image" Target="../media/image83.svg"/><Relationship Id="rId11" Type="http://schemas.openxmlformats.org/officeDocument/2006/relationships/image" Target="../media/image88.svg"/><Relationship Id="rId24" Type="http://schemas.openxmlformats.org/officeDocument/2006/relationships/image" Target="../media/image212.svg"/><Relationship Id="rId5" Type="http://schemas.openxmlformats.org/officeDocument/2006/relationships/image" Target="../media/image82.svg"/><Relationship Id="rId15" Type="http://schemas.openxmlformats.org/officeDocument/2006/relationships/image" Target="../media/image92.svg"/><Relationship Id="rId23" Type="http://schemas.openxmlformats.org/officeDocument/2006/relationships/image" Target="../media/image211.svg"/><Relationship Id="rId10" Type="http://schemas.openxmlformats.org/officeDocument/2006/relationships/image" Target="../media/image87.svg"/><Relationship Id="rId19" Type="http://schemas.openxmlformats.org/officeDocument/2006/relationships/image" Target="../media/image96.svg"/><Relationship Id="rId4" Type="http://schemas.openxmlformats.org/officeDocument/2006/relationships/image" Target="../media/image81.svg"/><Relationship Id="rId9" Type="http://schemas.openxmlformats.org/officeDocument/2006/relationships/image" Target="../media/image86.svg"/><Relationship Id="rId14" Type="http://schemas.openxmlformats.org/officeDocument/2006/relationships/image" Target="../media/image91.svg"/><Relationship Id="rId22" Type="http://schemas.openxmlformats.org/officeDocument/2006/relationships/image" Target="../media/image210.svg"/></Relationships>
</file>

<file path=ppt/slideLayouts/_rels/slideLayout142.xml.rels><?xml version="1.0" encoding="UTF-8" standalone="yes"?>
<Relationships xmlns="http://schemas.openxmlformats.org/package/2006/relationships"><Relationship Id="rId26" Type="http://schemas.openxmlformats.org/officeDocument/2006/relationships/image" Target="../media/image238.svg"/><Relationship Id="rId21" Type="http://schemas.openxmlformats.org/officeDocument/2006/relationships/image" Target="../media/image233.svg"/><Relationship Id="rId42" Type="http://schemas.openxmlformats.org/officeDocument/2006/relationships/image" Target="../media/image254.svg"/><Relationship Id="rId47" Type="http://schemas.openxmlformats.org/officeDocument/2006/relationships/image" Target="../media/image259.svg"/><Relationship Id="rId63" Type="http://schemas.openxmlformats.org/officeDocument/2006/relationships/image" Target="../media/image164.svg"/><Relationship Id="rId68" Type="http://schemas.openxmlformats.org/officeDocument/2006/relationships/image" Target="../media/image169.svg"/><Relationship Id="rId7" Type="http://schemas.openxmlformats.org/officeDocument/2006/relationships/image" Target="../media/image219.svg"/><Relationship Id="rId71" Type="http://schemas.openxmlformats.org/officeDocument/2006/relationships/image" Target="../media/image172.svg"/><Relationship Id="rId2" Type="http://schemas.openxmlformats.org/officeDocument/2006/relationships/image" Target="../media/image214.svg"/><Relationship Id="rId16" Type="http://schemas.openxmlformats.org/officeDocument/2006/relationships/image" Target="../media/image228.svg"/><Relationship Id="rId29" Type="http://schemas.openxmlformats.org/officeDocument/2006/relationships/image" Target="../media/image241.svg"/><Relationship Id="rId11" Type="http://schemas.openxmlformats.org/officeDocument/2006/relationships/image" Target="../media/image223.svg"/><Relationship Id="rId24" Type="http://schemas.openxmlformats.org/officeDocument/2006/relationships/image" Target="../media/image236.svg"/><Relationship Id="rId32" Type="http://schemas.openxmlformats.org/officeDocument/2006/relationships/image" Target="../media/image244.svg"/><Relationship Id="rId37" Type="http://schemas.openxmlformats.org/officeDocument/2006/relationships/image" Target="../media/image249.svg"/><Relationship Id="rId40" Type="http://schemas.openxmlformats.org/officeDocument/2006/relationships/image" Target="../media/image252.svg"/><Relationship Id="rId45" Type="http://schemas.openxmlformats.org/officeDocument/2006/relationships/image" Target="../media/image257.svg"/><Relationship Id="rId53" Type="http://schemas.openxmlformats.org/officeDocument/2006/relationships/image" Target="../media/image154.svg"/><Relationship Id="rId58" Type="http://schemas.openxmlformats.org/officeDocument/2006/relationships/image" Target="../media/image159.svg"/><Relationship Id="rId66" Type="http://schemas.openxmlformats.org/officeDocument/2006/relationships/image" Target="../media/image167.svg"/><Relationship Id="rId5" Type="http://schemas.openxmlformats.org/officeDocument/2006/relationships/image" Target="../media/image217.svg"/><Relationship Id="rId61" Type="http://schemas.openxmlformats.org/officeDocument/2006/relationships/image" Target="../media/image162.svg"/><Relationship Id="rId19" Type="http://schemas.openxmlformats.org/officeDocument/2006/relationships/image" Target="../media/image231.svg"/><Relationship Id="rId14" Type="http://schemas.openxmlformats.org/officeDocument/2006/relationships/image" Target="../media/image226.svg"/><Relationship Id="rId22" Type="http://schemas.openxmlformats.org/officeDocument/2006/relationships/image" Target="../media/image234.svg"/><Relationship Id="rId27" Type="http://schemas.openxmlformats.org/officeDocument/2006/relationships/image" Target="../media/image239.svg"/><Relationship Id="rId30" Type="http://schemas.openxmlformats.org/officeDocument/2006/relationships/image" Target="../media/image242.svg"/><Relationship Id="rId35" Type="http://schemas.openxmlformats.org/officeDocument/2006/relationships/image" Target="../media/image247.svg"/><Relationship Id="rId43" Type="http://schemas.openxmlformats.org/officeDocument/2006/relationships/image" Target="../media/image255.svg"/><Relationship Id="rId48" Type="http://schemas.openxmlformats.org/officeDocument/2006/relationships/image" Target="../media/image260.svg"/><Relationship Id="rId56" Type="http://schemas.openxmlformats.org/officeDocument/2006/relationships/image" Target="../media/image157.svg"/><Relationship Id="rId64" Type="http://schemas.openxmlformats.org/officeDocument/2006/relationships/image" Target="../media/image165.svg"/><Relationship Id="rId69" Type="http://schemas.openxmlformats.org/officeDocument/2006/relationships/image" Target="../media/image170.svg"/><Relationship Id="rId8" Type="http://schemas.openxmlformats.org/officeDocument/2006/relationships/image" Target="../media/image220.svg"/><Relationship Id="rId51" Type="http://schemas.openxmlformats.org/officeDocument/2006/relationships/image" Target="../media/image152.svg"/><Relationship Id="rId3" Type="http://schemas.openxmlformats.org/officeDocument/2006/relationships/image" Target="../media/image215.svg"/><Relationship Id="rId12" Type="http://schemas.openxmlformats.org/officeDocument/2006/relationships/image" Target="../media/image224.svg"/><Relationship Id="rId17" Type="http://schemas.openxmlformats.org/officeDocument/2006/relationships/image" Target="../media/image229.svg"/><Relationship Id="rId25" Type="http://schemas.openxmlformats.org/officeDocument/2006/relationships/image" Target="../media/image237.svg"/><Relationship Id="rId33" Type="http://schemas.openxmlformats.org/officeDocument/2006/relationships/image" Target="../media/image245.svg"/><Relationship Id="rId38" Type="http://schemas.openxmlformats.org/officeDocument/2006/relationships/image" Target="../media/image250.svg"/><Relationship Id="rId46" Type="http://schemas.openxmlformats.org/officeDocument/2006/relationships/image" Target="../media/image258.svg"/><Relationship Id="rId59" Type="http://schemas.openxmlformats.org/officeDocument/2006/relationships/image" Target="../media/image160.svg"/><Relationship Id="rId67" Type="http://schemas.openxmlformats.org/officeDocument/2006/relationships/image" Target="../media/image168.svg"/><Relationship Id="rId20" Type="http://schemas.openxmlformats.org/officeDocument/2006/relationships/image" Target="../media/image232.svg"/><Relationship Id="rId41" Type="http://schemas.openxmlformats.org/officeDocument/2006/relationships/image" Target="../media/image253.svg"/><Relationship Id="rId54" Type="http://schemas.openxmlformats.org/officeDocument/2006/relationships/image" Target="../media/image155.svg"/><Relationship Id="rId62" Type="http://schemas.openxmlformats.org/officeDocument/2006/relationships/image" Target="../media/image163.svg"/><Relationship Id="rId70" Type="http://schemas.openxmlformats.org/officeDocument/2006/relationships/image" Target="../media/image171.svg"/><Relationship Id="rId1" Type="http://schemas.openxmlformats.org/officeDocument/2006/relationships/slideMaster" Target="../slideMasters/slideMaster7.xml"/><Relationship Id="rId6" Type="http://schemas.openxmlformats.org/officeDocument/2006/relationships/image" Target="../media/image218.svg"/><Relationship Id="rId15" Type="http://schemas.openxmlformats.org/officeDocument/2006/relationships/image" Target="../media/image227.svg"/><Relationship Id="rId23" Type="http://schemas.openxmlformats.org/officeDocument/2006/relationships/image" Target="../media/image235.svg"/><Relationship Id="rId28" Type="http://schemas.openxmlformats.org/officeDocument/2006/relationships/image" Target="../media/image240.svg"/><Relationship Id="rId36" Type="http://schemas.openxmlformats.org/officeDocument/2006/relationships/image" Target="../media/image248.svg"/><Relationship Id="rId49" Type="http://schemas.openxmlformats.org/officeDocument/2006/relationships/image" Target="../media/image261.svg"/><Relationship Id="rId57" Type="http://schemas.openxmlformats.org/officeDocument/2006/relationships/image" Target="../media/image158.svg"/><Relationship Id="rId10" Type="http://schemas.openxmlformats.org/officeDocument/2006/relationships/image" Target="../media/image222.svg"/><Relationship Id="rId31" Type="http://schemas.openxmlformats.org/officeDocument/2006/relationships/image" Target="../media/image243.svg"/><Relationship Id="rId44" Type="http://schemas.openxmlformats.org/officeDocument/2006/relationships/image" Target="../media/image256.svg"/><Relationship Id="rId52" Type="http://schemas.openxmlformats.org/officeDocument/2006/relationships/image" Target="../media/image153.svg"/><Relationship Id="rId60" Type="http://schemas.openxmlformats.org/officeDocument/2006/relationships/image" Target="../media/image161.svg"/><Relationship Id="rId65" Type="http://schemas.openxmlformats.org/officeDocument/2006/relationships/image" Target="../media/image166.svg"/><Relationship Id="rId4" Type="http://schemas.openxmlformats.org/officeDocument/2006/relationships/image" Target="../media/image216.svg"/><Relationship Id="rId9" Type="http://schemas.openxmlformats.org/officeDocument/2006/relationships/image" Target="../media/image221.svg"/><Relationship Id="rId13" Type="http://schemas.openxmlformats.org/officeDocument/2006/relationships/image" Target="../media/image225.svg"/><Relationship Id="rId18" Type="http://schemas.openxmlformats.org/officeDocument/2006/relationships/image" Target="../media/image230.svg"/><Relationship Id="rId39" Type="http://schemas.openxmlformats.org/officeDocument/2006/relationships/image" Target="../media/image251.svg"/><Relationship Id="rId34" Type="http://schemas.openxmlformats.org/officeDocument/2006/relationships/image" Target="../media/image246.svg"/><Relationship Id="rId50" Type="http://schemas.openxmlformats.org/officeDocument/2006/relationships/image" Target="../media/image262.svg"/><Relationship Id="rId55" Type="http://schemas.openxmlformats.org/officeDocument/2006/relationships/image" Target="../media/image156.svg"/></Relationships>
</file>

<file path=ppt/slideLayouts/_rels/slideLayout143.xml.rels><?xml version="1.0" encoding="UTF-8" standalone="yes"?>
<Relationships xmlns="http://schemas.openxmlformats.org/package/2006/relationships"><Relationship Id="rId8" Type="http://schemas.openxmlformats.org/officeDocument/2006/relationships/image" Target="../media/image269.svg"/><Relationship Id="rId13" Type="http://schemas.openxmlformats.org/officeDocument/2006/relationships/image" Target="../media/image274.svg"/><Relationship Id="rId18" Type="http://schemas.openxmlformats.org/officeDocument/2006/relationships/image" Target="../media/image189.svg"/><Relationship Id="rId26" Type="http://schemas.openxmlformats.org/officeDocument/2006/relationships/image" Target="../media/image195.svg"/><Relationship Id="rId3" Type="http://schemas.openxmlformats.org/officeDocument/2006/relationships/image" Target="../media/image264.svg"/><Relationship Id="rId21" Type="http://schemas.openxmlformats.org/officeDocument/2006/relationships/image" Target="../media/image192.svg"/><Relationship Id="rId7" Type="http://schemas.openxmlformats.org/officeDocument/2006/relationships/image" Target="../media/image268.svg"/><Relationship Id="rId12" Type="http://schemas.openxmlformats.org/officeDocument/2006/relationships/image" Target="../media/image273.svg"/><Relationship Id="rId17" Type="http://schemas.openxmlformats.org/officeDocument/2006/relationships/image" Target="../media/image188.svg"/><Relationship Id="rId25" Type="http://schemas.openxmlformats.org/officeDocument/2006/relationships/image" Target="../media/image208.svg"/><Relationship Id="rId2" Type="http://schemas.openxmlformats.org/officeDocument/2006/relationships/image" Target="../media/image263.svg"/><Relationship Id="rId16" Type="http://schemas.openxmlformats.org/officeDocument/2006/relationships/image" Target="../media/image187.svg"/><Relationship Id="rId20" Type="http://schemas.openxmlformats.org/officeDocument/2006/relationships/image" Target="../media/image191.svg"/><Relationship Id="rId1" Type="http://schemas.openxmlformats.org/officeDocument/2006/relationships/slideMaster" Target="../slideMasters/slideMaster7.xml"/><Relationship Id="rId6" Type="http://schemas.openxmlformats.org/officeDocument/2006/relationships/image" Target="../media/image267.svg"/><Relationship Id="rId11" Type="http://schemas.openxmlformats.org/officeDocument/2006/relationships/image" Target="../media/image272.svg"/><Relationship Id="rId24" Type="http://schemas.openxmlformats.org/officeDocument/2006/relationships/image" Target="../media/image207.svg"/><Relationship Id="rId5" Type="http://schemas.openxmlformats.org/officeDocument/2006/relationships/image" Target="../media/image266.svg"/><Relationship Id="rId15" Type="http://schemas.openxmlformats.org/officeDocument/2006/relationships/image" Target="../media/image186.svg"/><Relationship Id="rId23" Type="http://schemas.openxmlformats.org/officeDocument/2006/relationships/image" Target="../media/image194.svg"/><Relationship Id="rId10" Type="http://schemas.openxmlformats.org/officeDocument/2006/relationships/image" Target="../media/image271.svg"/><Relationship Id="rId19" Type="http://schemas.openxmlformats.org/officeDocument/2006/relationships/image" Target="../media/image190.svg"/><Relationship Id="rId4" Type="http://schemas.openxmlformats.org/officeDocument/2006/relationships/image" Target="../media/image265.svg"/><Relationship Id="rId9" Type="http://schemas.openxmlformats.org/officeDocument/2006/relationships/image" Target="../media/image270.svg"/><Relationship Id="rId14" Type="http://schemas.openxmlformats.org/officeDocument/2006/relationships/image" Target="../media/image185.svg"/><Relationship Id="rId22" Type="http://schemas.openxmlformats.org/officeDocument/2006/relationships/image" Target="../media/image193.svg"/></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96.png"/><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7.xml"/><Relationship Id="rId1" Type="http://schemas.openxmlformats.org/officeDocument/2006/relationships/tags" Target="../tags/tag29.xml"/><Relationship Id="rId4" Type="http://schemas.openxmlformats.org/officeDocument/2006/relationships/image" Target="../media/image3.emf"/></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userDrawn="1"/>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userDrawn="1"/>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userDrawn="1"/>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userDrawn="1"/>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3676656417"/>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userDrawn="1"/>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userDrawn="1"/>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userDrawn="1"/>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userDrawn="1"/>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userDrawn="1"/>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userDrawn="1"/>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userDrawn="1"/>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userDrawn="1"/>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userDrawn="1"/>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userDrawn="1"/>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userDrawn="1"/>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userDrawn="1"/>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userDrawn="1"/>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userDrawn="1"/>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userDrawn="1"/>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3956331383"/>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BoardConten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60013CBE-AAFE-280E-E558-FC2A21A67A03}"/>
              </a:ext>
            </a:extLst>
          </p:cNvPr>
          <p:cNvGraphicFramePr>
            <a:graphicFrameLocks noChangeAspect="1"/>
          </p:cNvGraphicFramePr>
          <p:nvPr userDrawn="1">
            <p:custDataLst>
              <p:tags r:id="rId1"/>
            </p:custDataLst>
            <p:extLst>
              <p:ext uri="{D42A27DB-BD31-4B8C-83A1-F6EECF244321}">
                <p14:modId xmlns:p14="http://schemas.microsoft.com/office/powerpoint/2010/main" val="206105095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6" progId="TCLayout.ActiveDocument.1">
                  <p:embed/>
                </p:oleObj>
              </mc:Choice>
              <mc:Fallback>
                <p:oleObj name="think-cell Slide" r:id="rId3" imgW="473" imgH="476" progId="TCLayout.ActiveDocument.1">
                  <p:embed/>
                  <p:pic>
                    <p:nvPicPr>
                      <p:cNvPr id="8" name="think-cell data - do not delete" hidden="1">
                        <a:extLst>
                          <a:ext uri="{FF2B5EF4-FFF2-40B4-BE49-F238E27FC236}">
                            <a16:creationId xmlns:a16="http://schemas.microsoft.com/office/drawing/2014/main" id="{60013CBE-AAFE-280E-E558-FC2A21A67A0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10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3323805611"/>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BoardContent_Sub">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D418CB82-0BC2-0AEC-3FCF-FFF1208364B2}"/>
              </a:ext>
            </a:extLst>
          </p:cNvPr>
          <p:cNvGraphicFramePr>
            <a:graphicFrameLocks/>
          </p:cNvGraphicFramePr>
          <p:nvPr userDrawn="1">
            <p:custDataLst>
              <p:tags r:id="rId1"/>
            </p:custDataLst>
            <p:extLst>
              <p:ext uri="{D42A27DB-BD31-4B8C-83A1-F6EECF244321}">
                <p14:modId xmlns:p14="http://schemas.microsoft.com/office/powerpoint/2010/main" val="25440322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6" progId="TCLayout.ActiveDocument.1">
                  <p:embed/>
                </p:oleObj>
              </mc:Choice>
              <mc:Fallback>
                <p:oleObj name="think-cell Slide" r:id="rId3" imgW="473" imgH="476" progId="TCLayout.ActiveDocument.1">
                  <p:embed/>
                  <p:pic>
                    <p:nvPicPr>
                      <p:cNvPr id="7" name="think-cell data - do not delete" hidden="1">
                        <a:extLst>
                          <a:ext uri="{FF2B5EF4-FFF2-40B4-BE49-F238E27FC236}">
                            <a16:creationId xmlns:a16="http://schemas.microsoft.com/office/drawing/2014/main" id="{D418CB82-0BC2-0AEC-3FCF-FFF1208364B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10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Tree>
    <p:extLst>
      <p:ext uri="{BB962C8B-B14F-4D97-AF65-F5344CB8AC3E}">
        <p14:creationId xmlns:p14="http://schemas.microsoft.com/office/powerpoint/2010/main" val="3335854221"/>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3190981883"/>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2911395379"/>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userDrawn="1"/>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userDrawn="1"/>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userDrawn="1"/>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userDrawn="1"/>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userDrawn="1"/>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userDrawn="1"/>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userDrawn="1"/>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userDrawn="1"/>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userDrawn="1"/>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userDrawn="1"/>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userDrawn="1"/>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userDrawn="1"/>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userDrawn="1"/>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userDrawn="1"/>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userDrawn="1"/>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userDrawn="1"/>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userDrawn="1"/>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userDrawn="1"/>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userDrawn="1"/>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userDrawn="1"/>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userDrawn="1"/>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userDrawn="1"/>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userDrawn="1"/>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userDrawn="1"/>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userDrawn="1"/>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userDrawn="1"/>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userDrawn="1"/>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userDrawn="1"/>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userDrawn="1"/>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userDrawn="1"/>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userDrawn="1"/>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userDrawn="1"/>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userDrawn="1"/>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userDrawn="1"/>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userDrawn="1"/>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userDrawn="1"/>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userDrawn="1"/>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userDrawn="1"/>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userDrawn="1"/>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userDrawn="1"/>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userDrawn="1"/>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userDrawn="1"/>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userDrawn="1"/>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userDrawn="1"/>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userDrawn="1"/>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userDrawn="1"/>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userDrawn="1"/>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userDrawn="1"/>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userDrawn="1"/>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userDrawn="1"/>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userDrawn="1"/>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userDrawn="1"/>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userDrawn="1"/>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userDrawn="1"/>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userDrawn="1"/>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userDrawn="1"/>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userDrawn="1"/>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userDrawn="1"/>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userDrawn="1"/>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userDrawn="1"/>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userDrawn="1"/>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userDrawn="1"/>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userDrawn="1"/>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userDrawn="1"/>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userDrawn="1"/>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userDrawn="1"/>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userDrawn="1"/>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userDrawn="1"/>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userDrawn="1"/>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userDrawn="1"/>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userDrawn="1"/>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userDrawn="1"/>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userDrawn="1"/>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userDrawn="1"/>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userDrawn="1"/>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userDrawn="1"/>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userDrawn="1"/>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userDrawn="1"/>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userDrawn="1"/>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userDrawn="1"/>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userDrawn="1"/>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userDrawn="1"/>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userDrawn="1"/>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userDrawn="1"/>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userDrawn="1"/>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userDrawn="1"/>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userDrawn="1"/>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userDrawn="1"/>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userDrawn="1"/>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userDrawn="1"/>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userDrawn="1"/>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userDrawn="1"/>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userDrawn="1"/>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userDrawn="1"/>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userDrawn="1"/>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userDrawn="1"/>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userDrawn="1"/>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userDrawn="1"/>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userDrawn="1"/>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userDrawn="1"/>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userDrawn="1"/>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userDrawn="1"/>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userDrawn="1"/>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userDrawn="1"/>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userDrawn="1"/>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userDrawn="1"/>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userDrawn="1"/>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userDrawn="1"/>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userDrawn="1"/>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userDrawn="1"/>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userDrawn="1"/>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 name="Shape 2647">
            <a:extLst>
              <a:ext uri="{FF2B5EF4-FFF2-40B4-BE49-F238E27FC236}">
                <a16:creationId xmlns:a16="http://schemas.microsoft.com/office/drawing/2014/main" id="{AD4817DA-8F33-6E3C-01B5-13A2FB757EDF}"/>
              </a:ext>
            </a:extLst>
          </p:cNvPr>
          <p:cNvSpPr/>
          <p:nvPr userDrawn="1"/>
        </p:nvSpPr>
        <p:spPr>
          <a:xfrm>
            <a:off x="3605888" y="102935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 name="Shape 2546">
            <a:extLst>
              <a:ext uri="{FF2B5EF4-FFF2-40B4-BE49-F238E27FC236}">
                <a16:creationId xmlns:a16="http://schemas.microsoft.com/office/drawing/2014/main" id="{124EE542-82CF-1B1D-DAB6-A922E6C4D744}"/>
              </a:ext>
            </a:extLst>
          </p:cNvPr>
          <p:cNvSpPr/>
          <p:nvPr userDrawn="1"/>
        </p:nvSpPr>
        <p:spPr>
          <a:xfrm>
            <a:off x="4198107" y="165404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6054148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userDrawn="1"/>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userDrawn="1"/>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userDrawn="1"/>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userDrawn="1"/>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userDrawn="1"/>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userDrawn="1"/>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userDrawn="1"/>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userDrawn="1"/>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userDrawn="1"/>
        </p:nvSpPr>
        <p:spPr>
          <a:xfrm>
            <a:off x="5040649" y="2740848"/>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userDrawn="1"/>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userDrawn="1"/>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userDrawn="1"/>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userDrawn="1"/>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userDrawn="1"/>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userDrawn="1"/>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userDrawn="1"/>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userDrawn="1"/>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userDrawn="1"/>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userDrawn="1"/>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userDrawn="1"/>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userDrawn="1"/>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userDrawn="1"/>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userDrawn="1"/>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userDrawn="1"/>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userDrawn="1"/>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userDrawn="1"/>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userDrawn="1"/>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userDrawn="1"/>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userDrawn="1"/>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userDrawn="1"/>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userDrawn="1"/>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userDrawn="1"/>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userDrawn="1"/>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userDrawn="1"/>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userDrawn="1"/>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userDrawn="1"/>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userDrawn="1"/>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userDrawn="1"/>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userDrawn="1"/>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userDrawn="1"/>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userDrawn="1"/>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userDrawn="1"/>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userDrawn="1"/>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userDrawn="1"/>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userDrawn="1"/>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userDrawn="1"/>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userDrawn="1"/>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userDrawn="1"/>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userDrawn="1"/>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userDrawn="1"/>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userDrawn="1"/>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userDrawn="1"/>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userDrawn="1"/>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userDrawn="1"/>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userDrawn="1"/>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userDrawn="1"/>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userDrawn="1"/>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userDrawn="1"/>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userDrawn="1"/>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userDrawn="1"/>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userDrawn="1"/>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userDrawn="1"/>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userDrawn="1"/>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userDrawn="1"/>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userDrawn="1"/>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userDrawn="1"/>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userDrawn="1"/>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userDrawn="1"/>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userDrawn="1"/>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userDrawn="1"/>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userDrawn="1"/>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userDrawn="1"/>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userDrawn="1"/>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userDrawn="1"/>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userDrawn="1"/>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userDrawn="1"/>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userDrawn="1"/>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userDrawn="1"/>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userDrawn="1"/>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userDrawn="1"/>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userDrawn="1"/>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userDrawn="1"/>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userDrawn="1"/>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userDrawn="1"/>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userDrawn="1"/>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userDrawn="1"/>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userDrawn="1"/>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userDrawn="1"/>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userDrawn="1"/>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userDrawn="1"/>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userDrawn="1"/>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userDrawn="1"/>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userDrawn="1"/>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userDrawn="1"/>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userDrawn="1"/>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userDrawn="1"/>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userDrawn="1"/>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userDrawn="1"/>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userDrawn="1"/>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userDrawn="1"/>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userDrawn="1"/>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userDrawn="1"/>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userDrawn="1"/>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userDrawn="1"/>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userDrawn="1"/>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userDrawn="1"/>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userDrawn="1"/>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userDrawn="1"/>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userDrawn="1"/>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userDrawn="1"/>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userDrawn="1"/>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Shape 2617">
            <a:extLst>
              <a:ext uri="{FF2B5EF4-FFF2-40B4-BE49-F238E27FC236}">
                <a16:creationId xmlns:a16="http://schemas.microsoft.com/office/drawing/2014/main" id="{79D42FCA-B144-D37E-A519-3C34E8195114}"/>
              </a:ext>
            </a:extLst>
          </p:cNvPr>
          <p:cNvSpPr/>
          <p:nvPr userDrawn="1"/>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Shape 2647">
            <a:extLst>
              <a:ext uri="{FF2B5EF4-FFF2-40B4-BE49-F238E27FC236}">
                <a16:creationId xmlns:a16="http://schemas.microsoft.com/office/drawing/2014/main" id="{22B5EB8E-B755-4740-A6D1-7ECFB7040DB7}"/>
              </a:ext>
            </a:extLst>
          </p:cNvPr>
          <p:cNvSpPr/>
          <p:nvPr userDrawn="1"/>
        </p:nvSpPr>
        <p:spPr>
          <a:xfrm>
            <a:off x="3605888" y="102935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65453108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userDrawn="1"/>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userDrawn="1"/>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userDrawn="1"/>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userDrawn="1"/>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userDrawn="1"/>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userDrawn="1"/>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userDrawn="1"/>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userDrawn="1"/>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userDrawn="1"/>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userDrawn="1"/>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userDrawn="1"/>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userDrawn="1"/>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userDrawn="1"/>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userDrawn="1"/>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userDrawn="1"/>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userDrawn="1"/>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userDrawn="1"/>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userDrawn="1"/>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userDrawn="1"/>
        </p:nvSpPr>
        <p:spPr>
          <a:xfrm>
            <a:off x="4477011" y="336929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userDrawn="1"/>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userDrawn="1"/>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userDrawn="1"/>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userDrawn="1"/>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userDrawn="1"/>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userDrawn="1"/>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userDrawn="1"/>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userDrawn="1"/>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userDrawn="1"/>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userDrawn="1"/>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userDrawn="1"/>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userDrawn="1"/>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userDrawn="1"/>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userDrawn="1"/>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userDrawn="1"/>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userDrawn="1"/>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userDrawn="1"/>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userDrawn="1"/>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userDrawn="1"/>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userDrawn="1"/>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userDrawn="1"/>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userDrawn="1"/>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userDrawn="1"/>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userDrawn="1"/>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userDrawn="1"/>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userDrawn="1"/>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userDrawn="1"/>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userDrawn="1"/>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userDrawn="1"/>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userDrawn="1"/>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userDrawn="1"/>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userDrawn="1"/>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userDrawn="1"/>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userDrawn="1"/>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userDrawn="1"/>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userDrawn="1"/>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userDrawn="1"/>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userDrawn="1"/>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userDrawn="1"/>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userDrawn="1"/>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userDrawn="1"/>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userDrawn="1"/>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userDrawn="1"/>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userDrawn="1"/>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userDrawn="1"/>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userDrawn="1"/>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userDrawn="1"/>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userDrawn="1"/>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userDrawn="1"/>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userDrawn="1"/>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userDrawn="1"/>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userDrawn="1"/>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userDrawn="1"/>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userDrawn="1"/>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userDrawn="1"/>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userDrawn="1"/>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userDrawn="1"/>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userDrawn="1"/>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userDrawn="1"/>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userDrawn="1"/>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userDrawn="1"/>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userDrawn="1"/>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userDrawn="1"/>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userDrawn="1"/>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userDrawn="1"/>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userDrawn="1"/>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userDrawn="1"/>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userDrawn="1"/>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userDrawn="1"/>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userDrawn="1"/>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userDrawn="1"/>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userDrawn="1"/>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userDrawn="1"/>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userDrawn="1"/>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userDrawn="1"/>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userDrawn="1"/>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userDrawn="1"/>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userDrawn="1"/>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userDrawn="1"/>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userDrawn="1"/>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userDrawn="1"/>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userDrawn="1"/>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userDrawn="1"/>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Shape 2644">
            <a:extLst>
              <a:ext uri="{FF2B5EF4-FFF2-40B4-BE49-F238E27FC236}">
                <a16:creationId xmlns:a16="http://schemas.microsoft.com/office/drawing/2014/main" id="{10FEA330-01FE-2BA4-14A4-734986D52A1C}"/>
              </a:ext>
            </a:extLst>
          </p:cNvPr>
          <p:cNvSpPr/>
          <p:nvPr userDrawn="1"/>
        </p:nvSpPr>
        <p:spPr>
          <a:xfrm>
            <a:off x="4501371" y="2199672"/>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Shape 2645">
            <a:extLst>
              <a:ext uri="{FF2B5EF4-FFF2-40B4-BE49-F238E27FC236}">
                <a16:creationId xmlns:a16="http://schemas.microsoft.com/office/drawing/2014/main" id="{9B697243-FAB4-C4E8-09D5-1109318F509A}"/>
              </a:ext>
            </a:extLst>
          </p:cNvPr>
          <p:cNvSpPr/>
          <p:nvPr userDrawn="1"/>
        </p:nvSpPr>
        <p:spPr>
          <a:xfrm>
            <a:off x="5040649" y="2199672"/>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41986456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userDrawn="1"/>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userDrawn="1"/>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userDrawn="1"/>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userDrawn="1"/>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userDrawn="1"/>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userDrawn="1"/>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userDrawn="1"/>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userDrawn="1"/>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userDrawn="1"/>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userDrawn="1"/>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userDrawn="1"/>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userDrawn="1"/>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userDrawn="1"/>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userDrawn="1"/>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userDrawn="1"/>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userDrawn="1"/>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userDrawn="1"/>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userDrawn="1"/>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userDrawn="1"/>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userDrawn="1"/>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userDrawn="1"/>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userDrawn="1"/>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userDrawn="1"/>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userDrawn="1"/>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userDrawn="1"/>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userDrawn="1"/>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userDrawn="1"/>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userDrawn="1"/>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userDrawn="1"/>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userDrawn="1"/>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userDrawn="1"/>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userDrawn="1"/>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userDrawn="1"/>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userDrawn="1"/>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userDrawn="1"/>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userDrawn="1"/>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userDrawn="1"/>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userDrawn="1"/>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userDrawn="1"/>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userDrawn="1"/>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userDrawn="1"/>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userDrawn="1"/>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userDrawn="1"/>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userDrawn="1"/>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userDrawn="1"/>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userDrawn="1"/>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userDrawn="1"/>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userDrawn="1"/>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userDrawn="1"/>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userDrawn="1"/>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userDrawn="1"/>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userDrawn="1"/>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Shape 2617">
            <a:extLst>
              <a:ext uri="{FF2B5EF4-FFF2-40B4-BE49-F238E27FC236}">
                <a16:creationId xmlns:a16="http://schemas.microsoft.com/office/drawing/2014/main" id="{CD11FBDD-3142-B05A-F677-3281152912E5}"/>
              </a:ext>
            </a:extLst>
          </p:cNvPr>
          <p:cNvSpPr/>
          <p:nvPr userDrawn="1"/>
        </p:nvSpPr>
        <p:spPr>
          <a:xfrm>
            <a:off x="2581929" y="526690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31386883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userDrawn="1"/>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userDrawn="1"/>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userDrawn="1"/>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userDrawn="1"/>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userDrawn="1"/>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userDrawn="1"/>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userDrawn="1"/>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userDrawn="1"/>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userDrawn="1"/>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userDrawn="1"/>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userDrawn="1"/>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userDrawn="1"/>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userDrawn="1"/>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userDrawn="1"/>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userDrawn="1"/>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userDrawn="1"/>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userDrawn="1"/>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userDrawn="1"/>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userDrawn="1"/>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userDrawn="1"/>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userDrawn="1"/>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userDrawn="1"/>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userDrawn="1"/>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userDrawn="1"/>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userDrawn="1"/>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userDrawn="1"/>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userDrawn="1"/>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userDrawn="1"/>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userDrawn="1"/>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userDrawn="1"/>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userDrawn="1"/>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userDrawn="1"/>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userDrawn="1"/>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userDrawn="1"/>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userDrawn="1"/>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userDrawn="1"/>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userDrawn="1"/>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userDrawn="1"/>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userDrawn="1"/>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userDrawn="1"/>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userDrawn="1"/>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userDrawn="1"/>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userDrawn="1"/>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userDrawn="1"/>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userDrawn="1"/>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userDrawn="1"/>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userDrawn="1"/>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userDrawn="1"/>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userDrawn="1"/>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userDrawn="1"/>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userDrawn="1"/>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userDrawn="1"/>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userDrawn="1"/>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userDrawn="1"/>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userDrawn="1"/>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userDrawn="1"/>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userDrawn="1"/>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userDrawn="1"/>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userDrawn="1"/>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userDrawn="1"/>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userDrawn="1"/>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userDrawn="1"/>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userDrawn="1"/>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userDrawn="1"/>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userDrawn="1"/>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userDrawn="1"/>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userDrawn="1"/>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userDrawn="1"/>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userDrawn="1"/>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userDrawn="1"/>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userDrawn="1"/>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userDrawn="1"/>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userDrawn="1"/>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userDrawn="1"/>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userDrawn="1"/>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userDrawn="1"/>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userDrawn="1"/>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userDrawn="1"/>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userDrawn="1"/>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userDrawn="1"/>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userDrawn="1"/>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1644048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userDrawn="1"/>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userDrawn="1"/>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userDrawn="1"/>
        </p:nvSpPr>
        <p:spPr>
          <a:xfrm>
            <a:off x="6508750" y="1368425"/>
            <a:ext cx="65" cy="2831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none" lIns="0" tIns="0" rIns="0" bIns="0" rtlCol="0" anchor="t">
            <a:spAutoFit/>
          </a:bodyPr>
          <a:lstStyle/>
          <a:p>
            <a:pPr algn="l" defTabSz="914355">
              <a:lnSpc>
                <a:spcPct val="120000"/>
              </a:lnSpc>
              <a:buSzPct val="100000"/>
            </a:pPr>
            <a:endParaRPr lang="en-CA" sz="1600">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userDrawn="1"/>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userDrawn="1"/>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userDrawn="1"/>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userDrawn="1"/>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userDrawn="1"/>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58008875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userDrawn="1"/>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406840670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userDrawn="1"/>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userDrawn="1"/>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userDrawn="1"/>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userDrawn="1"/>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userDrawn="1"/>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userDrawn="1"/>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userDrawn="1"/>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Tree>
    <p:extLst>
      <p:ext uri="{BB962C8B-B14F-4D97-AF65-F5344CB8AC3E}">
        <p14:creationId xmlns:p14="http://schemas.microsoft.com/office/powerpoint/2010/main" val="9986359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userDrawn="1"/>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27913922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userDrawn="1">
  <p:cSld name="2_BoardContent">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86CE3BD6-002F-D359-3EB8-F17BC6AA0A9F}"/>
              </a:ext>
            </a:extLst>
          </p:cNvPr>
          <p:cNvGraphicFramePr>
            <a:graphicFrameLocks noChangeAspect="1"/>
          </p:cNvGraphicFramePr>
          <p:nvPr userDrawn="1">
            <p:custDataLst>
              <p:tags r:id="rId1"/>
            </p:custDataLst>
            <p:extLst>
              <p:ext uri="{D42A27DB-BD31-4B8C-83A1-F6EECF244321}">
                <p14:modId xmlns:p14="http://schemas.microsoft.com/office/powerpoint/2010/main" val="32682500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9" name="think-cell data - do not delete" hidden="1">
                        <a:extLst>
                          <a:ext uri="{FF2B5EF4-FFF2-40B4-BE49-F238E27FC236}">
                            <a16:creationId xmlns:a16="http://schemas.microsoft.com/office/drawing/2014/main" id="{86CE3BD6-002F-D359-3EB8-F17BC6AA0A9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5" cy="720000"/>
          </a:xfrm>
        </p:spPr>
        <p:txBody>
          <a:bodyPr vert="horz" anchor="t">
            <a:noAutofit/>
          </a:bodyPr>
          <a:lstStyle>
            <a:lvl1pPr>
              <a:defRPr sz="2200"/>
            </a:lvl1pPr>
          </a:lstStyle>
          <a:p>
            <a:r>
              <a:rPr lang="en-US"/>
              <a:t>Click to edit title</a:t>
            </a:r>
            <a:endParaRPr lang="en-CA"/>
          </a:p>
        </p:txBody>
      </p:sp>
      <p:sp>
        <p:nvSpPr>
          <p:cNvPr id="4" name="Text Placeholder 5"/>
          <p:cNvSpPr>
            <a:spLocks noGrp="1"/>
          </p:cNvSpPr>
          <p:nvPr>
            <p:ph type="body" sz="quarter" idx="11" hasCustomPrompt="1"/>
          </p:nvPr>
        </p:nvSpPr>
        <p:spPr>
          <a:xfrm>
            <a:off x="515938" y="6319910"/>
            <a:ext cx="10791333" cy="144000"/>
          </a:xfrm>
        </p:spPr>
        <p:txBody>
          <a:bodyPr anchor="t">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39" y="1625600"/>
            <a:ext cx="11160124" cy="4492603"/>
          </a:xfrm>
        </p:spPr>
        <p:txBody>
          <a:bodyPr>
            <a:noAutofit/>
          </a:bodyPr>
          <a:lstStyle>
            <a:lvl1pPr marL="357188" indent="-357188">
              <a:defRPr>
                <a:latin typeface="+mn-lt"/>
                <a:ea typeface="Scotia Light" panose="020B0403020203020204" pitchFamily="34" charset="0"/>
              </a:defRPr>
            </a:lvl1pPr>
            <a:lvl2pPr marL="809625" indent="-352425">
              <a:buFont typeface="Scotia" panose="020B0503020203020204" pitchFamily="34" charset="0"/>
              <a:buChar char="−"/>
              <a:defRPr sz="1200">
                <a:latin typeface="+mn-lt"/>
                <a:ea typeface="Scotia Light" panose="020B0403020203020204" pitchFamily="34" charset="0"/>
              </a:defRPr>
            </a:lvl2pPr>
            <a:lvl3pPr marL="1254125" indent="-339725">
              <a:buFont typeface="Courier New" panose="02070309020205020404" pitchFamily="49" charset="0"/>
              <a:buChar char="o"/>
              <a:defRPr sz="1100">
                <a:latin typeface="+mn-lt"/>
                <a:ea typeface="Scotia Light" panose="020B0403020203020204" pitchFamily="34" charset="0"/>
              </a:defRPr>
            </a:lvl3pPr>
            <a:lvl4pPr marL="1706563" indent="-334963">
              <a:defRPr sz="1200">
                <a:latin typeface="+mn-lt"/>
                <a:ea typeface="Scotia Light" panose="020B0403020203020204" pitchFamily="34" charset="0"/>
              </a:defRPr>
            </a:lvl4pPr>
            <a:lvl5pPr marL="2151063" indent="-322263">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3"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a:p>
          </p:txBody>
        </p:sp>
      </p:grpSp>
      <p:sp>
        <p:nvSpPr>
          <p:cNvPr id="8" name="Slide Number Placeholder 2">
            <a:extLst>
              <a:ext uri="{FF2B5EF4-FFF2-40B4-BE49-F238E27FC236}">
                <a16:creationId xmlns:a16="http://schemas.microsoft.com/office/drawing/2014/main" id="{02748233-85A9-274A-A894-6E996085DC0F}"/>
              </a:ext>
            </a:extLst>
          </p:cNvPr>
          <p:cNvSpPr>
            <a:spLocks noGrp="1"/>
          </p:cNvSpPr>
          <p:nvPr>
            <p:ph type="sldNum" sz="quarter" idx="10"/>
          </p:nvPr>
        </p:nvSpPr>
        <p:spPr>
          <a:xfrm>
            <a:off x="11231211" y="338582"/>
            <a:ext cx="435865" cy="180000"/>
          </a:xfrm>
          <a:prstGeom prst="rect">
            <a:avLst/>
          </a:prstGeom>
        </p:spPr>
        <p:txBody>
          <a:bodyPr/>
          <a:lstStyle>
            <a:lvl1pPr algn="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3" name="Text Placeholder 7">
            <a:extLst>
              <a:ext uri="{FF2B5EF4-FFF2-40B4-BE49-F238E27FC236}">
                <a16:creationId xmlns:a16="http://schemas.microsoft.com/office/drawing/2014/main" id="{19D64FC0-050E-E300-B632-3BED5F44C8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10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SECTION NAME</a:t>
            </a:r>
            <a:endParaRPr lang="en-CA"/>
          </a:p>
        </p:txBody>
      </p:sp>
    </p:spTree>
    <p:extLst>
      <p:ext uri="{BB962C8B-B14F-4D97-AF65-F5344CB8AC3E}">
        <p14:creationId xmlns:p14="http://schemas.microsoft.com/office/powerpoint/2010/main" val="4189538883"/>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03">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1_BoardContent">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75B5A051-E1CE-9AC0-6E04-B54675EECA89}"/>
              </a:ext>
            </a:extLst>
          </p:cNvPr>
          <p:cNvGraphicFramePr>
            <a:graphicFrameLocks noChangeAspect="1"/>
          </p:cNvGraphicFramePr>
          <p:nvPr userDrawn="1">
            <p:custDataLst>
              <p:tags r:id="rId1"/>
            </p:custDataLst>
            <p:extLst>
              <p:ext uri="{D42A27DB-BD31-4B8C-83A1-F6EECF244321}">
                <p14:modId xmlns:p14="http://schemas.microsoft.com/office/powerpoint/2010/main" val="12979955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6" name="think-cell data - do not delete" hidden="1">
                        <a:extLst>
                          <a:ext uri="{FF2B5EF4-FFF2-40B4-BE49-F238E27FC236}">
                            <a16:creationId xmlns:a16="http://schemas.microsoft.com/office/drawing/2014/main" id="{75B5A051-E1CE-9AC0-6E04-B54675EECA8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oAutofit/>
          </a:bodyPr>
          <a:lstStyle>
            <a:lvl1pPr>
              <a:defRPr sz="2200"/>
            </a:lvl1pPr>
          </a:lstStyle>
          <a:p>
            <a:r>
              <a:rPr lang="en-US"/>
              <a:t>Click to edit title</a:t>
            </a:r>
            <a:endParaRPr lang="en-CA"/>
          </a:p>
        </p:txBody>
      </p:sp>
      <p:sp>
        <p:nvSpPr>
          <p:cNvPr id="4" name="Text Placeholder 5"/>
          <p:cNvSpPr>
            <a:spLocks noGrp="1"/>
          </p:cNvSpPr>
          <p:nvPr>
            <p:ph type="body" sz="quarter" idx="11" hasCustomPrompt="1"/>
          </p:nvPr>
        </p:nvSpPr>
        <p:spPr>
          <a:xfrm>
            <a:off x="515939" y="6319910"/>
            <a:ext cx="10791333"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44576"/>
            <a:ext cx="11160124" cy="4173627"/>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4398964" cy="180000"/>
          </a:xfrm>
        </p:spPr>
        <p:txBody>
          <a:bodyPr anchor="ctr">
            <a:noAutofit/>
          </a:bodyPr>
          <a:lstStyle>
            <a:lvl1pPr marL="0" indent="0" algn="l">
              <a:buNone/>
              <a:defRPr sz="1051"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C95E8E16-53B3-E787-761D-9536F582B36E}"/>
              </a:ext>
            </a:extLst>
          </p:cNvPr>
          <p:cNvSpPr>
            <a:spLocks noGrp="1"/>
          </p:cNvSpPr>
          <p:nvPr>
            <p:ph type="body" sz="quarter" idx="14" hasCustomPrompt="1"/>
          </p:nvPr>
        </p:nvSpPr>
        <p:spPr>
          <a:xfrm>
            <a:off x="515938" y="1637221"/>
            <a:ext cx="5762942" cy="180000"/>
          </a:xfrm>
        </p:spPr>
        <p:txBody>
          <a:bodyPr anchor="ctr">
            <a:normAutofit/>
          </a:bodyPr>
          <a:lstStyle>
            <a:lvl1pPr marL="0" indent="0">
              <a:buNone/>
              <a:defRPr sz="1050" spc="200" baseline="0"/>
            </a:lvl1pPr>
          </a:lstStyle>
          <a:p>
            <a:pPr lvl="0"/>
            <a:r>
              <a:rPr lang="en-CA"/>
              <a:t>SUBTITLE</a:t>
            </a:r>
          </a:p>
        </p:txBody>
      </p:sp>
      <p:sp>
        <p:nvSpPr>
          <p:cNvPr id="9" name="Slide Number Placeholder 2">
            <a:extLst>
              <a:ext uri="{FF2B5EF4-FFF2-40B4-BE49-F238E27FC236}">
                <a16:creationId xmlns:a16="http://schemas.microsoft.com/office/drawing/2014/main" id="{AB7C4FBC-3436-1FAE-9CA8-553A8B83022A}"/>
              </a:ext>
            </a:extLst>
          </p:cNvPr>
          <p:cNvSpPr>
            <a:spLocks noGrp="1"/>
          </p:cNvSpPr>
          <p:nvPr>
            <p:ph type="sldNum" sz="quarter" idx="10"/>
          </p:nvPr>
        </p:nvSpPr>
        <p:spPr>
          <a:xfrm>
            <a:off x="11231211" y="338582"/>
            <a:ext cx="435865" cy="180000"/>
          </a:xfrm>
          <a:prstGeom prst="rect">
            <a:avLst/>
          </a:prstGeom>
        </p:spPr>
        <p:txBody>
          <a:bodyPr/>
          <a:lstStyle>
            <a:lvl1pPr algn="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2956275080"/>
      </p:ext>
    </p:extLst>
  </p:cSld>
  <p:clrMapOvr>
    <a:masterClrMapping/>
  </p:clrMapOvr>
  <p:hf hdr="0" ftr="0" dt="0"/>
  <p:extLst>
    <p:ext uri="{DCECCB84-F9BA-43D5-87BE-67443E8EF086}">
      <p15:sldGuideLst xmlns:p15="http://schemas.microsoft.com/office/powerpoint/2012/main">
        <p15:guide id="1" pos="325">
          <p15:clr>
            <a:srgbClr val="FBAE40"/>
          </p15:clr>
        </p15:guide>
        <p15:guide id="2" pos="7355">
          <p15:clr>
            <a:srgbClr val="FBAE40"/>
          </p15:clr>
        </p15:guide>
        <p15:guide id="3" orient="horz" pos="1003">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userDrawn="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2" y="338582"/>
            <a:ext cx="435865" cy="180000"/>
          </a:xfrm>
          <a:prstGeom prst="rect">
            <a:avLst/>
          </a:prstGeom>
        </p:spPr>
        <p:txBody>
          <a:bodyPr/>
          <a:lstStyle>
            <a:lvl1pPr>
              <a:defRPr sz="1013">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277591410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userDrawn="1">
  <p:cSld name="Board Cover Slide">
    <p:bg>
      <p:bgPr>
        <a:solidFill>
          <a:srgbClr val="EC111A"/>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6BAE73C-A5DC-ED21-4A2A-E0595D9D0471}"/>
              </a:ext>
            </a:extLst>
          </p:cNvPr>
          <p:cNvGraphicFramePr>
            <a:graphicFrameLocks noChangeAspect="1"/>
          </p:cNvGraphicFramePr>
          <p:nvPr userDrawn="1">
            <p:custDataLst>
              <p:tags r:id="rId1"/>
            </p:custDataLst>
            <p:extLst>
              <p:ext uri="{D42A27DB-BD31-4B8C-83A1-F6EECF244321}">
                <p14:modId xmlns:p14="http://schemas.microsoft.com/office/powerpoint/2010/main" val="6766216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6" progId="TCLayout.ActiveDocument.1">
                  <p:embed/>
                </p:oleObj>
              </mc:Choice>
              <mc:Fallback>
                <p:oleObj name="think-cell Slide" r:id="rId3" imgW="473" imgH="476" progId="TCLayout.ActiveDocument.1">
                  <p:embed/>
                  <p:pic>
                    <p:nvPicPr>
                      <p:cNvPr id="3" name="think-cell data - do not delete" hidden="1">
                        <a:extLst>
                          <a:ext uri="{FF2B5EF4-FFF2-40B4-BE49-F238E27FC236}">
                            <a16:creationId xmlns:a16="http://schemas.microsoft.com/office/drawing/2014/main" id="{76BAE73C-A5DC-ED21-4A2A-E0595D9D047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 Placeholder 20"/>
          <p:cNvSpPr>
            <a:spLocks noGrp="1"/>
          </p:cNvSpPr>
          <p:nvPr>
            <p:ph type="body" sz="quarter" idx="10" hasCustomPrompt="1"/>
          </p:nvPr>
        </p:nvSpPr>
        <p:spPr>
          <a:xfrm>
            <a:off x="515939" y="1363683"/>
            <a:ext cx="11151579" cy="880522"/>
          </a:xfrm>
        </p:spPr>
        <p:txBody>
          <a:bodyPr lIns="0" tIns="0" rIns="0" bIns="0" anchor="b">
            <a:noAutofit/>
          </a:bodyPr>
          <a:lstStyle>
            <a:lvl1pPr marL="0" indent="0" rtl="0">
              <a:lnSpc>
                <a:spcPct val="100000"/>
              </a:lnSpc>
              <a:spcBef>
                <a:spcPts val="0"/>
              </a:spcBef>
              <a:buNone/>
              <a:defRPr sz="4500" b="1" baseline="0">
                <a:solidFill>
                  <a:schemeClr val="bg1"/>
                </a:solidFill>
                <a:latin typeface="Arial" panose="020B0604020202020204" pitchFamily="34" charset="0"/>
                <a:cs typeface="Arial" panose="020B0604020202020204" pitchFamily="34" charset="0"/>
              </a:defRPr>
            </a:lvl1pPr>
          </a:lstStyle>
          <a:p>
            <a:pPr lvl="0"/>
            <a:r>
              <a:rPr lang="en-CA"/>
              <a:t>[Name of Report]</a:t>
            </a:r>
          </a:p>
        </p:txBody>
      </p:sp>
      <p:sp>
        <p:nvSpPr>
          <p:cNvPr id="6" name="Text Placeholder 20">
            <a:extLst>
              <a:ext uri="{FF2B5EF4-FFF2-40B4-BE49-F238E27FC236}">
                <a16:creationId xmlns:a16="http://schemas.microsoft.com/office/drawing/2014/main" id="{8632D353-746E-7496-FD11-5D285E582305}"/>
              </a:ext>
            </a:extLst>
          </p:cNvPr>
          <p:cNvSpPr>
            <a:spLocks noGrp="1"/>
          </p:cNvSpPr>
          <p:nvPr>
            <p:ph type="body" sz="quarter" idx="13" hasCustomPrompt="1"/>
          </p:nvPr>
        </p:nvSpPr>
        <p:spPr>
          <a:xfrm>
            <a:off x="515939" y="6169481"/>
            <a:ext cx="5580061" cy="216024"/>
          </a:xfrm>
        </p:spPr>
        <p:txBody>
          <a:bodyPr lIns="0" tIns="0" rIns="0" bIns="0" anchor="t">
            <a:noAutofit/>
          </a:bodyPr>
          <a:lstStyle>
            <a:lvl1pPr marL="0" indent="0" rtl="0">
              <a:lnSpc>
                <a:spcPct val="100000"/>
              </a:lnSpc>
              <a:spcBef>
                <a:spcPts val="0"/>
              </a:spcBef>
              <a:buNone/>
              <a:defRPr sz="1200" b="1" baseline="0">
                <a:solidFill>
                  <a:schemeClr val="bg1"/>
                </a:solidFill>
                <a:latin typeface="Arial" panose="020B0604020202020204" pitchFamily="34" charset="0"/>
                <a:cs typeface="Arial" panose="020B0604020202020204" pitchFamily="34" charset="0"/>
              </a:defRPr>
            </a:lvl1pPr>
          </a:lstStyle>
          <a:p>
            <a:pPr lvl="0"/>
            <a:r>
              <a:rPr lang="en-CA"/>
              <a:t>[Insert Committee/Board – Date of Meeting]</a:t>
            </a:r>
          </a:p>
        </p:txBody>
      </p:sp>
      <p:pic>
        <p:nvPicPr>
          <p:cNvPr id="4" name="Picture 3" descr="A white letters on a black background&#10;&#10;Description automatically generated">
            <a:extLst>
              <a:ext uri="{FF2B5EF4-FFF2-40B4-BE49-F238E27FC236}">
                <a16:creationId xmlns:a16="http://schemas.microsoft.com/office/drawing/2014/main" id="{AE2FF830-B5A1-8397-775E-E21F0F41D9CA}"/>
              </a:ext>
            </a:extLst>
          </p:cNvPr>
          <p:cNvPicPr>
            <a:picLocks noChangeAspect="1"/>
          </p:cNvPicPr>
          <p:nvPr userDrawn="1"/>
        </p:nvPicPr>
        <p:blipFill>
          <a:blip r:embed="rId5"/>
          <a:stretch>
            <a:fillRect/>
          </a:stretch>
        </p:blipFill>
        <p:spPr>
          <a:xfrm>
            <a:off x="9729926" y="6181787"/>
            <a:ext cx="1930570" cy="260468"/>
          </a:xfrm>
          <a:prstGeom prst="rect">
            <a:avLst/>
          </a:prstGeom>
        </p:spPr>
      </p:pic>
    </p:spTree>
    <p:extLst>
      <p:ext uri="{BB962C8B-B14F-4D97-AF65-F5344CB8AC3E}">
        <p14:creationId xmlns:p14="http://schemas.microsoft.com/office/powerpoint/2010/main" val="2237562663"/>
      </p:ext>
    </p:extLst>
  </p:cSld>
  <p:clrMapOvr>
    <a:masterClrMapping/>
  </p:clrMapOvr>
  <p:hf hdr="0" ftr="0" dt="0"/>
  <p:extLst>
    <p:ext uri="{DCECCB84-F9BA-43D5-87BE-67443E8EF086}">
      <p15:sldGuideLst xmlns:p15="http://schemas.microsoft.com/office/powerpoint/2012/main">
        <p15:guide id="2" pos="244">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5516">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userDrawn="1">
  <p:cSld name="1_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vert="horz" rIns="0" anchor="t">
            <a:noAutofit/>
          </a:bodyPr>
          <a:lstStyle>
            <a:lvl1pPr rtl="0">
              <a:defRPr sz="2201"/>
            </a:lvl1pPr>
          </a:lstStyle>
          <a:p>
            <a:r>
              <a:rPr lang="en-US"/>
              <a:t>Click to edit title</a:t>
            </a:r>
          </a:p>
        </p:txBody>
      </p:sp>
      <p:sp>
        <p:nvSpPr>
          <p:cNvPr id="3" name="Slide Number Placeholder 2"/>
          <p:cNvSpPr>
            <a:spLocks noGrp="1"/>
          </p:cNvSpPr>
          <p:nvPr>
            <p:ph type="sldNum" sz="quarter" idx="10"/>
          </p:nvPr>
        </p:nvSpPr>
        <p:spPr>
          <a:xfrm>
            <a:off x="11231212" y="338582"/>
            <a:ext cx="435865" cy="180000"/>
          </a:xfrm>
          <a:prstGeom prst="rect">
            <a:avLst/>
          </a:prstGeom>
        </p:spPr>
        <p:txBody>
          <a:bodyPr/>
          <a:lstStyle>
            <a:lvl1pPr rtl="0">
              <a:defRPr sz="1200">
                <a:latin typeface="Scotia Light" panose="020B0403020203020204" pitchFamily="34" charset="0"/>
                <a:ea typeface="Scotia Light" panose="020B0403020203020204" pitchFamily="34" charset="0"/>
              </a:defRPr>
            </a:lvl1pPr>
          </a:lstStyle>
          <a:p>
            <a:fld id="{95D835A7-12B2-4074-8DA2-469A8808C237}" type="slidenum">
              <a:rPr lang="en-US" smtClean="0"/>
              <a:pPr/>
              <a:t>‹#›</a:t>
            </a:fld>
            <a:endParaRPr lang="en-US"/>
          </a:p>
        </p:txBody>
      </p:sp>
      <p:sp>
        <p:nvSpPr>
          <p:cNvPr id="4" name="Text Placeholder 5"/>
          <p:cNvSpPr>
            <a:spLocks noGrp="1"/>
          </p:cNvSpPr>
          <p:nvPr>
            <p:ph type="body" sz="quarter" idx="11" hasCustomPrompt="1"/>
          </p:nvPr>
        </p:nvSpPr>
        <p:spPr>
          <a:xfrm>
            <a:off x="515940" y="6319910"/>
            <a:ext cx="10620000" cy="144000"/>
          </a:xfrm>
        </p:spPr>
        <p:txBody>
          <a:bodyPr anchor="b">
            <a:noAutofit/>
          </a:bodyPr>
          <a:lstStyle>
            <a:lvl1pPr marL="0" indent="0" rtl="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7" indent="-357197" rtl="0">
              <a:defRPr>
                <a:latin typeface="+mn-lt"/>
                <a:ea typeface="Scotia Light" panose="020B0403020203020204" pitchFamily="34" charset="0"/>
              </a:defRPr>
            </a:lvl1pPr>
            <a:lvl2pPr marL="809646" indent="-352433" rtl="0">
              <a:buFont typeface="Scotia" panose="020B0503020203020204" pitchFamily="34" charset="0"/>
              <a:buChar char="−"/>
              <a:defRPr sz="1200">
                <a:latin typeface="+mn-lt"/>
                <a:ea typeface="Scotia Light" panose="020B0403020203020204" pitchFamily="34" charset="0"/>
              </a:defRPr>
            </a:lvl2pPr>
            <a:lvl3pPr marL="1254156" indent="-339734" rtl="0">
              <a:buFont typeface="Courier New" panose="02070309020205020404" pitchFamily="49" charset="0"/>
              <a:buChar char="o"/>
              <a:defRPr sz="1100">
                <a:latin typeface="+mn-lt"/>
                <a:ea typeface="Scotia Light" panose="020B0403020203020204" pitchFamily="34" charset="0"/>
              </a:defRPr>
            </a:lvl3pPr>
            <a:lvl4pPr marL="1706606" indent="-334973">
              <a:defRPr sz="1200">
                <a:latin typeface="+mn-lt"/>
                <a:ea typeface="Scotia Light" panose="020B0403020203020204" pitchFamily="34" charset="0"/>
              </a:defRPr>
            </a:lvl4pPr>
            <a:lvl5pPr marL="2151117" indent="-322271">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6"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40" y="1672753"/>
            <a:ext cx="5400000" cy="180000"/>
          </a:xfrm>
        </p:spPr>
        <p:txBody>
          <a:bodyPr anchor="ctr">
            <a:normAutofit/>
          </a:bodyPr>
          <a:lstStyle>
            <a:lvl1pPr marL="0" indent="0" algn="l" rtl="0">
              <a:spcBef>
                <a:spcPts val="0"/>
              </a:spcBef>
              <a:buNone/>
              <a:defRPr sz="1100" spc="201" baseline="0"/>
            </a:lvl1pPr>
          </a:lstStyle>
          <a:p>
            <a:pPr lvl="0"/>
            <a:r>
              <a:rPr lang="en-US"/>
              <a:t>CLICK TO EDIT SUBTITLE</a:t>
            </a:r>
          </a:p>
        </p:txBody>
      </p:sp>
    </p:spTree>
    <p:extLst>
      <p:ext uri="{BB962C8B-B14F-4D97-AF65-F5344CB8AC3E}">
        <p14:creationId xmlns:p14="http://schemas.microsoft.com/office/powerpoint/2010/main" val="3165295023"/>
      </p:ext>
    </p:extLst>
  </p:cSld>
  <p:clrMapOvr>
    <a:masterClrMapping/>
  </p:clrMapOvr>
  <p:extLst>
    <p:ext uri="{DCECCB84-F9BA-43D5-87BE-67443E8EF086}">
      <p15:sldGuideLst xmlns:p15="http://schemas.microsoft.com/office/powerpoint/2012/main">
        <p15:guide id="1" pos="556">
          <p15:clr>
            <a:srgbClr val="FBAE40"/>
          </p15:clr>
        </p15:guide>
        <p15:guide id="2" pos="13076">
          <p15:clr>
            <a:srgbClr val="FBAE40"/>
          </p15:clr>
        </p15:guide>
        <p15:guide id="3" orient="horz" pos="590">
          <p15:clr>
            <a:srgbClr val="FBAE40"/>
          </p15:clr>
        </p15:guide>
        <p15:guide id="4" orient="horz" pos="501">
          <p15:clr>
            <a:srgbClr val="FBAE40"/>
          </p15:clr>
        </p15:guide>
        <p15:guide id="5" orient="horz" pos="233">
          <p15:clr>
            <a:srgbClr val="FBAE40"/>
          </p15:clr>
        </p15:guide>
        <p15:guide id="6" orient="horz" pos="2235">
          <p15:clr>
            <a:srgbClr val="FBAE40"/>
          </p15:clr>
        </p15:guide>
        <p15:guide id="7" orient="horz" pos="2300">
          <p15:clr>
            <a:srgbClr val="FBAE40"/>
          </p15:clr>
        </p15:guide>
        <p15:guide id="8" orient="horz" pos="2172">
          <p15:clr>
            <a:srgbClr val="FBAE40"/>
          </p15:clr>
        </p15:guide>
        <p15:guide id="9" orient="horz" pos="667">
          <p15:clr>
            <a:srgbClr val="FBAE40"/>
          </p15:clr>
        </p15:guide>
        <p15:guide id="10" orient="horz" pos="69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cSld name="2_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vert="horz" rIns="0">
            <a:noAutofit/>
          </a:bodyPr>
          <a:lstStyle>
            <a:lvl1pPr rtl="0">
              <a:defRPr sz="2400"/>
            </a:lvl1pPr>
          </a:lstStyle>
          <a:p>
            <a:r>
              <a:rPr lang="en-US"/>
              <a:t>Click to edit title</a:t>
            </a:r>
          </a:p>
        </p:txBody>
      </p:sp>
      <p:sp>
        <p:nvSpPr>
          <p:cNvPr id="3" name="Slide Number Placeholder 2"/>
          <p:cNvSpPr>
            <a:spLocks noGrp="1"/>
          </p:cNvSpPr>
          <p:nvPr>
            <p:ph type="sldNum" sz="quarter" idx="10"/>
          </p:nvPr>
        </p:nvSpPr>
        <p:spPr>
          <a:xfrm>
            <a:off x="11231212" y="338582"/>
            <a:ext cx="435865" cy="180000"/>
          </a:xfrm>
          <a:prstGeom prst="rect">
            <a:avLst/>
          </a:prstGeom>
        </p:spPr>
        <p:txBody>
          <a:bodyPr/>
          <a:lstStyle>
            <a:lvl1pPr rtl="0">
              <a:defRPr sz="1200">
                <a:latin typeface="Scotia Light" panose="020B0403020203020204" pitchFamily="34" charset="0"/>
                <a:ea typeface="Scotia Light" panose="020B0403020203020204" pitchFamily="34" charset="0"/>
              </a:defRPr>
            </a:lvl1pPr>
          </a:lstStyle>
          <a:p>
            <a:fld id="{A7B45D59-1456-43D5-ADB3-13A4680F649D}" type="slidenum">
              <a:rPr lang="en-US" smtClean="0"/>
              <a:pPr/>
              <a:t>‹#›</a:t>
            </a:fld>
            <a:endParaRPr lang="en-US"/>
          </a:p>
        </p:txBody>
      </p:sp>
      <p:sp>
        <p:nvSpPr>
          <p:cNvPr id="4" name="Text Placeholder 5"/>
          <p:cNvSpPr>
            <a:spLocks noGrp="1"/>
          </p:cNvSpPr>
          <p:nvPr>
            <p:ph type="body" sz="quarter" idx="11" hasCustomPrompt="1"/>
          </p:nvPr>
        </p:nvSpPr>
        <p:spPr>
          <a:xfrm>
            <a:off x="515940" y="6319910"/>
            <a:ext cx="10620000" cy="144000"/>
          </a:xfrm>
        </p:spPr>
        <p:txBody>
          <a:bodyPr anchor="b">
            <a:noAutofit/>
          </a:bodyPr>
          <a:lstStyle>
            <a:lvl1pPr marL="0" indent="0" rtl="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7" indent="-357197" rtl="0">
              <a:defRPr>
                <a:latin typeface="+mn-lt"/>
                <a:ea typeface="Scotia Light" panose="020B0403020203020204" pitchFamily="34" charset="0"/>
              </a:defRPr>
            </a:lvl1pPr>
            <a:lvl2pPr marL="809646" indent="-352433" rtl="0">
              <a:buFont typeface="Scotia" panose="020B0503020203020204" pitchFamily="34" charset="0"/>
              <a:buChar char="−"/>
              <a:defRPr sz="1200">
                <a:latin typeface="+mn-lt"/>
                <a:ea typeface="Scotia Light" panose="020B0403020203020204" pitchFamily="34" charset="0"/>
              </a:defRPr>
            </a:lvl2pPr>
            <a:lvl3pPr marL="1254156" indent="-339734" rtl="0">
              <a:buFont typeface="Courier New" panose="02070309020205020404" pitchFamily="49" charset="0"/>
              <a:buChar char="o"/>
              <a:defRPr sz="1100">
                <a:latin typeface="+mn-lt"/>
                <a:ea typeface="Scotia Light" panose="020B0403020203020204" pitchFamily="34" charset="0"/>
              </a:defRPr>
            </a:lvl3pPr>
            <a:lvl4pPr marL="1706606" indent="-334973">
              <a:defRPr sz="1200">
                <a:latin typeface="+mn-lt"/>
                <a:ea typeface="Scotia Light" panose="020B0403020203020204" pitchFamily="34" charset="0"/>
              </a:defRPr>
            </a:lvl4pPr>
            <a:lvl5pPr marL="2151117" indent="-322271">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6"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US"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40" y="1672753"/>
            <a:ext cx="6400800" cy="180000"/>
          </a:xfrm>
        </p:spPr>
        <p:txBody>
          <a:bodyPr anchor="ctr">
            <a:noAutofit/>
          </a:bodyPr>
          <a:lstStyle>
            <a:lvl1pPr marL="0" indent="0" algn="l" rtl="0">
              <a:spcBef>
                <a:spcPts val="0"/>
              </a:spcBef>
              <a:buNone/>
              <a:defRPr sz="1100" spc="201"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rtl="0">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p>
        </p:txBody>
      </p:sp>
    </p:spTree>
    <p:extLst>
      <p:ext uri="{BB962C8B-B14F-4D97-AF65-F5344CB8AC3E}">
        <p14:creationId xmlns:p14="http://schemas.microsoft.com/office/powerpoint/2010/main" val="51290256"/>
      </p:ext>
    </p:extLst>
  </p:cSld>
  <p:clrMapOvr>
    <a:masterClrMapping/>
  </p:clrMapOvr>
  <p:extLst>
    <p:ext uri="{DCECCB84-F9BA-43D5-87BE-67443E8EF086}">
      <p15:sldGuideLst xmlns:p15="http://schemas.microsoft.com/office/powerpoint/2012/main">
        <p15:guide id="1" pos="578">
          <p15:clr>
            <a:srgbClr val="FBAE40"/>
          </p15:clr>
        </p15:guide>
        <p15:guide id="2" pos="13076">
          <p15:clr>
            <a:srgbClr val="FBAE40"/>
          </p15:clr>
        </p15:guide>
        <p15:guide id="3" orient="horz" pos="590">
          <p15:clr>
            <a:srgbClr val="FBAE40"/>
          </p15:clr>
        </p15:guide>
        <p15:guide id="4" orient="horz" pos="501">
          <p15:clr>
            <a:srgbClr val="FBAE40"/>
          </p15:clr>
        </p15:guide>
        <p15:guide id="5" orient="horz" pos="233">
          <p15:clr>
            <a:srgbClr val="FBAE40"/>
          </p15:clr>
        </p15:guide>
        <p15:guide id="6" orient="horz" pos="2235">
          <p15:clr>
            <a:srgbClr val="FBAE40"/>
          </p15:clr>
        </p15:guide>
        <p15:guide id="7" orient="horz" pos="2300">
          <p15:clr>
            <a:srgbClr val="FBAE40"/>
          </p15:clr>
        </p15:guide>
        <p15:guide id="8" orient="horz" pos="2172">
          <p15:clr>
            <a:srgbClr val="FBAE40"/>
          </p15:clr>
        </p15:guide>
        <p15:guide id="9" orient="horz" pos="667">
          <p15:clr>
            <a:srgbClr val="FBAE40"/>
          </p15:clr>
        </p15:guide>
        <p15:guide id="10" orient="horz" pos="69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3584564410"/>
      </p:ext>
    </p:extLst>
  </p:cSld>
  <p:clrMapOvr>
    <a:masterClrMapping/>
  </p:clrMapOvr>
  <p:hf hdr="0" ftr="0" dt="0"/>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Board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STRATEGY SLIDE REPOSITORY</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grpSp>
        <p:nvGrpSpPr>
          <p:cNvPr id="4" name="Group 4">
            <a:extLst>
              <a:ext uri="{FF2B5EF4-FFF2-40B4-BE49-F238E27FC236}">
                <a16:creationId xmlns:a16="http://schemas.microsoft.com/office/drawing/2014/main" id="{8BC60A2B-337D-93E1-F0FE-CB1EB269F64B}"/>
              </a:ext>
            </a:extLst>
          </p:cNvPr>
          <p:cNvGrpSpPr>
            <a:grpSpLocks noChangeAspect="1"/>
          </p:cNvGrpSpPr>
          <p:nvPr userDrawn="1"/>
        </p:nvGrpSpPr>
        <p:grpSpPr bwMode="auto">
          <a:xfrm>
            <a:off x="11553569" y="290737"/>
            <a:ext cx="227013" cy="249238"/>
            <a:chOff x="7312" y="4020"/>
            <a:chExt cx="143" cy="157"/>
          </a:xfrm>
          <a:solidFill>
            <a:srgbClr val="EC111A"/>
          </a:solidFill>
        </p:grpSpPr>
        <p:sp>
          <p:nvSpPr>
            <p:cNvPr id="8" name="Freeform 5">
              <a:extLst>
                <a:ext uri="{FF2B5EF4-FFF2-40B4-BE49-F238E27FC236}">
                  <a16:creationId xmlns:a16="http://schemas.microsoft.com/office/drawing/2014/main" id="{C1FC9DFD-F4C3-0E5D-B7E7-BDA9D67C0A5E}"/>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9" name="Freeform 6">
              <a:extLst>
                <a:ext uri="{FF2B5EF4-FFF2-40B4-BE49-F238E27FC236}">
                  <a16:creationId xmlns:a16="http://schemas.microsoft.com/office/drawing/2014/main" id="{BC9035F6-8DF3-7D65-B96F-06BD62D19F15}"/>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0" name="Oval 7">
              <a:extLst>
                <a:ext uri="{FF2B5EF4-FFF2-40B4-BE49-F238E27FC236}">
                  <a16:creationId xmlns:a16="http://schemas.microsoft.com/office/drawing/2014/main" id="{1FE8D90F-CA07-EB00-1FCD-42A3D864BA1B}"/>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182574306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0F8DA539-2EF0-469C-9CF6-7054C4A4E5D5}"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marL="0" marR="0" lvl="0" indent="0" algn="l" defTabSz="914411" rtl="0" eaLnBrk="1" fontAlgn="auto" latinLnBrk="0" hangingPunct="1">
              <a:lnSpc>
                <a:spcPct val="100000"/>
              </a:lnSpc>
              <a:spcBef>
                <a:spcPts val="601"/>
              </a:spcBef>
              <a:spcAft>
                <a:spcPts val="0"/>
              </a:spcAft>
              <a:buClr>
                <a:schemeClr val="tx1"/>
              </a:buClr>
              <a:buSzTx/>
              <a:buFont typeface="Arial" panose="020B0604020202020204" pitchFamily="34" charset="0"/>
              <a:buNone/>
              <a:tabLst/>
              <a:defRPr/>
            </a:pPr>
            <a:r>
              <a:rPr lang="en-US"/>
              <a:t>STRATEGY SLIDE REPOSITORY</a:t>
            </a:r>
            <a:endParaRPr lang="en-CA"/>
          </a:p>
        </p:txBody>
      </p:sp>
      <p:graphicFrame>
        <p:nvGraphicFramePr>
          <p:cNvPr id="6" name="think-cell data - do not delete" hidden="1">
            <a:extLst>
              <a:ext uri="{FF2B5EF4-FFF2-40B4-BE49-F238E27FC236}">
                <a16:creationId xmlns:a16="http://schemas.microsoft.com/office/drawing/2014/main" id="{B4D82E54-777C-44DC-3DA5-483781813F9F}"/>
              </a:ext>
            </a:extLst>
          </p:cNvPr>
          <p:cNvGraphicFramePr>
            <a:graphicFrameLocks noChangeAspect="1"/>
          </p:cNvGraphicFramePr>
          <p:nvPr userDrawn="1">
            <p:custDataLst>
              <p:tags r:id="rId1"/>
            </p:custDataLst>
            <p:extLst>
              <p:ext uri="{D42A27DB-BD31-4B8C-83A1-F6EECF244321}">
                <p14:modId xmlns:p14="http://schemas.microsoft.com/office/powerpoint/2010/main" val="26593866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04" imgH="403" progId="TCLayout.ActiveDocument.1">
                  <p:embed/>
                </p:oleObj>
              </mc:Choice>
              <mc:Fallback>
                <p:oleObj name="think-cell Slide" r:id="rId3" imgW="404" imgH="403" progId="TCLayout.ActiveDocument.1">
                  <p:embed/>
                  <p:pic>
                    <p:nvPicPr>
                      <p:cNvPr id="6" name="think-cell data - do not delete" hidden="1">
                        <a:extLst>
                          <a:ext uri="{FF2B5EF4-FFF2-40B4-BE49-F238E27FC236}">
                            <a16:creationId xmlns:a16="http://schemas.microsoft.com/office/drawing/2014/main" id="{B4D82E54-777C-44DC-3DA5-483781813F9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291104931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p:cSld name="BoardContent_Full">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346951336"/>
      </p:ext>
    </p:extLst>
  </p:cSld>
  <p:clrMapOvr>
    <a:masterClrMapping/>
  </p:clrMapOvr>
  <p:hf hdr="0" ftr="0" dt="0"/>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BoardContent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193305809"/>
      </p:ext>
    </p:extLst>
  </p:cSld>
  <p:clrMapOvr>
    <a:masterClrMapping/>
  </p:clrMapOvr>
  <p:hf hdr="0" ftr="0" dt="0"/>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BoardContent_Sub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236154795"/>
      </p:ext>
    </p:extLst>
  </p:cSld>
  <p:clrMapOvr>
    <a:masterClrMapping/>
  </p:clrMapOvr>
  <p:hf hdr="0" ftr="0" dt="0"/>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BoardContent_Full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1505847314"/>
      </p:ext>
    </p:extLst>
  </p:cSld>
  <p:clrMapOvr>
    <a:masterClrMapping/>
  </p:clrMapOvr>
  <p:hf hdr="0" ftr="0" dt="0"/>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172089049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graphicFrame>
        <p:nvGraphicFramePr>
          <p:cNvPr id="2" name="think-cell data - do not delete" hidden="1">
            <a:extLst>
              <a:ext uri="{FF2B5EF4-FFF2-40B4-BE49-F238E27FC236}">
                <a16:creationId xmlns:a16="http://schemas.microsoft.com/office/drawing/2014/main" id="{3A0B7A72-40A3-8C8A-4D24-16D1C8FE9A50}"/>
              </a:ext>
            </a:extLst>
          </p:cNvPr>
          <p:cNvGraphicFramePr>
            <a:graphicFrameLocks noChangeAspect="1"/>
          </p:cNvGraphicFramePr>
          <p:nvPr userDrawn="1">
            <p:custDataLst>
              <p:tags r:id="rId1"/>
            </p:custDataLst>
            <p:extLst>
              <p:ext uri="{D42A27DB-BD31-4B8C-83A1-F6EECF244321}">
                <p14:modId xmlns:p14="http://schemas.microsoft.com/office/powerpoint/2010/main" val="15148821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04" imgH="403" progId="TCLayout.ActiveDocument.1">
                  <p:embed/>
                </p:oleObj>
              </mc:Choice>
              <mc:Fallback>
                <p:oleObj name="think-cell Slide" r:id="rId3" imgW="404" imgH="403" progId="TCLayout.ActiveDocument.1">
                  <p:embed/>
                  <p:pic>
                    <p:nvPicPr>
                      <p:cNvPr id="2" name="think-cell data - do not delete" hidden="1">
                        <a:extLst>
                          <a:ext uri="{FF2B5EF4-FFF2-40B4-BE49-F238E27FC236}">
                            <a16:creationId xmlns:a16="http://schemas.microsoft.com/office/drawing/2014/main" id="{3A0B7A72-40A3-8C8A-4D24-16D1C8FE9A5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1034929505"/>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4183902972"/>
      </p:ext>
    </p:extLst>
  </p:cSld>
  <p:clrMapOvr>
    <a:masterClrMapping/>
  </p:clrMapOvr>
  <p:hf hdr="0" ftr="0" dt="0"/>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 name="Rectangle 1">
            <a:extLst>
              <a:ext uri="{FF2B5EF4-FFF2-40B4-BE49-F238E27FC236}">
                <a16:creationId xmlns:a16="http://schemas.microsoft.com/office/drawing/2014/main" id="{C5C37608-621B-0015-492A-E200E093C211}"/>
              </a:ext>
            </a:extLst>
          </p:cNvPr>
          <p:cNvSpPr/>
          <p:nvPr userDrawn="1"/>
        </p:nvSpPr>
        <p:spPr>
          <a:xfrm>
            <a:off x="399" y="224"/>
            <a:ext cx="12191205" cy="1927566"/>
          </a:xfrm>
          <a:prstGeom prst="rect">
            <a:avLst/>
          </a:prstGeom>
          <a:solidFill>
            <a:srgbClr val="EC111A"/>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6" name="TextBox 6">
            <a:extLst>
              <a:ext uri="{FF2B5EF4-FFF2-40B4-BE49-F238E27FC236}">
                <a16:creationId xmlns:a16="http://schemas.microsoft.com/office/drawing/2014/main" id="{3C8A254A-7858-05A8-F91B-9857E02A55B9}"/>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bg1"/>
                </a:solidFill>
                <a:latin typeface="Scotia Headline" panose="020B0503020203020204" pitchFamily="34" charset="0"/>
              </a:rPr>
              <a:t>Icons</a:t>
            </a:r>
          </a:p>
        </p:txBody>
      </p:sp>
      <p:sp>
        <p:nvSpPr>
          <p:cNvPr id="117" name="Shape 2525">
            <a:extLst>
              <a:ext uri="{FF2B5EF4-FFF2-40B4-BE49-F238E27FC236}">
                <a16:creationId xmlns:a16="http://schemas.microsoft.com/office/drawing/2014/main" id="{2734DAB1-1777-DD06-D029-680001CB068A}"/>
              </a:ext>
            </a:extLst>
          </p:cNvPr>
          <p:cNvSpPr/>
          <p:nvPr userDrawn="1"/>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526">
            <a:extLst>
              <a:ext uri="{FF2B5EF4-FFF2-40B4-BE49-F238E27FC236}">
                <a16:creationId xmlns:a16="http://schemas.microsoft.com/office/drawing/2014/main" id="{E4FFDA40-3FCC-9172-2D87-64693C6F7973}"/>
              </a:ext>
            </a:extLst>
          </p:cNvPr>
          <p:cNvSpPr/>
          <p:nvPr userDrawn="1"/>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527">
            <a:extLst>
              <a:ext uri="{FF2B5EF4-FFF2-40B4-BE49-F238E27FC236}">
                <a16:creationId xmlns:a16="http://schemas.microsoft.com/office/drawing/2014/main" id="{0F4FEA5C-ACAA-8B74-00EF-5CF049ACC7DB}"/>
              </a:ext>
            </a:extLst>
          </p:cNvPr>
          <p:cNvSpPr/>
          <p:nvPr userDrawn="1"/>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528">
            <a:extLst>
              <a:ext uri="{FF2B5EF4-FFF2-40B4-BE49-F238E27FC236}">
                <a16:creationId xmlns:a16="http://schemas.microsoft.com/office/drawing/2014/main" id="{869DC152-6BCD-1F36-92A6-7DE163EC0EDC}"/>
              </a:ext>
            </a:extLst>
          </p:cNvPr>
          <p:cNvSpPr/>
          <p:nvPr userDrawn="1"/>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529">
            <a:extLst>
              <a:ext uri="{FF2B5EF4-FFF2-40B4-BE49-F238E27FC236}">
                <a16:creationId xmlns:a16="http://schemas.microsoft.com/office/drawing/2014/main" id="{E5FE90C1-3AC9-CF21-EED4-E9E9DC0C1D46}"/>
              </a:ext>
            </a:extLst>
          </p:cNvPr>
          <p:cNvSpPr/>
          <p:nvPr userDrawn="1"/>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530">
            <a:extLst>
              <a:ext uri="{FF2B5EF4-FFF2-40B4-BE49-F238E27FC236}">
                <a16:creationId xmlns:a16="http://schemas.microsoft.com/office/drawing/2014/main" id="{FD3E9197-475C-A576-1A41-1356C449D319}"/>
              </a:ext>
            </a:extLst>
          </p:cNvPr>
          <p:cNvSpPr/>
          <p:nvPr userDrawn="1"/>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531">
            <a:extLst>
              <a:ext uri="{FF2B5EF4-FFF2-40B4-BE49-F238E27FC236}">
                <a16:creationId xmlns:a16="http://schemas.microsoft.com/office/drawing/2014/main" id="{6779359D-531A-4E6F-CFA5-03AABC8CB611}"/>
              </a:ext>
            </a:extLst>
          </p:cNvPr>
          <p:cNvSpPr/>
          <p:nvPr userDrawn="1"/>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532">
            <a:extLst>
              <a:ext uri="{FF2B5EF4-FFF2-40B4-BE49-F238E27FC236}">
                <a16:creationId xmlns:a16="http://schemas.microsoft.com/office/drawing/2014/main" id="{6C0ECCDF-5FC2-F0F5-84E1-D299CB523B14}"/>
              </a:ext>
            </a:extLst>
          </p:cNvPr>
          <p:cNvSpPr/>
          <p:nvPr userDrawn="1"/>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533">
            <a:extLst>
              <a:ext uri="{FF2B5EF4-FFF2-40B4-BE49-F238E27FC236}">
                <a16:creationId xmlns:a16="http://schemas.microsoft.com/office/drawing/2014/main" id="{B55D6B9C-F1BB-B67B-06B4-94577348A599}"/>
              </a:ext>
            </a:extLst>
          </p:cNvPr>
          <p:cNvSpPr/>
          <p:nvPr userDrawn="1"/>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534">
            <a:extLst>
              <a:ext uri="{FF2B5EF4-FFF2-40B4-BE49-F238E27FC236}">
                <a16:creationId xmlns:a16="http://schemas.microsoft.com/office/drawing/2014/main" id="{B5A0D7E4-E12F-CAB6-EA5D-B16CE9EB6996}"/>
              </a:ext>
            </a:extLst>
          </p:cNvPr>
          <p:cNvSpPr/>
          <p:nvPr userDrawn="1"/>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535">
            <a:extLst>
              <a:ext uri="{FF2B5EF4-FFF2-40B4-BE49-F238E27FC236}">
                <a16:creationId xmlns:a16="http://schemas.microsoft.com/office/drawing/2014/main" id="{7BD46654-1D47-6E57-299F-5950CB2252F9}"/>
              </a:ext>
            </a:extLst>
          </p:cNvPr>
          <p:cNvSpPr/>
          <p:nvPr userDrawn="1"/>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536">
            <a:extLst>
              <a:ext uri="{FF2B5EF4-FFF2-40B4-BE49-F238E27FC236}">
                <a16:creationId xmlns:a16="http://schemas.microsoft.com/office/drawing/2014/main" id="{232F9366-32EC-0955-57D4-1D9C496DEBC2}"/>
              </a:ext>
            </a:extLst>
          </p:cNvPr>
          <p:cNvSpPr/>
          <p:nvPr userDrawn="1"/>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537">
            <a:extLst>
              <a:ext uri="{FF2B5EF4-FFF2-40B4-BE49-F238E27FC236}">
                <a16:creationId xmlns:a16="http://schemas.microsoft.com/office/drawing/2014/main" id="{4A874C1C-DEA5-86A4-AD76-9BADA8AB1342}"/>
              </a:ext>
            </a:extLst>
          </p:cNvPr>
          <p:cNvSpPr/>
          <p:nvPr userDrawn="1"/>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538">
            <a:extLst>
              <a:ext uri="{FF2B5EF4-FFF2-40B4-BE49-F238E27FC236}">
                <a16:creationId xmlns:a16="http://schemas.microsoft.com/office/drawing/2014/main" id="{8127CA67-9D70-A8B2-39E9-D52430844958}"/>
              </a:ext>
            </a:extLst>
          </p:cNvPr>
          <p:cNvSpPr/>
          <p:nvPr userDrawn="1"/>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539">
            <a:extLst>
              <a:ext uri="{FF2B5EF4-FFF2-40B4-BE49-F238E27FC236}">
                <a16:creationId xmlns:a16="http://schemas.microsoft.com/office/drawing/2014/main" id="{DFC47767-7235-9D2A-D8FA-65F3EE3E1329}"/>
              </a:ext>
            </a:extLst>
          </p:cNvPr>
          <p:cNvSpPr/>
          <p:nvPr userDrawn="1"/>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540">
            <a:extLst>
              <a:ext uri="{FF2B5EF4-FFF2-40B4-BE49-F238E27FC236}">
                <a16:creationId xmlns:a16="http://schemas.microsoft.com/office/drawing/2014/main" id="{AE2CF961-404C-F648-E9CD-4479F4007E28}"/>
              </a:ext>
            </a:extLst>
          </p:cNvPr>
          <p:cNvSpPr/>
          <p:nvPr userDrawn="1"/>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541">
            <a:extLst>
              <a:ext uri="{FF2B5EF4-FFF2-40B4-BE49-F238E27FC236}">
                <a16:creationId xmlns:a16="http://schemas.microsoft.com/office/drawing/2014/main" id="{AD4C8783-2D16-201D-7685-E85AB58E8584}"/>
              </a:ext>
            </a:extLst>
          </p:cNvPr>
          <p:cNvSpPr/>
          <p:nvPr userDrawn="1"/>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542">
            <a:extLst>
              <a:ext uri="{FF2B5EF4-FFF2-40B4-BE49-F238E27FC236}">
                <a16:creationId xmlns:a16="http://schemas.microsoft.com/office/drawing/2014/main" id="{9E774FE3-5612-FCD0-130D-B16C430A8E92}"/>
              </a:ext>
            </a:extLst>
          </p:cNvPr>
          <p:cNvSpPr/>
          <p:nvPr userDrawn="1"/>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543">
            <a:extLst>
              <a:ext uri="{FF2B5EF4-FFF2-40B4-BE49-F238E27FC236}">
                <a16:creationId xmlns:a16="http://schemas.microsoft.com/office/drawing/2014/main" id="{817462C8-EC81-0C6E-2947-666A2848DA94}"/>
              </a:ext>
            </a:extLst>
          </p:cNvPr>
          <p:cNvSpPr/>
          <p:nvPr userDrawn="1"/>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544">
            <a:extLst>
              <a:ext uri="{FF2B5EF4-FFF2-40B4-BE49-F238E27FC236}">
                <a16:creationId xmlns:a16="http://schemas.microsoft.com/office/drawing/2014/main" id="{68DAD4B7-F812-9B1C-B9A6-03670D517C62}"/>
              </a:ext>
            </a:extLst>
          </p:cNvPr>
          <p:cNvSpPr/>
          <p:nvPr userDrawn="1"/>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545">
            <a:extLst>
              <a:ext uri="{FF2B5EF4-FFF2-40B4-BE49-F238E27FC236}">
                <a16:creationId xmlns:a16="http://schemas.microsoft.com/office/drawing/2014/main" id="{02AD43C6-2915-7E5E-D81C-F23131C23468}"/>
              </a:ext>
            </a:extLst>
          </p:cNvPr>
          <p:cNvSpPr/>
          <p:nvPr userDrawn="1"/>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546">
            <a:extLst>
              <a:ext uri="{FF2B5EF4-FFF2-40B4-BE49-F238E27FC236}">
                <a16:creationId xmlns:a16="http://schemas.microsoft.com/office/drawing/2014/main" id="{1EFB7AAC-E2D7-B53B-078A-C2228ECD9FB3}"/>
              </a:ext>
            </a:extLst>
          </p:cNvPr>
          <p:cNvSpPr/>
          <p:nvPr userDrawn="1"/>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547">
            <a:extLst>
              <a:ext uri="{FF2B5EF4-FFF2-40B4-BE49-F238E27FC236}">
                <a16:creationId xmlns:a16="http://schemas.microsoft.com/office/drawing/2014/main" id="{F0E2D19D-C313-2F90-0D86-F1B2BCB65B8B}"/>
              </a:ext>
            </a:extLst>
          </p:cNvPr>
          <p:cNvSpPr/>
          <p:nvPr userDrawn="1"/>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548">
            <a:extLst>
              <a:ext uri="{FF2B5EF4-FFF2-40B4-BE49-F238E27FC236}">
                <a16:creationId xmlns:a16="http://schemas.microsoft.com/office/drawing/2014/main" id="{8338C323-628B-4E01-FBA0-F9BEA2192591}"/>
              </a:ext>
            </a:extLst>
          </p:cNvPr>
          <p:cNvSpPr/>
          <p:nvPr userDrawn="1"/>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549">
            <a:extLst>
              <a:ext uri="{FF2B5EF4-FFF2-40B4-BE49-F238E27FC236}">
                <a16:creationId xmlns:a16="http://schemas.microsoft.com/office/drawing/2014/main" id="{FB8A1E8F-6CFC-6382-41D2-4AD2A0F6A1CB}"/>
              </a:ext>
            </a:extLst>
          </p:cNvPr>
          <p:cNvSpPr/>
          <p:nvPr userDrawn="1"/>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550">
            <a:extLst>
              <a:ext uri="{FF2B5EF4-FFF2-40B4-BE49-F238E27FC236}">
                <a16:creationId xmlns:a16="http://schemas.microsoft.com/office/drawing/2014/main" id="{5EAB1621-8F30-4BBB-E363-377FAA7F1A23}"/>
              </a:ext>
            </a:extLst>
          </p:cNvPr>
          <p:cNvSpPr/>
          <p:nvPr userDrawn="1"/>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551">
            <a:extLst>
              <a:ext uri="{FF2B5EF4-FFF2-40B4-BE49-F238E27FC236}">
                <a16:creationId xmlns:a16="http://schemas.microsoft.com/office/drawing/2014/main" id="{09B1069D-CF90-FC8C-5A7E-CFCC92EF197C}"/>
              </a:ext>
            </a:extLst>
          </p:cNvPr>
          <p:cNvSpPr/>
          <p:nvPr userDrawn="1"/>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552">
            <a:extLst>
              <a:ext uri="{FF2B5EF4-FFF2-40B4-BE49-F238E27FC236}">
                <a16:creationId xmlns:a16="http://schemas.microsoft.com/office/drawing/2014/main" id="{DE091FED-7722-AB00-5699-AD3723F22641}"/>
              </a:ext>
            </a:extLst>
          </p:cNvPr>
          <p:cNvSpPr/>
          <p:nvPr userDrawn="1"/>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553">
            <a:extLst>
              <a:ext uri="{FF2B5EF4-FFF2-40B4-BE49-F238E27FC236}">
                <a16:creationId xmlns:a16="http://schemas.microsoft.com/office/drawing/2014/main" id="{22D9A06F-CC58-EC49-A165-2C40F96883CA}"/>
              </a:ext>
            </a:extLst>
          </p:cNvPr>
          <p:cNvSpPr/>
          <p:nvPr userDrawn="1"/>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554">
            <a:extLst>
              <a:ext uri="{FF2B5EF4-FFF2-40B4-BE49-F238E27FC236}">
                <a16:creationId xmlns:a16="http://schemas.microsoft.com/office/drawing/2014/main" id="{AD195537-4BB3-C030-6343-379CCDE7DD17}"/>
              </a:ext>
            </a:extLst>
          </p:cNvPr>
          <p:cNvSpPr/>
          <p:nvPr userDrawn="1"/>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555">
            <a:extLst>
              <a:ext uri="{FF2B5EF4-FFF2-40B4-BE49-F238E27FC236}">
                <a16:creationId xmlns:a16="http://schemas.microsoft.com/office/drawing/2014/main" id="{90D062A0-752F-CAA3-BAD7-1DA9A61D769A}"/>
              </a:ext>
            </a:extLst>
          </p:cNvPr>
          <p:cNvSpPr/>
          <p:nvPr userDrawn="1"/>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556">
            <a:extLst>
              <a:ext uri="{FF2B5EF4-FFF2-40B4-BE49-F238E27FC236}">
                <a16:creationId xmlns:a16="http://schemas.microsoft.com/office/drawing/2014/main" id="{F83ADFB6-10D3-1B6C-B15E-61E5A4FF9C94}"/>
              </a:ext>
            </a:extLst>
          </p:cNvPr>
          <p:cNvSpPr/>
          <p:nvPr userDrawn="1"/>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557">
            <a:extLst>
              <a:ext uri="{FF2B5EF4-FFF2-40B4-BE49-F238E27FC236}">
                <a16:creationId xmlns:a16="http://schemas.microsoft.com/office/drawing/2014/main" id="{EC060B24-7F8F-6BBF-5F21-1DF629E65661}"/>
              </a:ext>
            </a:extLst>
          </p:cNvPr>
          <p:cNvSpPr/>
          <p:nvPr userDrawn="1"/>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558">
            <a:extLst>
              <a:ext uri="{FF2B5EF4-FFF2-40B4-BE49-F238E27FC236}">
                <a16:creationId xmlns:a16="http://schemas.microsoft.com/office/drawing/2014/main" id="{56A68117-62A2-A179-4A20-EA0A5DEC084E}"/>
              </a:ext>
            </a:extLst>
          </p:cNvPr>
          <p:cNvSpPr/>
          <p:nvPr userDrawn="1"/>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559">
            <a:extLst>
              <a:ext uri="{FF2B5EF4-FFF2-40B4-BE49-F238E27FC236}">
                <a16:creationId xmlns:a16="http://schemas.microsoft.com/office/drawing/2014/main" id="{FF5A083D-9B00-9A20-024F-5AD710BFC8D4}"/>
              </a:ext>
            </a:extLst>
          </p:cNvPr>
          <p:cNvSpPr/>
          <p:nvPr userDrawn="1"/>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560">
            <a:extLst>
              <a:ext uri="{FF2B5EF4-FFF2-40B4-BE49-F238E27FC236}">
                <a16:creationId xmlns:a16="http://schemas.microsoft.com/office/drawing/2014/main" id="{EB584223-7026-77C0-876D-7628612F5D3A}"/>
              </a:ext>
            </a:extLst>
          </p:cNvPr>
          <p:cNvSpPr/>
          <p:nvPr userDrawn="1"/>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561">
            <a:extLst>
              <a:ext uri="{FF2B5EF4-FFF2-40B4-BE49-F238E27FC236}">
                <a16:creationId xmlns:a16="http://schemas.microsoft.com/office/drawing/2014/main" id="{D398C429-907D-C25B-686D-FB4E143FD417}"/>
              </a:ext>
            </a:extLst>
          </p:cNvPr>
          <p:cNvSpPr/>
          <p:nvPr userDrawn="1"/>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562">
            <a:extLst>
              <a:ext uri="{FF2B5EF4-FFF2-40B4-BE49-F238E27FC236}">
                <a16:creationId xmlns:a16="http://schemas.microsoft.com/office/drawing/2014/main" id="{B84CBFB7-B1E1-41DC-D7B5-8C7BB8D54D09}"/>
              </a:ext>
            </a:extLst>
          </p:cNvPr>
          <p:cNvSpPr/>
          <p:nvPr userDrawn="1"/>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563">
            <a:extLst>
              <a:ext uri="{FF2B5EF4-FFF2-40B4-BE49-F238E27FC236}">
                <a16:creationId xmlns:a16="http://schemas.microsoft.com/office/drawing/2014/main" id="{94F85E4D-263C-66FA-0C86-CCBFC066B1CB}"/>
              </a:ext>
            </a:extLst>
          </p:cNvPr>
          <p:cNvSpPr/>
          <p:nvPr userDrawn="1"/>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564">
            <a:extLst>
              <a:ext uri="{FF2B5EF4-FFF2-40B4-BE49-F238E27FC236}">
                <a16:creationId xmlns:a16="http://schemas.microsoft.com/office/drawing/2014/main" id="{ACEB18D9-668E-D615-E94C-23BB0F49DF18}"/>
              </a:ext>
            </a:extLst>
          </p:cNvPr>
          <p:cNvSpPr/>
          <p:nvPr userDrawn="1"/>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565">
            <a:extLst>
              <a:ext uri="{FF2B5EF4-FFF2-40B4-BE49-F238E27FC236}">
                <a16:creationId xmlns:a16="http://schemas.microsoft.com/office/drawing/2014/main" id="{30A991F0-1022-FF55-F687-86B50D5C5275}"/>
              </a:ext>
            </a:extLst>
          </p:cNvPr>
          <p:cNvSpPr/>
          <p:nvPr userDrawn="1"/>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566">
            <a:extLst>
              <a:ext uri="{FF2B5EF4-FFF2-40B4-BE49-F238E27FC236}">
                <a16:creationId xmlns:a16="http://schemas.microsoft.com/office/drawing/2014/main" id="{774515B2-8A7D-ACD8-382D-933451FDF140}"/>
              </a:ext>
            </a:extLst>
          </p:cNvPr>
          <p:cNvSpPr/>
          <p:nvPr userDrawn="1"/>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567">
            <a:extLst>
              <a:ext uri="{FF2B5EF4-FFF2-40B4-BE49-F238E27FC236}">
                <a16:creationId xmlns:a16="http://schemas.microsoft.com/office/drawing/2014/main" id="{661723AF-6F68-C82C-E26B-832AB38A8445}"/>
              </a:ext>
            </a:extLst>
          </p:cNvPr>
          <p:cNvSpPr/>
          <p:nvPr userDrawn="1"/>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568">
            <a:extLst>
              <a:ext uri="{FF2B5EF4-FFF2-40B4-BE49-F238E27FC236}">
                <a16:creationId xmlns:a16="http://schemas.microsoft.com/office/drawing/2014/main" id="{6A055A92-A5C1-1D46-88AD-090C619EC155}"/>
              </a:ext>
            </a:extLst>
          </p:cNvPr>
          <p:cNvSpPr/>
          <p:nvPr userDrawn="1"/>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569">
            <a:extLst>
              <a:ext uri="{FF2B5EF4-FFF2-40B4-BE49-F238E27FC236}">
                <a16:creationId xmlns:a16="http://schemas.microsoft.com/office/drawing/2014/main" id="{17320AA8-E633-0016-A8E8-C202A9B026E4}"/>
              </a:ext>
            </a:extLst>
          </p:cNvPr>
          <p:cNvSpPr/>
          <p:nvPr userDrawn="1"/>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570">
            <a:extLst>
              <a:ext uri="{FF2B5EF4-FFF2-40B4-BE49-F238E27FC236}">
                <a16:creationId xmlns:a16="http://schemas.microsoft.com/office/drawing/2014/main" id="{A1846ADF-2A51-25D5-B8E4-68DBC826FB65}"/>
              </a:ext>
            </a:extLst>
          </p:cNvPr>
          <p:cNvSpPr/>
          <p:nvPr userDrawn="1"/>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571">
            <a:extLst>
              <a:ext uri="{FF2B5EF4-FFF2-40B4-BE49-F238E27FC236}">
                <a16:creationId xmlns:a16="http://schemas.microsoft.com/office/drawing/2014/main" id="{5304D51C-35ED-7932-E20A-E6F383A9B221}"/>
              </a:ext>
            </a:extLst>
          </p:cNvPr>
          <p:cNvSpPr/>
          <p:nvPr userDrawn="1"/>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572">
            <a:extLst>
              <a:ext uri="{FF2B5EF4-FFF2-40B4-BE49-F238E27FC236}">
                <a16:creationId xmlns:a16="http://schemas.microsoft.com/office/drawing/2014/main" id="{D668A1EC-2800-0273-4039-8D8E238E7D74}"/>
              </a:ext>
            </a:extLst>
          </p:cNvPr>
          <p:cNvSpPr/>
          <p:nvPr userDrawn="1"/>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573">
            <a:extLst>
              <a:ext uri="{FF2B5EF4-FFF2-40B4-BE49-F238E27FC236}">
                <a16:creationId xmlns:a16="http://schemas.microsoft.com/office/drawing/2014/main" id="{CC12868F-A22E-0DEA-935E-1FEB0EEAF125}"/>
              </a:ext>
            </a:extLst>
          </p:cNvPr>
          <p:cNvSpPr/>
          <p:nvPr userDrawn="1"/>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574">
            <a:extLst>
              <a:ext uri="{FF2B5EF4-FFF2-40B4-BE49-F238E27FC236}">
                <a16:creationId xmlns:a16="http://schemas.microsoft.com/office/drawing/2014/main" id="{06C1E24B-9C22-26AF-20FC-F9EB17793866}"/>
              </a:ext>
            </a:extLst>
          </p:cNvPr>
          <p:cNvSpPr/>
          <p:nvPr userDrawn="1"/>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575">
            <a:extLst>
              <a:ext uri="{FF2B5EF4-FFF2-40B4-BE49-F238E27FC236}">
                <a16:creationId xmlns:a16="http://schemas.microsoft.com/office/drawing/2014/main" id="{3887BD2E-A8AB-CBC7-6A27-069EB4A10D40}"/>
              </a:ext>
            </a:extLst>
          </p:cNvPr>
          <p:cNvSpPr/>
          <p:nvPr userDrawn="1"/>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576">
            <a:extLst>
              <a:ext uri="{FF2B5EF4-FFF2-40B4-BE49-F238E27FC236}">
                <a16:creationId xmlns:a16="http://schemas.microsoft.com/office/drawing/2014/main" id="{F1116536-8265-56DF-D1D8-C44C129385DD}"/>
              </a:ext>
            </a:extLst>
          </p:cNvPr>
          <p:cNvSpPr/>
          <p:nvPr userDrawn="1"/>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577">
            <a:extLst>
              <a:ext uri="{FF2B5EF4-FFF2-40B4-BE49-F238E27FC236}">
                <a16:creationId xmlns:a16="http://schemas.microsoft.com/office/drawing/2014/main" id="{516D8C67-E859-C918-2610-3BFE6BF7D0F0}"/>
              </a:ext>
            </a:extLst>
          </p:cNvPr>
          <p:cNvSpPr/>
          <p:nvPr userDrawn="1"/>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578">
            <a:extLst>
              <a:ext uri="{FF2B5EF4-FFF2-40B4-BE49-F238E27FC236}">
                <a16:creationId xmlns:a16="http://schemas.microsoft.com/office/drawing/2014/main" id="{08525890-C012-D5A7-C1C0-8DB8BF6E262E}"/>
              </a:ext>
            </a:extLst>
          </p:cNvPr>
          <p:cNvSpPr/>
          <p:nvPr userDrawn="1"/>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579">
            <a:extLst>
              <a:ext uri="{FF2B5EF4-FFF2-40B4-BE49-F238E27FC236}">
                <a16:creationId xmlns:a16="http://schemas.microsoft.com/office/drawing/2014/main" id="{D5BEEBAA-330B-5C3D-339B-8DE9CDFFDFD9}"/>
              </a:ext>
            </a:extLst>
          </p:cNvPr>
          <p:cNvSpPr/>
          <p:nvPr userDrawn="1"/>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580">
            <a:extLst>
              <a:ext uri="{FF2B5EF4-FFF2-40B4-BE49-F238E27FC236}">
                <a16:creationId xmlns:a16="http://schemas.microsoft.com/office/drawing/2014/main" id="{E29844E1-8A99-CC88-39AB-5BC4BB963E78}"/>
              </a:ext>
            </a:extLst>
          </p:cNvPr>
          <p:cNvSpPr/>
          <p:nvPr userDrawn="1"/>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581">
            <a:extLst>
              <a:ext uri="{FF2B5EF4-FFF2-40B4-BE49-F238E27FC236}">
                <a16:creationId xmlns:a16="http://schemas.microsoft.com/office/drawing/2014/main" id="{90DC2F8A-990F-AF09-1E27-59420F254AA0}"/>
              </a:ext>
            </a:extLst>
          </p:cNvPr>
          <p:cNvSpPr/>
          <p:nvPr userDrawn="1"/>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582">
            <a:extLst>
              <a:ext uri="{FF2B5EF4-FFF2-40B4-BE49-F238E27FC236}">
                <a16:creationId xmlns:a16="http://schemas.microsoft.com/office/drawing/2014/main" id="{57A5651F-B4B1-F0EF-0513-3EF5629B23A7}"/>
              </a:ext>
            </a:extLst>
          </p:cNvPr>
          <p:cNvSpPr/>
          <p:nvPr userDrawn="1"/>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583">
            <a:extLst>
              <a:ext uri="{FF2B5EF4-FFF2-40B4-BE49-F238E27FC236}">
                <a16:creationId xmlns:a16="http://schemas.microsoft.com/office/drawing/2014/main" id="{AE296D0A-5965-5E91-1B17-69CC32D3F782}"/>
              </a:ext>
            </a:extLst>
          </p:cNvPr>
          <p:cNvSpPr/>
          <p:nvPr userDrawn="1"/>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584">
            <a:extLst>
              <a:ext uri="{FF2B5EF4-FFF2-40B4-BE49-F238E27FC236}">
                <a16:creationId xmlns:a16="http://schemas.microsoft.com/office/drawing/2014/main" id="{1FB6940E-4DDF-61A7-02F3-3770D1436CF6}"/>
              </a:ext>
            </a:extLst>
          </p:cNvPr>
          <p:cNvSpPr/>
          <p:nvPr userDrawn="1"/>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585">
            <a:extLst>
              <a:ext uri="{FF2B5EF4-FFF2-40B4-BE49-F238E27FC236}">
                <a16:creationId xmlns:a16="http://schemas.microsoft.com/office/drawing/2014/main" id="{9A7F6EF5-CE0B-04EE-D2C1-25E0E5AC0EEF}"/>
              </a:ext>
            </a:extLst>
          </p:cNvPr>
          <p:cNvSpPr/>
          <p:nvPr userDrawn="1"/>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586">
            <a:extLst>
              <a:ext uri="{FF2B5EF4-FFF2-40B4-BE49-F238E27FC236}">
                <a16:creationId xmlns:a16="http://schemas.microsoft.com/office/drawing/2014/main" id="{EB164C88-73FE-1C01-9F42-5640E0FF395A}"/>
              </a:ext>
            </a:extLst>
          </p:cNvPr>
          <p:cNvSpPr/>
          <p:nvPr userDrawn="1"/>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587">
            <a:extLst>
              <a:ext uri="{FF2B5EF4-FFF2-40B4-BE49-F238E27FC236}">
                <a16:creationId xmlns:a16="http://schemas.microsoft.com/office/drawing/2014/main" id="{B7105F32-D83D-8097-8E97-A78E183CE981}"/>
              </a:ext>
            </a:extLst>
          </p:cNvPr>
          <p:cNvSpPr/>
          <p:nvPr userDrawn="1"/>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588">
            <a:extLst>
              <a:ext uri="{FF2B5EF4-FFF2-40B4-BE49-F238E27FC236}">
                <a16:creationId xmlns:a16="http://schemas.microsoft.com/office/drawing/2014/main" id="{CFA810D8-A07A-1346-2E9E-77B81FA06265}"/>
              </a:ext>
            </a:extLst>
          </p:cNvPr>
          <p:cNvSpPr/>
          <p:nvPr userDrawn="1"/>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589">
            <a:extLst>
              <a:ext uri="{FF2B5EF4-FFF2-40B4-BE49-F238E27FC236}">
                <a16:creationId xmlns:a16="http://schemas.microsoft.com/office/drawing/2014/main" id="{71B3490B-448D-856C-B294-679CEE89DA58}"/>
              </a:ext>
            </a:extLst>
          </p:cNvPr>
          <p:cNvSpPr/>
          <p:nvPr userDrawn="1"/>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590">
            <a:extLst>
              <a:ext uri="{FF2B5EF4-FFF2-40B4-BE49-F238E27FC236}">
                <a16:creationId xmlns:a16="http://schemas.microsoft.com/office/drawing/2014/main" id="{5AA22A47-C539-9614-D3E7-578A4BFB1966}"/>
              </a:ext>
            </a:extLst>
          </p:cNvPr>
          <p:cNvSpPr/>
          <p:nvPr userDrawn="1"/>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591">
            <a:extLst>
              <a:ext uri="{FF2B5EF4-FFF2-40B4-BE49-F238E27FC236}">
                <a16:creationId xmlns:a16="http://schemas.microsoft.com/office/drawing/2014/main" id="{12FACF25-C87F-5ECB-33CC-E73DD14CC9AA}"/>
              </a:ext>
            </a:extLst>
          </p:cNvPr>
          <p:cNvSpPr/>
          <p:nvPr userDrawn="1"/>
        </p:nvSpPr>
        <p:spPr>
          <a:xfrm>
            <a:off x="973506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592">
            <a:extLst>
              <a:ext uri="{FF2B5EF4-FFF2-40B4-BE49-F238E27FC236}">
                <a16:creationId xmlns:a16="http://schemas.microsoft.com/office/drawing/2014/main" id="{FC93F9BD-7979-3789-2274-9ACA054FD908}"/>
              </a:ext>
            </a:extLst>
          </p:cNvPr>
          <p:cNvSpPr/>
          <p:nvPr userDrawn="1"/>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593">
            <a:extLst>
              <a:ext uri="{FF2B5EF4-FFF2-40B4-BE49-F238E27FC236}">
                <a16:creationId xmlns:a16="http://schemas.microsoft.com/office/drawing/2014/main" id="{5F274E71-6199-7DAA-0652-48D4F0CC3D98}"/>
              </a:ext>
            </a:extLst>
          </p:cNvPr>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594">
            <a:extLst>
              <a:ext uri="{FF2B5EF4-FFF2-40B4-BE49-F238E27FC236}">
                <a16:creationId xmlns:a16="http://schemas.microsoft.com/office/drawing/2014/main" id="{053DFB54-E7C4-17CB-1917-4067B52D5CBE}"/>
              </a:ext>
            </a:extLst>
          </p:cNvPr>
          <p:cNvSpPr/>
          <p:nvPr userDrawn="1"/>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595">
            <a:extLst>
              <a:ext uri="{FF2B5EF4-FFF2-40B4-BE49-F238E27FC236}">
                <a16:creationId xmlns:a16="http://schemas.microsoft.com/office/drawing/2014/main" id="{E3815DFF-95A7-24BB-8178-7012AAE656A6}"/>
              </a:ext>
            </a:extLst>
          </p:cNvPr>
          <p:cNvSpPr/>
          <p:nvPr userDrawn="1"/>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596">
            <a:extLst>
              <a:ext uri="{FF2B5EF4-FFF2-40B4-BE49-F238E27FC236}">
                <a16:creationId xmlns:a16="http://schemas.microsoft.com/office/drawing/2014/main" id="{47AA43C6-FC88-1B9D-441C-39A28187696C}"/>
              </a:ext>
            </a:extLst>
          </p:cNvPr>
          <p:cNvSpPr/>
          <p:nvPr userDrawn="1"/>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597">
            <a:extLst>
              <a:ext uri="{FF2B5EF4-FFF2-40B4-BE49-F238E27FC236}">
                <a16:creationId xmlns:a16="http://schemas.microsoft.com/office/drawing/2014/main" id="{E13B06E1-1FC1-04B3-EF83-B965CFB06E91}"/>
              </a:ext>
            </a:extLst>
          </p:cNvPr>
          <p:cNvSpPr/>
          <p:nvPr userDrawn="1"/>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598">
            <a:extLst>
              <a:ext uri="{FF2B5EF4-FFF2-40B4-BE49-F238E27FC236}">
                <a16:creationId xmlns:a16="http://schemas.microsoft.com/office/drawing/2014/main" id="{A58D18FD-8F84-1D66-0808-F330F2925C67}"/>
              </a:ext>
            </a:extLst>
          </p:cNvPr>
          <p:cNvSpPr/>
          <p:nvPr userDrawn="1"/>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599">
            <a:extLst>
              <a:ext uri="{FF2B5EF4-FFF2-40B4-BE49-F238E27FC236}">
                <a16:creationId xmlns:a16="http://schemas.microsoft.com/office/drawing/2014/main" id="{92811635-6CD5-9C5B-B7D0-5A4D1C8649E1}"/>
              </a:ext>
            </a:extLst>
          </p:cNvPr>
          <p:cNvSpPr/>
          <p:nvPr userDrawn="1"/>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600">
            <a:extLst>
              <a:ext uri="{FF2B5EF4-FFF2-40B4-BE49-F238E27FC236}">
                <a16:creationId xmlns:a16="http://schemas.microsoft.com/office/drawing/2014/main" id="{BC3F8F6F-5400-6A6C-BF9D-2629BFBC6194}"/>
              </a:ext>
            </a:extLst>
          </p:cNvPr>
          <p:cNvSpPr/>
          <p:nvPr userDrawn="1"/>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601">
            <a:extLst>
              <a:ext uri="{FF2B5EF4-FFF2-40B4-BE49-F238E27FC236}">
                <a16:creationId xmlns:a16="http://schemas.microsoft.com/office/drawing/2014/main" id="{34E37BF2-E200-EB0D-9506-FC66C36C87F9}"/>
              </a:ext>
            </a:extLst>
          </p:cNvPr>
          <p:cNvSpPr/>
          <p:nvPr userDrawn="1"/>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602">
            <a:extLst>
              <a:ext uri="{FF2B5EF4-FFF2-40B4-BE49-F238E27FC236}">
                <a16:creationId xmlns:a16="http://schemas.microsoft.com/office/drawing/2014/main" id="{68110482-EF35-342A-E3ED-B3F17F549FF5}"/>
              </a:ext>
            </a:extLst>
          </p:cNvPr>
          <p:cNvSpPr/>
          <p:nvPr userDrawn="1"/>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603">
            <a:extLst>
              <a:ext uri="{FF2B5EF4-FFF2-40B4-BE49-F238E27FC236}">
                <a16:creationId xmlns:a16="http://schemas.microsoft.com/office/drawing/2014/main" id="{F2011525-D684-C8F8-883B-AFB940DE7B28}"/>
              </a:ext>
            </a:extLst>
          </p:cNvPr>
          <p:cNvSpPr/>
          <p:nvPr userDrawn="1"/>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604">
            <a:extLst>
              <a:ext uri="{FF2B5EF4-FFF2-40B4-BE49-F238E27FC236}">
                <a16:creationId xmlns:a16="http://schemas.microsoft.com/office/drawing/2014/main" id="{A5FAEDBF-D376-3496-B8AA-4E8037BCE8B7}"/>
              </a:ext>
            </a:extLst>
          </p:cNvPr>
          <p:cNvSpPr/>
          <p:nvPr userDrawn="1"/>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605">
            <a:extLst>
              <a:ext uri="{FF2B5EF4-FFF2-40B4-BE49-F238E27FC236}">
                <a16:creationId xmlns:a16="http://schemas.microsoft.com/office/drawing/2014/main" id="{A953BF1A-016F-EC09-04A0-DDA26942CACD}"/>
              </a:ext>
            </a:extLst>
          </p:cNvPr>
          <p:cNvSpPr/>
          <p:nvPr userDrawn="1"/>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606">
            <a:extLst>
              <a:ext uri="{FF2B5EF4-FFF2-40B4-BE49-F238E27FC236}">
                <a16:creationId xmlns:a16="http://schemas.microsoft.com/office/drawing/2014/main" id="{EC2A9A56-5716-18C8-9C2D-1E1988D26069}"/>
              </a:ext>
            </a:extLst>
          </p:cNvPr>
          <p:cNvSpPr/>
          <p:nvPr userDrawn="1"/>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607">
            <a:extLst>
              <a:ext uri="{FF2B5EF4-FFF2-40B4-BE49-F238E27FC236}">
                <a16:creationId xmlns:a16="http://schemas.microsoft.com/office/drawing/2014/main" id="{9EACA349-5FA1-262A-5867-372AE11F043E}"/>
              </a:ext>
            </a:extLst>
          </p:cNvPr>
          <p:cNvSpPr/>
          <p:nvPr userDrawn="1"/>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608">
            <a:extLst>
              <a:ext uri="{FF2B5EF4-FFF2-40B4-BE49-F238E27FC236}">
                <a16:creationId xmlns:a16="http://schemas.microsoft.com/office/drawing/2014/main" id="{15C405FC-6060-0910-8B39-0592F40F9DEA}"/>
              </a:ext>
            </a:extLst>
          </p:cNvPr>
          <p:cNvSpPr/>
          <p:nvPr userDrawn="1"/>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609">
            <a:extLst>
              <a:ext uri="{FF2B5EF4-FFF2-40B4-BE49-F238E27FC236}">
                <a16:creationId xmlns:a16="http://schemas.microsoft.com/office/drawing/2014/main" id="{58D4B95B-0F5C-F75A-824E-33DF83449B1B}"/>
              </a:ext>
            </a:extLst>
          </p:cNvPr>
          <p:cNvSpPr/>
          <p:nvPr userDrawn="1"/>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610">
            <a:extLst>
              <a:ext uri="{FF2B5EF4-FFF2-40B4-BE49-F238E27FC236}">
                <a16:creationId xmlns:a16="http://schemas.microsoft.com/office/drawing/2014/main" id="{75D5006A-65A1-ABE7-4367-715E378C255F}"/>
              </a:ext>
            </a:extLst>
          </p:cNvPr>
          <p:cNvSpPr/>
          <p:nvPr userDrawn="1"/>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611">
            <a:extLst>
              <a:ext uri="{FF2B5EF4-FFF2-40B4-BE49-F238E27FC236}">
                <a16:creationId xmlns:a16="http://schemas.microsoft.com/office/drawing/2014/main" id="{FD9D572E-8242-B165-B87F-CF5C2B020C1D}"/>
              </a:ext>
            </a:extLst>
          </p:cNvPr>
          <p:cNvSpPr/>
          <p:nvPr userDrawn="1"/>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612">
            <a:extLst>
              <a:ext uri="{FF2B5EF4-FFF2-40B4-BE49-F238E27FC236}">
                <a16:creationId xmlns:a16="http://schemas.microsoft.com/office/drawing/2014/main" id="{11775C50-E2A5-CC07-E016-4DCC8642AD67}"/>
              </a:ext>
            </a:extLst>
          </p:cNvPr>
          <p:cNvSpPr/>
          <p:nvPr userDrawn="1"/>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613">
            <a:extLst>
              <a:ext uri="{FF2B5EF4-FFF2-40B4-BE49-F238E27FC236}">
                <a16:creationId xmlns:a16="http://schemas.microsoft.com/office/drawing/2014/main" id="{9426342D-7386-75A1-86E2-B752C4B6C6D1}"/>
              </a:ext>
            </a:extLst>
          </p:cNvPr>
          <p:cNvSpPr/>
          <p:nvPr userDrawn="1"/>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614">
            <a:extLst>
              <a:ext uri="{FF2B5EF4-FFF2-40B4-BE49-F238E27FC236}">
                <a16:creationId xmlns:a16="http://schemas.microsoft.com/office/drawing/2014/main" id="{2553F3E1-4528-7B1C-FA7D-7F4746EA5473}"/>
              </a:ext>
            </a:extLst>
          </p:cNvPr>
          <p:cNvSpPr/>
          <p:nvPr userDrawn="1"/>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615">
            <a:extLst>
              <a:ext uri="{FF2B5EF4-FFF2-40B4-BE49-F238E27FC236}">
                <a16:creationId xmlns:a16="http://schemas.microsoft.com/office/drawing/2014/main" id="{ED4C9555-8C16-F555-54E0-64AB16C27E70}"/>
              </a:ext>
            </a:extLst>
          </p:cNvPr>
          <p:cNvSpPr/>
          <p:nvPr userDrawn="1"/>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616">
            <a:extLst>
              <a:ext uri="{FF2B5EF4-FFF2-40B4-BE49-F238E27FC236}">
                <a16:creationId xmlns:a16="http://schemas.microsoft.com/office/drawing/2014/main" id="{57DD431E-3315-0D08-22D2-CBB32D79D1A9}"/>
              </a:ext>
            </a:extLst>
          </p:cNvPr>
          <p:cNvSpPr/>
          <p:nvPr userDrawn="1"/>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617">
            <a:extLst>
              <a:ext uri="{FF2B5EF4-FFF2-40B4-BE49-F238E27FC236}">
                <a16:creationId xmlns:a16="http://schemas.microsoft.com/office/drawing/2014/main" id="{177BEA3A-626B-D139-E631-B5883B062EBD}"/>
              </a:ext>
            </a:extLst>
          </p:cNvPr>
          <p:cNvSpPr/>
          <p:nvPr userDrawn="1"/>
        </p:nvSpPr>
        <p:spPr>
          <a:xfrm>
            <a:off x="7413240" y="452676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618">
            <a:extLst>
              <a:ext uri="{FF2B5EF4-FFF2-40B4-BE49-F238E27FC236}">
                <a16:creationId xmlns:a16="http://schemas.microsoft.com/office/drawing/2014/main" id="{024B5CF6-3EBC-57AA-4A5C-508D5AAC5D68}"/>
              </a:ext>
            </a:extLst>
          </p:cNvPr>
          <p:cNvSpPr/>
          <p:nvPr userDrawn="1"/>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619">
            <a:extLst>
              <a:ext uri="{FF2B5EF4-FFF2-40B4-BE49-F238E27FC236}">
                <a16:creationId xmlns:a16="http://schemas.microsoft.com/office/drawing/2014/main" id="{03FE88AE-4670-E6BA-BE8E-80AC0A9D99A9}"/>
              </a:ext>
            </a:extLst>
          </p:cNvPr>
          <p:cNvSpPr/>
          <p:nvPr userDrawn="1"/>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620">
            <a:extLst>
              <a:ext uri="{FF2B5EF4-FFF2-40B4-BE49-F238E27FC236}">
                <a16:creationId xmlns:a16="http://schemas.microsoft.com/office/drawing/2014/main" id="{7912AF7D-CE6C-54A1-6FB4-E05F205F9B69}"/>
              </a:ext>
            </a:extLst>
          </p:cNvPr>
          <p:cNvSpPr/>
          <p:nvPr userDrawn="1"/>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621">
            <a:extLst>
              <a:ext uri="{FF2B5EF4-FFF2-40B4-BE49-F238E27FC236}">
                <a16:creationId xmlns:a16="http://schemas.microsoft.com/office/drawing/2014/main" id="{A783F183-5276-AF62-FD22-F9CFBD497761}"/>
              </a:ext>
            </a:extLst>
          </p:cNvPr>
          <p:cNvSpPr/>
          <p:nvPr userDrawn="1"/>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622">
            <a:extLst>
              <a:ext uri="{FF2B5EF4-FFF2-40B4-BE49-F238E27FC236}">
                <a16:creationId xmlns:a16="http://schemas.microsoft.com/office/drawing/2014/main" id="{A9E8618B-E6C2-7406-0AA3-F7B03611B15E}"/>
              </a:ext>
            </a:extLst>
          </p:cNvPr>
          <p:cNvSpPr/>
          <p:nvPr userDrawn="1"/>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623">
            <a:extLst>
              <a:ext uri="{FF2B5EF4-FFF2-40B4-BE49-F238E27FC236}">
                <a16:creationId xmlns:a16="http://schemas.microsoft.com/office/drawing/2014/main" id="{F5E069D7-1E19-AE95-AAC3-F726DC6120D6}"/>
              </a:ext>
            </a:extLst>
          </p:cNvPr>
          <p:cNvSpPr/>
          <p:nvPr userDrawn="1"/>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624">
            <a:extLst>
              <a:ext uri="{FF2B5EF4-FFF2-40B4-BE49-F238E27FC236}">
                <a16:creationId xmlns:a16="http://schemas.microsoft.com/office/drawing/2014/main" id="{C4E14967-F7C9-A1CC-D740-B7A5DCD5AB75}"/>
              </a:ext>
            </a:extLst>
          </p:cNvPr>
          <p:cNvSpPr/>
          <p:nvPr userDrawn="1"/>
        </p:nvSpPr>
        <p:spPr>
          <a:xfrm>
            <a:off x="1147642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625">
            <a:extLst>
              <a:ext uri="{FF2B5EF4-FFF2-40B4-BE49-F238E27FC236}">
                <a16:creationId xmlns:a16="http://schemas.microsoft.com/office/drawing/2014/main" id="{770BCEF7-CD21-2C11-C651-3AFD84D7F0EF}"/>
              </a:ext>
            </a:extLst>
          </p:cNvPr>
          <p:cNvSpPr/>
          <p:nvPr userDrawn="1"/>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626">
            <a:extLst>
              <a:ext uri="{FF2B5EF4-FFF2-40B4-BE49-F238E27FC236}">
                <a16:creationId xmlns:a16="http://schemas.microsoft.com/office/drawing/2014/main" id="{EEBC9EFE-DBE2-900C-F812-9165DE2528B3}"/>
              </a:ext>
            </a:extLst>
          </p:cNvPr>
          <p:cNvSpPr/>
          <p:nvPr userDrawn="1"/>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627">
            <a:extLst>
              <a:ext uri="{FF2B5EF4-FFF2-40B4-BE49-F238E27FC236}">
                <a16:creationId xmlns:a16="http://schemas.microsoft.com/office/drawing/2014/main" id="{B7207946-32EB-1E33-E924-D9ABA31A789C}"/>
              </a:ext>
            </a:extLst>
          </p:cNvPr>
          <p:cNvSpPr/>
          <p:nvPr userDrawn="1"/>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628">
            <a:extLst>
              <a:ext uri="{FF2B5EF4-FFF2-40B4-BE49-F238E27FC236}">
                <a16:creationId xmlns:a16="http://schemas.microsoft.com/office/drawing/2014/main" id="{57761894-A5A9-5F6B-43C1-7C902ECACEFE}"/>
              </a:ext>
            </a:extLst>
          </p:cNvPr>
          <p:cNvSpPr/>
          <p:nvPr userDrawn="1"/>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629">
            <a:extLst>
              <a:ext uri="{FF2B5EF4-FFF2-40B4-BE49-F238E27FC236}">
                <a16:creationId xmlns:a16="http://schemas.microsoft.com/office/drawing/2014/main" id="{CBEE9BA1-589A-9C1F-F217-B623FF645267}"/>
              </a:ext>
            </a:extLst>
          </p:cNvPr>
          <p:cNvSpPr/>
          <p:nvPr userDrawn="1"/>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630">
            <a:extLst>
              <a:ext uri="{FF2B5EF4-FFF2-40B4-BE49-F238E27FC236}">
                <a16:creationId xmlns:a16="http://schemas.microsoft.com/office/drawing/2014/main" id="{27E7F522-9017-5538-0241-46EA70336FE6}"/>
              </a:ext>
            </a:extLst>
          </p:cNvPr>
          <p:cNvSpPr/>
          <p:nvPr userDrawn="1"/>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631">
            <a:extLst>
              <a:ext uri="{FF2B5EF4-FFF2-40B4-BE49-F238E27FC236}">
                <a16:creationId xmlns:a16="http://schemas.microsoft.com/office/drawing/2014/main" id="{8E452550-1CDB-A58B-1070-A72417852F87}"/>
              </a:ext>
            </a:extLst>
          </p:cNvPr>
          <p:cNvSpPr/>
          <p:nvPr userDrawn="1"/>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632">
            <a:extLst>
              <a:ext uri="{FF2B5EF4-FFF2-40B4-BE49-F238E27FC236}">
                <a16:creationId xmlns:a16="http://schemas.microsoft.com/office/drawing/2014/main" id="{1AACE1DA-0E0F-C955-C5BD-9A985B71A749}"/>
              </a:ext>
            </a:extLst>
          </p:cNvPr>
          <p:cNvSpPr/>
          <p:nvPr userDrawn="1"/>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633">
            <a:extLst>
              <a:ext uri="{FF2B5EF4-FFF2-40B4-BE49-F238E27FC236}">
                <a16:creationId xmlns:a16="http://schemas.microsoft.com/office/drawing/2014/main" id="{09742753-D68F-E101-08F5-761545F88907}"/>
              </a:ext>
            </a:extLst>
          </p:cNvPr>
          <p:cNvSpPr/>
          <p:nvPr userDrawn="1"/>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Shape 2634">
            <a:extLst>
              <a:ext uri="{FF2B5EF4-FFF2-40B4-BE49-F238E27FC236}">
                <a16:creationId xmlns:a16="http://schemas.microsoft.com/office/drawing/2014/main" id="{A3E6AE33-3946-1148-5EEE-02B620330399}"/>
              </a:ext>
            </a:extLst>
          </p:cNvPr>
          <p:cNvSpPr/>
          <p:nvPr userDrawn="1"/>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8" name="TextBox 227">
            <a:extLst>
              <a:ext uri="{FF2B5EF4-FFF2-40B4-BE49-F238E27FC236}">
                <a16:creationId xmlns:a16="http://schemas.microsoft.com/office/drawing/2014/main" id="{E482B3A8-1605-D50D-705A-DF138E06A807}"/>
              </a:ext>
            </a:extLst>
          </p:cNvPr>
          <p:cNvSpPr txBox="1"/>
          <p:nvPr userDrawn="1"/>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Tree>
    <p:extLst>
      <p:ext uri="{BB962C8B-B14F-4D97-AF65-F5344CB8AC3E}">
        <p14:creationId xmlns:p14="http://schemas.microsoft.com/office/powerpoint/2010/main" val="100205208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Rectangle 1">
            <a:extLst>
              <a:ext uri="{FF2B5EF4-FFF2-40B4-BE49-F238E27FC236}">
                <a16:creationId xmlns:a16="http://schemas.microsoft.com/office/drawing/2014/main" id="{88361803-3B89-857E-0BD5-3624A90D729F}"/>
              </a:ext>
            </a:extLst>
          </p:cNvPr>
          <p:cNvSpPr/>
          <p:nvPr userDrawn="1"/>
        </p:nvSpPr>
        <p:spPr>
          <a:xfrm>
            <a:off x="399" y="224"/>
            <a:ext cx="12191205" cy="1927566"/>
          </a:xfrm>
          <a:prstGeom prst="rect">
            <a:avLst/>
          </a:prstGeom>
          <a:solidFill>
            <a:srgbClr val="EC111A"/>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Shape 2637">
            <a:extLst>
              <a:ext uri="{FF2B5EF4-FFF2-40B4-BE49-F238E27FC236}">
                <a16:creationId xmlns:a16="http://schemas.microsoft.com/office/drawing/2014/main" id="{74B8A3D5-24FF-D327-F367-FE0CBF91549C}"/>
              </a:ext>
            </a:extLst>
          </p:cNvPr>
          <p:cNvSpPr/>
          <p:nvPr userDrawn="1"/>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 name="Shape 2638">
            <a:extLst>
              <a:ext uri="{FF2B5EF4-FFF2-40B4-BE49-F238E27FC236}">
                <a16:creationId xmlns:a16="http://schemas.microsoft.com/office/drawing/2014/main" id="{F117E758-76B5-EB78-3E94-2A469E547B90}"/>
              </a:ext>
            </a:extLst>
          </p:cNvPr>
          <p:cNvSpPr/>
          <p:nvPr userDrawn="1"/>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 name="Shape 2639">
            <a:extLst>
              <a:ext uri="{FF2B5EF4-FFF2-40B4-BE49-F238E27FC236}">
                <a16:creationId xmlns:a16="http://schemas.microsoft.com/office/drawing/2014/main" id="{37B53F2B-F981-1692-08E4-9270156D50FF}"/>
              </a:ext>
            </a:extLst>
          </p:cNvPr>
          <p:cNvSpPr/>
          <p:nvPr userDrawn="1"/>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640">
            <a:extLst>
              <a:ext uri="{FF2B5EF4-FFF2-40B4-BE49-F238E27FC236}">
                <a16:creationId xmlns:a16="http://schemas.microsoft.com/office/drawing/2014/main" id="{D09FF23F-EB5F-D7B2-797C-02B5A5D4DFB5}"/>
              </a:ext>
            </a:extLst>
          </p:cNvPr>
          <p:cNvSpPr/>
          <p:nvPr userDrawn="1"/>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641">
            <a:extLst>
              <a:ext uri="{FF2B5EF4-FFF2-40B4-BE49-F238E27FC236}">
                <a16:creationId xmlns:a16="http://schemas.microsoft.com/office/drawing/2014/main" id="{9D4EB407-F8A4-FE48-DC89-BD483ACDF4F6}"/>
              </a:ext>
            </a:extLst>
          </p:cNvPr>
          <p:cNvSpPr/>
          <p:nvPr userDrawn="1"/>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642">
            <a:extLst>
              <a:ext uri="{FF2B5EF4-FFF2-40B4-BE49-F238E27FC236}">
                <a16:creationId xmlns:a16="http://schemas.microsoft.com/office/drawing/2014/main" id="{78AEC8B5-C1D0-6250-83F2-AC7C1C9BC7AF}"/>
              </a:ext>
            </a:extLst>
          </p:cNvPr>
          <p:cNvSpPr/>
          <p:nvPr userDrawn="1"/>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643">
            <a:extLst>
              <a:ext uri="{FF2B5EF4-FFF2-40B4-BE49-F238E27FC236}">
                <a16:creationId xmlns:a16="http://schemas.microsoft.com/office/drawing/2014/main" id="{782FFFB5-7F00-9779-35D5-C1D16ABB364C}"/>
              </a:ext>
            </a:extLst>
          </p:cNvPr>
          <p:cNvSpPr/>
          <p:nvPr userDrawn="1"/>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644">
            <a:extLst>
              <a:ext uri="{FF2B5EF4-FFF2-40B4-BE49-F238E27FC236}">
                <a16:creationId xmlns:a16="http://schemas.microsoft.com/office/drawing/2014/main" id="{6FFC3C20-3C34-C452-E638-2721B854FF35}"/>
              </a:ext>
            </a:extLst>
          </p:cNvPr>
          <p:cNvSpPr/>
          <p:nvPr userDrawn="1"/>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645">
            <a:extLst>
              <a:ext uri="{FF2B5EF4-FFF2-40B4-BE49-F238E27FC236}">
                <a16:creationId xmlns:a16="http://schemas.microsoft.com/office/drawing/2014/main" id="{DCE3675F-5E3E-F762-533A-95D941044BB6}"/>
              </a:ext>
            </a:extLst>
          </p:cNvPr>
          <p:cNvSpPr/>
          <p:nvPr userDrawn="1"/>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646">
            <a:extLst>
              <a:ext uri="{FF2B5EF4-FFF2-40B4-BE49-F238E27FC236}">
                <a16:creationId xmlns:a16="http://schemas.microsoft.com/office/drawing/2014/main" id="{DE81F184-4B44-7A90-26C1-1E1B37190E07}"/>
              </a:ext>
            </a:extLst>
          </p:cNvPr>
          <p:cNvSpPr/>
          <p:nvPr userDrawn="1"/>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647">
            <a:extLst>
              <a:ext uri="{FF2B5EF4-FFF2-40B4-BE49-F238E27FC236}">
                <a16:creationId xmlns:a16="http://schemas.microsoft.com/office/drawing/2014/main" id="{29B965D2-01C5-B0B6-9F5E-4A83BE9495AD}"/>
              </a:ext>
            </a:extLst>
          </p:cNvPr>
          <p:cNvSpPr/>
          <p:nvPr userDrawn="1"/>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648">
            <a:extLst>
              <a:ext uri="{FF2B5EF4-FFF2-40B4-BE49-F238E27FC236}">
                <a16:creationId xmlns:a16="http://schemas.microsoft.com/office/drawing/2014/main" id="{6FF3EE4D-1849-0DA5-011A-A3680E90DDCE}"/>
              </a:ext>
            </a:extLst>
          </p:cNvPr>
          <p:cNvSpPr/>
          <p:nvPr userDrawn="1"/>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649">
            <a:extLst>
              <a:ext uri="{FF2B5EF4-FFF2-40B4-BE49-F238E27FC236}">
                <a16:creationId xmlns:a16="http://schemas.microsoft.com/office/drawing/2014/main" id="{5337725D-548B-2636-A2D3-8F5E8D043130}"/>
              </a:ext>
            </a:extLst>
          </p:cNvPr>
          <p:cNvSpPr/>
          <p:nvPr userDrawn="1"/>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650">
            <a:extLst>
              <a:ext uri="{FF2B5EF4-FFF2-40B4-BE49-F238E27FC236}">
                <a16:creationId xmlns:a16="http://schemas.microsoft.com/office/drawing/2014/main" id="{9AB61CE5-0639-8317-B1C2-52C81AD1DBDF}"/>
              </a:ext>
            </a:extLst>
          </p:cNvPr>
          <p:cNvSpPr/>
          <p:nvPr userDrawn="1"/>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651">
            <a:extLst>
              <a:ext uri="{FF2B5EF4-FFF2-40B4-BE49-F238E27FC236}">
                <a16:creationId xmlns:a16="http://schemas.microsoft.com/office/drawing/2014/main" id="{64070DBF-FEFE-0F02-9BFD-591EE938B90D}"/>
              </a:ext>
            </a:extLst>
          </p:cNvPr>
          <p:cNvSpPr/>
          <p:nvPr userDrawn="1"/>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652">
            <a:extLst>
              <a:ext uri="{FF2B5EF4-FFF2-40B4-BE49-F238E27FC236}">
                <a16:creationId xmlns:a16="http://schemas.microsoft.com/office/drawing/2014/main" id="{99ACBE57-4B08-2A16-CE72-52E0F7F3BA5B}"/>
              </a:ext>
            </a:extLst>
          </p:cNvPr>
          <p:cNvSpPr/>
          <p:nvPr userDrawn="1"/>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653">
            <a:extLst>
              <a:ext uri="{FF2B5EF4-FFF2-40B4-BE49-F238E27FC236}">
                <a16:creationId xmlns:a16="http://schemas.microsoft.com/office/drawing/2014/main" id="{1014BA79-DD65-DDB3-E2BF-543CF2F2F8E8}"/>
              </a:ext>
            </a:extLst>
          </p:cNvPr>
          <p:cNvSpPr/>
          <p:nvPr userDrawn="1"/>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654">
            <a:extLst>
              <a:ext uri="{FF2B5EF4-FFF2-40B4-BE49-F238E27FC236}">
                <a16:creationId xmlns:a16="http://schemas.microsoft.com/office/drawing/2014/main" id="{4616C8C1-5DDD-E31C-7705-62EB6EAA5DD0}"/>
              </a:ext>
            </a:extLst>
          </p:cNvPr>
          <p:cNvSpPr/>
          <p:nvPr userDrawn="1"/>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655">
            <a:extLst>
              <a:ext uri="{FF2B5EF4-FFF2-40B4-BE49-F238E27FC236}">
                <a16:creationId xmlns:a16="http://schemas.microsoft.com/office/drawing/2014/main" id="{852B7CBD-7C53-3B00-DCB1-DCC9801DDBA4}"/>
              </a:ext>
            </a:extLst>
          </p:cNvPr>
          <p:cNvSpPr/>
          <p:nvPr userDrawn="1"/>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656">
            <a:extLst>
              <a:ext uri="{FF2B5EF4-FFF2-40B4-BE49-F238E27FC236}">
                <a16:creationId xmlns:a16="http://schemas.microsoft.com/office/drawing/2014/main" id="{34356B6C-25B1-CF60-8AF8-047EB3B7D813}"/>
              </a:ext>
            </a:extLst>
          </p:cNvPr>
          <p:cNvSpPr/>
          <p:nvPr userDrawn="1"/>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657">
            <a:extLst>
              <a:ext uri="{FF2B5EF4-FFF2-40B4-BE49-F238E27FC236}">
                <a16:creationId xmlns:a16="http://schemas.microsoft.com/office/drawing/2014/main" id="{FFD16FE4-1757-AFEB-732C-61DAEEDCB92B}"/>
              </a:ext>
            </a:extLst>
          </p:cNvPr>
          <p:cNvSpPr/>
          <p:nvPr userDrawn="1"/>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658">
            <a:extLst>
              <a:ext uri="{FF2B5EF4-FFF2-40B4-BE49-F238E27FC236}">
                <a16:creationId xmlns:a16="http://schemas.microsoft.com/office/drawing/2014/main" id="{AF22B91C-FC99-7E9D-E69D-3045451F24FC}"/>
              </a:ext>
            </a:extLst>
          </p:cNvPr>
          <p:cNvSpPr/>
          <p:nvPr userDrawn="1"/>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659">
            <a:extLst>
              <a:ext uri="{FF2B5EF4-FFF2-40B4-BE49-F238E27FC236}">
                <a16:creationId xmlns:a16="http://schemas.microsoft.com/office/drawing/2014/main" id="{E3FF5D8C-F7AC-59BC-A9CD-9821C518CA10}"/>
              </a:ext>
            </a:extLst>
          </p:cNvPr>
          <p:cNvSpPr/>
          <p:nvPr userDrawn="1"/>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660">
            <a:extLst>
              <a:ext uri="{FF2B5EF4-FFF2-40B4-BE49-F238E27FC236}">
                <a16:creationId xmlns:a16="http://schemas.microsoft.com/office/drawing/2014/main" id="{455F5ED9-2DFA-F3CA-4D5D-C790E04E942C}"/>
              </a:ext>
            </a:extLst>
          </p:cNvPr>
          <p:cNvSpPr/>
          <p:nvPr userDrawn="1"/>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661">
            <a:extLst>
              <a:ext uri="{FF2B5EF4-FFF2-40B4-BE49-F238E27FC236}">
                <a16:creationId xmlns:a16="http://schemas.microsoft.com/office/drawing/2014/main" id="{148AD811-9470-7016-413A-0488B16EE4BD}"/>
              </a:ext>
            </a:extLst>
          </p:cNvPr>
          <p:cNvSpPr/>
          <p:nvPr userDrawn="1"/>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662">
            <a:extLst>
              <a:ext uri="{FF2B5EF4-FFF2-40B4-BE49-F238E27FC236}">
                <a16:creationId xmlns:a16="http://schemas.microsoft.com/office/drawing/2014/main" id="{9CDFE781-D8E6-E426-1A5C-FF2B8A01D006}"/>
              </a:ext>
            </a:extLst>
          </p:cNvPr>
          <p:cNvSpPr/>
          <p:nvPr userDrawn="1"/>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663">
            <a:extLst>
              <a:ext uri="{FF2B5EF4-FFF2-40B4-BE49-F238E27FC236}">
                <a16:creationId xmlns:a16="http://schemas.microsoft.com/office/drawing/2014/main" id="{C2820A3A-7855-1ED6-19FC-C4122FB1C0DA}"/>
              </a:ext>
            </a:extLst>
          </p:cNvPr>
          <p:cNvSpPr/>
          <p:nvPr userDrawn="1"/>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664">
            <a:extLst>
              <a:ext uri="{FF2B5EF4-FFF2-40B4-BE49-F238E27FC236}">
                <a16:creationId xmlns:a16="http://schemas.microsoft.com/office/drawing/2014/main" id="{9A86520A-ED06-E85B-029A-E7C88ECEE1B7}"/>
              </a:ext>
            </a:extLst>
          </p:cNvPr>
          <p:cNvSpPr/>
          <p:nvPr userDrawn="1"/>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665">
            <a:extLst>
              <a:ext uri="{FF2B5EF4-FFF2-40B4-BE49-F238E27FC236}">
                <a16:creationId xmlns:a16="http://schemas.microsoft.com/office/drawing/2014/main" id="{153D8799-6650-3A20-A451-7525A6C55D7C}"/>
              </a:ext>
            </a:extLst>
          </p:cNvPr>
          <p:cNvSpPr/>
          <p:nvPr userDrawn="1"/>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666">
            <a:extLst>
              <a:ext uri="{FF2B5EF4-FFF2-40B4-BE49-F238E27FC236}">
                <a16:creationId xmlns:a16="http://schemas.microsoft.com/office/drawing/2014/main" id="{15479846-8EEF-CCCB-3F9A-6A2DB2C683B5}"/>
              </a:ext>
            </a:extLst>
          </p:cNvPr>
          <p:cNvSpPr/>
          <p:nvPr userDrawn="1"/>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667">
            <a:extLst>
              <a:ext uri="{FF2B5EF4-FFF2-40B4-BE49-F238E27FC236}">
                <a16:creationId xmlns:a16="http://schemas.microsoft.com/office/drawing/2014/main" id="{8FE41977-1AE0-A685-EE5D-5092A43D9837}"/>
              </a:ext>
            </a:extLst>
          </p:cNvPr>
          <p:cNvSpPr/>
          <p:nvPr userDrawn="1"/>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668">
            <a:extLst>
              <a:ext uri="{FF2B5EF4-FFF2-40B4-BE49-F238E27FC236}">
                <a16:creationId xmlns:a16="http://schemas.microsoft.com/office/drawing/2014/main" id="{78565C90-1A37-DFCA-BDF5-E82AF0845168}"/>
              </a:ext>
            </a:extLst>
          </p:cNvPr>
          <p:cNvSpPr/>
          <p:nvPr userDrawn="1"/>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669">
            <a:extLst>
              <a:ext uri="{FF2B5EF4-FFF2-40B4-BE49-F238E27FC236}">
                <a16:creationId xmlns:a16="http://schemas.microsoft.com/office/drawing/2014/main" id="{4BE898AF-5B5B-0928-D9AE-C956F94000D0}"/>
              </a:ext>
            </a:extLst>
          </p:cNvPr>
          <p:cNvSpPr/>
          <p:nvPr userDrawn="1"/>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670">
            <a:extLst>
              <a:ext uri="{FF2B5EF4-FFF2-40B4-BE49-F238E27FC236}">
                <a16:creationId xmlns:a16="http://schemas.microsoft.com/office/drawing/2014/main" id="{C8500D50-3990-B6BF-75A3-FED049F42B58}"/>
              </a:ext>
            </a:extLst>
          </p:cNvPr>
          <p:cNvSpPr/>
          <p:nvPr userDrawn="1"/>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671">
            <a:extLst>
              <a:ext uri="{FF2B5EF4-FFF2-40B4-BE49-F238E27FC236}">
                <a16:creationId xmlns:a16="http://schemas.microsoft.com/office/drawing/2014/main" id="{A62F0A5D-6222-59EA-AA5A-9C33B97F613F}"/>
              </a:ext>
            </a:extLst>
          </p:cNvPr>
          <p:cNvSpPr/>
          <p:nvPr userDrawn="1"/>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672">
            <a:extLst>
              <a:ext uri="{FF2B5EF4-FFF2-40B4-BE49-F238E27FC236}">
                <a16:creationId xmlns:a16="http://schemas.microsoft.com/office/drawing/2014/main" id="{B20DEA29-D43E-2E57-14ED-0C56CDD7042A}"/>
              </a:ext>
            </a:extLst>
          </p:cNvPr>
          <p:cNvSpPr/>
          <p:nvPr userDrawn="1"/>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673">
            <a:extLst>
              <a:ext uri="{FF2B5EF4-FFF2-40B4-BE49-F238E27FC236}">
                <a16:creationId xmlns:a16="http://schemas.microsoft.com/office/drawing/2014/main" id="{5E07A3F1-FB06-7CF0-3BFC-F0E68D2CF766}"/>
              </a:ext>
            </a:extLst>
          </p:cNvPr>
          <p:cNvSpPr/>
          <p:nvPr userDrawn="1"/>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674">
            <a:extLst>
              <a:ext uri="{FF2B5EF4-FFF2-40B4-BE49-F238E27FC236}">
                <a16:creationId xmlns:a16="http://schemas.microsoft.com/office/drawing/2014/main" id="{1C650225-490C-6E4A-5896-C0A856A6A178}"/>
              </a:ext>
            </a:extLst>
          </p:cNvPr>
          <p:cNvSpPr/>
          <p:nvPr userDrawn="1"/>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675">
            <a:extLst>
              <a:ext uri="{FF2B5EF4-FFF2-40B4-BE49-F238E27FC236}">
                <a16:creationId xmlns:a16="http://schemas.microsoft.com/office/drawing/2014/main" id="{CECB9A8F-23DA-4AED-AE38-871EE1F47EBD}"/>
              </a:ext>
            </a:extLst>
          </p:cNvPr>
          <p:cNvSpPr/>
          <p:nvPr userDrawn="1"/>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676">
            <a:extLst>
              <a:ext uri="{FF2B5EF4-FFF2-40B4-BE49-F238E27FC236}">
                <a16:creationId xmlns:a16="http://schemas.microsoft.com/office/drawing/2014/main" id="{99FBBCC1-693D-B39A-8B87-B25B4FBE4CDE}"/>
              </a:ext>
            </a:extLst>
          </p:cNvPr>
          <p:cNvSpPr/>
          <p:nvPr userDrawn="1"/>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677">
            <a:extLst>
              <a:ext uri="{FF2B5EF4-FFF2-40B4-BE49-F238E27FC236}">
                <a16:creationId xmlns:a16="http://schemas.microsoft.com/office/drawing/2014/main" id="{3DBAF49E-CD8D-9C8D-BBA2-90DF578D5A9B}"/>
              </a:ext>
            </a:extLst>
          </p:cNvPr>
          <p:cNvSpPr/>
          <p:nvPr userDrawn="1"/>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678">
            <a:extLst>
              <a:ext uri="{FF2B5EF4-FFF2-40B4-BE49-F238E27FC236}">
                <a16:creationId xmlns:a16="http://schemas.microsoft.com/office/drawing/2014/main" id="{305D463B-1CD5-8B38-D26C-BC3C73143478}"/>
              </a:ext>
            </a:extLst>
          </p:cNvPr>
          <p:cNvSpPr/>
          <p:nvPr userDrawn="1"/>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679">
            <a:extLst>
              <a:ext uri="{FF2B5EF4-FFF2-40B4-BE49-F238E27FC236}">
                <a16:creationId xmlns:a16="http://schemas.microsoft.com/office/drawing/2014/main" id="{778D9DAE-4D02-6E08-2C08-7D82065A9BBE}"/>
              </a:ext>
            </a:extLst>
          </p:cNvPr>
          <p:cNvSpPr/>
          <p:nvPr userDrawn="1"/>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680">
            <a:extLst>
              <a:ext uri="{FF2B5EF4-FFF2-40B4-BE49-F238E27FC236}">
                <a16:creationId xmlns:a16="http://schemas.microsoft.com/office/drawing/2014/main" id="{00F5C757-727D-B81F-3434-AB87687FEE4C}"/>
              </a:ext>
            </a:extLst>
          </p:cNvPr>
          <p:cNvSpPr/>
          <p:nvPr userDrawn="1"/>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681">
            <a:extLst>
              <a:ext uri="{FF2B5EF4-FFF2-40B4-BE49-F238E27FC236}">
                <a16:creationId xmlns:a16="http://schemas.microsoft.com/office/drawing/2014/main" id="{AC178422-86CD-7218-8C08-616FD5CE6BB7}"/>
              </a:ext>
            </a:extLst>
          </p:cNvPr>
          <p:cNvSpPr/>
          <p:nvPr userDrawn="1"/>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682">
            <a:extLst>
              <a:ext uri="{FF2B5EF4-FFF2-40B4-BE49-F238E27FC236}">
                <a16:creationId xmlns:a16="http://schemas.microsoft.com/office/drawing/2014/main" id="{48FF63F3-DF59-951F-9351-C25BF1F972D9}"/>
              </a:ext>
            </a:extLst>
          </p:cNvPr>
          <p:cNvSpPr/>
          <p:nvPr userDrawn="1"/>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683">
            <a:extLst>
              <a:ext uri="{FF2B5EF4-FFF2-40B4-BE49-F238E27FC236}">
                <a16:creationId xmlns:a16="http://schemas.microsoft.com/office/drawing/2014/main" id="{6E61F138-6F05-A78A-EE9C-110BFBA661D9}"/>
              </a:ext>
            </a:extLst>
          </p:cNvPr>
          <p:cNvSpPr/>
          <p:nvPr userDrawn="1"/>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684">
            <a:extLst>
              <a:ext uri="{FF2B5EF4-FFF2-40B4-BE49-F238E27FC236}">
                <a16:creationId xmlns:a16="http://schemas.microsoft.com/office/drawing/2014/main" id="{7AAC4F8C-EA39-808C-5A90-EBF5EF21766D}"/>
              </a:ext>
            </a:extLst>
          </p:cNvPr>
          <p:cNvSpPr/>
          <p:nvPr userDrawn="1"/>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685">
            <a:extLst>
              <a:ext uri="{FF2B5EF4-FFF2-40B4-BE49-F238E27FC236}">
                <a16:creationId xmlns:a16="http://schemas.microsoft.com/office/drawing/2014/main" id="{109FF736-80EE-B294-6134-02FB325BA7F9}"/>
              </a:ext>
            </a:extLst>
          </p:cNvPr>
          <p:cNvSpPr/>
          <p:nvPr userDrawn="1"/>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686">
            <a:extLst>
              <a:ext uri="{FF2B5EF4-FFF2-40B4-BE49-F238E27FC236}">
                <a16:creationId xmlns:a16="http://schemas.microsoft.com/office/drawing/2014/main" id="{4F06BDB6-22B2-EE3B-D176-10F4F133FE9A}"/>
              </a:ext>
            </a:extLst>
          </p:cNvPr>
          <p:cNvSpPr/>
          <p:nvPr userDrawn="1"/>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687">
            <a:extLst>
              <a:ext uri="{FF2B5EF4-FFF2-40B4-BE49-F238E27FC236}">
                <a16:creationId xmlns:a16="http://schemas.microsoft.com/office/drawing/2014/main" id="{2C8E42E9-DF21-AD4D-D45F-D7DCE9140C0E}"/>
              </a:ext>
            </a:extLst>
          </p:cNvPr>
          <p:cNvSpPr/>
          <p:nvPr userDrawn="1"/>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688">
            <a:extLst>
              <a:ext uri="{FF2B5EF4-FFF2-40B4-BE49-F238E27FC236}">
                <a16:creationId xmlns:a16="http://schemas.microsoft.com/office/drawing/2014/main" id="{C3CD916F-75A9-B763-71BD-8474B58DCFD1}"/>
              </a:ext>
            </a:extLst>
          </p:cNvPr>
          <p:cNvSpPr/>
          <p:nvPr userDrawn="1"/>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689">
            <a:extLst>
              <a:ext uri="{FF2B5EF4-FFF2-40B4-BE49-F238E27FC236}">
                <a16:creationId xmlns:a16="http://schemas.microsoft.com/office/drawing/2014/main" id="{43E3EEC1-743D-7618-4884-DFF938C028E3}"/>
              </a:ext>
            </a:extLst>
          </p:cNvPr>
          <p:cNvSpPr/>
          <p:nvPr userDrawn="1"/>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690">
            <a:extLst>
              <a:ext uri="{FF2B5EF4-FFF2-40B4-BE49-F238E27FC236}">
                <a16:creationId xmlns:a16="http://schemas.microsoft.com/office/drawing/2014/main" id="{F66433BE-565C-89FE-7CD6-F622BAFE327A}"/>
              </a:ext>
            </a:extLst>
          </p:cNvPr>
          <p:cNvSpPr/>
          <p:nvPr userDrawn="1"/>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691">
            <a:extLst>
              <a:ext uri="{FF2B5EF4-FFF2-40B4-BE49-F238E27FC236}">
                <a16:creationId xmlns:a16="http://schemas.microsoft.com/office/drawing/2014/main" id="{F0877052-0CC7-2D7C-DC79-2D24EBE98793}"/>
              </a:ext>
            </a:extLst>
          </p:cNvPr>
          <p:cNvSpPr/>
          <p:nvPr userDrawn="1"/>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692">
            <a:extLst>
              <a:ext uri="{FF2B5EF4-FFF2-40B4-BE49-F238E27FC236}">
                <a16:creationId xmlns:a16="http://schemas.microsoft.com/office/drawing/2014/main" id="{93DD3922-36CE-65EA-144B-23427172F178}"/>
              </a:ext>
            </a:extLst>
          </p:cNvPr>
          <p:cNvSpPr/>
          <p:nvPr userDrawn="1"/>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693">
            <a:extLst>
              <a:ext uri="{FF2B5EF4-FFF2-40B4-BE49-F238E27FC236}">
                <a16:creationId xmlns:a16="http://schemas.microsoft.com/office/drawing/2014/main" id="{32164230-58B7-E198-68F4-243EEDBE0342}"/>
              </a:ext>
            </a:extLst>
          </p:cNvPr>
          <p:cNvSpPr/>
          <p:nvPr userDrawn="1"/>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694">
            <a:extLst>
              <a:ext uri="{FF2B5EF4-FFF2-40B4-BE49-F238E27FC236}">
                <a16:creationId xmlns:a16="http://schemas.microsoft.com/office/drawing/2014/main" id="{1ADBD2DA-0310-ACD1-7D83-219DA881BF22}"/>
              </a:ext>
            </a:extLst>
          </p:cNvPr>
          <p:cNvSpPr/>
          <p:nvPr userDrawn="1"/>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695">
            <a:extLst>
              <a:ext uri="{FF2B5EF4-FFF2-40B4-BE49-F238E27FC236}">
                <a16:creationId xmlns:a16="http://schemas.microsoft.com/office/drawing/2014/main" id="{BD25301F-7E93-2512-2614-E6476754482D}"/>
              </a:ext>
            </a:extLst>
          </p:cNvPr>
          <p:cNvSpPr/>
          <p:nvPr userDrawn="1"/>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696">
            <a:extLst>
              <a:ext uri="{FF2B5EF4-FFF2-40B4-BE49-F238E27FC236}">
                <a16:creationId xmlns:a16="http://schemas.microsoft.com/office/drawing/2014/main" id="{EB9626CD-DA1B-A2F4-99ED-CF6461E825D3}"/>
              </a:ext>
            </a:extLst>
          </p:cNvPr>
          <p:cNvSpPr/>
          <p:nvPr userDrawn="1"/>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697">
            <a:extLst>
              <a:ext uri="{FF2B5EF4-FFF2-40B4-BE49-F238E27FC236}">
                <a16:creationId xmlns:a16="http://schemas.microsoft.com/office/drawing/2014/main" id="{B7514D5E-7B95-E514-9FF8-1CE872172734}"/>
              </a:ext>
            </a:extLst>
          </p:cNvPr>
          <p:cNvSpPr/>
          <p:nvPr userDrawn="1"/>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698">
            <a:extLst>
              <a:ext uri="{FF2B5EF4-FFF2-40B4-BE49-F238E27FC236}">
                <a16:creationId xmlns:a16="http://schemas.microsoft.com/office/drawing/2014/main" id="{62D7D869-6910-6ECD-B38F-4CB1D3229A33}"/>
              </a:ext>
            </a:extLst>
          </p:cNvPr>
          <p:cNvSpPr/>
          <p:nvPr userDrawn="1"/>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699">
            <a:extLst>
              <a:ext uri="{FF2B5EF4-FFF2-40B4-BE49-F238E27FC236}">
                <a16:creationId xmlns:a16="http://schemas.microsoft.com/office/drawing/2014/main" id="{E9C0592D-CA41-E7EE-54DE-5B8F2C666231}"/>
              </a:ext>
            </a:extLst>
          </p:cNvPr>
          <p:cNvSpPr/>
          <p:nvPr userDrawn="1"/>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00">
            <a:extLst>
              <a:ext uri="{FF2B5EF4-FFF2-40B4-BE49-F238E27FC236}">
                <a16:creationId xmlns:a16="http://schemas.microsoft.com/office/drawing/2014/main" id="{CAC30E80-C427-A531-0036-A7A538777F98}"/>
              </a:ext>
            </a:extLst>
          </p:cNvPr>
          <p:cNvSpPr/>
          <p:nvPr userDrawn="1"/>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01">
            <a:extLst>
              <a:ext uri="{FF2B5EF4-FFF2-40B4-BE49-F238E27FC236}">
                <a16:creationId xmlns:a16="http://schemas.microsoft.com/office/drawing/2014/main" id="{C796E323-D4B8-95E3-55C9-4BC623077F82}"/>
              </a:ext>
            </a:extLst>
          </p:cNvPr>
          <p:cNvSpPr/>
          <p:nvPr userDrawn="1"/>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02">
            <a:extLst>
              <a:ext uri="{FF2B5EF4-FFF2-40B4-BE49-F238E27FC236}">
                <a16:creationId xmlns:a16="http://schemas.microsoft.com/office/drawing/2014/main" id="{F31DE198-A029-CB23-B54B-0FE3A366CB0C}"/>
              </a:ext>
            </a:extLst>
          </p:cNvPr>
          <p:cNvSpPr/>
          <p:nvPr userDrawn="1"/>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03">
            <a:extLst>
              <a:ext uri="{FF2B5EF4-FFF2-40B4-BE49-F238E27FC236}">
                <a16:creationId xmlns:a16="http://schemas.microsoft.com/office/drawing/2014/main" id="{93853974-EAC1-2A6E-ABE7-97E5ACA16412}"/>
              </a:ext>
            </a:extLst>
          </p:cNvPr>
          <p:cNvSpPr/>
          <p:nvPr userDrawn="1"/>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04">
            <a:extLst>
              <a:ext uri="{FF2B5EF4-FFF2-40B4-BE49-F238E27FC236}">
                <a16:creationId xmlns:a16="http://schemas.microsoft.com/office/drawing/2014/main" id="{3E7E8A5D-3296-8ADA-C411-C69F862C2ADD}"/>
              </a:ext>
            </a:extLst>
          </p:cNvPr>
          <p:cNvSpPr/>
          <p:nvPr userDrawn="1"/>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05">
            <a:extLst>
              <a:ext uri="{FF2B5EF4-FFF2-40B4-BE49-F238E27FC236}">
                <a16:creationId xmlns:a16="http://schemas.microsoft.com/office/drawing/2014/main" id="{E7B0610B-66CA-CB32-195C-8EE197757C21}"/>
              </a:ext>
            </a:extLst>
          </p:cNvPr>
          <p:cNvSpPr/>
          <p:nvPr userDrawn="1"/>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06">
            <a:extLst>
              <a:ext uri="{FF2B5EF4-FFF2-40B4-BE49-F238E27FC236}">
                <a16:creationId xmlns:a16="http://schemas.microsoft.com/office/drawing/2014/main" id="{83958ECE-2818-5538-D219-1F4DBE8D7948}"/>
              </a:ext>
            </a:extLst>
          </p:cNvPr>
          <p:cNvSpPr/>
          <p:nvPr userDrawn="1"/>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TextBox 73">
            <a:extLst>
              <a:ext uri="{FF2B5EF4-FFF2-40B4-BE49-F238E27FC236}">
                <a16:creationId xmlns:a16="http://schemas.microsoft.com/office/drawing/2014/main" id="{CACCE2D4-CD53-421E-09B5-3CCB675F6980}"/>
              </a:ext>
            </a:extLst>
          </p:cNvPr>
          <p:cNvSpPr txBox="1"/>
          <p:nvPr userDrawn="1"/>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75" name="Shape 2790">
            <a:extLst>
              <a:ext uri="{FF2B5EF4-FFF2-40B4-BE49-F238E27FC236}">
                <a16:creationId xmlns:a16="http://schemas.microsoft.com/office/drawing/2014/main" id="{3D83F015-ED67-84E3-1296-CF393C7DB72E}"/>
              </a:ext>
            </a:extLst>
          </p:cNvPr>
          <p:cNvSpPr/>
          <p:nvPr userDrawn="1"/>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91">
            <a:extLst>
              <a:ext uri="{FF2B5EF4-FFF2-40B4-BE49-F238E27FC236}">
                <a16:creationId xmlns:a16="http://schemas.microsoft.com/office/drawing/2014/main" id="{5DE33D58-4FC9-EDE6-7DB1-89C6EE8DFCDB}"/>
              </a:ext>
            </a:extLst>
          </p:cNvPr>
          <p:cNvSpPr/>
          <p:nvPr userDrawn="1"/>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92">
            <a:extLst>
              <a:ext uri="{FF2B5EF4-FFF2-40B4-BE49-F238E27FC236}">
                <a16:creationId xmlns:a16="http://schemas.microsoft.com/office/drawing/2014/main" id="{A0FD7766-7ED3-C243-D427-D71FF575985C}"/>
              </a:ext>
            </a:extLst>
          </p:cNvPr>
          <p:cNvSpPr/>
          <p:nvPr userDrawn="1"/>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93">
            <a:extLst>
              <a:ext uri="{FF2B5EF4-FFF2-40B4-BE49-F238E27FC236}">
                <a16:creationId xmlns:a16="http://schemas.microsoft.com/office/drawing/2014/main" id="{6022B634-D670-F6A8-6F93-5180CC4EA3BF}"/>
              </a:ext>
            </a:extLst>
          </p:cNvPr>
          <p:cNvSpPr/>
          <p:nvPr userDrawn="1"/>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94">
            <a:extLst>
              <a:ext uri="{FF2B5EF4-FFF2-40B4-BE49-F238E27FC236}">
                <a16:creationId xmlns:a16="http://schemas.microsoft.com/office/drawing/2014/main" id="{6A40E425-5D56-3B52-0AD6-270E3B03C3EA}"/>
              </a:ext>
            </a:extLst>
          </p:cNvPr>
          <p:cNvSpPr/>
          <p:nvPr userDrawn="1"/>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95">
            <a:extLst>
              <a:ext uri="{FF2B5EF4-FFF2-40B4-BE49-F238E27FC236}">
                <a16:creationId xmlns:a16="http://schemas.microsoft.com/office/drawing/2014/main" id="{9004736C-8BAE-CB76-6277-D1643631B0E1}"/>
              </a:ext>
            </a:extLst>
          </p:cNvPr>
          <p:cNvSpPr/>
          <p:nvPr userDrawn="1"/>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96">
            <a:extLst>
              <a:ext uri="{FF2B5EF4-FFF2-40B4-BE49-F238E27FC236}">
                <a16:creationId xmlns:a16="http://schemas.microsoft.com/office/drawing/2014/main" id="{7AE465D0-B619-7C06-422C-18EC8EF8D7DE}"/>
              </a:ext>
            </a:extLst>
          </p:cNvPr>
          <p:cNvSpPr/>
          <p:nvPr userDrawn="1"/>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97">
            <a:extLst>
              <a:ext uri="{FF2B5EF4-FFF2-40B4-BE49-F238E27FC236}">
                <a16:creationId xmlns:a16="http://schemas.microsoft.com/office/drawing/2014/main" id="{DDF99C94-8B22-7AF5-4805-E3EE168EAB88}"/>
              </a:ext>
            </a:extLst>
          </p:cNvPr>
          <p:cNvSpPr/>
          <p:nvPr userDrawn="1"/>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98">
            <a:extLst>
              <a:ext uri="{FF2B5EF4-FFF2-40B4-BE49-F238E27FC236}">
                <a16:creationId xmlns:a16="http://schemas.microsoft.com/office/drawing/2014/main" id="{2A68DB23-545A-5869-838A-8B3CC61A3182}"/>
              </a:ext>
            </a:extLst>
          </p:cNvPr>
          <p:cNvSpPr/>
          <p:nvPr userDrawn="1"/>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99">
            <a:extLst>
              <a:ext uri="{FF2B5EF4-FFF2-40B4-BE49-F238E27FC236}">
                <a16:creationId xmlns:a16="http://schemas.microsoft.com/office/drawing/2014/main" id="{938CF424-6A04-5968-00AA-D0AB2DFBB1B4}"/>
              </a:ext>
            </a:extLst>
          </p:cNvPr>
          <p:cNvSpPr/>
          <p:nvPr userDrawn="1"/>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800">
            <a:extLst>
              <a:ext uri="{FF2B5EF4-FFF2-40B4-BE49-F238E27FC236}">
                <a16:creationId xmlns:a16="http://schemas.microsoft.com/office/drawing/2014/main" id="{DB63E739-E9AB-2963-CC44-F94D5F8B1823}"/>
              </a:ext>
            </a:extLst>
          </p:cNvPr>
          <p:cNvSpPr/>
          <p:nvPr userDrawn="1"/>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801">
            <a:extLst>
              <a:ext uri="{FF2B5EF4-FFF2-40B4-BE49-F238E27FC236}">
                <a16:creationId xmlns:a16="http://schemas.microsoft.com/office/drawing/2014/main" id="{D957CD7B-D5C4-899E-1220-5EB427619305}"/>
              </a:ext>
            </a:extLst>
          </p:cNvPr>
          <p:cNvSpPr/>
          <p:nvPr userDrawn="1"/>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802">
            <a:extLst>
              <a:ext uri="{FF2B5EF4-FFF2-40B4-BE49-F238E27FC236}">
                <a16:creationId xmlns:a16="http://schemas.microsoft.com/office/drawing/2014/main" id="{D690ACCE-8788-FDD1-D61F-67CC56ED0FFC}"/>
              </a:ext>
            </a:extLst>
          </p:cNvPr>
          <p:cNvSpPr/>
          <p:nvPr userDrawn="1"/>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803">
            <a:extLst>
              <a:ext uri="{FF2B5EF4-FFF2-40B4-BE49-F238E27FC236}">
                <a16:creationId xmlns:a16="http://schemas.microsoft.com/office/drawing/2014/main" id="{3163EE12-8FF1-F88E-4E0B-FD314A41F844}"/>
              </a:ext>
            </a:extLst>
          </p:cNvPr>
          <p:cNvSpPr/>
          <p:nvPr userDrawn="1"/>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804">
            <a:extLst>
              <a:ext uri="{FF2B5EF4-FFF2-40B4-BE49-F238E27FC236}">
                <a16:creationId xmlns:a16="http://schemas.microsoft.com/office/drawing/2014/main" id="{CC1AA296-8B20-42F9-6514-3A272C2511AA}"/>
              </a:ext>
            </a:extLst>
          </p:cNvPr>
          <p:cNvSpPr/>
          <p:nvPr userDrawn="1"/>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805">
            <a:extLst>
              <a:ext uri="{FF2B5EF4-FFF2-40B4-BE49-F238E27FC236}">
                <a16:creationId xmlns:a16="http://schemas.microsoft.com/office/drawing/2014/main" id="{4BA7E922-A2C0-9773-475D-6E59DC2DEDFA}"/>
              </a:ext>
            </a:extLst>
          </p:cNvPr>
          <p:cNvSpPr/>
          <p:nvPr userDrawn="1"/>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806">
            <a:extLst>
              <a:ext uri="{FF2B5EF4-FFF2-40B4-BE49-F238E27FC236}">
                <a16:creationId xmlns:a16="http://schemas.microsoft.com/office/drawing/2014/main" id="{A95B8731-AEAF-D6B4-1C28-60192922AD45}"/>
              </a:ext>
            </a:extLst>
          </p:cNvPr>
          <p:cNvSpPr/>
          <p:nvPr userDrawn="1"/>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807">
            <a:extLst>
              <a:ext uri="{FF2B5EF4-FFF2-40B4-BE49-F238E27FC236}">
                <a16:creationId xmlns:a16="http://schemas.microsoft.com/office/drawing/2014/main" id="{C12394ED-0276-6C24-1265-33122E949C71}"/>
              </a:ext>
            </a:extLst>
          </p:cNvPr>
          <p:cNvSpPr/>
          <p:nvPr userDrawn="1"/>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808">
            <a:extLst>
              <a:ext uri="{FF2B5EF4-FFF2-40B4-BE49-F238E27FC236}">
                <a16:creationId xmlns:a16="http://schemas.microsoft.com/office/drawing/2014/main" id="{6B28CB52-0867-E84A-C98B-C01A53CF3B92}"/>
              </a:ext>
            </a:extLst>
          </p:cNvPr>
          <p:cNvSpPr/>
          <p:nvPr userDrawn="1"/>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809">
            <a:extLst>
              <a:ext uri="{FF2B5EF4-FFF2-40B4-BE49-F238E27FC236}">
                <a16:creationId xmlns:a16="http://schemas.microsoft.com/office/drawing/2014/main" id="{DBF79FD9-CA2D-0D21-3DF2-9860BDF6C2D7}"/>
              </a:ext>
            </a:extLst>
          </p:cNvPr>
          <p:cNvSpPr/>
          <p:nvPr userDrawn="1"/>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810">
            <a:extLst>
              <a:ext uri="{FF2B5EF4-FFF2-40B4-BE49-F238E27FC236}">
                <a16:creationId xmlns:a16="http://schemas.microsoft.com/office/drawing/2014/main" id="{EA364036-A1B5-E36C-91BA-911B52DA3366}"/>
              </a:ext>
            </a:extLst>
          </p:cNvPr>
          <p:cNvSpPr/>
          <p:nvPr userDrawn="1"/>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811">
            <a:extLst>
              <a:ext uri="{FF2B5EF4-FFF2-40B4-BE49-F238E27FC236}">
                <a16:creationId xmlns:a16="http://schemas.microsoft.com/office/drawing/2014/main" id="{41AADBCC-89CB-B77F-290F-28DCA4FF4233}"/>
              </a:ext>
            </a:extLst>
          </p:cNvPr>
          <p:cNvSpPr/>
          <p:nvPr userDrawn="1"/>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812">
            <a:extLst>
              <a:ext uri="{FF2B5EF4-FFF2-40B4-BE49-F238E27FC236}">
                <a16:creationId xmlns:a16="http://schemas.microsoft.com/office/drawing/2014/main" id="{D8BC31D4-812F-02C4-E699-C2D7FB441842}"/>
              </a:ext>
            </a:extLst>
          </p:cNvPr>
          <p:cNvSpPr/>
          <p:nvPr userDrawn="1"/>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813">
            <a:extLst>
              <a:ext uri="{FF2B5EF4-FFF2-40B4-BE49-F238E27FC236}">
                <a16:creationId xmlns:a16="http://schemas.microsoft.com/office/drawing/2014/main" id="{F2F311B0-21C2-6159-E096-70C4910A30CF}"/>
              </a:ext>
            </a:extLst>
          </p:cNvPr>
          <p:cNvSpPr/>
          <p:nvPr userDrawn="1"/>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814">
            <a:extLst>
              <a:ext uri="{FF2B5EF4-FFF2-40B4-BE49-F238E27FC236}">
                <a16:creationId xmlns:a16="http://schemas.microsoft.com/office/drawing/2014/main" id="{974C4E11-34C1-A274-E196-C15C5025F6DD}"/>
              </a:ext>
            </a:extLst>
          </p:cNvPr>
          <p:cNvSpPr/>
          <p:nvPr userDrawn="1"/>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815">
            <a:extLst>
              <a:ext uri="{FF2B5EF4-FFF2-40B4-BE49-F238E27FC236}">
                <a16:creationId xmlns:a16="http://schemas.microsoft.com/office/drawing/2014/main" id="{72038843-895C-DA6A-394F-8F8D3C74C10E}"/>
              </a:ext>
            </a:extLst>
          </p:cNvPr>
          <p:cNvSpPr/>
          <p:nvPr userDrawn="1"/>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816">
            <a:extLst>
              <a:ext uri="{FF2B5EF4-FFF2-40B4-BE49-F238E27FC236}">
                <a16:creationId xmlns:a16="http://schemas.microsoft.com/office/drawing/2014/main" id="{85AF7E71-2B78-E391-01D8-5072E131E17A}"/>
              </a:ext>
            </a:extLst>
          </p:cNvPr>
          <p:cNvSpPr/>
          <p:nvPr userDrawn="1"/>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817">
            <a:extLst>
              <a:ext uri="{FF2B5EF4-FFF2-40B4-BE49-F238E27FC236}">
                <a16:creationId xmlns:a16="http://schemas.microsoft.com/office/drawing/2014/main" id="{7C39815F-C257-D6A8-8FEB-BF3CC2F17925}"/>
              </a:ext>
            </a:extLst>
          </p:cNvPr>
          <p:cNvSpPr/>
          <p:nvPr userDrawn="1"/>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818">
            <a:extLst>
              <a:ext uri="{FF2B5EF4-FFF2-40B4-BE49-F238E27FC236}">
                <a16:creationId xmlns:a16="http://schemas.microsoft.com/office/drawing/2014/main" id="{0BC7C318-5491-5589-1A2E-B437AC770599}"/>
              </a:ext>
            </a:extLst>
          </p:cNvPr>
          <p:cNvSpPr/>
          <p:nvPr userDrawn="1"/>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819">
            <a:extLst>
              <a:ext uri="{FF2B5EF4-FFF2-40B4-BE49-F238E27FC236}">
                <a16:creationId xmlns:a16="http://schemas.microsoft.com/office/drawing/2014/main" id="{DD8F55EB-AA40-752A-72C4-0D634D4F3F16}"/>
              </a:ext>
            </a:extLst>
          </p:cNvPr>
          <p:cNvSpPr/>
          <p:nvPr userDrawn="1"/>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820">
            <a:extLst>
              <a:ext uri="{FF2B5EF4-FFF2-40B4-BE49-F238E27FC236}">
                <a16:creationId xmlns:a16="http://schemas.microsoft.com/office/drawing/2014/main" id="{722BC457-8C79-D6DA-CF7B-0F3877CD4840}"/>
              </a:ext>
            </a:extLst>
          </p:cNvPr>
          <p:cNvSpPr/>
          <p:nvPr userDrawn="1"/>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821">
            <a:extLst>
              <a:ext uri="{FF2B5EF4-FFF2-40B4-BE49-F238E27FC236}">
                <a16:creationId xmlns:a16="http://schemas.microsoft.com/office/drawing/2014/main" id="{D372B56A-6141-637B-CB94-76D27D1FE253}"/>
              </a:ext>
            </a:extLst>
          </p:cNvPr>
          <p:cNvSpPr/>
          <p:nvPr userDrawn="1"/>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822">
            <a:extLst>
              <a:ext uri="{FF2B5EF4-FFF2-40B4-BE49-F238E27FC236}">
                <a16:creationId xmlns:a16="http://schemas.microsoft.com/office/drawing/2014/main" id="{1D6CCD8B-18B6-E72C-CA3E-16D4C7C6E844}"/>
              </a:ext>
            </a:extLst>
          </p:cNvPr>
          <p:cNvSpPr/>
          <p:nvPr userDrawn="1"/>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823">
            <a:extLst>
              <a:ext uri="{FF2B5EF4-FFF2-40B4-BE49-F238E27FC236}">
                <a16:creationId xmlns:a16="http://schemas.microsoft.com/office/drawing/2014/main" id="{7B6179FE-24C0-0CE2-B8B9-141C4718BAD9}"/>
              </a:ext>
            </a:extLst>
          </p:cNvPr>
          <p:cNvSpPr/>
          <p:nvPr userDrawn="1"/>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824">
            <a:extLst>
              <a:ext uri="{FF2B5EF4-FFF2-40B4-BE49-F238E27FC236}">
                <a16:creationId xmlns:a16="http://schemas.microsoft.com/office/drawing/2014/main" id="{3880FF57-7904-EED6-88BD-1485A50201CE}"/>
              </a:ext>
            </a:extLst>
          </p:cNvPr>
          <p:cNvSpPr/>
          <p:nvPr userDrawn="1"/>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825">
            <a:extLst>
              <a:ext uri="{FF2B5EF4-FFF2-40B4-BE49-F238E27FC236}">
                <a16:creationId xmlns:a16="http://schemas.microsoft.com/office/drawing/2014/main" id="{D7089966-A452-57CD-8600-E8B90A9CF81B}"/>
              </a:ext>
            </a:extLst>
          </p:cNvPr>
          <p:cNvSpPr/>
          <p:nvPr userDrawn="1"/>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826">
            <a:extLst>
              <a:ext uri="{FF2B5EF4-FFF2-40B4-BE49-F238E27FC236}">
                <a16:creationId xmlns:a16="http://schemas.microsoft.com/office/drawing/2014/main" id="{B9F035B9-0D82-6C56-AC23-CDE850FFC305}"/>
              </a:ext>
            </a:extLst>
          </p:cNvPr>
          <p:cNvSpPr/>
          <p:nvPr userDrawn="1"/>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827">
            <a:extLst>
              <a:ext uri="{FF2B5EF4-FFF2-40B4-BE49-F238E27FC236}">
                <a16:creationId xmlns:a16="http://schemas.microsoft.com/office/drawing/2014/main" id="{9E72CE0A-6C4B-1D0A-B589-7863C3D107D3}"/>
              </a:ext>
            </a:extLst>
          </p:cNvPr>
          <p:cNvSpPr/>
          <p:nvPr userDrawn="1"/>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828">
            <a:extLst>
              <a:ext uri="{FF2B5EF4-FFF2-40B4-BE49-F238E27FC236}">
                <a16:creationId xmlns:a16="http://schemas.microsoft.com/office/drawing/2014/main" id="{C3C3CB55-E4AE-00AF-4D72-487955988E79}"/>
              </a:ext>
            </a:extLst>
          </p:cNvPr>
          <p:cNvSpPr/>
          <p:nvPr userDrawn="1"/>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829">
            <a:extLst>
              <a:ext uri="{FF2B5EF4-FFF2-40B4-BE49-F238E27FC236}">
                <a16:creationId xmlns:a16="http://schemas.microsoft.com/office/drawing/2014/main" id="{95F49665-50EB-158B-E483-B21D8EBA76AA}"/>
              </a:ext>
            </a:extLst>
          </p:cNvPr>
          <p:cNvSpPr/>
          <p:nvPr userDrawn="1"/>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TextBox 114">
            <a:extLst>
              <a:ext uri="{FF2B5EF4-FFF2-40B4-BE49-F238E27FC236}">
                <a16:creationId xmlns:a16="http://schemas.microsoft.com/office/drawing/2014/main" id="{9966A567-D89D-7B4D-AF12-AA05F7F2B9C1}"/>
              </a:ext>
            </a:extLst>
          </p:cNvPr>
          <p:cNvSpPr txBox="1"/>
          <p:nvPr userDrawn="1"/>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8" name="TextBox 6">
            <a:extLst>
              <a:ext uri="{FF2B5EF4-FFF2-40B4-BE49-F238E27FC236}">
                <a16:creationId xmlns:a16="http://schemas.microsoft.com/office/drawing/2014/main" id="{D7E07FA8-3A28-9FA3-9EDB-6E915ADB4F3A}"/>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bg1"/>
                </a:solidFill>
                <a:latin typeface="Scotia Headline" panose="020B0503020203020204" pitchFamily="34" charset="0"/>
              </a:rPr>
              <a:t>Icons</a:t>
            </a:r>
          </a:p>
        </p:txBody>
      </p:sp>
    </p:spTree>
    <p:extLst>
      <p:ext uri="{BB962C8B-B14F-4D97-AF65-F5344CB8AC3E}">
        <p14:creationId xmlns:p14="http://schemas.microsoft.com/office/powerpoint/2010/main" val="376558115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Rectangle 1">
            <a:extLst>
              <a:ext uri="{FF2B5EF4-FFF2-40B4-BE49-F238E27FC236}">
                <a16:creationId xmlns:a16="http://schemas.microsoft.com/office/drawing/2014/main" id="{AC72569D-755A-5B4B-2F4C-51F0B79384B2}"/>
              </a:ext>
            </a:extLst>
          </p:cNvPr>
          <p:cNvSpPr/>
          <p:nvPr userDrawn="1"/>
        </p:nvSpPr>
        <p:spPr>
          <a:xfrm>
            <a:off x="399" y="224"/>
            <a:ext cx="12191205" cy="1927566"/>
          </a:xfrm>
          <a:prstGeom prst="rect">
            <a:avLst/>
          </a:prstGeom>
          <a:solidFill>
            <a:srgbClr val="EC111A"/>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3">
            <a:extLst>
              <a:ext uri="{FF2B5EF4-FFF2-40B4-BE49-F238E27FC236}">
                <a16:creationId xmlns:a16="http://schemas.microsoft.com/office/drawing/2014/main" id="{9A4857DE-52EE-53EF-D0A0-40DD3F6D6986}"/>
              </a:ext>
            </a:extLst>
          </p:cNvPr>
          <p:cNvSpPr txBox="1"/>
          <p:nvPr userDrawn="1"/>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5" name="Shape 2831">
            <a:extLst>
              <a:ext uri="{FF2B5EF4-FFF2-40B4-BE49-F238E27FC236}">
                <a16:creationId xmlns:a16="http://schemas.microsoft.com/office/drawing/2014/main" id="{D3AC33DD-283D-8A21-40F7-D68A55DF6025}"/>
              </a:ext>
            </a:extLst>
          </p:cNvPr>
          <p:cNvSpPr/>
          <p:nvPr userDrawn="1"/>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 name="Shape 2832">
            <a:extLst>
              <a:ext uri="{FF2B5EF4-FFF2-40B4-BE49-F238E27FC236}">
                <a16:creationId xmlns:a16="http://schemas.microsoft.com/office/drawing/2014/main" id="{8FEB9770-682E-023C-C8B1-C870C267C4ED}"/>
              </a:ext>
            </a:extLst>
          </p:cNvPr>
          <p:cNvSpPr/>
          <p:nvPr userDrawn="1"/>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833">
            <a:extLst>
              <a:ext uri="{FF2B5EF4-FFF2-40B4-BE49-F238E27FC236}">
                <a16:creationId xmlns:a16="http://schemas.microsoft.com/office/drawing/2014/main" id="{253B74D1-47D2-C5B0-61DC-E6DCDD62B476}"/>
              </a:ext>
            </a:extLst>
          </p:cNvPr>
          <p:cNvSpPr/>
          <p:nvPr userDrawn="1"/>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834">
            <a:extLst>
              <a:ext uri="{FF2B5EF4-FFF2-40B4-BE49-F238E27FC236}">
                <a16:creationId xmlns:a16="http://schemas.microsoft.com/office/drawing/2014/main" id="{B9CCFD0E-ABD6-D00F-69B5-40EF270AB1EA}"/>
              </a:ext>
            </a:extLst>
          </p:cNvPr>
          <p:cNvSpPr/>
          <p:nvPr userDrawn="1"/>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835">
            <a:extLst>
              <a:ext uri="{FF2B5EF4-FFF2-40B4-BE49-F238E27FC236}">
                <a16:creationId xmlns:a16="http://schemas.microsoft.com/office/drawing/2014/main" id="{9F6F4E35-A9AB-D187-904D-1C87036D9F5E}"/>
              </a:ext>
            </a:extLst>
          </p:cNvPr>
          <p:cNvSpPr/>
          <p:nvPr userDrawn="1"/>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836">
            <a:extLst>
              <a:ext uri="{FF2B5EF4-FFF2-40B4-BE49-F238E27FC236}">
                <a16:creationId xmlns:a16="http://schemas.microsoft.com/office/drawing/2014/main" id="{9BBE2095-08CC-9F5B-576B-1B4A6BCF1416}"/>
              </a:ext>
            </a:extLst>
          </p:cNvPr>
          <p:cNvSpPr/>
          <p:nvPr userDrawn="1"/>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837">
            <a:extLst>
              <a:ext uri="{FF2B5EF4-FFF2-40B4-BE49-F238E27FC236}">
                <a16:creationId xmlns:a16="http://schemas.microsoft.com/office/drawing/2014/main" id="{616E6131-F405-1B51-F2DB-8C6F10176018}"/>
              </a:ext>
            </a:extLst>
          </p:cNvPr>
          <p:cNvSpPr/>
          <p:nvPr userDrawn="1"/>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838">
            <a:extLst>
              <a:ext uri="{FF2B5EF4-FFF2-40B4-BE49-F238E27FC236}">
                <a16:creationId xmlns:a16="http://schemas.microsoft.com/office/drawing/2014/main" id="{ECC3521C-FD29-9DDF-0E08-7913CCC5F86F}"/>
              </a:ext>
            </a:extLst>
          </p:cNvPr>
          <p:cNvSpPr/>
          <p:nvPr userDrawn="1"/>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839">
            <a:extLst>
              <a:ext uri="{FF2B5EF4-FFF2-40B4-BE49-F238E27FC236}">
                <a16:creationId xmlns:a16="http://schemas.microsoft.com/office/drawing/2014/main" id="{4B791377-4A74-57B5-6C45-DE8EB1E02529}"/>
              </a:ext>
            </a:extLst>
          </p:cNvPr>
          <p:cNvSpPr/>
          <p:nvPr userDrawn="1"/>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840">
            <a:extLst>
              <a:ext uri="{FF2B5EF4-FFF2-40B4-BE49-F238E27FC236}">
                <a16:creationId xmlns:a16="http://schemas.microsoft.com/office/drawing/2014/main" id="{7777D391-D068-B1CB-DF12-0CC78A4CE01A}"/>
              </a:ext>
            </a:extLst>
          </p:cNvPr>
          <p:cNvSpPr/>
          <p:nvPr userDrawn="1"/>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841">
            <a:extLst>
              <a:ext uri="{FF2B5EF4-FFF2-40B4-BE49-F238E27FC236}">
                <a16:creationId xmlns:a16="http://schemas.microsoft.com/office/drawing/2014/main" id="{8A365493-04DA-A0F3-D3B4-6957370023AB}"/>
              </a:ext>
            </a:extLst>
          </p:cNvPr>
          <p:cNvSpPr/>
          <p:nvPr userDrawn="1"/>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842">
            <a:extLst>
              <a:ext uri="{FF2B5EF4-FFF2-40B4-BE49-F238E27FC236}">
                <a16:creationId xmlns:a16="http://schemas.microsoft.com/office/drawing/2014/main" id="{48ED6582-6DC3-4C7C-F157-75A7F792FF0D}"/>
              </a:ext>
            </a:extLst>
          </p:cNvPr>
          <p:cNvSpPr/>
          <p:nvPr userDrawn="1"/>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843">
            <a:extLst>
              <a:ext uri="{FF2B5EF4-FFF2-40B4-BE49-F238E27FC236}">
                <a16:creationId xmlns:a16="http://schemas.microsoft.com/office/drawing/2014/main" id="{1F447370-D7FF-BEC7-95D1-BA2FBA226164}"/>
              </a:ext>
            </a:extLst>
          </p:cNvPr>
          <p:cNvSpPr/>
          <p:nvPr userDrawn="1"/>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844">
            <a:extLst>
              <a:ext uri="{FF2B5EF4-FFF2-40B4-BE49-F238E27FC236}">
                <a16:creationId xmlns:a16="http://schemas.microsoft.com/office/drawing/2014/main" id="{7F3743E9-1FD8-EFED-0EA6-53AC5C078235}"/>
              </a:ext>
            </a:extLst>
          </p:cNvPr>
          <p:cNvSpPr/>
          <p:nvPr userDrawn="1"/>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845">
            <a:extLst>
              <a:ext uri="{FF2B5EF4-FFF2-40B4-BE49-F238E27FC236}">
                <a16:creationId xmlns:a16="http://schemas.microsoft.com/office/drawing/2014/main" id="{14D787BD-04EA-EAAD-9E41-14BBE3BE410D}"/>
              </a:ext>
            </a:extLst>
          </p:cNvPr>
          <p:cNvSpPr/>
          <p:nvPr userDrawn="1"/>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846">
            <a:extLst>
              <a:ext uri="{FF2B5EF4-FFF2-40B4-BE49-F238E27FC236}">
                <a16:creationId xmlns:a16="http://schemas.microsoft.com/office/drawing/2014/main" id="{327F72CE-950E-FC4B-7F6E-EF5215E49C2E}"/>
              </a:ext>
            </a:extLst>
          </p:cNvPr>
          <p:cNvSpPr/>
          <p:nvPr userDrawn="1"/>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847">
            <a:extLst>
              <a:ext uri="{FF2B5EF4-FFF2-40B4-BE49-F238E27FC236}">
                <a16:creationId xmlns:a16="http://schemas.microsoft.com/office/drawing/2014/main" id="{3C5C4F38-9109-55B2-2E8B-18871674BD9C}"/>
              </a:ext>
            </a:extLst>
          </p:cNvPr>
          <p:cNvSpPr/>
          <p:nvPr userDrawn="1"/>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848">
            <a:extLst>
              <a:ext uri="{FF2B5EF4-FFF2-40B4-BE49-F238E27FC236}">
                <a16:creationId xmlns:a16="http://schemas.microsoft.com/office/drawing/2014/main" id="{AD489E5D-6294-A349-AA41-F6BAF04B2DB7}"/>
              </a:ext>
            </a:extLst>
          </p:cNvPr>
          <p:cNvSpPr/>
          <p:nvPr userDrawn="1"/>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849">
            <a:extLst>
              <a:ext uri="{FF2B5EF4-FFF2-40B4-BE49-F238E27FC236}">
                <a16:creationId xmlns:a16="http://schemas.microsoft.com/office/drawing/2014/main" id="{F286F356-0A50-EB0D-AA8D-F33FA86F05C4}"/>
              </a:ext>
            </a:extLst>
          </p:cNvPr>
          <p:cNvSpPr/>
          <p:nvPr userDrawn="1"/>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850">
            <a:extLst>
              <a:ext uri="{FF2B5EF4-FFF2-40B4-BE49-F238E27FC236}">
                <a16:creationId xmlns:a16="http://schemas.microsoft.com/office/drawing/2014/main" id="{743E1409-D1D8-21F9-04CE-C326D0AE79B6}"/>
              </a:ext>
            </a:extLst>
          </p:cNvPr>
          <p:cNvSpPr/>
          <p:nvPr userDrawn="1"/>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851">
            <a:extLst>
              <a:ext uri="{FF2B5EF4-FFF2-40B4-BE49-F238E27FC236}">
                <a16:creationId xmlns:a16="http://schemas.microsoft.com/office/drawing/2014/main" id="{7445C42C-B508-4E73-C88A-BF67332CA0C9}"/>
              </a:ext>
            </a:extLst>
          </p:cNvPr>
          <p:cNvSpPr/>
          <p:nvPr userDrawn="1"/>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852">
            <a:extLst>
              <a:ext uri="{FF2B5EF4-FFF2-40B4-BE49-F238E27FC236}">
                <a16:creationId xmlns:a16="http://schemas.microsoft.com/office/drawing/2014/main" id="{879ACCC6-726B-FFB0-1C49-A9BBFB8EE807}"/>
              </a:ext>
            </a:extLst>
          </p:cNvPr>
          <p:cNvSpPr/>
          <p:nvPr userDrawn="1"/>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853">
            <a:extLst>
              <a:ext uri="{FF2B5EF4-FFF2-40B4-BE49-F238E27FC236}">
                <a16:creationId xmlns:a16="http://schemas.microsoft.com/office/drawing/2014/main" id="{FDD5DA9B-5C5E-7792-D8C0-3F8AE9865859}"/>
              </a:ext>
            </a:extLst>
          </p:cNvPr>
          <p:cNvSpPr/>
          <p:nvPr userDrawn="1"/>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854">
            <a:extLst>
              <a:ext uri="{FF2B5EF4-FFF2-40B4-BE49-F238E27FC236}">
                <a16:creationId xmlns:a16="http://schemas.microsoft.com/office/drawing/2014/main" id="{9FF4C405-68FA-7476-F393-E1CA8866D911}"/>
              </a:ext>
            </a:extLst>
          </p:cNvPr>
          <p:cNvSpPr/>
          <p:nvPr userDrawn="1"/>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855">
            <a:extLst>
              <a:ext uri="{FF2B5EF4-FFF2-40B4-BE49-F238E27FC236}">
                <a16:creationId xmlns:a16="http://schemas.microsoft.com/office/drawing/2014/main" id="{91973C0B-2A06-1622-0CAC-BBC7CFE2B95D}"/>
              </a:ext>
            </a:extLst>
          </p:cNvPr>
          <p:cNvSpPr/>
          <p:nvPr userDrawn="1"/>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856">
            <a:extLst>
              <a:ext uri="{FF2B5EF4-FFF2-40B4-BE49-F238E27FC236}">
                <a16:creationId xmlns:a16="http://schemas.microsoft.com/office/drawing/2014/main" id="{03A73203-4514-DD64-2D5A-65EC4074F999}"/>
              </a:ext>
            </a:extLst>
          </p:cNvPr>
          <p:cNvSpPr/>
          <p:nvPr userDrawn="1"/>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857">
            <a:extLst>
              <a:ext uri="{FF2B5EF4-FFF2-40B4-BE49-F238E27FC236}">
                <a16:creationId xmlns:a16="http://schemas.microsoft.com/office/drawing/2014/main" id="{9178F057-DD59-BFC9-6F96-09DB13FA1BE4}"/>
              </a:ext>
            </a:extLst>
          </p:cNvPr>
          <p:cNvSpPr/>
          <p:nvPr userDrawn="1"/>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858">
            <a:extLst>
              <a:ext uri="{FF2B5EF4-FFF2-40B4-BE49-F238E27FC236}">
                <a16:creationId xmlns:a16="http://schemas.microsoft.com/office/drawing/2014/main" id="{2B311189-6999-B899-5F94-7D2721FEC0DB}"/>
              </a:ext>
            </a:extLst>
          </p:cNvPr>
          <p:cNvSpPr/>
          <p:nvPr userDrawn="1"/>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859">
            <a:extLst>
              <a:ext uri="{FF2B5EF4-FFF2-40B4-BE49-F238E27FC236}">
                <a16:creationId xmlns:a16="http://schemas.microsoft.com/office/drawing/2014/main" id="{71623D1E-6754-C78F-C3D1-BDC2BF32B68E}"/>
              </a:ext>
            </a:extLst>
          </p:cNvPr>
          <p:cNvSpPr/>
          <p:nvPr userDrawn="1"/>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860">
            <a:extLst>
              <a:ext uri="{FF2B5EF4-FFF2-40B4-BE49-F238E27FC236}">
                <a16:creationId xmlns:a16="http://schemas.microsoft.com/office/drawing/2014/main" id="{1005CC20-26F8-6FCD-0F49-69DFD4D7DB19}"/>
              </a:ext>
            </a:extLst>
          </p:cNvPr>
          <p:cNvSpPr/>
          <p:nvPr userDrawn="1"/>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861">
            <a:extLst>
              <a:ext uri="{FF2B5EF4-FFF2-40B4-BE49-F238E27FC236}">
                <a16:creationId xmlns:a16="http://schemas.microsoft.com/office/drawing/2014/main" id="{631B1695-B626-65C8-48FD-C0C6888C782E}"/>
              </a:ext>
            </a:extLst>
          </p:cNvPr>
          <p:cNvSpPr/>
          <p:nvPr userDrawn="1"/>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862">
            <a:extLst>
              <a:ext uri="{FF2B5EF4-FFF2-40B4-BE49-F238E27FC236}">
                <a16:creationId xmlns:a16="http://schemas.microsoft.com/office/drawing/2014/main" id="{1D146205-E2EC-8CF0-EE89-7B254131301C}"/>
              </a:ext>
            </a:extLst>
          </p:cNvPr>
          <p:cNvSpPr/>
          <p:nvPr userDrawn="1"/>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863">
            <a:extLst>
              <a:ext uri="{FF2B5EF4-FFF2-40B4-BE49-F238E27FC236}">
                <a16:creationId xmlns:a16="http://schemas.microsoft.com/office/drawing/2014/main" id="{DF57AD74-1DE5-F482-69C6-CB5B63885AB3}"/>
              </a:ext>
            </a:extLst>
          </p:cNvPr>
          <p:cNvSpPr/>
          <p:nvPr userDrawn="1"/>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864">
            <a:extLst>
              <a:ext uri="{FF2B5EF4-FFF2-40B4-BE49-F238E27FC236}">
                <a16:creationId xmlns:a16="http://schemas.microsoft.com/office/drawing/2014/main" id="{30C39B8F-4E27-C486-C177-2AEBF106B1D5}"/>
              </a:ext>
            </a:extLst>
          </p:cNvPr>
          <p:cNvSpPr/>
          <p:nvPr userDrawn="1"/>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865">
            <a:extLst>
              <a:ext uri="{FF2B5EF4-FFF2-40B4-BE49-F238E27FC236}">
                <a16:creationId xmlns:a16="http://schemas.microsoft.com/office/drawing/2014/main" id="{5F983C8C-6C0D-8BFC-2EA9-EEA1F116FB7E}"/>
              </a:ext>
            </a:extLst>
          </p:cNvPr>
          <p:cNvSpPr/>
          <p:nvPr userDrawn="1"/>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866">
            <a:extLst>
              <a:ext uri="{FF2B5EF4-FFF2-40B4-BE49-F238E27FC236}">
                <a16:creationId xmlns:a16="http://schemas.microsoft.com/office/drawing/2014/main" id="{2BF50484-2DB7-8491-A642-4036DF9A60DB}"/>
              </a:ext>
            </a:extLst>
          </p:cNvPr>
          <p:cNvSpPr/>
          <p:nvPr userDrawn="1"/>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867">
            <a:extLst>
              <a:ext uri="{FF2B5EF4-FFF2-40B4-BE49-F238E27FC236}">
                <a16:creationId xmlns:a16="http://schemas.microsoft.com/office/drawing/2014/main" id="{42F9EA19-604A-41AA-F226-639A39FA2C06}"/>
              </a:ext>
            </a:extLst>
          </p:cNvPr>
          <p:cNvSpPr/>
          <p:nvPr userDrawn="1"/>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868">
            <a:extLst>
              <a:ext uri="{FF2B5EF4-FFF2-40B4-BE49-F238E27FC236}">
                <a16:creationId xmlns:a16="http://schemas.microsoft.com/office/drawing/2014/main" id="{8B7D0EA3-08BD-DE4A-FB00-737AF2BA86E9}"/>
              </a:ext>
            </a:extLst>
          </p:cNvPr>
          <p:cNvSpPr/>
          <p:nvPr userDrawn="1"/>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869">
            <a:extLst>
              <a:ext uri="{FF2B5EF4-FFF2-40B4-BE49-F238E27FC236}">
                <a16:creationId xmlns:a16="http://schemas.microsoft.com/office/drawing/2014/main" id="{16A5CD09-FE02-2AB3-2DD9-BE844017B8C8}"/>
              </a:ext>
            </a:extLst>
          </p:cNvPr>
          <p:cNvSpPr/>
          <p:nvPr userDrawn="1"/>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870">
            <a:extLst>
              <a:ext uri="{FF2B5EF4-FFF2-40B4-BE49-F238E27FC236}">
                <a16:creationId xmlns:a16="http://schemas.microsoft.com/office/drawing/2014/main" id="{4E3F0BE1-1C2E-13A7-5E47-18AAB8D45318}"/>
              </a:ext>
            </a:extLst>
          </p:cNvPr>
          <p:cNvSpPr/>
          <p:nvPr userDrawn="1"/>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871">
            <a:extLst>
              <a:ext uri="{FF2B5EF4-FFF2-40B4-BE49-F238E27FC236}">
                <a16:creationId xmlns:a16="http://schemas.microsoft.com/office/drawing/2014/main" id="{66BCEF56-3F8E-80C0-62D8-93334FDB8207}"/>
              </a:ext>
            </a:extLst>
          </p:cNvPr>
          <p:cNvSpPr/>
          <p:nvPr userDrawn="1"/>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872">
            <a:extLst>
              <a:ext uri="{FF2B5EF4-FFF2-40B4-BE49-F238E27FC236}">
                <a16:creationId xmlns:a16="http://schemas.microsoft.com/office/drawing/2014/main" id="{13F6520B-6BD0-2A0F-44C8-31E566073317}"/>
              </a:ext>
            </a:extLst>
          </p:cNvPr>
          <p:cNvSpPr/>
          <p:nvPr userDrawn="1"/>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873">
            <a:extLst>
              <a:ext uri="{FF2B5EF4-FFF2-40B4-BE49-F238E27FC236}">
                <a16:creationId xmlns:a16="http://schemas.microsoft.com/office/drawing/2014/main" id="{2A60A1B0-1EA1-1F3A-32E4-A52CD933D5B7}"/>
              </a:ext>
            </a:extLst>
          </p:cNvPr>
          <p:cNvSpPr/>
          <p:nvPr userDrawn="1"/>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874">
            <a:extLst>
              <a:ext uri="{FF2B5EF4-FFF2-40B4-BE49-F238E27FC236}">
                <a16:creationId xmlns:a16="http://schemas.microsoft.com/office/drawing/2014/main" id="{1B7186F4-F439-DE90-6AC6-B77603E54F9E}"/>
              </a:ext>
            </a:extLst>
          </p:cNvPr>
          <p:cNvSpPr/>
          <p:nvPr userDrawn="1"/>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875">
            <a:extLst>
              <a:ext uri="{FF2B5EF4-FFF2-40B4-BE49-F238E27FC236}">
                <a16:creationId xmlns:a16="http://schemas.microsoft.com/office/drawing/2014/main" id="{F85E5BF0-3366-D52B-CD06-C8446AE9E775}"/>
              </a:ext>
            </a:extLst>
          </p:cNvPr>
          <p:cNvSpPr/>
          <p:nvPr userDrawn="1"/>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876">
            <a:extLst>
              <a:ext uri="{FF2B5EF4-FFF2-40B4-BE49-F238E27FC236}">
                <a16:creationId xmlns:a16="http://schemas.microsoft.com/office/drawing/2014/main" id="{5D58175D-1392-C84C-FD1B-8316B9A92AF0}"/>
              </a:ext>
            </a:extLst>
          </p:cNvPr>
          <p:cNvSpPr/>
          <p:nvPr userDrawn="1"/>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877">
            <a:extLst>
              <a:ext uri="{FF2B5EF4-FFF2-40B4-BE49-F238E27FC236}">
                <a16:creationId xmlns:a16="http://schemas.microsoft.com/office/drawing/2014/main" id="{C02A7EDA-BFD3-07D2-E377-E8C2D8AC6B3E}"/>
              </a:ext>
            </a:extLst>
          </p:cNvPr>
          <p:cNvSpPr/>
          <p:nvPr userDrawn="1"/>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878">
            <a:extLst>
              <a:ext uri="{FF2B5EF4-FFF2-40B4-BE49-F238E27FC236}">
                <a16:creationId xmlns:a16="http://schemas.microsoft.com/office/drawing/2014/main" id="{E599FEB5-F3F2-3CBB-1E7C-2B29F20E14D9}"/>
              </a:ext>
            </a:extLst>
          </p:cNvPr>
          <p:cNvSpPr/>
          <p:nvPr userDrawn="1"/>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879">
            <a:extLst>
              <a:ext uri="{FF2B5EF4-FFF2-40B4-BE49-F238E27FC236}">
                <a16:creationId xmlns:a16="http://schemas.microsoft.com/office/drawing/2014/main" id="{1989CBCF-0D32-1403-516F-61C5D10E4CB2}"/>
              </a:ext>
            </a:extLst>
          </p:cNvPr>
          <p:cNvSpPr/>
          <p:nvPr userDrawn="1"/>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880">
            <a:extLst>
              <a:ext uri="{FF2B5EF4-FFF2-40B4-BE49-F238E27FC236}">
                <a16:creationId xmlns:a16="http://schemas.microsoft.com/office/drawing/2014/main" id="{A0BAE5CE-9466-4724-8EC7-9003162EEA4D}"/>
              </a:ext>
            </a:extLst>
          </p:cNvPr>
          <p:cNvSpPr/>
          <p:nvPr userDrawn="1"/>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881">
            <a:extLst>
              <a:ext uri="{FF2B5EF4-FFF2-40B4-BE49-F238E27FC236}">
                <a16:creationId xmlns:a16="http://schemas.microsoft.com/office/drawing/2014/main" id="{08401273-4AAF-EB7A-3A4D-8CAD16ECC53F}"/>
              </a:ext>
            </a:extLst>
          </p:cNvPr>
          <p:cNvSpPr/>
          <p:nvPr userDrawn="1"/>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882">
            <a:extLst>
              <a:ext uri="{FF2B5EF4-FFF2-40B4-BE49-F238E27FC236}">
                <a16:creationId xmlns:a16="http://schemas.microsoft.com/office/drawing/2014/main" id="{1D070694-519D-A061-9832-F75DCB26BAEF}"/>
              </a:ext>
            </a:extLst>
          </p:cNvPr>
          <p:cNvSpPr/>
          <p:nvPr userDrawn="1"/>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883">
            <a:extLst>
              <a:ext uri="{FF2B5EF4-FFF2-40B4-BE49-F238E27FC236}">
                <a16:creationId xmlns:a16="http://schemas.microsoft.com/office/drawing/2014/main" id="{978B1334-F2A7-5AD6-A1C5-57EEEBF4FD8C}"/>
              </a:ext>
            </a:extLst>
          </p:cNvPr>
          <p:cNvSpPr/>
          <p:nvPr userDrawn="1"/>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884">
            <a:extLst>
              <a:ext uri="{FF2B5EF4-FFF2-40B4-BE49-F238E27FC236}">
                <a16:creationId xmlns:a16="http://schemas.microsoft.com/office/drawing/2014/main" id="{3E2AE249-22AA-5A5B-30A8-AAEED356DB7C}"/>
              </a:ext>
            </a:extLst>
          </p:cNvPr>
          <p:cNvSpPr/>
          <p:nvPr userDrawn="1"/>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885">
            <a:extLst>
              <a:ext uri="{FF2B5EF4-FFF2-40B4-BE49-F238E27FC236}">
                <a16:creationId xmlns:a16="http://schemas.microsoft.com/office/drawing/2014/main" id="{BEE2DD3F-46AA-D851-1920-CA172C82EE5B}"/>
              </a:ext>
            </a:extLst>
          </p:cNvPr>
          <p:cNvSpPr/>
          <p:nvPr userDrawn="1"/>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886">
            <a:extLst>
              <a:ext uri="{FF2B5EF4-FFF2-40B4-BE49-F238E27FC236}">
                <a16:creationId xmlns:a16="http://schemas.microsoft.com/office/drawing/2014/main" id="{2017D11F-F401-4120-7FB5-C121FB4FDF7D}"/>
              </a:ext>
            </a:extLst>
          </p:cNvPr>
          <p:cNvSpPr/>
          <p:nvPr userDrawn="1"/>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887">
            <a:extLst>
              <a:ext uri="{FF2B5EF4-FFF2-40B4-BE49-F238E27FC236}">
                <a16:creationId xmlns:a16="http://schemas.microsoft.com/office/drawing/2014/main" id="{05ABBE9F-5941-1002-E93B-1DEA9C28E671}"/>
              </a:ext>
            </a:extLst>
          </p:cNvPr>
          <p:cNvSpPr/>
          <p:nvPr userDrawn="1"/>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888">
            <a:extLst>
              <a:ext uri="{FF2B5EF4-FFF2-40B4-BE49-F238E27FC236}">
                <a16:creationId xmlns:a16="http://schemas.microsoft.com/office/drawing/2014/main" id="{4AE40204-C5DF-4A9D-0AE9-D4289A9A7681}"/>
              </a:ext>
            </a:extLst>
          </p:cNvPr>
          <p:cNvSpPr/>
          <p:nvPr userDrawn="1"/>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889">
            <a:extLst>
              <a:ext uri="{FF2B5EF4-FFF2-40B4-BE49-F238E27FC236}">
                <a16:creationId xmlns:a16="http://schemas.microsoft.com/office/drawing/2014/main" id="{0C22B59A-89CF-1E71-0E08-7B6BA6752A99}"/>
              </a:ext>
            </a:extLst>
          </p:cNvPr>
          <p:cNvSpPr/>
          <p:nvPr userDrawn="1"/>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890">
            <a:extLst>
              <a:ext uri="{FF2B5EF4-FFF2-40B4-BE49-F238E27FC236}">
                <a16:creationId xmlns:a16="http://schemas.microsoft.com/office/drawing/2014/main" id="{750B6C74-F67E-D749-2198-985670338C7F}"/>
              </a:ext>
            </a:extLst>
          </p:cNvPr>
          <p:cNvSpPr/>
          <p:nvPr userDrawn="1"/>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893">
            <a:extLst>
              <a:ext uri="{FF2B5EF4-FFF2-40B4-BE49-F238E27FC236}">
                <a16:creationId xmlns:a16="http://schemas.microsoft.com/office/drawing/2014/main" id="{D00520EF-8662-B615-F234-B2803E078553}"/>
              </a:ext>
            </a:extLst>
          </p:cNvPr>
          <p:cNvSpPr/>
          <p:nvPr userDrawn="1"/>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894">
            <a:extLst>
              <a:ext uri="{FF2B5EF4-FFF2-40B4-BE49-F238E27FC236}">
                <a16:creationId xmlns:a16="http://schemas.microsoft.com/office/drawing/2014/main" id="{52E23D4D-76B5-C440-EF4A-7FFF5F8DB29C}"/>
              </a:ext>
            </a:extLst>
          </p:cNvPr>
          <p:cNvSpPr/>
          <p:nvPr userDrawn="1"/>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895">
            <a:extLst>
              <a:ext uri="{FF2B5EF4-FFF2-40B4-BE49-F238E27FC236}">
                <a16:creationId xmlns:a16="http://schemas.microsoft.com/office/drawing/2014/main" id="{7F21A5F7-FD09-C95C-9F6F-D393284CD727}"/>
              </a:ext>
            </a:extLst>
          </p:cNvPr>
          <p:cNvSpPr/>
          <p:nvPr userDrawn="1"/>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896">
            <a:extLst>
              <a:ext uri="{FF2B5EF4-FFF2-40B4-BE49-F238E27FC236}">
                <a16:creationId xmlns:a16="http://schemas.microsoft.com/office/drawing/2014/main" id="{A300F53A-5C7C-1E44-919D-F0E3CD2587D5}"/>
              </a:ext>
            </a:extLst>
          </p:cNvPr>
          <p:cNvSpPr/>
          <p:nvPr userDrawn="1"/>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97">
            <a:extLst>
              <a:ext uri="{FF2B5EF4-FFF2-40B4-BE49-F238E27FC236}">
                <a16:creationId xmlns:a16="http://schemas.microsoft.com/office/drawing/2014/main" id="{C64B6520-76A3-E569-8641-431ACD69E92E}"/>
              </a:ext>
            </a:extLst>
          </p:cNvPr>
          <p:cNvSpPr/>
          <p:nvPr userDrawn="1"/>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98">
            <a:extLst>
              <a:ext uri="{FF2B5EF4-FFF2-40B4-BE49-F238E27FC236}">
                <a16:creationId xmlns:a16="http://schemas.microsoft.com/office/drawing/2014/main" id="{6ACA9C36-6430-F6FA-6C7E-E289BFB6BDC0}"/>
              </a:ext>
            </a:extLst>
          </p:cNvPr>
          <p:cNvSpPr/>
          <p:nvPr userDrawn="1"/>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99">
            <a:extLst>
              <a:ext uri="{FF2B5EF4-FFF2-40B4-BE49-F238E27FC236}">
                <a16:creationId xmlns:a16="http://schemas.microsoft.com/office/drawing/2014/main" id="{1FDF99E6-6B44-07CC-24D0-629EEE6DD94D}"/>
              </a:ext>
            </a:extLst>
          </p:cNvPr>
          <p:cNvSpPr/>
          <p:nvPr userDrawn="1"/>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00">
            <a:extLst>
              <a:ext uri="{FF2B5EF4-FFF2-40B4-BE49-F238E27FC236}">
                <a16:creationId xmlns:a16="http://schemas.microsoft.com/office/drawing/2014/main" id="{70EEC328-7290-B514-FD36-C11E882216E9}"/>
              </a:ext>
            </a:extLst>
          </p:cNvPr>
          <p:cNvSpPr/>
          <p:nvPr userDrawn="1"/>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01">
            <a:extLst>
              <a:ext uri="{FF2B5EF4-FFF2-40B4-BE49-F238E27FC236}">
                <a16:creationId xmlns:a16="http://schemas.microsoft.com/office/drawing/2014/main" id="{3A0999F7-D400-1C1E-CEF0-AFC7A1747C2D}"/>
              </a:ext>
            </a:extLst>
          </p:cNvPr>
          <p:cNvSpPr/>
          <p:nvPr userDrawn="1"/>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02">
            <a:extLst>
              <a:ext uri="{FF2B5EF4-FFF2-40B4-BE49-F238E27FC236}">
                <a16:creationId xmlns:a16="http://schemas.microsoft.com/office/drawing/2014/main" id="{FA4B6721-BA4E-37EB-57F7-06B56C2094ED}"/>
              </a:ext>
            </a:extLst>
          </p:cNvPr>
          <p:cNvSpPr/>
          <p:nvPr userDrawn="1"/>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03">
            <a:extLst>
              <a:ext uri="{FF2B5EF4-FFF2-40B4-BE49-F238E27FC236}">
                <a16:creationId xmlns:a16="http://schemas.microsoft.com/office/drawing/2014/main" id="{2CBF7E01-3DEE-B844-DBBA-CD8BD8573766}"/>
              </a:ext>
            </a:extLst>
          </p:cNvPr>
          <p:cNvSpPr/>
          <p:nvPr userDrawn="1"/>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04">
            <a:extLst>
              <a:ext uri="{FF2B5EF4-FFF2-40B4-BE49-F238E27FC236}">
                <a16:creationId xmlns:a16="http://schemas.microsoft.com/office/drawing/2014/main" id="{42824BA6-D722-8753-4097-F01CFAEA4A07}"/>
              </a:ext>
            </a:extLst>
          </p:cNvPr>
          <p:cNvSpPr/>
          <p:nvPr userDrawn="1"/>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05">
            <a:extLst>
              <a:ext uri="{FF2B5EF4-FFF2-40B4-BE49-F238E27FC236}">
                <a16:creationId xmlns:a16="http://schemas.microsoft.com/office/drawing/2014/main" id="{ADE2FF11-F556-31B6-55CE-4E3EFC60B9C2}"/>
              </a:ext>
            </a:extLst>
          </p:cNvPr>
          <p:cNvSpPr/>
          <p:nvPr userDrawn="1"/>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06">
            <a:extLst>
              <a:ext uri="{FF2B5EF4-FFF2-40B4-BE49-F238E27FC236}">
                <a16:creationId xmlns:a16="http://schemas.microsoft.com/office/drawing/2014/main" id="{15842A0A-ABC0-1BF6-4A82-78CD9178C6BF}"/>
              </a:ext>
            </a:extLst>
          </p:cNvPr>
          <p:cNvSpPr/>
          <p:nvPr userDrawn="1"/>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07">
            <a:extLst>
              <a:ext uri="{FF2B5EF4-FFF2-40B4-BE49-F238E27FC236}">
                <a16:creationId xmlns:a16="http://schemas.microsoft.com/office/drawing/2014/main" id="{88B993CB-B645-739C-855E-3EAED3952E40}"/>
              </a:ext>
            </a:extLst>
          </p:cNvPr>
          <p:cNvSpPr/>
          <p:nvPr userDrawn="1"/>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08">
            <a:extLst>
              <a:ext uri="{FF2B5EF4-FFF2-40B4-BE49-F238E27FC236}">
                <a16:creationId xmlns:a16="http://schemas.microsoft.com/office/drawing/2014/main" id="{827F1AD4-E259-40A0-0065-D68B97094634}"/>
              </a:ext>
            </a:extLst>
          </p:cNvPr>
          <p:cNvSpPr/>
          <p:nvPr userDrawn="1"/>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09">
            <a:extLst>
              <a:ext uri="{FF2B5EF4-FFF2-40B4-BE49-F238E27FC236}">
                <a16:creationId xmlns:a16="http://schemas.microsoft.com/office/drawing/2014/main" id="{865B32B0-791F-F7A8-6BC4-69E2FF106C88}"/>
              </a:ext>
            </a:extLst>
          </p:cNvPr>
          <p:cNvSpPr/>
          <p:nvPr userDrawn="1"/>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10">
            <a:extLst>
              <a:ext uri="{FF2B5EF4-FFF2-40B4-BE49-F238E27FC236}">
                <a16:creationId xmlns:a16="http://schemas.microsoft.com/office/drawing/2014/main" id="{6B0AA70D-FC02-B34A-4FE2-6F3AE33B7975}"/>
              </a:ext>
            </a:extLst>
          </p:cNvPr>
          <p:cNvSpPr/>
          <p:nvPr userDrawn="1"/>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911">
            <a:extLst>
              <a:ext uri="{FF2B5EF4-FFF2-40B4-BE49-F238E27FC236}">
                <a16:creationId xmlns:a16="http://schemas.microsoft.com/office/drawing/2014/main" id="{8AC1E01E-C5F9-E7E3-231A-6CEE01826D46}"/>
              </a:ext>
            </a:extLst>
          </p:cNvPr>
          <p:cNvSpPr/>
          <p:nvPr userDrawn="1"/>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912">
            <a:extLst>
              <a:ext uri="{FF2B5EF4-FFF2-40B4-BE49-F238E27FC236}">
                <a16:creationId xmlns:a16="http://schemas.microsoft.com/office/drawing/2014/main" id="{F3E9DA3D-E979-E28E-B879-FC7E0C5422BF}"/>
              </a:ext>
            </a:extLst>
          </p:cNvPr>
          <p:cNvSpPr/>
          <p:nvPr userDrawn="1"/>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913">
            <a:extLst>
              <a:ext uri="{FF2B5EF4-FFF2-40B4-BE49-F238E27FC236}">
                <a16:creationId xmlns:a16="http://schemas.microsoft.com/office/drawing/2014/main" id="{BE9C9728-7014-7703-E6BD-9C2B8A4A28A4}"/>
              </a:ext>
            </a:extLst>
          </p:cNvPr>
          <p:cNvSpPr/>
          <p:nvPr userDrawn="1"/>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914">
            <a:extLst>
              <a:ext uri="{FF2B5EF4-FFF2-40B4-BE49-F238E27FC236}">
                <a16:creationId xmlns:a16="http://schemas.microsoft.com/office/drawing/2014/main" id="{2882DB74-45FE-5853-8893-0CB41F9E0353}"/>
              </a:ext>
            </a:extLst>
          </p:cNvPr>
          <p:cNvSpPr/>
          <p:nvPr userDrawn="1"/>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915">
            <a:extLst>
              <a:ext uri="{FF2B5EF4-FFF2-40B4-BE49-F238E27FC236}">
                <a16:creationId xmlns:a16="http://schemas.microsoft.com/office/drawing/2014/main" id="{4B29349A-E3FA-B2CF-8403-C7907B548AD0}"/>
              </a:ext>
            </a:extLst>
          </p:cNvPr>
          <p:cNvSpPr/>
          <p:nvPr userDrawn="1"/>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916">
            <a:extLst>
              <a:ext uri="{FF2B5EF4-FFF2-40B4-BE49-F238E27FC236}">
                <a16:creationId xmlns:a16="http://schemas.microsoft.com/office/drawing/2014/main" id="{D958906A-0398-0F70-CB0E-7325FBFC5090}"/>
              </a:ext>
            </a:extLst>
          </p:cNvPr>
          <p:cNvSpPr/>
          <p:nvPr userDrawn="1"/>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917">
            <a:extLst>
              <a:ext uri="{FF2B5EF4-FFF2-40B4-BE49-F238E27FC236}">
                <a16:creationId xmlns:a16="http://schemas.microsoft.com/office/drawing/2014/main" id="{AF2F454D-12B0-BA80-7357-D4C7D2C76CC6}"/>
              </a:ext>
            </a:extLst>
          </p:cNvPr>
          <p:cNvSpPr/>
          <p:nvPr userDrawn="1"/>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918">
            <a:extLst>
              <a:ext uri="{FF2B5EF4-FFF2-40B4-BE49-F238E27FC236}">
                <a16:creationId xmlns:a16="http://schemas.microsoft.com/office/drawing/2014/main" id="{8BADA588-7588-F804-6756-AB99020663CF}"/>
              </a:ext>
            </a:extLst>
          </p:cNvPr>
          <p:cNvSpPr/>
          <p:nvPr userDrawn="1"/>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919">
            <a:extLst>
              <a:ext uri="{FF2B5EF4-FFF2-40B4-BE49-F238E27FC236}">
                <a16:creationId xmlns:a16="http://schemas.microsoft.com/office/drawing/2014/main" id="{3DD2E831-1790-6C86-7439-5ECE0BFFE850}"/>
              </a:ext>
            </a:extLst>
          </p:cNvPr>
          <p:cNvSpPr/>
          <p:nvPr userDrawn="1"/>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920">
            <a:extLst>
              <a:ext uri="{FF2B5EF4-FFF2-40B4-BE49-F238E27FC236}">
                <a16:creationId xmlns:a16="http://schemas.microsoft.com/office/drawing/2014/main" id="{DF6DD1D9-E180-CDB8-4D9E-514A7E396AD9}"/>
              </a:ext>
            </a:extLst>
          </p:cNvPr>
          <p:cNvSpPr/>
          <p:nvPr userDrawn="1"/>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921">
            <a:extLst>
              <a:ext uri="{FF2B5EF4-FFF2-40B4-BE49-F238E27FC236}">
                <a16:creationId xmlns:a16="http://schemas.microsoft.com/office/drawing/2014/main" id="{141B0FA7-77C5-F22E-929D-9B316185FE7B}"/>
              </a:ext>
            </a:extLst>
          </p:cNvPr>
          <p:cNvSpPr/>
          <p:nvPr userDrawn="1"/>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922">
            <a:extLst>
              <a:ext uri="{FF2B5EF4-FFF2-40B4-BE49-F238E27FC236}">
                <a16:creationId xmlns:a16="http://schemas.microsoft.com/office/drawing/2014/main" id="{3D3EAAB7-4716-5E6B-A10D-BAFC74776C9C}"/>
              </a:ext>
            </a:extLst>
          </p:cNvPr>
          <p:cNvSpPr/>
          <p:nvPr userDrawn="1"/>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923">
            <a:extLst>
              <a:ext uri="{FF2B5EF4-FFF2-40B4-BE49-F238E27FC236}">
                <a16:creationId xmlns:a16="http://schemas.microsoft.com/office/drawing/2014/main" id="{670211A2-F97D-1ECF-EFA0-F63F06BB043B}"/>
              </a:ext>
            </a:extLst>
          </p:cNvPr>
          <p:cNvSpPr/>
          <p:nvPr userDrawn="1"/>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924">
            <a:extLst>
              <a:ext uri="{FF2B5EF4-FFF2-40B4-BE49-F238E27FC236}">
                <a16:creationId xmlns:a16="http://schemas.microsoft.com/office/drawing/2014/main" id="{2245980C-8736-F0C0-20B0-C14A37FB27A2}"/>
              </a:ext>
            </a:extLst>
          </p:cNvPr>
          <p:cNvSpPr/>
          <p:nvPr userDrawn="1"/>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925">
            <a:extLst>
              <a:ext uri="{FF2B5EF4-FFF2-40B4-BE49-F238E27FC236}">
                <a16:creationId xmlns:a16="http://schemas.microsoft.com/office/drawing/2014/main" id="{FC5BD5AF-179E-C325-CA14-A3B4DA54C899}"/>
              </a:ext>
            </a:extLst>
          </p:cNvPr>
          <p:cNvSpPr/>
          <p:nvPr userDrawn="1"/>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926">
            <a:extLst>
              <a:ext uri="{FF2B5EF4-FFF2-40B4-BE49-F238E27FC236}">
                <a16:creationId xmlns:a16="http://schemas.microsoft.com/office/drawing/2014/main" id="{D19B8337-98EA-C2B7-3FD8-75977016CCF0}"/>
              </a:ext>
            </a:extLst>
          </p:cNvPr>
          <p:cNvSpPr/>
          <p:nvPr userDrawn="1"/>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Shape 2927">
            <a:extLst>
              <a:ext uri="{FF2B5EF4-FFF2-40B4-BE49-F238E27FC236}">
                <a16:creationId xmlns:a16="http://schemas.microsoft.com/office/drawing/2014/main" id="{5553389C-3DF4-A9A3-0C82-ECE1091B0C0E}"/>
              </a:ext>
            </a:extLst>
          </p:cNvPr>
          <p:cNvSpPr/>
          <p:nvPr userDrawn="1"/>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0" name="Shape 2928">
            <a:extLst>
              <a:ext uri="{FF2B5EF4-FFF2-40B4-BE49-F238E27FC236}">
                <a16:creationId xmlns:a16="http://schemas.microsoft.com/office/drawing/2014/main" id="{C2295839-CDB8-24E2-0A32-F73F34684393}"/>
              </a:ext>
            </a:extLst>
          </p:cNvPr>
          <p:cNvSpPr/>
          <p:nvPr userDrawn="1"/>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2" name="Shape 2929">
            <a:extLst>
              <a:ext uri="{FF2B5EF4-FFF2-40B4-BE49-F238E27FC236}">
                <a16:creationId xmlns:a16="http://schemas.microsoft.com/office/drawing/2014/main" id="{BAD4A3A0-6C6F-B6E0-9C58-0D11353A99C7}"/>
              </a:ext>
            </a:extLst>
          </p:cNvPr>
          <p:cNvSpPr/>
          <p:nvPr userDrawn="1"/>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3" name="Shape 2930">
            <a:extLst>
              <a:ext uri="{FF2B5EF4-FFF2-40B4-BE49-F238E27FC236}">
                <a16:creationId xmlns:a16="http://schemas.microsoft.com/office/drawing/2014/main" id="{6C1CAEEE-6A9D-7E3C-19D1-5C487A21296A}"/>
              </a:ext>
            </a:extLst>
          </p:cNvPr>
          <p:cNvSpPr/>
          <p:nvPr userDrawn="1"/>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4" name="Shape 2931">
            <a:extLst>
              <a:ext uri="{FF2B5EF4-FFF2-40B4-BE49-F238E27FC236}">
                <a16:creationId xmlns:a16="http://schemas.microsoft.com/office/drawing/2014/main" id="{9138DF47-EE70-3E99-5BBE-FD5D49A99B0D}"/>
              </a:ext>
            </a:extLst>
          </p:cNvPr>
          <p:cNvSpPr/>
          <p:nvPr userDrawn="1"/>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5" name="Shape 2932">
            <a:extLst>
              <a:ext uri="{FF2B5EF4-FFF2-40B4-BE49-F238E27FC236}">
                <a16:creationId xmlns:a16="http://schemas.microsoft.com/office/drawing/2014/main" id="{845DC185-8EC8-0361-0D41-7717B81A30EB}"/>
              </a:ext>
            </a:extLst>
          </p:cNvPr>
          <p:cNvSpPr/>
          <p:nvPr userDrawn="1"/>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6" name="TextBox 335">
            <a:extLst>
              <a:ext uri="{FF2B5EF4-FFF2-40B4-BE49-F238E27FC236}">
                <a16:creationId xmlns:a16="http://schemas.microsoft.com/office/drawing/2014/main" id="{5CA8B6B3-F16E-E6DB-4585-A0D33FDA450E}"/>
              </a:ext>
            </a:extLst>
          </p:cNvPr>
          <p:cNvSpPr txBox="1"/>
          <p:nvPr userDrawn="1"/>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7" name="TextBox 6">
            <a:extLst>
              <a:ext uri="{FF2B5EF4-FFF2-40B4-BE49-F238E27FC236}">
                <a16:creationId xmlns:a16="http://schemas.microsoft.com/office/drawing/2014/main" id="{09BEF0E7-8B48-AB6B-778F-2CF274833C0D}"/>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bg1"/>
                </a:solidFill>
                <a:latin typeface="Scotia Headline" panose="020B0503020203020204" pitchFamily="34" charset="0"/>
              </a:rPr>
              <a:t>Icons</a:t>
            </a:r>
          </a:p>
        </p:txBody>
      </p:sp>
      <p:sp>
        <p:nvSpPr>
          <p:cNvPr id="338" name="Shape 2593">
            <a:extLst>
              <a:ext uri="{FF2B5EF4-FFF2-40B4-BE49-F238E27FC236}">
                <a16:creationId xmlns:a16="http://schemas.microsoft.com/office/drawing/2014/main" id="{F41D5460-522F-05E2-2C0C-B80B4C1CFC3D}"/>
              </a:ext>
            </a:extLst>
          </p:cNvPr>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9" name="Shape 2624">
            <a:extLst>
              <a:ext uri="{FF2B5EF4-FFF2-40B4-BE49-F238E27FC236}">
                <a16:creationId xmlns:a16="http://schemas.microsoft.com/office/drawing/2014/main" id="{BAC34D5A-993F-3DBF-4E68-DB50AF30C60C}"/>
              </a:ext>
            </a:extLst>
          </p:cNvPr>
          <p:cNvSpPr/>
          <p:nvPr userDrawn="1"/>
        </p:nvSpPr>
        <p:spPr>
          <a:xfrm>
            <a:off x="1147642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94129565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Rectangle 1">
            <a:extLst>
              <a:ext uri="{FF2B5EF4-FFF2-40B4-BE49-F238E27FC236}">
                <a16:creationId xmlns:a16="http://schemas.microsoft.com/office/drawing/2014/main" id="{518562D7-FE5F-15B7-EA84-872255D182AF}"/>
              </a:ext>
            </a:extLst>
          </p:cNvPr>
          <p:cNvSpPr/>
          <p:nvPr userDrawn="1"/>
        </p:nvSpPr>
        <p:spPr>
          <a:xfrm>
            <a:off x="399" y="224"/>
            <a:ext cx="12191205" cy="1927566"/>
          </a:xfrm>
          <a:prstGeom prst="rect">
            <a:avLst/>
          </a:prstGeom>
          <a:solidFill>
            <a:srgbClr val="EC111A"/>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3">
            <a:extLst>
              <a:ext uri="{FF2B5EF4-FFF2-40B4-BE49-F238E27FC236}">
                <a16:creationId xmlns:a16="http://schemas.microsoft.com/office/drawing/2014/main" id="{202B17DC-C1B6-9960-BA73-F08F889293E1}"/>
              </a:ext>
            </a:extLst>
          </p:cNvPr>
          <p:cNvSpPr txBox="1"/>
          <p:nvPr userDrawn="1"/>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5" name="Shape 2955">
            <a:extLst>
              <a:ext uri="{FF2B5EF4-FFF2-40B4-BE49-F238E27FC236}">
                <a16:creationId xmlns:a16="http://schemas.microsoft.com/office/drawing/2014/main" id="{A084C829-D208-A087-C7E0-8B93B6B7B325}"/>
              </a:ext>
            </a:extLst>
          </p:cNvPr>
          <p:cNvSpPr/>
          <p:nvPr userDrawn="1"/>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 name="Shape 2956">
            <a:extLst>
              <a:ext uri="{FF2B5EF4-FFF2-40B4-BE49-F238E27FC236}">
                <a16:creationId xmlns:a16="http://schemas.microsoft.com/office/drawing/2014/main" id="{605DDF66-0538-3E5C-F4E9-32229EAC30EB}"/>
              </a:ext>
            </a:extLst>
          </p:cNvPr>
          <p:cNvSpPr/>
          <p:nvPr userDrawn="1"/>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957">
            <a:extLst>
              <a:ext uri="{FF2B5EF4-FFF2-40B4-BE49-F238E27FC236}">
                <a16:creationId xmlns:a16="http://schemas.microsoft.com/office/drawing/2014/main" id="{5BF613DE-FBE0-9842-DF3D-D2ED3470A686}"/>
              </a:ext>
            </a:extLst>
          </p:cNvPr>
          <p:cNvSpPr/>
          <p:nvPr userDrawn="1"/>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958">
            <a:extLst>
              <a:ext uri="{FF2B5EF4-FFF2-40B4-BE49-F238E27FC236}">
                <a16:creationId xmlns:a16="http://schemas.microsoft.com/office/drawing/2014/main" id="{C28BFB41-339A-30E2-7913-7AA47DA80765}"/>
              </a:ext>
            </a:extLst>
          </p:cNvPr>
          <p:cNvSpPr/>
          <p:nvPr userDrawn="1"/>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959">
            <a:extLst>
              <a:ext uri="{FF2B5EF4-FFF2-40B4-BE49-F238E27FC236}">
                <a16:creationId xmlns:a16="http://schemas.microsoft.com/office/drawing/2014/main" id="{73C4033B-0552-58D7-C10D-7F78BF272C12}"/>
              </a:ext>
            </a:extLst>
          </p:cNvPr>
          <p:cNvSpPr/>
          <p:nvPr userDrawn="1"/>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960">
            <a:extLst>
              <a:ext uri="{FF2B5EF4-FFF2-40B4-BE49-F238E27FC236}">
                <a16:creationId xmlns:a16="http://schemas.microsoft.com/office/drawing/2014/main" id="{6C4EF14F-F99B-770F-EEFB-4E4ACB56A20A}"/>
              </a:ext>
            </a:extLst>
          </p:cNvPr>
          <p:cNvSpPr/>
          <p:nvPr userDrawn="1"/>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961">
            <a:extLst>
              <a:ext uri="{FF2B5EF4-FFF2-40B4-BE49-F238E27FC236}">
                <a16:creationId xmlns:a16="http://schemas.microsoft.com/office/drawing/2014/main" id="{9A8C0B4F-D08E-72E6-B074-BAB631128023}"/>
              </a:ext>
            </a:extLst>
          </p:cNvPr>
          <p:cNvSpPr/>
          <p:nvPr userDrawn="1"/>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962">
            <a:extLst>
              <a:ext uri="{FF2B5EF4-FFF2-40B4-BE49-F238E27FC236}">
                <a16:creationId xmlns:a16="http://schemas.microsoft.com/office/drawing/2014/main" id="{C96503DD-D5EF-0558-6771-AA50979ED6EC}"/>
              </a:ext>
            </a:extLst>
          </p:cNvPr>
          <p:cNvSpPr/>
          <p:nvPr userDrawn="1"/>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963">
            <a:extLst>
              <a:ext uri="{FF2B5EF4-FFF2-40B4-BE49-F238E27FC236}">
                <a16:creationId xmlns:a16="http://schemas.microsoft.com/office/drawing/2014/main" id="{97485D01-F414-A563-3E43-824E8881A846}"/>
              </a:ext>
            </a:extLst>
          </p:cNvPr>
          <p:cNvSpPr/>
          <p:nvPr userDrawn="1"/>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964">
            <a:extLst>
              <a:ext uri="{FF2B5EF4-FFF2-40B4-BE49-F238E27FC236}">
                <a16:creationId xmlns:a16="http://schemas.microsoft.com/office/drawing/2014/main" id="{A497D9A3-54B8-30C8-6DC3-7A115655776B}"/>
              </a:ext>
            </a:extLst>
          </p:cNvPr>
          <p:cNvSpPr/>
          <p:nvPr userDrawn="1"/>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965">
            <a:extLst>
              <a:ext uri="{FF2B5EF4-FFF2-40B4-BE49-F238E27FC236}">
                <a16:creationId xmlns:a16="http://schemas.microsoft.com/office/drawing/2014/main" id="{74B371EB-8077-BEC3-8F5B-56559837FB7B}"/>
              </a:ext>
            </a:extLst>
          </p:cNvPr>
          <p:cNvSpPr/>
          <p:nvPr userDrawn="1"/>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966">
            <a:extLst>
              <a:ext uri="{FF2B5EF4-FFF2-40B4-BE49-F238E27FC236}">
                <a16:creationId xmlns:a16="http://schemas.microsoft.com/office/drawing/2014/main" id="{709408E1-ECD3-2639-B406-4175E3809959}"/>
              </a:ext>
            </a:extLst>
          </p:cNvPr>
          <p:cNvSpPr/>
          <p:nvPr userDrawn="1"/>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967">
            <a:extLst>
              <a:ext uri="{FF2B5EF4-FFF2-40B4-BE49-F238E27FC236}">
                <a16:creationId xmlns:a16="http://schemas.microsoft.com/office/drawing/2014/main" id="{F2AC3CB0-11E5-8376-8199-BD57BDECA80F}"/>
              </a:ext>
            </a:extLst>
          </p:cNvPr>
          <p:cNvSpPr/>
          <p:nvPr userDrawn="1"/>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968">
            <a:extLst>
              <a:ext uri="{FF2B5EF4-FFF2-40B4-BE49-F238E27FC236}">
                <a16:creationId xmlns:a16="http://schemas.microsoft.com/office/drawing/2014/main" id="{76B9ED61-9225-022A-273F-A29D2064ABFF}"/>
              </a:ext>
            </a:extLst>
          </p:cNvPr>
          <p:cNvSpPr/>
          <p:nvPr userDrawn="1"/>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969">
            <a:extLst>
              <a:ext uri="{FF2B5EF4-FFF2-40B4-BE49-F238E27FC236}">
                <a16:creationId xmlns:a16="http://schemas.microsoft.com/office/drawing/2014/main" id="{04D3EB91-97D9-5AC1-F5E7-074CD25DDFD6}"/>
              </a:ext>
            </a:extLst>
          </p:cNvPr>
          <p:cNvSpPr/>
          <p:nvPr userDrawn="1"/>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970">
            <a:extLst>
              <a:ext uri="{FF2B5EF4-FFF2-40B4-BE49-F238E27FC236}">
                <a16:creationId xmlns:a16="http://schemas.microsoft.com/office/drawing/2014/main" id="{8516564D-4E5C-5FF7-F9B9-43FAE5F9D9AC}"/>
              </a:ext>
            </a:extLst>
          </p:cNvPr>
          <p:cNvSpPr/>
          <p:nvPr userDrawn="1"/>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971">
            <a:extLst>
              <a:ext uri="{FF2B5EF4-FFF2-40B4-BE49-F238E27FC236}">
                <a16:creationId xmlns:a16="http://schemas.microsoft.com/office/drawing/2014/main" id="{3827D31B-79AC-B991-1B06-5D943F0FBE92}"/>
              </a:ext>
            </a:extLst>
          </p:cNvPr>
          <p:cNvSpPr/>
          <p:nvPr userDrawn="1"/>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972">
            <a:extLst>
              <a:ext uri="{FF2B5EF4-FFF2-40B4-BE49-F238E27FC236}">
                <a16:creationId xmlns:a16="http://schemas.microsoft.com/office/drawing/2014/main" id="{5587DFA7-126F-D2C3-F3B5-77B1AC96032E}"/>
              </a:ext>
            </a:extLst>
          </p:cNvPr>
          <p:cNvSpPr/>
          <p:nvPr userDrawn="1"/>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973">
            <a:extLst>
              <a:ext uri="{FF2B5EF4-FFF2-40B4-BE49-F238E27FC236}">
                <a16:creationId xmlns:a16="http://schemas.microsoft.com/office/drawing/2014/main" id="{0D209EA8-5A7E-932D-2E87-A7A44DF150B2}"/>
              </a:ext>
            </a:extLst>
          </p:cNvPr>
          <p:cNvSpPr/>
          <p:nvPr userDrawn="1"/>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974">
            <a:extLst>
              <a:ext uri="{FF2B5EF4-FFF2-40B4-BE49-F238E27FC236}">
                <a16:creationId xmlns:a16="http://schemas.microsoft.com/office/drawing/2014/main" id="{8E9F9029-E5AE-EFC7-B7D0-AE7629B8402C}"/>
              </a:ext>
            </a:extLst>
          </p:cNvPr>
          <p:cNvSpPr/>
          <p:nvPr userDrawn="1"/>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975">
            <a:extLst>
              <a:ext uri="{FF2B5EF4-FFF2-40B4-BE49-F238E27FC236}">
                <a16:creationId xmlns:a16="http://schemas.microsoft.com/office/drawing/2014/main" id="{AB9DC383-1A75-23DF-F4F6-3167A07C571C}"/>
              </a:ext>
            </a:extLst>
          </p:cNvPr>
          <p:cNvSpPr/>
          <p:nvPr userDrawn="1"/>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976">
            <a:extLst>
              <a:ext uri="{FF2B5EF4-FFF2-40B4-BE49-F238E27FC236}">
                <a16:creationId xmlns:a16="http://schemas.microsoft.com/office/drawing/2014/main" id="{8FB42C98-F44B-B1CC-0F84-8AB6F98A04FD}"/>
              </a:ext>
            </a:extLst>
          </p:cNvPr>
          <p:cNvSpPr/>
          <p:nvPr userDrawn="1"/>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977">
            <a:extLst>
              <a:ext uri="{FF2B5EF4-FFF2-40B4-BE49-F238E27FC236}">
                <a16:creationId xmlns:a16="http://schemas.microsoft.com/office/drawing/2014/main" id="{0AD48A9C-1C4E-6946-A7F3-982885F19DE6}"/>
              </a:ext>
            </a:extLst>
          </p:cNvPr>
          <p:cNvSpPr/>
          <p:nvPr userDrawn="1"/>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978">
            <a:extLst>
              <a:ext uri="{FF2B5EF4-FFF2-40B4-BE49-F238E27FC236}">
                <a16:creationId xmlns:a16="http://schemas.microsoft.com/office/drawing/2014/main" id="{3B3315B7-0E9D-EEA6-4E6C-A68256DDBFD4}"/>
              </a:ext>
            </a:extLst>
          </p:cNvPr>
          <p:cNvSpPr/>
          <p:nvPr userDrawn="1"/>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979">
            <a:extLst>
              <a:ext uri="{FF2B5EF4-FFF2-40B4-BE49-F238E27FC236}">
                <a16:creationId xmlns:a16="http://schemas.microsoft.com/office/drawing/2014/main" id="{B95C5878-EB9B-3E54-885E-3A04B118FC5B}"/>
              </a:ext>
            </a:extLst>
          </p:cNvPr>
          <p:cNvSpPr/>
          <p:nvPr userDrawn="1"/>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980">
            <a:extLst>
              <a:ext uri="{FF2B5EF4-FFF2-40B4-BE49-F238E27FC236}">
                <a16:creationId xmlns:a16="http://schemas.microsoft.com/office/drawing/2014/main" id="{FEEEDD26-2E9C-9AD2-E0A7-E690BAD3ECE1}"/>
              </a:ext>
            </a:extLst>
          </p:cNvPr>
          <p:cNvSpPr/>
          <p:nvPr userDrawn="1"/>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981">
            <a:extLst>
              <a:ext uri="{FF2B5EF4-FFF2-40B4-BE49-F238E27FC236}">
                <a16:creationId xmlns:a16="http://schemas.microsoft.com/office/drawing/2014/main" id="{B1601FE2-B7E1-8542-82AE-5D07B7CA7472}"/>
              </a:ext>
            </a:extLst>
          </p:cNvPr>
          <p:cNvSpPr/>
          <p:nvPr userDrawn="1"/>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982">
            <a:extLst>
              <a:ext uri="{FF2B5EF4-FFF2-40B4-BE49-F238E27FC236}">
                <a16:creationId xmlns:a16="http://schemas.microsoft.com/office/drawing/2014/main" id="{49F1A5A4-BB1B-F35E-50F1-2C212B9DD250}"/>
              </a:ext>
            </a:extLst>
          </p:cNvPr>
          <p:cNvSpPr/>
          <p:nvPr userDrawn="1"/>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983">
            <a:extLst>
              <a:ext uri="{FF2B5EF4-FFF2-40B4-BE49-F238E27FC236}">
                <a16:creationId xmlns:a16="http://schemas.microsoft.com/office/drawing/2014/main" id="{E68F6C6E-B328-43A2-B8DF-7B66AC5B6665}"/>
              </a:ext>
            </a:extLst>
          </p:cNvPr>
          <p:cNvSpPr/>
          <p:nvPr userDrawn="1"/>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984">
            <a:extLst>
              <a:ext uri="{FF2B5EF4-FFF2-40B4-BE49-F238E27FC236}">
                <a16:creationId xmlns:a16="http://schemas.microsoft.com/office/drawing/2014/main" id="{C7C2FB6D-D9F6-ACDD-17BE-66D41F7DAFF6}"/>
              </a:ext>
            </a:extLst>
          </p:cNvPr>
          <p:cNvSpPr/>
          <p:nvPr userDrawn="1"/>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TextBox 34">
            <a:extLst>
              <a:ext uri="{FF2B5EF4-FFF2-40B4-BE49-F238E27FC236}">
                <a16:creationId xmlns:a16="http://schemas.microsoft.com/office/drawing/2014/main" id="{43C45702-D339-1826-BFD6-4EAD21BD772D}"/>
              </a:ext>
            </a:extLst>
          </p:cNvPr>
          <p:cNvSpPr txBox="1"/>
          <p:nvPr userDrawn="1"/>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36" name="Shape 2934">
            <a:extLst>
              <a:ext uri="{FF2B5EF4-FFF2-40B4-BE49-F238E27FC236}">
                <a16:creationId xmlns:a16="http://schemas.microsoft.com/office/drawing/2014/main" id="{07E99366-9774-F654-D1BC-2A60D68B955E}"/>
              </a:ext>
            </a:extLst>
          </p:cNvPr>
          <p:cNvSpPr/>
          <p:nvPr userDrawn="1"/>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935">
            <a:extLst>
              <a:ext uri="{FF2B5EF4-FFF2-40B4-BE49-F238E27FC236}">
                <a16:creationId xmlns:a16="http://schemas.microsoft.com/office/drawing/2014/main" id="{11470321-BFAF-3AD6-13E1-8CB8B89405A1}"/>
              </a:ext>
            </a:extLst>
          </p:cNvPr>
          <p:cNvSpPr/>
          <p:nvPr userDrawn="1"/>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936">
            <a:extLst>
              <a:ext uri="{FF2B5EF4-FFF2-40B4-BE49-F238E27FC236}">
                <a16:creationId xmlns:a16="http://schemas.microsoft.com/office/drawing/2014/main" id="{482F6C82-A52F-5EB7-6DB6-FD4F339CAE49}"/>
              </a:ext>
            </a:extLst>
          </p:cNvPr>
          <p:cNvSpPr/>
          <p:nvPr userDrawn="1"/>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937">
            <a:extLst>
              <a:ext uri="{FF2B5EF4-FFF2-40B4-BE49-F238E27FC236}">
                <a16:creationId xmlns:a16="http://schemas.microsoft.com/office/drawing/2014/main" id="{339A34B4-6F25-9FF4-74E0-17027A5956D9}"/>
              </a:ext>
            </a:extLst>
          </p:cNvPr>
          <p:cNvSpPr/>
          <p:nvPr userDrawn="1"/>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938">
            <a:extLst>
              <a:ext uri="{FF2B5EF4-FFF2-40B4-BE49-F238E27FC236}">
                <a16:creationId xmlns:a16="http://schemas.microsoft.com/office/drawing/2014/main" id="{C668E78A-D9E5-B779-4EF0-D48AE9A5E92C}"/>
              </a:ext>
            </a:extLst>
          </p:cNvPr>
          <p:cNvSpPr/>
          <p:nvPr userDrawn="1"/>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939">
            <a:extLst>
              <a:ext uri="{FF2B5EF4-FFF2-40B4-BE49-F238E27FC236}">
                <a16:creationId xmlns:a16="http://schemas.microsoft.com/office/drawing/2014/main" id="{9C5D3153-CB07-0E27-C5E4-C528ED5901D5}"/>
              </a:ext>
            </a:extLst>
          </p:cNvPr>
          <p:cNvSpPr/>
          <p:nvPr userDrawn="1"/>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940">
            <a:extLst>
              <a:ext uri="{FF2B5EF4-FFF2-40B4-BE49-F238E27FC236}">
                <a16:creationId xmlns:a16="http://schemas.microsoft.com/office/drawing/2014/main" id="{4DE054C2-8A99-36A1-2223-0F26258336A5}"/>
              </a:ext>
            </a:extLst>
          </p:cNvPr>
          <p:cNvSpPr/>
          <p:nvPr userDrawn="1"/>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941">
            <a:extLst>
              <a:ext uri="{FF2B5EF4-FFF2-40B4-BE49-F238E27FC236}">
                <a16:creationId xmlns:a16="http://schemas.microsoft.com/office/drawing/2014/main" id="{809B9094-DF48-8308-D261-1931069F4610}"/>
              </a:ext>
            </a:extLst>
          </p:cNvPr>
          <p:cNvSpPr/>
          <p:nvPr userDrawn="1"/>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942">
            <a:extLst>
              <a:ext uri="{FF2B5EF4-FFF2-40B4-BE49-F238E27FC236}">
                <a16:creationId xmlns:a16="http://schemas.microsoft.com/office/drawing/2014/main" id="{4508A006-2493-248D-30C6-4912F83BEDE4}"/>
              </a:ext>
            </a:extLst>
          </p:cNvPr>
          <p:cNvSpPr/>
          <p:nvPr userDrawn="1"/>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943">
            <a:extLst>
              <a:ext uri="{FF2B5EF4-FFF2-40B4-BE49-F238E27FC236}">
                <a16:creationId xmlns:a16="http://schemas.microsoft.com/office/drawing/2014/main" id="{D216B954-9C74-2749-18E9-C69C92349EE5}"/>
              </a:ext>
            </a:extLst>
          </p:cNvPr>
          <p:cNvSpPr/>
          <p:nvPr userDrawn="1"/>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944">
            <a:extLst>
              <a:ext uri="{FF2B5EF4-FFF2-40B4-BE49-F238E27FC236}">
                <a16:creationId xmlns:a16="http://schemas.microsoft.com/office/drawing/2014/main" id="{0E4C4221-3A1E-DE3A-0F2D-67FDAE865611}"/>
              </a:ext>
            </a:extLst>
          </p:cNvPr>
          <p:cNvSpPr/>
          <p:nvPr userDrawn="1"/>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945">
            <a:extLst>
              <a:ext uri="{FF2B5EF4-FFF2-40B4-BE49-F238E27FC236}">
                <a16:creationId xmlns:a16="http://schemas.microsoft.com/office/drawing/2014/main" id="{925F2200-7297-7993-85D4-A02A55614017}"/>
              </a:ext>
            </a:extLst>
          </p:cNvPr>
          <p:cNvSpPr/>
          <p:nvPr userDrawn="1"/>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946">
            <a:extLst>
              <a:ext uri="{FF2B5EF4-FFF2-40B4-BE49-F238E27FC236}">
                <a16:creationId xmlns:a16="http://schemas.microsoft.com/office/drawing/2014/main" id="{BAD9D808-2CD2-1053-945C-C32B16D2B2F5}"/>
              </a:ext>
            </a:extLst>
          </p:cNvPr>
          <p:cNvSpPr/>
          <p:nvPr userDrawn="1"/>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947">
            <a:extLst>
              <a:ext uri="{FF2B5EF4-FFF2-40B4-BE49-F238E27FC236}">
                <a16:creationId xmlns:a16="http://schemas.microsoft.com/office/drawing/2014/main" id="{BEC6F21F-3F7C-38AC-354C-67D6DA14EAC5}"/>
              </a:ext>
            </a:extLst>
          </p:cNvPr>
          <p:cNvSpPr/>
          <p:nvPr userDrawn="1"/>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948">
            <a:extLst>
              <a:ext uri="{FF2B5EF4-FFF2-40B4-BE49-F238E27FC236}">
                <a16:creationId xmlns:a16="http://schemas.microsoft.com/office/drawing/2014/main" id="{35F33614-4535-C3E6-D322-F2BED220B5F0}"/>
              </a:ext>
            </a:extLst>
          </p:cNvPr>
          <p:cNvSpPr/>
          <p:nvPr userDrawn="1"/>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949">
            <a:extLst>
              <a:ext uri="{FF2B5EF4-FFF2-40B4-BE49-F238E27FC236}">
                <a16:creationId xmlns:a16="http://schemas.microsoft.com/office/drawing/2014/main" id="{9BABED4A-DC84-84A8-08A0-A9EE1605C57E}"/>
              </a:ext>
            </a:extLst>
          </p:cNvPr>
          <p:cNvSpPr/>
          <p:nvPr userDrawn="1"/>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950">
            <a:extLst>
              <a:ext uri="{FF2B5EF4-FFF2-40B4-BE49-F238E27FC236}">
                <a16:creationId xmlns:a16="http://schemas.microsoft.com/office/drawing/2014/main" id="{440F49AD-FCB8-9B05-1BC5-D586704A67DB}"/>
              </a:ext>
            </a:extLst>
          </p:cNvPr>
          <p:cNvSpPr/>
          <p:nvPr userDrawn="1"/>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951">
            <a:extLst>
              <a:ext uri="{FF2B5EF4-FFF2-40B4-BE49-F238E27FC236}">
                <a16:creationId xmlns:a16="http://schemas.microsoft.com/office/drawing/2014/main" id="{B673DA62-9A21-75F2-6F01-DE8280664CE8}"/>
              </a:ext>
            </a:extLst>
          </p:cNvPr>
          <p:cNvSpPr/>
          <p:nvPr userDrawn="1"/>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952">
            <a:extLst>
              <a:ext uri="{FF2B5EF4-FFF2-40B4-BE49-F238E27FC236}">
                <a16:creationId xmlns:a16="http://schemas.microsoft.com/office/drawing/2014/main" id="{75C81947-32F6-CF92-8C97-B2EE677375B7}"/>
              </a:ext>
            </a:extLst>
          </p:cNvPr>
          <p:cNvSpPr/>
          <p:nvPr userDrawn="1"/>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953">
            <a:extLst>
              <a:ext uri="{FF2B5EF4-FFF2-40B4-BE49-F238E27FC236}">
                <a16:creationId xmlns:a16="http://schemas.microsoft.com/office/drawing/2014/main" id="{5D6E6CC6-A069-A249-0E78-88A7F17F383F}"/>
              </a:ext>
            </a:extLst>
          </p:cNvPr>
          <p:cNvSpPr/>
          <p:nvPr userDrawn="1"/>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TextBox 6">
            <a:extLst>
              <a:ext uri="{FF2B5EF4-FFF2-40B4-BE49-F238E27FC236}">
                <a16:creationId xmlns:a16="http://schemas.microsoft.com/office/drawing/2014/main" id="{708692FC-8CBF-91EA-2166-D927D8346393}"/>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bg1"/>
                </a:solidFill>
                <a:latin typeface="Scotia Headline" panose="020B0503020203020204" pitchFamily="34" charset="0"/>
              </a:rPr>
              <a:t>Icons</a:t>
            </a:r>
          </a:p>
        </p:txBody>
      </p:sp>
    </p:spTree>
    <p:extLst>
      <p:ext uri="{BB962C8B-B14F-4D97-AF65-F5344CB8AC3E}">
        <p14:creationId xmlns:p14="http://schemas.microsoft.com/office/powerpoint/2010/main" val="244254715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2" name="Rectangle 1">
            <a:extLst>
              <a:ext uri="{FF2B5EF4-FFF2-40B4-BE49-F238E27FC236}">
                <a16:creationId xmlns:a16="http://schemas.microsoft.com/office/drawing/2014/main" id="{A02BC801-315C-5CA3-ECBA-8E2E8953498C}"/>
              </a:ext>
            </a:extLst>
          </p:cNvPr>
          <p:cNvSpPr/>
          <p:nvPr userDrawn="1"/>
        </p:nvSpPr>
        <p:spPr>
          <a:xfrm>
            <a:off x="399" y="224"/>
            <a:ext cx="12191205" cy="1927566"/>
          </a:xfrm>
          <a:prstGeom prst="rect">
            <a:avLst/>
          </a:prstGeom>
          <a:solidFill>
            <a:srgbClr val="EC111A"/>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3">
            <a:extLst>
              <a:ext uri="{FF2B5EF4-FFF2-40B4-BE49-F238E27FC236}">
                <a16:creationId xmlns:a16="http://schemas.microsoft.com/office/drawing/2014/main" id="{58F9B81E-7687-7872-4B9E-433AFFB53713}"/>
              </a:ext>
            </a:extLst>
          </p:cNvPr>
          <p:cNvSpPr txBox="1"/>
          <p:nvPr userDrawn="1"/>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 name="Shape 2708">
            <a:extLst>
              <a:ext uri="{FF2B5EF4-FFF2-40B4-BE49-F238E27FC236}">
                <a16:creationId xmlns:a16="http://schemas.microsoft.com/office/drawing/2014/main" id="{804DC2EF-D498-134D-A0AA-2230E3B2EFEC}"/>
              </a:ext>
            </a:extLst>
          </p:cNvPr>
          <p:cNvSpPr/>
          <p:nvPr userDrawn="1"/>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 name="Shape 2709">
            <a:extLst>
              <a:ext uri="{FF2B5EF4-FFF2-40B4-BE49-F238E27FC236}">
                <a16:creationId xmlns:a16="http://schemas.microsoft.com/office/drawing/2014/main" id="{F0C19520-DF9F-01F2-11DF-3BB06962A798}"/>
              </a:ext>
            </a:extLst>
          </p:cNvPr>
          <p:cNvSpPr/>
          <p:nvPr userDrawn="1"/>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710">
            <a:extLst>
              <a:ext uri="{FF2B5EF4-FFF2-40B4-BE49-F238E27FC236}">
                <a16:creationId xmlns:a16="http://schemas.microsoft.com/office/drawing/2014/main" id="{CF5853B9-E2D3-A2AF-875B-7640E536752D}"/>
              </a:ext>
            </a:extLst>
          </p:cNvPr>
          <p:cNvSpPr/>
          <p:nvPr userDrawn="1"/>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711">
            <a:extLst>
              <a:ext uri="{FF2B5EF4-FFF2-40B4-BE49-F238E27FC236}">
                <a16:creationId xmlns:a16="http://schemas.microsoft.com/office/drawing/2014/main" id="{A95264C0-1C9D-E448-7DBA-2E98CD51D8B6}"/>
              </a:ext>
            </a:extLst>
          </p:cNvPr>
          <p:cNvSpPr/>
          <p:nvPr userDrawn="1"/>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712">
            <a:extLst>
              <a:ext uri="{FF2B5EF4-FFF2-40B4-BE49-F238E27FC236}">
                <a16:creationId xmlns:a16="http://schemas.microsoft.com/office/drawing/2014/main" id="{35BB2437-1AFE-D34F-8C28-0146CA8C53C8}"/>
              </a:ext>
            </a:extLst>
          </p:cNvPr>
          <p:cNvSpPr/>
          <p:nvPr userDrawn="1"/>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713">
            <a:extLst>
              <a:ext uri="{FF2B5EF4-FFF2-40B4-BE49-F238E27FC236}">
                <a16:creationId xmlns:a16="http://schemas.microsoft.com/office/drawing/2014/main" id="{480A2482-E36E-535A-DE55-B267ED7D2BD3}"/>
              </a:ext>
            </a:extLst>
          </p:cNvPr>
          <p:cNvSpPr/>
          <p:nvPr userDrawn="1"/>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714">
            <a:extLst>
              <a:ext uri="{FF2B5EF4-FFF2-40B4-BE49-F238E27FC236}">
                <a16:creationId xmlns:a16="http://schemas.microsoft.com/office/drawing/2014/main" id="{24A0C37E-B94F-63D1-76B9-F7A17376228E}"/>
              </a:ext>
            </a:extLst>
          </p:cNvPr>
          <p:cNvSpPr/>
          <p:nvPr userDrawn="1"/>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715">
            <a:extLst>
              <a:ext uri="{FF2B5EF4-FFF2-40B4-BE49-F238E27FC236}">
                <a16:creationId xmlns:a16="http://schemas.microsoft.com/office/drawing/2014/main" id="{1A19B6AF-AF3A-BC97-9CCC-BFA171803409}"/>
              </a:ext>
            </a:extLst>
          </p:cNvPr>
          <p:cNvSpPr/>
          <p:nvPr userDrawn="1"/>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716">
            <a:extLst>
              <a:ext uri="{FF2B5EF4-FFF2-40B4-BE49-F238E27FC236}">
                <a16:creationId xmlns:a16="http://schemas.microsoft.com/office/drawing/2014/main" id="{8274E013-2869-25A6-CBC5-B1B72E2A3891}"/>
              </a:ext>
            </a:extLst>
          </p:cNvPr>
          <p:cNvSpPr/>
          <p:nvPr userDrawn="1"/>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717">
            <a:extLst>
              <a:ext uri="{FF2B5EF4-FFF2-40B4-BE49-F238E27FC236}">
                <a16:creationId xmlns:a16="http://schemas.microsoft.com/office/drawing/2014/main" id="{AF7E9720-8B88-2DE1-7ECF-DB52538B3673}"/>
              </a:ext>
            </a:extLst>
          </p:cNvPr>
          <p:cNvSpPr/>
          <p:nvPr userDrawn="1"/>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718">
            <a:extLst>
              <a:ext uri="{FF2B5EF4-FFF2-40B4-BE49-F238E27FC236}">
                <a16:creationId xmlns:a16="http://schemas.microsoft.com/office/drawing/2014/main" id="{08937A4D-702E-B8E3-84DA-17DCE0E50082}"/>
              </a:ext>
            </a:extLst>
          </p:cNvPr>
          <p:cNvSpPr/>
          <p:nvPr userDrawn="1"/>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719">
            <a:extLst>
              <a:ext uri="{FF2B5EF4-FFF2-40B4-BE49-F238E27FC236}">
                <a16:creationId xmlns:a16="http://schemas.microsoft.com/office/drawing/2014/main" id="{C63809FE-61BA-9B51-4644-A32B0BEA9A36}"/>
              </a:ext>
            </a:extLst>
          </p:cNvPr>
          <p:cNvSpPr/>
          <p:nvPr userDrawn="1"/>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720">
            <a:extLst>
              <a:ext uri="{FF2B5EF4-FFF2-40B4-BE49-F238E27FC236}">
                <a16:creationId xmlns:a16="http://schemas.microsoft.com/office/drawing/2014/main" id="{32BFB7B7-7F15-56FA-2450-51F1268CC69C}"/>
              </a:ext>
            </a:extLst>
          </p:cNvPr>
          <p:cNvSpPr/>
          <p:nvPr userDrawn="1"/>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721">
            <a:extLst>
              <a:ext uri="{FF2B5EF4-FFF2-40B4-BE49-F238E27FC236}">
                <a16:creationId xmlns:a16="http://schemas.microsoft.com/office/drawing/2014/main" id="{28B65217-7F3B-5CA2-F992-BF92B1D39F4B}"/>
              </a:ext>
            </a:extLst>
          </p:cNvPr>
          <p:cNvSpPr/>
          <p:nvPr userDrawn="1"/>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722">
            <a:extLst>
              <a:ext uri="{FF2B5EF4-FFF2-40B4-BE49-F238E27FC236}">
                <a16:creationId xmlns:a16="http://schemas.microsoft.com/office/drawing/2014/main" id="{25E7A14D-4DBE-282E-3A30-7AB9B8C1CE23}"/>
              </a:ext>
            </a:extLst>
          </p:cNvPr>
          <p:cNvSpPr/>
          <p:nvPr userDrawn="1"/>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723">
            <a:extLst>
              <a:ext uri="{FF2B5EF4-FFF2-40B4-BE49-F238E27FC236}">
                <a16:creationId xmlns:a16="http://schemas.microsoft.com/office/drawing/2014/main" id="{0FCFC1FD-3484-6E6B-3242-A5C47631FA7E}"/>
              </a:ext>
            </a:extLst>
          </p:cNvPr>
          <p:cNvSpPr/>
          <p:nvPr userDrawn="1"/>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724">
            <a:extLst>
              <a:ext uri="{FF2B5EF4-FFF2-40B4-BE49-F238E27FC236}">
                <a16:creationId xmlns:a16="http://schemas.microsoft.com/office/drawing/2014/main" id="{1685C873-EE21-90F1-472B-A0415D1C35CF}"/>
              </a:ext>
            </a:extLst>
          </p:cNvPr>
          <p:cNvSpPr/>
          <p:nvPr userDrawn="1"/>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725">
            <a:extLst>
              <a:ext uri="{FF2B5EF4-FFF2-40B4-BE49-F238E27FC236}">
                <a16:creationId xmlns:a16="http://schemas.microsoft.com/office/drawing/2014/main" id="{56B64633-7615-80B1-182E-AE75159C8E5C}"/>
              </a:ext>
            </a:extLst>
          </p:cNvPr>
          <p:cNvSpPr/>
          <p:nvPr userDrawn="1"/>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726">
            <a:extLst>
              <a:ext uri="{FF2B5EF4-FFF2-40B4-BE49-F238E27FC236}">
                <a16:creationId xmlns:a16="http://schemas.microsoft.com/office/drawing/2014/main" id="{FCEB22B6-AD35-6005-67D3-60E1CC16F98C}"/>
              </a:ext>
            </a:extLst>
          </p:cNvPr>
          <p:cNvSpPr/>
          <p:nvPr userDrawn="1"/>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727">
            <a:extLst>
              <a:ext uri="{FF2B5EF4-FFF2-40B4-BE49-F238E27FC236}">
                <a16:creationId xmlns:a16="http://schemas.microsoft.com/office/drawing/2014/main" id="{D05546FF-AC63-55BC-2CAA-F7D14D95B2CF}"/>
              </a:ext>
            </a:extLst>
          </p:cNvPr>
          <p:cNvSpPr/>
          <p:nvPr userDrawn="1"/>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728">
            <a:extLst>
              <a:ext uri="{FF2B5EF4-FFF2-40B4-BE49-F238E27FC236}">
                <a16:creationId xmlns:a16="http://schemas.microsoft.com/office/drawing/2014/main" id="{CB45E02B-B828-B88C-E173-9DB32B6B7F38}"/>
              </a:ext>
            </a:extLst>
          </p:cNvPr>
          <p:cNvSpPr/>
          <p:nvPr userDrawn="1"/>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729">
            <a:extLst>
              <a:ext uri="{FF2B5EF4-FFF2-40B4-BE49-F238E27FC236}">
                <a16:creationId xmlns:a16="http://schemas.microsoft.com/office/drawing/2014/main" id="{2D62AF33-9A80-4DB1-D1EE-54B69133B7D0}"/>
              </a:ext>
            </a:extLst>
          </p:cNvPr>
          <p:cNvSpPr/>
          <p:nvPr userDrawn="1"/>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730">
            <a:extLst>
              <a:ext uri="{FF2B5EF4-FFF2-40B4-BE49-F238E27FC236}">
                <a16:creationId xmlns:a16="http://schemas.microsoft.com/office/drawing/2014/main" id="{EFB400A2-618C-248D-FB33-EEE8F10E6DE1}"/>
              </a:ext>
            </a:extLst>
          </p:cNvPr>
          <p:cNvSpPr/>
          <p:nvPr userDrawn="1"/>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731">
            <a:extLst>
              <a:ext uri="{FF2B5EF4-FFF2-40B4-BE49-F238E27FC236}">
                <a16:creationId xmlns:a16="http://schemas.microsoft.com/office/drawing/2014/main" id="{3C04F6CC-3EB5-772D-EE33-405E9D721F21}"/>
              </a:ext>
            </a:extLst>
          </p:cNvPr>
          <p:cNvSpPr/>
          <p:nvPr userDrawn="1"/>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732">
            <a:extLst>
              <a:ext uri="{FF2B5EF4-FFF2-40B4-BE49-F238E27FC236}">
                <a16:creationId xmlns:a16="http://schemas.microsoft.com/office/drawing/2014/main" id="{F9D9940B-AF70-97E9-D37F-B6B07396B400}"/>
              </a:ext>
            </a:extLst>
          </p:cNvPr>
          <p:cNvSpPr/>
          <p:nvPr userDrawn="1"/>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733">
            <a:extLst>
              <a:ext uri="{FF2B5EF4-FFF2-40B4-BE49-F238E27FC236}">
                <a16:creationId xmlns:a16="http://schemas.microsoft.com/office/drawing/2014/main" id="{BA50CF44-A1A8-5E90-1D9F-480DEA9A5E9E}"/>
              </a:ext>
            </a:extLst>
          </p:cNvPr>
          <p:cNvSpPr/>
          <p:nvPr userDrawn="1"/>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734">
            <a:extLst>
              <a:ext uri="{FF2B5EF4-FFF2-40B4-BE49-F238E27FC236}">
                <a16:creationId xmlns:a16="http://schemas.microsoft.com/office/drawing/2014/main" id="{42D1F7AE-8549-ACC6-7FD2-874929D6C0A5}"/>
              </a:ext>
            </a:extLst>
          </p:cNvPr>
          <p:cNvSpPr/>
          <p:nvPr userDrawn="1"/>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735">
            <a:extLst>
              <a:ext uri="{FF2B5EF4-FFF2-40B4-BE49-F238E27FC236}">
                <a16:creationId xmlns:a16="http://schemas.microsoft.com/office/drawing/2014/main" id="{696FC505-E49A-D0E7-928B-201FBFAF0059}"/>
              </a:ext>
            </a:extLst>
          </p:cNvPr>
          <p:cNvSpPr/>
          <p:nvPr userDrawn="1"/>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736">
            <a:extLst>
              <a:ext uri="{FF2B5EF4-FFF2-40B4-BE49-F238E27FC236}">
                <a16:creationId xmlns:a16="http://schemas.microsoft.com/office/drawing/2014/main" id="{D20D655F-1E85-D667-151D-B1DB681837F9}"/>
              </a:ext>
            </a:extLst>
          </p:cNvPr>
          <p:cNvSpPr/>
          <p:nvPr userDrawn="1"/>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737">
            <a:extLst>
              <a:ext uri="{FF2B5EF4-FFF2-40B4-BE49-F238E27FC236}">
                <a16:creationId xmlns:a16="http://schemas.microsoft.com/office/drawing/2014/main" id="{BFA26A94-6C50-6B18-1E9E-8867886A408D}"/>
              </a:ext>
            </a:extLst>
          </p:cNvPr>
          <p:cNvSpPr/>
          <p:nvPr userDrawn="1"/>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738">
            <a:extLst>
              <a:ext uri="{FF2B5EF4-FFF2-40B4-BE49-F238E27FC236}">
                <a16:creationId xmlns:a16="http://schemas.microsoft.com/office/drawing/2014/main" id="{369D24F9-75AC-F2C6-0E7A-E8C5431E3976}"/>
              </a:ext>
            </a:extLst>
          </p:cNvPr>
          <p:cNvSpPr/>
          <p:nvPr userDrawn="1"/>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739">
            <a:extLst>
              <a:ext uri="{FF2B5EF4-FFF2-40B4-BE49-F238E27FC236}">
                <a16:creationId xmlns:a16="http://schemas.microsoft.com/office/drawing/2014/main" id="{CBD2FE3F-3995-3DD3-85FD-C8E78C0FDC9B}"/>
              </a:ext>
            </a:extLst>
          </p:cNvPr>
          <p:cNvSpPr/>
          <p:nvPr userDrawn="1"/>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740">
            <a:extLst>
              <a:ext uri="{FF2B5EF4-FFF2-40B4-BE49-F238E27FC236}">
                <a16:creationId xmlns:a16="http://schemas.microsoft.com/office/drawing/2014/main" id="{262A08DE-1A28-9752-0606-87DDA87BD28D}"/>
              </a:ext>
            </a:extLst>
          </p:cNvPr>
          <p:cNvSpPr/>
          <p:nvPr userDrawn="1"/>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741">
            <a:extLst>
              <a:ext uri="{FF2B5EF4-FFF2-40B4-BE49-F238E27FC236}">
                <a16:creationId xmlns:a16="http://schemas.microsoft.com/office/drawing/2014/main" id="{D9987309-DDFE-25E3-A17B-B7DC97E6EC80}"/>
              </a:ext>
            </a:extLst>
          </p:cNvPr>
          <p:cNvSpPr/>
          <p:nvPr userDrawn="1"/>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742">
            <a:extLst>
              <a:ext uri="{FF2B5EF4-FFF2-40B4-BE49-F238E27FC236}">
                <a16:creationId xmlns:a16="http://schemas.microsoft.com/office/drawing/2014/main" id="{5C20BB56-6E8E-8D89-A33F-320FC43A768D}"/>
              </a:ext>
            </a:extLst>
          </p:cNvPr>
          <p:cNvSpPr/>
          <p:nvPr userDrawn="1"/>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743">
            <a:extLst>
              <a:ext uri="{FF2B5EF4-FFF2-40B4-BE49-F238E27FC236}">
                <a16:creationId xmlns:a16="http://schemas.microsoft.com/office/drawing/2014/main" id="{0B31FDCA-C3E3-B81F-C186-DCB425EFD580}"/>
              </a:ext>
            </a:extLst>
          </p:cNvPr>
          <p:cNvSpPr/>
          <p:nvPr userDrawn="1"/>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744">
            <a:extLst>
              <a:ext uri="{FF2B5EF4-FFF2-40B4-BE49-F238E27FC236}">
                <a16:creationId xmlns:a16="http://schemas.microsoft.com/office/drawing/2014/main" id="{A93FAC3C-F83E-36B4-2D21-09B13675656E}"/>
              </a:ext>
            </a:extLst>
          </p:cNvPr>
          <p:cNvSpPr/>
          <p:nvPr userDrawn="1"/>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745">
            <a:extLst>
              <a:ext uri="{FF2B5EF4-FFF2-40B4-BE49-F238E27FC236}">
                <a16:creationId xmlns:a16="http://schemas.microsoft.com/office/drawing/2014/main" id="{74293E30-17F5-B046-70C8-EC1A3AFFE0B2}"/>
              </a:ext>
            </a:extLst>
          </p:cNvPr>
          <p:cNvSpPr/>
          <p:nvPr userDrawn="1"/>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746">
            <a:extLst>
              <a:ext uri="{FF2B5EF4-FFF2-40B4-BE49-F238E27FC236}">
                <a16:creationId xmlns:a16="http://schemas.microsoft.com/office/drawing/2014/main" id="{B37C2901-0D82-46A4-8680-B41045E9DDBC}"/>
              </a:ext>
            </a:extLst>
          </p:cNvPr>
          <p:cNvSpPr/>
          <p:nvPr userDrawn="1"/>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747">
            <a:extLst>
              <a:ext uri="{FF2B5EF4-FFF2-40B4-BE49-F238E27FC236}">
                <a16:creationId xmlns:a16="http://schemas.microsoft.com/office/drawing/2014/main" id="{D5B0415D-B2B3-5CE9-85E8-3666DA7BDD63}"/>
              </a:ext>
            </a:extLst>
          </p:cNvPr>
          <p:cNvSpPr/>
          <p:nvPr userDrawn="1"/>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748">
            <a:extLst>
              <a:ext uri="{FF2B5EF4-FFF2-40B4-BE49-F238E27FC236}">
                <a16:creationId xmlns:a16="http://schemas.microsoft.com/office/drawing/2014/main" id="{1FB78C3D-DEDC-B717-E527-A45B7B43827A}"/>
              </a:ext>
            </a:extLst>
          </p:cNvPr>
          <p:cNvSpPr/>
          <p:nvPr userDrawn="1"/>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749">
            <a:extLst>
              <a:ext uri="{FF2B5EF4-FFF2-40B4-BE49-F238E27FC236}">
                <a16:creationId xmlns:a16="http://schemas.microsoft.com/office/drawing/2014/main" id="{E82AC8D6-C265-5A92-C0F2-C2E3BDB43E32}"/>
              </a:ext>
            </a:extLst>
          </p:cNvPr>
          <p:cNvSpPr/>
          <p:nvPr userDrawn="1"/>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750">
            <a:extLst>
              <a:ext uri="{FF2B5EF4-FFF2-40B4-BE49-F238E27FC236}">
                <a16:creationId xmlns:a16="http://schemas.microsoft.com/office/drawing/2014/main" id="{3A1DCA14-B2C0-67D1-8FDF-A2731352D375}"/>
              </a:ext>
            </a:extLst>
          </p:cNvPr>
          <p:cNvSpPr/>
          <p:nvPr userDrawn="1"/>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751">
            <a:extLst>
              <a:ext uri="{FF2B5EF4-FFF2-40B4-BE49-F238E27FC236}">
                <a16:creationId xmlns:a16="http://schemas.microsoft.com/office/drawing/2014/main" id="{10294A23-EE53-06FF-1500-89F399818F3F}"/>
              </a:ext>
            </a:extLst>
          </p:cNvPr>
          <p:cNvSpPr/>
          <p:nvPr userDrawn="1"/>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752">
            <a:extLst>
              <a:ext uri="{FF2B5EF4-FFF2-40B4-BE49-F238E27FC236}">
                <a16:creationId xmlns:a16="http://schemas.microsoft.com/office/drawing/2014/main" id="{5BCB4E9A-BF55-7672-528B-F81A4A7334EA}"/>
              </a:ext>
            </a:extLst>
          </p:cNvPr>
          <p:cNvSpPr/>
          <p:nvPr userDrawn="1"/>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753">
            <a:extLst>
              <a:ext uri="{FF2B5EF4-FFF2-40B4-BE49-F238E27FC236}">
                <a16:creationId xmlns:a16="http://schemas.microsoft.com/office/drawing/2014/main" id="{90F8A2CD-8679-889F-A91D-4C9544A74FF7}"/>
              </a:ext>
            </a:extLst>
          </p:cNvPr>
          <p:cNvSpPr/>
          <p:nvPr userDrawn="1"/>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754">
            <a:extLst>
              <a:ext uri="{FF2B5EF4-FFF2-40B4-BE49-F238E27FC236}">
                <a16:creationId xmlns:a16="http://schemas.microsoft.com/office/drawing/2014/main" id="{0B672E66-CF91-60B2-A232-2EB112380B69}"/>
              </a:ext>
            </a:extLst>
          </p:cNvPr>
          <p:cNvSpPr/>
          <p:nvPr userDrawn="1"/>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755">
            <a:extLst>
              <a:ext uri="{FF2B5EF4-FFF2-40B4-BE49-F238E27FC236}">
                <a16:creationId xmlns:a16="http://schemas.microsoft.com/office/drawing/2014/main" id="{C0636C16-3B08-B741-F871-1155FF18230B}"/>
              </a:ext>
            </a:extLst>
          </p:cNvPr>
          <p:cNvSpPr/>
          <p:nvPr userDrawn="1"/>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756">
            <a:extLst>
              <a:ext uri="{FF2B5EF4-FFF2-40B4-BE49-F238E27FC236}">
                <a16:creationId xmlns:a16="http://schemas.microsoft.com/office/drawing/2014/main" id="{6E1642B0-3109-A986-959D-F055E08EB89E}"/>
              </a:ext>
            </a:extLst>
          </p:cNvPr>
          <p:cNvSpPr/>
          <p:nvPr userDrawn="1"/>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757">
            <a:extLst>
              <a:ext uri="{FF2B5EF4-FFF2-40B4-BE49-F238E27FC236}">
                <a16:creationId xmlns:a16="http://schemas.microsoft.com/office/drawing/2014/main" id="{901B9BE3-CCE5-A314-AA10-64600D1C2DCD}"/>
              </a:ext>
            </a:extLst>
          </p:cNvPr>
          <p:cNvSpPr/>
          <p:nvPr userDrawn="1"/>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758">
            <a:extLst>
              <a:ext uri="{FF2B5EF4-FFF2-40B4-BE49-F238E27FC236}">
                <a16:creationId xmlns:a16="http://schemas.microsoft.com/office/drawing/2014/main" id="{00770556-8D46-401C-114E-58EDF12F43B5}"/>
              </a:ext>
            </a:extLst>
          </p:cNvPr>
          <p:cNvSpPr/>
          <p:nvPr userDrawn="1"/>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759">
            <a:extLst>
              <a:ext uri="{FF2B5EF4-FFF2-40B4-BE49-F238E27FC236}">
                <a16:creationId xmlns:a16="http://schemas.microsoft.com/office/drawing/2014/main" id="{6A4F7111-46C0-C5CE-DEE4-6FCE1B8ACDD9}"/>
              </a:ext>
            </a:extLst>
          </p:cNvPr>
          <p:cNvSpPr/>
          <p:nvPr userDrawn="1"/>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760">
            <a:extLst>
              <a:ext uri="{FF2B5EF4-FFF2-40B4-BE49-F238E27FC236}">
                <a16:creationId xmlns:a16="http://schemas.microsoft.com/office/drawing/2014/main" id="{018F0E50-2840-1F0A-987C-FA2B87558104}"/>
              </a:ext>
            </a:extLst>
          </p:cNvPr>
          <p:cNvSpPr/>
          <p:nvPr userDrawn="1"/>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761">
            <a:extLst>
              <a:ext uri="{FF2B5EF4-FFF2-40B4-BE49-F238E27FC236}">
                <a16:creationId xmlns:a16="http://schemas.microsoft.com/office/drawing/2014/main" id="{31039046-FEFB-D1AD-832C-1350EE36F45B}"/>
              </a:ext>
            </a:extLst>
          </p:cNvPr>
          <p:cNvSpPr/>
          <p:nvPr userDrawn="1"/>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762">
            <a:extLst>
              <a:ext uri="{FF2B5EF4-FFF2-40B4-BE49-F238E27FC236}">
                <a16:creationId xmlns:a16="http://schemas.microsoft.com/office/drawing/2014/main" id="{E7D32554-FE1F-20BF-E6C4-A762A0DC20A8}"/>
              </a:ext>
            </a:extLst>
          </p:cNvPr>
          <p:cNvSpPr/>
          <p:nvPr userDrawn="1"/>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763">
            <a:extLst>
              <a:ext uri="{FF2B5EF4-FFF2-40B4-BE49-F238E27FC236}">
                <a16:creationId xmlns:a16="http://schemas.microsoft.com/office/drawing/2014/main" id="{277AC17E-D90B-A07F-B4D1-4D0594CFA3E5}"/>
              </a:ext>
            </a:extLst>
          </p:cNvPr>
          <p:cNvSpPr/>
          <p:nvPr userDrawn="1"/>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764">
            <a:extLst>
              <a:ext uri="{FF2B5EF4-FFF2-40B4-BE49-F238E27FC236}">
                <a16:creationId xmlns:a16="http://schemas.microsoft.com/office/drawing/2014/main" id="{2A29BED7-1443-7306-B477-300C5662A1BF}"/>
              </a:ext>
            </a:extLst>
          </p:cNvPr>
          <p:cNvSpPr/>
          <p:nvPr userDrawn="1"/>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765">
            <a:extLst>
              <a:ext uri="{FF2B5EF4-FFF2-40B4-BE49-F238E27FC236}">
                <a16:creationId xmlns:a16="http://schemas.microsoft.com/office/drawing/2014/main" id="{A169BFE5-63CC-8598-5429-D0412A481418}"/>
              </a:ext>
            </a:extLst>
          </p:cNvPr>
          <p:cNvSpPr/>
          <p:nvPr userDrawn="1"/>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766">
            <a:extLst>
              <a:ext uri="{FF2B5EF4-FFF2-40B4-BE49-F238E27FC236}">
                <a16:creationId xmlns:a16="http://schemas.microsoft.com/office/drawing/2014/main" id="{21EC67E9-0EB8-85AB-8A7F-143397A946BC}"/>
              </a:ext>
            </a:extLst>
          </p:cNvPr>
          <p:cNvSpPr/>
          <p:nvPr userDrawn="1"/>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767">
            <a:extLst>
              <a:ext uri="{FF2B5EF4-FFF2-40B4-BE49-F238E27FC236}">
                <a16:creationId xmlns:a16="http://schemas.microsoft.com/office/drawing/2014/main" id="{FA31A96F-7E0E-DD68-255A-DA559B4DD3A8}"/>
              </a:ext>
            </a:extLst>
          </p:cNvPr>
          <p:cNvSpPr/>
          <p:nvPr userDrawn="1"/>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768">
            <a:extLst>
              <a:ext uri="{FF2B5EF4-FFF2-40B4-BE49-F238E27FC236}">
                <a16:creationId xmlns:a16="http://schemas.microsoft.com/office/drawing/2014/main" id="{5F5A27C4-246F-BBAE-C269-1B7CA9B6130E}"/>
              </a:ext>
            </a:extLst>
          </p:cNvPr>
          <p:cNvSpPr/>
          <p:nvPr userDrawn="1"/>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769">
            <a:extLst>
              <a:ext uri="{FF2B5EF4-FFF2-40B4-BE49-F238E27FC236}">
                <a16:creationId xmlns:a16="http://schemas.microsoft.com/office/drawing/2014/main" id="{00241D46-048C-4CAC-F352-22F5AB323D0F}"/>
              </a:ext>
            </a:extLst>
          </p:cNvPr>
          <p:cNvSpPr/>
          <p:nvPr userDrawn="1"/>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770">
            <a:extLst>
              <a:ext uri="{FF2B5EF4-FFF2-40B4-BE49-F238E27FC236}">
                <a16:creationId xmlns:a16="http://schemas.microsoft.com/office/drawing/2014/main" id="{C3E5E94C-F233-08B8-F4B3-001B26340996}"/>
              </a:ext>
            </a:extLst>
          </p:cNvPr>
          <p:cNvSpPr/>
          <p:nvPr userDrawn="1"/>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771">
            <a:extLst>
              <a:ext uri="{FF2B5EF4-FFF2-40B4-BE49-F238E27FC236}">
                <a16:creationId xmlns:a16="http://schemas.microsoft.com/office/drawing/2014/main" id="{8575F64B-AEAD-D590-DA47-118887161C0C}"/>
              </a:ext>
            </a:extLst>
          </p:cNvPr>
          <p:cNvSpPr/>
          <p:nvPr userDrawn="1"/>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772">
            <a:extLst>
              <a:ext uri="{FF2B5EF4-FFF2-40B4-BE49-F238E27FC236}">
                <a16:creationId xmlns:a16="http://schemas.microsoft.com/office/drawing/2014/main" id="{164592D9-86CB-AD3A-959F-63212C1F8A02}"/>
              </a:ext>
            </a:extLst>
          </p:cNvPr>
          <p:cNvSpPr/>
          <p:nvPr userDrawn="1"/>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773">
            <a:extLst>
              <a:ext uri="{FF2B5EF4-FFF2-40B4-BE49-F238E27FC236}">
                <a16:creationId xmlns:a16="http://schemas.microsoft.com/office/drawing/2014/main" id="{B2602EAC-50C0-BBD9-516B-A9BF5129E6DD}"/>
              </a:ext>
            </a:extLst>
          </p:cNvPr>
          <p:cNvSpPr/>
          <p:nvPr userDrawn="1"/>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774">
            <a:extLst>
              <a:ext uri="{FF2B5EF4-FFF2-40B4-BE49-F238E27FC236}">
                <a16:creationId xmlns:a16="http://schemas.microsoft.com/office/drawing/2014/main" id="{D1979088-41E9-229C-3739-1A7E54239059}"/>
              </a:ext>
            </a:extLst>
          </p:cNvPr>
          <p:cNvSpPr/>
          <p:nvPr userDrawn="1"/>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775">
            <a:extLst>
              <a:ext uri="{FF2B5EF4-FFF2-40B4-BE49-F238E27FC236}">
                <a16:creationId xmlns:a16="http://schemas.microsoft.com/office/drawing/2014/main" id="{C3CC83D2-FB29-0CF0-56E5-7050E7C64F6A}"/>
              </a:ext>
            </a:extLst>
          </p:cNvPr>
          <p:cNvSpPr/>
          <p:nvPr userDrawn="1"/>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776">
            <a:extLst>
              <a:ext uri="{FF2B5EF4-FFF2-40B4-BE49-F238E27FC236}">
                <a16:creationId xmlns:a16="http://schemas.microsoft.com/office/drawing/2014/main" id="{1FD8F68F-B82E-BFEA-D660-BDCF91CCCF88}"/>
              </a:ext>
            </a:extLst>
          </p:cNvPr>
          <p:cNvSpPr/>
          <p:nvPr userDrawn="1"/>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777">
            <a:extLst>
              <a:ext uri="{FF2B5EF4-FFF2-40B4-BE49-F238E27FC236}">
                <a16:creationId xmlns:a16="http://schemas.microsoft.com/office/drawing/2014/main" id="{40ED3143-6C14-13D9-8AAE-FCD3FD9CE0E2}"/>
              </a:ext>
            </a:extLst>
          </p:cNvPr>
          <p:cNvSpPr/>
          <p:nvPr userDrawn="1"/>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778">
            <a:extLst>
              <a:ext uri="{FF2B5EF4-FFF2-40B4-BE49-F238E27FC236}">
                <a16:creationId xmlns:a16="http://schemas.microsoft.com/office/drawing/2014/main" id="{EE5DE5A1-F2AD-9F93-16D9-C1C9B3E9726F}"/>
              </a:ext>
            </a:extLst>
          </p:cNvPr>
          <p:cNvSpPr/>
          <p:nvPr userDrawn="1"/>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779">
            <a:extLst>
              <a:ext uri="{FF2B5EF4-FFF2-40B4-BE49-F238E27FC236}">
                <a16:creationId xmlns:a16="http://schemas.microsoft.com/office/drawing/2014/main" id="{586D151A-4A97-0535-3C80-6303F7B09412}"/>
              </a:ext>
            </a:extLst>
          </p:cNvPr>
          <p:cNvSpPr/>
          <p:nvPr userDrawn="1"/>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780">
            <a:extLst>
              <a:ext uri="{FF2B5EF4-FFF2-40B4-BE49-F238E27FC236}">
                <a16:creationId xmlns:a16="http://schemas.microsoft.com/office/drawing/2014/main" id="{FE759552-B44B-40DC-545E-0DFA5F47FDC3}"/>
              </a:ext>
            </a:extLst>
          </p:cNvPr>
          <p:cNvSpPr/>
          <p:nvPr userDrawn="1"/>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781">
            <a:extLst>
              <a:ext uri="{FF2B5EF4-FFF2-40B4-BE49-F238E27FC236}">
                <a16:creationId xmlns:a16="http://schemas.microsoft.com/office/drawing/2014/main" id="{625A5D3C-710C-D3BD-18AD-759F2AD70F4B}"/>
              </a:ext>
            </a:extLst>
          </p:cNvPr>
          <p:cNvSpPr/>
          <p:nvPr userDrawn="1"/>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782">
            <a:extLst>
              <a:ext uri="{FF2B5EF4-FFF2-40B4-BE49-F238E27FC236}">
                <a16:creationId xmlns:a16="http://schemas.microsoft.com/office/drawing/2014/main" id="{898D6EF3-4ED7-4D7E-815C-485C8F634D0E}"/>
              </a:ext>
            </a:extLst>
          </p:cNvPr>
          <p:cNvSpPr/>
          <p:nvPr userDrawn="1"/>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783">
            <a:extLst>
              <a:ext uri="{FF2B5EF4-FFF2-40B4-BE49-F238E27FC236}">
                <a16:creationId xmlns:a16="http://schemas.microsoft.com/office/drawing/2014/main" id="{446F5D42-0E67-98FC-3F6E-6510CEA3D9A5}"/>
              </a:ext>
            </a:extLst>
          </p:cNvPr>
          <p:cNvSpPr/>
          <p:nvPr userDrawn="1"/>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784">
            <a:extLst>
              <a:ext uri="{FF2B5EF4-FFF2-40B4-BE49-F238E27FC236}">
                <a16:creationId xmlns:a16="http://schemas.microsoft.com/office/drawing/2014/main" id="{42431C1D-B37A-E8D6-D683-667FD7154235}"/>
              </a:ext>
            </a:extLst>
          </p:cNvPr>
          <p:cNvSpPr/>
          <p:nvPr userDrawn="1"/>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785">
            <a:extLst>
              <a:ext uri="{FF2B5EF4-FFF2-40B4-BE49-F238E27FC236}">
                <a16:creationId xmlns:a16="http://schemas.microsoft.com/office/drawing/2014/main" id="{F95BAD31-6022-CC21-DEF6-18C81B16B1B9}"/>
              </a:ext>
            </a:extLst>
          </p:cNvPr>
          <p:cNvSpPr/>
          <p:nvPr userDrawn="1"/>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786">
            <a:extLst>
              <a:ext uri="{FF2B5EF4-FFF2-40B4-BE49-F238E27FC236}">
                <a16:creationId xmlns:a16="http://schemas.microsoft.com/office/drawing/2014/main" id="{F40BB9B4-FC68-1CB9-AADD-224CEABFC7E6}"/>
              </a:ext>
            </a:extLst>
          </p:cNvPr>
          <p:cNvSpPr/>
          <p:nvPr userDrawn="1"/>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787">
            <a:extLst>
              <a:ext uri="{FF2B5EF4-FFF2-40B4-BE49-F238E27FC236}">
                <a16:creationId xmlns:a16="http://schemas.microsoft.com/office/drawing/2014/main" id="{DE21C402-A9F5-559B-242F-B3EE03335B6E}"/>
              </a:ext>
            </a:extLst>
          </p:cNvPr>
          <p:cNvSpPr/>
          <p:nvPr userDrawn="1"/>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TextBox 6">
            <a:extLst>
              <a:ext uri="{FF2B5EF4-FFF2-40B4-BE49-F238E27FC236}">
                <a16:creationId xmlns:a16="http://schemas.microsoft.com/office/drawing/2014/main" id="{2557FF48-4FC3-BBF0-0C2F-6DD1A9513474}"/>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bg1"/>
                </a:solidFill>
                <a:latin typeface="Scotia Headline" panose="020B0503020203020204" pitchFamily="34" charset="0"/>
              </a:rPr>
              <a:t>Icons</a:t>
            </a:r>
          </a:p>
        </p:txBody>
      </p:sp>
    </p:spTree>
    <p:extLst>
      <p:ext uri="{BB962C8B-B14F-4D97-AF65-F5344CB8AC3E}">
        <p14:creationId xmlns:p14="http://schemas.microsoft.com/office/powerpoint/2010/main" val="393274834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2151250967"/>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810307134"/>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Tree>
    <p:extLst>
      <p:ext uri="{BB962C8B-B14F-4D97-AF65-F5344CB8AC3E}">
        <p14:creationId xmlns:p14="http://schemas.microsoft.com/office/powerpoint/2010/main" val="756366041"/>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3069073107"/>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userDrawn="1">
  <p:cSld name="1_BoardContent">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4861F089-F087-0631-7E8D-7F3FDB4BE999}"/>
              </a:ext>
            </a:extLst>
          </p:cNvPr>
          <p:cNvGraphicFramePr>
            <a:graphicFrameLocks noChangeAspect="1"/>
          </p:cNvGraphicFramePr>
          <p:nvPr userDrawn="1">
            <p:custDataLst>
              <p:tags r:id="rId1"/>
            </p:custDataLst>
            <p:extLst>
              <p:ext uri="{D42A27DB-BD31-4B8C-83A1-F6EECF244321}">
                <p14:modId xmlns:p14="http://schemas.microsoft.com/office/powerpoint/2010/main" val="12776352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04" imgH="403" progId="TCLayout.ActiveDocument.1">
                  <p:embed/>
                </p:oleObj>
              </mc:Choice>
              <mc:Fallback>
                <p:oleObj name="think-cell Slide" r:id="rId3" imgW="404" imgH="403" progId="TCLayout.ActiveDocument.1">
                  <p:embed/>
                  <p:pic>
                    <p:nvPicPr>
                      <p:cNvPr id="9" name="think-cell data - do not delete" hidden="1">
                        <a:extLst>
                          <a:ext uri="{FF2B5EF4-FFF2-40B4-BE49-F238E27FC236}">
                            <a16:creationId xmlns:a16="http://schemas.microsoft.com/office/drawing/2014/main" id="{4861F089-F087-0631-7E8D-7F3FDB4BE99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oAutofit/>
          </a:bodyPr>
          <a:lstStyle>
            <a:lvl1pPr rtl="0">
              <a:defRPr sz="2400"/>
            </a:lvl1pPr>
          </a:lstStyle>
          <a:p>
            <a:r>
              <a:rPr lang="en-CA"/>
              <a:t>Click to edit title</a:t>
            </a:r>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rtl="0">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rtl="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CA"/>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rtl="0">
              <a:defRPr>
                <a:latin typeface="+mn-lt"/>
                <a:ea typeface="Scotia Light" panose="020B0403020203020204" pitchFamily="34" charset="0"/>
              </a:defRPr>
            </a:lvl1pPr>
            <a:lvl2pPr marL="809635" indent="-352429" rtl="0">
              <a:buFont typeface="Scotia" panose="020B0503020203020204" pitchFamily="34" charset="0"/>
              <a:buChar char="−"/>
              <a:defRPr sz="1200">
                <a:latin typeface="+mn-lt"/>
                <a:ea typeface="Scotia Light" panose="020B0403020203020204" pitchFamily="34" charset="0"/>
              </a:defRPr>
            </a:lvl2pPr>
            <a:lvl3pPr marL="1254140" indent="-339729" rtl="0">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CA"/>
              <a:t>Click to edit content</a:t>
            </a:r>
          </a:p>
          <a:p>
            <a:pPr lvl="1"/>
            <a:r>
              <a:rPr lang="en-CA"/>
              <a:t>Second level</a:t>
            </a:r>
          </a:p>
          <a:p>
            <a:pPr lvl="2"/>
            <a:r>
              <a:rPr lang="en-CA"/>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rtl="0">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CA"/>
              <a:t>STRATEGY SLIDE REPOSITORY</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rtl="0"/>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rtl="0">
              <a:spcBef>
                <a:spcPts val="0"/>
              </a:spcBef>
              <a:buNone/>
              <a:defRPr sz="1000" spc="200" baseline="0"/>
            </a:lvl1pPr>
          </a:lstStyle>
          <a:p>
            <a:pPr lvl="0"/>
            <a:r>
              <a:rPr lang="en-CA"/>
              <a:t>INSERT SUBTITLE</a:t>
            </a:r>
          </a:p>
        </p:txBody>
      </p:sp>
    </p:spTree>
    <p:extLst>
      <p:ext uri="{BB962C8B-B14F-4D97-AF65-F5344CB8AC3E}">
        <p14:creationId xmlns:p14="http://schemas.microsoft.com/office/powerpoint/2010/main" val="115022903"/>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03">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3846953577"/>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3004074709"/>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p:cSld name="Board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1568678716"/>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Tree>
    <p:extLst>
      <p:ext uri="{BB962C8B-B14F-4D97-AF65-F5344CB8AC3E}">
        <p14:creationId xmlns:p14="http://schemas.microsoft.com/office/powerpoint/2010/main" val="98886568"/>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BoardContent_Full">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175256028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p:cSld name="BoardContent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3400007655"/>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p:cSld name="BoardContent_Sub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255983588"/>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p:cSld name="BoardContent_Full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3393236715"/>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326217138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1960677444"/>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402736782"/>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382754686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14091581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90462739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35363791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09272683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33768560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6452637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Tree>
    <p:extLst>
      <p:ext uri="{BB962C8B-B14F-4D97-AF65-F5344CB8AC3E}">
        <p14:creationId xmlns:p14="http://schemas.microsoft.com/office/powerpoint/2010/main" val="18244921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124331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userDrawn="1"/>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userDrawn="1"/>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userDrawn="1"/>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userDrawn="1"/>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3545698559"/>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userDrawn="1"/>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userDrawn="1"/>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userDrawn="1"/>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userDrawn="1"/>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userDrawn="1"/>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userDrawn="1"/>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userDrawn="1"/>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userDrawn="1"/>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userDrawn="1"/>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userDrawn="1"/>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userDrawn="1"/>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userDrawn="1"/>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userDrawn="1"/>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userDrawn="1"/>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userDrawn="1"/>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346361961"/>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Board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366238692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Tree>
    <p:extLst>
      <p:ext uri="{BB962C8B-B14F-4D97-AF65-F5344CB8AC3E}">
        <p14:creationId xmlns:p14="http://schemas.microsoft.com/office/powerpoint/2010/main" val="1525889047"/>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BoardContent_Full">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654414609"/>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BoardContent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3488194595"/>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BoardContent_Sub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066065089"/>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BoardContent_Full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3460531963"/>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2372171036"/>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2522270505"/>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4254117714"/>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userDrawn="1"/>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userDrawn="1"/>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userDrawn="1"/>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userDrawn="1"/>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userDrawn="1"/>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userDrawn="1"/>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userDrawn="1"/>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userDrawn="1"/>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userDrawn="1"/>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userDrawn="1"/>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userDrawn="1"/>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userDrawn="1"/>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userDrawn="1"/>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userDrawn="1"/>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userDrawn="1"/>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userDrawn="1"/>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userDrawn="1"/>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userDrawn="1"/>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userDrawn="1"/>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userDrawn="1"/>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userDrawn="1"/>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userDrawn="1"/>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userDrawn="1"/>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userDrawn="1"/>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userDrawn="1"/>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userDrawn="1"/>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userDrawn="1"/>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userDrawn="1"/>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userDrawn="1"/>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userDrawn="1"/>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userDrawn="1"/>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userDrawn="1"/>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userDrawn="1"/>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userDrawn="1"/>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userDrawn="1"/>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userDrawn="1"/>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userDrawn="1"/>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userDrawn="1"/>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userDrawn="1"/>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userDrawn="1"/>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userDrawn="1"/>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userDrawn="1"/>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userDrawn="1"/>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userDrawn="1"/>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userDrawn="1"/>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userDrawn="1"/>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userDrawn="1"/>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userDrawn="1"/>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userDrawn="1"/>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userDrawn="1"/>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userDrawn="1"/>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userDrawn="1"/>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userDrawn="1"/>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userDrawn="1"/>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userDrawn="1"/>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userDrawn="1"/>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userDrawn="1"/>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userDrawn="1"/>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userDrawn="1"/>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userDrawn="1"/>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userDrawn="1"/>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userDrawn="1"/>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userDrawn="1"/>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userDrawn="1"/>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userDrawn="1"/>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userDrawn="1"/>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userDrawn="1"/>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userDrawn="1"/>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userDrawn="1"/>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userDrawn="1"/>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userDrawn="1"/>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userDrawn="1"/>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userDrawn="1"/>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userDrawn="1"/>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userDrawn="1"/>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userDrawn="1"/>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userDrawn="1"/>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userDrawn="1"/>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userDrawn="1"/>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userDrawn="1"/>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userDrawn="1"/>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userDrawn="1"/>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userDrawn="1"/>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userDrawn="1"/>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userDrawn="1"/>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userDrawn="1"/>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userDrawn="1"/>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userDrawn="1"/>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userDrawn="1"/>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userDrawn="1"/>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userDrawn="1"/>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userDrawn="1"/>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userDrawn="1"/>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userDrawn="1"/>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userDrawn="1"/>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userDrawn="1"/>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userDrawn="1"/>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userDrawn="1"/>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userDrawn="1"/>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userDrawn="1"/>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userDrawn="1"/>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userDrawn="1"/>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userDrawn="1"/>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userDrawn="1"/>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userDrawn="1"/>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userDrawn="1"/>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userDrawn="1"/>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userDrawn="1"/>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userDrawn="1"/>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userDrawn="1"/>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userDrawn="1"/>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374200807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userDrawn="1"/>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userDrawn="1"/>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userDrawn="1"/>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userDrawn="1"/>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userDrawn="1"/>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userDrawn="1"/>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userDrawn="1"/>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userDrawn="1"/>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userDrawn="1"/>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userDrawn="1"/>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userDrawn="1"/>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userDrawn="1"/>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userDrawn="1"/>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userDrawn="1"/>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userDrawn="1"/>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userDrawn="1"/>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userDrawn="1"/>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userDrawn="1"/>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userDrawn="1"/>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userDrawn="1"/>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userDrawn="1"/>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userDrawn="1"/>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userDrawn="1"/>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userDrawn="1"/>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userDrawn="1"/>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userDrawn="1"/>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userDrawn="1"/>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userDrawn="1"/>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userDrawn="1"/>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userDrawn="1"/>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userDrawn="1"/>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userDrawn="1"/>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userDrawn="1"/>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userDrawn="1"/>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userDrawn="1"/>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userDrawn="1"/>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userDrawn="1"/>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userDrawn="1"/>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userDrawn="1"/>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userDrawn="1"/>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userDrawn="1"/>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userDrawn="1"/>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userDrawn="1"/>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userDrawn="1"/>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userDrawn="1"/>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userDrawn="1"/>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userDrawn="1"/>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userDrawn="1"/>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userDrawn="1"/>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userDrawn="1"/>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userDrawn="1"/>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userDrawn="1"/>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userDrawn="1"/>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userDrawn="1"/>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userDrawn="1"/>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userDrawn="1"/>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userDrawn="1"/>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userDrawn="1"/>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userDrawn="1"/>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userDrawn="1"/>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userDrawn="1"/>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userDrawn="1"/>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userDrawn="1"/>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userDrawn="1"/>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userDrawn="1"/>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userDrawn="1"/>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userDrawn="1"/>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userDrawn="1"/>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userDrawn="1"/>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userDrawn="1"/>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userDrawn="1"/>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userDrawn="1"/>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userDrawn="1"/>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userDrawn="1"/>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userDrawn="1"/>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userDrawn="1"/>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userDrawn="1"/>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userDrawn="1"/>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userDrawn="1"/>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userDrawn="1"/>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userDrawn="1"/>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userDrawn="1"/>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userDrawn="1"/>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userDrawn="1"/>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userDrawn="1"/>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userDrawn="1"/>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userDrawn="1"/>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userDrawn="1"/>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userDrawn="1"/>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userDrawn="1"/>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userDrawn="1"/>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userDrawn="1"/>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userDrawn="1"/>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userDrawn="1"/>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userDrawn="1"/>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userDrawn="1"/>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userDrawn="1"/>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userDrawn="1"/>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userDrawn="1"/>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userDrawn="1"/>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userDrawn="1"/>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userDrawn="1"/>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userDrawn="1"/>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userDrawn="1"/>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userDrawn="1"/>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userDrawn="1"/>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userDrawn="1"/>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userDrawn="1"/>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userDrawn="1"/>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userDrawn="1"/>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userDrawn="1"/>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userDrawn="1"/>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99458375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userDrawn="1"/>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userDrawn="1"/>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userDrawn="1"/>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userDrawn="1"/>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userDrawn="1"/>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userDrawn="1"/>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userDrawn="1"/>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userDrawn="1"/>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userDrawn="1"/>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userDrawn="1"/>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userDrawn="1"/>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userDrawn="1"/>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userDrawn="1"/>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userDrawn="1"/>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userDrawn="1"/>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userDrawn="1"/>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userDrawn="1"/>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userDrawn="1"/>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userDrawn="1"/>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userDrawn="1"/>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userDrawn="1"/>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userDrawn="1"/>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userDrawn="1"/>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userDrawn="1"/>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userDrawn="1"/>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userDrawn="1"/>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userDrawn="1"/>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userDrawn="1"/>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userDrawn="1"/>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userDrawn="1"/>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userDrawn="1"/>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userDrawn="1"/>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userDrawn="1"/>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userDrawn="1"/>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userDrawn="1"/>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userDrawn="1"/>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userDrawn="1"/>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userDrawn="1"/>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userDrawn="1"/>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userDrawn="1"/>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userDrawn="1"/>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userDrawn="1"/>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userDrawn="1"/>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userDrawn="1"/>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userDrawn="1"/>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userDrawn="1"/>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userDrawn="1"/>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userDrawn="1"/>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userDrawn="1"/>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userDrawn="1"/>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userDrawn="1"/>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userDrawn="1"/>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userDrawn="1"/>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userDrawn="1"/>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userDrawn="1"/>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userDrawn="1"/>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userDrawn="1"/>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userDrawn="1"/>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userDrawn="1"/>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userDrawn="1"/>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userDrawn="1"/>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userDrawn="1"/>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userDrawn="1"/>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userDrawn="1"/>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userDrawn="1"/>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userDrawn="1"/>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userDrawn="1"/>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userDrawn="1"/>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userDrawn="1"/>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userDrawn="1"/>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userDrawn="1"/>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userDrawn="1"/>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userDrawn="1"/>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userDrawn="1"/>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userDrawn="1"/>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userDrawn="1"/>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userDrawn="1"/>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userDrawn="1"/>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userDrawn="1"/>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userDrawn="1"/>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userDrawn="1"/>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userDrawn="1"/>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userDrawn="1"/>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userDrawn="1"/>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userDrawn="1"/>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userDrawn="1"/>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userDrawn="1"/>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userDrawn="1"/>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userDrawn="1"/>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userDrawn="1"/>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userDrawn="1"/>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userDrawn="1"/>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userDrawn="1"/>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userDrawn="1"/>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userDrawn="1"/>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userDrawn="1"/>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userDrawn="1"/>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userDrawn="1"/>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userDrawn="1"/>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userDrawn="1"/>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userDrawn="1"/>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userDrawn="1"/>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53021747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userDrawn="1"/>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userDrawn="1"/>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userDrawn="1"/>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userDrawn="1"/>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userDrawn="1"/>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userDrawn="1"/>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userDrawn="1"/>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userDrawn="1"/>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userDrawn="1"/>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userDrawn="1"/>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userDrawn="1"/>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userDrawn="1"/>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userDrawn="1"/>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userDrawn="1"/>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userDrawn="1"/>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userDrawn="1"/>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userDrawn="1"/>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userDrawn="1"/>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userDrawn="1"/>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userDrawn="1"/>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userDrawn="1"/>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userDrawn="1"/>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userDrawn="1"/>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userDrawn="1"/>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userDrawn="1"/>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userDrawn="1"/>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userDrawn="1"/>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userDrawn="1"/>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userDrawn="1"/>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userDrawn="1"/>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userDrawn="1"/>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userDrawn="1"/>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userDrawn="1"/>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userDrawn="1"/>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userDrawn="1"/>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userDrawn="1"/>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userDrawn="1"/>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userDrawn="1"/>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userDrawn="1"/>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userDrawn="1"/>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userDrawn="1"/>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userDrawn="1"/>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userDrawn="1"/>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userDrawn="1"/>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userDrawn="1"/>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userDrawn="1"/>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userDrawn="1"/>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userDrawn="1"/>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userDrawn="1"/>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userDrawn="1"/>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userDrawn="1"/>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userDrawn="1"/>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209899990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userDrawn="1"/>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userDrawn="1"/>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userDrawn="1"/>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userDrawn="1"/>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userDrawn="1"/>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userDrawn="1"/>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userDrawn="1"/>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userDrawn="1"/>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userDrawn="1"/>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userDrawn="1"/>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userDrawn="1"/>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userDrawn="1"/>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userDrawn="1"/>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userDrawn="1"/>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userDrawn="1"/>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userDrawn="1"/>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userDrawn="1"/>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userDrawn="1"/>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userDrawn="1"/>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userDrawn="1"/>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userDrawn="1"/>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userDrawn="1"/>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userDrawn="1"/>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userDrawn="1"/>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userDrawn="1"/>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userDrawn="1"/>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userDrawn="1"/>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userDrawn="1"/>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userDrawn="1"/>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userDrawn="1"/>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userDrawn="1"/>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userDrawn="1"/>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userDrawn="1"/>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userDrawn="1"/>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userDrawn="1"/>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userDrawn="1"/>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userDrawn="1"/>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userDrawn="1"/>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userDrawn="1"/>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userDrawn="1"/>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userDrawn="1"/>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userDrawn="1"/>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userDrawn="1"/>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userDrawn="1"/>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userDrawn="1"/>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userDrawn="1"/>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userDrawn="1"/>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userDrawn="1"/>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userDrawn="1"/>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userDrawn="1"/>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userDrawn="1"/>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userDrawn="1"/>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userDrawn="1"/>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userDrawn="1"/>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userDrawn="1"/>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userDrawn="1"/>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userDrawn="1"/>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userDrawn="1"/>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userDrawn="1"/>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userDrawn="1"/>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userDrawn="1"/>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userDrawn="1"/>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userDrawn="1"/>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userDrawn="1"/>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userDrawn="1"/>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userDrawn="1"/>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userDrawn="1"/>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userDrawn="1"/>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userDrawn="1"/>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userDrawn="1"/>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userDrawn="1"/>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userDrawn="1"/>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userDrawn="1"/>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userDrawn="1"/>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userDrawn="1"/>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userDrawn="1"/>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userDrawn="1"/>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userDrawn="1"/>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userDrawn="1"/>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userDrawn="1"/>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userDrawn="1"/>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23982836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userDrawn="1"/>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userDrawn="1"/>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userDrawn="1"/>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userDrawn="1"/>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userDrawn="1"/>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userDrawn="1"/>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userDrawn="1"/>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userDrawn="1"/>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341295684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userDrawn="1"/>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14695333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userDrawn="1"/>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userDrawn="1"/>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userDrawn="1"/>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userDrawn="1"/>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userDrawn="1"/>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userDrawn="1"/>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userDrawn="1"/>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Tree>
    <p:extLst>
      <p:ext uri="{BB962C8B-B14F-4D97-AF65-F5344CB8AC3E}">
        <p14:creationId xmlns:p14="http://schemas.microsoft.com/office/powerpoint/2010/main" val="23292940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userDrawn="1"/>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18759935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Dig_Appendix">
    <p:spTree>
      <p:nvGrpSpPr>
        <p:cNvPr id="1" name=""/>
        <p:cNvGrpSpPr/>
        <p:nvPr/>
      </p:nvGrpSpPr>
      <p:grpSpPr>
        <a:xfrm>
          <a:off x="0" y="0"/>
          <a:ext cx="0" cy="0"/>
          <a:chOff x="0" y="0"/>
          <a:chExt cx="0" cy="0"/>
        </a:xfrm>
      </p:grpSpPr>
      <p:sp>
        <p:nvSpPr>
          <p:cNvPr id="4" name="Rectangle">
            <a:extLst>
              <a:ext uri="{FF2B5EF4-FFF2-40B4-BE49-F238E27FC236}">
                <a16:creationId xmlns:a16="http://schemas.microsoft.com/office/drawing/2014/main" id="{AEBB54D1-3BEA-CA4E-B94F-0B288C88A379}"/>
              </a:ext>
            </a:extLst>
          </p:cNvPr>
          <p:cNvSpPr/>
          <p:nvPr userDrawn="1"/>
        </p:nvSpPr>
        <p:spPr>
          <a:xfrm flipH="1">
            <a:off x="397" y="0"/>
            <a:ext cx="4066768" cy="6858000"/>
          </a:xfrm>
          <a:prstGeom prst="rect">
            <a:avLst/>
          </a:prstGeom>
          <a:solidFill>
            <a:srgbClr val="EC111A"/>
          </a:solidFill>
          <a:ln w="12700">
            <a:miter lim="400000"/>
          </a:ln>
        </p:spPr>
        <p:txBody>
          <a:bodyPr lIns="45716" rIns="45716" anchor="ctr"/>
          <a:lstStyle/>
          <a:p>
            <a:pPr marL="0" marR="0" lvl="0" indent="0" defTabSz="914411" eaLnBrk="1" fontAlgn="auto" latinLnBrk="0" hangingPunct="1">
              <a:lnSpc>
                <a:spcPct val="100000"/>
              </a:lnSpc>
              <a:spcBef>
                <a:spcPts val="0"/>
              </a:spcBef>
              <a:spcAft>
                <a:spcPts val="0"/>
              </a:spcAft>
              <a:buClrTx/>
              <a:buSzTx/>
              <a:buFontTx/>
              <a:buNone/>
              <a:tabLst/>
              <a:defRPr>
                <a:solidFill>
                  <a:srgbClr val="1FA2DC"/>
                </a:solidFill>
              </a:defRPr>
            </a:pPr>
            <a:endParaRPr kumimoji="0" sz="3600" b="0" i="0" u="none" strike="noStrike" kern="0" cap="none" spc="0" normalizeH="0" baseline="0" noProof="0">
              <a:ln>
                <a:noFill/>
              </a:ln>
              <a:solidFill>
                <a:srgbClr val="1FA2DC"/>
              </a:solidFill>
              <a:effectLst/>
              <a:uLnTx/>
              <a:uFillTx/>
              <a:latin typeface="Scotia Regular" panose="020B0503020203020204" pitchFamily="34" charset="0"/>
              <a:cs typeface="Helvetica"/>
            </a:endParaRPr>
          </a:p>
        </p:txBody>
      </p:sp>
      <p:sp>
        <p:nvSpPr>
          <p:cNvPr id="5" name="Text Placeholder 2"/>
          <p:cNvSpPr>
            <a:spLocks noGrp="1"/>
          </p:cNvSpPr>
          <p:nvPr>
            <p:ph type="body" sz="quarter" idx="11" hasCustomPrompt="1"/>
          </p:nvPr>
        </p:nvSpPr>
        <p:spPr>
          <a:xfrm>
            <a:off x="362900" y="1022564"/>
            <a:ext cx="3330000" cy="830998"/>
          </a:xfrm>
        </p:spPr>
        <p:txBody>
          <a:bodyPr>
            <a:noAutofit/>
          </a:bodyPr>
          <a:lstStyle>
            <a:lvl1pPr marL="0" indent="0">
              <a:buNone/>
              <a:defRPr sz="5401">
                <a:solidFill>
                  <a:schemeClr val="bg1"/>
                </a:solidFill>
                <a:latin typeface="+mj-lt"/>
              </a:defRPr>
            </a:lvl1pPr>
          </a:lstStyle>
          <a:p>
            <a:pPr lvl="0"/>
            <a:r>
              <a:rPr lang="en-US"/>
              <a:t>Section title</a:t>
            </a:r>
            <a:endParaRPr lang="en-CA"/>
          </a:p>
        </p:txBody>
      </p:sp>
      <p:sp>
        <p:nvSpPr>
          <p:cNvPr id="6" name="Slide Number Placeholder 2">
            <a:extLst>
              <a:ext uri="{FF2B5EF4-FFF2-40B4-BE49-F238E27FC236}">
                <a16:creationId xmlns:a16="http://schemas.microsoft.com/office/drawing/2014/main" id="{AA1B9F85-9C81-4350-81D2-7513DB1040E0}"/>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2961437045"/>
      </p:ext>
    </p:extLst>
  </p:cSld>
  <p:clrMapOvr>
    <a:masterClrMapping/>
  </p:clrMapOvr>
  <p:hf hdr="0" ftr="0" dt="0"/>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1830619456"/>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3163396932"/>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p:cSld name="Board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238588707"/>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p:cSld name="BoardContent_Sub">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Tree>
    <p:extLst>
      <p:ext uri="{BB962C8B-B14F-4D97-AF65-F5344CB8AC3E}">
        <p14:creationId xmlns:p14="http://schemas.microsoft.com/office/powerpoint/2010/main" val="2743272073"/>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p:cSld name="BoardContent_Full">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32110795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p:cSld name="BoardContent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595838576"/>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p:cSld name="BoardContent_Sub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38"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900" spc="200" baseline="0"/>
            </a:lvl1pPr>
          </a:lstStyle>
          <a:p>
            <a:pPr lvl="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29624799"/>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p:cSld name="BoardContent_Full_Ta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355187"/>
          </a:xfrm>
        </p:spPr>
        <p:txBody>
          <a:bodyPr anchor="t">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670060848"/>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406167108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4013153581"/>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4278777926"/>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407247203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7183802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424118254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27541487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98858093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4257196" y="3941013"/>
            <a:ext cx="419286"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p:nvPicPr>
        <p:blipFill>
          <a:blip>
            <a:extLst>
              <a:ext uri="{96DAC541-7B7A-43D3-8B79-37D633B846F1}">
                <asvg:svgBlip xmlns:asvg="http://schemas.microsoft.com/office/drawing/2016/SVG/main" r:embed="rId72"/>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p:nvPicPr>
        <p:blipFill>
          <a:blip>
            <a:extLst>
              <a:ext uri="{96DAC541-7B7A-43D3-8B79-37D633B846F1}">
                <asvg:svgBlip xmlns:asvg="http://schemas.microsoft.com/office/drawing/2016/SVG/main" r:embed="rId73"/>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p:nvPicPr>
        <p:blipFill>
          <a:blip>
            <a:extLst>
              <a:ext uri="{96DAC541-7B7A-43D3-8B79-37D633B846F1}">
                <asvg:svgBlip xmlns:asvg="http://schemas.microsoft.com/office/drawing/2016/SVG/main" r:embed="rId74"/>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34619995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34546443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Tree>
    <p:extLst>
      <p:ext uri="{BB962C8B-B14F-4D97-AF65-F5344CB8AC3E}">
        <p14:creationId xmlns:p14="http://schemas.microsoft.com/office/powerpoint/2010/main" val="29038162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on slides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19654497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userDrawn="1"/>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userDrawn="1"/>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userDrawn="1"/>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userDrawn="1"/>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2157909706"/>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userDrawn="1"/>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userDrawn="1"/>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userDrawn="1"/>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userDrawn="1"/>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userDrawn="1"/>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userDrawn="1"/>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userDrawn="1"/>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userDrawn="1"/>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userDrawn="1"/>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userDrawn="1"/>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userDrawn="1"/>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userDrawn="1"/>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userDrawn="1"/>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userDrawn="1"/>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4030131166"/>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BoardConten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94BCD5C-1849-7473-8A4B-1903E617F620}"/>
              </a:ext>
            </a:extLst>
          </p:cNvPr>
          <p:cNvGraphicFramePr>
            <a:graphicFrameLocks/>
          </p:cNvGraphicFramePr>
          <p:nvPr userDrawn="1">
            <p:custDataLst>
              <p:tags r:id="rId1"/>
            </p:custDataLst>
            <p:extLst>
              <p:ext uri="{D42A27DB-BD31-4B8C-83A1-F6EECF244321}">
                <p14:modId xmlns:p14="http://schemas.microsoft.com/office/powerpoint/2010/main" val="10584121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8" name="think-cell data - do not delete" hidden="1">
                        <a:extLst>
                          <a:ext uri="{FF2B5EF4-FFF2-40B4-BE49-F238E27FC236}">
                            <a16:creationId xmlns:a16="http://schemas.microsoft.com/office/drawing/2014/main" id="{D94BCD5C-1849-7473-8A4B-1903E617F62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416207954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BoardContent_Sub">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4BCA2E5-4952-4151-FB2B-D0F4F2FA470B}"/>
              </a:ext>
            </a:extLst>
          </p:cNvPr>
          <p:cNvGraphicFramePr>
            <a:graphicFrameLocks/>
          </p:cNvGraphicFramePr>
          <p:nvPr userDrawn="1">
            <p:custDataLst>
              <p:tags r:id="rId1"/>
            </p:custDataLst>
            <p:extLst>
              <p:ext uri="{D42A27DB-BD31-4B8C-83A1-F6EECF244321}">
                <p14:modId xmlns:p14="http://schemas.microsoft.com/office/powerpoint/2010/main" val="22062711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7" name="think-cell data - do not delete" hidden="1">
                        <a:extLst>
                          <a:ext uri="{FF2B5EF4-FFF2-40B4-BE49-F238E27FC236}">
                            <a16:creationId xmlns:a16="http://schemas.microsoft.com/office/drawing/2014/main" id="{64BCA2E5-4952-4151-FB2B-D0F4F2FA470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11" name="Text Placeholder 7">
            <a:extLst>
              <a:ext uri="{FF2B5EF4-FFF2-40B4-BE49-F238E27FC236}">
                <a16:creationId xmlns:a16="http://schemas.microsoft.com/office/drawing/2014/main" id="{76FB1E72-726F-A488-3DBC-F00072600D93}"/>
              </a:ext>
            </a:extLst>
          </p:cNvPr>
          <p:cNvSpPr>
            <a:spLocks noGrp="1"/>
          </p:cNvSpPr>
          <p:nvPr>
            <p:ph type="body" sz="quarter" idx="15" hasCustomPrompt="1"/>
          </p:nvPr>
        </p:nvSpPr>
        <p:spPr>
          <a:xfrm>
            <a:off x="515939" y="1672753"/>
            <a:ext cx="5400000" cy="180000"/>
          </a:xfrm>
        </p:spPr>
        <p:txBody>
          <a:bodyPr vert="horz" lIns="0" tIns="0" rIns="0" bIns="0" rtlCol="0" anchor="ctr">
            <a:noAutofit/>
          </a:bodyPr>
          <a:lstStyle>
            <a:lvl1pPr marL="0" indent="0">
              <a:buNone/>
              <a:defRPr lang="en-US" sz="1300" b="1" cap="all" spc="201" baseline="0" dirty="0">
                <a:ea typeface="Scotia Light" panose="020B0403020203020204" pitchFamily="34" charset="0"/>
              </a:defRPr>
            </a:lvl1pPr>
          </a:lstStyle>
          <a:p>
            <a:pPr marL="447680" lvl="0" indent="-447680"/>
            <a:r>
              <a:rPr lang="en-US"/>
              <a:t>CLICK TO EDIT SUBTITLE</a:t>
            </a:r>
          </a:p>
        </p:txBody>
      </p:sp>
    </p:spTree>
    <p:extLst>
      <p:ext uri="{BB962C8B-B14F-4D97-AF65-F5344CB8AC3E}">
        <p14:creationId xmlns:p14="http://schemas.microsoft.com/office/powerpoint/2010/main" val="3525748448"/>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BoardContent_Full">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83108EA5-4770-386D-F279-2BDAE8EF7DD3}"/>
              </a:ext>
            </a:extLst>
          </p:cNvPr>
          <p:cNvGraphicFramePr>
            <a:graphicFrameLocks/>
          </p:cNvGraphicFramePr>
          <p:nvPr userDrawn="1">
            <p:custDataLst>
              <p:tags r:id="rId1"/>
            </p:custDataLst>
            <p:extLst>
              <p:ext uri="{D42A27DB-BD31-4B8C-83A1-F6EECF244321}">
                <p14:modId xmlns:p14="http://schemas.microsoft.com/office/powerpoint/2010/main" val="21677483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8" name="think-cell data - do not delete" hidden="1">
                        <a:extLst>
                          <a:ext uri="{FF2B5EF4-FFF2-40B4-BE49-F238E27FC236}">
                            <a16:creationId xmlns:a16="http://schemas.microsoft.com/office/drawing/2014/main" id="{83108EA5-4770-386D-F279-2BDAE8EF7DD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355187"/>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4290735167"/>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BoardContent_Tag">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5339CF7F-F7A7-02F0-59F4-1E7BB9466520}"/>
              </a:ext>
            </a:extLst>
          </p:cNvPr>
          <p:cNvGraphicFramePr>
            <a:graphicFrameLocks noChangeAspect="1"/>
          </p:cNvGraphicFramePr>
          <p:nvPr userDrawn="1">
            <p:custDataLst>
              <p:tags r:id="rId1"/>
            </p:custDataLst>
            <p:extLst>
              <p:ext uri="{D42A27DB-BD31-4B8C-83A1-F6EECF244321}">
                <p14:modId xmlns:p14="http://schemas.microsoft.com/office/powerpoint/2010/main" val="15788991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9" name="think-cell data - do not delete" hidden="1">
                        <a:extLst>
                          <a:ext uri="{FF2B5EF4-FFF2-40B4-BE49-F238E27FC236}">
                            <a16:creationId xmlns:a16="http://schemas.microsoft.com/office/drawing/2014/main" id="{5339CF7F-F7A7-02F0-59F4-1E7BB946652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962849850"/>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BoardContent_Sub_Tag">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15DB4185-2C0C-F562-EFC1-51DABCBFCD31}"/>
              </a:ext>
            </a:extLst>
          </p:cNvPr>
          <p:cNvGraphicFramePr>
            <a:graphicFrameLocks noChangeAspect="1"/>
          </p:cNvGraphicFramePr>
          <p:nvPr userDrawn="1">
            <p:custDataLst>
              <p:tags r:id="rId1"/>
            </p:custDataLst>
            <p:extLst>
              <p:ext uri="{D42A27DB-BD31-4B8C-83A1-F6EECF244321}">
                <p14:modId xmlns:p14="http://schemas.microsoft.com/office/powerpoint/2010/main" val="30052057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10" name="think-cell data - do not delete" hidden="1">
                        <a:extLst>
                          <a:ext uri="{FF2B5EF4-FFF2-40B4-BE49-F238E27FC236}">
                            <a16:creationId xmlns:a16="http://schemas.microsoft.com/office/drawing/2014/main" id="{15DB4185-2C0C-F562-EFC1-51DABCBFCD3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vert="horz" lIns="0" tIns="0" rIns="0" bIns="0" rtlCol="0" anchor="ctr">
            <a:noAutofit/>
          </a:bodyPr>
          <a:lstStyle>
            <a:lvl1pPr marL="0" indent="0">
              <a:buNone/>
              <a:defRPr lang="en-US" sz="1300" b="1" cap="all" spc="201" baseline="0" dirty="0">
                <a:ea typeface="Scotia Light" panose="020B0403020203020204" pitchFamily="34" charset="0"/>
              </a:defRPr>
            </a:lvl1pPr>
          </a:lstStyle>
          <a:p>
            <a:pPr marL="447680" lvl="0" indent="-44768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1953434293"/>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BoardContent_Full_Tag">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A7188679-3A56-6350-A21C-D8BCD799543C}"/>
              </a:ext>
            </a:extLst>
          </p:cNvPr>
          <p:cNvGraphicFramePr>
            <a:graphicFrameLocks noChangeAspect="1"/>
          </p:cNvGraphicFramePr>
          <p:nvPr userDrawn="1">
            <p:custDataLst>
              <p:tags r:id="rId1"/>
            </p:custDataLst>
            <p:extLst>
              <p:ext uri="{D42A27DB-BD31-4B8C-83A1-F6EECF244321}">
                <p14:modId xmlns:p14="http://schemas.microsoft.com/office/powerpoint/2010/main" val="9724169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9" name="think-cell data - do not delete" hidden="1">
                        <a:extLst>
                          <a:ext uri="{FF2B5EF4-FFF2-40B4-BE49-F238E27FC236}">
                            <a16:creationId xmlns:a16="http://schemas.microsoft.com/office/drawing/2014/main" id="{A7188679-3A56-6350-A21C-D8BCD799543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355187"/>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1420590160"/>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43662546"/>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3208918253"/>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Divider_Red">
    <p:bg>
      <p:bgPr>
        <a:solidFill>
          <a:srgbClr val="EC111A"/>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bg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bg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1597737689"/>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385535167"/>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userDrawn="1"/>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userDrawn="1"/>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userDrawn="1"/>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userDrawn="1"/>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userDrawn="1"/>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userDrawn="1"/>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userDrawn="1"/>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userDrawn="1"/>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userDrawn="1"/>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userDrawn="1"/>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userDrawn="1"/>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userDrawn="1"/>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userDrawn="1"/>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userDrawn="1"/>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userDrawn="1"/>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userDrawn="1"/>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userDrawn="1"/>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userDrawn="1"/>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userDrawn="1"/>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userDrawn="1"/>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userDrawn="1"/>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userDrawn="1"/>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userDrawn="1"/>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userDrawn="1"/>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userDrawn="1"/>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userDrawn="1"/>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userDrawn="1"/>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userDrawn="1"/>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userDrawn="1"/>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userDrawn="1"/>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userDrawn="1"/>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userDrawn="1"/>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userDrawn="1"/>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userDrawn="1"/>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userDrawn="1"/>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userDrawn="1"/>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userDrawn="1"/>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userDrawn="1"/>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userDrawn="1"/>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userDrawn="1"/>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userDrawn="1"/>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userDrawn="1"/>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userDrawn="1"/>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userDrawn="1"/>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userDrawn="1"/>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userDrawn="1"/>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userDrawn="1"/>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userDrawn="1"/>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userDrawn="1"/>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userDrawn="1"/>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userDrawn="1"/>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userDrawn="1"/>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userDrawn="1"/>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userDrawn="1"/>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userDrawn="1"/>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userDrawn="1"/>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userDrawn="1"/>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userDrawn="1"/>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userDrawn="1"/>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userDrawn="1"/>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userDrawn="1"/>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userDrawn="1"/>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userDrawn="1"/>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userDrawn="1"/>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userDrawn="1"/>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userDrawn="1"/>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userDrawn="1"/>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userDrawn="1"/>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userDrawn="1"/>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userDrawn="1"/>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userDrawn="1"/>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userDrawn="1"/>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userDrawn="1"/>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userDrawn="1"/>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userDrawn="1"/>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userDrawn="1"/>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userDrawn="1"/>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userDrawn="1"/>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userDrawn="1"/>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userDrawn="1"/>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userDrawn="1"/>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userDrawn="1"/>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userDrawn="1"/>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userDrawn="1"/>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userDrawn="1"/>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userDrawn="1"/>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userDrawn="1"/>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userDrawn="1"/>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userDrawn="1"/>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userDrawn="1"/>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userDrawn="1"/>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userDrawn="1"/>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userDrawn="1"/>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userDrawn="1"/>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userDrawn="1"/>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userDrawn="1"/>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userDrawn="1"/>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userDrawn="1"/>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userDrawn="1"/>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userDrawn="1"/>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userDrawn="1"/>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userDrawn="1"/>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userDrawn="1"/>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userDrawn="1"/>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userDrawn="1"/>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userDrawn="1"/>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userDrawn="1"/>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userDrawn="1"/>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userDrawn="1"/>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userDrawn="1"/>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userDrawn="1"/>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24792898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userDrawn="1"/>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userDrawn="1"/>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userDrawn="1"/>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userDrawn="1"/>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userDrawn="1"/>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userDrawn="1"/>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userDrawn="1"/>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userDrawn="1"/>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userDrawn="1"/>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userDrawn="1"/>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userDrawn="1"/>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userDrawn="1"/>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userDrawn="1"/>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userDrawn="1"/>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userDrawn="1"/>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userDrawn="1"/>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userDrawn="1"/>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userDrawn="1"/>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userDrawn="1"/>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userDrawn="1"/>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userDrawn="1"/>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userDrawn="1"/>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userDrawn="1"/>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userDrawn="1"/>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userDrawn="1"/>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userDrawn="1"/>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userDrawn="1"/>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userDrawn="1"/>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userDrawn="1"/>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userDrawn="1"/>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userDrawn="1"/>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userDrawn="1"/>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userDrawn="1"/>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userDrawn="1"/>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userDrawn="1"/>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userDrawn="1"/>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userDrawn="1"/>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userDrawn="1"/>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userDrawn="1"/>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userDrawn="1"/>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userDrawn="1"/>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userDrawn="1"/>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userDrawn="1"/>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userDrawn="1"/>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userDrawn="1"/>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userDrawn="1"/>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userDrawn="1"/>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userDrawn="1"/>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userDrawn="1"/>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userDrawn="1"/>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userDrawn="1"/>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userDrawn="1"/>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userDrawn="1"/>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userDrawn="1"/>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userDrawn="1"/>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userDrawn="1"/>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userDrawn="1"/>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userDrawn="1"/>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userDrawn="1"/>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userDrawn="1"/>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userDrawn="1"/>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userDrawn="1"/>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userDrawn="1"/>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userDrawn="1"/>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userDrawn="1"/>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userDrawn="1"/>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userDrawn="1"/>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userDrawn="1"/>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userDrawn="1"/>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userDrawn="1"/>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userDrawn="1"/>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userDrawn="1"/>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userDrawn="1"/>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userDrawn="1"/>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userDrawn="1"/>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userDrawn="1"/>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userDrawn="1"/>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userDrawn="1"/>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userDrawn="1"/>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userDrawn="1"/>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userDrawn="1"/>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userDrawn="1"/>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userDrawn="1"/>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userDrawn="1"/>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userDrawn="1"/>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userDrawn="1"/>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userDrawn="1"/>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userDrawn="1"/>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userDrawn="1"/>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userDrawn="1"/>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userDrawn="1"/>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userDrawn="1"/>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userDrawn="1"/>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userDrawn="1"/>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userDrawn="1"/>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userDrawn="1"/>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userDrawn="1"/>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userDrawn="1"/>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userDrawn="1"/>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userDrawn="1"/>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userDrawn="1"/>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userDrawn="1"/>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userDrawn="1"/>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userDrawn="1"/>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userDrawn="1"/>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userDrawn="1"/>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userDrawn="1"/>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userDrawn="1"/>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userDrawn="1"/>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userDrawn="1"/>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userDrawn="1"/>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userDrawn="1"/>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97896650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userDrawn="1"/>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userDrawn="1"/>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userDrawn="1"/>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userDrawn="1"/>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userDrawn="1"/>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userDrawn="1"/>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userDrawn="1"/>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userDrawn="1"/>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userDrawn="1"/>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userDrawn="1"/>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userDrawn="1"/>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userDrawn="1"/>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userDrawn="1"/>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userDrawn="1"/>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userDrawn="1"/>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userDrawn="1"/>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userDrawn="1"/>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userDrawn="1"/>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userDrawn="1"/>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userDrawn="1"/>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userDrawn="1"/>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userDrawn="1"/>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userDrawn="1"/>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userDrawn="1"/>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userDrawn="1"/>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userDrawn="1"/>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userDrawn="1"/>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userDrawn="1"/>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userDrawn="1"/>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userDrawn="1"/>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userDrawn="1"/>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userDrawn="1"/>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userDrawn="1"/>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userDrawn="1"/>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userDrawn="1"/>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userDrawn="1"/>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userDrawn="1"/>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userDrawn="1"/>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userDrawn="1"/>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userDrawn="1"/>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userDrawn="1"/>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userDrawn="1"/>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userDrawn="1"/>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userDrawn="1"/>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userDrawn="1"/>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userDrawn="1"/>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userDrawn="1"/>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userDrawn="1"/>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userDrawn="1"/>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userDrawn="1"/>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userDrawn="1"/>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userDrawn="1"/>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userDrawn="1"/>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userDrawn="1"/>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userDrawn="1"/>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userDrawn="1"/>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userDrawn="1"/>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userDrawn="1"/>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userDrawn="1"/>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userDrawn="1"/>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userDrawn="1"/>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userDrawn="1"/>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userDrawn="1"/>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userDrawn="1"/>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userDrawn="1"/>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userDrawn="1"/>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userDrawn="1"/>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userDrawn="1"/>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userDrawn="1"/>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userDrawn="1"/>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userDrawn="1"/>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userDrawn="1"/>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userDrawn="1"/>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userDrawn="1"/>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userDrawn="1"/>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userDrawn="1"/>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userDrawn="1"/>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userDrawn="1"/>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userDrawn="1"/>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userDrawn="1"/>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userDrawn="1"/>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userDrawn="1"/>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userDrawn="1"/>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userDrawn="1"/>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userDrawn="1"/>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userDrawn="1"/>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userDrawn="1"/>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userDrawn="1"/>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userDrawn="1"/>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userDrawn="1"/>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userDrawn="1"/>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userDrawn="1"/>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userDrawn="1"/>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userDrawn="1"/>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userDrawn="1"/>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userDrawn="1"/>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userDrawn="1"/>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userDrawn="1"/>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userDrawn="1"/>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userDrawn="1"/>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userDrawn="1"/>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userDrawn="1"/>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51628284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userDrawn="1"/>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userDrawn="1"/>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userDrawn="1"/>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userDrawn="1"/>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userDrawn="1"/>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userDrawn="1"/>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userDrawn="1"/>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userDrawn="1"/>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userDrawn="1"/>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userDrawn="1"/>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userDrawn="1"/>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userDrawn="1"/>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userDrawn="1"/>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userDrawn="1"/>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userDrawn="1"/>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userDrawn="1"/>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userDrawn="1"/>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userDrawn="1"/>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userDrawn="1"/>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userDrawn="1"/>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userDrawn="1"/>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userDrawn="1"/>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userDrawn="1"/>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userDrawn="1"/>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userDrawn="1"/>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userDrawn="1"/>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userDrawn="1"/>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userDrawn="1"/>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userDrawn="1"/>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userDrawn="1"/>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userDrawn="1"/>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userDrawn="1"/>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userDrawn="1"/>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userDrawn="1"/>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userDrawn="1"/>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userDrawn="1"/>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userDrawn="1"/>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userDrawn="1"/>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userDrawn="1"/>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userDrawn="1"/>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userDrawn="1"/>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userDrawn="1"/>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userDrawn="1"/>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userDrawn="1"/>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userDrawn="1"/>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userDrawn="1"/>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userDrawn="1"/>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userDrawn="1"/>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userDrawn="1"/>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userDrawn="1"/>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userDrawn="1"/>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userDrawn="1"/>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22176668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userDrawn="1"/>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userDrawn="1"/>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userDrawn="1"/>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userDrawn="1"/>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userDrawn="1"/>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userDrawn="1"/>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userDrawn="1"/>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userDrawn="1"/>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userDrawn="1"/>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userDrawn="1"/>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userDrawn="1"/>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userDrawn="1"/>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userDrawn="1"/>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userDrawn="1"/>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userDrawn="1"/>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userDrawn="1"/>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userDrawn="1"/>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userDrawn="1"/>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userDrawn="1"/>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userDrawn="1"/>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userDrawn="1"/>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userDrawn="1"/>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userDrawn="1"/>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userDrawn="1"/>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userDrawn="1"/>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userDrawn="1"/>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userDrawn="1"/>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userDrawn="1"/>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userDrawn="1"/>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userDrawn="1"/>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userDrawn="1"/>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userDrawn="1"/>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userDrawn="1"/>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userDrawn="1"/>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userDrawn="1"/>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userDrawn="1"/>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userDrawn="1"/>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userDrawn="1"/>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userDrawn="1"/>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userDrawn="1"/>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userDrawn="1"/>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userDrawn="1"/>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userDrawn="1"/>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userDrawn="1"/>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userDrawn="1"/>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userDrawn="1"/>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userDrawn="1"/>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userDrawn="1"/>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userDrawn="1"/>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userDrawn="1"/>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userDrawn="1"/>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userDrawn="1"/>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userDrawn="1"/>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userDrawn="1"/>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userDrawn="1"/>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userDrawn="1"/>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userDrawn="1"/>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userDrawn="1"/>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userDrawn="1"/>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userDrawn="1"/>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userDrawn="1"/>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userDrawn="1"/>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userDrawn="1"/>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userDrawn="1"/>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userDrawn="1"/>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userDrawn="1"/>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userDrawn="1"/>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userDrawn="1"/>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userDrawn="1"/>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userDrawn="1"/>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userDrawn="1"/>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userDrawn="1"/>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userDrawn="1"/>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userDrawn="1"/>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userDrawn="1"/>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userDrawn="1"/>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userDrawn="1"/>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userDrawn="1"/>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userDrawn="1"/>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userDrawn="1"/>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userDrawn="1"/>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59645399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userDrawn="1"/>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userDrawn="1"/>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userDrawn="1"/>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userDrawn="1"/>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userDrawn="1"/>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userDrawn="1"/>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userDrawn="1"/>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userDrawn="1"/>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10768717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userDrawn="1"/>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307513862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userDrawn="1"/>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userDrawn="1"/>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userDrawn="1"/>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userDrawn="1"/>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userDrawn="1"/>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userDrawn="1"/>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userDrawn="1"/>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Tree>
    <p:extLst>
      <p:ext uri="{BB962C8B-B14F-4D97-AF65-F5344CB8AC3E}">
        <p14:creationId xmlns:p14="http://schemas.microsoft.com/office/powerpoint/2010/main" val="37992946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userDrawn="1"/>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14007253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Cover_Tan">
    <p:bg>
      <p:bgPr>
        <a:solidFill>
          <a:srgbClr val="F5EFE8"/>
        </a:solidFill>
        <a:effectLst/>
      </p:bgPr>
    </p:bg>
    <p:spTree>
      <p:nvGrpSpPr>
        <p:cNvPr id="1" name=""/>
        <p:cNvGrpSpPr/>
        <p:nvPr/>
      </p:nvGrpSpPr>
      <p:grpSpPr>
        <a:xfrm>
          <a:off x="0" y="0"/>
          <a:ext cx="0" cy="0"/>
          <a:chOff x="0" y="0"/>
          <a:chExt cx="0" cy="0"/>
        </a:xfrm>
      </p:grpSpPr>
      <p:sp>
        <p:nvSpPr>
          <p:cNvPr id="8" name="Text Placeholder 10">
            <a:extLst>
              <a:ext uri="{FF2B5EF4-FFF2-40B4-BE49-F238E27FC236}">
                <a16:creationId xmlns:a16="http://schemas.microsoft.com/office/drawing/2014/main" id="{EFCCAD94-4443-494C-C9B2-09646321F61D}"/>
              </a:ext>
            </a:extLst>
          </p:cNvPr>
          <p:cNvSpPr>
            <a:spLocks noGrp="1"/>
          </p:cNvSpPr>
          <p:nvPr>
            <p:ph type="body" sz="quarter" idx="10" hasCustomPrompt="1"/>
          </p:nvPr>
        </p:nvSpPr>
        <p:spPr>
          <a:xfrm>
            <a:off x="766444" y="3646929"/>
            <a:ext cx="7012051" cy="324000"/>
          </a:xfrm>
          <a:prstGeom prst="rect">
            <a:avLst/>
          </a:prstGeom>
        </p:spPr>
        <p:txBody>
          <a:bodyPr anchor="ctr">
            <a:noAutofit/>
          </a:bodyPr>
          <a:lstStyle>
            <a:lvl1pPr marL="0" indent="0">
              <a:buNone/>
              <a:defRPr sz="1400">
                <a:solidFill>
                  <a:schemeClr val="tx1"/>
                </a:solidFill>
                <a:latin typeface="+mn-lt"/>
                <a:cs typeface="Times New Roman" panose="02020603050405020304" pitchFamily="18"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subtitle</a:t>
            </a:r>
          </a:p>
        </p:txBody>
      </p:sp>
      <p:sp>
        <p:nvSpPr>
          <p:cNvPr id="9" name="Text Placeholder 12">
            <a:extLst>
              <a:ext uri="{FF2B5EF4-FFF2-40B4-BE49-F238E27FC236}">
                <a16:creationId xmlns:a16="http://schemas.microsoft.com/office/drawing/2014/main" id="{35FEED57-154C-1388-BD3B-846705880553}"/>
              </a:ext>
            </a:extLst>
          </p:cNvPr>
          <p:cNvSpPr>
            <a:spLocks noGrp="1"/>
          </p:cNvSpPr>
          <p:nvPr>
            <p:ph type="body" sz="quarter" idx="11" hasCustomPrompt="1"/>
          </p:nvPr>
        </p:nvSpPr>
        <p:spPr>
          <a:xfrm>
            <a:off x="766445" y="5485448"/>
            <a:ext cx="4899025" cy="324000"/>
          </a:xfrm>
          <a:prstGeom prst="rect">
            <a:avLst/>
          </a:prstGeom>
        </p:spPr>
        <p:txBody>
          <a:bodyPr anchor="ctr">
            <a:noAutofit/>
          </a:bodyPr>
          <a:lstStyle>
            <a:lvl1pPr marL="0" indent="0">
              <a:buNone/>
              <a:defRPr sz="1400">
                <a:solidFill>
                  <a:schemeClr val="tx1"/>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Click to edit date</a:t>
            </a:r>
          </a:p>
        </p:txBody>
      </p:sp>
      <p:grpSp>
        <p:nvGrpSpPr>
          <p:cNvPr id="4" name="Group 3">
            <a:extLst>
              <a:ext uri="{FF2B5EF4-FFF2-40B4-BE49-F238E27FC236}">
                <a16:creationId xmlns:a16="http://schemas.microsoft.com/office/drawing/2014/main" id="{A63FEBAB-055D-31F8-BE06-56E816E19FA4}"/>
              </a:ext>
            </a:extLst>
          </p:cNvPr>
          <p:cNvGrpSpPr/>
          <p:nvPr userDrawn="1"/>
        </p:nvGrpSpPr>
        <p:grpSpPr>
          <a:xfrm>
            <a:off x="10231395" y="4854433"/>
            <a:ext cx="929559" cy="2003568"/>
            <a:chOff x="9736073" y="4359847"/>
            <a:chExt cx="1068096" cy="2302169"/>
          </a:xfrm>
        </p:grpSpPr>
        <p:sp>
          <p:nvSpPr>
            <p:cNvPr id="5" name="Rectangle 4">
              <a:extLst>
                <a:ext uri="{FF2B5EF4-FFF2-40B4-BE49-F238E27FC236}">
                  <a16:creationId xmlns:a16="http://schemas.microsoft.com/office/drawing/2014/main" id="{DE5AE1D7-CE29-9A6F-89C1-BDAF0F6790FA}"/>
                </a:ext>
              </a:extLst>
            </p:cNvPr>
            <p:cNvSpPr/>
            <p:nvPr userDrawn="1"/>
          </p:nvSpPr>
          <p:spPr>
            <a:xfrm>
              <a:off x="9736073" y="4359847"/>
              <a:ext cx="1068096" cy="2302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5EFE8"/>
                </a:solidFill>
                <a:effectLst/>
                <a:uLnTx/>
                <a:uFillTx/>
                <a:latin typeface="Scotia" panose="020F0502020204030204"/>
                <a:ea typeface="+mn-ea"/>
                <a:cs typeface="+mn-cs"/>
              </a:endParaRPr>
            </a:p>
          </p:txBody>
        </p:sp>
        <p:pic>
          <p:nvPicPr>
            <p:cNvPr id="7" name="Picture 6" descr="A white logo on a black background&#10;&#10;Description automatically generated">
              <a:extLst>
                <a:ext uri="{FF2B5EF4-FFF2-40B4-BE49-F238E27FC236}">
                  <a16:creationId xmlns:a16="http://schemas.microsoft.com/office/drawing/2014/main" id="{98F8D9BE-8AD3-6A0A-BBB6-F5AC1D300E7C}"/>
                </a:ext>
              </a:extLst>
            </p:cNvPr>
            <p:cNvPicPr>
              <a:picLocks noChangeAspect="1"/>
            </p:cNvPicPr>
            <p:nvPr userDrawn="1"/>
          </p:nvPicPr>
          <p:blipFill>
            <a:blip r:embed="rId2"/>
            <a:stretch>
              <a:fillRect/>
            </a:stretch>
          </p:blipFill>
          <p:spPr>
            <a:xfrm>
              <a:off x="9736073" y="4359847"/>
              <a:ext cx="1068095" cy="1243144"/>
            </a:xfrm>
            <a:prstGeom prst="rect">
              <a:avLst/>
            </a:prstGeom>
          </p:spPr>
        </p:pic>
      </p:grpSp>
      <p:sp>
        <p:nvSpPr>
          <p:cNvPr id="20" name="Title 1">
            <a:extLst>
              <a:ext uri="{FF2B5EF4-FFF2-40B4-BE49-F238E27FC236}">
                <a16:creationId xmlns:a16="http://schemas.microsoft.com/office/drawing/2014/main" id="{94AB8047-A9B1-7AAE-EAC8-64CFE58FEB7A}"/>
              </a:ext>
            </a:extLst>
          </p:cNvPr>
          <p:cNvSpPr>
            <a:spLocks noGrp="1"/>
          </p:cNvSpPr>
          <p:nvPr>
            <p:ph type="ctrTitle" hasCustomPrompt="1"/>
          </p:nvPr>
        </p:nvSpPr>
        <p:spPr>
          <a:xfrm>
            <a:off x="766672" y="2897202"/>
            <a:ext cx="10658566" cy="457777"/>
          </a:xfrm>
          <a:prstGeom prst="rect">
            <a:avLst/>
          </a:prstGeom>
        </p:spPr>
        <p:txBody>
          <a:bodyPr anchor="b">
            <a:noAutofit/>
          </a:bodyPr>
          <a:lstStyle>
            <a:lvl1pPr algn="l">
              <a:defRPr sz="6600">
                <a:solidFill>
                  <a:schemeClr val="tx1"/>
                </a:solidFill>
              </a:defRPr>
            </a:lvl1pPr>
          </a:lstStyle>
          <a:p>
            <a:r>
              <a:rPr lang="en-US"/>
              <a:t>Click to edit title</a:t>
            </a:r>
          </a:p>
        </p:txBody>
      </p:sp>
      <p:sp>
        <p:nvSpPr>
          <p:cNvPr id="10" name="Rectangle 9">
            <a:extLst>
              <a:ext uri="{FF2B5EF4-FFF2-40B4-BE49-F238E27FC236}">
                <a16:creationId xmlns:a16="http://schemas.microsoft.com/office/drawing/2014/main" id="{D7CFA26E-023D-422F-45FC-B9867F638BD8}"/>
              </a:ext>
            </a:extLst>
          </p:cNvPr>
          <p:cNvSpPr/>
          <p:nvPr userDrawn="1"/>
        </p:nvSpPr>
        <p:spPr>
          <a:xfrm>
            <a:off x="10047361" y="6322549"/>
            <a:ext cx="1297627" cy="388761"/>
          </a:xfrm>
          <a:prstGeom prst="rect">
            <a:avLst/>
          </a:prstGeom>
          <a:solidFill>
            <a:srgbClr val="450000"/>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algn="ctr">
              <a:spcBef>
                <a:spcPts val="600"/>
              </a:spcBef>
            </a:pPr>
            <a:r>
              <a:rPr lang="en-US" sz="700" spc="200">
                <a:solidFill>
                  <a:schemeClr val="bg1"/>
                </a:solidFill>
                <a:latin typeface="Scotia Serif Headline" panose="02040603050505020204" pitchFamily="18" charset="0"/>
                <a:cs typeface="Scotia Serif Headline" panose="02040603050505020204" pitchFamily="18" charset="0"/>
              </a:rPr>
              <a:t>SCOTIABANK </a:t>
            </a:r>
            <a:br>
              <a:rPr lang="en-US" sz="700" spc="200">
                <a:solidFill>
                  <a:schemeClr val="bg1"/>
                </a:solidFill>
                <a:latin typeface="Scotia Serif Headline" panose="02040603050505020204" pitchFamily="18" charset="0"/>
                <a:cs typeface="Scotia Serif Headline" panose="02040603050505020204" pitchFamily="18" charset="0"/>
              </a:rPr>
            </a:br>
            <a:r>
              <a:rPr lang="en-US" sz="700" spc="200">
                <a:solidFill>
                  <a:schemeClr val="bg1"/>
                </a:solidFill>
                <a:latin typeface="Scotia Serif Headline" panose="02040603050505020204" pitchFamily="18" charset="0"/>
                <a:cs typeface="Scotia Serif Headline" panose="02040603050505020204" pitchFamily="18" charset="0"/>
              </a:rPr>
              <a:t>STRATEGY</a:t>
            </a:r>
          </a:p>
        </p:txBody>
      </p:sp>
    </p:spTree>
    <p:extLst>
      <p:ext uri="{BB962C8B-B14F-4D97-AF65-F5344CB8AC3E}">
        <p14:creationId xmlns:p14="http://schemas.microsoft.com/office/powerpoint/2010/main" val="1238017294"/>
      </p:ext>
    </p:extLst>
  </p:cSld>
  <p:clrMapOvr>
    <a:masterClrMapping/>
  </p:clrMapOvr>
  <p:extLst>
    <p:ext uri="{DCECCB84-F9BA-43D5-87BE-67443E8EF086}">
      <p15:sldGuideLst xmlns:p15="http://schemas.microsoft.com/office/powerpoint/2012/main">
        <p15:guide id="1" orient="horz" pos="1979">
          <p15:clr>
            <a:srgbClr val="FBAE40"/>
          </p15:clr>
        </p15:guide>
        <p15:guide id="2" pos="483">
          <p15:clr>
            <a:srgbClr val="FBAE40"/>
          </p15:clr>
        </p15:guide>
        <p15:guide id="3" orient="horz" pos="2296">
          <p15:clr>
            <a:srgbClr val="FBAE40"/>
          </p15:clr>
        </p15:guide>
        <p15:guide id="4" orient="horz" pos="2500">
          <p15:clr>
            <a:srgbClr val="FBAE40"/>
          </p15:clr>
        </p15:guide>
        <p15:guide id="5" orient="horz" pos="2137">
          <p15:clr>
            <a:srgbClr val="FBAE40"/>
          </p15:clr>
        </p15:guide>
        <p15:guide id="6" orient="horz" pos="1820">
          <p15:clr>
            <a:srgbClr val="FBAE40"/>
          </p15:clr>
        </p15:guide>
        <p15:guide id="7" pos="7197">
          <p15:clr>
            <a:srgbClr val="FBAE40"/>
          </p15:clr>
        </p15:guide>
        <p15:guide id="8" orient="horz" pos="3657">
          <p15:clr>
            <a:srgbClr val="FBAE40"/>
          </p15:clr>
        </p15:guide>
        <p15:guide id="9" orient="horz" pos="3453">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userDrawn="1"/>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userDrawn="1"/>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userDrawn="1"/>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userDrawn="1"/>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userDrawn="1"/>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userDrawn="1"/>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userDrawn="1"/>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userDrawn="1"/>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userDrawn="1"/>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userDrawn="1"/>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userDrawn="1"/>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userDrawn="1"/>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userDrawn="1"/>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userDrawn="1"/>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userDrawn="1"/>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191134894"/>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BoardConten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94BCD5C-1849-7473-8A4B-1903E617F620}"/>
              </a:ext>
            </a:extLst>
          </p:cNvPr>
          <p:cNvGraphicFramePr>
            <a:graphicFrameLocks/>
          </p:cNvGraphicFramePr>
          <p:nvPr userDrawn="1">
            <p:custDataLst>
              <p:tags r:id="rId1"/>
            </p:custDataLst>
            <p:extLst>
              <p:ext uri="{D42A27DB-BD31-4B8C-83A1-F6EECF244321}">
                <p14:modId xmlns:p14="http://schemas.microsoft.com/office/powerpoint/2010/main" val="10584121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8" name="think-cell data - do not delete" hidden="1">
                        <a:extLst>
                          <a:ext uri="{FF2B5EF4-FFF2-40B4-BE49-F238E27FC236}">
                            <a16:creationId xmlns:a16="http://schemas.microsoft.com/office/drawing/2014/main" id="{D94BCD5C-1849-7473-8A4B-1903E617F62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2735549278"/>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BoardContent_Sub">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4BCA2E5-4952-4151-FB2B-D0F4F2FA470B}"/>
              </a:ext>
            </a:extLst>
          </p:cNvPr>
          <p:cNvGraphicFramePr>
            <a:graphicFrameLocks noChangeAspect="1"/>
          </p:cNvGraphicFramePr>
          <p:nvPr userDrawn="1">
            <p:custDataLst>
              <p:tags r:id="rId1"/>
            </p:custDataLst>
            <p:extLst>
              <p:ext uri="{D42A27DB-BD31-4B8C-83A1-F6EECF244321}">
                <p14:modId xmlns:p14="http://schemas.microsoft.com/office/powerpoint/2010/main" val="22062711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7" name="think-cell data - do not delete" hidden="1">
                        <a:extLst>
                          <a:ext uri="{FF2B5EF4-FFF2-40B4-BE49-F238E27FC236}">
                            <a16:creationId xmlns:a16="http://schemas.microsoft.com/office/drawing/2014/main" id="{64BCA2E5-4952-4151-FB2B-D0F4F2FA470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11" name="Text Placeholder 7">
            <a:extLst>
              <a:ext uri="{FF2B5EF4-FFF2-40B4-BE49-F238E27FC236}">
                <a16:creationId xmlns:a16="http://schemas.microsoft.com/office/drawing/2014/main" id="{76FB1E72-726F-A488-3DBC-F00072600D93}"/>
              </a:ext>
            </a:extLst>
          </p:cNvPr>
          <p:cNvSpPr>
            <a:spLocks noGrp="1"/>
          </p:cNvSpPr>
          <p:nvPr>
            <p:ph type="body" sz="quarter" idx="15" hasCustomPrompt="1"/>
          </p:nvPr>
        </p:nvSpPr>
        <p:spPr>
          <a:xfrm>
            <a:off x="515939" y="1672753"/>
            <a:ext cx="5400000" cy="180000"/>
          </a:xfrm>
        </p:spPr>
        <p:txBody>
          <a:bodyPr vert="horz" lIns="0" tIns="0" rIns="0" bIns="0" rtlCol="0" anchor="ctr">
            <a:noAutofit/>
          </a:bodyPr>
          <a:lstStyle>
            <a:lvl1pPr marL="0" indent="0">
              <a:buNone/>
              <a:defRPr lang="en-US" sz="1300" b="1" cap="all" spc="201" baseline="0" dirty="0">
                <a:ea typeface="Scotia Light" panose="020B0403020203020204" pitchFamily="34" charset="0"/>
              </a:defRPr>
            </a:lvl1pPr>
          </a:lstStyle>
          <a:p>
            <a:pPr marL="447680" lvl="0" indent="-447680"/>
            <a:r>
              <a:rPr lang="en-US"/>
              <a:t>CLICK TO EDIT SUBTITLE</a:t>
            </a:r>
          </a:p>
        </p:txBody>
      </p:sp>
    </p:spTree>
    <p:extLst>
      <p:ext uri="{BB962C8B-B14F-4D97-AF65-F5344CB8AC3E}">
        <p14:creationId xmlns:p14="http://schemas.microsoft.com/office/powerpoint/2010/main" val="1278368887"/>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BoardContent_Full">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83108EA5-4770-386D-F279-2BDAE8EF7DD3}"/>
              </a:ext>
            </a:extLst>
          </p:cNvPr>
          <p:cNvGraphicFramePr>
            <a:graphicFrameLocks noChangeAspect="1"/>
          </p:cNvGraphicFramePr>
          <p:nvPr userDrawn="1">
            <p:custDataLst>
              <p:tags r:id="rId1"/>
            </p:custDataLst>
            <p:extLst>
              <p:ext uri="{D42A27DB-BD31-4B8C-83A1-F6EECF244321}">
                <p14:modId xmlns:p14="http://schemas.microsoft.com/office/powerpoint/2010/main" val="21677483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8" name="think-cell data - do not delete" hidden="1">
                        <a:extLst>
                          <a:ext uri="{FF2B5EF4-FFF2-40B4-BE49-F238E27FC236}">
                            <a16:creationId xmlns:a16="http://schemas.microsoft.com/office/drawing/2014/main" id="{83108EA5-4770-386D-F279-2BDAE8EF7DD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355187"/>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770036801"/>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BoardContent_Tag">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5339CF7F-F7A7-02F0-59F4-1E7BB9466520}"/>
              </a:ext>
            </a:extLst>
          </p:cNvPr>
          <p:cNvGraphicFramePr>
            <a:graphicFrameLocks noChangeAspect="1"/>
          </p:cNvGraphicFramePr>
          <p:nvPr userDrawn="1">
            <p:custDataLst>
              <p:tags r:id="rId1"/>
            </p:custDataLst>
            <p:extLst>
              <p:ext uri="{D42A27DB-BD31-4B8C-83A1-F6EECF244321}">
                <p14:modId xmlns:p14="http://schemas.microsoft.com/office/powerpoint/2010/main" val="15788991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9" name="think-cell data - do not delete" hidden="1">
                        <a:extLst>
                          <a:ext uri="{FF2B5EF4-FFF2-40B4-BE49-F238E27FC236}">
                            <a16:creationId xmlns:a16="http://schemas.microsoft.com/office/drawing/2014/main" id="{5339CF7F-F7A7-02F0-59F4-1E7BB946652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4" name="Rectangle 3">
            <a:extLst>
              <a:ext uri="{FF2B5EF4-FFF2-40B4-BE49-F238E27FC236}">
                <a16:creationId xmlns:a16="http://schemas.microsoft.com/office/drawing/2014/main" id="{7C35AE7A-37D8-57CC-AB47-F6BD83385987}"/>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1295117950"/>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BoardContent_Sub_Tag">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15DB4185-2C0C-F562-EFC1-51DABCBFCD31}"/>
              </a:ext>
            </a:extLst>
          </p:cNvPr>
          <p:cNvGraphicFramePr>
            <a:graphicFrameLocks noChangeAspect="1"/>
          </p:cNvGraphicFramePr>
          <p:nvPr userDrawn="1">
            <p:custDataLst>
              <p:tags r:id="rId1"/>
            </p:custDataLst>
            <p:extLst>
              <p:ext uri="{D42A27DB-BD31-4B8C-83A1-F6EECF244321}">
                <p14:modId xmlns:p14="http://schemas.microsoft.com/office/powerpoint/2010/main" val="30052057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10" name="think-cell data - do not delete" hidden="1">
                        <a:extLst>
                          <a:ext uri="{FF2B5EF4-FFF2-40B4-BE49-F238E27FC236}">
                            <a16:creationId xmlns:a16="http://schemas.microsoft.com/office/drawing/2014/main" id="{15DB4185-2C0C-F562-EFC1-51DABCBFCD3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38"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vert="horz" lIns="0" tIns="0" rIns="0" bIns="0" rtlCol="0" anchor="ctr">
            <a:noAutofit/>
          </a:bodyPr>
          <a:lstStyle>
            <a:lvl1pPr marL="0" indent="0">
              <a:buNone/>
              <a:defRPr lang="en-US" sz="1300" b="1" cap="all" spc="201" baseline="0" dirty="0">
                <a:ea typeface="Scotia Light" panose="020B0403020203020204" pitchFamily="34" charset="0"/>
              </a:defRPr>
            </a:lvl1pPr>
          </a:lstStyle>
          <a:p>
            <a:pPr marL="447680" lvl="0" indent="-447680"/>
            <a:r>
              <a:rPr lang="en-US"/>
              <a:t>CLICK TO EDIT SUBTITLE</a:t>
            </a:r>
          </a:p>
        </p:txBody>
      </p:sp>
      <p:sp>
        <p:nvSpPr>
          <p:cNvPr id="9" name="Text Placeholder 7">
            <a:extLst>
              <a:ext uri="{FF2B5EF4-FFF2-40B4-BE49-F238E27FC236}">
                <a16:creationId xmlns:a16="http://schemas.microsoft.com/office/drawing/2014/main" id="{AFBCE776-F95F-DA27-F9D6-F9AD44DEA808}"/>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Rectangle 5">
            <a:extLst>
              <a:ext uri="{FF2B5EF4-FFF2-40B4-BE49-F238E27FC236}">
                <a16:creationId xmlns:a16="http://schemas.microsoft.com/office/drawing/2014/main" id="{EC4ECB2B-6DE9-9EF1-08C6-15BA9351E809}"/>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3909026231"/>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49">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guide id="9" orient="horz" pos="1185">
          <p15:clr>
            <a:srgbClr val="FBAE40"/>
          </p15:clr>
        </p15:guide>
        <p15:guide id="10" orient="horz" pos="1230">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BoardContent_Full_Tag">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A7188679-3A56-6350-A21C-D8BCD799543C}"/>
              </a:ext>
            </a:extLst>
          </p:cNvPr>
          <p:cNvGraphicFramePr>
            <a:graphicFrameLocks noChangeAspect="1"/>
          </p:cNvGraphicFramePr>
          <p:nvPr userDrawn="1">
            <p:custDataLst>
              <p:tags r:id="rId1"/>
            </p:custDataLst>
            <p:extLst>
              <p:ext uri="{D42A27DB-BD31-4B8C-83A1-F6EECF244321}">
                <p14:modId xmlns:p14="http://schemas.microsoft.com/office/powerpoint/2010/main" val="9724169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9" name="think-cell data - do not delete" hidden="1">
                        <a:extLst>
                          <a:ext uri="{FF2B5EF4-FFF2-40B4-BE49-F238E27FC236}">
                            <a16:creationId xmlns:a16="http://schemas.microsoft.com/office/drawing/2014/main" id="{A7188679-3A56-6350-A21C-D8BCD799543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355187"/>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222311"/>
            <a:ext cx="11160124" cy="4895894"/>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Rectangle 7">
            <a:extLst>
              <a:ext uri="{FF2B5EF4-FFF2-40B4-BE49-F238E27FC236}">
                <a16:creationId xmlns:a16="http://schemas.microsoft.com/office/drawing/2014/main" id="{0E4409EE-F777-4734-4D65-5FBEB361F46D}"/>
              </a:ext>
            </a:extLst>
          </p:cNvPr>
          <p:cNvSpPr/>
          <p:nvPr userDrawn="1"/>
        </p:nvSpPr>
        <p:spPr>
          <a:xfrm>
            <a:off x="11924984" y="1625600"/>
            <a:ext cx="267015" cy="155194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lstStyle/>
          <a:p>
            <a:pPr algn="ctr">
              <a:spcBef>
                <a:spcPts val="600"/>
              </a:spcBef>
            </a:pPr>
            <a:r>
              <a:rPr lang="en-US" sz="500" spc="200">
                <a:solidFill>
                  <a:schemeClr val="tx1"/>
                </a:solidFill>
                <a:latin typeface="Scotia Serif Headline" panose="02040603050505020204" pitchFamily="18" charset="0"/>
                <a:cs typeface="Scotia Serif Headline" panose="02040603050505020204" pitchFamily="18" charset="0"/>
              </a:rPr>
              <a:t>SCOTIABANK STRATEGY</a:t>
            </a:r>
          </a:p>
        </p:txBody>
      </p:sp>
    </p:spTree>
    <p:extLst>
      <p:ext uri="{BB962C8B-B14F-4D97-AF65-F5344CB8AC3E}">
        <p14:creationId xmlns:p14="http://schemas.microsoft.com/office/powerpoint/2010/main" val="2981636837"/>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754">
          <p15:clr>
            <a:srgbClr val="FBAE40"/>
          </p15:clr>
        </p15:guide>
        <p15:guide id="4" orient="horz" pos="663">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86AC7894-5E5F-1675-D2EF-A982E12610A4}"/>
              </a:ext>
            </a:extLst>
          </p:cNvPr>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Tree>
    <p:extLst>
      <p:ext uri="{BB962C8B-B14F-4D97-AF65-F5344CB8AC3E}">
        <p14:creationId xmlns:p14="http://schemas.microsoft.com/office/powerpoint/2010/main" val="881278612"/>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3861">
          <p15:clr>
            <a:srgbClr val="FBAE40"/>
          </p15:clr>
        </p15:guide>
        <p15:guide id="4" orient="horz" pos="754">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Divider_Tan">
    <p:bg>
      <p:bgPr>
        <a:solidFill>
          <a:srgbClr val="F5EFE8"/>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50"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3501841111"/>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Divider_White">
    <p:bg>
      <p:bgPr>
        <a:solidFill>
          <a:schemeClr val="bg1"/>
        </a:solidFill>
        <a:effectLst/>
      </p:bgPr>
    </p:bg>
    <p:spTree>
      <p:nvGrpSpPr>
        <p:cNvPr id="1" name=""/>
        <p:cNvGrpSpPr/>
        <p:nvPr/>
      </p:nvGrpSpPr>
      <p:grpSpPr>
        <a:xfrm>
          <a:off x="0" y="0"/>
          <a:ext cx="0" cy="0"/>
          <a:chOff x="0" y="0"/>
          <a:chExt cx="0" cy="0"/>
        </a:xfrm>
      </p:grpSpPr>
      <p:sp>
        <p:nvSpPr>
          <p:cNvPr id="8" name="Text Placeholder 2"/>
          <p:cNvSpPr>
            <a:spLocks noGrp="1"/>
          </p:cNvSpPr>
          <p:nvPr>
            <p:ph type="body" sz="quarter" idx="11" hasCustomPrompt="1"/>
          </p:nvPr>
        </p:nvSpPr>
        <p:spPr>
          <a:xfrm>
            <a:off x="720349" y="2227734"/>
            <a:ext cx="10776325" cy="1109308"/>
          </a:xfrm>
        </p:spPr>
        <p:txBody>
          <a:bodyPr>
            <a:noAutofit/>
          </a:bodyPr>
          <a:lstStyle>
            <a:lvl1pPr marL="0" indent="0">
              <a:buNone/>
              <a:defRPr sz="6601" baseline="0">
                <a:solidFill>
                  <a:schemeClr val="tx1"/>
                </a:solidFill>
                <a:latin typeface="+mj-lt"/>
              </a:defRPr>
            </a:lvl1pPr>
          </a:lstStyle>
          <a:p>
            <a:pPr lvl="0"/>
            <a:r>
              <a:rPr lang="en-US"/>
              <a:t>Section Title</a:t>
            </a:r>
            <a:endParaRPr lang="en-CA"/>
          </a:p>
        </p:txBody>
      </p:sp>
      <p:sp>
        <p:nvSpPr>
          <p:cNvPr id="9" name="Text Placeholder 2"/>
          <p:cNvSpPr>
            <a:spLocks noGrp="1"/>
          </p:cNvSpPr>
          <p:nvPr>
            <p:ph type="body" sz="quarter" idx="12" hasCustomPrompt="1"/>
          </p:nvPr>
        </p:nvSpPr>
        <p:spPr>
          <a:xfrm>
            <a:off x="720349" y="1607420"/>
            <a:ext cx="1260852" cy="492443"/>
          </a:xfrm>
        </p:spPr>
        <p:txBody>
          <a:bodyPr>
            <a:noAutofit/>
          </a:bodyPr>
          <a:lstStyle>
            <a:lvl1pPr marL="0" indent="0">
              <a:buNone/>
              <a:defRPr sz="2800" baseline="0">
                <a:solidFill>
                  <a:schemeClr val="tx1"/>
                </a:solidFill>
                <a:latin typeface="Scotia Light" panose="020B0403020203020204" pitchFamily="34" charset="0"/>
                <a:ea typeface="Scotia Light" panose="020B0403020203020204" pitchFamily="34" charset="0"/>
              </a:defRPr>
            </a:lvl1pPr>
          </a:lstStyle>
          <a:p>
            <a:pPr lvl="0"/>
            <a:r>
              <a:rPr lang="en-US"/>
              <a:t>01</a:t>
            </a:r>
            <a:endParaRPr lang="en-CA"/>
          </a:p>
        </p:txBody>
      </p:sp>
    </p:spTree>
    <p:extLst>
      <p:ext uri="{BB962C8B-B14F-4D97-AF65-F5344CB8AC3E}">
        <p14:creationId xmlns:p14="http://schemas.microsoft.com/office/powerpoint/2010/main" val="3714568103"/>
      </p:ext>
    </p:extLst>
  </p:cSld>
  <p:clrMapOvr>
    <a:masterClrMapping/>
  </p:clrMapOvr>
  <p:extLst>
    <p:ext uri="{DCECCB84-F9BA-43D5-87BE-67443E8EF086}">
      <p15:sldGuideLst xmlns:p15="http://schemas.microsoft.com/office/powerpoint/2012/main">
        <p15:guide id="1" orient="horz" pos="1389">
          <p15:clr>
            <a:srgbClr val="FBAE40"/>
          </p15:clr>
        </p15:guide>
        <p15:guide id="2" pos="438">
          <p15:clr>
            <a:srgbClr val="FBAE40"/>
          </p15:clr>
        </p15:guide>
        <p15:guide id="3" orient="horz" pos="2115">
          <p15:clr>
            <a:srgbClr val="FBAE40"/>
          </p15:clr>
        </p15:guide>
        <p15:guide id="4" pos="7242">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Icons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4"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
        <p:nvSpPr>
          <p:cNvPr id="5" name="Shape 2525"/>
          <p:cNvSpPr/>
          <p:nvPr userDrawn="1"/>
        </p:nvSpPr>
        <p:spPr>
          <a:xfrm>
            <a:off x="406321"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 name="Shape 2526"/>
          <p:cNvSpPr/>
          <p:nvPr userDrawn="1"/>
        </p:nvSpPr>
        <p:spPr>
          <a:xfrm>
            <a:off x="986774"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527"/>
          <p:cNvSpPr/>
          <p:nvPr userDrawn="1"/>
        </p:nvSpPr>
        <p:spPr>
          <a:xfrm>
            <a:off x="1567229" y="2757747"/>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Shape 2528"/>
          <p:cNvSpPr/>
          <p:nvPr userDrawn="1"/>
        </p:nvSpPr>
        <p:spPr>
          <a:xfrm>
            <a:off x="2189143"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 name="Shape 2529"/>
          <p:cNvSpPr/>
          <p:nvPr userDrawn="1"/>
        </p:nvSpPr>
        <p:spPr>
          <a:xfrm>
            <a:off x="2769598" y="2757747"/>
            <a:ext cx="221127" cy="304048"/>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hape 2530"/>
          <p:cNvSpPr/>
          <p:nvPr userDrawn="1"/>
        </p:nvSpPr>
        <p:spPr>
          <a:xfrm>
            <a:off x="3336237"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Shape 2531"/>
          <p:cNvSpPr/>
          <p:nvPr userDrawn="1"/>
        </p:nvSpPr>
        <p:spPr>
          <a:xfrm>
            <a:off x="391669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32"/>
          <p:cNvSpPr/>
          <p:nvPr userDrawn="1"/>
        </p:nvSpPr>
        <p:spPr>
          <a:xfrm>
            <a:off x="4497148"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33"/>
          <p:cNvSpPr/>
          <p:nvPr userDrawn="1"/>
        </p:nvSpPr>
        <p:spPr>
          <a:xfrm>
            <a:off x="5077601" y="2757747"/>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34"/>
          <p:cNvSpPr/>
          <p:nvPr userDrawn="1"/>
        </p:nvSpPr>
        <p:spPr>
          <a:xfrm>
            <a:off x="5658054" y="2757748"/>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535"/>
          <p:cNvSpPr/>
          <p:nvPr userDrawn="1"/>
        </p:nvSpPr>
        <p:spPr>
          <a:xfrm>
            <a:off x="433962" y="3338204"/>
            <a:ext cx="248766" cy="304059"/>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36"/>
          <p:cNvSpPr/>
          <p:nvPr userDrawn="1"/>
        </p:nvSpPr>
        <p:spPr>
          <a:xfrm>
            <a:off x="986774"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537"/>
          <p:cNvSpPr/>
          <p:nvPr userDrawn="1"/>
        </p:nvSpPr>
        <p:spPr>
          <a:xfrm>
            <a:off x="1594872"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38"/>
          <p:cNvSpPr/>
          <p:nvPr userDrawn="1"/>
        </p:nvSpPr>
        <p:spPr>
          <a:xfrm>
            <a:off x="2175325" y="3338203"/>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539"/>
          <p:cNvSpPr/>
          <p:nvPr userDrawn="1"/>
        </p:nvSpPr>
        <p:spPr>
          <a:xfrm>
            <a:off x="2728140" y="3386575"/>
            <a:ext cx="304048" cy="207307"/>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540"/>
          <p:cNvSpPr/>
          <p:nvPr userDrawn="1"/>
        </p:nvSpPr>
        <p:spPr>
          <a:xfrm>
            <a:off x="3308595"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Shape 2541"/>
          <p:cNvSpPr/>
          <p:nvPr userDrawn="1"/>
        </p:nvSpPr>
        <p:spPr>
          <a:xfrm>
            <a:off x="3916691" y="3365845"/>
            <a:ext cx="248766" cy="248767"/>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2"/>
          <p:cNvSpPr/>
          <p:nvPr userDrawn="1"/>
        </p:nvSpPr>
        <p:spPr>
          <a:xfrm>
            <a:off x="4469507"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3"/>
          <p:cNvSpPr/>
          <p:nvPr userDrawn="1"/>
        </p:nvSpPr>
        <p:spPr>
          <a:xfrm>
            <a:off x="5049958"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44"/>
          <p:cNvSpPr/>
          <p:nvPr userDrawn="1"/>
        </p:nvSpPr>
        <p:spPr>
          <a:xfrm>
            <a:off x="5630413" y="33382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545"/>
          <p:cNvSpPr/>
          <p:nvPr userDrawn="1"/>
        </p:nvSpPr>
        <p:spPr>
          <a:xfrm>
            <a:off x="406321"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46"/>
          <p:cNvSpPr/>
          <p:nvPr userDrawn="1"/>
        </p:nvSpPr>
        <p:spPr>
          <a:xfrm>
            <a:off x="986774" y="3946298"/>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47"/>
          <p:cNvSpPr/>
          <p:nvPr userDrawn="1"/>
        </p:nvSpPr>
        <p:spPr>
          <a:xfrm>
            <a:off x="1567229"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548"/>
          <p:cNvSpPr/>
          <p:nvPr userDrawn="1"/>
        </p:nvSpPr>
        <p:spPr>
          <a:xfrm>
            <a:off x="2147684" y="4036130"/>
            <a:ext cx="304048" cy="69103"/>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549"/>
          <p:cNvSpPr/>
          <p:nvPr userDrawn="1"/>
        </p:nvSpPr>
        <p:spPr>
          <a:xfrm>
            <a:off x="2728140"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550"/>
          <p:cNvSpPr/>
          <p:nvPr userDrawn="1"/>
        </p:nvSpPr>
        <p:spPr>
          <a:xfrm>
            <a:off x="3308595"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551"/>
          <p:cNvSpPr/>
          <p:nvPr userDrawn="1"/>
        </p:nvSpPr>
        <p:spPr>
          <a:xfrm>
            <a:off x="3889052" y="391865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552"/>
          <p:cNvSpPr/>
          <p:nvPr userDrawn="1"/>
        </p:nvSpPr>
        <p:spPr>
          <a:xfrm>
            <a:off x="4469507"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Shape 2553"/>
          <p:cNvSpPr/>
          <p:nvPr userDrawn="1"/>
        </p:nvSpPr>
        <p:spPr>
          <a:xfrm>
            <a:off x="5049958"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hape 2554"/>
          <p:cNvSpPr/>
          <p:nvPr userDrawn="1"/>
        </p:nvSpPr>
        <p:spPr>
          <a:xfrm>
            <a:off x="5630413" y="3932477"/>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55"/>
          <p:cNvSpPr/>
          <p:nvPr userDrawn="1"/>
        </p:nvSpPr>
        <p:spPr>
          <a:xfrm>
            <a:off x="406321"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6"/>
          <p:cNvSpPr/>
          <p:nvPr userDrawn="1"/>
        </p:nvSpPr>
        <p:spPr>
          <a:xfrm>
            <a:off x="98677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557"/>
          <p:cNvSpPr/>
          <p:nvPr userDrawn="1"/>
        </p:nvSpPr>
        <p:spPr>
          <a:xfrm>
            <a:off x="1567229"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558"/>
          <p:cNvSpPr/>
          <p:nvPr userDrawn="1"/>
        </p:nvSpPr>
        <p:spPr>
          <a:xfrm>
            <a:off x="2147684"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559"/>
          <p:cNvSpPr/>
          <p:nvPr userDrawn="1"/>
        </p:nvSpPr>
        <p:spPr>
          <a:xfrm>
            <a:off x="2728140"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560"/>
          <p:cNvSpPr/>
          <p:nvPr userDrawn="1"/>
        </p:nvSpPr>
        <p:spPr>
          <a:xfrm>
            <a:off x="3308595"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561"/>
          <p:cNvSpPr/>
          <p:nvPr userDrawn="1"/>
        </p:nvSpPr>
        <p:spPr>
          <a:xfrm>
            <a:off x="3889052" y="45267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562"/>
          <p:cNvSpPr/>
          <p:nvPr userDrawn="1"/>
        </p:nvSpPr>
        <p:spPr>
          <a:xfrm>
            <a:off x="4469507"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63"/>
          <p:cNvSpPr/>
          <p:nvPr userDrawn="1"/>
        </p:nvSpPr>
        <p:spPr>
          <a:xfrm>
            <a:off x="5049958"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64"/>
          <p:cNvSpPr/>
          <p:nvPr userDrawn="1"/>
        </p:nvSpPr>
        <p:spPr>
          <a:xfrm>
            <a:off x="5630413"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Shape 2565"/>
          <p:cNvSpPr/>
          <p:nvPr userDrawn="1"/>
        </p:nvSpPr>
        <p:spPr>
          <a:xfrm>
            <a:off x="406321" y="5107208"/>
            <a:ext cx="304048" cy="248774"/>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Shape 2566"/>
          <p:cNvSpPr/>
          <p:nvPr userDrawn="1"/>
        </p:nvSpPr>
        <p:spPr>
          <a:xfrm>
            <a:off x="986774" y="5107210"/>
            <a:ext cx="304048" cy="248777"/>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67"/>
          <p:cNvSpPr/>
          <p:nvPr userDrawn="1"/>
        </p:nvSpPr>
        <p:spPr>
          <a:xfrm>
            <a:off x="1567229"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68"/>
          <p:cNvSpPr/>
          <p:nvPr userDrawn="1"/>
        </p:nvSpPr>
        <p:spPr>
          <a:xfrm>
            <a:off x="2147684" y="5079567"/>
            <a:ext cx="304048" cy="304059"/>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569"/>
          <p:cNvSpPr/>
          <p:nvPr userDrawn="1"/>
        </p:nvSpPr>
        <p:spPr>
          <a:xfrm>
            <a:off x="2728140" y="5079567"/>
            <a:ext cx="304048" cy="304055"/>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70"/>
          <p:cNvSpPr/>
          <p:nvPr userDrawn="1"/>
        </p:nvSpPr>
        <p:spPr>
          <a:xfrm>
            <a:off x="3308595" y="5086479"/>
            <a:ext cx="304048" cy="297140"/>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571"/>
          <p:cNvSpPr/>
          <p:nvPr userDrawn="1"/>
        </p:nvSpPr>
        <p:spPr>
          <a:xfrm>
            <a:off x="3889052"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Shape 2572"/>
          <p:cNvSpPr/>
          <p:nvPr userDrawn="1"/>
        </p:nvSpPr>
        <p:spPr>
          <a:xfrm>
            <a:off x="4469507"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573"/>
          <p:cNvSpPr/>
          <p:nvPr userDrawn="1"/>
        </p:nvSpPr>
        <p:spPr>
          <a:xfrm>
            <a:off x="5049958" y="50795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574"/>
          <p:cNvSpPr/>
          <p:nvPr userDrawn="1"/>
        </p:nvSpPr>
        <p:spPr>
          <a:xfrm>
            <a:off x="5644233" y="5079568"/>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575"/>
          <p:cNvSpPr/>
          <p:nvPr userDrawn="1"/>
        </p:nvSpPr>
        <p:spPr>
          <a:xfrm>
            <a:off x="406321"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76"/>
          <p:cNvSpPr/>
          <p:nvPr userDrawn="1"/>
        </p:nvSpPr>
        <p:spPr>
          <a:xfrm>
            <a:off x="986774"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77"/>
          <p:cNvSpPr/>
          <p:nvPr userDrawn="1"/>
        </p:nvSpPr>
        <p:spPr>
          <a:xfrm>
            <a:off x="1581049" y="5660024"/>
            <a:ext cx="276409" cy="304048"/>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78"/>
          <p:cNvSpPr/>
          <p:nvPr userDrawn="1"/>
        </p:nvSpPr>
        <p:spPr>
          <a:xfrm>
            <a:off x="2202965" y="5660024"/>
            <a:ext cx="193486" cy="304048"/>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579"/>
          <p:cNvSpPr/>
          <p:nvPr userDrawn="1"/>
        </p:nvSpPr>
        <p:spPr>
          <a:xfrm>
            <a:off x="2728140"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580"/>
          <p:cNvSpPr/>
          <p:nvPr userDrawn="1"/>
        </p:nvSpPr>
        <p:spPr>
          <a:xfrm>
            <a:off x="3308595"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581"/>
          <p:cNvSpPr/>
          <p:nvPr userDrawn="1"/>
        </p:nvSpPr>
        <p:spPr>
          <a:xfrm>
            <a:off x="3889052"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582"/>
          <p:cNvSpPr/>
          <p:nvPr userDrawn="1"/>
        </p:nvSpPr>
        <p:spPr>
          <a:xfrm>
            <a:off x="4469507"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583"/>
          <p:cNvSpPr/>
          <p:nvPr userDrawn="1"/>
        </p:nvSpPr>
        <p:spPr>
          <a:xfrm>
            <a:off x="5049958"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584"/>
          <p:cNvSpPr/>
          <p:nvPr userDrawn="1"/>
        </p:nvSpPr>
        <p:spPr>
          <a:xfrm>
            <a:off x="5630413" y="56600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585"/>
          <p:cNvSpPr/>
          <p:nvPr userDrawn="1"/>
        </p:nvSpPr>
        <p:spPr>
          <a:xfrm>
            <a:off x="6279973"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586"/>
          <p:cNvSpPr/>
          <p:nvPr userDrawn="1"/>
        </p:nvSpPr>
        <p:spPr>
          <a:xfrm>
            <a:off x="6860428" y="275776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587"/>
          <p:cNvSpPr/>
          <p:nvPr userDrawn="1"/>
        </p:nvSpPr>
        <p:spPr>
          <a:xfrm>
            <a:off x="7413240"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0" cap="none" spc="0">
              <a:ln w="0"/>
              <a:solidFill>
                <a:schemeClr val="tx1"/>
              </a:solidFill>
              <a:effectLst>
                <a:outerShdw blurRad="38100" dist="19050" dir="2700000" algn="tl" rotWithShape="0">
                  <a:schemeClr val="dk1">
                    <a:alpha val="40000"/>
                  </a:schemeClr>
                </a:outerShdw>
              </a:effectLst>
            </a:endParaRPr>
          </a:p>
        </p:txBody>
      </p:sp>
      <p:sp>
        <p:nvSpPr>
          <p:cNvPr id="69" name="Shape 2588"/>
          <p:cNvSpPr/>
          <p:nvPr userDrawn="1"/>
        </p:nvSpPr>
        <p:spPr>
          <a:xfrm>
            <a:off x="7993695"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589"/>
          <p:cNvSpPr/>
          <p:nvPr userDrawn="1"/>
        </p:nvSpPr>
        <p:spPr>
          <a:xfrm>
            <a:off x="8574150" y="27715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590"/>
          <p:cNvSpPr/>
          <p:nvPr userDrawn="1"/>
        </p:nvSpPr>
        <p:spPr>
          <a:xfrm>
            <a:off x="9154607"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591"/>
          <p:cNvSpPr/>
          <p:nvPr userDrawn="1"/>
        </p:nvSpPr>
        <p:spPr>
          <a:xfrm>
            <a:off x="9735060" y="27577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592"/>
          <p:cNvSpPr/>
          <p:nvPr userDrawn="1"/>
        </p:nvSpPr>
        <p:spPr>
          <a:xfrm>
            <a:off x="10315516"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593"/>
          <p:cNvSpPr/>
          <p:nvPr userDrawn="1"/>
        </p:nvSpPr>
        <p:spPr>
          <a:xfrm>
            <a:off x="10895971" y="275776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594"/>
          <p:cNvSpPr/>
          <p:nvPr userDrawn="1"/>
        </p:nvSpPr>
        <p:spPr>
          <a:xfrm>
            <a:off x="11476426" y="278539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595"/>
          <p:cNvSpPr/>
          <p:nvPr userDrawn="1"/>
        </p:nvSpPr>
        <p:spPr>
          <a:xfrm>
            <a:off x="6252332"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596"/>
          <p:cNvSpPr/>
          <p:nvPr userDrawn="1"/>
        </p:nvSpPr>
        <p:spPr>
          <a:xfrm>
            <a:off x="6832787" y="3379673"/>
            <a:ext cx="304048" cy="221127"/>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597"/>
          <p:cNvSpPr/>
          <p:nvPr userDrawn="1"/>
        </p:nvSpPr>
        <p:spPr>
          <a:xfrm>
            <a:off x="7413240"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598"/>
          <p:cNvSpPr/>
          <p:nvPr userDrawn="1"/>
        </p:nvSpPr>
        <p:spPr>
          <a:xfrm>
            <a:off x="7993695"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599"/>
          <p:cNvSpPr/>
          <p:nvPr userDrawn="1"/>
        </p:nvSpPr>
        <p:spPr>
          <a:xfrm>
            <a:off x="857415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600"/>
          <p:cNvSpPr/>
          <p:nvPr userDrawn="1"/>
        </p:nvSpPr>
        <p:spPr>
          <a:xfrm>
            <a:off x="9154607"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601"/>
          <p:cNvSpPr/>
          <p:nvPr userDrawn="1"/>
        </p:nvSpPr>
        <p:spPr>
          <a:xfrm>
            <a:off x="9735060" y="333821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602"/>
          <p:cNvSpPr/>
          <p:nvPr userDrawn="1"/>
        </p:nvSpPr>
        <p:spPr>
          <a:xfrm>
            <a:off x="1031551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603"/>
          <p:cNvSpPr/>
          <p:nvPr userDrawn="1"/>
        </p:nvSpPr>
        <p:spPr>
          <a:xfrm>
            <a:off x="10895971" y="3352033"/>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604"/>
          <p:cNvSpPr/>
          <p:nvPr userDrawn="1"/>
        </p:nvSpPr>
        <p:spPr>
          <a:xfrm>
            <a:off x="11476426" y="3365855"/>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605"/>
          <p:cNvSpPr/>
          <p:nvPr userDrawn="1"/>
        </p:nvSpPr>
        <p:spPr>
          <a:xfrm>
            <a:off x="6252328" y="3918667"/>
            <a:ext cx="304194" cy="30418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606"/>
          <p:cNvSpPr/>
          <p:nvPr userDrawn="1"/>
        </p:nvSpPr>
        <p:spPr>
          <a:xfrm>
            <a:off x="6832787"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607"/>
          <p:cNvSpPr/>
          <p:nvPr userDrawn="1"/>
        </p:nvSpPr>
        <p:spPr>
          <a:xfrm>
            <a:off x="7413240"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608"/>
          <p:cNvSpPr/>
          <p:nvPr userDrawn="1"/>
        </p:nvSpPr>
        <p:spPr>
          <a:xfrm>
            <a:off x="7993695"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609"/>
          <p:cNvSpPr/>
          <p:nvPr userDrawn="1"/>
        </p:nvSpPr>
        <p:spPr>
          <a:xfrm>
            <a:off x="8574150" y="3946309"/>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610"/>
          <p:cNvSpPr/>
          <p:nvPr userDrawn="1"/>
        </p:nvSpPr>
        <p:spPr>
          <a:xfrm>
            <a:off x="9154607" y="3946308"/>
            <a:ext cx="304048" cy="248760"/>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611"/>
          <p:cNvSpPr/>
          <p:nvPr userDrawn="1"/>
        </p:nvSpPr>
        <p:spPr>
          <a:xfrm>
            <a:off x="9735060" y="3932488"/>
            <a:ext cx="304048" cy="276408"/>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612"/>
          <p:cNvSpPr/>
          <p:nvPr userDrawn="1"/>
        </p:nvSpPr>
        <p:spPr>
          <a:xfrm>
            <a:off x="10315516" y="3946309"/>
            <a:ext cx="304048" cy="248757"/>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613"/>
          <p:cNvSpPr/>
          <p:nvPr userDrawn="1"/>
        </p:nvSpPr>
        <p:spPr>
          <a:xfrm>
            <a:off x="10895971"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14"/>
          <p:cNvSpPr/>
          <p:nvPr userDrawn="1"/>
        </p:nvSpPr>
        <p:spPr>
          <a:xfrm>
            <a:off x="11476426" y="3918668"/>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615"/>
          <p:cNvSpPr/>
          <p:nvPr userDrawn="1"/>
        </p:nvSpPr>
        <p:spPr>
          <a:xfrm>
            <a:off x="6252332"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616"/>
          <p:cNvSpPr/>
          <p:nvPr userDrawn="1"/>
        </p:nvSpPr>
        <p:spPr>
          <a:xfrm>
            <a:off x="6832787" y="4512942"/>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617"/>
          <p:cNvSpPr/>
          <p:nvPr userDrawn="1"/>
        </p:nvSpPr>
        <p:spPr>
          <a:xfrm>
            <a:off x="7413240" y="4526754"/>
            <a:ext cx="304048" cy="248794"/>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618"/>
          <p:cNvSpPr/>
          <p:nvPr userDrawn="1"/>
        </p:nvSpPr>
        <p:spPr>
          <a:xfrm>
            <a:off x="7993695" y="4499124"/>
            <a:ext cx="304020" cy="30406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619"/>
          <p:cNvSpPr/>
          <p:nvPr userDrawn="1"/>
        </p:nvSpPr>
        <p:spPr>
          <a:xfrm>
            <a:off x="8574150" y="4499123"/>
            <a:ext cx="304048" cy="304048"/>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620"/>
          <p:cNvSpPr/>
          <p:nvPr userDrawn="1"/>
        </p:nvSpPr>
        <p:spPr>
          <a:xfrm>
            <a:off x="9154607" y="4512942"/>
            <a:ext cx="304048" cy="276512"/>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621"/>
          <p:cNvSpPr/>
          <p:nvPr userDrawn="1"/>
        </p:nvSpPr>
        <p:spPr>
          <a:xfrm>
            <a:off x="9735060" y="4554405"/>
            <a:ext cx="304048" cy="193486"/>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622"/>
          <p:cNvSpPr/>
          <p:nvPr userDrawn="1"/>
        </p:nvSpPr>
        <p:spPr>
          <a:xfrm>
            <a:off x="10315516"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623"/>
          <p:cNvSpPr/>
          <p:nvPr userDrawn="1"/>
        </p:nvSpPr>
        <p:spPr>
          <a:xfrm>
            <a:off x="10895971" y="449912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624"/>
          <p:cNvSpPr/>
          <p:nvPr userDrawn="1"/>
        </p:nvSpPr>
        <p:spPr>
          <a:xfrm>
            <a:off x="11476426" y="4499114"/>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625"/>
          <p:cNvSpPr/>
          <p:nvPr userDrawn="1"/>
        </p:nvSpPr>
        <p:spPr>
          <a:xfrm>
            <a:off x="6252332"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626"/>
          <p:cNvSpPr/>
          <p:nvPr userDrawn="1"/>
        </p:nvSpPr>
        <p:spPr>
          <a:xfrm>
            <a:off x="6860428"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627"/>
          <p:cNvSpPr/>
          <p:nvPr userDrawn="1"/>
        </p:nvSpPr>
        <p:spPr>
          <a:xfrm>
            <a:off x="7461611" y="5079580"/>
            <a:ext cx="207307" cy="304048"/>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628"/>
          <p:cNvSpPr/>
          <p:nvPr userDrawn="1"/>
        </p:nvSpPr>
        <p:spPr>
          <a:xfrm>
            <a:off x="7993695"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629"/>
          <p:cNvSpPr/>
          <p:nvPr userDrawn="1"/>
        </p:nvSpPr>
        <p:spPr>
          <a:xfrm>
            <a:off x="8574149" y="5079580"/>
            <a:ext cx="304133" cy="304048"/>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630"/>
          <p:cNvSpPr/>
          <p:nvPr userDrawn="1"/>
        </p:nvSpPr>
        <p:spPr>
          <a:xfrm>
            <a:off x="9223705" y="5079580"/>
            <a:ext cx="165852" cy="304048"/>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631"/>
          <p:cNvSpPr/>
          <p:nvPr userDrawn="1"/>
        </p:nvSpPr>
        <p:spPr>
          <a:xfrm>
            <a:off x="9735060" y="5107220"/>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632"/>
          <p:cNvSpPr/>
          <p:nvPr userDrawn="1"/>
        </p:nvSpPr>
        <p:spPr>
          <a:xfrm>
            <a:off x="10343157" y="5079580"/>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633"/>
          <p:cNvSpPr/>
          <p:nvPr userDrawn="1"/>
        </p:nvSpPr>
        <p:spPr>
          <a:xfrm>
            <a:off x="10895971"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634"/>
          <p:cNvSpPr/>
          <p:nvPr userDrawn="1"/>
        </p:nvSpPr>
        <p:spPr>
          <a:xfrm>
            <a:off x="11476426" y="507958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TextBox 115"/>
          <p:cNvSpPr txBox="1"/>
          <p:nvPr userDrawn="1"/>
        </p:nvSpPr>
        <p:spPr>
          <a:xfrm>
            <a:off x="406318" y="2287740"/>
            <a:ext cx="2127132"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General</a:t>
            </a:r>
          </a:p>
        </p:txBody>
      </p:sp>
      <p:sp>
        <p:nvSpPr>
          <p:cNvPr id="119" name="Shape 2591">
            <a:extLst>
              <a:ext uri="{FF2B5EF4-FFF2-40B4-BE49-F238E27FC236}">
                <a16:creationId xmlns:a16="http://schemas.microsoft.com/office/drawing/2014/main" id="{58974CD0-5BFD-6D5C-3F76-6F14583A73AF}"/>
              </a:ext>
            </a:extLst>
          </p:cNvPr>
          <p:cNvSpPr/>
          <p:nvPr userDrawn="1"/>
        </p:nvSpPr>
        <p:spPr>
          <a:xfrm>
            <a:off x="9887460" y="2910150"/>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95351029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Icons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16" name="Shape 2637"/>
          <p:cNvSpPr/>
          <p:nvPr userDrawn="1"/>
        </p:nvSpPr>
        <p:spPr>
          <a:xfrm>
            <a:off x="46369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638"/>
          <p:cNvSpPr/>
          <p:nvPr userDrawn="1"/>
        </p:nvSpPr>
        <p:spPr>
          <a:xfrm>
            <a:off x="975316" y="2740848"/>
            <a:ext cx="304105" cy="304388"/>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639"/>
          <p:cNvSpPr/>
          <p:nvPr userDrawn="1"/>
        </p:nvSpPr>
        <p:spPr>
          <a:xfrm>
            <a:off x="1556076"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640"/>
          <p:cNvSpPr/>
          <p:nvPr userDrawn="1"/>
        </p:nvSpPr>
        <p:spPr>
          <a:xfrm>
            <a:off x="2136839"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641"/>
          <p:cNvSpPr/>
          <p:nvPr userDrawn="1"/>
        </p:nvSpPr>
        <p:spPr>
          <a:xfrm>
            <a:off x="2717600" y="2796159"/>
            <a:ext cx="304210" cy="193589"/>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642"/>
          <p:cNvSpPr/>
          <p:nvPr userDrawn="1"/>
        </p:nvSpPr>
        <p:spPr>
          <a:xfrm>
            <a:off x="3298364" y="2754675"/>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643"/>
          <p:cNvSpPr/>
          <p:nvPr userDrawn="1"/>
        </p:nvSpPr>
        <p:spPr>
          <a:xfrm>
            <a:off x="3948264" y="2740848"/>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644"/>
          <p:cNvSpPr/>
          <p:nvPr userDrawn="1"/>
        </p:nvSpPr>
        <p:spPr>
          <a:xfrm>
            <a:off x="4501371" y="2740848"/>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645"/>
          <p:cNvSpPr/>
          <p:nvPr userDrawn="1"/>
        </p:nvSpPr>
        <p:spPr>
          <a:xfrm>
            <a:off x="5040649" y="2782330"/>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646"/>
          <p:cNvSpPr/>
          <p:nvPr userDrawn="1"/>
        </p:nvSpPr>
        <p:spPr>
          <a:xfrm>
            <a:off x="5621410"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647"/>
          <p:cNvSpPr/>
          <p:nvPr userDrawn="1"/>
        </p:nvSpPr>
        <p:spPr>
          <a:xfrm>
            <a:off x="39455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648"/>
          <p:cNvSpPr/>
          <p:nvPr userDrawn="1"/>
        </p:nvSpPr>
        <p:spPr>
          <a:xfrm>
            <a:off x="97531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649"/>
          <p:cNvSpPr/>
          <p:nvPr userDrawn="1"/>
        </p:nvSpPr>
        <p:spPr>
          <a:xfrm>
            <a:off x="155607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650"/>
          <p:cNvSpPr/>
          <p:nvPr userDrawn="1"/>
        </p:nvSpPr>
        <p:spPr>
          <a:xfrm>
            <a:off x="21368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651"/>
          <p:cNvSpPr/>
          <p:nvPr userDrawn="1"/>
        </p:nvSpPr>
        <p:spPr>
          <a:xfrm>
            <a:off x="271760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652"/>
          <p:cNvSpPr/>
          <p:nvPr userDrawn="1"/>
        </p:nvSpPr>
        <p:spPr>
          <a:xfrm>
            <a:off x="3298364"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653"/>
          <p:cNvSpPr/>
          <p:nvPr userDrawn="1"/>
        </p:nvSpPr>
        <p:spPr>
          <a:xfrm>
            <a:off x="3879125"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654"/>
          <p:cNvSpPr/>
          <p:nvPr userDrawn="1"/>
        </p:nvSpPr>
        <p:spPr>
          <a:xfrm>
            <a:off x="4459886"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655"/>
          <p:cNvSpPr/>
          <p:nvPr userDrawn="1"/>
        </p:nvSpPr>
        <p:spPr>
          <a:xfrm>
            <a:off x="5040649" y="3349265"/>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656"/>
          <p:cNvSpPr/>
          <p:nvPr userDrawn="1"/>
        </p:nvSpPr>
        <p:spPr>
          <a:xfrm>
            <a:off x="5621410"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657"/>
          <p:cNvSpPr/>
          <p:nvPr userDrawn="1"/>
        </p:nvSpPr>
        <p:spPr>
          <a:xfrm>
            <a:off x="39455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658"/>
          <p:cNvSpPr/>
          <p:nvPr userDrawn="1"/>
        </p:nvSpPr>
        <p:spPr>
          <a:xfrm>
            <a:off x="975315"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8" name="Shape 2659"/>
          <p:cNvSpPr/>
          <p:nvPr userDrawn="1"/>
        </p:nvSpPr>
        <p:spPr>
          <a:xfrm>
            <a:off x="1556076"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Shape 2660"/>
          <p:cNvSpPr/>
          <p:nvPr userDrawn="1"/>
        </p:nvSpPr>
        <p:spPr>
          <a:xfrm>
            <a:off x="2136839"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0" name="Shape 2661"/>
          <p:cNvSpPr/>
          <p:nvPr userDrawn="1"/>
        </p:nvSpPr>
        <p:spPr>
          <a:xfrm>
            <a:off x="2717600"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1" name="Shape 2662"/>
          <p:cNvSpPr/>
          <p:nvPr userDrawn="1"/>
        </p:nvSpPr>
        <p:spPr>
          <a:xfrm>
            <a:off x="3298364"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2" name="Shape 2663"/>
          <p:cNvSpPr/>
          <p:nvPr userDrawn="1"/>
        </p:nvSpPr>
        <p:spPr>
          <a:xfrm>
            <a:off x="3879125"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Shape 2664"/>
          <p:cNvSpPr/>
          <p:nvPr userDrawn="1"/>
        </p:nvSpPr>
        <p:spPr>
          <a:xfrm>
            <a:off x="4459886"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4" name="Shape 2665"/>
          <p:cNvSpPr/>
          <p:nvPr userDrawn="1"/>
        </p:nvSpPr>
        <p:spPr>
          <a:xfrm>
            <a:off x="5040649"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5" name="Shape 2666"/>
          <p:cNvSpPr/>
          <p:nvPr userDrawn="1"/>
        </p:nvSpPr>
        <p:spPr>
          <a:xfrm>
            <a:off x="5621410" y="3971510"/>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6" name="Shape 2667"/>
          <p:cNvSpPr/>
          <p:nvPr userDrawn="1"/>
        </p:nvSpPr>
        <p:spPr>
          <a:xfrm>
            <a:off x="39455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Shape 2668"/>
          <p:cNvSpPr/>
          <p:nvPr userDrawn="1"/>
        </p:nvSpPr>
        <p:spPr>
          <a:xfrm>
            <a:off x="975315" y="4552271"/>
            <a:ext cx="304210" cy="16593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8" name="Shape 2669"/>
          <p:cNvSpPr/>
          <p:nvPr userDrawn="1"/>
        </p:nvSpPr>
        <p:spPr>
          <a:xfrm>
            <a:off x="1569904" y="4483132"/>
            <a:ext cx="276555" cy="304216"/>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9" name="Shape 2670"/>
          <p:cNvSpPr/>
          <p:nvPr userDrawn="1"/>
        </p:nvSpPr>
        <p:spPr>
          <a:xfrm>
            <a:off x="2136839"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0" name="Shape 2671"/>
          <p:cNvSpPr/>
          <p:nvPr userDrawn="1"/>
        </p:nvSpPr>
        <p:spPr>
          <a:xfrm>
            <a:off x="2717600" y="4483132"/>
            <a:ext cx="304210" cy="304216"/>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1" name="Shape 2672"/>
          <p:cNvSpPr/>
          <p:nvPr userDrawn="1"/>
        </p:nvSpPr>
        <p:spPr>
          <a:xfrm>
            <a:off x="3298364" y="4524616"/>
            <a:ext cx="304210" cy="2212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2" name="Shape 2673"/>
          <p:cNvSpPr/>
          <p:nvPr userDrawn="1"/>
        </p:nvSpPr>
        <p:spPr>
          <a:xfrm>
            <a:off x="3879125" y="4483134"/>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3" name="Shape 2674"/>
          <p:cNvSpPr/>
          <p:nvPr userDrawn="1"/>
        </p:nvSpPr>
        <p:spPr>
          <a:xfrm>
            <a:off x="4473715" y="4483134"/>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4" name="Shape 2675"/>
          <p:cNvSpPr/>
          <p:nvPr userDrawn="1"/>
        </p:nvSpPr>
        <p:spPr>
          <a:xfrm>
            <a:off x="5109789" y="4483134"/>
            <a:ext cx="166012" cy="304210"/>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Shape 2676"/>
          <p:cNvSpPr/>
          <p:nvPr userDrawn="1"/>
        </p:nvSpPr>
        <p:spPr>
          <a:xfrm>
            <a:off x="5662893" y="4483134"/>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6" name="Shape 2677"/>
          <p:cNvSpPr/>
          <p:nvPr userDrawn="1"/>
        </p:nvSpPr>
        <p:spPr>
          <a:xfrm>
            <a:off x="6285243" y="2740848"/>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7" name="Shape 2678"/>
          <p:cNvSpPr/>
          <p:nvPr userDrawn="1"/>
        </p:nvSpPr>
        <p:spPr>
          <a:xfrm>
            <a:off x="6852178"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8" name="Shape 2679"/>
          <p:cNvSpPr/>
          <p:nvPr userDrawn="1"/>
        </p:nvSpPr>
        <p:spPr>
          <a:xfrm>
            <a:off x="7432939" y="2754674"/>
            <a:ext cx="304210" cy="276552"/>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9" name="Shape 2680"/>
          <p:cNvSpPr/>
          <p:nvPr userDrawn="1"/>
        </p:nvSpPr>
        <p:spPr>
          <a:xfrm>
            <a:off x="801370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0" name="Shape 2681"/>
          <p:cNvSpPr/>
          <p:nvPr userDrawn="1"/>
        </p:nvSpPr>
        <p:spPr>
          <a:xfrm>
            <a:off x="859446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682"/>
          <p:cNvSpPr/>
          <p:nvPr userDrawn="1"/>
        </p:nvSpPr>
        <p:spPr>
          <a:xfrm>
            <a:off x="9175227"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683"/>
          <p:cNvSpPr/>
          <p:nvPr userDrawn="1"/>
        </p:nvSpPr>
        <p:spPr>
          <a:xfrm>
            <a:off x="9797471" y="2740849"/>
            <a:ext cx="221243" cy="30417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684"/>
          <p:cNvSpPr/>
          <p:nvPr userDrawn="1"/>
        </p:nvSpPr>
        <p:spPr>
          <a:xfrm>
            <a:off x="10336748" y="2740846"/>
            <a:ext cx="304210" cy="3045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685"/>
          <p:cNvSpPr/>
          <p:nvPr userDrawn="1"/>
        </p:nvSpPr>
        <p:spPr>
          <a:xfrm>
            <a:off x="10917513"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686"/>
          <p:cNvSpPr/>
          <p:nvPr userDrawn="1"/>
        </p:nvSpPr>
        <p:spPr>
          <a:xfrm>
            <a:off x="11498272" y="2740848"/>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687"/>
          <p:cNvSpPr/>
          <p:nvPr userDrawn="1"/>
        </p:nvSpPr>
        <p:spPr>
          <a:xfrm>
            <a:off x="62714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688"/>
          <p:cNvSpPr/>
          <p:nvPr userDrawn="1"/>
        </p:nvSpPr>
        <p:spPr>
          <a:xfrm>
            <a:off x="685217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689"/>
          <p:cNvSpPr/>
          <p:nvPr userDrawn="1"/>
        </p:nvSpPr>
        <p:spPr>
          <a:xfrm>
            <a:off x="7432939"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690"/>
          <p:cNvSpPr/>
          <p:nvPr userDrawn="1"/>
        </p:nvSpPr>
        <p:spPr>
          <a:xfrm>
            <a:off x="8013703" y="3335436"/>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691"/>
          <p:cNvSpPr/>
          <p:nvPr userDrawn="1"/>
        </p:nvSpPr>
        <p:spPr>
          <a:xfrm>
            <a:off x="8663601" y="3321609"/>
            <a:ext cx="165932" cy="304210"/>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692"/>
          <p:cNvSpPr/>
          <p:nvPr userDrawn="1"/>
        </p:nvSpPr>
        <p:spPr>
          <a:xfrm>
            <a:off x="9202880" y="3321609"/>
            <a:ext cx="248900" cy="304210"/>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693"/>
          <p:cNvSpPr/>
          <p:nvPr userDrawn="1"/>
        </p:nvSpPr>
        <p:spPr>
          <a:xfrm>
            <a:off x="9755987"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694"/>
          <p:cNvSpPr/>
          <p:nvPr userDrawn="1"/>
        </p:nvSpPr>
        <p:spPr>
          <a:xfrm>
            <a:off x="10336748"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695"/>
          <p:cNvSpPr/>
          <p:nvPr userDrawn="1"/>
        </p:nvSpPr>
        <p:spPr>
          <a:xfrm>
            <a:off x="10917513"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696"/>
          <p:cNvSpPr/>
          <p:nvPr userDrawn="1"/>
        </p:nvSpPr>
        <p:spPr>
          <a:xfrm>
            <a:off x="11498272" y="3321609"/>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697"/>
          <p:cNvSpPr/>
          <p:nvPr userDrawn="1"/>
        </p:nvSpPr>
        <p:spPr>
          <a:xfrm>
            <a:off x="6285243"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698"/>
          <p:cNvSpPr/>
          <p:nvPr userDrawn="1"/>
        </p:nvSpPr>
        <p:spPr>
          <a:xfrm>
            <a:off x="6866005" y="3902370"/>
            <a:ext cx="276555" cy="304210"/>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699"/>
          <p:cNvSpPr/>
          <p:nvPr userDrawn="1"/>
        </p:nvSpPr>
        <p:spPr>
          <a:xfrm>
            <a:off x="7432939" y="3930026"/>
            <a:ext cx="304210" cy="248899"/>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700"/>
          <p:cNvSpPr/>
          <p:nvPr userDrawn="1"/>
        </p:nvSpPr>
        <p:spPr>
          <a:xfrm>
            <a:off x="8013703" y="3902370"/>
            <a:ext cx="304210" cy="304210"/>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701"/>
          <p:cNvSpPr/>
          <p:nvPr userDrawn="1"/>
        </p:nvSpPr>
        <p:spPr>
          <a:xfrm>
            <a:off x="8594462" y="3978423"/>
            <a:ext cx="304210" cy="138278"/>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702"/>
          <p:cNvSpPr/>
          <p:nvPr userDrawn="1"/>
        </p:nvSpPr>
        <p:spPr>
          <a:xfrm>
            <a:off x="9175227" y="3916199"/>
            <a:ext cx="304210" cy="276554"/>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703"/>
          <p:cNvSpPr/>
          <p:nvPr userDrawn="1"/>
        </p:nvSpPr>
        <p:spPr>
          <a:xfrm>
            <a:off x="9769815" y="3902370"/>
            <a:ext cx="276555" cy="304524"/>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704"/>
          <p:cNvSpPr/>
          <p:nvPr userDrawn="1"/>
        </p:nvSpPr>
        <p:spPr>
          <a:xfrm>
            <a:off x="10336748" y="3902370"/>
            <a:ext cx="304210" cy="30420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705"/>
          <p:cNvSpPr/>
          <p:nvPr userDrawn="1"/>
        </p:nvSpPr>
        <p:spPr>
          <a:xfrm>
            <a:off x="10917511" y="3902371"/>
            <a:ext cx="304135" cy="304433"/>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706"/>
          <p:cNvSpPr/>
          <p:nvPr userDrawn="1"/>
        </p:nvSpPr>
        <p:spPr>
          <a:xfrm>
            <a:off x="11539757" y="3902370"/>
            <a:ext cx="221243" cy="304210"/>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userDrawn="1"/>
        </p:nvSpPr>
        <p:spPr>
          <a:xfrm>
            <a:off x="394556" y="2277506"/>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Electronics</a:t>
            </a:r>
          </a:p>
        </p:txBody>
      </p:sp>
      <p:sp>
        <p:nvSpPr>
          <p:cNvPr id="187" name="Shape 2790"/>
          <p:cNvSpPr/>
          <p:nvPr userDrawn="1"/>
        </p:nvSpPr>
        <p:spPr>
          <a:xfrm>
            <a:off x="394553"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791"/>
          <p:cNvSpPr/>
          <p:nvPr userDrawn="1"/>
        </p:nvSpPr>
        <p:spPr>
          <a:xfrm>
            <a:off x="977986"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792"/>
          <p:cNvSpPr/>
          <p:nvPr userDrawn="1"/>
        </p:nvSpPr>
        <p:spPr>
          <a:xfrm>
            <a:off x="1561417"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Shape 2793"/>
          <p:cNvSpPr/>
          <p:nvPr userDrawn="1"/>
        </p:nvSpPr>
        <p:spPr>
          <a:xfrm>
            <a:off x="2144850"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1" name="Shape 2794"/>
          <p:cNvSpPr/>
          <p:nvPr userDrawn="1"/>
        </p:nvSpPr>
        <p:spPr>
          <a:xfrm>
            <a:off x="2728281"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795"/>
          <p:cNvSpPr/>
          <p:nvPr userDrawn="1"/>
        </p:nvSpPr>
        <p:spPr>
          <a:xfrm>
            <a:off x="3311712"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796"/>
          <p:cNvSpPr/>
          <p:nvPr userDrawn="1"/>
        </p:nvSpPr>
        <p:spPr>
          <a:xfrm>
            <a:off x="3895145"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797"/>
          <p:cNvSpPr/>
          <p:nvPr userDrawn="1"/>
        </p:nvSpPr>
        <p:spPr>
          <a:xfrm>
            <a:off x="4478576"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798"/>
          <p:cNvSpPr/>
          <p:nvPr userDrawn="1"/>
        </p:nvSpPr>
        <p:spPr>
          <a:xfrm>
            <a:off x="5062007" y="5692685"/>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799"/>
          <p:cNvSpPr/>
          <p:nvPr userDrawn="1"/>
        </p:nvSpPr>
        <p:spPr>
          <a:xfrm>
            <a:off x="5645438" y="5664904"/>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800"/>
          <p:cNvSpPr/>
          <p:nvPr userDrawn="1"/>
        </p:nvSpPr>
        <p:spPr>
          <a:xfrm>
            <a:off x="394553"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801"/>
          <p:cNvSpPr/>
          <p:nvPr userDrawn="1"/>
        </p:nvSpPr>
        <p:spPr>
          <a:xfrm>
            <a:off x="977986" y="6276117"/>
            <a:ext cx="305607" cy="16670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802"/>
          <p:cNvSpPr/>
          <p:nvPr userDrawn="1"/>
        </p:nvSpPr>
        <p:spPr>
          <a:xfrm>
            <a:off x="1561417"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803"/>
          <p:cNvSpPr/>
          <p:nvPr userDrawn="1"/>
        </p:nvSpPr>
        <p:spPr>
          <a:xfrm>
            <a:off x="2144850"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804"/>
          <p:cNvSpPr/>
          <p:nvPr userDrawn="1"/>
        </p:nvSpPr>
        <p:spPr>
          <a:xfrm>
            <a:off x="2728281" y="6276117"/>
            <a:ext cx="305607" cy="166696"/>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805"/>
          <p:cNvSpPr/>
          <p:nvPr userDrawn="1"/>
        </p:nvSpPr>
        <p:spPr>
          <a:xfrm>
            <a:off x="3311712"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806"/>
          <p:cNvSpPr/>
          <p:nvPr userDrawn="1"/>
        </p:nvSpPr>
        <p:spPr>
          <a:xfrm>
            <a:off x="3895145" y="6262229"/>
            <a:ext cx="305607" cy="194477"/>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807"/>
          <p:cNvSpPr/>
          <p:nvPr userDrawn="1"/>
        </p:nvSpPr>
        <p:spPr>
          <a:xfrm>
            <a:off x="4478576"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808"/>
          <p:cNvSpPr/>
          <p:nvPr userDrawn="1"/>
        </p:nvSpPr>
        <p:spPr>
          <a:xfrm>
            <a:off x="5062007"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809"/>
          <p:cNvSpPr/>
          <p:nvPr userDrawn="1"/>
        </p:nvSpPr>
        <p:spPr>
          <a:xfrm>
            <a:off x="5645438"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810"/>
          <p:cNvSpPr/>
          <p:nvPr userDrawn="1"/>
        </p:nvSpPr>
        <p:spPr>
          <a:xfrm>
            <a:off x="6245989"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811"/>
          <p:cNvSpPr/>
          <p:nvPr userDrawn="1"/>
        </p:nvSpPr>
        <p:spPr>
          <a:xfrm>
            <a:off x="6829421"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812"/>
          <p:cNvSpPr/>
          <p:nvPr userDrawn="1"/>
        </p:nvSpPr>
        <p:spPr>
          <a:xfrm>
            <a:off x="7412853"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813"/>
          <p:cNvSpPr/>
          <p:nvPr userDrawn="1"/>
        </p:nvSpPr>
        <p:spPr>
          <a:xfrm>
            <a:off x="7996285" y="565796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1" name="Shape 2814"/>
          <p:cNvSpPr/>
          <p:nvPr userDrawn="1"/>
        </p:nvSpPr>
        <p:spPr>
          <a:xfrm>
            <a:off x="8607501" y="5623231"/>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Shape 2815"/>
          <p:cNvSpPr/>
          <p:nvPr userDrawn="1"/>
        </p:nvSpPr>
        <p:spPr>
          <a:xfrm>
            <a:off x="9177041" y="5623231"/>
            <a:ext cx="277826" cy="305607"/>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3" name="Shape 2816"/>
          <p:cNvSpPr/>
          <p:nvPr userDrawn="1"/>
        </p:nvSpPr>
        <p:spPr>
          <a:xfrm>
            <a:off x="9739634" y="5623231"/>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4" name="Shape 2817"/>
          <p:cNvSpPr/>
          <p:nvPr userDrawn="1"/>
        </p:nvSpPr>
        <p:spPr>
          <a:xfrm>
            <a:off x="10330011" y="5651016"/>
            <a:ext cx="305607" cy="25004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5" name="Shape 2818"/>
          <p:cNvSpPr/>
          <p:nvPr userDrawn="1"/>
        </p:nvSpPr>
        <p:spPr>
          <a:xfrm>
            <a:off x="10913444"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6" name="Shape 2819"/>
          <p:cNvSpPr/>
          <p:nvPr userDrawn="1"/>
        </p:nvSpPr>
        <p:spPr>
          <a:xfrm>
            <a:off x="11496875" y="5637125"/>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7" name="Shape 2820"/>
          <p:cNvSpPr/>
          <p:nvPr userDrawn="1"/>
        </p:nvSpPr>
        <p:spPr>
          <a:xfrm>
            <a:off x="6245989"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8" name="Shape 2821"/>
          <p:cNvSpPr/>
          <p:nvPr userDrawn="1"/>
        </p:nvSpPr>
        <p:spPr>
          <a:xfrm>
            <a:off x="6829421"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9" name="Shape 2822"/>
          <p:cNvSpPr/>
          <p:nvPr userDrawn="1"/>
        </p:nvSpPr>
        <p:spPr>
          <a:xfrm>
            <a:off x="7412853" y="6220557"/>
            <a:ext cx="305607" cy="277825"/>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0" name="Shape 2823"/>
          <p:cNvSpPr/>
          <p:nvPr userDrawn="1"/>
        </p:nvSpPr>
        <p:spPr>
          <a:xfrm>
            <a:off x="7996285" y="6241391"/>
            <a:ext cx="305607" cy="243097"/>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1" name="Shape 2824"/>
          <p:cNvSpPr/>
          <p:nvPr userDrawn="1"/>
        </p:nvSpPr>
        <p:spPr>
          <a:xfrm>
            <a:off x="8579717" y="6206662"/>
            <a:ext cx="305607" cy="305559"/>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2" name="Shape 2825"/>
          <p:cNvSpPr/>
          <p:nvPr userDrawn="1"/>
        </p:nvSpPr>
        <p:spPr>
          <a:xfrm>
            <a:off x="9163149" y="6248336"/>
            <a:ext cx="305607" cy="222261"/>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3" name="Shape 2826"/>
          <p:cNvSpPr/>
          <p:nvPr userDrawn="1"/>
        </p:nvSpPr>
        <p:spPr>
          <a:xfrm>
            <a:off x="9746580" y="6234443"/>
            <a:ext cx="305607" cy="25028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4" name="Shape 2827"/>
          <p:cNvSpPr/>
          <p:nvPr userDrawn="1"/>
        </p:nvSpPr>
        <p:spPr>
          <a:xfrm>
            <a:off x="10371684" y="6206663"/>
            <a:ext cx="222261" cy="305607"/>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5" name="Shape 2828"/>
          <p:cNvSpPr/>
          <p:nvPr userDrawn="1"/>
        </p:nvSpPr>
        <p:spPr>
          <a:xfrm>
            <a:off x="10941226" y="6206663"/>
            <a:ext cx="250043" cy="305607"/>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6" name="Shape 2829"/>
          <p:cNvSpPr/>
          <p:nvPr userDrawn="1"/>
        </p:nvSpPr>
        <p:spPr>
          <a:xfrm>
            <a:off x="11496875" y="6206663"/>
            <a:ext cx="305607" cy="305607"/>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7" name="TextBox 226"/>
          <p:cNvSpPr txBox="1"/>
          <p:nvPr userDrawn="1"/>
        </p:nvSpPr>
        <p:spPr>
          <a:xfrm>
            <a:off x="394556" y="5162165"/>
            <a:ext cx="2133449"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E-Commerce</a:t>
            </a:r>
          </a:p>
        </p:txBody>
      </p:sp>
      <p:sp>
        <p:nvSpPr>
          <p:cNvPr id="22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4161800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Icons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228" name="TextBox 227"/>
          <p:cNvSpPr txBox="1"/>
          <p:nvPr userDrawn="1"/>
        </p:nvSpPr>
        <p:spPr>
          <a:xfrm>
            <a:off x="394556" y="2289077"/>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Web</a:t>
            </a:r>
          </a:p>
        </p:txBody>
      </p:sp>
      <p:sp>
        <p:nvSpPr>
          <p:cNvPr id="229" name="Shape 2831"/>
          <p:cNvSpPr/>
          <p:nvPr userDrawn="1"/>
        </p:nvSpPr>
        <p:spPr>
          <a:xfrm>
            <a:off x="436212"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0" name="Shape 2832"/>
          <p:cNvSpPr/>
          <p:nvPr userDrawn="1"/>
        </p:nvSpPr>
        <p:spPr>
          <a:xfrm>
            <a:off x="1019417" y="2758313"/>
            <a:ext cx="222176" cy="305490"/>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bg2"/>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Shape 2833"/>
          <p:cNvSpPr/>
          <p:nvPr userDrawn="1"/>
        </p:nvSpPr>
        <p:spPr>
          <a:xfrm>
            <a:off x="1560969"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2" name="Shape 2834"/>
          <p:cNvSpPr/>
          <p:nvPr userDrawn="1"/>
        </p:nvSpPr>
        <p:spPr>
          <a:xfrm>
            <a:off x="2144178"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3" name="Shape 2835"/>
          <p:cNvSpPr/>
          <p:nvPr userDrawn="1"/>
        </p:nvSpPr>
        <p:spPr>
          <a:xfrm>
            <a:off x="2727387"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4" name="Shape 2836"/>
          <p:cNvSpPr/>
          <p:nvPr userDrawn="1"/>
        </p:nvSpPr>
        <p:spPr>
          <a:xfrm>
            <a:off x="3310595" y="2799968"/>
            <a:ext cx="305490" cy="222176"/>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5" name="Shape 2837"/>
          <p:cNvSpPr/>
          <p:nvPr userDrawn="1"/>
        </p:nvSpPr>
        <p:spPr>
          <a:xfrm>
            <a:off x="3893804" y="2793025"/>
            <a:ext cx="305490" cy="23606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6" name="Shape 2838"/>
          <p:cNvSpPr/>
          <p:nvPr userDrawn="1"/>
        </p:nvSpPr>
        <p:spPr>
          <a:xfrm>
            <a:off x="4477011" y="2786085"/>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7" name="Shape 2839"/>
          <p:cNvSpPr/>
          <p:nvPr userDrawn="1"/>
        </p:nvSpPr>
        <p:spPr>
          <a:xfrm>
            <a:off x="5060217"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8" name="Shape 2840"/>
          <p:cNvSpPr/>
          <p:nvPr userDrawn="1"/>
        </p:nvSpPr>
        <p:spPr>
          <a:xfrm>
            <a:off x="5643426" y="2772200"/>
            <a:ext cx="305490" cy="27771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9" name="Shape 2841"/>
          <p:cNvSpPr/>
          <p:nvPr userDrawn="1"/>
        </p:nvSpPr>
        <p:spPr>
          <a:xfrm>
            <a:off x="394556" y="3369291"/>
            <a:ext cx="305490" cy="24994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0" name="Shape 2842"/>
          <p:cNvSpPr/>
          <p:nvPr userDrawn="1"/>
        </p:nvSpPr>
        <p:spPr>
          <a:xfrm>
            <a:off x="97776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1" name="Shape 2843"/>
          <p:cNvSpPr/>
          <p:nvPr userDrawn="1"/>
        </p:nvSpPr>
        <p:spPr>
          <a:xfrm>
            <a:off x="156096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2" name="Shape 2844"/>
          <p:cNvSpPr/>
          <p:nvPr userDrawn="1"/>
        </p:nvSpPr>
        <p:spPr>
          <a:xfrm>
            <a:off x="2144178"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3" name="Shape 2845"/>
          <p:cNvSpPr/>
          <p:nvPr userDrawn="1"/>
        </p:nvSpPr>
        <p:spPr>
          <a:xfrm>
            <a:off x="2755158"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4" name="Shape 2846"/>
          <p:cNvSpPr/>
          <p:nvPr userDrawn="1"/>
        </p:nvSpPr>
        <p:spPr>
          <a:xfrm>
            <a:off x="3338367" y="3341520"/>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5" name="Shape 2847"/>
          <p:cNvSpPr/>
          <p:nvPr userDrawn="1"/>
        </p:nvSpPr>
        <p:spPr>
          <a:xfrm>
            <a:off x="3893804"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6" name="Shape 2848"/>
          <p:cNvSpPr/>
          <p:nvPr userDrawn="1"/>
        </p:nvSpPr>
        <p:spPr>
          <a:xfrm>
            <a:off x="4477011" y="3341521"/>
            <a:ext cx="305490" cy="30548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7" name="Shape 2849"/>
          <p:cNvSpPr/>
          <p:nvPr userDrawn="1"/>
        </p:nvSpPr>
        <p:spPr>
          <a:xfrm>
            <a:off x="5060217" y="3362348"/>
            <a:ext cx="305490" cy="264084"/>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8" name="Shape 2850"/>
          <p:cNvSpPr/>
          <p:nvPr userDrawn="1"/>
        </p:nvSpPr>
        <p:spPr>
          <a:xfrm>
            <a:off x="5643426"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9" name="Shape 2851"/>
          <p:cNvSpPr/>
          <p:nvPr userDrawn="1"/>
        </p:nvSpPr>
        <p:spPr>
          <a:xfrm>
            <a:off x="394556"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0" name="Shape 2852"/>
          <p:cNvSpPr/>
          <p:nvPr userDrawn="1"/>
        </p:nvSpPr>
        <p:spPr>
          <a:xfrm>
            <a:off x="991651" y="3924728"/>
            <a:ext cx="277719" cy="305490"/>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1" name="Shape 2853"/>
          <p:cNvSpPr/>
          <p:nvPr userDrawn="1"/>
        </p:nvSpPr>
        <p:spPr>
          <a:xfrm>
            <a:off x="1588744"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 name="Shape 2854"/>
          <p:cNvSpPr/>
          <p:nvPr userDrawn="1"/>
        </p:nvSpPr>
        <p:spPr>
          <a:xfrm>
            <a:off x="2144176" y="3924726"/>
            <a:ext cx="305419" cy="305424"/>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 name="Shape 2855"/>
          <p:cNvSpPr/>
          <p:nvPr userDrawn="1"/>
        </p:nvSpPr>
        <p:spPr>
          <a:xfrm>
            <a:off x="2741271" y="3924726"/>
            <a:ext cx="277646" cy="305424"/>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 name="Shape 2856"/>
          <p:cNvSpPr/>
          <p:nvPr userDrawn="1"/>
        </p:nvSpPr>
        <p:spPr>
          <a:xfrm>
            <a:off x="3310592" y="3924728"/>
            <a:ext cx="305639" cy="305517"/>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 name="Shape 2857"/>
          <p:cNvSpPr/>
          <p:nvPr userDrawn="1"/>
        </p:nvSpPr>
        <p:spPr>
          <a:xfrm>
            <a:off x="3893804"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 name="Shape 2858"/>
          <p:cNvSpPr/>
          <p:nvPr userDrawn="1"/>
        </p:nvSpPr>
        <p:spPr>
          <a:xfrm>
            <a:off x="450478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 name="Shape 2859"/>
          <p:cNvSpPr/>
          <p:nvPr userDrawn="1"/>
        </p:nvSpPr>
        <p:spPr>
          <a:xfrm>
            <a:off x="506021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 name="Shape 2860"/>
          <p:cNvSpPr/>
          <p:nvPr userDrawn="1"/>
        </p:nvSpPr>
        <p:spPr>
          <a:xfrm>
            <a:off x="5643426" y="392472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 name="Shape 2861"/>
          <p:cNvSpPr/>
          <p:nvPr userDrawn="1"/>
        </p:nvSpPr>
        <p:spPr>
          <a:xfrm>
            <a:off x="6268291"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 name="Shape 2862"/>
          <p:cNvSpPr/>
          <p:nvPr userDrawn="1"/>
        </p:nvSpPr>
        <p:spPr>
          <a:xfrm>
            <a:off x="6851500"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 name="Shape 2863"/>
          <p:cNvSpPr/>
          <p:nvPr userDrawn="1"/>
        </p:nvSpPr>
        <p:spPr>
          <a:xfrm>
            <a:off x="743470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 name="Shape 2864"/>
          <p:cNvSpPr/>
          <p:nvPr userDrawn="1"/>
        </p:nvSpPr>
        <p:spPr>
          <a:xfrm>
            <a:off x="8017915"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 name="Shape 2865"/>
          <p:cNvSpPr/>
          <p:nvPr userDrawn="1"/>
        </p:nvSpPr>
        <p:spPr>
          <a:xfrm>
            <a:off x="8601123"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 name="Shape 2866"/>
          <p:cNvSpPr/>
          <p:nvPr userDrawn="1"/>
        </p:nvSpPr>
        <p:spPr>
          <a:xfrm>
            <a:off x="9184332"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 name="Shape 2867"/>
          <p:cNvSpPr/>
          <p:nvPr userDrawn="1"/>
        </p:nvSpPr>
        <p:spPr>
          <a:xfrm>
            <a:off x="9767539"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 name="Shape 2868"/>
          <p:cNvSpPr/>
          <p:nvPr userDrawn="1"/>
        </p:nvSpPr>
        <p:spPr>
          <a:xfrm>
            <a:off x="10350747"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 name="Shape 2869"/>
          <p:cNvSpPr/>
          <p:nvPr userDrawn="1"/>
        </p:nvSpPr>
        <p:spPr>
          <a:xfrm>
            <a:off x="10933954" y="2758315"/>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 name="Shape 2870"/>
          <p:cNvSpPr/>
          <p:nvPr userDrawn="1"/>
        </p:nvSpPr>
        <p:spPr>
          <a:xfrm>
            <a:off x="11517163" y="2758313"/>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 name="Shape 2871"/>
          <p:cNvSpPr/>
          <p:nvPr userDrawn="1"/>
        </p:nvSpPr>
        <p:spPr>
          <a:xfrm>
            <a:off x="6268291"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 name="Shape 2872"/>
          <p:cNvSpPr/>
          <p:nvPr userDrawn="1"/>
        </p:nvSpPr>
        <p:spPr>
          <a:xfrm>
            <a:off x="6851500"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 name="Shape 2873"/>
          <p:cNvSpPr/>
          <p:nvPr userDrawn="1"/>
        </p:nvSpPr>
        <p:spPr>
          <a:xfrm>
            <a:off x="743470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 name="Shape 2874"/>
          <p:cNvSpPr/>
          <p:nvPr userDrawn="1"/>
        </p:nvSpPr>
        <p:spPr>
          <a:xfrm>
            <a:off x="8017915"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 name="Shape 2875"/>
          <p:cNvSpPr/>
          <p:nvPr userDrawn="1"/>
        </p:nvSpPr>
        <p:spPr>
          <a:xfrm>
            <a:off x="8601123"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 name="Shape 2876"/>
          <p:cNvSpPr/>
          <p:nvPr userDrawn="1"/>
        </p:nvSpPr>
        <p:spPr>
          <a:xfrm>
            <a:off x="9184332"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 name="Shape 2877"/>
          <p:cNvSpPr/>
          <p:nvPr userDrawn="1"/>
        </p:nvSpPr>
        <p:spPr>
          <a:xfrm>
            <a:off x="9767539"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 name="Shape 2878"/>
          <p:cNvSpPr/>
          <p:nvPr userDrawn="1"/>
        </p:nvSpPr>
        <p:spPr>
          <a:xfrm>
            <a:off x="10350747"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 name="Shape 2879"/>
          <p:cNvSpPr/>
          <p:nvPr userDrawn="1"/>
        </p:nvSpPr>
        <p:spPr>
          <a:xfrm>
            <a:off x="10933954" y="3341520"/>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 name="Shape 2880"/>
          <p:cNvSpPr/>
          <p:nvPr userDrawn="1"/>
        </p:nvSpPr>
        <p:spPr>
          <a:xfrm>
            <a:off x="11517163" y="3341519"/>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 name="Shape 2881"/>
          <p:cNvSpPr/>
          <p:nvPr userDrawn="1"/>
        </p:nvSpPr>
        <p:spPr>
          <a:xfrm>
            <a:off x="6268291"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 name="Shape 2882"/>
          <p:cNvSpPr/>
          <p:nvPr userDrawn="1"/>
        </p:nvSpPr>
        <p:spPr>
          <a:xfrm>
            <a:off x="6851500"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 name="Shape 2883"/>
          <p:cNvSpPr/>
          <p:nvPr userDrawn="1"/>
        </p:nvSpPr>
        <p:spPr>
          <a:xfrm>
            <a:off x="7434707"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Shape 2884"/>
          <p:cNvSpPr/>
          <p:nvPr userDrawn="1"/>
        </p:nvSpPr>
        <p:spPr>
          <a:xfrm>
            <a:off x="8017915" y="3924728"/>
            <a:ext cx="305490" cy="305490"/>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 name="Shape 2885"/>
          <p:cNvSpPr/>
          <p:nvPr userDrawn="1"/>
        </p:nvSpPr>
        <p:spPr>
          <a:xfrm>
            <a:off x="862889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 name="Shape 2886"/>
          <p:cNvSpPr/>
          <p:nvPr userDrawn="1"/>
        </p:nvSpPr>
        <p:spPr>
          <a:xfrm>
            <a:off x="9212106"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 name="Shape 2887"/>
          <p:cNvSpPr/>
          <p:nvPr userDrawn="1"/>
        </p:nvSpPr>
        <p:spPr>
          <a:xfrm>
            <a:off x="9795313"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 name="Shape 2888"/>
          <p:cNvSpPr/>
          <p:nvPr userDrawn="1"/>
        </p:nvSpPr>
        <p:spPr>
          <a:xfrm>
            <a:off x="10378520" y="3924722"/>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 name="Shape 2889"/>
          <p:cNvSpPr/>
          <p:nvPr userDrawn="1"/>
        </p:nvSpPr>
        <p:spPr>
          <a:xfrm>
            <a:off x="10961729" y="3924726"/>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 name="Shape 2890"/>
          <p:cNvSpPr/>
          <p:nvPr userDrawn="1"/>
        </p:nvSpPr>
        <p:spPr>
          <a:xfrm>
            <a:off x="11544945" y="3924728"/>
            <a:ext cx="249947" cy="305490"/>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Shape 2893"/>
          <p:cNvSpPr/>
          <p:nvPr userDrawn="1"/>
        </p:nvSpPr>
        <p:spPr>
          <a:xfrm>
            <a:off x="394554"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 name="Shape 2894"/>
          <p:cNvSpPr/>
          <p:nvPr userDrawn="1"/>
        </p:nvSpPr>
        <p:spPr>
          <a:xfrm>
            <a:off x="9798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 name="Shape 2895"/>
          <p:cNvSpPr/>
          <p:nvPr userDrawn="1"/>
        </p:nvSpPr>
        <p:spPr>
          <a:xfrm>
            <a:off x="1641888"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 name="Shape 2896"/>
          <p:cNvSpPr/>
          <p:nvPr userDrawn="1"/>
        </p:nvSpPr>
        <p:spPr>
          <a:xfrm>
            <a:off x="2227230" y="5179386"/>
            <a:ext cx="153305" cy="306608"/>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 name="Shape 2897"/>
          <p:cNvSpPr/>
          <p:nvPr userDrawn="1"/>
        </p:nvSpPr>
        <p:spPr>
          <a:xfrm>
            <a:off x="2735921"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 name="Shape 2898"/>
          <p:cNvSpPr/>
          <p:nvPr userDrawn="1"/>
        </p:nvSpPr>
        <p:spPr>
          <a:xfrm>
            <a:off x="3321263" y="5256037"/>
            <a:ext cx="306608" cy="153304"/>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 name="Shape 2899"/>
          <p:cNvSpPr/>
          <p:nvPr userDrawn="1"/>
        </p:nvSpPr>
        <p:spPr>
          <a:xfrm>
            <a:off x="3920541"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 name="Shape 2900"/>
          <p:cNvSpPr/>
          <p:nvPr userDrawn="1"/>
        </p:nvSpPr>
        <p:spPr>
          <a:xfrm>
            <a:off x="4505883" y="5263006"/>
            <a:ext cx="278734" cy="139368"/>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 name="Shape 2901"/>
          <p:cNvSpPr/>
          <p:nvPr userDrawn="1"/>
        </p:nvSpPr>
        <p:spPr>
          <a:xfrm>
            <a:off x="5160908"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 name="Shape 2902"/>
          <p:cNvSpPr/>
          <p:nvPr userDrawn="1"/>
        </p:nvSpPr>
        <p:spPr>
          <a:xfrm>
            <a:off x="5746250" y="5193322"/>
            <a:ext cx="139369" cy="278735"/>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9" name="Shape 2903"/>
          <p:cNvSpPr/>
          <p:nvPr userDrawn="1"/>
        </p:nvSpPr>
        <p:spPr>
          <a:xfrm>
            <a:off x="394554"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0" name="Shape 2904"/>
          <p:cNvSpPr/>
          <p:nvPr userDrawn="1"/>
        </p:nvSpPr>
        <p:spPr>
          <a:xfrm>
            <a:off x="9798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1" name="Shape 2905"/>
          <p:cNvSpPr/>
          <p:nvPr userDrawn="1"/>
        </p:nvSpPr>
        <p:spPr>
          <a:xfrm>
            <a:off x="156523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2" name="Shape 2906"/>
          <p:cNvSpPr/>
          <p:nvPr userDrawn="1"/>
        </p:nvSpPr>
        <p:spPr>
          <a:xfrm>
            <a:off x="2150579"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3" name="Shape 2907"/>
          <p:cNvSpPr/>
          <p:nvPr userDrawn="1"/>
        </p:nvSpPr>
        <p:spPr>
          <a:xfrm>
            <a:off x="273592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4" name="Shape 2908"/>
          <p:cNvSpPr/>
          <p:nvPr userDrawn="1"/>
        </p:nvSpPr>
        <p:spPr>
          <a:xfrm>
            <a:off x="3321263"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5" name="Shape 2909"/>
          <p:cNvSpPr/>
          <p:nvPr userDrawn="1"/>
        </p:nvSpPr>
        <p:spPr>
          <a:xfrm>
            <a:off x="3906605" y="5834409"/>
            <a:ext cx="306608" cy="167241"/>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6" name="Shape 2910"/>
          <p:cNvSpPr/>
          <p:nvPr userDrawn="1"/>
        </p:nvSpPr>
        <p:spPr>
          <a:xfrm>
            <a:off x="4561629"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7" name="Shape 2911"/>
          <p:cNvSpPr/>
          <p:nvPr userDrawn="1"/>
        </p:nvSpPr>
        <p:spPr>
          <a:xfrm>
            <a:off x="5146970" y="5764725"/>
            <a:ext cx="167241" cy="306608"/>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8" name="Shape 2912"/>
          <p:cNvSpPr/>
          <p:nvPr userDrawn="1"/>
        </p:nvSpPr>
        <p:spPr>
          <a:xfrm>
            <a:off x="566262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9" name="Shape 2913"/>
          <p:cNvSpPr/>
          <p:nvPr userDrawn="1"/>
        </p:nvSpPr>
        <p:spPr>
          <a:xfrm>
            <a:off x="624797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0" name="Shape 2914"/>
          <p:cNvSpPr/>
          <p:nvPr userDrawn="1"/>
        </p:nvSpPr>
        <p:spPr>
          <a:xfrm>
            <a:off x="6833311"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1" name="Shape 2915"/>
          <p:cNvSpPr/>
          <p:nvPr userDrawn="1"/>
        </p:nvSpPr>
        <p:spPr>
          <a:xfrm>
            <a:off x="7418653"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2" name="Shape 2916"/>
          <p:cNvSpPr/>
          <p:nvPr userDrawn="1"/>
        </p:nvSpPr>
        <p:spPr>
          <a:xfrm>
            <a:off x="8003996" y="5179386"/>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3" name="Shape 2917"/>
          <p:cNvSpPr/>
          <p:nvPr userDrawn="1"/>
        </p:nvSpPr>
        <p:spPr>
          <a:xfrm>
            <a:off x="8638114"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4" name="Shape 2918"/>
          <p:cNvSpPr/>
          <p:nvPr userDrawn="1"/>
        </p:nvSpPr>
        <p:spPr>
          <a:xfrm>
            <a:off x="9223456" y="5179386"/>
            <a:ext cx="209052" cy="306608"/>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5" name="Shape 2919"/>
          <p:cNvSpPr/>
          <p:nvPr userDrawn="1"/>
        </p:nvSpPr>
        <p:spPr>
          <a:xfrm>
            <a:off x="9760020"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6" name="Shape 2920"/>
          <p:cNvSpPr/>
          <p:nvPr userDrawn="1"/>
        </p:nvSpPr>
        <p:spPr>
          <a:xfrm>
            <a:off x="10345361" y="5228163"/>
            <a:ext cx="306608" cy="20905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7" name="Shape 2921"/>
          <p:cNvSpPr/>
          <p:nvPr userDrawn="1"/>
        </p:nvSpPr>
        <p:spPr>
          <a:xfrm>
            <a:off x="10972513" y="5179386"/>
            <a:ext cx="222988" cy="306608"/>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8" name="Shape 2922"/>
          <p:cNvSpPr/>
          <p:nvPr userDrawn="1"/>
        </p:nvSpPr>
        <p:spPr>
          <a:xfrm>
            <a:off x="11516044" y="5221195"/>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9" name="Shape 2923"/>
          <p:cNvSpPr/>
          <p:nvPr userDrawn="1"/>
        </p:nvSpPr>
        <p:spPr>
          <a:xfrm>
            <a:off x="624797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0" name="Shape 2924"/>
          <p:cNvSpPr/>
          <p:nvPr userDrawn="1"/>
        </p:nvSpPr>
        <p:spPr>
          <a:xfrm>
            <a:off x="6833311"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1" name="Shape 2925"/>
          <p:cNvSpPr/>
          <p:nvPr userDrawn="1"/>
        </p:nvSpPr>
        <p:spPr>
          <a:xfrm>
            <a:off x="7418653"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2" name="Shape 2926"/>
          <p:cNvSpPr/>
          <p:nvPr userDrawn="1"/>
        </p:nvSpPr>
        <p:spPr>
          <a:xfrm>
            <a:off x="8003996"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3" name="Shape 2927"/>
          <p:cNvSpPr/>
          <p:nvPr userDrawn="1"/>
        </p:nvSpPr>
        <p:spPr>
          <a:xfrm>
            <a:off x="858933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4" name="Shape 2928"/>
          <p:cNvSpPr/>
          <p:nvPr userDrawn="1"/>
        </p:nvSpPr>
        <p:spPr>
          <a:xfrm>
            <a:off x="9174678"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5" name="Shape 2929"/>
          <p:cNvSpPr/>
          <p:nvPr userDrawn="1"/>
        </p:nvSpPr>
        <p:spPr>
          <a:xfrm>
            <a:off x="9760020" y="5764725"/>
            <a:ext cx="306608" cy="306608"/>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6" name="Shape 2930"/>
          <p:cNvSpPr/>
          <p:nvPr userDrawn="1"/>
        </p:nvSpPr>
        <p:spPr>
          <a:xfrm>
            <a:off x="10345361" y="5820475"/>
            <a:ext cx="306608" cy="195114"/>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7" name="Shape 2931"/>
          <p:cNvSpPr/>
          <p:nvPr userDrawn="1"/>
        </p:nvSpPr>
        <p:spPr>
          <a:xfrm>
            <a:off x="10930703" y="5806536"/>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8" name="Shape 2932"/>
          <p:cNvSpPr/>
          <p:nvPr userDrawn="1"/>
        </p:nvSpPr>
        <p:spPr>
          <a:xfrm>
            <a:off x="11516044" y="5792600"/>
            <a:ext cx="306608" cy="250861"/>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9" name="TextBox 328"/>
          <p:cNvSpPr txBox="1"/>
          <p:nvPr userDrawn="1"/>
        </p:nvSpPr>
        <p:spPr>
          <a:xfrm>
            <a:off x="394556" y="4691436"/>
            <a:ext cx="2137221"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Arrows</a:t>
            </a:r>
          </a:p>
        </p:txBody>
      </p:sp>
      <p:sp>
        <p:nvSpPr>
          <p:cNvPr id="331"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387365341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Icons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159" name="TextBox 158"/>
          <p:cNvSpPr txBox="1"/>
          <p:nvPr userDrawn="1"/>
        </p:nvSpPr>
        <p:spPr>
          <a:xfrm>
            <a:off x="394556" y="2286943"/>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Weather</a:t>
            </a:r>
          </a:p>
        </p:txBody>
      </p:sp>
      <p:sp>
        <p:nvSpPr>
          <p:cNvPr id="160" name="Shape 2955"/>
          <p:cNvSpPr/>
          <p:nvPr userDrawn="1"/>
        </p:nvSpPr>
        <p:spPr>
          <a:xfrm>
            <a:off x="394554"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1" name="Shape 2956"/>
          <p:cNvSpPr/>
          <p:nvPr userDrawn="1"/>
        </p:nvSpPr>
        <p:spPr>
          <a:xfrm>
            <a:off x="97913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Shape 2957"/>
          <p:cNvSpPr/>
          <p:nvPr userDrawn="1"/>
        </p:nvSpPr>
        <p:spPr>
          <a:xfrm>
            <a:off x="1563713"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3" name="Shape 2958"/>
          <p:cNvSpPr/>
          <p:nvPr userDrawn="1"/>
        </p:nvSpPr>
        <p:spPr>
          <a:xfrm>
            <a:off x="214829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4" name="Shape 2959"/>
          <p:cNvSpPr/>
          <p:nvPr userDrawn="1"/>
        </p:nvSpPr>
        <p:spPr>
          <a:xfrm>
            <a:off x="2732872"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5" name="Shape 2960"/>
          <p:cNvSpPr/>
          <p:nvPr userDrawn="1"/>
        </p:nvSpPr>
        <p:spPr>
          <a:xfrm>
            <a:off x="3317452" y="2853251"/>
            <a:ext cx="306245" cy="222700"/>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6" name="Shape 2961"/>
          <p:cNvSpPr/>
          <p:nvPr userDrawn="1"/>
        </p:nvSpPr>
        <p:spPr>
          <a:xfrm>
            <a:off x="3943783" y="2811494"/>
            <a:ext cx="222699"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7" name="Shape 2962"/>
          <p:cNvSpPr/>
          <p:nvPr userDrawn="1"/>
        </p:nvSpPr>
        <p:spPr>
          <a:xfrm>
            <a:off x="4486609" y="2811494"/>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8" name="Shape 2963"/>
          <p:cNvSpPr/>
          <p:nvPr userDrawn="1"/>
        </p:nvSpPr>
        <p:spPr>
          <a:xfrm>
            <a:off x="5071187" y="2881090"/>
            <a:ext cx="306210" cy="167025"/>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9" name="Shape 2964"/>
          <p:cNvSpPr/>
          <p:nvPr userDrawn="1"/>
        </p:nvSpPr>
        <p:spPr>
          <a:xfrm>
            <a:off x="5655766" y="2853251"/>
            <a:ext cx="306210" cy="222700"/>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0" name="Shape 2965"/>
          <p:cNvSpPr/>
          <p:nvPr userDrawn="1"/>
        </p:nvSpPr>
        <p:spPr>
          <a:xfrm>
            <a:off x="394554" y="3465674"/>
            <a:ext cx="306210" cy="180944"/>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1" name="Shape 2966"/>
          <p:cNvSpPr/>
          <p:nvPr userDrawn="1"/>
        </p:nvSpPr>
        <p:spPr>
          <a:xfrm>
            <a:off x="979133"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2" name="Shape 2967"/>
          <p:cNvSpPr/>
          <p:nvPr userDrawn="1"/>
        </p:nvSpPr>
        <p:spPr>
          <a:xfrm>
            <a:off x="1563713"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3" name="Shape 2968"/>
          <p:cNvSpPr/>
          <p:nvPr userDrawn="1"/>
        </p:nvSpPr>
        <p:spPr>
          <a:xfrm>
            <a:off x="2148292" y="3423919"/>
            <a:ext cx="306210" cy="250537"/>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4" name="Shape 2969"/>
          <p:cNvSpPr/>
          <p:nvPr userDrawn="1"/>
        </p:nvSpPr>
        <p:spPr>
          <a:xfrm>
            <a:off x="2732872" y="3410000"/>
            <a:ext cx="306210" cy="278375"/>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5" name="Shape 2970"/>
          <p:cNvSpPr/>
          <p:nvPr userDrawn="1"/>
        </p:nvSpPr>
        <p:spPr>
          <a:xfrm>
            <a:off x="3317451"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6" name="Shape 2971"/>
          <p:cNvSpPr/>
          <p:nvPr userDrawn="1"/>
        </p:nvSpPr>
        <p:spPr>
          <a:xfrm>
            <a:off x="390202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7" name="Shape 2972"/>
          <p:cNvSpPr/>
          <p:nvPr userDrawn="1"/>
        </p:nvSpPr>
        <p:spPr>
          <a:xfrm>
            <a:off x="4486609"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8" name="Shape 2973"/>
          <p:cNvSpPr/>
          <p:nvPr userDrawn="1"/>
        </p:nvSpPr>
        <p:spPr>
          <a:xfrm>
            <a:off x="5071187" y="3416958"/>
            <a:ext cx="306210" cy="264456"/>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9" name="Shape 2974"/>
          <p:cNvSpPr/>
          <p:nvPr userDrawn="1"/>
        </p:nvSpPr>
        <p:spPr>
          <a:xfrm>
            <a:off x="5655766" y="339607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0" name="Shape 2975"/>
          <p:cNvSpPr/>
          <p:nvPr userDrawn="1"/>
        </p:nvSpPr>
        <p:spPr>
          <a:xfrm>
            <a:off x="6323857"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1" name="Shape 2976"/>
          <p:cNvSpPr/>
          <p:nvPr userDrawn="1"/>
        </p:nvSpPr>
        <p:spPr>
          <a:xfrm>
            <a:off x="6908436"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2" name="Shape 2977"/>
          <p:cNvSpPr/>
          <p:nvPr userDrawn="1"/>
        </p:nvSpPr>
        <p:spPr>
          <a:xfrm>
            <a:off x="7493014"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3" name="Shape 2978"/>
          <p:cNvSpPr/>
          <p:nvPr userDrawn="1"/>
        </p:nvSpPr>
        <p:spPr>
          <a:xfrm>
            <a:off x="8077595"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4" name="Shape 2979"/>
          <p:cNvSpPr/>
          <p:nvPr userDrawn="1"/>
        </p:nvSpPr>
        <p:spPr>
          <a:xfrm>
            <a:off x="8662173"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5" name="Shape 2980"/>
          <p:cNvSpPr/>
          <p:nvPr userDrawn="1"/>
        </p:nvSpPr>
        <p:spPr>
          <a:xfrm>
            <a:off x="9246753" y="2853249"/>
            <a:ext cx="306210" cy="306213"/>
          </a:xfrm>
          <a:prstGeom prst="ellipse">
            <a:avLst/>
          </a:pr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Shape 2981"/>
          <p:cNvSpPr/>
          <p:nvPr userDrawn="1"/>
        </p:nvSpPr>
        <p:spPr>
          <a:xfrm>
            <a:off x="983133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7" name="Shape 2982"/>
          <p:cNvSpPr/>
          <p:nvPr userDrawn="1"/>
        </p:nvSpPr>
        <p:spPr>
          <a:xfrm>
            <a:off x="10415912"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8" name="Shape 2983"/>
          <p:cNvSpPr/>
          <p:nvPr userDrawn="1"/>
        </p:nvSpPr>
        <p:spPr>
          <a:xfrm>
            <a:off x="11000491" y="2853249"/>
            <a:ext cx="306210"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9" name="Shape 2984"/>
          <p:cNvSpPr/>
          <p:nvPr userDrawn="1"/>
        </p:nvSpPr>
        <p:spPr>
          <a:xfrm>
            <a:off x="11668582" y="2853249"/>
            <a:ext cx="139188" cy="30621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0" name="TextBox 189"/>
          <p:cNvSpPr txBox="1"/>
          <p:nvPr userDrawn="1"/>
        </p:nvSpPr>
        <p:spPr>
          <a:xfrm>
            <a:off x="394556" y="4246836"/>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Location</a:t>
            </a:r>
          </a:p>
        </p:txBody>
      </p:sp>
      <p:sp>
        <p:nvSpPr>
          <p:cNvPr id="191" name="Shape 2934"/>
          <p:cNvSpPr/>
          <p:nvPr userDrawn="1"/>
        </p:nvSpPr>
        <p:spPr>
          <a:xfrm>
            <a:off x="394553" y="4696236"/>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2" name="Shape 2935"/>
          <p:cNvSpPr/>
          <p:nvPr userDrawn="1"/>
        </p:nvSpPr>
        <p:spPr>
          <a:xfrm>
            <a:off x="937378" y="4696236"/>
            <a:ext cx="305988" cy="306031"/>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Shape 2936"/>
          <p:cNvSpPr/>
          <p:nvPr userDrawn="1"/>
        </p:nvSpPr>
        <p:spPr>
          <a:xfrm>
            <a:off x="1605469" y="4696236"/>
            <a:ext cx="139188"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4" name="Shape 2937"/>
          <p:cNvSpPr/>
          <p:nvPr userDrawn="1"/>
        </p:nvSpPr>
        <p:spPr>
          <a:xfrm>
            <a:off x="2106536"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5" name="Shape 2938"/>
          <p:cNvSpPr/>
          <p:nvPr userDrawn="1"/>
        </p:nvSpPr>
        <p:spPr>
          <a:xfrm>
            <a:off x="269111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6" name="Shape 2939"/>
          <p:cNvSpPr/>
          <p:nvPr userDrawn="1"/>
        </p:nvSpPr>
        <p:spPr>
          <a:xfrm>
            <a:off x="3275693"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7" name="Shape 2940"/>
          <p:cNvSpPr/>
          <p:nvPr userDrawn="1"/>
        </p:nvSpPr>
        <p:spPr>
          <a:xfrm>
            <a:off x="3860275"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8" name="Shape 2941"/>
          <p:cNvSpPr/>
          <p:nvPr userDrawn="1"/>
        </p:nvSpPr>
        <p:spPr>
          <a:xfrm>
            <a:off x="4444854" y="4696236"/>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9" name="Shape 2942"/>
          <p:cNvSpPr/>
          <p:nvPr userDrawn="1"/>
        </p:nvSpPr>
        <p:spPr>
          <a:xfrm>
            <a:off x="505727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0" name="Shape 2943"/>
          <p:cNvSpPr/>
          <p:nvPr userDrawn="1"/>
        </p:nvSpPr>
        <p:spPr>
          <a:xfrm>
            <a:off x="5641850" y="4696236"/>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1" name="Shape 2944"/>
          <p:cNvSpPr/>
          <p:nvPr userDrawn="1"/>
        </p:nvSpPr>
        <p:spPr>
          <a:xfrm>
            <a:off x="6240346"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2" name="Shape 2945"/>
          <p:cNvSpPr/>
          <p:nvPr userDrawn="1"/>
        </p:nvSpPr>
        <p:spPr>
          <a:xfrm>
            <a:off x="682492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3" name="Shape 2946"/>
          <p:cNvSpPr/>
          <p:nvPr userDrawn="1"/>
        </p:nvSpPr>
        <p:spPr>
          <a:xfrm>
            <a:off x="7409505"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4" name="Shape 2947"/>
          <p:cNvSpPr/>
          <p:nvPr userDrawn="1"/>
        </p:nvSpPr>
        <p:spPr>
          <a:xfrm>
            <a:off x="7994084"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5" name="Shape 2948"/>
          <p:cNvSpPr/>
          <p:nvPr userDrawn="1"/>
        </p:nvSpPr>
        <p:spPr>
          <a:xfrm>
            <a:off x="8620418" y="4689047"/>
            <a:ext cx="222699" cy="306208"/>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6" name="Shape 2949"/>
          <p:cNvSpPr/>
          <p:nvPr userDrawn="1"/>
        </p:nvSpPr>
        <p:spPr>
          <a:xfrm>
            <a:off x="9191082"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7" name="Shape 2950"/>
          <p:cNvSpPr/>
          <p:nvPr userDrawn="1"/>
        </p:nvSpPr>
        <p:spPr>
          <a:xfrm>
            <a:off x="9775660" y="4689047"/>
            <a:ext cx="250533" cy="306208"/>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8" name="Shape 2951"/>
          <p:cNvSpPr/>
          <p:nvPr userDrawn="1"/>
        </p:nvSpPr>
        <p:spPr>
          <a:xfrm>
            <a:off x="10332401" y="4716884"/>
            <a:ext cx="306210" cy="250534"/>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9" name="Shape 2952"/>
          <p:cNvSpPr/>
          <p:nvPr userDrawn="1"/>
        </p:nvSpPr>
        <p:spPr>
          <a:xfrm>
            <a:off x="10916980"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0" name="Shape 2953"/>
          <p:cNvSpPr/>
          <p:nvPr userDrawn="1"/>
        </p:nvSpPr>
        <p:spPr>
          <a:xfrm>
            <a:off x="11501558" y="4689047"/>
            <a:ext cx="306210" cy="306208"/>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2"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40351535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Icons5">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AD7E30C-E535-514A-8915-D5E5678F09A8}"/>
              </a:ext>
            </a:extLst>
          </p:cNvPr>
          <p:cNvSpPr/>
          <p:nvPr userDrawn="1"/>
        </p:nvSpPr>
        <p:spPr>
          <a:xfrm>
            <a:off x="399" y="224"/>
            <a:ext cx="12191205" cy="1927566"/>
          </a:xfrm>
          <a:prstGeom prst="rect">
            <a:avLst/>
          </a:prstGeom>
          <a:solidFill>
            <a:srgbClr val="F5EFE8"/>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6" tIns="45716" rIns="45716" bIns="45716" numCol="1" spcCol="38100" rtlCol="0" anchor="ctr">
            <a:noAutofit/>
          </a:bodyPr>
          <a:lstStyle/>
          <a:p>
            <a:pPr hangingPunct="0"/>
            <a:endParaRPr lang="en-US" sz="900">
              <a:solidFill>
                <a:srgbClr val="323232"/>
              </a:solidFill>
              <a:latin typeface="Gotham"/>
              <a:ea typeface="Gotham"/>
              <a:cs typeface="Gotham"/>
              <a:sym typeface="Gotham"/>
            </a:endParaRPr>
          </a:p>
        </p:txBody>
      </p:sp>
      <p:sp>
        <p:nvSpPr>
          <p:cNvPr id="57" name="TextBox 56"/>
          <p:cNvSpPr txBox="1"/>
          <p:nvPr userDrawn="1"/>
        </p:nvSpPr>
        <p:spPr>
          <a:xfrm>
            <a:off x="394554" y="2282384"/>
            <a:ext cx="2134437" cy="223523"/>
          </a:xfrm>
          <a:prstGeom prst="rect">
            <a:avLst/>
          </a:prstGeom>
          <a:noFill/>
        </p:spPr>
        <p:txBody>
          <a:bodyPr wrap="square" lIns="0" tIns="0" rIns="0" bIns="0" rtlCol="0" anchor="ctr">
            <a:spAutoFit/>
          </a:bodyPr>
          <a:lstStyle/>
          <a:p>
            <a:pPr algn="l">
              <a:lnSpc>
                <a:spcPct val="110000"/>
              </a:lnSpc>
            </a:pPr>
            <a:r>
              <a:rPr lang="en-US" sz="1401">
                <a:solidFill>
                  <a:srgbClr val="4C4C4C"/>
                </a:solidFill>
                <a:latin typeface="+mn-lt"/>
                <a:ea typeface="ITC Century Std Book" charset="0"/>
                <a:cs typeface="Times New Roman" panose="02020603050405020304" pitchFamily="18" charset="0"/>
              </a:rPr>
              <a:t>Miscellaneous</a:t>
            </a:r>
          </a:p>
        </p:txBody>
      </p:sp>
      <p:sp>
        <p:nvSpPr>
          <p:cNvPr id="58" name="Shape 2708"/>
          <p:cNvSpPr/>
          <p:nvPr userDrawn="1"/>
        </p:nvSpPr>
        <p:spPr>
          <a:xfrm>
            <a:off x="39455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09"/>
          <p:cNvSpPr/>
          <p:nvPr userDrawn="1"/>
        </p:nvSpPr>
        <p:spPr>
          <a:xfrm>
            <a:off x="97770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10"/>
          <p:cNvSpPr/>
          <p:nvPr userDrawn="1"/>
        </p:nvSpPr>
        <p:spPr>
          <a:xfrm>
            <a:off x="1560857"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711"/>
          <p:cNvSpPr/>
          <p:nvPr userDrawn="1"/>
        </p:nvSpPr>
        <p:spPr>
          <a:xfrm>
            <a:off x="2144011"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12"/>
          <p:cNvSpPr/>
          <p:nvPr userDrawn="1"/>
        </p:nvSpPr>
        <p:spPr>
          <a:xfrm>
            <a:off x="2727163"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713"/>
          <p:cNvSpPr/>
          <p:nvPr userDrawn="1"/>
        </p:nvSpPr>
        <p:spPr>
          <a:xfrm>
            <a:off x="3310315"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714"/>
          <p:cNvSpPr/>
          <p:nvPr userDrawn="1"/>
        </p:nvSpPr>
        <p:spPr>
          <a:xfrm>
            <a:off x="3893470"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715"/>
          <p:cNvSpPr/>
          <p:nvPr userDrawn="1"/>
        </p:nvSpPr>
        <p:spPr>
          <a:xfrm>
            <a:off x="4476624"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16"/>
          <p:cNvSpPr/>
          <p:nvPr userDrawn="1"/>
        </p:nvSpPr>
        <p:spPr>
          <a:xfrm>
            <a:off x="5059776"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17"/>
          <p:cNvSpPr/>
          <p:nvPr userDrawn="1"/>
        </p:nvSpPr>
        <p:spPr>
          <a:xfrm>
            <a:off x="5642928" y="279587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18"/>
          <p:cNvSpPr/>
          <p:nvPr userDrawn="1"/>
        </p:nvSpPr>
        <p:spPr>
          <a:xfrm>
            <a:off x="394553"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719"/>
          <p:cNvSpPr/>
          <p:nvPr userDrawn="1"/>
        </p:nvSpPr>
        <p:spPr>
          <a:xfrm>
            <a:off x="977705"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720"/>
          <p:cNvSpPr/>
          <p:nvPr userDrawn="1"/>
        </p:nvSpPr>
        <p:spPr>
          <a:xfrm>
            <a:off x="1560857"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Shape 2721"/>
          <p:cNvSpPr/>
          <p:nvPr userDrawn="1"/>
        </p:nvSpPr>
        <p:spPr>
          <a:xfrm>
            <a:off x="2144011" y="3379026"/>
            <a:ext cx="304242" cy="304838"/>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722"/>
          <p:cNvSpPr/>
          <p:nvPr userDrawn="1"/>
        </p:nvSpPr>
        <p:spPr>
          <a:xfrm>
            <a:off x="2727164" y="3379026"/>
            <a:ext cx="304235" cy="304838"/>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723"/>
          <p:cNvSpPr/>
          <p:nvPr userDrawn="1"/>
        </p:nvSpPr>
        <p:spPr>
          <a:xfrm>
            <a:off x="3310315"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724"/>
          <p:cNvSpPr/>
          <p:nvPr userDrawn="1"/>
        </p:nvSpPr>
        <p:spPr>
          <a:xfrm>
            <a:off x="3893470"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725"/>
          <p:cNvSpPr/>
          <p:nvPr userDrawn="1"/>
        </p:nvSpPr>
        <p:spPr>
          <a:xfrm>
            <a:off x="4476624"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726"/>
          <p:cNvSpPr/>
          <p:nvPr userDrawn="1"/>
        </p:nvSpPr>
        <p:spPr>
          <a:xfrm>
            <a:off x="5087546" y="3379026"/>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727"/>
          <p:cNvSpPr/>
          <p:nvPr userDrawn="1"/>
        </p:nvSpPr>
        <p:spPr>
          <a:xfrm>
            <a:off x="5642928" y="3379026"/>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728"/>
          <p:cNvSpPr/>
          <p:nvPr userDrawn="1"/>
        </p:nvSpPr>
        <p:spPr>
          <a:xfrm>
            <a:off x="394553"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9" name="Shape 2729"/>
          <p:cNvSpPr/>
          <p:nvPr userDrawn="1"/>
        </p:nvSpPr>
        <p:spPr>
          <a:xfrm>
            <a:off x="977705"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730"/>
          <p:cNvSpPr/>
          <p:nvPr userDrawn="1"/>
        </p:nvSpPr>
        <p:spPr>
          <a:xfrm>
            <a:off x="1560857"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731"/>
          <p:cNvSpPr/>
          <p:nvPr userDrawn="1"/>
        </p:nvSpPr>
        <p:spPr>
          <a:xfrm>
            <a:off x="2144011" y="3976063"/>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732"/>
          <p:cNvSpPr/>
          <p:nvPr userDrawn="1"/>
        </p:nvSpPr>
        <p:spPr>
          <a:xfrm>
            <a:off x="2727163" y="4045488"/>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Shape 2733"/>
          <p:cNvSpPr/>
          <p:nvPr userDrawn="1"/>
        </p:nvSpPr>
        <p:spPr>
          <a:xfrm>
            <a:off x="3407512" y="3962177"/>
            <a:ext cx="111077"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4" name="Shape 2734"/>
          <p:cNvSpPr/>
          <p:nvPr userDrawn="1"/>
        </p:nvSpPr>
        <p:spPr>
          <a:xfrm>
            <a:off x="3893470" y="4003831"/>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5" name="Shape 2735"/>
          <p:cNvSpPr/>
          <p:nvPr userDrawn="1"/>
        </p:nvSpPr>
        <p:spPr>
          <a:xfrm>
            <a:off x="4476624" y="3989948"/>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736"/>
          <p:cNvSpPr/>
          <p:nvPr userDrawn="1"/>
        </p:nvSpPr>
        <p:spPr>
          <a:xfrm>
            <a:off x="5059776"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737"/>
          <p:cNvSpPr/>
          <p:nvPr userDrawn="1"/>
        </p:nvSpPr>
        <p:spPr>
          <a:xfrm>
            <a:off x="5642928" y="396217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738"/>
          <p:cNvSpPr/>
          <p:nvPr userDrawn="1"/>
        </p:nvSpPr>
        <p:spPr>
          <a:xfrm>
            <a:off x="39455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9" name="Shape 2739"/>
          <p:cNvSpPr/>
          <p:nvPr userDrawn="1"/>
        </p:nvSpPr>
        <p:spPr>
          <a:xfrm>
            <a:off x="97770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0" name="Shape 2740"/>
          <p:cNvSpPr/>
          <p:nvPr userDrawn="1"/>
        </p:nvSpPr>
        <p:spPr>
          <a:xfrm>
            <a:off x="1560857"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1" name="Shape 2741"/>
          <p:cNvSpPr/>
          <p:nvPr userDrawn="1"/>
        </p:nvSpPr>
        <p:spPr>
          <a:xfrm>
            <a:off x="2144011"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2" name="Shape 2742"/>
          <p:cNvSpPr/>
          <p:nvPr userDrawn="1"/>
        </p:nvSpPr>
        <p:spPr>
          <a:xfrm>
            <a:off x="2727163"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3" name="Shape 2743"/>
          <p:cNvSpPr/>
          <p:nvPr userDrawn="1"/>
        </p:nvSpPr>
        <p:spPr>
          <a:xfrm>
            <a:off x="3310315"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744"/>
          <p:cNvSpPr/>
          <p:nvPr userDrawn="1"/>
        </p:nvSpPr>
        <p:spPr>
          <a:xfrm>
            <a:off x="3893470"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745"/>
          <p:cNvSpPr/>
          <p:nvPr userDrawn="1"/>
        </p:nvSpPr>
        <p:spPr>
          <a:xfrm>
            <a:off x="4476624"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746"/>
          <p:cNvSpPr/>
          <p:nvPr userDrawn="1"/>
        </p:nvSpPr>
        <p:spPr>
          <a:xfrm>
            <a:off x="5059776"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747"/>
          <p:cNvSpPr/>
          <p:nvPr userDrawn="1"/>
        </p:nvSpPr>
        <p:spPr>
          <a:xfrm>
            <a:off x="5642928" y="454533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748"/>
          <p:cNvSpPr/>
          <p:nvPr userDrawn="1"/>
        </p:nvSpPr>
        <p:spPr>
          <a:xfrm>
            <a:off x="6253849" y="2795858"/>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749"/>
          <p:cNvSpPr/>
          <p:nvPr userDrawn="1"/>
        </p:nvSpPr>
        <p:spPr>
          <a:xfrm>
            <a:off x="6892544"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750"/>
          <p:cNvSpPr/>
          <p:nvPr userDrawn="1"/>
        </p:nvSpPr>
        <p:spPr>
          <a:xfrm>
            <a:off x="7503468" y="2795858"/>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751"/>
          <p:cNvSpPr/>
          <p:nvPr userDrawn="1"/>
        </p:nvSpPr>
        <p:spPr>
          <a:xfrm>
            <a:off x="8058850" y="2795858"/>
            <a:ext cx="194386" cy="305462"/>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52"/>
          <p:cNvSpPr/>
          <p:nvPr userDrawn="1"/>
        </p:nvSpPr>
        <p:spPr>
          <a:xfrm>
            <a:off x="8614234"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3" name="Shape 2753"/>
          <p:cNvSpPr/>
          <p:nvPr userDrawn="1"/>
        </p:nvSpPr>
        <p:spPr>
          <a:xfrm>
            <a:off x="9197386"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4" name="Shape 2754"/>
          <p:cNvSpPr/>
          <p:nvPr userDrawn="1"/>
        </p:nvSpPr>
        <p:spPr>
          <a:xfrm>
            <a:off x="9766654" y="2795858"/>
            <a:ext cx="277692" cy="305462"/>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Shape 2755"/>
          <p:cNvSpPr/>
          <p:nvPr userDrawn="1"/>
        </p:nvSpPr>
        <p:spPr>
          <a:xfrm>
            <a:off x="10363692" y="2795858"/>
            <a:ext cx="249924" cy="305462"/>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6" name="Shape 2756"/>
          <p:cNvSpPr/>
          <p:nvPr userDrawn="1"/>
        </p:nvSpPr>
        <p:spPr>
          <a:xfrm>
            <a:off x="10919074" y="2879167"/>
            <a:ext cx="305461" cy="138847"/>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Shape 2757"/>
          <p:cNvSpPr/>
          <p:nvPr userDrawn="1"/>
        </p:nvSpPr>
        <p:spPr>
          <a:xfrm>
            <a:off x="11502227" y="2795857"/>
            <a:ext cx="305540" cy="305543"/>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8" name="Shape 2758"/>
          <p:cNvSpPr/>
          <p:nvPr userDrawn="1"/>
        </p:nvSpPr>
        <p:spPr>
          <a:xfrm>
            <a:off x="6253849"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9" name="Shape 2759"/>
          <p:cNvSpPr/>
          <p:nvPr userDrawn="1"/>
        </p:nvSpPr>
        <p:spPr>
          <a:xfrm>
            <a:off x="6837005"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0" name="Shape 2760"/>
          <p:cNvSpPr/>
          <p:nvPr userDrawn="1"/>
        </p:nvSpPr>
        <p:spPr>
          <a:xfrm>
            <a:off x="742015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1" name="Shape 2761"/>
          <p:cNvSpPr/>
          <p:nvPr userDrawn="1"/>
        </p:nvSpPr>
        <p:spPr>
          <a:xfrm>
            <a:off x="8003310"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Shape 2762"/>
          <p:cNvSpPr/>
          <p:nvPr userDrawn="1"/>
        </p:nvSpPr>
        <p:spPr>
          <a:xfrm>
            <a:off x="8586462"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3" name="Shape 2763"/>
          <p:cNvSpPr/>
          <p:nvPr userDrawn="1"/>
        </p:nvSpPr>
        <p:spPr>
          <a:xfrm>
            <a:off x="9169616"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4" name="Shape 2764"/>
          <p:cNvSpPr/>
          <p:nvPr userDrawn="1"/>
        </p:nvSpPr>
        <p:spPr>
          <a:xfrm>
            <a:off x="9752768" y="3392896"/>
            <a:ext cx="305461" cy="277692"/>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5" name="Shape 2765"/>
          <p:cNvSpPr/>
          <p:nvPr userDrawn="1"/>
        </p:nvSpPr>
        <p:spPr>
          <a:xfrm>
            <a:off x="1033592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6" name="Shape 2766"/>
          <p:cNvSpPr/>
          <p:nvPr userDrawn="1"/>
        </p:nvSpPr>
        <p:spPr>
          <a:xfrm>
            <a:off x="10919074"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7" name="Shape 2767"/>
          <p:cNvSpPr/>
          <p:nvPr userDrawn="1"/>
        </p:nvSpPr>
        <p:spPr>
          <a:xfrm>
            <a:off x="11502228" y="3379012"/>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Shape 2768"/>
          <p:cNvSpPr/>
          <p:nvPr userDrawn="1"/>
        </p:nvSpPr>
        <p:spPr>
          <a:xfrm>
            <a:off x="6253849" y="4059358"/>
            <a:ext cx="305461" cy="111077"/>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9" name="Shape 2769"/>
          <p:cNvSpPr/>
          <p:nvPr userDrawn="1"/>
        </p:nvSpPr>
        <p:spPr>
          <a:xfrm>
            <a:off x="6878661"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0" name="Shape 2770"/>
          <p:cNvSpPr/>
          <p:nvPr userDrawn="1"/>
        </p:nvSpPr>
        <p:spPr>
          <a:xfrm>
            <a:off x="742015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1" name="Shape 2771"/>
          <p:cNvSpPr/>
          <p:nvPr userDrawn="1"/>
        </p:nvSpPr>
        <p:spPr>
          <a:xfrm>
            <a:off x="8003310"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2" name="Shape 2772"/>
          <p:cNvSpPr/>
          <p:nvPr userDrawn="1"/>
        </p:nvSpPr>
        <p:spPr>
          <a:xfrm>
            <a:off x="8586462"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3" name="Shape 2773"/>
          <p:cNvSpPr/>
          <p:nvPr userDrawn="1"/>
        </p:nvSpPr>
        <p:spPr>
          <a:xfrm>
            <a:off x="9169616"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Shape 2774"/>
          <p:cNvSpPr/>
          <p:nvPr userDrawn="1"/>
        </p:nvSpPr>
        <p:spPr>
          <a:xfrm>
            <a:off x="9752768" y="3962165"/>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5" name="Shape 2775"/>
          <p:cNvSpPr/>
          <p:nvPr userDrawn="1"/>
        </p:nvSpPr>
        <p:spPr>
          <a:xfrm>
            <a:off x="10335924" y="4010760"/>
            <a:ext cx="305461" cy="22215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6" name="Shape 2776"/>
          <p:cNvSpPr/>
          <p:nvPr userDrawn="1"/>
        </p:nvSpPr>
        <p:spPr>
          <a:xfrm>
            <a:off x="10988496" y="3962165"/>
            <a:ext cx="166617" cy="305462"/>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7" name="Shape 2777"/>
          <p:cNvSpPr/>
          <p:nvPr userDrawn="1"/>
        </p:nvSpPr>
        <p:spPr>
          <a:xfrm>
            <a:off x="11543884" y="3962165"/>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8" name="Shape 2778"/>
          <p:cNvSpPr/>
          <p:nvPr userDrawn="1"/>
        </p:nvSpPr>
        <p:spPr>
          <a:xfrm>
            <a:off x="6253849"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9" name="Shape 2779"/>
          <p:cNvSpPr/>
          <p:nvPr userDrawn="1"/>
        </p:nvSpPr>
        <p:spPr>
          <a:xfrm>
            <a:off x="6878661" y="4545317"/>
            <a:ext cx="222156" cy="305462"/>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0" name="Shape 2780"/>
          <p:cNvSpPr/>
          <p:nvPr userDrawn="1"/>
        </p:nvSpPr>
        <p:spPr>
          <a:xfrm>
            <a:off x="7503468" y="4545317"/>
            <a:ext cx="138846" cy="305462"/>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1" name="Shape 2781"/>
          <p:cNvSpPr/>
          <p:nvPr userDrawn="1"/>
        </p:nvSpPr>
        <p:spPr>
          <a:xfrm>
            <a:off x="8003310"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2" name="Shape 2782"/>
          <p:cNvSpPr/>
          <p:nvPr userDrawn="1"/>
        </p:nvSpPr>
        <p:spPr>
          <a:xfrm>
            <a:off x="8586462" y="4566144"/>
            <a:ext cx="305756" cy="26386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3" name="Shape 2783"/>
          <p:cNvSpPr/>
          <p:nvPr userDrawn="1"/>
        </p:nvSpPr>
        <p:spPr>
          <a:xfrm>
            <a:off x="9169616" y="4566144"/>
            <a:ext cx="305461" cy="263808"/>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4" name="Shape 2784"/>
          <p:cNvSpPr/>
          <p:nvPr userDrawn="1"/>
        </p:nvSpPr>
        <p:spPr>
          <a:xfrm>
            <a:off x="9752768" y="4545317"/>
            <a:ext cx="305461" cy="305462"/>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Shape 2785"/>
          <p:cNvSpPr/>
          <p:nvPr userDrawn="1"/>
        </p:nvSpPr>
        <p:spPr>
          <a:xfrm>
            <a:off x="10335924" y="4573090"/>
            <a:ext cx="305461" cy="2499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6" name="Shape 2786"/>
          <p:cNvSpPr/>
          <p:nvPr userDrawn="1"/>
        </p:nvSpPr>
        <p:spPr>
          <a:xfrm>
            <a:off x="10919077" y="4559201"/>
            <a:ext cx="305241" cy="277710"/>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7" name="Shape 2787"/>
          <p:cNvSpPr/>
          <p:nvPr userDrawn="1"/>
        </p:nvSpPr>
        <p:spPr>
          <a:xfrm>
            <a:off x="11502228" y="4545318"/>
            <a:ext cx="305273" cy="305477"/>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7F7F7F"/>
          </a:solidFill>
          <a:ln w="12700">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9" name="TextBox 6">
            <a:extLst>
              <a:ext uri="{FF2B5EF4-FFF2-40B4-BE49-F238E27FC236}">
                <a16:creationId xmlns:a16="http://schemas.microsoft.com/office/drawing/2014/main" id="{4D912B88-DBF8-AE4F-9335-D1A5D7DC6D55}"/>
              </a:ext>
            </a:extLst>
          </p:cNvPr>
          <p:cNvSpPr txBox="1"/>
          <p:nvPr userDrawn="1"/>
        </p:nvSpPr>
        <p:spPr>
          <a:xfrm>
            <a:off x="363869" y="979024"/>
            <a:ext cx="6186192" cy="67710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a:spAutoFit/>
          </a:bodyPr>
          <a:lstStyle>
            <a:lvl1pPr>
              <a:defRPr sz="4900">
                <a:solidFill>
                  <a:srgbClr val="E8111C"/>
                </a:solidFill>
                <a:latin typeface="Gilroy ExtraBold"/>
                <a:ea typeface="Gilroy ExtraBold"/>
                <a:cs typeface="Gilroy ExtraBold"/>
                <a:sym typeface="Gilroy ExtraBold"/>
              </a:defRPr>
            </a:lvl1pPr>
          </a:lstStyle>
          <a:p>
            <a:r>
              <a:rPr lang="en-US" sz="4400" b="1">
                <a:solidFill>
                  <a:schemeClr val="tx1"/>
                </a:solidFill>
                <a:latin typeface="Scotia Headline" panose="020B0503020203020204" pitchFamily="34" charset="0"/>
              </a:rPr>
              <a:t>Icons</a:t>
            </a:r>
          </a:p>
        </p:txBody>
      </p:sp>
    </p:spTree>
    <p:extLst>
      <p:ext uri="{BB962C8B-B14F-4D97-AF65-F5344CB8AC3E}">
        <p14:creationId xmlns:p14="http://schemas.microsoft.com/office/powerpoint/2010/main" val="172884232"/>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pic>
        <p:nvPicPr>
          <p:cNvPr id="4" name="Graphic 3">
            <a:extLst>
              <a:ext uri="{FF2B5EF4-FFF2-40B4-BE49-F238E27FC236}">
                <a16:creationId xmlns:a16="http://schemas.microsoft.com/office/drawing/2014/main" id="{F98AEAD0-BB31-5CC9-D705-0CA63F71D3A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888013" y="3955536"/>
            <a:ext cx="475191" cy="475191"/>
          </a:xfrm>
          <a:prstGeom prst="rect">
            <a:avLst/>
          </a:prstGeom>
        </p:spPr>
      </p:pic>
      <p:pic>
        <p:nvPicPr>
          <p:cNvPr id="6" name="Graphic 5">
            <a:extLst>
              <a:ext uri="{FF2B5EF4-FFF2-40B4-BE49-F238E27FC236}">
                <a16:creationId xmlns:a16="http://schemas.microsoft.com/office/drawing/2014/main" id="{1812633B-5E8B-FCE4-C743-CB354B0C649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599002" y="4023766"/>
            <a:ext cx="419286" cy="419286"/>
          </a:xfrm>
          <a:prstGeom prst="rect">
            <a:avLst/>
          </a:prstGeom>
        </p:spPr>
      </p:pic>
      <p:pic>
        <p:nvPicPr>
          <p:cNvPr id="7" name="Graphic 6">
            <a:extLst>
              <a:ext uri="{FF2B5EF4-FFF2-40B4-BE49-F238E27FC236}">
                <a16:creationId xmlns:a16="http://schemas.microsoft.com/office/drawing/2014/main" id="{89CCB643-FCDD-CB7C-F4BA-B0573D8820F3}"/>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11042688" y="4880613"/>
            <a:ext cx="475191" cy="405310"/>
          </a:xfrm>
          <a:prstGeom prst="rect">
            <a:avLst/>
          </a:prstGeom>
        </p:spPr>
      </p:pic>
      <p:pic>
        <p:nvPicPr>
          <p:cNvPr id="8" name="Graphic 7">
            <a:extLst>
              <a:ext uri="{FF2B5EF4-FFF2-40B4-BE49-F238E27FC236}">
                <a16:creationId xmlns:a16="http://schemas.microsoft.com/office/drawing/2014/main" id="{B0CF5B9C-6A3A-2E62-09C3-B40138B73B9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24157" y="2200648"/>
            <a:ext cx="433262" cy="433262"/>
          </a:xfrm>
          <a:prstGeom prst="rect">
            <a:avLst/>
          </a:prstGeom>
        </p:spPr>
      </p:pic>
      <p:pic>
        <p:nvPicPr>
          <p:cNvPr id="9" name="Graphic 8">
            <a:extLst>
              <a:ext uri="{FF2B5EF4-FFF2-40B4-BE49-F238E27FC236}">
                <a16:creationId xmlns:a16="http://schemas.microsoft.com/office/drawing/2014/main" id="{03D83740-52A4-308D-A6CD-40ACEAD25180}"/>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775585" y="3125205"/>
            <a:ext cx="503143" cy="419286"/>
          </a:xfrm>
          <a:prstGeom prst="rect">
            <a:avLst/>
          </a:prstGeom>
        </p:spPr>
      </p:pic>
      <p:pic>
        <p:nvPicPr>
          <p:cNvPr id="10" name="Graphic 9">
            <a:extLst>
              <a:ext uri="{FF2B5EF4-FFF2-40B4-BE49-F238E27FC236}">
                <a16:creationId xmlns:a16="http://schemas.microsoft.com/office/drawing/2014/main" id="{D4A1CE6A-3118-7016-09C1-5C0E327FF78B}"/>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5860773" y="5704818"/>
            <a:ext cx="503143" cy="503143"/>
          </a:xfrm>
          <a:prstGeom prst="rect">
            <a:avLst/>
          </a:prstGeom>
        </p:spPr>
      </p:pic>
      <p:pic>
        <p:nvPicPr>
          <p:cNvPr id="11" name="Graphic 10">
            <a:extLst>
              <a:ext uri="{FF2B5EF4-FFF2-40B4-BE49-F238E27FC236}">
                <a16:creationId xmlns:a16="http://schemas.microsoft.com/office/drawing/2014/main" id="{9E637835-18E4-8484-FC30-E11A333BC38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3324110" y="3053145"/>
            <a:ext cx="461215" cy="503143"/>
          </a:xfrm>
          <a:prstGeom prst="rect">
            <a:avLst/>
          </a:prstGeom>
        </p:spPr>
      </p:pic>
      <p:pic>
        <p:nvPicPr>
          <p:cNvPr id="12" name="Graphic 11">
            <a:extLst>
              <a:ext uri="{FF2B5EF4-FFF2-40B4-BE49-F238E27FC236}">
                <a16:creationId xmlns:a16="http://schemas.microsoft.com/office/drawing/2014/main" id="{A03755B2-BD83-C2ED-F7AD-A70A80E970B0}"/>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01438" y="4856903"/>
            <a:ext cx="475191" cy="475191"/>
          </a:xfrm>
          <a:prstGeom prst="rect">
            <a:avLst/>
          </a:prstGeom>
        </p:spPr>
      </p:pic>
      <p:pic>
        <p:nvPicPr>
          <p:cNvPr id="13" name="Graphic 12">
            <a:extLst>
              <a:ext uri="{FF2B5EF4-FFF2-40B4-BE49-F238E27FC236}">
                <a16:creationId xmlns:a16="http://schemas.microsoft.com/office/drawing/2014/main" id="{130E06E4-8140-653F-24D6-67ACC8DFB9CF}"/>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5937317" y="2207652"/>
            <a:ext cx="433262" cy="433262"/>
          </a:xfrm>
          <a:prstGeom prst="rect">
            <a:avLst/>
          </a:prstGeom>
        </p:spPr>
      </p:pic>
      <p:pic>
        <p:nvPicPr>
          <p:cNvPr id="14" name="Graphic 13">
            <a:extLst>
              <a:ext uri="{FF2B5EF4-FFF2-40B4-BE49-F238E27FC236}">
                <a16:creationId xmlns:a16="http://schemas.microsoft.com/office/drawing/2014/main" id="{57ECDAF8-91FA-3023-9E32-4D3C2CDCD4FA}"/>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1503925" y="3067226"/>
            <a:ext cx="503143" cy="447238"/>
          </a:xfrm>
          <a:prstGeom prst="rect">
            <a:avLst/>
          </a:prstGeom>
        </p:spPr>
      </p:pic>
      <p:pic>
        <p:nvPicPr>
          <p:cNvPr id="15" name="Graphic 14">
            <a:extLst>
              <a:ext uri="{FF2B5EF4-FFF2-40B4-BE49-F238E27FC236}">
                <a16:creationId xmlns:a16="http://schemas.microsoft.com/office/drawing/2014/main" id="{53EB066E-E1D2-15DB-E242-49B6ABFBDC3D}"/>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670559" y="4843402"/>
            <a:ext cx="475191" cy="475191"/>
          </a:xfrm>
          <a:prstGeom prst="rect">
            <a:avLst/>
          </a:prstGeom>
        </p:spPr>
      </p:pic>
      <p:pic>
        <p:nvPicPr>
          <p:cNvPr id="16" name="Graphic 15">
            <a:extLst>
              <a:ext uri="{FF2B5EF4-FFF2-40B4-BE49-F238E27FC236}">
                <a16:creationId xmlns:a16="http://schemas.microsoft.com/office/drawing/2014/main" id="{71F1324E-9D95-EB75-E03B-3B3E3EFCD754}"/>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3385696" y="4037238"/>
            <a:ext cx="419286" cy="419286"/>
          </a:xfrm>
          <a:prstGeom prst="rect">
            <a:avLst/>
          </a:prstGeom>
        </p:spPr>
      </p:pic>
      <p:pic>
        <p:nvPicPr>
          <p:cNvPr id="17" name="Graphic 16">
            <a:extLst>
              <a:ext uri="{FF2B5EF4-FFF2-40B4-BE49-F238E27FC236}">
                <a16:creationId xmlns:a16="http://schemas.microsoft.com/office/drawing/2014/main" id="{E1266B87-E0BD-DF39-A5F8-432BC61854A2}"/>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88822" y="3972966"/>
            <a:ext cx="419286" cy="419286"/>
          </a:xfrm>
          <a:prstGeom prst="rect">
            <a:avLst/>
          </a:prstGeom>
        </p:spPr>
      </p:pic>
      <p:pic>
        <p:nvPicPr>
          <p:cNvPr id="18" name="Graphic 17">
            <a:extLst>
              <a:ext uri="{FF2B5EF4-FFF2-40B4-BE49-F238E27FC236}">
                <a16:creationId xmlns:a16="http://schemas.microsoft.com/office/drawing/2014/main" id="{AF5E92BD-C896-1FBC-87DC-113153142AA5}"/>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9377816" y="2232558"/>
            <a:ext cx="503143" cy="349405"/>
          </a:xfrm>
          <a:prstGeom prst="rect">
            <a:avLst/>
          </a:prstGeom>
        </p:spPr>
      </p:pic>
      <p:pic>
        <p:nvPicPr>
          <p:cNvPr id="19" name="Graphic 18">
            <a:extLst>
              <a:ext uri="{FF2B5EF4-FFF2-40B4-BE49-F238E27FC236}">
                <a16:creationId xmlns:a16="http://schemas.microsoft.com/office/drawing/2014/main" id="{1F9A1321-6898-B234-907C-17AFD855999E}"/>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5123783" y="3941013"/>
            <a:ext cx="419286" cy="503143"/>
          </a:xfrm>
          <a:prstGeom prst="rect">
            <a:avLst/>
          </a:prstGeom>
        </p:spPr>
      </p:pic>
      <p:pic>
        <p:nvPicPr>
          <p:cNvPr id="20" name="Graphic 19">
            <a:extLst>
              <a:ext uri="{FF2B5EF4-FFF2-40B4-BE49-F238E27FC236}">
                <a16:creationId xmlns:a16="http://schemas.microsoft.com/office/drawing/2014/main" id="{D9FBD7C4-6DC7-9D4E-5290-DAF9F6EDF5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9468740" y="4850846"/>
            <a:ext cx="349405" cy="461214"/>
          </a:xfrm>
          <a:prstGeom prst="rect">
            <a:avLst/>
          </a:prstGeom>
        </p:spPr>
      </p:pic>
      <p:pic>
        <p:nvPicPr>
          <p:cNvPr id="21" name="Graphic 20">
            <a:extLst>
              <a:ext uri="{FF2B5EF4-FFF2-40B4-BE49-F238E27FC236}">
                <a16:creationId xmlns:a16="http://schemas.microsoft.com/office/drawing/2014/main" id="{5D85BB0B-EEA0-330E-3E1A-461586A4773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8535611" y="4932709"/>
            <a:ext cx="475191" cy="307476"/>
          </a:xfrm>
          <a:prstGeom prst="rect">
            <a:avLst/>
          </a:prstGeom>
        </p:spPr>
      </p:pic>
      <p:pic>
        <p:nvPicPr>
          <p:cNvPr id="22" name="Graphic 21">
            <a:extLst>
              <a:ext uri="{FF2B5EF4-FFF2-40B4-BE49-F238E27FC236}">
                <a16:creationId xmlns:a16="http://schemas.microsoft.com/office/drawing/2014/main" id="{D7A704D9-BCC0-2C33-91BB-85B38738729B}"/>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8530718" y="2234639"/>
            <a:ext cx="503143" cy="349405"/>
          </a:xfrm>
          <a:prstGeom prst="rect">
            <a:avLst/>
          </a:prstGeom>
        </p:spPr>
      </p:pic>
      <p:pic>
        <p:nvPicPr>
          <p:cNvPr id="23" name="Graphic 22">
            <a:extLst>
              <a:ext uri="{FF2B5EF4-FFF2-40B4-BE49-F238E27FC236}">
                <a16:creationId xmlns:a16="http://schemas.microsoft.com/office/drawing/2014/main" id="{A2A013CA-81A4-1B8C-6345-DAE391E958B0}"/>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18988" y="2234639"/>
            <a:ext cx="503143" cy="349405"/>
          </a:xfrm>
          <a:prstGeom prst="rect">
            <a:avLst/>
          </a:prstGeom>
        </p:spPr>
      </p:pic>
      <p:pic>
        <p:nvPicPr>
          <p:cNvPr id="24" name="Graphic 23">
            <a:extLst>
              <a:ext uri="{FF2B5EF4-FFF2-40B4-BE49-F238E27FC236}">
                <a16:creationId xmlns:a16="http://schemas.microsoft.com/office/drawing/2014/main" id="{351FF8EA-1D84-A488-4A82-0A1BD1A35C1C}"/>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97273" y="4023791"/>
            <a:ext cx="419286" cy="419286"/>
          </a:xfrm>
          <a:prstGeom prst="rect">
            <a:avLst/>
          </a:prstGeom>
        </p:spPr>
      </p:pic>
      <p:pic>
        <p:nvPicPr>
          <p:cNvPr id="25" name="Graphic 24">
            <a:extLst>
              <a:ext uri="{FF2B5EF4-FFF2-40B4-BE49-F238E27FC236}">
                <a16:creationId xmlns:a16="http://schemas.microsoft.com/office/drawing/2014/main" id="{CC2C800A-3CCE-EA3B-46E7-E1C98907317D}"/>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639218" y="3053145"/>
            <a:ext cx="503143" cy="503143"/>
          </a:xfrm>
          <a:prstGeom prst="rect">
            <a:avLst/>
          </a:prstGeom>
        </p:spPr>
      </p:pic>
      <p:pic>
        <p:nvPicPr>
          <p:cNvPr id="26" name="Graphic 25">
            <a:extLst>
              <a:ext uri="{FF2B5EF4-FFF2-40B4-BE49-F238E27FC236}">
                <a16:creationId xmlns:a16="http://schemas.microsoft.com/office/drawing/2014/main" id="{C9712A23-B064-1F68-1A04-FD7664A3F5ED}"/>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1517373" y="1265711"/>
            <a:ext cx="503143" cy="503143"/>
          </a:xfrm>
          <a:prstGeom prst="rect">
            <a:avLst/>
          </a:prstGeom>
        </p:spPr>
      </p:pic>
      <p:pic>
        <p:nvPicPr>
          <p:cNvPr id="27" name="Graphic 26">
            <a:extLst>
              <a:ext uri="{FF2B5EF4-FFF2-40B4-BE49-F238E27FC236}">
                <a16:creationId xmlns:a16="http://schemas.microsoft.com/office/drawing/2014/main" id="{024C17F4-50ED-FAB0-F135-8E0D7C72A4C2}"/>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7657640" y="4897233"/>
            <a:ext cx="461215" cy="349405"/>
          </a:xfrm>
          <a:prstGeom prst="rect">
            <a:avLst/>
          </a:prstGeom>
        </p:spPr>
      </p:pic>
      <p:pic>
        <p:nvPicPr>
          <p:cNvPr id="28" name="Graphic 27">
            <a:extLst>
              <a:ext uri="{FF2B5EF4-FFF2-40B4-BE49-F238E27FC236}">
                <a16:creationId xmlns:a16="http://schemas.microsoft.com/office/drawing/2014/main" id="{211B252D-1653-7152-3D17-4DCB7DB80BB2}"/>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3304338" y="1310364"/>
            <a:ext cx="503143" cy="419286"/>
          </a:xfrm>
          <a:prstGeom prst="rect">
            <a:avLst/>
          </a:prstGeom>
        </p:spPr>
      </p:pic>
      <p:pic>
        <p:nvPicPr>
          <p:cNvPr id="29" name="Graphic 28">
            <a:extLst>
              <a:ext uri="{FF2B5EF4-FFF2-40B4-BE49-F238E27FC236}">
                <a16:creationId xmlns:a16="http://schemas.microsoft.com/office/drawing/2014/main" id="{61CC7038-FDE1-C686-BFB2-5BD2F9BB3FA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11095675" y="3968597"/>
            <a:ext cx="419286" cy="475191"/>
          </a:xfrm>
          <a:prstGeom prst="rect">
            <a:avLst/>
          </a:prstGeom>
        </p:spPr>
      </p:pic>
      <p:pic>
        <p:nvPicPr>
          <p:cNvPr id="30" name="Graphic 29">
            <a:extLst>
              <a:ext uri="{FF2B5EF4-FFF2-40B4-BE49-F238E27FC236}">
                <a16:creationId xmlns:a16="http://schemas.microsoft.com/office/drawing/2014/main" id="{F62C85DE-BA70-FE60-FB32-2E6A85F2EE8F}"/>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2432207" y="4843403"/>
            <a:ext cx="475191" cy="475191"/>
          </a:xfrm>
          <a:prstGeom prst="rect">
            <a:avLst/>
          </a:prstGeom>
        </p:spPr>
      </p:pic>
      <p:pic>
        <p:nvPicPr>
          <p:cNvPr id="31" name="Graphic 30">
            <a:extLst>
              <a:ext uri="{FF2B5EF4-FFF2-40B4-BE49-F238E27FC236}">
                <a16:creationId xmlns:a16="http://schemas.microsoft.com/office/drawing/2014/main" id="{C53D98D2-837E-3CE9-D3E9-3BB6DCE995AF}"/>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11081341" y="3053145"/>
            <a:ext cx="433262" cy="503143"/>
          </a:xfrm>
          <a:prstGeom prst="rect">
            <a:avLst/>
          </a:prstGeom>
        </p:spPr>
      </p:pic>
      <p:pic>
        <p:nvPicPr>
          <p:cNvPr id="64" name="Graphic 63">
            <a:extLst>
              <a:ext uri="{FF2B5EF4-FFF2-40B4-BE49-F238E27FC236}">
                <a16:creationId xmlns:a16="http://schemas.microsoft.com/office/drawing/2014/main" id="{6682E2CC-A943-944D-2762-536A5CF93B3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2436597" y="2151391"/>
            <a:ext cx="503143" cy="503143"/>
          </a:xfrm>
          <a:prstGeom prst="rect">
            <a:avLst/>
          </a:prstGeom>
        </p:spPr>
      </p:pic>
      <p:pic>
        <p:nvPicPr>
          <p:cNvPr id="65" name="Graphic 64">
            <a:extLst>
              <a:ext uri="{FF2B5EF4-FFF2-40B4-BE49-F238E27FC236}">
                <a16:creationId xmlns:a16="http://schemas.microsoft.com/office/drawing/2014/main" id="{A827644E-AAC7-E3E5-DAE0-F50545229F66}"/>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666296" y="2151391"/>
            <a:ext cx="489167" cy="503143"/>
          </a:xfrm>
          <a:prstGeom prst="rect">
            <a:avLst/>
          </a:prstGeom>
        </p:spPr>
      </p:pic>
      <p:pic>
        <p:nvPicPr>
          <p:cNvPr id="66" name="Graphic 65">
            <a:extLst>
              <a:ext uri="{FF2B5EF4-FFF2-40B4-BE49-F238E27FC236}">
                <a16:creationId xmlns:a16="http://schemas.microsoft.com/office/drawing/2014/main" id="{0C336192-21FE-4039-C64C-6A91D48E5E94}"/>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6775953" y="1266269"/>
            <a:ext cx="475191" cy="503143"/>
          </a:xfrm>
          <a:prstGeom prst="rect">
            <a:avLst/>
          </a:prstGeom>
        </p:spPr>
      </p:pic>
      <p:pic>
        <p:nvPicPr>
          <p:cNvPr id="67" name="Graphic 66">
            <a:extLst>
              <a:ext uri="{FF2B5EF4-FFF2-40B4-BE49-F238E27FC236}">
                <a16:creationId xmlns:a16="http://schemas.microsoft.com/office/drawing/2014/main" id="{6B5EED4E-1A55-7725-6756-1386C69C574A}"/>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1517373" y="2151391"/>
            <a:ext cx="503143" cy="503143"/>
          </a:xfrm>
          <a:prstGeom prst="rect">
            <a:avLst/>
          </a:prstGeom>
        </p:spPr>
      </p:pic>
      <p:pic>
        <p:nvPicPr>
          <p:cNvPr id="68" name="Graphic 67">
            <a:extLst>
              <a:ext uri="{FF2B5EF4-FFF2-40B4-BE49-F238E27FC236}">
                <a16:creationId xmlns:a16="http://schemas.microsoft.com/office/drawing/2014/main" id="{16B6A04D-DBFC-3962-9F16-DD2495EB2CB3}"/>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5068144" y="5689130"/>
            <a:ext cx="503143" cy="503143"/>
          </a:xfrm>
          <a:prstGeom prst="rect">
            <a:avLst/>
          </a:prstGeom>
        </p:spPr>
      </p:pic>
      <p:pic>
        <p:nvPicPr>
          <p:cNvPr id="69" name="Graphic 68">
            <a:extLst>
              <a:ext uri="{FF2B5EF4-FFF2-40B4-BE49-F238E27FC236}">
                <a16:creationId xmlns:a16="http://schemas.microsoft.com/office/drawing/2014/main" id="{26D9CC3D-C9F1-C2F2-14C0-CB637C7C6E24}"/>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9416468" y="3080729"/>
            <a:ext cx="461215" cy="475191"/>
          </a:xfrm>
          <a:prstGeom prst="rect">
            <a:avLst/>
          </a:prstGeom>
        </p:spPr>
      </p:pic>
      <p:pic>
        <p:nvPicPr>
          <p:cNvPr id="70" name="Graphic 69">
            <a:extLst>
              <a:ext uri="{FF2B5EF4-FFF2-40B4-BE49-F238E27FC236}">
                <a16:creationId xmlns:a16="http://schemas.microsoft.com/office/drawing/2014/main" id="{A0002C28-99AD-6737-B9EF-450D24D3B92C}"/>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2501975" y="5699215"/>
            <a:ext cx="391334" cy="503143"/>
          </a:xfrm>
          <a:prstGeom prst="rect">
            <a:avLst/>
          </a:prstGeom>
        </p:spPr>
      </p:pic>
      <p:pic>
        <p:nvPicPr>
          <p:cNvPr id="71" name="Graphic 70">
            <a:extLst>
              <a:ext uri="{FF2B5EF4-FFF2-40B4-BE49-F238E27FC236}">
                <a16:creationId xmlns:a16="http://schemas.microsoft.com/office/drawing/2014/main" id="{358664AF-FF46-69A4-B5D1-A2D119DB960B}"/>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751424" y="5712662"/>
            <a:ext cx="293500" cy="503143"/>
          </a:xfrm>
          <a:prstGeom prst="rect">
            <a:avLst/>
          </a:prstGeom>
        </p:spPr>
      </p:pic>
      <p:pic>
        <p:nvPicPr>
          <p:cNvPr id="72" name="Graphic 71">
            <a:extLst>
              <a:ext uri="{FF2B5EF4-FFF2-40B4-BE49-F238E27FC236}">
                <a16:creationId xmlns:a16="http://schemas.microsoft.com/office/drawing/2014/main" id="{4377E112-F963-A350-38D9-5ACE37FC8428}"/>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2426651" y="1266269"/>
            <a:ext cx="503143" cy="503143"/>
          </a:xfrm>
          <a:prstGeom prst="rect">
            <a:avLst/>
          </a:prstGeom>
        </p:spPr>
      </p:pic>
      <p:pic>
        <p:nvPicPr>
          <p:cNvPr id="73" name="Graphic 72">
            <a:extLst>
              <a:ext uri="{FF2B5EF4-FFF2-40B4-BE49-F238E27FC236}">
                <a16:creationId xmlns:a16="http://schemas.microsoft.com/office/drawing/2014/main" id="{C69841E2-4E68-F4AE-8443-EEE4D2861E02}"/>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6756871" y="5734989"/>
            <a:ext cx="503142" cy="461214"/>
          </a:xfrm>
          <a:prstGeom prst="rect">
            <a:avLst/>
          </a:prstGeom>
        </p:spPr>
      </p:pic>
      <p:pic>
        <p:nvPicPr>
          <p:cNvPr id="74" name="Graphic 73">
            <a:extLst>
              <a:ext uri="{FF2B5EF4-FFF2-40B4-BE49-F238E27FC236}">
                <a16:creationId xmlns:a16="http://schemas.microsoft.com/office/drawing/2014/main" id="{9ECD0CCC-8524-85ED-49E9-A5F20D355246}"/>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10282583" y="4831796"/>
            <a:ext cx="335428" cy="461214"/>
          </a:xfrm>
          <a:prstGeom prst="rect">
            <a:avLst/>
          </a:prstGeom>
        </p:spPr>
      </p:pic>
      <p:pic>
        <p:nvPicPr>
          <p:cNvPr id="75" name="Graphic 74">
            <a:extLst>
              <a:ext uri="{FF2B5EF4-FFF2-40B4-BE49-F238E27FC236}">
                <a16:creationId xmlns:a16="http://schemas.microsoft.com/office/drawing/2014/main" id="{E3572C17-0E83-2787-4C2D-7B45AEB22F1C}"/>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58068" y="3078545"/>
            <a:ext cx="503143" cy="503143"/>
          </a:xfrm>
          <a:prstGeom prst="rect">
            <a:avLst/>
          </a:prstGeom>
        </p:spPr>
      </p:pic>
      <p:pic>
        <p:nvPicPr>
          <p:cNvPr id="76" name="Graphic 75">
            <a:extLst>
              <a:ext uri="{FF2B5EF4-FFF2-40B4-BE49-F238E27FC236}">
                <a16:creationId xmlns:a16="http://schemas.microsoft.com/office/drawing/2014/main" id="{C2F2CF2A-0286-338F-7360-D700A7C23A66}"/>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4167007" y="5756109"/>
            <a:ext cx="517120" cy="377358"/>
          </a:xfrm>
          <a:prstGeom prst="rect">
            <a:avLst/>
          </a:prstGeom>
        </p:spPr>
      </p:pic>
      <p:pic>
        <p:nvPicPr>
          <p:cNvPr id="77" name="Graphic 76">
            <a:extLst>
              <a:ext uri="{FF2B5EF4-FFF2-40B4-BE49-F238E27FC236}">
                <a16:creationId xmlns:a16="http://schemas.microsoft.com/office/drawing/2014/main" id="{64FAA03A-3724-C9A7-FD72-6CFA19EC9405}"/>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9370455" y="3995862"/>
            <a:ext cx="503142" cy="461214"/>
          </a:xfrm>
          <a:prstGeom prst="rect">
            <a:avLst/>
          </a:prstGeom>
        </p:spPr>
      </p:pic>
      <p:pic>
        <p:nvPicPr>
          <p:cNvPr id="78" name="Graphic 77">
            <a:extLst>
              <a:ext uri="{FF2B5EF4-FFF2-40B4-BE49-F238E27FC236}">
                <a16:creationId xmlns:a16="http://schemas.microsoft.com/office/drawing/2014/main" id="{CA6E10DD-FDF9-CED3-D819-15B40B81676C}"/>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080086" y="4850846"/>
            <a:ext cx="447238" cy="461214"/>
          </a:xfrm>
          <a:prstGeom prst="rect">
            <a:avLst/>
          </a:prstGeom>
        </p:spPr>
      </p:pic>
      <p:pic>
        <p:nvPicPr>
          <p:cNvPr id="79" name="Graphic 78">
            <a:extLst>
              <a:ext uri="{FF2B5EF4-FFF2-40B4-BE49-F238E27FC236}">
                <a16:creationId xmlns:a16="http://schemas.microsoft.com/office/drawing/2014/main" id="{7178B920-59B4-91F7-3462-DB341E9D0A17}"/>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3308820" y="2158833"/>
            <a:ext cx="503143" cy="489167"/>
          </a:xfrm>
          <a:prstGeom prst="rect">
            <a:avLst/>
          </a:prstGeom>
        </p:spPr>
      </p:pic>
      <p:pic>
        <p:nvPicPr>
          <p:cNvPr id="80" name="Graphic 79">
            <a:extLst>
              <a:ext uri="{FF2B5EF4-FFF2-40B4-BE49-F238E27FC236}">
                <a16:creationId xmlns:a16="http://schemas.microsoft.com/office/drawing/2014/main" id="{4C6EAC91-0AD4-8572-3E86-FC696218FCB1}"/>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725286" y="4023766"/>
            <a:ext cx="349405" cy="419286"/>
          </a:xfrm>
          <a:prstGeom prst="rect">
            <a:avLst/>
          </a:prstGeom>
        </p:spPr>
      </p:pic>
      <p:pic>
        <p:nvPicPr>
          <p:cNvPr id="81" name="Graphic 80">
            <a:extLst>
              <a:ext uri="{FF2B5EF4-FFF2-40B4-BE49-F238E27FC236}">
                <a16:creationId xmlns:a16="http://schemas.microsoft.com/office/drawing/2014/main" id="{830C673F-EE3A-A43A-F3A5-37FCB34FEEAE}"/>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3304706" y="4843403"/>
            <a:ext cx="475191" cy="475191"/>
          </a:xfrm>
          <a:prstGeom prst="rect">
            <a:avLst/>
          </a:prstGeom>
        </p:spPr>
      </p:pic>
      <p:pic>
        <p:nvPicPr>
          <p:cNvPr id="82" name="Graphic 81">
            <a:extLst>
              <a:ext uri="{FF2B5EF4-FFF2-40B4-BE49-F238E27FC236}">
                <a16:creationId xmlns:a16="http://schemas.microsoft.com/office/drawing/2014/main" id="{89916BDD-1A7C-ABFE-35B8-1B0BFEABF8D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3278938" y="5689130"/>
            <a:ext cx="503143" cy="503143"/>
          </a:xfrm>
          <a:prstGeom prst="rect">
            <a:avLst/>
          </a:prstGeom>
        </p:spPr>
      </p:pic>
      <p:pic>
        <p:nvPicPr>
          <p:cNvPr id="83" name="Graphic 82">
            <a:extLst>
              <a:ext uri="{FF2B5EF4-FFF2-40B4-BE49-F238E27FC236}">
                <a16:creationId xmlns:a16="http://schemas.microsoft.com/office/drawing/2014/main" id="{29FA05E3-7750-F3B2-C977-A9A556E308FD}"/>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5873519" y="3128690"/>
            <a:ext cx="503144" cy="391334"/>
          </a:xfrm>
          <a:prstGeom prst="rect">
            <a:avLst/>
          </a:prstGeom>
        </p:spPr>
      </p:pic>
      <p:pic>
        <p:nvPicPr>
          <p:cNvPr id="84" name="Graphic 83">
            <a:extLst>
              <a:ext uri="{FF2B5EF4-FFF2-40B4-BE49-F238E27FC236}">
                <a16:creationId xmlns:a16="http://schemas.microsoft.com/office/drawing/2014/main" id="{AB01005E-2175-4683-2038-797D4219703C}"/>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11080420" y="2227794"/>
            <a:ext cx="503143" cy="419286"/>
          </a:xfrm>
          <a:prstGeom prst="rect">
            <a:avLst/>
          </a:prstGeom>
        </p:spPr>
      </p:pic>
      <p:pic>
        <p:nvPicPr>
          <p:cNvPr id="85" name="Graphic 84">
            <a:extLst>
              <a:ext uri="{FF2B5EF4-FFF2-40B4-BE49-F238E27FC236}">
                <a16:creationId xmlns:a16="http://schemas.microsoft.com/office/drawing/2014/main" id="{5828FE23-4512-FB99-16DE-597D860EEBC5}"/>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4199890" y="1260264"/>
            <a:ext cx="503143" cy="489167"/>
          </a:xfrm>
          <a:prstGeom prst="rect">
            <a:avLst/>
          </a:prstGeom>
        </p:spPr>
      </p:pic>
      <p:pic>
        <p:nvPicPr>
          <p:cNvPr id="86" name="Graphic 85">
            <a:extLst>
              <a:ext uri="{FF2B5EF4-FFF2-40B4-BE49-F238E27FC236}">
                <a16:creationId xmlns:a16="http://schemas.microsoft.com/office/drawing/2014/main" id="{99D7E7D8-9552-18CC-B06D-30C51DC5C668}"/>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8516377" y="3080729"/>
            <a:ext cx="489167" cy="475191"/>
          </a:xfrm>
          <a:prstGeom prst="rect">
            <a:avLst/>
          </a:prstGeom>
        </p:spPr>
      </p:pic>
      <p:pic>
        <p:nvPicPr>
          <p:cNvPr id="87" name="Graphic 86">
            <a:extLst>
              <a:ext uri="{FF2B5EF4-FFF2-40B4-BE49-F238E27FC236}">
                <a16:creationId xmlns:a16="http://schemas.microsoft.com/office/drawing/2014/main" id="{75B0BD1D-B918-7C6C-FE5D-1061B4714B4E}"/>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7618988" y="1329225"/>
            <a:ext cx="503143" cy="419286"/>
          </a:xfrm>
          <a:prstGeom prst="rect">
            <a:avLst/>
          </a:prstGeom>
        </p:spPr>
      </p:pic>
      <p:pic>
        <p:nvPicPr>
          <p:cNvPr id="88" name="Graphic 87">
            <a:extLst>
              <a:ext uri="{FF2B5EF4-FFF2-40B4-BE49-F238E27FC236}">
                <a16:creationId xmlns:a16="http://schemas.microsoft.com/office/drawing/2014/main" id="{D68EB2B3-30A9-E520-B457-E7DCC643D3C4}"/>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6794397" y="4850846"/>
            <a:ext cx="433262" cy="461214"/>
          </a:xfrm>
          <a:prstGeom prst="rect">
            <a:avLst/>
          </a:prstGeom>
        </p:spPr>
      </p:pic>
      <p:pic>
        <p:nvPicPr>
          <p:cNvPr id="89" name="Graphic 88">
            <a:extLst>
              <a:ext uri="{FF2B5EF4-FFF2-40B4-BE49-F238E27FC236}">
                <a16:creationId xmlns:a16="http://schemas.microsoft.com/office/drawing/2014/main" id="{E59E1A7C-565D-84BE-24CF-4E213C384CF0}"/>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7661750" y="3065845"/>
            <a:ext cx="419286" cy="503143"/>
          </a:xfrm>
          <a:prstGeom prst="rect">
            <a:avLst/>
          </a:prstGeom>
        </p:spPr>
      </p:pic>
      <p:pic>
        <p:nvPicPr>
          <p:cNvPr id="90" name="Graphic 89">
            <a:extLst>
              <a:ext uri="{FF2B5EF4-FFF2-40B4-BE49-F238E27FC236}">
                <a16:creationId xmlns:a16="http://schemas.microsoft.com/office/drawing/2014/main" id="{47BFCD3A-092C-7E1E-2701-58AD1354DB59}"/>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10231618" y="3955536"/>
            <a:ext cx="461215" cy="475191"/>
          </a:xfrm>
          <a:prstGeom prst="rect">
            <a:avLst/>
          </a:prstGeom>
        </p:spPr>
      </p:pic>
      <p:pic>
        <p:nvPicPr>
          <p:cNvPr id="91" name="Graphic 90">
            <a:extLst>
              <a:ext uri="{FF2B5EF4-FFF2-40B4-BE49-F238E27FC236}">
                <a16:creationId xmlns:a16="http://schemas.microsoft.com/office/drawing/2014/main" id="{0D0FA224-E0D2-4A41-59E9-6AC76BEF7423}"/>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1503925" y="5689130"/>
            <a:ext cx="503143" cy="503143"/>
          </a:xfrm>
          <a:prstGeom prst="rect">
            <a:avLst/>
          </a:prstGeom>
        </p:spPr>
      </p:pic>
      <p:pic>
        <p:nvPicPr>
          <p:cNvPr id="92" name="Graphic 91">
            <a:extLst>
              <a:ext uri="{FF2B5EF4-FFF2-40B4-BE49-F238E27FC236}">
                <a16:creationId xmlns:a16="http://schemas.microsoft.com/office/drawing/2014/main" id="{C2F4F54E-1E34-D04D-6940-849D544FE986}"/>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8509843" y="3973352"/>
            <a:ext cx="503143" cy="419286"/>
          </a:xfrm>
          <a:prstGeom prst="rect">
            <a:avLst/>
          </a:prstGeom>
        </p:spPr>
      </p:pic>
      <p:pic>
        <p:nvPicPr>
          <p:cNvPr id="93" name="Graphic 92">
            <a:extLst>
              <a:ext uri="{FF2B5EF4-FFF2-40B4-BE49-F238E27FC236}">
                <a16:creationId xmlns:a16="http://schemas.microsoft.com/office/drawing/2014/main" id="{413F824F-3F7E-1708-8999-0C3FDA868E7B}"/>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10204173" y="2227794"/>
            <a:ext cx="503143" cy="419286"/>
          </a:xfrm>
          <a:prstGeom prst="rect">
            <a:avLst/>
          </a:prstGeom>
        </p:spPr>
      </p:pic>
      <p:pic>
        <p:nvPicPr>
          <p:cNvPr id="132" name="Graphic 131">
            <a:extLst>
              <a:ext uri="{FF2B5EF4-FFF2-40B4-BE49-F238E27FC236}">
                <a16:creationId xmlns:a16="http://schemas.microsoft.com/office/drawing/2014/main" id="{A794581D-FFFF-40CE-3561-D784F8968761}"/>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4257196" y="3065845"/>
            <a:ext cx="419286" cy="503143"/>
          </a:xfrm>
          <a:prstGeom prst="rect">
            <a:avLst/>
          </a:prstGeom>
        </p:spPr>
      </p:pic>
      <p:pic>
        <p:nvPicPr>
          <p:cNvPr id="133" name="Graphic 132">
            <a:extLst>
              <a:ext uri="{FF2B5EF4-FFF2-40B4-BE49-F238E27FC236}">
                <a16:creationId xmlns:a16="http://schemas.microsoft.com/office/drawing/2014/main" id="{5514CDF1-7718-7A6E-C401-8B81BF121275}"/>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4257196" y="3941013"/>
            <a:ext cx="419286" cy="503143"/>
          </a:xfrm>
          <a:prstGeom prst="rect">
            <a:avLst/>
          </a:prstGeom>
        </p:spPr>
      </p:pic>
      <p:pic>
        <p:nvPicPr>
          <p:cNvPr id="134" name="Graphic 133">
            <a:extLst>
              <a:ext uri="{FF2B5EF4-FFF2-40B4-BE49-F238E27FC236}">
                <a16:creationId xmlns:a16="http://schemas.microsoft.com/office/drawing/2014/main" id="{250C6CC6-B924-1D95-897B-348409E6A849}"/>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4179891" y="4828519"/>
            <a:ext cx="503143" cy="503143"/>
          </a:xfrm>
          <a:prstGeom prst="rect">
            <a:avLst/>
          </a:prstGeom>
        </p:spPr>
      </p:pic>
      <p:pic>
        <p:nvPicPr>
          <p:cNvPr id="135" name="Graphic 134">
            <a:extLst>
              <a:ext uri="{FF2B5EF4-FFF2-40B4-BE49-F238E27FC236}">
                <a16:creationId xmlns:a16="http://schemas.microsoft.com/office/drawing/2014/main" id="{A79A0681-3648-D0C1-F344-F9039FFD6811}"/>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5053949" y="1348133"/>
            <a:ext cx="503143" cy="349405"/>
          </a:xfrm>
          <a:prstGeom prst="rect">
            <a:avLst/>
          </a:prstGeom>
        </p:spPr>
      </p:pic>
      <p:pic>
        <p:nvPicPr>
          <p:cNvPr id="136" name="Graphic 135">
            <a:extLst>
              <a:ext uri="{FF2B5EF4-FFF2-40B4-BE49-F238E27FC236}">
                <a16:creationId xmlns:a16="http://schemas.microsoft.com/office/drawing/2014/main" id="{D6435E4D-26E0-084E-2757-C37F5EA5FF58}"/>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6761726" y="3941013"/>
            <a:ext cx="503143" cy="503143"/>
          </a:xfrm>
          <a:prstGeom prst="rect">
            <a:avLst/>
          </a:prstGeom>
        </p:spPr>
      </p:pic>
      <p:pic>
        <p:nvPicPr>
          <p:cNvPr id="137" name="Graphic 136">
            <a:extLst>
              <a:ext uri="{FF2B5EF4-FFF2-40B4-BE49-F238E27FC236}">
                <a16:creationId xmlns:a16="http://schemas.microsoft.com/office/drawing/2014/main" id="{859F7845-5EFE-8AD7-34A3-F5CBD1A79906}"/>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653413" y="1288596"/>
            <a:ext cx="503142" cy="461214"/>
          </a:xfrm>
          <a:prstGeom prst="rect">
            <a:avLst/>
          </a:prstGeom>
        </p:spPr>
      </p:pic>
      <p:grpSp>
        <p:nvGrpSpPr>
          <p:cNvPr id="138" name="Group 137">
            <a:extLst>
              <a:ext uri="{FF2B5EF4-FFF2-40B4-BE49-F238E27FC236}">
                <a16:creationId xmlns:a16="http://schemas.microsoft.com/office/drawing/2014/main" id="{B0596366-485A-FFE5-AA7E-4A880F1AA0A2}"/>
              </a:ext>
            </a:extLst>
          </p:cNvPr>
          <p:cNvGrpSpPr/>
          <p:nvPr userDrawn="1"/>
        </p:nvGrpSpPr>
        <p:grpSpPr>
          <a:xfrm>
            <a:off x="5924454" y="1315799"/>
            <a:ext cx="397650" cy="468275"/>
            <a:chOff x="5924454" y="1315799"/>
            <a:chExt cx="397650" cy="468275"/>
          </a:xfrm>
        </p:grpSpPr>
        <p:sp>
          <p:nvSpPr>
            <p:cNvPr id="139" name="Freeform 824">
              <a:extLst>
                <a:ext uri="{FF2B5EF4-FFF2-40B4-BE49-F238E27FC236}">
                  <a16:creationId xmlns:a16="http://schemas.microsoft.com/office/drawing/2014/main" id="{51FA9228-1568-3167-8E02-98FAE2F79C1B}"/>
                </a:ext>
              </a:extLst>
            </p:cNvPr>
            <p:cNvSpPr/>
            <p:nvPr/>
          </p:nvSpPr>
          <p:spPr>
            <a:xfrm>
              <a:off x="6003438" y="1315799"/>
              <a:ext cx="230851" cy="125833"/>
            </a:xfrm>
            <a:custGeom>
              <a:avLst/>
              <a:gdLst>
                <a:gd name="connsiteX0" fmla="*/ 122496 w 462277"/>
                <a:gd name="connsiteY0" fmla="*/ 254075 h 264366"/>
                <a:gd name="connsiteX1" fmla="*/ 829 w 462277"/>
                <a:gd name="connsiteY1" fmla="*/ 74583 h 264366"/>
                <a:gd name="connsiteX2" fmla="*/ 127880 w 462277"/>
                <a:gd name="connsiteY2" fmla="*/ 4151 h 264366"/>
                <a:gd name="connsiteX3" fmla="*/ 257995 w 462277"/>
                <a:gd name="connsiteY3" fmla="*/ 36292 h 264366"/>
                <a:gd name="connsiteX4" fmla="*/ 392800 w 462277"/>
                <a:gd name="connsiteY4" fmla="*/ 1255 h 264366"/>
                <a:gd name="connsiteX5" fmla="*/ 461555 w 462277"/>
                <a:gd name="connsiteY5" fmla="*/ 57711 h 264366"/>
                <a:gd name="connsiteX6" fmla="*/ 355946 w 462277"/>
                <a:gd name="connsiteY6" fmla="*/ 264366 h 264366"/>
                <a:gd name="connsiteX0" fmla="*/ 122496 w 462507"/>
                <a:gd name="connsiteY0" fmla="*/ 254075 h 254850"/>
                <a:gd name="connsiteX1" fmla="*/ 829 w 462507"/>
                <a:gd name="connsiteY1" fmla="*/ 74583 h 254850"/>
                <a:gd name="connsiteX2" fmla="*/ 127880 w 462507"/>
                <a:gd name="connsiteY2" fmla="*/ 4151 h 254850"/>
                <a:gd name="connsiteX3" fmla="*/ 257995 w 462507"/>
                <a:gd name="connsiteY3" fmla="*/ 36292 h 254850"/>
                <a:gd name="connsiteX4" fmla="*/ 392800 w 462507"/>
                <a:gd name="connsiteY4" fmla="*/ 1255 h 254850"/>
                <a:gd name="connsiteX5" fmla="*/ 461555 w 462507"/>
                <a:gd name="connsiteY5" fmla="*/ 57711 h 254850"/>
                <a:gd name="connsiteX6" fmla="*/ 349595 w 462507"/>
                <a:gd name="connsiteY6" fmla="*/ 251666 h 254850"/>
                <a:gd name="connsiteX7" fmla="*/ 122496 w 462507"/>
                <a:gd name="connsiteY7" fmla="*/ 254075 h 254850"/>
                <a:gd name="connsiteX0" fmla="*/ 115342 w 461701"/>
                <a:gd name="connsiteY0" fmla="*/ 241376 h 251666"/>
                <a:gd name="connsiteX1" fmla="*/ 25 w 461701"/>
                <a:gd name="connsiteY1" fmla="*/ 74583 h 251666"/>
                <a:gd name="connsiteX2" fmla="*/ 127076 w 461701"/>
                <a:gd name="connsiteY2" fmla="*/ 4151 h 251666"/>
                <a:gd name="connsiteX3" fmla="*/ 257191 w 461701"/>
                <a:gd name="connsiteY3" fmla="*/ 36292 h 251666"/>
                <a:gd name="connsiteX4" fmla="*/ 391996 w 461701"/>
                <a:gd name="connsiteY4" fmla="*/ 1255 h 251666"/>
                <a:gd name="connsiteX5" fmla="*/ 460751 w 461701"/>
                <a:gd name="connsiteY5" fmla="*/ 57711 h 251666"/>
                <a:gd name="connsiteX6" fmla="*/ 348791 w 461701"/>
                <a:gd name="connsiteY6" fmla="*/ 251666 h 251666"/>
                <a:gd name="connsiteX7" fmla="*/ 115342 w 461701"/>
                <a:gd name="connsiteY7" fmla="*/ 241376 h 25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701" h="251666">
                  <a:moveTo>
                    <a:pt x="115342" y="241376"/>
                  </a:moveTo>
                  <a:cubicBezTo>
                    <a:pt x="115342" y="241376"/>
                    <a:pt x="-1931" y="114120"/>
                    <a:pt x="25" y="74583"/>
                  </a:cubicBezTo>
                  <a:cubicBezTo>
                    <a:pt x="1981" y="35046"/>
                    <a:pt x="59638" y="-444"/>
                    <a:pt x="127076" y="4151"/>
                  </a:cubicBezTo>
                  <a:cubicBezTo>
                    <a:pt x="194515" y="8746"/>
                    <a:pt x="223496" y="37824"/>
                    <a:pt x="257191" y="36292"/>
                  </a:cubicBezTo>
                  <a:cubicBezTo>
                    <a:pt x="290886" y="34760"/>
                    <a:pt x="350762" y="-7767"/>
                    <a:pt x="391996" y="1255"/>
                  </a:cubicBezTo>
                  <a:cubicBezTo>
                    <a:pt x="433230" y="10278"/>
                    <a:pt x="467952" y="15976"/>
                    <a:pt x="460751" y="57711"/>
                  </a:cubicBezTo>
                  <a:cubicBezTo>
                    <a:pt x="453550" y="99446"/>
                    <a:pt x="348791" y="251666"/>
                    <a:pt x="348791" y="251666"/>
                  </a:cubicBezTo>
                  <a:lnTo>
                    <a:pt x="115342" y="241376"/>
                  </a:ln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825">
              <a:extLst>
                <a:ext uri="{FF2B5EF4-FFF2-40B4-BE49-F238E27FC236}">
                  <a16:creationId xmlns:a16="http://schemas.microsoft.com/office/drawing/2014/main" id="{718716E6-E1B8-33DC-43BA-4567C9E217B7}"/>
                </a:ext>
              </a:extLst>
            </p:cNvPr>
            <p:cNvSpPr/>
            <p:nvPr/>
          </p:nvSpPr>
          <p:spPr>
            <a:xfrm>
              <a:off x="5924454" y="1438053"/>
              <a:ext cx="397650" cy="346021"/>
            </a:xfrm>
            <a:custGeom>
              <a:avLst/>
              <a:gdLst>
                <a:gd name="connsiteX0" fmla="*/ 401182 w 795299"/>
                <a:gd name="connsiteY0" fmla="*/ 4972 h 692042"/>
                <a:gd name="connsiteX1" fmla="*/ 270014 w 795299"/>
                <a:gd name="connsiteY1" fmla="*/ 6217 h 692042"/>
                <a:gd name="connsiteX2" fmla="*/ 3132 w 795299"/>
                <a:gd name="connsiteY2" fmla="*/ 422637 h 692042"/>
                <a:gd name="connsiteX3" fmla="*/ 153732 w 795299"/>
                <a:gd name="connsiteY3" fmla="*/ 692042 h 692042"/>
                <a:gd name="connsiteX4" fmla="*/ 624437 w 795299"/>
                <a:gd name="connsiteY4" fmla="*/ 692042 h 692042"/>
                <a:gd name="connsiteX5" fmla="*/ 784274 w 795299"/>
                <a:gd name="connsiteY5" fmla="*/ 404545 h 692042"/>
                <a:gd name="connsiteX6" fmla="*/ 523926 w 795299"/>
                <a:gd name="connsiteY6" fmla="*/ 2244 h 692042"/>
                <a:gd name="connsiteX7" fmla="*/ 401182 w 795299"/>
                <a:gd name="connsiteY7" fmla="*/ 4972 h 69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299" h="692042">
                  <a:moveTo>
                    <a:pt x="401182" y="4972"/>
                  </a:moveTo>
                  <a:cubicBezTo>
                    <a:pt x="328814" y="2004"/>
                    <a:pt x="301364" y="-5175"/>
                    <a:pt x="270014" y="6217"/>
                  </a:cubicBezTo>
                  <a:cubicBezTo>
                    <a:pt x="215738" y="26104"/>
                    <a:pt x="24958" y="241279"/>
                    <a:pt x="3132" y="422637"/>
                  </a:cubicBezTo>
                  <a:cubicBezTo>
                    <a:pt x="-16467" y="585496"/>
                    <a:pt x="58581" y="692042"/>
                    <a:pt x="153732" y="692042"/>
                  </a:cubicBezTo>
                  <a:lnTo>
                    <a:pt x="624437" y="692042"/>
                  </a:lnTo>
                  <a:cubicBezTo>
                    <a:pt x="716429" y="692042"/>
                    <a:pt x="831682" y="601100"/>
                    <a:pt x="784274" y="404545"/>
                  </a:cubicBezTo>
                  <a:cubicBezTo>
                    <a:pt x="732894" y="191955"/>
                    <a:pt x="595528" y="52262"/>
                    <a:pt x="523926" y="2244"/>
                  </a:cubicBezTo>
                  <a:cubicBezTo>
                    <a:pt x="494658" y="-1059"/>
                    <a:pt x="401182" y="4972"/>
                    <a:pt x="401182" y="4972"/>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1" name="Freeform 820">
              <a:extLst>
                <a:ext uri="{FF2B5EF4-FFF2-40B4-BE49-F238E27FC236}">
                  <a16:creationId xmlns:a16="http://schemas.microsoft.com/office/drawing/2014/main" id="{841DFB26-1760-A09A-840E-5F1A875E2F9B}"/>
                </a:ext>
              </a:extLst>
            </p:cNvPr>
            <p:cNvSpPr/>
            <p:nvPr/>
          </p:nvSpPr>
          <p:spPr>
            <a:xfrm>
              <a:off x="6022559" y="1513822"/>
              <a:ext cx="200953" cy="200953"/>
            </a:xfrm>
            <a:custGeom>
              <a:avLst/>
              <a:gdLst>
                <a:gd name="connsiteX0" fmla="*/ 0 w 627750"/>
                <a:gd name="connsiteY0" fmla="*/ 313893 h 627750"/>
                <a:gd name="connsiteX1" fmla="*/ 313875 w 627750"/>
                <a:gd name="connsiteY1" fmla="*/ 18 h 627750"/>
                <a:gd name="connsiteX2" fmla="*/ 627750 w 627750"/>
                <a:gd name="connsiteY2" fmla="*/ 313893 h 627750"/>
                <a:gd name="connsiteX3" fmla="*/ 313875 w 627750"/>
                <a:gd name="connsiteY3" fmla="*/ 627768 h 627750"/>
                <a:gd name="connsiteX4" fmla="*/ 0 w 627750"/>
                <a:gd name="connsiteY4" fmla="*/ 313893 h 62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750" h="627750">
                  <a:moveTo>
                    <a:pt x="0" y="313893"/>
                  </a:moveTo>
                  <a:cubicBezTo>
                    <a:pt x="0" y="140544"/>
                    <a:pt x="140526" y="18"/>
                    <a:pt x="313875" y="18"/>
                  </a:cubicBezTo>
                  <a:cubicBezTo>
                    <a:pt x="487224" y="18"/>
                    <a:pt x="627750" y="140544"/>
                    <a:pt x="627750" y="313893"/>
                  </a:cubicBezTo>
                  <a:cubicBezTo>
                    <a:pt x="627750" y="487242"/>
                    <a:pt x="487224" y="627768"/>
                    <a:pt x="313875" y="627768"/>
                  </a:cubicBezTo>
                  <a:cubicBezTo>
                    <a:pt x="140526" y="627768"/>
                    <a:pt x="0" y="487242"/>
                    <a:pt x="0" y="313893"/>
                  </a:cubicBezTo>
                  <a:close/>
                </a:path>
              </a:pathLst>
            </a:custGeom>
            <a:no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42" name="Freeform 821">
              <a:extLst>
                <a:ext uri="{FF2B5EF4-FFF2-40B4-BE49-F238E27FC236}">
                  <a16:creationId xmlns:a16="http://schemas.microsoft.com/office/drawing/2014/main" id="{A4AF5466-0AA4-29A7-CB77-9AEC91385A5C}"/>
                </a:ext>
              </a:extLst>
            </p:cNvPr>
            <p:cNvSpPr/>
            <p:nvPr/>
          </p:nvSpPr>
          <p:spPr>
            <a:xfrm>
              <a:off x="6116724" y="1547314"/>
              <a:ext cx="13397" cy="24290"/>
            </a:xfrm>
            <a:custGeom>
              <a:avLst/>
              <a:gdLst>
                <a:gd name="connsiteX0" fmla="*/ 20935 w 41849"/>
                <a:gd name="connsiteY0" fmla="*/ 24 h 75879"/>
                <a:gd name="connsiteX1" fmla="*/ 41720 w 41849"/>
                <a:gd name="connsiteY1" fmla="*/ 18509 h 75879"/>
                <a:gd name="connsiteX2" fmla="*/ 41860 w 41849"/>
                <a:gd name="connsiteY2" fmla="*/ 20949 h 75879"/>
                <a:gd name="connsiteX3" fmla="*/ 41860 w 41849"/>
                <a:gd name="connsiteY3" fmla="*/ 54978 h 75879"/>
                <a:gd name="connsiteX4" fmla="*/ 20935 w 41849"/>
                <a:gd name="connsiteY4" fmla="*/ 75903 h 75879"/>
                <a:gd name="connsiteX5" fmla="*/ 151 w 41849"/>
                <a:gd name="connsiteY5" fmla="*/ 57419 h 75879"/>
                <a:gd name="connsiteX6" fmla="*/ 11 w 41849"/>
                <a:gd name="connsiteY6" fmla="*/ 54978 h 75879"/>
                <a:gd name="connsiteX7" fmla="*/ 11 w 41849"/>
                <a:gd name="connsiteY7" fmla="*/ 20949 h 75879"/>
                <a:gd name="connsiteX8" fmla="*/ 20935 w 41849"/>
                <a:gd name="connsiteY8" fmla="*/ 24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79">
                  <a:moveTo>
                    <a:pt x="20935" y="24"/>
                  </a:moveTo>
                  <a:cubicBezTo>
                    <a:pt x="31667" y="24"/>
                    <a:pt x="40511" y="8102"/>
                    <a:pt x="41720" y="18509"/>
                  </a:cubicBezTo>
                  <a:lnTo>
                    <a:pt x="41860" y="20949"/>
                  </a:lnTo>
                  <a:lnTo>
                    <a:pt x="41860" y="54978"/>
                  </a:lnTo>
                  <a:cubicBezTo>
                    <a:pt x="41860" y="66535"/>
                    <a:pt x="32492" y="75903"/>
                    <a:pt x="20935" y="75903"/>
                  </a:cubicBezTo>
                  <a:cubicBezTo>
                    <a:pt x="10205" y="75903"/>
                    <a:pt x="1360" y="67825"/>
                    <a:pt x="151" y="57419"/>
                  </a:cubicBezTo>
                  <a:lnTo>
                    <a:pt x="11" y="54978"/>
                  </a:lnTo>
                  <a:lnTo>
                    <a:pt x="11" y="20949"/>
                  </a:lnTo>
                  <a:cubicBezTo>
                    <a:pt x="11" y="9392"/>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3" name="Freeform 822">
              <a:extLst>
                <a:ext uri="{FF2B5EF4-FFF2-40B4-BE49-F238E27FC236}">
                  <a16:creationId xmlns:a16="http://schemas.microsoft.com/office/drawing/2014/main" id="{60ED569C-7454-A634-3714-4CBFFB8BC589}"/>
                </a:ext>
              </a:extLst>
            </p:cNvPr>
            <p:cNvSpPr/>
            <p:nvPr/>
          </p:nvSpPr>
          <p:spPr>
            <a:xfrm>
              <a:off x="6116724" y="1656247"/>
              <a:ext cx="13397" cy="24290"/>
            </a:xfrm>
            <a:custGeom>
              <a:avLst/>
              <a:gdLst>
                <a:gd name="connsiteX0" fmla="*/ 20935 w 41849"/>
                <a:gd name="connsiteY0" fmla="*/ 24 h 75880"/>
                <a:gd name="connsiteX1" fmla="*/ 41720 w 41849"/>
                <a:gd name="connsiteY1" fmla="*/ 18509 h 75880"/>
                <a:gd name="connsiteX2" fmla="*/ 41860 w 41849"/>
                <a:gd name="connsiteY2" fmla="*/ 20949 h 75880"/>
                <a:gd name="connsiteX3" fmla="*/ 41860 w 41849"/>
                <a:gd name="connsiteY3" fmla="*/ 54979 h 75880"/>
                <a:gd name="connsiteX4" fmla="*/ 20935 w 41849"/>
                <a:gd name="connsiteY4" fmla="*/ 75904 h 75880"/>
                <a:gd name="connsiteX5" fmla="*/ 151 w 41849"/>
                <a:gd name="connsiteY5" fmla="*/ 57419 h 75880"/>
                <a:gd name="connsiteX6" fmla="*/ 11 w 41849"/>
                <a:gd name="connsiteY6" fmla="*/ 54979 h 75880"/>
                <a:gd name="connsiteX7" fmla="*/ 11 w 41849"/>
                <a:gd name="connsiteY7" fmla="*/ 20949 h 75880"/>
                <a:gd name="connsiteX8" fmla="*/ 20935 w 41849"/>
                <a:gd name="connsiteY8" fmla="*/ 24 h 7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49" h="75880">
                  <a:moveTo>
                    <a:pt x="20935" y="24"/>
                  </a:moveTo>
                  <a:cubicBezTo>
                    <a:pt x="31667" y="24"/>
                    <a:pt x="40511" y="8103"/>
                    <a:pt x="41720" y="18509"/>
                  </a:cubicBezTo>
                  <a:lnTo>
                    <a:pt x="41860" y="20949"/>
                  </a:lnTo>
                  <a:lnTo>
                    <a:pt x="41860" y="54979"/>
                  </a:lnTo>
                  <a:cubicBezTo>
                    <a:pt x="41860" y="66536"/>
                    <a:pt x="32492" y="75904"/>
                    <a:pt x="20935" y="75904"/>
                  </a:cubicBezTo>
                  <a:cubicBezTo>
                    <a:pt x="10205" y="75904"/>
                    <a:pt x="1360" y="67827"/>
                    <a:pt x="151" y="57419"/>
                  </a:cubicBezTo>
                  <a:lnTo>
                    <a:pt x="11" y="54979"/>
                  </a:lnTo>
                  <a:lnTo>
                    <a:pt x="11" y="20949"/>
                  </a:lnTo>
                  <a:cubicBezTo>
                    <a:pt x="11" y="9394"/>
                    <a:pt x="9379" y="24"/>
                    <a:pt x="2093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4" name="Freeform 823">
              <a:extLst>
                <a:ext uri="{FF2B5EF4-FFF2-40B4-BE49-F238E27FC236}">
                  <a16:creationId xmlns:a16="http://schemas.microsoft.com/office/drawing/2014/main" id="{8036882B-8778-54BF-41C5-4540D38C126C}"/>
                </a:ext>
              </a:extLst>
            </p:cNvPr>
            <p:cNvSpPr/>
            <p:nvPr/>
          </p:nvSpPr>
          <p:spPr>
            <a:xfrm>
              <a:off x="6086194" y="1561838"/>
              <a:ext cx="73546" cy="104175"/>
            </a:xfrm>
            <a:custGeom>
              <a:avLst/>
              <a:gdLst>
                <a:gd name="connsiteX0" fmla="*/ 114885 w 229747"/>
                <a:gd name="connsiteY0" fmla="*/ 24 h 325428"/>
                <a:gd name="connsiteX1" fmla="*/ 229758 w 229747"/>
                <a:gd name="connsiteY1" fmla="*/ 91844 h 325428"/>
                <a:gd name="connsiteX2" fmla="*/ 208833 w 229747"/>
                <a:gd name="connsiteY2" fmla="*/ 112769 h 325428"/>
                <a:gd name="connsiteX3" fmla="*/ 188049 w 229747"/>
                <a:gd name="connsiteY3" fmla="*/ 94284 h 325428"/>
                <a:gd name="connsiteX4" fmla="*/ 187908 w 229747"/>
                <a:gd name="connsiteY4" fmla="*/ 91844 h 325428"/>
                <a:gd name="connsiteX5" fmla="*/ 114885 w 229747"/>
                <a:gd name="connsiteY5" fmla="*/ 41874 h 325428"/>
                <a:gd name="connsiteX6" fmla="*/ 41861 w 229747"/>
                <a:gd name="connsiteY6" fmla="*/ 91844 h 325428"/>
                <a:gd name="connsiteX7" fmla="*/ 110486 w 229747"/>
                <a:gd name="connsiteY7" fmla="*/ 141723 h 325428"/>
                <a:gd name="connsiteX8" fmla="*/ 114885 w 229747"/>
                <a:gd name="connsiteY8" fmla="*/ 141813 h 325428"/>
                <a:gd name="connsiteX9" fmla="*/ 229758 w 229747"/>
                <a:gd name="connsiteY9" fmla="*/ 233632 h 325428"/>
                <a:gd name="connsiteX10" fmla="*/ 114885 w 229747"/>
                <a:gd name="connsiteY10" fmla="*/ 325453 h 325428"/>
                <a:gd name="connsiteX11" fmla="*/ 11 w 229747"/>
                <a:gd name="connsiteY11" fmla="*/ 233632 h 325428"/>
                <a:gd name="connsiteX12" fmla="*/ 20936 w 229747"/>
                <a:gd name="connsiteY12" fmla="*/ 212707 h 325428"/>
                <a:gd name="connsiteX13" fmla="*/ 41720 w 229747"/>
                <a:gd name="connsiteY13" fmla="*/ 231192 h 325428"/>
                <a:gd name="connsiteX14" fmla="*/ 41861 w 229747"/>
                <a:gd name="connsiteY14" fmla="*/ 233632 h 325428"/>
                <a:gd name="connsiteX15" fmla="*/ 114885 w 229747"/>
                <a:gd name="connsiteY15" fmla="*/ 283603 h 325428"/>
                <a:gd name="connsiteX16" fmla="*/ 187908 w 229747"/>
                <a:gd name="connsiteY16" fmla="*/ 233632 h 325428"/>
                <a:gd name="connsiteX17" fmla="*/ 119282 w 229747"/>
                <a:gd name="connsiteY17" fmla="*/ 183753 h 325428"/>
                <a:gd name="connsiteX18" fmla="*/ 114885 w 229747"/>
                <a:gd name="connsiteY18" fmla="*/ 183663 h 325428"/>
                <a:gd name="connsiteX19" fmla="*/ 11 w 229747"/>
                <a:gd name="connsiteY19" fmla="*/ 91844 h 325428"/>
                <a:gd name="connsiteX20" fmla="*/ 114885 w 229747"/>
                <a:gd name="connsiteY20" fmla="*/ 24 h 32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9747" h="325428">
                  <a:moveTo>
                    <a:pt x="114885" y="24"/>
                  </a:moveTo>
                  <a:cubicBezTo>
                    <a:pt x="177245" y="24"/>
                    <a:pt x="229758" y="39660"/>
                    <a:pt x="229758" y="91844"/>
                  </a:cubicBezTo>
                  <a:cubicBezTo>
                    <a:pt x="229758" y="103400"/>
                    <a:pt x="220390" y="112769"/>
                    <a:pt x="208833" y="112769"/>
                  </a:cubicBezTo>
                  <a:cubicBezTo>
                    <a:pt x="198102" y="112769"/>
                    <a:pt x="189258" y="104691"/>
                    <a:pt x="188049" y="94284"/>
                  </a:cubicBezTo>
                  <a:lnTo>
                    <a:pt x="187908" y="91844"/>
                  </a:lnTo>
                  <a:cubicBezTo>
                    <a:pt x="187908" y="65743"/>
                    <a:pt x="156284" y="41874"/>
                    <a:pt x="114885" y="41874"/>
                  </a:cubicBezTo>
                  <a:cubicBezTo>
                    <a:pt x="73484" y="41874"/>
                    <a:pt x="41861" y="65743"/>
                    <a:pt x="41861" y="91844"/>
                  </a:cubicBezTo>
                  <a:cubicBezTo>
                    <a:pt x="41861" y="117028"/>
                    <a:pt x="71253" y="140106"/>
                    <a:pt x="110486" y="141723"/>
                  </a:cubicBezTo>
                  <a:lnTo>
                    <a:pt x="114885" y="141813"/>
                  </a:lnTo>
                  <a:cubicBezTo>
                    <a:pt x="177245" y="141813"/>
                    <a:pt x="229758" y="181449"/>
                    <a:pt x="229758" y="233632"/>
                  </a:cubicBezTo>
                  <a:cubicBezTo>
                    <a:pt x="229758" y="285836"/>
                    <a:pt x="177257" y="325453"/>
                    <a:pt x="114885" y="325453"/>
                  </a:cubicBezTo>
                  <a:cubicBezTo>
                    <a:pt x="52512" y="325453"/>
                    <a:pt x="11" y="285836"/>
                    <a:pt x="11" y="233632"/>
                  </a:cubicBezTo>
                  <a:cubicBezTo>
                    <a:pt x="11" y="222075"/>
                    <a:pt x="9379" y="212707"/>
                    <a:pt x="20936" y="212707"/>
                  </a:cubicBezTo>
                  <a:cubicBezTo>
                    <a:pt x="31667" y="212707"/>
                    <a:pt x="40511" y="220786"/>
                    <a:pt x="41720" y="231192"/>
                  </a:cubicBezTo>
                  <a:lnTo>
                    <a:pt x="41861" y="233632"/>
                  </a:lnTo>
                  <a:cubicBezTo>
                    <a:pt x="41861" y="259751"/>
                    <a:pt x="73471" y="283603"/>
                    <a:pt x="114885" y="283603"/>
                  </a:cubicBezTo>
                  <a:cubicBezTo>
                    <a:pt x="156298" y="283603"/>
                    <a:pt x="187908" y="259751"/>
                    <a:pt x="187908" y="233632"/>
                  </a:cubicBezTo>
                  <a:cubicBezTo>
                    <a:pt x="187908" y="208465"/>
                    <a:pt x="158503" y="185371"/>
                    <a:pt x="119282" y="183753"/>
                  </a:cubicBezTo>
                  <a:lnTo>
                    <a:pt x="114885" y="183663"/>
                  </a:lnTo>
                  <a:cubicBezTo>
                    <a:pt x="52512" y="183663"/>
                    <a:pt x="11" y="144047"/>
                    <a:pt x="11" y="91844"/>
                  </a:cubicBezTo>
                  <a:cubicBezTo>
                    <a:pt x="11" y="39660"/>
                    <a:pt x="52524" y="24"/>
                    <a:pt x="114885" y="24"/>
                  </a:cubicBezTo>
                  <a:close/>
                </a:path>
              </a:pathLst>
            </a:custGeom>
            <a:solidFill>
              <a:srgbClr val="333333"/>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45" name="Group 144">
            <a:extLst>
              <a:ext uri="{FF2B5EF4-FFF2-40B4-BE49-F238E27FC236}">
                <a16:creationId xmlns:a16="http://schemas.microsoft.com/office/drawing/2014/main" id="{76B930DD-9473-AAF6-AD9A-A4107A6ECA1B}"/>
              </a:ext>
            </a:extLst>
          </p:cNvPr>
          <p:cNvGrpSpPr/>
          <p:nvPr userDrawn="1"/>
        </p:nvGrpSpPr>
        <p:grpSpPr>
          <a:xfrm>
            <a:off x="1519909" y="4857332"/>
            <a:ext cx="481275" cy="481275"/>
            <a:chOff x="1519909" y="4857332"/>
            <a:chExt cx="481275" cy="481275"/>
          </a:xfrm>
        </p:grpSpPr>
        <p:sp>
          <p:nvSpPr>
            <p:cNvPr id="146" name="Freeform 1145">
              <a:extLst>
                <a:ext uri="{FF2B5EF4-FFF2-40B4-BE49-F238E27FC236}">
                  <a16:creationId xmlns:a16="http://schemas.microsoft.com/office/drawing/2014/main" id="{473403C5-A266-792C-7E9F-6E17A5550206}"/>
                </a:ext>
              </a:extLst>
            </p:cNvPr>
            <p:cNvSpPr/>
            <p:nvPr/>
          </p:nvSpPr>
          <p:spPr>
            <a:xfrm>
              <a:off x="1519909" y="4857332"/>
              <a:ext cx="481275" cy="481275"/>
            </a:xfrm>
            <a:custGeom>
              <a:avLst/>
              <a:gdLst>
                <a:gd name="connsiteX0" fmla="*/ 962551 w 962550"/>
                <a:gd name="connsiteY0" fmla="*/ 481276 h 962550"/>
                <a:gd name="connsiteX1" fmla="*/ 481276 w 962550"/>
                <a:gd name="connsiteY1" fmla="*/ 962551 h 962550"/>
                <a:gd name="connsiteX2" fmla="*/ 1 w 962550"/>
                <a:gd name="connsiteY2" fmla="*/ 481276 h 962550"/>
                <a:gd name="connsiteX3" fmla="*/ 481276 w 962550"/>
                <a:gd name="connsiteY3" fmla="*/ 1 h 962550"/>
                <a:gd name="connsiteX4" fmla="*/ 962551 w 962550"/>
                <a:gd name="connsiteY4" fmla="*/ 481276 h 96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50" h="962550">
                  <a:moveTo>
                    <a:pt x="962551" y="481276"/>
                  </a:moveTo>
                  <a:cubicBezTo>
                    <a:pt x="962551" y="747088"/>
                    <a:pt x="747072" y="962551"/>
                    <a:pt x="481276" y="962551"/>
                  </a:cubicBezTo>
                  <a:cubicBezTo>
                    <a:pt x="215447" y="962551"/>
                    <a:pt x="1" y="747088"/>
                    <a:pt x="1" y="481276"/>
                  </a:cubicBezTo>
                  <a:cubicBezTo>
                    <a:pt x="1" y="215464"/>
                    <a:pt x="215447" y="1"/>
                    <a:pt x="481276" y="1"/>
                  </a:cubicBezTo>
                  <a:cubicBezTo>
                    <a:pt x="747072" y="1"/>
                    <a:pt x="962551" y="215464"/>
                    <a:pt x="962551" y="481276"/>
                  </a:cubicBezTo>
                  <a:close/>
                </a:path>
              </a:pathLst>
            </a:custGeom>
            <a:noFill/>
            <a:ln w="15240" cap="flat">
              <a:solidFill>
                <a:schemeClr val="tx1"/>
              </a:solidFill>
              <a:prstDash val="solid"/>
              <a:miter/>
            </a:ln>
          </p:spPr>
          <p:txBody>
            <a:bodyPr rtlCol="0" anchor="ctr"/>
            <a:lstStyle/>
            <a:p>
              <a:pPr defTabSz="914355"/>
              <a:endParaRPr lang="en-US">
                <a:solidFill>
                  <a:srgbClr val="333333"/>
                </a:solidFill>
                <a:latin typeface="Calibri" panose="020F0502020204030204"/>
              </a:endParaRPr>
            </a:p>
          </p:txBody>
        </p:sp>
        <p:cxnSp>
          <p:nvCxnSpPr>
            <p:cNvPr id="147" name="Straight Connector 146">
              <a:extLst>
                <a:ext uri="{FF2B5EF4-FFF2-40B4-BE49-F238E27FC236}">
                  <a16:creationId xmlns:a16="http://schemas.microsoft.com/office/drawing/2014/main" id="{8FD045AB-C1B2-2C76-F18C-78AC7628D420}"/>
                </a:ext>
              </a:extLst>
            </p:cNvPr>
            <p:cNvCxnSpPr>
              <a:cxnSpLocks/>
            </p:cNvCxnSpPr>
            <p:nvPr/>
          </p:nvCxnSpPr>
          <p:spPr>
            <a:xfrm>
              <a:off x="1664859"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1CEAA94-CC44-492C-91A3-CFF9435E3124}"/>
                </a:ext>
              </a:extLst>
            </p:cNvPr>
            <p:cNvCxnSpPr>
              <a:cxnSpLocks/>
            </p:cNvCxnSpPr>
            <p:nvPr/>
          </p:nvCxnSpPr>
          <p:spPr>
            <a:xfrm flipH="1">
              <a:off x="1668502" y="5009087"/>
              <a:ext cx="189243" cy="198706"/>
            </a:xfrm>
            <a:prstGeom prst="line">
              <a:avLst/>
            </a:prstGeom>
            <a:ln w="15240" cap="rnd">
              <a:solidFill>
                <a:srgbClr val="333333"/>
              </a:solidFill>
              <a:round/>
            </a:ln>
          </p:spPr>
          <p:style>
            <a:lnRef idx="1">
              <a:schemeClr val="accent1"/>
            </a:lnRef>
            <a:fillRef idx="0">
              <a:schemeClr val="accent1"/>
            </a:fillRef>
            <a:effectRef idx="0">
              <a:schemeClr val="accent1"/>
            </a:effectRef>
            <a:fontRef idx="minor">
              <a:schemeClr val="tx1"/>
            </a:fontRef>
          </p:style>
        </p:cxnSp>
      </p:grpSp>
      <p:sp>
        <p:nvSpPr>
          <p:cNvPr id="149" name="TextBox 148">
            <a:extLst>
              <a:ext uri="{FF2B5EF4-FFF2-40B4-BE49-F238E27FC236}">
                <a16:creationId xmlns:a16="http://schemas.microsoft.com/office/drawing/2014/main" id="{20DE5C73-E815-5D99-94A6-434A4F373118}"/>
              </a:ext>
            </a:extLst>
          </p:cNvPr>
          <p:cNvSpPr txBox="1"/>
          <p:nvPr userDrawn="1"/>
        </p:nvSpPr>
        <p:spPr>
          <a:xfrm>
            <a:off x="6508750" y="1368425"/>
            <a:ext cx="65" cy="2831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chor="t">
            <a:spAutoFit/>
          </a:bodyPr>
          <a:lstStyle/>
          <a:p>
            <a:pPr algn="l" defTabSz="914355">
              <a:lnSpc>
                <a:spcPct val="120000"/>
              </a:lnSpc>
              <a:buSzPct val="100000"/>
            </a:pPr>
            <a:endParaRPr lang="en-CA" sz="1600" err="1">
              <a:solidFill>
                <a:srgbClr val="333333"/>
              </a:solidFill>
              <a:latin typeface="Scotia" panose="020B0503020203020204" pitchFamily="34" charset="0"/>
            </a:endParaRPr>
          </a:p>
        </p:txBody>
      </p:sp>
      <p:pic>
        <p:nvPicPr>
          <p:cNvPr id="150" name="Graphic 149">
            <a:extLst>
              <a:ext uri="{FF2B5EF4-FFF2-40B4-BE49-F238E27FC236}">
                <a16:creationId xmlns:a16="http://schemas.microsoft.com/office/drawing/2014/main" id="{2DB4FF7D-1407-5891-A667-DE4DF3EEF1C6}"/>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36273" y="3062746"/>
            <a:ext cx="544204" cy="544204"/>
          </a:xfrm>
          <a:prstGeom prst="rect">
            <a:avLst/>
          </a:prstGeom>
        </p:spPr>
      </p:pic>
      <p:pic>
        <p:nvPicPr>
          <p:cNvPr id="151" name="Graphic 150">
            <a:extLst>
              <a:ext uri="{FF2B5EF4-FFF2-40B4-BE49-F238E27FC236}">
                <a16:creationId xmlns:a16="http://schemas.microsoft.com/office/drawing/2014/main" id="{6CE8EE7C-B9FD-DCDB-E472-E2DFBB88F076}"/>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10185338" y="3071091"/>
            <a:ext cx="544204" cy="544204"/>
          </a:xfrm>
          <a:prstGeom prst="rect">
            <a:avLst/>
          </a:prstGeom>
        </p:spPr>
      </p:pic>
      <p:pic>
        <p:nvPicPr>
          <p:cNvPr id="152" name="Graphic 151">
            <a:extLst>
              <a:ext uri="{FF2B5EF4-FFF2-40B4-BE49-F238E27FC236}">
                <a16:creationId xmlns:a16="http://schemas.microsoft.com/office/drawing/2014/main" id="{17ED04A1-678A-CBC1-ACC3-D49F5C2F5CED}"/>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79501" y="1259579"/>
            <a:ext cx="544204" cy="544204"/>
          </a:xfrm>
          <a:prstGeom prst="rect">
            <a:avLst/>
          </a:prstGeom>
        </p:spPr>
      </p:pic>
      <p:pic>
        <p:nvPicPr>
          <p:cNvPr id="153" name="Graphic 152">
            <a:extLst>
              <a:ext uri="{FF2B5EF4-FFF2-40B4-BE49-F238E27FC236}">
                <a16:creationId xmlns:a16="http://schemas.microsoft.com/office/drawing/2014/main" id="{D0634198-B6F4-98A3-1F79-59D8A5FFBF7D}"/>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11025870" y="1254754"/>
            <a:ext cx="544204" cy="544204"/>
          </a:xfrm>
          <a:prstGeom prst="rect">
            <a:avLst/>
          </a:prstGeom>
        </p:spPr>
      </p:pic>
      <p:pic>
        <p:nvPicPr>
          <p:cNvPr id="154" name="Graphic 153">
            <a:extLst>
              <a:ext uri="{FF2B5EF4-FFF2-40B4-BE49-F238E27FC236}">
                <a16:creationId xmlns:a16="http://schemas.microsoft.com/office/drawing/2014/main" id="{C03A644E-B1CB-677A-247F-1DE4B6FC547F}"/>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9357285" y="1267674"/>
            <a:ext cx="544204" cy="544204"/>
          </a:xfrm>
          <a:prstGeom prst="rect">
            <a:avLst/>
          </a:prstGeom>
        </p:spPr>
      </p:pic>
      <p:pic>
        <p:nvPicPr>
          <p:cNvPr id="155" name="Graphic 154">
            <a:extLst>
              <a:ext uri="{FF2B5EF4-FFF2-40B4-BE49-F238E27FC236}">
                <a16:creationId xmlns:a16="http://schemas.microsoft.com/office/drawing/2014/main" id="{5267655F-A76F-054D-FB1B-2AD7BE084B65}"/>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8483574" y="1275212"/>
            <a:ext cx="544204" cy="544204"/>
          </a:xfrm>
          <a:prstGeom prst="rect">
            <a:avLst/>
          </a:prstGeom>
        </p:spPr>
      </p:pic>
      <p:pic>
        <p:nvPicPr>
          <p:cNvPr id="156" name="Graphic 155">
            <a:extLst>
              <a:ext uri="{FF2B5EF4-FFF2-40B4-BE49-F238E27FC236}">
                <a16:creationId xmlns:a16="http://schemas.microsoft.com/office/drawing/2014/main" id="{FC59A8C7-0F06-3EF0-D899-4F667E2AED96}"/>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7598457" y="5706610"/>
            <a:ext cx="544204" cy="544204"/>
          </a:xfrm>
          <a:prstGeom prst="rect">
            <a:avLst/>
          </a:prstGeom>
        </p:spPr>
      </p:pic>
      <p:pic>
        <p:nvPicPr>
          <p:cNvPr id="157" name="Graphic 156">
            <a:extLst>
              <a:ext uri="{FF2B5EF4-FFF2-40B4-BE49-F238E27FC236}">
                <a16:creationId xmlns:a16="http://schemas.microsoft.com/office/drawing/2014/main" id="{F9E6D8A8-E7A0-5E6F-A0F5-D453CA088CD2}"/>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10172300" y="5699830"/>
            <a:ext cx="544204" cy="544204"/>
          </a:xfrm>
          <a:prstGeom prst="rect">
            <a:avLst/>
          </a:prstGeom>
        </p:spPr>
      </p:pic>
      <p:pic>
        <p:nvPicPr>
          <p:cNvPr id="158" name="Graphic 157">
            <a:extLst>
              <a:ext uri="{FF2B5EF4-FFF2-40B4-BE49-F238E27FC236}">
                <a16:creationId xmlns:a16="http://schemas.microsoft.com/office/drawing/2014/main" id="{529A9429-8406-DCEF-F803-2203453DBDAC}"/>
              </a:ext>
            </a:extLst>
          </p:cNvPr>
          <p:cNvPicPr>
            <a:picLocks noChangeAspect="1"/>
          </p:cNvPicPr>
          <p:nvPr userDrawn="1"/>
        </p:nvPicPr>
        <p:blipFill>
          <a:blip>
            <a:extLst>
              <a:ext uri="{96DAC541-7B7A-43D3-8B79-37D633B846F1}">
                <asvg:svgBlip xmlns:asvg="http://schemas.microsoft.com/office/drawing/2016/SVG/main" r:embed="rId72"/>
              </a:ext>
            </a:extLst>
          </a:blip>
          <a:stretch>
            <a:fillRect/>
          </a:stretch>
        </p:blipFill>
        <p:spPr>
          <a:xfrm>
            <a:off x="9368691" y="5699215"/>
            <a:ext cx="544204" cy="544204"/>
          </a:xfrm>
          <a:prstGeom prst="rect">
            <a:avLst/>
          </a:prstGeom>
        </p:spPr>
      </p:pic>
      <p:pic>
        <p:nvPicPr>
          <p:cNvPr id="159" name="Graphic 158">
            <a:extLst>
              <a:ext uri="{FF2B5EF4-FFF2-40B4-BE49-F238E27FC236}">
                <a16:creationId xmlns:a16="http://schemas.microsoft.com/office/drawing/2014/main" id="{D6200941-8383-1731-948B-0E6832CC7F1D}"/>
              </a:ext>
            </a:extLst>
          </p:cNvPr>
          <p:cNvPicPr>
            <a:picLocks noChangeAspect="1"/>
          </p:cNvPicPr>
          <p:nvPr userDrawn="1"/>
        </p:nvPicPr>
        <p:blipFill>
          <a:blip>
            <a:extLst>
              <a:ext uri="{96DAC541-7B7A-43D3-8B79-37D633B846F1}">
                <asvg:svgBlip xmlns:asvg="http://schemas.microsoft.com/office/drawing/2016/SVG/main" r:embed="rId73"/>
              </a:ext>
            </a:extLst>
          </a:blip>
          <a:stretch>
            <a:fillRect/>
          </a:stretch>
        </p:blipFill>
        <p:spPr>
          <a:xfrm>
            <a:off x="11023105" y="5699215"/>
            <a:ext cx="544204" cy="544204"/>
          </a:xfrm>
          <a:prstGeom prst="rect">
            <a:avLst/>
          </a:prstGeom>
        </p:spPr>
      </p:pic>
      <p:pic>
        <p:nvPicPr>
          <p:cNvPr id="160" name="Graphic 159">
            <a:extLst>
              <a:ext uri="{FF2B5EF4-FFF2-40B4-BE49-F238E27FC236}">
                <a16:creationId xmlns:a16="http://schemas.microsoft.com/office/drawing/2014/main" id="{6BB5C625-68F1-3A21-977B-E3CBCF191D53}"/>
              </a:ext>
            </a:extLst>
          </p:cNvPr>
          <p:cNvPicPr>
            <a:picLocks noChangeAspect="1"/>
          </p:cNvPicPr>
          <p:nvPr userDrawn="1"/>
        </p:nvPicPr>
        <p:blipFill>
          <a:blip>
            <a:extLst>
              <a:ext uri="{96DAC541-7B7A-43D3-8B79-37D633B846F1}">
                <asvg:svgBlip xmlns:asvg="http://schemas.microsoft.com/office/drawing/2016/SVG/main" r:embed="rId74"/>
              </a:ext>
            </a:extLst>
          </a:blip>
          <a:stretch>
            <a:fillRect/>
          </a:stretch>
        </p:blipFill>
        <p:spPr>
          <a:xfrm>
            <a:off x="8483574" y="5692131"/>
            <a:ext cx="544204" cy="544204"/>
          </a:xfrm>
          <a:prstGeom prst="rect">
            <a:avLst/>
          </a:prstGeom>
        </p:spPr>
      </p:pic>
      <p:pic>
        <p:nvPicPr>
          <p:cNvPr id="161" name="Graphic 160">
            <a:extLst>
              <a:ext uri="{FF2B5EF4-FFF2-40B4-BE49-F238E27FC236}">
                <a16:creationId xmlns:a16="http://schemas.microsoft.com/office/drawing/2014/main" id="{DACB1E9F-6501-9221-FF55-E9F45016B4F7}"/>
              </a:ext>
            </a:extLst>
          </p:cNvPr>
          <p:cNvPicPr>
            <a:picLocks noChangeAspect="1"/>
          </p:cNvPicPr>
          <p:nvPr userDrawn="1"/>
        </p:nvPicPr>
        <p:blipFill>
          <a:blip>
            <a:extLst>
              <a:ext uri="{96DAC541-7B7A-43D3-8B79-37D633B846F1}">
                <asvg:svgBlip xmlns:asvg="http://schemas.microsoft.com/office/drawing/2016/SVG/main" r:embed="rId75"/>
              </a:ext>
            </a:extLst>
          </a:blip>
          <a:stretch>
            <a:fillRect/>
          </a:stretch>
        </p:blipFill>
        <p:spPr>
          <a:xfrm>
            <a:off x="5047613" y="2140305"/>
            <a:ext cx="544204" cy="544204"/>
          </a:xfrm>
          <a:prstGeom prst="rect">
            <a:avLst/>
          </a:prstGeom>
        </p:spPr>
      </p:pic>
      <p:pic>
        <p:nvPicPr>
          <p:cNvPr id="162" name="Graphic 161">
            <a:extLst>
              <a:ext uri="{FF2B5EF4-FFF2-40B4-BE49-F238E27FC236}">
                <a16:creationId xmlns:a16="http://schemas.microsoft.com/office/drawing/2014/main" id="{1B55D558-AC5F-2198-0090-C40017F77B76}"/>
              </a:ext>
            </a:extLst>
          </p:cNvPr>
          <p:cNvPicPr>
            <a:picLocks noChangeAspect="1"/>
          </p:cNvPicPr>
          <p:nvPr userDrawn="1"/>
        </p:nvPicPr>
        <p:blipFill>
          <a:blip>
            <a:extLst>
              <a:ext uri="{96DAC541-7B7A-43D3-8B79-37D633B846F1}">
                <asvg:svgBlip xmlns:asvg="http://schemas.microsoft.com/office/drawing/2016/SVG/main" r:embed="rId76"/>
              </a:ext>
            </a:extLst>
          </a:blip>
          <a:stretch>
            <a:fillRect/>
          </a:stretch>
        </p:blipFill>
        <p:spPr>
          <a:xfrm>
            <a:off x="6719251" y="2138708"/>
            <a:ext cx="544204" cy="544204"/>
          </a:xfrm>
          <a:prstGeom prst="rect">
            <a:avLst/>
          </a:prstGeom>
        </p:spPr>
      </p:pic>
    </p:spTree>
    <p:extLst>
      <p:ext uri="{BB962C8B-B14F-4D97-AF65-F5344CB8AC3E}">
        <p14:creationId xmlns:p14="http://schemas.microsoft.com/office/powerpoint/2010/main" val="280795233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1_Icons6">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7A9D0B8-DF3A-C829-7D6D-A4304B47E37F}"/>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Outlined icons</a:t>
            </a:r>
          </a:p>
        </p:txBody>
      </p:sp>
      <p:sp>
        <p:nvSpPr>
          <p:cNvPr id="3" name="Graphic 8">
            <a:extLst>
              <a:ext uri="{FF2B5EF4-FFF2-40B4-BE49-F238E27FC236}">
                <a16:creationId xmlns:a16="http://schemas.microsoft.com/office/drawing/2014/main" id="{9CE60CFC-FBCE-92E9-9BA3-45DCCF9C9F06}"/>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noFill/>
          <a:ln w="15240" cap="flat">
            <a:solidFill>
              <a:srgbClr val="009DD6"/>
            </a:solidFill>
            <a:prstDash val="solid"/>
            <a:miter/>
          </a:ln>
        </p:spPr>
        <p:txBody>
          <a:bodyPr rtlCol="0" anchor="ctr"/>
          <a:lstStyle/>
          <a:p>
            <a:pPr defTabSz="914355"/>
            <a:endParaRPr lang="en-US">
              <a:solidFill>
                <a:srgbClr val="009DD6"/>
              </a:solidFill>
              <a:latin typeface="Calibri" panose="020F0502020204030204"/>
            </a:endParaRPr>
          </a:p>
        </p:txBody>
      </p:sp>
      <p:sp>
        <p:nvSpPr>
          <p:cNvPr id="5" name="Graphic 9">
            <a:extLst>
              <a:ext uri="{FF2B5EF4-FFF2-40B4-BE49-F238E27FC236}">
                <a16:creationId xmlns:a16="http://schemas.microsoft.com/office/drawing/2014/main" id="{CF2A1B55-B86F-2F6F-44E6-AA67B3873896}"/>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noFill/>
          <a:ln w="15240" cap="flat">
            <a:solidFill>
              <a:srgbClr val="138468"/>
            </a:solidFill>
            <a:prstDash val="solid"/>
            <a:miter/>
          </a:ln>
        </p:spPr>
        <p:txBody>
          <a:bodyPr rtlCol="0" anchor="ctr"/>
          <a:lstStyle/>
          <a:p>
            <a:pPr defTabSz="914355"/>
            <a:endParaRPr lang="en-US">
              <a:solidFill>
                <a:srgbClr val="333333"/>
              </a:solidFill>
              <a:latin typeface="Calibri" panose="020F0502020204030204"/>
            </a:endParaRPr>
          </a:p>
        </p:txBody>
      </p:sp>
      <p:sp>
        <p:nvSpPr>
          <p:cNvPr id="94" name="Graphic 7">
            <a:extLst>
              <a:ext uri="{FF2B5EF4-FFF2-40B4-BE49-F238E27FC236}">
                <a16:creationId xmlns:a16="http://schemas.microsoft.com/office/drawing/2014/main" id="{35AF5AA1-005A-D74D-BD48-FDFC022FF47D}"/>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noFill/>
          <a:ln w="15240" cap="flat">
            <a:solidFill>
              <a:srgbClr val="A6000E"/>
            </a:solidFill>
            <a:prstDash val="solid"/>
            <a:miter/>
          </a:ln>
        </p:spPr>
        <p:txBody>
          <a:bodyPr rtlCol="0" anchor="ctr"/>
          <a:lstStyle/>
          <a:p>
            <a:pPr defTabSz="914355"/>
            <a:endParaRPr lang="en-US">
              <a:solidFill>
                <a:srgbClr val="333333"/>
              </a:solidFill>
              <a:latin typeface="Calibri" panose="020F0502020204030204"/>
            </a:endParaRPr>
          </a:p>
        </p:txBody>
      </p:sp>
      <p:sp>
        <p:nvSpPr>
          <p:cNvPr id="95" name="Graphic 6">
            <a:extLst>
              <a:ext uri="{FF2B5EF4-FFF2-40B4-BE49-F238E27FC236}">
                <a16:creationId xmlns:a16="http://schemas.microsoft.com/office/drawing/2014/main" id="{2527A87C-38C8-A846-FDC1-4A116332E2E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noFill/>
          <a:ln w="15240" cap="flat">
            <a:solidFill>
              <a:srgbClr val="FB6330"/>
            </a:solidFill>
            <a:prstDash val="solid"/>
            <a:miter/>
          </a:ln>
        </p:spPr>
        <p:txBody>
          <a:bodyPr rtlCol="0" anchor="ctr"/>
          <a:lstStyle/>
          <a:p>
            <a:pPr defTabSz="914355"/>
            <a:endParaRPr lang="en-US">
              <a:solidFill>
                <a:srgbClr val="333333"/>
              </a:solidFill>
              <a:latin typeface="Calibri" panose="020F0502020204030204"/>
            </a:endParaRPr>
          </a:p>
        </p:txBody>
      </p:sp>
      <p:pic>
        <p:nvPicPr>
          <p:cNvPr id="96" name="Graphic 95">
            <a:extLst>
              <a:ext uri="{FF2B5EF4-FFF2-40B4-BE49-F238E27FC236}">
                <a16:creationId xmlns:a16="http://schemas.microsoft.com/office/drawing/2014/main" id="{B183CCE0-06B3-3720-1F9B-6E0F1FF3FDF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965462" y="4477951"/>
            <a:ext cx="501558" cy="501558"/>
          </a:xfrm>
          <a:prstGeom prst="rect">
            <a:avLst/>
          </a:prstGeom>
        </p:spPr>
      </p:pic>
      <p:pic>
        <p:nvPicPr>
          <p:cNvPr id="97" name="Graphic 96">
            <a:extLst>
              <a:ext uri="{FF2B5EF4-FFF2-40B4-BE49-F238E27FC236}">
                <a16:creationId xmlns:a16="http://schemas.microsoft.com/office/drawing/2014/main" id="{6DDA5703-50BA-D992-938D-0137F6D972A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823644" y="4477951"/>
            <a:ext cx="501558" cy="501558"/>
          </a:xfrm>
          <a:prstGeom prst="rect">
            <a:avLst/>
          </a:prstGeom>
        </p:spPr>
      </p:pic>
      <p:sp>
        <p:nvSpPr>
          <p:cNvPr id="98" name="TextBox 97">
            <a:extLst>
              <a:ext uri="{FF2B5EF4-FFF2-40B4-BE49-F238E27FC236}">
                <a16:creationId xmlns:a16="http://schemas.microsoft.com/office/drawing/2014/main" id="{8C946FDE-B653-B093-0677-EA30A29960F8}"/>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Universal icons</a:t>
            </a:r>
          </a:p>
        </p:txBody>
      </p:sp>
      <p:sp>
        <p:nvSpPr>
          <p:cNvPr id="99" name="TextBox 98">
            <a:extLst>
              <a:ext uri="{FF2B5EF4-FFF2-40B4-BE49-F238E27FC236}">
                <a16:creationId xmlns:a16="http://schemas.microsoft.com/office/drawing/2014/main" id="{1CCD63FF-2003-D541-25FB-E6561476F885}"/>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latin typeface="Scotia Headline" panose="020B0503020203020204" pitchFamily="34" charset="0"/>
                <a:ea typeface="Scotia Headline" panose="020B0503020203020204" pitchFamily="34" charset="0"/>
              </a:rPr>
              <a:t>Third Party Logo Icons</a:t>
            </a:r>
          </a:p>
        </p:txBody>
      </p:sp>
      <p:pic>
        <p:nvPicPr>
          <p:cNvPr id="100" name="Graphic 99">
            <a:extLst>
              <a:ext uri="{FF2B5EF4-FFF2-40B4-BE49-F238E27FC236}">
                <a16:creationId xmlns:a16="http://schemas.microsoft.com/office/drawing/2014/main" id="{C556E26A-4ACF-E320-2FD8-C7F44B46988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191817" y="1383671"/>
            <a:ext cx="461215" cy="377358"/>
          </a:xfrm>
          <a:prstGeom prst="rect">
            <a:avLst/>
          </a:prstGeom>
        </p:spPr>
      </p:pic>
      <p:pic>
        <p:nvPicPr>
          <p:cNvPr id="101" name="Graphic 100">
            <a:extLst>
              <a:ext uri="{FF2B5EF4-FFF2-40B4-BE49-F238E27FC236}">
                <a16:creationId xmlns:a16="http://schemas.microsoft.com/office/drawing/2014/main" id="{B42F4D6B-E00F-438D-4E1D-B6C43DF6142B}"/>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510183" y="1271801"/>
            <a:ext cx="503143" cy="503143"/>
          </a:xfrm>
          <a:prstGeom prst="rect">
            <a:avLst/>
          </a:prstGeom>
        </p:spPr>
      </p:pic>
      <p:pic>
        <p:nvPicPr>
          <p:cNvPr id="102" name="Graphic 101">
            <a:extLst>
              <a:ext uri="{FF2B5EF4-FFF2-40B4-BE49-F238E27FC236}">
                <a16:creationId xmlns:a16="http://schemas.microsoft.com/office/drawing/2014/main" id="{F8FBFE68-3310-D9F0-4561-9C879F3A8B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32411" y="1384353"/>
            <a:ext cx="503144" cy="335429"/>
          </a:xfrm>
          <a:prstGeom prst="rect">
            <a:avLst/>
          </a:prstGeom>
        </p:spPr>
      </p:pic>
      <p:pic>
        <p:nvPicPr>
          <p:cNvPr id="103" name="Graphic 102">
            <a:extLst>
              <a:ext uri="{FF2B5EF4-FFF2-40B4-BE49-F238E27FC236}">
                <a16:creationId xmlns:a16="http://schemas.microsoft.com/office/drawing/2014/main" id="{47A2F82A-F8FD-E8BD-CDE9-A9214A8CA7F3}"/>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3302846" y="1284397"/>
            <a:ext cx="503143" cy="503143"/>
          </a:xfrm>
          <a:prstGeom prst="rect">
            <a:avLst/>
          </a:prstGeom>
        </p:spPr>
      </p:pic>
      <p:pic>
        <p:nvPicPr>
          <p:cNvPr id="104" name="Graphic 103">
            <a:extLst>
              <a:ext uri="{FF2B5EF4-FFF2-40B4-BE49-F238E27FC236}">
                <a16:creationId xmlns:a16="http://schemas.microsoft.com/office/drawing/2014/main" id="{9F0D091E-8B23-946B-C1E4-4E50C0D86547}"/>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11053610" y="1283397"/>
            <a:ext cx="475190" cy="461214"/>
          </a:xfrm>
          <a:prstGeom prst="rect">
            <a:avLst/>
          </a:prstGeom>
        </p:spPr>
      </p:pic>
      <p:pic>
        <p:nvPicPr>
          <p:cNvPr id="105" name="Graphic 104">
            <a:extLst>
              <a:ext uri="{FF2B5EF4-FFF2-40B4-BE49-F238E27FC236}">
                <a16:creationId xmlns:a16="http://schemas.microsoft.com/office/drawing/2014/main" id="{FA9B59C1-C436-7383-2FAF-33A5DA015976}"/>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5948894" y="1299759"/>
            <a:ext cx="349405" cy="475191"/>
          </a:xfrm>
          <a:prstGeom prst="rect">
            <a:avLst/>
          </a:prstGeom>
        </p:spPr>
      </p:pic>
      <p:pic>
        <p:nvPicPr>
          <p:cNvPr id="106" name="Graphic 105">
            <a:extLst>
              <a:ext uri="{FF2B5EF4-FFF2-40B4-BE49-F238E27FC236}">
                <a16:creationId xmlns:a16="http://schemas.microsoft.com/office/drawing/2014/main" id="{50FB4155-68AD-8219-FA5C-3A008A4AA19B}"/>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713651" y="2179704"/>
            <a:ext cx="475191" cy="475191"/>
          </a:xfrm>
          <a:prstGeom prst="rect">
            <a:avLst/>
          </a:prstGeom>
        </p:spPr>
      </p:pic>
      <p:pic>
        <p:nvPicPr>
          <p:cNvPr id="107" name="Graphic 106">
            <a:extLst>
              <a:ext uri="{FF2B5EF4-FFF2-40B4-BE49-F238E27FC236}">
                <a16:creationId xmlns:a16="http://schemas.microsoft.com/office/drawing/2014/main" id="{A02EEA25-570E-3083-DEDF-412B1483B84B}"/>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4200131" y="2179100"/>
            <a:ext cx="349405" cy="461214"/>
          </a:xfrm>
          <a:prstGeom prst="rect">
            <a:avLst/>
          </a:prstGeom>
        </p:spPr>
      </p:pic>
      <p:pic>
        <p:nvPicPr>
          <p:cNvPr id="108" name="Graphic 107">
            <a:extLst>
              <a:ext uri="{FF2B5EF4-FFF2-40B4-BE49-F238E27FC236}">
                <a16:creationId xmlns:a16="http://schemas.microsoft.com/office/drawing/2014/main" id="{69E93B92-29D3-7C7A-8C8E-1BF14F22C827}"/>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3210678" y="2191150"/>
            <a:ext cx="503143" cy="419286"/>
          </a:xfrm>
          <a:prstGeom prst="rect">
            <a:avLst/>
          </a:prstGeom>
        </p:spPr>
      </p:pic>
      <p:pic>
        <p:nvPicPr>
          <p:cNvPr id="109" name="Graphic 108">
            <a:extLst>
              <a:ext uri="{FF2B5EF4-FFF2-40B4-BE49-F238E27FC236}">
                <a16:creationId xmlns:a16="http://schemas.microsoft.com/office/drawing/2014/main" id="{F1E4C352-6E26-D699-61F3-A5B9B7DE38F1}"/>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87696" y="2175223"/>
            <a:ext cx="447238" cy="461214"/>
          </a:xfrm>
          <a:prstGeom prst="rect">
            <a:avLst/>
          </a:prstGeom>
        </p:spPr>
      </p:pic>
      <p:pic>
        <p:nvPicPr>
          <p:cNvPr id="110" name="Graphic 109">
            <a:extLst>
              <a:ext uri="{FF2B5EF4-FFF2-40B4-BE49-F238E27FC236}">
                <a16:creationId xmlns:a16="http://schemas.microsoft.com/office/drawing/2014/main" id="{B92BDA8B-09D8-783B-98F1-59A341230BA7}"/>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7636561" y="2157256"/>
            <a:ext cx="503143" cy="503143"/>
          </a:xfrm>
          <a:prstGeom prst="rect">
            <a:avLst/>
          </a:prstGeom>
        </p:spPr>
      </p:pic>
      <p:pic>
        <p:nvPicPr>
          <p:cNvPr id="111" name="Graphic 110">
            <a:extLst>
              <a:ext uri="{FF2B5EF4-FFF2-40B4-BE49-F238E27FC236}">
                <a16:creationId xmlns:a16="http://schemas.microsoft.com/office/drawing/2014/main" id="{B3F5336C-4991-A8ED-4CFC-694B00739EB8}"/>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8540109" y="1283479"/>
            <a:ext cx="447239" cy="489167"/>
          </a:xfrm>
          <a:prstGeom prst="rect">
            <a:avLst/>
          </a:prstGeom>
        </p:spPr>
      </p:pic>
      <p:pic>
        <p:nvPicPr>
          <p:cNvPr id="112" name="Graphic 111">
            <a:extLst>
              <a:ext uri="{FF2B5EF4-FFF2-40B4-BE49-F238E27FC236}">
                <a16:creationId xmlns:a16="http://schemas.microsoft.com/office/drawing/2014/main" id="{7F21ED0F-5964-8978-0BAD-3ED0E9F38031}"/>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780128" y="1336246"/>
            <a:ext cx="461214" cy="419286"/>
          </a:xfrm>
          <a:prstGeom prst="rect">
            <a:avLst/>
          </a:prstGeom>
        </p:spPr>
      </p:pic>
      <p:pic>
        <p:nvPicPr>
          <p:cNvPr id="113" name="Graphic 112">
            <a:extLst>
              <a:ext uri="{FF2B5EF4-FFF2-40B4-BE49-F238E27FC236}">
                <a16:creationId xmlns:a16="http://schemas.microsoft.com/office/drawing/2014/main" id="{45820E40-CF24-F3CC-6686-1DD77CD7FBD8}"/>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10193847" y="1284140"/>
            <a:ext cx="503143" cy="503143"/>
          </a:xfrm>
          <a:prstGeom prst="rect">
            <a:avLst/>
          </a:prstGeom>
        </p:spPr>
      </p:pic>
      <p:pic>
        <p:nvPicPr>
          <p:cNvPr id="114" name="Graphic 113">
            <a:extLst>
              <a:ext uri="{FF2B5EF4-FFF2-40B4-BE49-F238E27FC236}">
                <a16:creationId xmlns:a16="http://schemas.microsoft.com/office/drawing/2014/main" id="{0781D6E6-A09D-9B25-4857-79BC91DDB55F}"/>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7649434" y="1355237"/>
            <a:ext cx="461215" cy="377358"/>
          </a:xfrm>
          <a:prstGeom prst="rect">
            <a:avLst/>
          </a:prstGeom>
        </p:spPr>
      </p:pic>
      <p:pic>
        <p:nvPicPr>
          <p:cNvPr id="115" name="Graphic 114">
            <a:extLst>
              <a:ext uri="{FF2B5EF4-FFF2-40B4-BE49-F238E27FC236}">
                <a16:creationId xmlns:a16="http://schemas.microsoft.com/office/drawing/2014/main" id="{0BC8D44F-61B6-4AC8-E7E7-8BF2549639E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5047091" y="1322457"/>
            <a:ext cx="503143" cy="447238"/>
          </a:xfrm>
          <a:prstGeom prst="rect">
            <a:avLst/>
          </a:prstGeom>
        </p:spPr>
      </p:pic>
      <p:pic>
        <p:nvPicPr>
          <p:cNvPr id="116" name="Graphic 115">
            <a:extLst>
              <a:ext uri="{FF2B5EF4-FFF2-40B4-BE49-F238E27FC236}">
                <a16:creationId xmlns:a16="http://schemas.microsoft.com/office/drawing/2014/main" id="{75824187-4EB2-0547-C90A-0238F42EEA0B}"/>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2420591" y="1292345"/>
            <a:ext cx="503143" cy="503143"/>
          </a:xfrm>
          <a:prstGeom prst="rect">
            <a:avLst/>
          </a:prstGeom>
        </p:spPr>
      </p:pic>
      <p:grpSp>
        <p:nvGrpSpPr>
          <p:cNvPr id="117" name="Group 116">
            <a:extLst>
              <a:ext uri="{FF2B5EF4-FFF2-40B4-BE49-F238E27FC236}">
                <a16:creationId xmlns:a16="http://schemas.microsoft.com/office/drawing/2014/main" id="{E85A4366-4793-446A-EB1A-4F79BC2A9FCA}"/>
              </a:ext>
            </a:extLst>
          </p:cNvPr>
          <p:cNvGrpSpPr/>
          <p:nvPr userDrawn="1"/>
        </p:nvGrpSpPr>
        <p:grpSpPr>
          <a:xfrm>
            <a:off x="8379520" y="2148952"/>
            <a:ext cx="779292" cy="487485"/>
            <a:chOff x="14899263" y="1237076"/>
            <a:chExt cx="1603579" cy="1003116"/>
          </a:xfrm>
          <a:solidFill>
            <a:schemeClr val="bg1"/>
          </a:solidFill>
        </p:grpSpPr>
        <p:grpSp>
          <p:nvGrpSpPr>
            <p:cNvPr id="118" name="Graphic 213">
              <a:extLst>
                <a:ext uri="{FF2B5EF4-FFF2-40B4-BE49-F238E27FC236}">
                  <a16:creationId xmlns:a16="http://schemas.microsoft.com/office/drawing/2014/main" id="{96F0231B-1DE9-75CD-B85E-D82678D8DDBD}"/>
                </a:ext>
              </a:extLst>
            </p:cNvPr>
            <p:cNvGrpSpPr/>
            <p:nvPr/>
          </p:nvGrpSpPr>
          <p:grpSpPr>
            <a:xfrm>
              <a:off x="14899263" y="1516284"/>
              <a:ext cx="619732" cy="619732"/>
              <a:chOff x="2995882" y="4353098"/>
              <a:chExt cx="1003116" cy="1003116"/>
            </a:xfrm>
            <a:grpFill/>
          </p:grpSpPr>
          <p:sp>
            <p:nvSpPr>
              <p:cNvPr id="125" name="Freeform 279">
                <a:extLst>
                  <a:ext uri="{FF2B5EF4-FFF2-40B4-BE49-F238E27FC236}">
                    <a16:creationId xmlns:a16="http://schemas.microsoft.com/office/drawing/2014/main" id="{B737831B-451B-7DEC-D48D-092AFAC48E7E}"/>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6" name="Freeform 280">
                <a:extLst>
                  <a:ext uri="{FF2B5EF4-FFF2-40B4-BE49-F238E27FC236}">
                    <a16:creationId xmlns:a16="http://schemas.microsoft.com/office/drawing/2014/main" id="{1461CFD4-DECE-4038-6752-22C8E4C99A31}"/>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19" name="Graphic 213">
              <a:extLst>
                <a:ext uri="{FF2B5EF4-FFF2-40B4-BE49-F238E27FC236}">
                  <a16:creationId xmlns:a16="http://schemas.microsoft.com/office/drawing/2014/main" id="{FF2616EF-0A3A-5159-2156-38AABE8F2D5C}"/>
                </a:ext>
              </a:extLst>
            </p:cNvPr>
            <p:cNvGrpSpPr/>
            <p:nvPr/>
          </p:nvGrpSpPr>
          <p:grpSpPr>
            <a:xfrm>
              <a:off x="15883110" y="1516284"/>
              <a:ext cx="619732" cy="619732"/>
              <a:chOff x="2995882" y="4353098"/>
              <a:chExt cx="1003116" cy="1003116"/>
            </a:xfrm>
            <a:grpFill/>
          </p:grpSpPr>
          <p:sp>
            <p:nvSpPr>
              <p:cNvPr id="123" name="Freeform 272">
                <a:extLst>
                  <a:ext uri="{FF2B5EF4-FFF2-40B4-BE49-F238E27FC236}">
                    <a16:creationId xmlns:a16="http://schemas.microsoft.com/office/drawing/2014/main" id="{95298A7E-BE38-F2F4-0EB9-24084514452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4" name="Freeform 278">
                <a:extLst>
                  <a:ext uri="{FF2B5EF4-FFF2-40B4-BE49-F238E27FC236}">
                    <a16:creationId xmlns:a16="http://schemas.microsoft.com/office/drawing/2014/main" id="{279C4265-C561-10AD-9ED8-55E7E237455C}"/>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20" name="Graphic 213">
              <a:extLst>
                <a:ext uri="{FF2B5EF4-FFF2-40B4-BE49-F238E27FC236}">
                  <a16:creationId xmlns:a16="http://schemas.microsoft.com/office/drawing/2014/main" id="{65BE80CE-F697-54DB-244A-8C044178D0DE}"/>
                </a:ext>
              </a:extLst>
            </p:cNvPr>
            <p:cNvGrpSpPr/>
            <p:nvPr/>
          </p:nvGrpSpPr>
          <p:grpSpPr>
            <a:xfrm>
              <a:off x="15200203" y="1237076"/>
              <a:ext cx="1003116" cy="1003116"/>
              <a:chOff x="2995882" y="4353098"/>
              <a:chExt cx="1003116" cy="1003116"/>
            </a:xfrm>
            <a:grpFill/>
          </p:grpSpPr>
          <p:sp>
            <p:nvSpPr>
              <p:cNvPr id="121" name="Freeform 270">
                <a:extLst>
                  <a:ext uri="{FF2B5EF4-FFF2-40B4-BE49-F238E27FC236}">
                    <a16:creationId xmlns:a16="http://schemas.microsoft.com/office/drawing/2014/main" id="{D9C2B2DA-6531-17B9-A54A-B80D7A80F753}"/>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sp>
            <p:nvSpPr>
              <p:cNvPr id="122" name="Freeform 271">
                <a:extLst>
                  <a:ext uri="{FF2B5EF4-FFF2-40B4-BE49-F238E27FC236}">
                    <a16:creationId xmlns:a16="http://schemas.microsoft.com/office/drawing/2014/main" id="{B71727DB-A1DB-FC5F-0B35-ADAF00198EE4}"/>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15240" cap="flat">
                <a:solidFill>
                  <a:srgbClr val="333333"/>
                </a:solidFill>
                <a:prstDash val="solid"/>
                <a:miter/>
              </a:ln>
            </p:spPr>
            <p:txBody>
              <a:bodyPr rtlCol="0" anchor="ctr"/>
              <a:lstStyle/>
              <a:p>
                <a:pPr defTabSz="914355"/>
                <a:endParaRPr lang="en-US">
                  <a:solidFill>
                    <a:srgbClr val="333333"/>
                  </a:solidFill>
                  <a:latin typeface="Calibri" panose="020F0502020204030204"/>
                </a:endParaRPr>
              </a:p>
            </p:txBody>
          </p:sp>
        </p:grpSp>
      </p:grpSp>
      <p:pic>
        <p:nvPicPr>
          <p:cNvPr id="127" name="Graphic 126">
            <a:extLst>
              <a:ext uri="{FF2B5EF4-FFF2-40B4-BE49-F238E27FC236}">
                <a16:creationId xmlns:a16="http://schemas.microsoft.com/office/drawing/2014/main" id="{9CDCDAC7-6373-BBF0-FEA5-588DFE32BE3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9365367" y="1268473"/>
            <a:ext cx="540093" cy="540093"/>
          </a:xfrm>
          <a:prstGeom prst="rect">
            <a:avLst/>
          </a:prstGeom>
        </p:spPr>
      </p:pic>
      <p:pic>
        <p:nvPicPr>
          <p:cNvPr id="128" name="Graphic 127">
            <a:extLst>
              <a:ext uri="{FF2B5EF4-FFF2-40B4-BE49-F238E27FC236}">
                <a16:creationId xmlns:a16="http://schemas.microsoft.com/office/drawing/2014/main" id="{E7BC8D8E-8B94-C219-3BE5-7CC16AAA0FF6}"/>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76284" y="2128691"/>
            <a:ext cx="544204" cy="544204"/>
          </a:xfrm>
          <a:prstGeom prst="rect">
            <a:avLst/>
          </a:prstGeom>
        </p:spPr>
      </p:pic>
      <p:pic>
        <p:nvPicPr>
          <p:cNvPr id="129" name="Graphic 128">
            <a:extLst>
              <a:ext uri="{FF2B5EF4-FFF2-40B4-BE49-F238E27FC236}">
                <a16:creationId xmlns:a16="http://schemas.microsoft.com/office/drawing/2014/main" id="{1A697763-19A7-7094-8187-5E5B49F97FDD}"/>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21458" y="2150180"/>
            <a:ext cx="544204" cy="544204"/>
          </a:xfrm>
          <a:prstGeom prst="rect">
            <a:avLst/>
          </a:prstGeom>
        </p:spPr>
      </p:pic>
      <p:pic>
        <p:nvPicPr>
          <p:cNvPr id="130" name="Graphic 129">
            <a:extLst>
              <a:ext uri="{FF2B5EF4-FFF2-40B4-BE49-F238E27FC236}">
                <a16:creationId xmlns:a16="http://schemas.microsoft.com/office/drawing/2014/main" id="{CA757890-7849-4F36-D9EB-4A259090534B}"/>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5837508" y="2128691"/>
            <a:ext cx="544204" cy="544204"/>
          </a:xfrm>
          <a:prstGeom prst="rect">
            <a:avLst/>
          </a:prstGeom>
        </p:spPr>
      </p:pic>
      <p:pic>
        <p:nvPicPr>
          <p:cNvPr id="131" name="Graphic 130">
            <a:extLst>
              <a:ext uri="{FF2B5EF4-FFF2-40B4-BE49-F238E27FC236}">
                <a16:creationId xmlns:a16="http://schemas.microsoft.com/office/drawing/2014/main" id="{FF8F4A3C-C39B-C276-287F-C84A8625B5FA}"/>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4968670" y="2121523"/>
            <a:ext cx="544204" cy="544204"/>
          </a:xfrm>
          <a:prstGeom prst="rect">
            <a:avLst/>
          </a:prstGeom>
        </p:spPr>
      </p:pic>
    </p:spTree>
    <p:extLst>
      <p:ext uri="{BB962C8B-B14F-4D97-AF65-F5344CB8AC3E}">
        <p14:creationId xmlns:p14="http://schemas.microsoft.com/office/powerpoint/2010/main" val="21200068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Icons7">
    <p:bg>
      <p:bgPr>
        <a:solidFill>
          <a:srgbClr val="7F7F7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AC3B4F1B-F261-CEC9-1B85-32522A471A82}"/>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36451" y="1283086"/>
            <a:ext cx="502200" cy="502200"/>
          </a:xfrm>
          <a:prstGeom prst="rect">
            <a:avLst/>
          </a:prstGeom>
        </p:spPr>
      </p:pic>
      <p:pic>
        <p:nvPicPr>
          <p:cNvPr id="6" name="Graphic 5">
            <a:extLst>
              <a:ext uri="{FF2B5EF4-FFF2-40B4-BE49-F238E27FC236}">
                <a16:creationId xmlns:a16="http://schemas.microsoft.com/office/drawing/2014/main" id="{9993E4CD-BB78-5B23-077B-413BBA3CAA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357693" y="5711754"/>
            <a:ext cx="502200" cy="502200"/>
          </a:xfrm>
          <a:prstGeom prst="rect">
            <a:avLst/>
          </a:prstGeom>
        </p:spPr>
      </p:pic>
      <p:pic>
        <p:nvPicPr>
          <p:cNvPr id="7" name="Graphic 6">
            <a:extLst>
              <a:ext uri="{FF2B5EF4-FFF2-40B4-BE49-F238E27FC236}">
                <a16:creationId xmlns:a16="http://schemas.microsoft.com/office/drawing/2014/main" id="{D564551E-BDB5-E48B-4C75-7B142517AD5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4391" y="2171273"/>
            <a:ext cx="502200" cy="502200"/>
          </a:xfrm>
          <a:prstGeom prst="rect">
            <a:avLst/>
          </a:prstGeom>
        </p:spPr>
      </p:pic>
      <p:pic>
        <p:nvPicPr>
          <p:cNvPr id="8" name="Graphic 7">
            <a:extLst>
              <a:ext uri="{FF2B5EF4-FFF2-40B4-BE49-F238E27FC236}">
                <a16:creationId xmlns:a16="http://schemas.microsoft.com/office/drawing/2014/main" id="{95AC8F70-0917-8455-1409-20D707DB70E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367039" y="3082390"/>
            <a:ext cx="502200" cy="502200"/>
          </a:xfrm>
          <a:prstGeom prst="rect">
            <a:avLst/>
          </a:prstGeom>
        </p:spPr>
      </p:pic>
      <p:pic>
        <p:nvPicPr>
          <p:cNvPr id="9" name="Graphic 8">
            <a:extLst>
              <a:ext uri="{FF2B5EF4-FFF2-40B4-BE49-F238E27FC236}">
                <a16:creationId xmlns:a16="http://schemas.microsoft.com/office/drawing/2014/main" id="{885354B4-1B7B-38A1-B9EB-8175C5A24408}"/>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11039099" y="3958943"/>
            <a:ext cx="502200" cy="502200"/>
          </a:xfrm>
          <a:prstGeom prst="rect">
            <a:avLst/>
          </a:prstGeom>
        </p:spPr>
      </p:pic>
      <p:pic>
        <p:nvPicPr>
          <p:cNvPr id="10" name="Graphic 9">
            <a:extLst>
              <a:ext uri="{FF2B5EF4-FFF2-40B4-BE49-F238E27FC236}">
                <a16:creationId xmlns:a16="http://schemas.microsoft.com/office/drawing/2014/main" id="{3AA1E663-2747-6BFC-5DEC-0DB5C0FD3DE4}"/>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1504547" y="5711966"/>
            <a:ext cx="502200" cy="502200"/>
          </a:xfrm>
          <a:prstGeom prst="rect">
            <a:avLst/>
          </a:prstGeom>
        </p:spPr>
      </p:pic>
      <p:pic>
        <p:nvPicPr>
          <p:cNvPr id="11" name="Graphic 10">
            <a:extLst>
              <a:ext uri="{FF2B5EF4-FFF2-40B4-BE49-F238E27FC236}">
                <a16:creationId xmlns:a16="http://schemas.microsoft.com/office/drawing/2014/main" id="{BCAD436A-BDDB-A481-4F88-CD28BFFA1806}"/>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2411089" y="3076281"/>
            <a:ext cx="502200" cy="502200"/>
          </a:xfrm>
          <a:prstGeom prst="rect">
            <a:avLst/>
          </a:prstGeom>
        </p:spPr>
      </p:pic>
      <p:pic>
        <p:nvPicPr>
          <p:cNvPr id="12" name="Graphic 11">
            <a:extLst>
              <a:ext uri="{FF2B5EF4-FFF2-40B4-BE49-F238E27FC236}">
                <a16:creationId xmlns:a16="http://schemas.microsoft.com/office/drawing/2014/main" id="{AB6F24CF-BF5E-F20C-1F06-555A05730CBF}"/>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0207665" y="4858896"/>
            <a:ext cx="502200" cy="502200"/>
          </a:xfrm>
          <a:prstGeom prst="rect">
            <a:avLst/>
          </a:prstGeom>
        </p:spPr>
      </p:pic>
      <p:pic>
        <p:nvPicPr>
          <p:cNvPr id="13" name="Graphic 12">
            <a:extLst>
              <a:ext uri="{FF2B5EF4-FFF2-40B4-BE49-F238E27FC236}">
                <a16:creationId xmlns:a16="http://schemas.microsoft.com/office/drawing/2014/main" id="{DB0FA04B-DE32-7E7A-50B7-21E7A04381DC}"/>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34033" y="3070991"/>
            <a:ext cx="502200" cy="502200"/>
          </a:xfrm>
          <a:prstGeom prst="rect">
            <a:avLst/>
          </a:prstGeom>
        </p:spPr>
      </p:pic>
      <p:pic>
        <p:nvPicPr>
          <p:cNvPr id="14" name="Graphic 13">
            <a:extLst>
              <a:ext uri="{FF2B5EF4-FFF2-40B4-BE49-F238E27FC236}">
                <a16:creationId xmlns:a16="http://schemas.microsoft.com/office/drawing/2014/main" id="{59890620-0FEB-009B-0625-481C754F6FEC}"/>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8503896" y="2180639"/>
            <a:ext cx="502200" cy="502200"/>
          </a:xfrm>
          <a:prstGeom prst="rect">
            <a:avLst/>
          </a:prstGeom>
        </p:spPr>
      </p:pic>
      <p:pic>
        <p:nvPicPr>
          <p:cNvPr id="15" name="Graphic 14">
            <a:extLst>
              <a:ext uri="{FF2B5EF4-FFF2-40B4-BE49-F238E27FC236}">
                <a16:creationId xmlns:a16="http://schemas.microsoft.com/office/drawing/2014/main" id="{C8EC5B1A-518C-0645-192A-754F61659081}"/>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4170810" y="3082390"/>
            <a:ext cx="502200" cy="502200"/>
          </a:xfrm>
          <a:prstGeom prst="rect">
            <a:avLst/>
          </a:prstGeom>
        </p:spPr>
      </p:pic>
      <p:pic>
        <p:nvPicPr>
          <p:cNvPr id="16" name="Graphic 15">
            <a:extLst>
              <a:ext uri="{FF2B5EF4-FFF2-40B4-BE49-F238E27FC236}">
                <a16:creationId xmlns:a16="http://schemas.microsoft.com/office/drawing/2014/main" id="{89142D10-AD99-8874-39AD-B994872EEEC8}"/>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8503896" y="3070991"/>
            <a:ext cx="502200" cy="502200"/>
          </a:xfrm>
          <a:prstGeom prst="rect">
            <a:avLst/>
          </a:prstGeom>
        </p:spPr>
      </p:pic>
      <p:pic>
        <p:nvPicPr>
          <p:cNvPr id="17" name="Graphic 16">
            <a:extLst>
              <a:ext uri="{FF2B5EF4-FFF2-40B4-BE49-F238E27FC236}">
                <a16:creationId xmlns:a16="http://schemas.microsoft.com/office/drawing/2014/main" id="{1CA0EC0C-CE57-50EA-8F46-05B4AAC14FE9}"/>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3317631" y="3958943"/>
            <a:ext cx="502200" cy="502200"/>
          </a:xfrm>
          <a:prstGeom prst="rect">
            <a:avLst/>
          </a:prstGeom>
        </p:spPr>
      </p:pic>
      <p:pic>
        <p:nvPicPr>
          <p:cNvPr id="18" name="Graphic 17">
            <a:extLst>
              <a:ext uri="{FF2B5EF4-FFF2-40B4-BE49-F238E27FC236}">
                <a16:creationId xmlns:a16="http://schemas.microsoft.com/office/drawing/2014/main" id="{5E8B1A52-2696-7A0E-3CAD-DD552C8C9296}"/>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11039074" y="3084252"/>
            <a:ext cx="502200" cy="502200"/>
          </a:xfrm>
          <a:prstGeom prst="rect">
            <a:avLst/>
          </a:prstGeom>
        </p:spPr>
      </p:pic>
      <p:pic>
        <p:nvPicPr>
          <p:cNvPr id="19" name="Graphic 18">
            <a:extLst>
              <a:ext uri="{FF2B5EF4-FFF2-40B4-BE49-F238E27FC236}">
                <a16:creationId xmlns:a16="http://schemas.microsoft.com/office/drawing/2014/main" id="{DDBACF6F-D025-4E4B-AC76-C7878925911D}"/>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642381" y="4858896"/>
            <a:ext cx="502200" cy="502200"/>
          </a:xfrm>
          <a:prstGeom prst="rect">
            <a:avLst/>
          </a:prstGeom>
        </p:spPr>
      </p:pic>
      <p:pic>
        <p:nvPicPr>
          <p:cNvPr id="20" name="Graphic 19">
            <a:extLst>
              <a:ext uri="{FF2B5EF4-FFF2-40B4-BE49-F238E27FC236}">
                <a16:creationId xmlns:a16="http://schemas.microsoft.com/office/drawing/2014/main" id="{798476FA-0C73-33B5-7A34-968D4402B4F1}"/>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3285763" y="4858896"/>
            <a:ext cx="502200" cy="502200"/>
          </a:xfrm>
          <a:prstGeom prst="rect">
            <a:avLst/>
          </a:prstGeom>
        </p:spPr>
      </p:pic>
      <p:pic>
        <p:nvPicPr>
          <p:cNvPr id="21" name="Graphic 20">
            <a:extLst>
              <a:ext uri="{FF2B5EF4-FFF2-40B4-BE49-F238E27FC236}">
                <a16:creationId xmlns:a16="http://schemas.microsoft.com/office/drawing/2014/main" id="{41A4403A-9A75-5046-D808-A6880ACA8799}"/>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5051221" y="5711754"/>
            <a:ext cx="502200" cy="502200"/>
          </a:xfrm>
          <a:prstGeom prst="rect">
            <a:avLst/>
          </a:prstGeom>
        </p:spPr>
      </p:pic>
      <p:pic>
        <p:nvPicPr>
          <p:cNvPr id="22" name="Graphic 21">
            <a:extLst>
              <a:ext uri="{FF2B5EF4-FFF2-40B4-BE49-F238E27FC236}">
                <a16:creationId xmlns:a16="http://schemas.microsoft.com/office/drawing/2014/main" id="{18B1C574-0BAC-A0EE-BD39-F631D1B31EA2}"/>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6744645" y="5725162"/>
            <a:ext cx="502200" cy="502200"/>
          </a:xfrm>
          <a:prstGeom prst="rect">
            <a:avLst/>
          </a:prstGeom>
        </p:spPr>
      </p:pic>
      <p:pic>
        <p:nvPicPr>
          <p:cNvPr id="23" name="Graphic 22">
            <a:extLst>
              <a:ext uri="{FF2B5EF4-FFF2-40B4-BE49-F238E27FC236}">
                <a16:creationId xmlns:a16="http://schemas.microsoft.com/office/drawing/2014/main" id="{F4A8ED62-BEA5-9F2C-52D7-7CE6B3034FB5}"/>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7622471" y="1284905"/>
            <a:ext cx="502200" cy="502200"/>
          </a:xfrm>
          <a:prstGeom prst="rect">
            <a:avLst/>
          </a:prstGeom>
        </p:spPr>
      </p:pic>
      <p:pic>
        <p:nvPicPr>
          <p:cNvPr id="24" name="Graphic 23">
            <a:extLst>
              <a:ext uri="{FF2B5EF4-FFF2-40B4-BE49-F238E27FC236}">
                <a16:creationId xmlns:a16="http://schemas.microsoft.com/office/drawing/2014/main" id="{F80E5644-FD54-5A01-1E9E-FABF52ED6112}"/>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10207665" y="3939560"/>
            <a:ext cx="502200" cy="502200"/>
          </a:xfrm>
          <a:prstGeom prst="rect">
            <a:avLst/>
          </a:prstGeom>
        </p:spPr>
      </p:pic>
      <p:pic>
        <p:nvPicPr>
          <p:cNvPr id="25" name="Graphic 24">
            <a:extLst>
              <a:ext uri="{FF2B5EF4-FFF2-40B4-BE49-F238E27FC236}">
                <a16:creationId xmlns:a16="http://schemas.microsoft.com/office/drawing/2014/main" id="{F6FE5B55-384D-FDA0-1695-1A034741AD0C}"/>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5051221" y="1259713"/>
            <a:ext cx="502200" cy="502200"/>
          </a:xfrm>
          <a:prstGeom prst="rect">
            <a:avLst/>
          </a:prstGeom>
        </p:spPr>
      </p:pic>
      <p:pic>
        <p:nvPicPr>
          <p:cNvPr id="26" name="Graphic 25">
            <a:extLst>
              <a:ext uri="{FF2B5EF4-FFF2-40B4-BE49-F238E27FC236}">
                <a16:creationId xmlns:a16="http://schemas.microsoft.com/office/drawing/2014/main" id="{E1C7BCFF-B3CF-9506-BAB8-40862FE69AB3}"/>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1037957" y="2157796"/>
            <a:ext cx="502200" cy="502200"/>
          </a:xfrm>
          <a:prstGeom prst="rect">
            <a:avLst/>
          </a:prstGeom>
        </p:spPr>
      </p:pic>
      <p:pic>
        <p:nvPicPr>
          <p:cNvPr id="27" name="Graphic 26">
            <a:extLst>
              <a:ext uri="{FF2B5EF4-FFF2-40B4-BE49-F238E27FC236}">
                <a16:creationId xmlns:a16="http://schemas.microsoft.com/office/drawing/2014/main" id="{76D47B43-3F0F-B140-41BE-D3B80F8638E5}"/>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7635315" y="3967014"/>
            <a:ext cx="502200" cy="502200"/>
          </a:xfrm>
          <a:prstGeom prst="rect">
            <a:avLst/>
          </a:prstGeom>
        </p:spPr>
      </p:pic>
      <p:pic>
        <p:nvPicPr>
          <p:cNvPr id="28" name="Graphic 27">
            <a:extLst>
              <a:ext uri="{FF2B5EF4-FFF2-40B4-BE49-F238E27FC236}">
                <a16:creationId xmlns:a16="http://schemas.microsoft.com/office/drawing/2014/main" id="{3B1DB613-A8C8-2D72-F1FD-0E72051F6018}"/>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2429406" y="3967014"/>
            <a:ext cx="502200" cy="502200"/>
          </a:xfrm>
          <a:prstGeom prst="rect">
            <a:avLst/>
          </a:prstGeom>
        </p:spPr>
      </p:pic>
      <p:pic>
        <p:nvPicPr>
          <p:cNvPr id="29" name="Graphic 28">
            <a:extLst>
              <a:ext uri="{FF2B5EF4-FFF2-40B4-BE49-F238E27FC236}">
                <a16:creationId xmlns:a16="http://schemas.microsoft.com/office/drawing/2014/main" id="{A3227FB7-A60F-C378-C84C-608CB574A8B4}"/>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6760239" y="1266265"/>
            <a:ext cx="502200" cy="502200"/>
          </a:xfrm>
          <a:prstGeom prst="rect">
            <a:avLst/>
          </a:prstGeom>
        </p:spPr>
      </p:pic>
      <p:pic>
        <p:nvPicPr>
          <p:cNvPr id="30" name="Graphic 29">
            <a:extLst>
              <a:ext uri="{FF2B5EF4-FFF2-40B4-BE49-F238E27FC236}">
                <a16:creationId xmlns:a16="http://schemas.microsoft.com/office/drawing/2014/main" id="{017093F3-BF0A-4C57-1049-56E720CAB8E1}"/>
              </a:ext>
            </a:extLst>
          </p:cNvPr>
          <p:cNvPicPr>
            <a:picLocks noChangeAspect="1"/>
          </p:cNvPicPr>
          <p:nvPr userDrawn="1"/>
        </p:nvPicPr>
        <p:blipFill>
          <a:blip>
            <a:extLst>
              <a:ext uri="{96DAC541-7B7A-43D3-8B79-37D633B846F1}">
                <asvg:svgBlip xmlns:asvg="http://schemas.microsoft.com/office/drawing/2016/SVG/main" r:embed="rId27"/>
              </a:ext>
            </a:extLst>
          </a:blip>
          <a:stretch>
            <a:fillRect/>
          </a:stretch>
        </p:blipFill>
        <p:spPr>
          <a:xfrm>
            <a:off x="2404391" y="1266265"/>
            <a:ext cx="502200" cy="502200"/>
          </a:xfrm>
          <a:prstGeom prst="rect">
            <a:avLst/>
          </a:prstGeom>
        </p:spPr>
      </p:pic>
      <p:pic>
        <p:nvPicPr>
          <p:cNvPr id="31" name="Graphic 30">
            <a:extLst>
              <a:ext uri="{FF2B5EF4-FFF2-40B4-BE49-F238E27FC236}">
                <a16:creationId xmlns:a16="http://schemas.microsoft.com/office/drawing/2014/main" id="{E5B6E5DD-102F-4442-F06E-F1482B4E49B0}"/>
              </a:ext>
            </a:extLst>
          </p:cNvPr>
          <p:cNvPicPr>
            <a:picLocks noChangeAspect="1"/>
          </p:cNvPicPr>
          <p:nvPr userDrawn="1"/>
        </p:nvPicPr>
        <p:blipFill>
          <a:blip>
            <a:extLst>
              <a:ext uri="{96DAC541-7B7A-43D3-8B79-37D633B846F1}">
                <asvg:svgBlip xmlns:asvg="http://schemas.microsoft.com/office/drawing/2016/SVG/main" r:embed="rId28"/>
              </a:ext>
            </a:extLst>
          </a:blip>
          <a:stretch>
            <a:fillRect/>
          </a:stretch>
        </p:blipFill>
        <p:spPr>
          <a:xfrm>
            <a:off x="5871407" y="5737148"/>
            <a:ext cx="502200" cy="502200"/>
          </a:xfrm>
          <a:prstGeom prst="rect">
            <a:avLst/>
          </a:prstGeom>
        </p:spPr>
      </p:pic>
      <p:pic>
        <p:nvPicPr>
          <p:cNvPr id="64" name="Graphic 63">
            <a:extLst>
              <a:ext uri="{FF2B5EF4-FFF2-40B4-BE49-F238E27FC236}">
                <a16:creationId xmlns:a16="http://schemas.microsoft.com/office/drawing/2014/main" id="{FFAC7504-E244-1171-C8B3-EE5AF4B820BA}"/>
              </a:ext>
            </a:extLst>
          </p:cNvPr>
          <p:cNvPicPr>
            <a:picLocks noChangeAspect="1"/>
          </p:cNvPicPr>
          <p:nvPr userDrawn="1"/>
        </p:nvPicPr>
        <p:blipFill>
          <a:blip>
            <a:extLst>
              <a:ext uri="{96DAC541-7B7A-43D3-8B79-37D633B846F1}">
                <asvg:svgBlip xmlns:asvg="http://schemas.microsoft.com/office/drawing/2016/SVG/main" r:embed="rId29"/>
              </a:ext>
            </a:extLst>
          </a:blip>
          <a:stretch>
            <a:fillRect/>
          </a:stretch>
        </p:blipFill>
        <p:spPr>
          <a:xfrm>
            <a:off x="5871407" y="4845460"/>
            <a:ext cx="502200" cy="502200"/>
          </a:xfrm>
          <a:prstGeom prst="rect">
            <a:avLst/>
          </a:prstGeom>
        </p:spPr>
      </p:pic>
      <p:pic>
        <p:nvPicPr>
          <p:cNvPr id="65" name="Graphic 64">
            <a:extLst>
              <a:ext uri="{FF2B5EF4-FFF2-40B4-BE49-F238E27FC236}">
                <a16:creationId xmlns:a16="http://schemas.microsoft.com/office/drawing/2014/main" id="{117CEDD1-1FCB-057B-C487-14CF9D87473F}"/>
              </a:ext>
            </a:extLst>
          </p:cNvPr>
          <p:cNvPicPr>
            <a:picLocks noChangeAspect="1"/>
          </p:cNvPicPr>
          <p:nvPr userDrawn="1"/>
        </p:nvPicPr>
        <p:blipFill>
          <a:blip>
            <a:extLst>
              <a:ext uri="{96DAC541-7B7A-43D3-8B79-37D633B846F1}">
                <asvg:svgBlip xmlns:asvg="http://schemas.microsoft.com/office/drawing/2016/SVG/main" r:embed="rId30"/>
              </a:ext>
            </a:extLst>
          </a:blip>
          <a:stretch>
            <a:fillRect/>
          </a:stretch>
        </p:blipFill>
        <p:spPr>
          <a:xfrm>
            <a:off x="5871407" y="2182577"/>
            <a:ext cx="502200" cy="502200"/>
          </a:xfrm>
          <a:prstGeom prst="rect">
            <a:avLst/>
          </a:prstGeom>
        </p:spPr>
      </p:pic>
      <p:pic>
        <p:nvPicPr>
          <p:cNvPr id="66" name="Graphic 65">
            <a:extLst>
              <a:ext uri="{FF2B5EF4-FFF2-40B4-BE49-F238E27FC236}">
                <a16:creationId xmlns:a16="http://schemas.microsoft.com/office/drawing/2014/main" id="{436427D7-4B2A-ACFC-87B3-D7B43448951E}"/>
              </a:ext>
            </a:extLst>
          </p:cNvPr>
          <p:cNvPicPr>
            <a:picLocks noChangeAspect="1"/>
          </p:cNvPicPr>
          <p:nvPr userDrawn="1"/>
        </p:nvPicPr>
        <p:blipFill>
          <a:blip>
            <a:extLst>
              <a:ext uri="{96DAC541-7B7A-43D3-8B79-37D633B846F1}">
                <asvg:svgBlip xmlns:asvg="http://schemas.microsoft.com/office/drawing/2016/SVG/main" r:embed="rId31"/>
              </a:ext>
            </a:extLst>
          </a:blip>
          <a:stretch>
            <a:fillRect/>
          </a:stretch>
        </p:blipFill>
        <p:spPr>
          <a:xfrm>
            <a:off x="9383429" y="2171320"/>
            <a:ext cx="502200" cy="502200"/>
          </a:xfrm>
          <a:prstGeom prst="rect">
            <a:avLst/>
          </a:prstGeom>
        </p:spPr>
      </p:pic>
      <p:pic>
        <p:nvPicPr>
          <p:cNvPr id="67" name="Graphic 66">
            <a:extLst>
              <a:ext uri="{FF2B5EF4-FFF2-40B4-BE49-F238E27FC236}">
                <a16:creationId xmlns:a16="http://schemas.microsoft.com/office/drawing/2014/main" id="{40675156-F21F-2DC1-9061-99C28924C37F}"/>
              </a:ext>
            </a:extLst>
          </p:cNvPr>
          <p:cNvPicPr>
            <a:picLocks noChangeAspect="1"/>
          </p:cNvPicPr>
          <p:nvPr userDrawn="1"/>
        </p:nvPicPr>
        <p:blipFill>
          <a:blip>
            <a:extLst>
              <a:ext uri="{96DAC541-7B7A-43D3-8B79-37D633B846F1}">
                <asvg:svgBlip xmlns:asvg="http://schemas.microsoft.com/office/drawing/2016/SVG/main" r:embed="rId32"/>
              </a:ext>
            </a:extLst>
          </a:blip>
          <a:stretch>
            <a:fillRect/>
          </a:stretch>
        </p:blipFill>
        <p:spPr>
          <a:xfrm>
            <a:off x="636451" y="5723597"/>
            <a:ext cx="502200" cy="502200"/>
          </a:xfrm>
          <a:prstGeom prst="rect">
            <a:avLst/>
          </a:prstGeom>
        </p:spPr>
      </p:pic>
      <p:pic>
        <p:nvPicPr>
          <p:cNvPr id="68" name="Graphic 67">
            <a:extLst>
              <a:ext uri="{FF2B5EF4-FFF2-40B4-BE49-F238E27FC236}">
                <a16:creationId xmlns:a16="http://schemas.microsoft.com/office/drawing/2014/main" id="{5361AC35-483B-0EB2-1CDE-F32F1CBA8922}"/>
              </a:ext>
            </a:extLst>
          </p:cNvPr>
          <p:cNvPicPr>
            <a:picLocks noChangeAspect="1"/>
          </p:cNvPicPr>
          <p:nvPr userDrawn="1"/>
        </p:nvPicPr>
        <p:blipFill>
          <a:blip>
            <a:extLst>
              <a:ext uri="{96DAC541-7B7A-43D3-8B79-37D633B846F1}">
                <asvg:svgBlip xmlns:asvg="http://schemas.microsoft.com/office/drawing/2016/SVG/main" r:embed="rId33"/>
              </a:ext>
            </a:extLst>
          </a:blip>
          <a:stretch>
            <a:fillRect/>
          </a:stretch>
        </p:blipFill>
        <p:spPr>
          <a:xfrm>
            <a:off x="3317631" y="3082390"/>
            <a:ext cx="502200" cy="502200"/>
          </a:xfrm>
          <a:prstGeom prst="rect">
            <a:avLst/>
          </a:prstGeom>
        </p:spPr>
      </p:pic>
      <p:pic>
        <p:nvPicPr>
          <p:cNvPr id="69" name="Graphic 68">
            <a:extLst>
              <a:ext uri="{FF2B5EF4-FFF2-40B4-BE49-F238E27FC236}">
                <a16:creationId xmlns:a16="http://schemas.microsoft.com/office/drawing/2014/main" id="{AB37D905-BF54-2A68-0C61-CCA9E37C10CE}"/>
              </a:ext>
            </a:extLst>
          </p:cNvPr>
          <p:cNvPicPr>
            <a:picLocks noChangeAspect="1"/>
          </p:cNvPicPr>
          <p:nvPr userDrawn="1"/>
        </p:nvPicPr>
        <p:blipFill>
          <a:blip>
            <a:extLst>
              <a:ext uri="{96DAC541-7B7A-43D3-8B79-37D633B846F1}">
                <asvg:svgBlip xmlns:asvg="http://schemas.microsoft.com/office/drawing/2016/SVG/main" r:embed="rId34"/>
              </a:ext>
            </a:extLst>
          </a:blip>
          <a:stretch>
            <a:fillRect/>
          </a:stretch>
        </p:blipFill>
        <p:spPr>
          <a:xfrm>
            <a:off x="5036095" y="3967014"/>
            <a:ext cx="502200" cy="502200"/>
          </a:xfrm>
          <a:prstGeom prst="rect">
            <a:avLst/>
          </a:prstGeom>
        </p:spPr>
      </p:pic>
      <p:pic>
        <p:nvPicPr>
          <p:cNvPr id="70" name="Graphic 69">
            <a:extLst>
              <a:ext uri="{FF2B5EF4-FFF2-40B4-BE49-F238E27FC236}">
                <a16:creationId xmlns:a16="http://schemas.microsoft.com/office/drawing/2014/main" id="{E40261A3-8573-0954-528F-1DB6930B1C83}"/>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a:xfrm>
            <a:off x="10210693" y="2165141"/>
            <a:ext cx="502200" cy="502200"/>
          </a:xfrm>
          <a:prstGeom prst="rect">
            <a:avLst/>
          </a:prstGeom>
        </p:spPr>
      </p:pic>
      <p:pic>
        <p:nvPicPr>
          <p:cNvPr id="71" name="Graphic 70">
            <a:extLst>
              <a:ext uri="{FF2B5EF4-FFF2-40B4-BE49-F238E27FC236}">
                <a16:creationId xmlns:a16="http://schemas.microsoft.com/office/drawing/2014/main" id="{FA636748-9F26-4C8E-1C9F-3A022743BF34}"/>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a:xfrm>
            <a:off x="1513632" y="1283086"/>
            <a:ext cx="502200" cy="502200"/>
          </a:xfrm>
          <a:prstGeom prst="rect">
            <a:avLst/>
          </a:prstGeom>
        </p:spPr>
      </p:pic>
      <p:pic>
        <p:nvPicPr>
          <p:cNvPr id="72" name="Graphic 71">
            <a:extLst>
              <a:ext uri="{FF2B5EF4-FFF2-40B4-BE49-F238E27FC236}">
                <a16:creationId xmlns:a16="http://schemas.microsoft.com/office/drawing/2014/main" id="{1C4DB2C0-D120-E675-59A8-6AE69B02BC45}"/>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a:xfrm>
            <a:off x="5036377" y="4858896"/>
            <a:ext cx="502200" cy="502200"/>
          </a:xfrm>
          <a:prstGeom prst="rect">
            <a:avLst/>
          </a:prstGeom>
        </p:spPr>
      </p:pic>
      <p:pic>
        <p:nvPicPr>
          <p:cNvPr id="73" name="Graphic 72">
            <a:extLst>
              <a:ext uri="{FF2B5EF4-FFF2-40B4-BE49-F238E27FC236}">
                <a16:creationId xmlns:a16="http://schemas.microsoft.com/office/drawing/2014/main" id="{E38BBEE0-8D40-4BA5-E646-3E4A7696597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a:xfrm>
            <a:off x="4181530" y="4845460"/>
            <a:ext cx="502200" cy="502200"/>
          </a:xfrm>
          <a:prstGeom prst="rect">
            <a:avLst/>
          </a:prstGeom>
        </p:spPr>
      </p:pic>
      <p:pic>
        <p:nvPicPr>
          <p:cNvPr id="74" name="Graphic 73">
            <a:extLst>
              <a:ext uri="{FF2B5EF4-FFF2-40B4-BE49-F238E27FC236}">
                <a16:creationId xmlns:a16="http://schemas.microsoft.com/office/drawing/2014/main" id="{28FD6086-3569-1D85-2105-5F0DC607E191}"/>
              </a:ext>
            </a:extLst>
          </p:cNvPr>
          <p:cNvPicPr>
            <a:picLocks noChangeAspect="1"/>
          </p:cNvPicPr>
          <p:nvPr userDrawn="1"/>
        </p:nvPicPr>
        <p:blipFill>
          <a:blip>
            <a:extLst>
              <a:ext uri="{96DAC541-7B7A-43D3-8B79-37D633B846F1}">
                <asvg:svgBlip xmlns:asvg="http://schemas.microsoft.com/office/drawing/2016/SVG/main" r:embed="rId39"/>
              </a:ext>
            </a:extLst>
          </a:blip>
          <a:stretch>
            <a:fillRect/>
          </a:stretch>
        </p:blipFill>
        <p:spPr>
          <a:xfrm>
            <a:off x="2412993" y="4851003"/>
            <a:ext cx="502200" cy="502200"/>
          </a:xfrm>
          <a:prstGeom prst="rect">
            <a:avLst/>
          </a:prstGeom>
        </p:spPr>
      </p:pic>
      <p:pic>
        <p:nvPicPr>
          <p:cNvPr id="75" name="Graphic 74">
            <a:extLst>
              <a:ext uri="{FF2B5EF4-FFF2-40B4-BE49-F238E27FC236}">
                <a16:creationId xmlns:a16="http://schemas.microsoft.com/office/drawing/2014/main" id="{155C9A25-6804-D8D6-1CFB-E75EB6883163}"/>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a:xfrm>
            <a:off x="636451" y="3967014"/>
            <a:ext cx="502200" cy="502200"/>
          </a:xfrm>
          <a:prstGeom prst="rect">
            <a:avLst/>
          </a:prstGeom>
        </p:spPr>
      </p:pic>
      <p:pic>
        <p:nvPicPr>
          <p:cNvPr id="76" name="Graphic 75">
            <a:extLst>
              <a:ext uri="{FF2B5EF4-FFF2-40B4-BE49-F238E27FC236}">
                <a16:creationId xmlns:a16="http://schemas.microsoft.com/office/drawing/2014/main" id="{132823DF-A6C4-7884-1446-867A29D1B507}"/>
              </a:ext>
            </a:extLst>
          </p:cNvPr>
          <p:cNvPicPr>
            <a:picLocks noChangeAspect="1"/>
          </p:cNvPicPr>
          <p:nvPr userDrawn="1"/>
        </p:nvPicPr>
        <p:blipFill>
          <a:blip>
            <a:extLst>
              <a:ext uri="{96DAC541-7B7A-43D3-8B79-37D633B846F1}">
                <asvg:svgBlip xmlns:asvg="http://schemas.microsoft.com/office/drawing/2016/SVG/main" r:embed="rId41"/>
              </a:ext>
            </a:extLst>
          </a:blip>
          <a:stretch>
            <a:fillRect/>
          </a:stretch>
        </p:blipFill>
        <p:spPr>
          <a:xfrm>
            <a:off x="3290036" y="2180639"/>
            <a:ext cx="502200" cy="502200"/>
          </a:xfrm>
          <a:prstGeom prst="rect">
            <a:avLst/>
          </a:prstGeom>
        </p:spPr>
      </p:pic>
      <p:pic>
        <p:nvPicPr>
          <p:cNvPr id="77" name="Graphic 76">
            <a:extLst>
              <a:ext uri="{FF2B5EF4-FFF2-40B4-BE49-F238E27FC236}">
                <a16:creationId xmlns:a16="http://schemas.microsoft.com/office/drawing/2014/main" id="{5AC155C1-6D4E-ECC4-04E1-B06CA9BCF852}"/>
              </a:ext>
            </a:extLst>
          </p:cNvPr>
          <p:cNvPicPr>
            <a:picLocks noChangeAspect="1"/>
          </p:cNvPicPr>
          <p:nvPr userDrawn="1"/>
        </p:nvPicPr>
        <p:blipFill>
          <a:blip>
            <a:extLst>
              <a:ext uri="{96DAC541-7B7A-43D3-8B79-37D633B846F1}">
                <asvg:svgBlip xmlns:asvg="http://schemas.microsoft.com/office/drawing/2016/SVG/main" r:embed="rId42"/>
              </a:ext>
            </a:extLst>
          </a:blip>
          <a:stretch>
            <a:fillRect/>
          </a:stretch>
        </p:blipFill>
        <p:spPr>
          <a:xfrm>
            <a:off x="5886581" y="3070991"/>
            <a:ext cx="502200" cy="502200"/>
          </a:xfrm>
          <a:prstGeom prst="rect">
            <a:avLst/>
          </a:prstGeom>
        </p:spPr>
      </p:pic>
      <p:pic>
        <p:nvPicPr>
          <p:cNvPr id="78" name="Graphic 77">
            <a:extLst>
              <a:ext uri="{FF2B5EF4-FFF2-40B4-BE49-F238E27FC236}">
                <a16:creationId xmlns:a16="http://schemas.microsoft.com/office/drawing/2014/main" id="{DF4E1F66-5A64-35D6-CC23-D826B9C82DAA}"/>
              </a:ext>
            </a:extLst>
          </p:cNvPr>
          <p:cNvPicPr>
            <a:picLocks noChangeAspect="1"/>
          </p:cNvPicPr>
          <p:nvPr userDrawn="1"/>
        </p:nvPicPr>
        <p:blipFill>
          <a:blip>
            <a:extLst>
              <a:ext uri="{96DAC541-7B7A-43D3-8B79-37D633B846F1}">
                <asvg:svgBlip xmlns:asvg="http://schemas.microsoft.com/office/drawing/2016/SVG/main" r:embed="rId43"/>
              </a:ext>
            </a:extLst>
          </a:blip>
          <a:stretch>
            <a:fillRect/>
          </a:stretch>
        </p:blipFill>
        <p:spPr>
          <a:xfrm>
            <a:off x="1504547" y="3070991"/>
            <a:ext cx="502200" cy="502200"/>
          </a:xfrm>
          <a:prstGeom prst="rect">
            <a:avLst/>
          </a:prstGeom>
        </p:spPr>
      </p:pic>
      <p:pic>
        <p:nvPicPr>
          <p:cNvPr id="79" name="Graphic 78">
            <a:extLst>
              <a:ext uri="{FF2B5EF4-FFF2-40B4-BE49-F238E27FC236}">
                <a16:creationId xmlns:a16="http://schemas.microsoft.com/office/drawing/2014/main" id="{4CA3F4C7-B6C7-7B4E-816F-0C0FD7C84343}"/>
              </a:ext>
            </a:extLst>
          </p:cNvPr>
          <p:cNvPicPr>
            <a:picLocks noChangeAspect="1"/>
          </p:cNvPicPr>
          <p:nvPr userDrawn="1"/>
        </p:nvPicPr>
        <p:blipFill>
          <a:blip>
            <a:extLst>
              <a:ext uri="{96DAC541-7B7A-43D3-8B79-37D633B846F1}">
                <asvg:svgBlip xmlns:asvg="http://schemas.microsoft.com/office/drawing/2016/SVG/main" r:embed="rId44"/>
              </a:ext>
            </a:extLst>
          </a:blip>
          <a:stretch>
            <a:fillRect/>
          </a:stretch>
        </p:blipFill>
        <p:spPr>
          <a:xfrm>
            <a:off x="9367931" y="3958943"/>
            <a:ext cx="502200" cy="502200"/>
          </a:xfrm>
          <a:prstGeom prst="rect">
            <a:avLst/>
          </a:prstGeom>
        </p:spPr>
      </p:pic>
      <p:pic>
        <p:nvPicPr>
          <p:cNvPr id="80" name="Graphic 79">
            <a:extLst>
              <a:ext uri="{FF2B5EF4-FFF2-40B4-BE49-F238E27FC236}">
                <a16:creationId xmlns:a16="http://schemas.microsoft.com/office/drawing/2014/main" id="{2BA6ABF4-0676-7D08-079D-889E6B5A8445}"/>
              </a:ext>
            </a:extLst>
          </p:cNvPr>
          <p:cNvPicPr>
            <a:picLocks noChangeAspect="1"/>
          </p:cNvPicPr>
          <p:nvPr userDrawn="1"/>
        </p:nvPicPr>
        <p:blipFill>
          <a:blip>
            <a:extLst>
              <a:ext uri="{96DAC541-7B7A-43D3-8B79-37D633B846F1}">
                <asvg:svgBlip xmlns:asvg="http://schemas.microsoft.com/office/drawing/2016/SVG/main" r:embed="rId45"/>
              </a:ext>
            </a:extLst>
          </a:blip>
          <a:stretch>
            <a:fillRect/>
          </a:stretch>
        </p:blipFill>
        <p:spPr>
          <a:xfrm>
            <a:off x="6762867" y="3082935"/>
            <a:ext cx="502200" cy="502200"/>
          </a:xfrm>
          <a:prstGeom prst="rect">
            <a:avLst/>
          </a:prstGeom>
        </p:spPr>
      </p:pic>
      <p:pic>
        <p:nvPicPr>
          <p:cNvPr id="81" name="Graphic 80">
            <a:extLst>
              <a:ext uri="{FF2B5EF4-FFF2-40B4-BE49-F238E27FC236}">
                <a16:creationId xmlns:a16="http://schemas.microsoft.com/office/drawing/2014/main" id="{078A7744-3A14-F8E9-C425-47EC7D30D324}"/>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7622471" y="2171191"/>
            <a:ext cx="502200" cy="502200"/>
          </a:xfrm>
          <a:prstGeom prst="rect">
            <a:avLst/>
          </a:prstGeom>
        </p:spPr>
      </p:pic>
      <p:pic>
        <p:nvPicPr>
          <p:cNvPr id="82" name="Graphic 81">
            <a:extLst>
              <a:ext uri="{FF2B5EF4-FFF2-40B4-BE49-F238E27FC236}">
                <a16:creationId xmlns:a16="http://schemas.microsoft.com/office/drawing/2014/main" id="{D7490830-35F1-B7C4-7135-AFA7D83E4E3D}"/>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4162861" y="2155822"/>
            <a:ext cx="502200" cy="502200"/>
          </a:xfrm>
          <a:prstGeom prst="rect">
            <a:avLst/>
          </a:prstGeom>
        </p:spPr>
      </p:pic>
      <p:pic>
        <p:nvPicPr>
          <p:cNvPr id="83" name="Graphic 82">
            <a:extLst>
              <a:ext uri="{FF2B5EF4-FFF2-40B4-BE49-F238E27FC236}">
                <a16:creationId xmlns:a16="http://schemas.microsoft.com/office/drawing/2014/main" id="{E6B11399-EFF5-BB48-2BA4-31951111CACF}"/>
              </a:ext>
            </a:extLst>
          </p:cNvPr>
          <p:cNvPicPr>
            <a:picLocks noChangeAspect="1"/>
          </p:cNvPicPr>
          <p:nvPr userDrawn="1"/>
        </p:nvPicPr>
        <p:blipFill>
          <a:blip>
            <a:extLst>
              <a:ext uri="{96DAC541-7B7A-43D3-8B79-37D633B846F1}">
                <asvg:svgBlip xmlns:asvg="http://schemas.microsoft.com/office/drawing/2016/SVG/main" r:embed="rId47"/>
              </a:ext>
            </a:extLst>
          </a:blip>
          <a:stretch>
            <a:fillRect/>
          </a:stretch>
        </p:blipFill>
        <p:spPr>
          <a:xfrm>
            <a:off x="1504547" y="3967014"/>
            <a:ext cx="502200" cy="502200"/>
          </a:xfrm>
          <a:prstGeom prst="rect">
            <a:avLst/>
          </a:prstGeom>
        </p:spPr>
      </p:pic>
      <p:pic>
        <p:nvPicPr>
          <p:cNvPr id="84" name="Graphic 83">
            <a:extLst>
              <a:ext uri="{FF2B5EF4-FFF2-40B4-BE49-F238E27FC236}">
                <a16:creationId xmlns:a16="http://schemas.microsoft.com/office/drawing/2014/main" id="{168C68C0-AAF9-8DA8-8953-79869C9CE461}"/>
              </a:ext>
            </a:extLst>
          </p:cNvPr>
          <p:cNvPicPr>
            <a:picLocks noChangeAspect="1"/>
          </p:cNvPicPr>
          <p:nvPr userDrawn="1"/>
        </p:nvPicPr>
        <p:blipFill>
          <a:blip>
            <a:extLst>
              <a:ext uri="{96DAC541-7B7A-43D3-8B79-37D633B846F1}">
                <asvg:svgBlip xmlns:asvg="http://schemas.microsoft.com/office/drawing/2016/SVG/main" r:embed="rId48"/>
              </a:ext>
            </a:extLst>
          </a:blip>
          <a:stretch>
            <a:fillRect/>
          </a:stretch>
        </p:blipFill>
        <p:spPr>
          <a:xfrm>
            <a:off x="5871407" y="3967014"/>
            <a:ext cx="502200" cy="502200"/>
          </a:xfrm>
          <a:prstGeom prst="rect">
            <a:avLst/>
          </a:prstGeom>
        </p:spPr>
      </p:pic>
      <p:pic>
        <p:nvPicPr>
          <p:cNvPr id="85" name="Graphic 84">
            <a:extLst>
              <a:ext uri="{FF2B5EF4-FFF2-40B4-BE49-F238E27FC236}">
                <a16:creationId xmlns:a16="http://schemas.microsoft.com/office/drawing/2014/main" id="{500E9964-BEEB-3F63-60F0-006A4C851299}"/>
              </a:ext>
            </a:extLst>
          </p:cNvPr>
          <p:cNvPicPr>
            <a:picLocks noChangeAspect="1"/>
          </p:cNvPicPr>
          <p:nvPr userDrawn="1"/>
        </p:nvPicPr>
        <p:blipFill>
          <a:blip>
            <a:extLst>
              <a:ext uri="{96DAC541-7B7A-43D3-8B79-37D633B846F1}">
                <asvg:svgBlip xmlns:asvg="http://schemas.microsoft.com/office/drawing/2016/SVG/main" r:embed="rId49"/>
              </a:ext>
            </a:extLst>
          </a:blip>
          <a:stretch>
            <a:fillRect/>
          </a:stretch>
        </p:blipFill>
        <p:spPr>
          <a:xfrm>
            <a:off x="3301387" y="1284905"/>
            <a:ext cx="502200" cy="502200"/>
          </a:xfrm>
          <a:prstGeom prst="rect">
            <a:avLst/>
          </a:prstGeom>
        </p:spPr>
      </p:pic>
      <p:pic>
        <p:nvPicPr>
          <p:cNvPr id="86" name="Graphic 85">
            <a:extLst>
              <a:ext uri="{FF2B5EF4-FFF2-40B4-BE49-F238E27FC236}">
                <a16:creationId xmlns:a16="http://schemas.microsoft.com/office/drawing/2014/main" id="{08881600-6948-ABEA-9141-01DC2F32ABD4}"/>
              </a:ext>
            </a:extLst>
          </p:cNvPr>
          <p:cNvPicPr>
            <a:picLocks noChangeAspect="1"/>
          </p:cNvPicPr>
          <p:nvPr userDrawn="1"/>
        </p:nvPicPr>
        <p:blipFill>
          <a:blip>
            <a:extLst>
              <a:ext uri="{96DAC541-7B7A-43D3-8B79-37D633B846F1}">
                <asvg:svgBlip xmlns:asvg="http://schemas.microsoft.com/office/drawing/2016/SVG/main" r:embed="rId50"/>
              </a:ext>
            </a:extLst>
          </a:blip>
          <a:stretch>
            <a:fillRect/>
          </a:stretch>
        </p:blipFill>
        <p:spPr>
          <a:xfrm>
            <a:off x="6750157" y="3959247"/>
            <a:ext cx="502200" cy="502200"/>
          </a:xfrm>
          <a:prstGeom prst="rect">
            <a:avLst/>
          </a:prstGeom>
        </p:spPr>
      </p:pic>
      <p:pic>
        <p:nvPicPr>
          <p:cNvPr id="87" name="Graphic 86">
            <a:extLst>
              <a:ext uri="{FF2B5EF4-FFF2-40B4-BE49-F238E27FC236}">
                <a16:creationId xmlns:a16="http://schemas.microsoft.com/office/drawing/2014/main" id="{883969F3-CFB0-252D-3194-E334541B045F}"/>
              </a:ext>
            </a:extLst>
          </p:cNvPr>
          <p:cNvPicPr>
            <a:picLocks noChangeAspect="1"/>
          </p:cNvPicPr>
          <p:nvPr userDrawn="1"/>
        </p:nvPicPr>
        <p:blipFill>
          <a:blip>
            <a:extLst>
              <a:ext uri="{96DAC541-7B7A-43D3-8B79-37D633B846F1}">
                <asvg:svgBlip xmlns:asvg="http://schemas.microsoft.com/office/drawing/2016/SVG/main" r:embed="rId51"/>
              </a:ext>
            </a:extLst>
          </a:blip>
          <a:stretch>
            <a:fillRect/>
          </a:stretch>
        </p:blipFill>
        <p:spPr>
          <a:xfrm>
            <a:off x="1506980" y="4845460"/>
            <a:ext cx="502200" cy="502200"/>
          </a:xfrm>
          <a:prstGeom prst="rect">
            <a:avLst/>
          </a:prstGeom>
        </p:spPr>
      </p:pic>
      <p:grpSp>
        <p:nvGrpSpPr>
          <p:cNvPr id="88" name="Graphic 255">
            <a:extLst>
              <a:ext uri="{FF2B5EF4-FFF2-40B4-BE49-F238E27FC236}">
                <a16:creationId xmlns:a16="http://schemas.microsoft.com/office/drawing/2014/main" id="{F6FEC44A-4090-50BF-EFED-AB40B11D26C8}"/>
              </a:ext>
            </a:extLst>
          </p:cNvPr>
          <p:cNvGrpSpPr/>
          <p:nvPr userDrawn="1"/>
        </p:nvGrpSpPr>
        <p:grpSpPr>
          <a:xfrm>
            <a:off x="8501623" y="3967014"/>
            <a:ext cx="502200" cy="502200"/>
            <a:chOff x="15195131" y="2601098"/>
            <a:chExt cx="1004400" cy="1004400"/>
          </a:xfrm>
        </p:grpSpPr>
        <p:sp>
          <p:nvSpPr>
            <p:cNvPr id="89" name="Freeform 54">
              <a:extLst>
                <a:ext uri="{FF2B5EF4-FFF2-40B4-BE49-F238E27FC236}">
                  <a16:creationId xmlns:a16="http://schemas.microsoft.com/office/drawing/2014/main" id="{C979BC74-0F07-7699-3256-3242C23CD0DB}"/>
                </a:ext>
              </a:extLst>
            </p:cNvPr>
            <p:cNvSpPr/>
            <p:nvPr/>
          </p:nvSpPr>
          <p:spPr>
            <a:xfrm>
              <a:off x="15195131" y="2663873"/>
              <a:ext cx="878850" cy="846564"/>
            </a:xfrm>
            <a:custGeom>
              <a:avLst/>
              <a:gdLst>
                <a:gd name="connsiteX0" fmla="*/ 795150 w 878850"/>
                <a:gd name="connsiteY0" fmla="*/ 0 h 846564"/>
                <a:gd name="connsiteX1" fmla="*/ 878850 w 878850"/>
                <a:gd name="connsiteY1" fmla="*/ 83700 h 846564"/>
                <a:gd name="connsiteX2" fmla="*/ 878850 w 878850"/>
                <a:gd name="connsiteY2" fmla="*/ 83700 h 846564"/>
                <a:gd name="connsiteX3" fmla="*/ 878850 w 878850"/>
                <a:gd name="connsiteY3" fmla="*/ 397575 h 846564"/>
                <a:gd name="connsiteX4" fmla="*/ 606825 w 878850"/>
                <a:gd name="connsiteY4" fmla="*/ 397575 h 846564"/>
                <a:gd name="connsiteX5" fmla="*/ 544050 w 878850"/>
                <a:gd name="connsiteY5" fmla="*/ 456584 h 846564"/>
                <a:gd name="connsiteX6" fmla="*/ 544050 w 878850"/>
                <a:gd name="connsiteY6" fmla="*/ 622519 h 846564"/>
                <a:gd name="connsiteX7" fmla="*/ 405526 w 878850"/>
                <a:gd name="connsiteY7" fmla="*/ 622519 h 846564"/>
                <a:gd name="connsiteX8" fmla="*/ 384601 w 878850"/>
                <a:gd name="connsiteY8" fmla="*/ 640933 h 846564"/>
                <a:gd name="connsiteX9" fmla="*/ 384601 w 878850"/>
                <a:gd name="connsiteY9" fmla="*/ 825491 h 846564"/>
                <a:gd name="connsiteX10" fmla="*/ 377906 w 878850"/>
                <a:gd name="connsiteY10" fmla="*/ 840976 h 846564"/>
                <a:gd name="connsiteX11" fmla="*/ 362787 w 878850"/>
                <a:gd name="connsiteY11" fmla="*/ 846546 h 846564"/>
                <a:gd name="connsiteX12" fmla="*/ 348192 w 878850"/>
                <a:gd name="connsiteY12" fmla="*/ 839720 h 846564"/>
                <a:gd name="connsiteX13" fmla="*/ 348192 w 878850"/>
                <a:gd name="connsiteY13" fmla="*/ 839720 h 846564"/>
                <a:gd name="connsiteX14" fmla="*/ 152753 w 878850"/>
                <a:gd name="connsiteY14" fmla="*/ 629215 h 846564"/>
                <a:gd name="connsiteX15" fmla="*/ 137268 w 878850"/>
                <a:gd name="connsiteY15" fmla="*/ 622519 h 846564"/>
                <a:gd name="connsiteX16" fmla="*/ 73238 w 878850"/>
                <a:gd name="connsiteY16" fmla="*/ 622519 h 846564"/>
                <a:gd name="connsiteX17" fmla="*/ 0 w 878850"/>
                <a:gd name="connsiteY17" fmla="*/ 549281 h 846564"/>
                <a:gd name="connsiteX18" fmla="*/ 0 w 878850"/>
                <a:gd name="connsiteY18" fmla="*/ 549281 h 846564"/>
                <a:gd name="connsiteX19" fmla="*/ 0 w 878850"/>
                <a:gd name="connsiteY19" fmla="*/ 83700 h 846564"/>
                <a:gd name="connsiteX20" fmla="*/ 83700 w 878850"/>
                <a:gd name="connsiteY20" fmla="*/ 0 h 846564"/>
                <a:gd name="connsiteX21" fmla="*/ 795150 w 878850"/>
                <a:gd name="connsiteY21" fmla="*/ 0 h 84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0" h="846564">
                  <a:moveTo>
                    <a:pt x="795150" y="0"/>
                  </a:moveTo>
                  <a:cubicBezTo>
                    <a:pt x="841375" y="0"/>
                    <a:pt x="878850" y="37474"/>
                    <a:pt x="878850" y="83700"/>
                  </a:cubicBezTo>
                  <a:lnTo>
                    <a:pt x="878850" y="83700"/>
                  </a:lnTo>
                  <a:lnTo>
                    <a:pt x="878850" y="397575"/>
                  </a:lnTo>
                  <a:lnTo>
                    <a:pt x="606825" y="397575"/>
                  </a:lnTo>
                  <a:cubicBezTo>
                    <a:pt x="573575" y="397514"/>
                    <a:pt x="546044" y="423392"/>
                    <a:pt x="544050" y="456584"/>
                  </a:cubicBezTo>
                  <a:lnTo>
                    <a:pt x="544050" y="622519"/>
                  </a:lnTo>
                  <a:lnTo>
                    <a:pt x="405526" y="622519"/>
                  </a:lnTo>
                  <a:cubicBezTo>
                    <a:pt x="394884" y="622441"/>
                    <a:pt x="385878" y="630366"/>
                    <a:pt x="384601" y="640933"/>
                  </a:cubicBezTo>
                  <a:lnTo>
                    <a:pt x="384601" y="825491"/>
                  </a:lnTo>
                  <a:cubicBezTo>
                    <a:pt x="384641" y="831363"/>
                    <a:pt x="382212" y="836983"/>
                    <a:pt x="377906" y="840976"/>
                  </a:cubicBezTo>
                  <a:cubicBezTo>
                    <a:pt x="373810" y="844776"/>
                    <a:pt x="368368" y="846780"/>
                    <a:pt x="362787" y="846546"/>
                  </a:cubicBezTo>
                  <a:cubicBezTo>
                    <a:pt x="357207" y="846310"/>
                    <a:pt x="351950" y="843853"/>
                    <a:pt x="348192" y="839720"/>
                  </a:cubicBezTo>
                  <a:lnTo>
                    <a:pt x="348192" y="839720"/>
                  </a:lnTo>
                  <a:lnTo>
                    <a:pt x="152753" y="629215"/>
                  </a:lnTo>
                  <a:cubicBezTo>
                    <a:pt x="148759" y="624908"/>
                    <a:pt x="143140" y="622479"/>
                    <a:pt x="137268" y="622519"/>
                  </a:cubicBezTo>
                  <a:lnTo>
                    <a:pt x="73238" y="622519"/>
                  </a:lnTo>
                  <a:cubicBezTo>
                    <a:pt x="32789" y="622519"/>
                    <a:pt x="0" y="589729"/>
                    <a:pt x="0" y="549281"/>
                  </a:cubicBezTo>
                  <a:lnTo>
                    <a:pt x="0" y="549281"/>
                  </a:lnTo>
                  <a:lnTo>
                    <a:pt x="0" y="83700"/>
                  </a:lnTo>
                  <a:cubicBezTo>
                    <a:pt x="0" y="37474"/>
                    <a:pt x="37474" y="0"/>
                    <a:pt x="83700" y="0"/>
                  </a:cubicBezTo>
                  <a:lnTo>
                    <a:pt x="79515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0" name="Freeform 55">
              <a:extLst>
                <a:ext uri="{FF2B5EF4-FFF2-40B4-BE49-F238E27FC236}">
                  <a16:creationId xmlns:a16="http://schemas.microsoft.com/office/drawing/2014/main" id="{2D2D093B-C16F-2D0F-E678-BE3F5A90EFCB}"/>
                </a:ext>
              </a:extLst>
            </p:cNvPr>
            <p:cNvSpPr/>
            <p:nvPr/>
          </p:nvSpPr>
          <p:spPr>
            <a:xfrm>
              <a:off x="15781031" y="3103298"/>
              <a:ext cx="418500" cy="402134"/>
            </a:xfrm>
            <a:custGeom>
              <a:avLst/>
              <a:gdLst>
                <a:gd name="connsiteX0" fmla="*/ 41850 w 418500"/>
                <a:gd name="connsiteY0" fmla="*/ 0 h 402134"/>
                <a:gd name="connsiteX1" fmla="*/ 376650 w 418500"/>
                <a:gd name="connsiteY1" fmla="*/ 0 h 402134"/>
                <a:gd name="connsiteX2" fmla="*/ 418500 w 418500"/>
                <a:gd name="connsiteY2" fmla="*/ 41850 h 402134"/>
                <a:gd name="connsiteX3" fmla="*/ 418500 w 418500"/>
                <a:gd name="connsiteY3" fmla="*/ 261563 h 402134"/>
                <a:gd name="connsiteX4" fmla="*/ 383555 w 418500"/>
                <a:gd name="connsiteY4" fmla="*/ 296507 h 402134"/>
                <a:gd name="connsiteX5" fmla="*/ 357817 w 418500"/>
                <a:gd name="connsiteY5" fmla="*/ 296507 h 402134"/>
                <a:gd name="connsiteX6" fmla="*/ 342542 w 418500"/>
                <a:gd name="connsiteY6" fmla="*/ 303203 h 402134"/>
                <a:gd name="connsiteX7" fmla="*/ 253611 w 418500"/>
                <a:gd name="connsiteY7" fmla="*/ 399040 h 402134"/>
                <a:gd name="connsiteX8" fmla="*/ 246183 w 418500"/>
                <a:gd name="connsiteY8" fmla="*/ 402135 h 402134"/>
                <a:gd name="connsiteX9" fmla="*/ 238754 w 418500"/>
                <a:gd name="connsiteY9" fmla="*/ 399040 h 402134"/>
                <a:gd name="connsiteX10" fmla="*/ 235406 w 418500"/>
                <a:gd name="connsiteY10" fmla="*/ 391507 h 402134"/>
                <a:gd name="connsiteX11" fmla="*/ 235406 w 418500"/>
                <a:gd name="connsiteY11" fmla="*/ 317432 h 402134"/>
                <a:gd name="connsiteX12" fmla="*/ 214481 w 418500"/>
                <a:gd name="connsiteY12" fmla="*/ 296507 h 402134"/>
                <a:gd name="connsiteX13" fmla="*/ 41850 w 418500"/>
                <a:gd name="connsiteY13" fmla="*/ 296507 h 402134"/>
                <a:gd name="connsiteX14" fmla="*/ 0 w 418500"/>
                <a:gd name="connsiteY14" fmla="*/ 254657 h 402134"/>
                <a:gd name="connsiteX15" fmla="*/ 0 w 418500"/>
                <a:gd name="connsiteY15" fmla="*/ 41850 h 402134"/>
                <a:gd name="connsiteX16" fmla="*/ 41850 w 418500"/>
                <a:gd name="connsiteY16" fmla="*/ 0 h 4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500" h="402134">
                  <a:moveTo>
                    <a:pt x="41850" y="0"/>
                  </a:moveTo>
                  <a:lnTo>
                    <a:pt x="376650" y="0"/>
                  </a:lnTo>
                  <a:cubicBezTo>
                    <a:pt x="399764" y="0"/>
                    <a:pt x="418500" y="18736"/>
                    <a:pt x="418500" y="41850"/>
                  </a:cubicBezTo>
                  <a:lnTo>
                    <a:pt x="418500" y="261563"/>
                  </a:lnTo>
                  <a:cubicBezTo>
                    <a:pt x="418500" y="280862"/>
                    <a:pt x="402854" y="296507"/>
                    <a:pt x="383555" y="296507"/>
                  </a:cubicBezTo>
                  <a:lnTo>
                    <a:pt x="357817" y="296507"/>
                  </a:lnTo>
                  <a:cubicBezTo>
                    <a:pt x="352017" y="296526"/>
                    <a:pt x="346487" y="298951"/>
                    <a:pt x="342542" y="303203"/>
                  </a:cubicBezTo>
                  <a:lnTo>
                    <a:pt x="253611" y="399040"/>
                  </a:lnTo>
                  <a:cubicBezTo>
                    <a:pt x="251646" y="401021"/>
                    <a:pt x="248972" y="402135"/>
                    <a:pt x="246183" y="402135"/>
                  </a:cubicBezTo>
                  <a:cubicBezTo>
                    <a:pt x="243393" y="402135"/>
                    <a:pt x="240719" y="401021"/>
                    <a:pt x="238754" y="399040"/>
                  </a:cubicBezTo>
                  <a:cubicBezTo>
                    <a:pt x="236611" y="397123"/>
                    <a:pt x="235394" y="394382"/>
                    <a:pt x="235406" y="391507"/>
                  </a:cubicBezTo>
                  <a:lnTo>
                    <a:pt x="235406" y="317432"/>
                  </a:lnTo>
                  <a:cubicBezTo>
                    <a:pt x="235406" y="305875"/>
                    <a:pt x="226038" y="296507"/>
                    <a:pt x="214481" y="296507"/>
                  </a:cubicBezTo>
                  <a:lnTo>
                    <a:pt x="41850" y="296507"/>
                  </a:lnTo>
                  <a:cubicBezTo>
                    <a:pt x="18736" y="296507"/>
                    <a:pt x="0" y="277771"/>
                    <a:pt x="0" y="254657"/>
                  </a:cubicBezTo>
                  <a:lnTo>
                    <a:pt x="0" y="41850"/>
                  </a:lnTo>
                  <a:cubicBezTo>
                    <a:pt x="0" y="18736"/>
                    <a:pt x="18736" y="0"/>
                    <a:pt x="41850" y="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91" name="Graphic 186">
            <a:extLst>
              <a:ext uri="{FF2B5EF4-FFF2-40B4-BE49-F238E27FC236}">
                <a16:creationId xmlns:a16="http://schemas.microsoft.com/office/drawing/2014/main" id="{577935C6-761F-7151-3E71-B8F88498B18D}"/>
              </a:ext>
            </a:extLst>
          </p:cNvPr>
          <p:cNvSpPr/>
          <p:nvPr userDrawn="1"/>
        </p:nvSpPr>
        <p:spPr>
          <a:xfrm>
            <a:off x="7668790" y="3082140"/>
            <a:ext cx="419023" cy="502450"/>
          </a:xfrm>
          <a:custGeom>
            <a:avLst/>
            <a:gdLst>
              <a:gd name="connsiteX0" fmla="*/ 418500 w 838046"/>
              <a:gd name="connsiteY0" fmla="*/ 0 h 1004899"/>
              <a:gd name="connsiteX1" fmla="*/ 558070 w 838046"/>
              <a:gd name="connsiteY1" fmla="*/ 92907 h 1004899"/>
              <a:gd name="connsiteX2" fmla="*/ 796196 w 838046"/>
              <a:gd name="connsiteY2" fmla="*/ 132246 h 1004899"/>
              <a:gd name="connsiteX3" fmla="*/ 838046 w 838046"/>
              <a:gd name="connsiteY3" fmla="*/ 174096 h 1004899"/>
              <a:gd name="connsiteX4" fmla="*/ 838046 w 838046"/>
              <a:gd name="connsiteY4" fmla="*/ 523125 h 1004899"/>
              <a:gd name="connsiteX5" fmla="*/ 453863 w 838046"/>
              <a:gd name="connsiteY5" fmla="*/ 995402 h 1004899"/>
              <a:gd name="connsiteX6" fmla="*/ 391088 w 838046"/>
              <a:gd name="connsiteY6" fmla="*/ 997495 h 1004899"/>
              <a:gd name="connsiteX7" fmla="*/ 387322 w 838046"/>
              <a:gd name="connsiteY7" fmla="*/ 995402 h 1004899"/>
              <a:gd name="connsiteX8" fmla="*/ 376441 w 838046"/>
              <a:gd name="connsiteY8" fmla="*/ 988497 h 1004899"/>
              <a:gd name="connsiteX9" fmla="*/ 0 w 838046"/>
              <a:gd name="connsiteY9" fmla="*/ 529612 h 1004899"/>
              <a:gd name="connsiteX10" fmla="*/ 0 w 838046"/>
              <a:gd name="connsiteY10" fmla="*/ 173887 h 1004899"/>
              <a:gd name="connsiteX11" fmla="*/ 41850 w 838046"/>
              <a:gd name="connsiteY11" fmla="*/ 132037 h 1004899"/>
              <a:gd name="connsiteX12" fmla="*/ 279976 w 838046"/>
              <a:gd name="connsiteY12" fmla="*/ 92698 h 1004899"/>
              <a:gd name="connsiteX13" fmla="*/ 418500 w 838046"/>
              <a:gd name="connsiteY13" fmla="*/ 0 h 1004899"/>
              <a:gd name="connsiteX14" fmla="*/ 420802 w 838046"/>
              <a:gd name="connsiteY14" fmla="*/ 345681 h 1004899"/>
              <a:gd name="connsiteX15" fmla="*/ 316177 w 838046"/>
              <a:gd name="connsiteY15" fmla="*/ 445702 h 1004899"/>
              <a:gd name="connsiteX16" fmla="*/ 316177 w 838046"/>
              <a:gd name="connsiteY16" fmla="*/ 445702 h 1004899"/>
              <a:gd name="connsiteX17" fmla="*/ 316177 w 838046"/>
              <a:gd name="connsiteY17" fmla="*/ 456793 h 1004899"/>
              <a:gd name="connsiteX18" fmla="*/ 378952 w 838046"/>
              <a:gd name="connsiteY18" fmla="*/ 547817 h 1004899"/>
              <a:gd name="connsiteX19" fmla="*/ 378952 w 838046"/>
              <a:gd name="connsiteY19" fmla="*/ 547817 h 1004899"/>
              <a:gd name="connsiteX20" fmla="*/ 378952 w 838046"/>
              <a:gd name="connsiteY20" fmla="*/ 683620 h 1004899"/>
              <a:gd name="connsiteX21" fmla="*/ 401145 w 838046"/>
              <a:gd name="connsiteY21" fmla="*/ 719132 h 1004899"/>
              <a:gd name="connsiteX22" fmla="*/ 442995 w 838046"/>
              <a:gd name="connsiteY22" fmla="*/ 717667 h 1004899"/>
              <a:gd name="connsiteX23" fmla="*/ 462652 w 838046"/>
              <a:gd name="connsiteY23" fmla="*/ 680690 h 1004899"/>
              <a:gd name="connsiteX24" fmla="*/ 462652 w 838046"/>
              <a:gd name="connsiteY24" fmla="*/ 680690 h 1004899"/>
              <a:gd name="connsiteX25" fmla="*/ 462652 w 838046"/>
              <a:gd name="connsiteY25" fmla="*/ 547817 h 1004899"/>
              <a:gd name="connsiteX26" fmla="*/ 525427 w 838046"/>
              <a:gd name="connsiteY26" fmla="*/ 451771 h 1004899"/>
              <a:gd name="connsiteX27" fmla="*/ 525427 w 838046"/>
              <a:gd name="connsiteY27" fmla="*/ 451771 h 1004899"/>
              <a:gd name="connsiteX28" fmla="*/ 525427 w 838046"/>
              <a:gd name="connsiteY28" fmla="*/ 445702 h 1004899"/>
              <a:gd name="connsiteX29" fmla="*/ 420802 w 838046"/>
              <a:gd name="connsiteY29" fmla="*/ 345681 h 100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046" h="1004899">
                <a:moveTo>
                  <a:pt x="418500" y="0"/>
                </a:moveTo>
                <a:cubicBezTo>
                  <a:pt x="435868" y="0"/>
                  <a:pt x="470813" y="53150"/>
                  <a:pt x="558070" y="92907"/>
                </a:cubicBezTo>
                <a:cubicBezTo>
                  <a:pt x="609685" y="116483"/>
                  <a:pt x="689060" y="129595"/>
                  <a:pt x="796196" y="132246"/>
                </a:cubicBezTo>
                <a:cubicBezTo>
                  <a:pt x="819310" y="132246"/>
                  <a:pt x="838046" y="150983"/>
                  <a:pt x="838046" y="174096"/>
                </a:cubicBezTo>
                <a:lnTo>
                  <a:pt x="838046" y="523125"/>
                </a:lnTo>
                <a:cubicBezTo>
                  <a:pt x="838046" y="675459"/>
                  <a:pt x="709985" y="832884"/>
                  <a:pt x="453863" y="995402"/>
                </a:cubicBezTo>
                <a:cubicBezTo>
                  <a:pt x="434817" y="1007271"/>
                  <a:pt x="410883" y="1008068"/>
                  <a:pt x="391088" y="997495"/>
                </a:cubicBezTo>
                <a:lnTo>
                  <a:pt x="387322" y="995402"/>
                </a:lnTo>
                <a:lnTo>
                  <a:pt x="376441" y="988497"/>
                </a:lnTo>
                <a:cubicBezTo>
                  <a:pt x="128967" y="830582"/>
                  <a:pt x="3488" y="677621"/>
                  <a:pt x="0" y="529612"/>
                </a:cubicBezTo>
                <a:lnTo>
                  <a:pt x="0" y="173887"/>
                </a:lnTo>
                <a:cubicBezTo>
                  <a:pt x="0" y="150774"/>
                  <a:pt x="18737" y="132037"/>
                  <a:pt x="41850" y="132037"/>
                </a:cubicBezTo>
                <a:cubicBezTo>
                  <a:pt x="148986" y="129526"/>
                  <a:pt x="228361" y="116413"/>
                  <a:pt x="279976" y="92698"/>
                </a:cubicBezTo>
                <a:cubicBezTo>
                  <a:pt x="366188" y="53150"/>
                  <a:pt x="401132" y="0"/>
                  <a:pt x="418500" y="0"/>
                </a:cubicBezTo>
                <a:close/>
                <a:moveTo>
                  <a:pt x="420802" y="345681"/>
                </a:moveTo>
                <a:cubicBezTo>
                  <a:pt x="364771" y="345627"/>
                  <a:pt x="318642" y="389726"/>
                  <a:pt x="316177" y="445702"/>
                </a:cubicBezTo>
                <a:lnTo>
                  <a:pt x="316177" y="445702"/>
                </a:lnTo>
                <a:lnTo>
                  <a:pt x="316177" y="456793"/>
                </a:lnTo>
                <a:cubicBezTo>
                  <a:pt x="318050" y="496615"/>
                  <a:pt x="342394" y="531914"/>
                  <a:pt x="378952" y="547817"/>
                </a:cubicBezTo>
                <a:lnTo>
                  <a:pt x="378952" y="547817"/>
                </a:lnTo>
                <a:lnTo>
                  <a:pt x="378952" y="683620"/>
                </a:lnTo>
                <a:cubicBezTo>
                  <a:pt x="379475" y="698571"/>
                  <a:pt x="387935" y="712107"/>
                  <a:pt x="401145" y="719132"/>
                </a:cubicBezTo>
                <a:cubicBezTo>
                  <a:pt x="414355" y="726154"/>
                  <a:pt x="430308" y="725595"/>
                  <a:pt x="442995" y="717667"/>
                </a:cubicBezTo>
                <a:cubicBezTo>
                  <a:pt x="455682" y="709736"/>
                  <a:pt x="463175" y="695641"/>
                  <a:pt x="462652" y="680690"/>
                </a:cubicBezTo>
                <a:lnTo>
                  <a:pt x="462652" y="680690"/>
                </a:lnTo>
                <a:lnTo>
                  <a:pt x="462652" y="547817"/>
                </a:lnTo>
                <a:cubicBezTo>
                  <a:pt x="500832" y="531154"/>
                  <a:pt x="525490" y="493428"/>
                  <a:pt x="525427" y="451771"/>
                </a:cubicBezTo>
                <a:lnTo>
                  <a:pt x="525427" y="451771"/>
                </a:lnTo>
                <a:lnTo>
                  <a:pt x="525427" y="445702"/>
                </a:lnTo>
                <a:cubicBezTo>
                  <a:pt x="522962" y="389726"/>
                  <a:pt x="476833" y="345627"/>
                  <a:pt x="420802" y="345681"/>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92" name="Graphic 175">
            <a:extLst>
              <a:ext uri="{FF2B5EF4-FFF2-40B4-BE49-F238E27FC236}">
                <a16:creationId xmlns:a16="http://schemas.microsoft.com/office/drawing/2014/main" id="{AF9C711E-5240-6E18-6FDC-570B1CC78910}"/>
              </a:ext>
            </a:extLst>
          </p:cNvPr>
          <p:cNvSpPr/>
          <p:nvPr userDrawn="1"/>
        </p:nvSpPr>
        <p:spPr>
          <a:xfrm>
            <a:off x="4246714" y="3967014"/>
            <a:ext cx="429011" cy="502200"/>
          </a:xfrm>
          <a:custGeom>
            <a:avLst/>
            <a:gdLst>
              <a:gd name="connsiteX0" fmla="*/ 355822 w 858022"/>
              <a:gd name="connsiteY0" fmla="*/ 606825 h 1004400"/>
              <a:gd name="connsiteX1" fmla="*/ 710292 w 858022"/>
              <a:gd name="connsiteY1" fmla="*/ 878850 h 1004400"/>
              <a:gd name="connsiteX2" fmla="*/ 355822 w 858022"/>
              <a:gd name="connsiteY2" fmla="*/ 1004400 h 1004400"/>
              <a:gd name="connsiteX3" fmla="*/ 1143 w 858022"/>
              <a:gd name="connsiteY3" fmla="*/ 878850 h 1004400"/>
              <a:gd name="connsiteX4" fmla="*/ 355822 w 858022"/>
              <a:gd name="connsiteY4" fmla="*/ 606825 h 1004400"/>
              <a:gd name="connsiteX5" fmla="*/ 355822 w 858022"/>
              <a:gd name="connsiteY5" fmla="*/ 167400 h 1004400"/>
              <a:gd name="connsiteX6" fmla="*/ 544147 w 858022"/>
              <a:gd name="connsiteY6" fmla="*/ 355725 h 1004400"/>
              <a:gd name="connsiteX7" fmla="*/ 355822 w 858022"/>
              <a:gd name="connsiteY7" fmla="*/ 544050 h 1004400"/>
              <a:gd name="connsiteX8" fmla="*/ 167497 w 858022"/>
              <a:gd name="connsiteY8" fmla="*/ 355725 h 1004400"/>
              <a:gd name="connsiteX9" fmla="*/ 355822 w 858022"/>
              <a:gd name="connsiteY9" fmla="*/ 167400 h 1004400"/>
              <a:gd name="connsiteX10" fmla="*/ 355822 w 858022"/>
              <a:gd name="connsiteY10" fmla="*/ 167400 h 1004400"/>
              <a:gd name="connsiteX11" fmla="*/ 795247 w 858022"/>
              <a:gd name="connsiteY11" fmla="*/ 0 h 1004400"/>
              <a:gd name="connsiteX12" fmla="*/ 858022 w 858022"/>
              <a:gd name="connsiteY12" fmla="*/ 62775 h 1004400"/>
              <a:gd name="connsiteX13" fmla="*/ 858022 w 858022"/>
              <a:gd name="connsiteY13" fmla="*/ 313875 h 1004400"/>
              <a:gd name="connsiteX14" fmla="*/ 816172 w 858022"/>
              <a:gd name="connsiteY14" fmla="*/ 355725 h 1004400"/>
              <a:gd name="connsiteX15" fmla="*/ 783529 w 858022"/>
              <a:gd name="connsiteY15" fmla="*/ 355725 h 1004400"/>
              <a:gd name="connsiteX16" fmla="*/ 768045 w 858022"/>
              <a:gd name="connsiteY16" fmla="*/ 362421 h 1004400"/>
              <a:gd name="connsiteX17" fmla="*/ 674510 w 858022"/>
              <a:gd name="connsiteY17" fmla="*/ 463070 h 1004400"/>
              <a:gd name="connsiteX18" fmla="*/ 645006 w 858022"/>
              <a:gd name="connsiteY18" fmla="*/ 464326 h 1004400"/>
              <a:gd name="connsiteX19" fmla="*/ 638310 w 858022"/>
              <a:gd name="connsiteY19" fmla="*/ 448841 h 1004400"/>
              <a:gd name="connsiteX20" fmla="*/ 638310 w 858022"/>
              <a:gd name="connsiteY20" fmla="*/ 376650 h 1004400"/>
              <a:gd name="connsiteX21" fmla="*/ 617385 w 858022"/>
              <a:gd name="connsiteY21" fmla="*/ 355725 h 1004400"/>
              <a:gd name="connsiteX22" fmla="*/ 585997 w 858022"/>
              <a:gd name="connsiteY22" fmla="*/ 355725 h 1004400"/>
              <a:gd name="connsiteX23" fmla="*/ 355822 w 858022"/>
              <a:gd name="connsiteY23" fmla="*/ 125550 h 1004400"/>
              <a:gd name="connsiteX24" fmla="*/ 355822 w 858022"/>
              <a:gd name="connsiteY24" fmla="*/ 62775 h 1004400"/>
              <a:gd name="connsiteX25" fmla="*/ 418597 w 858022"/>
              <a:gd name="connsiteY25" fmla="*/ 0 h 1004400"/>
              <a:gd name="connsiteX26" fmla="*/ 795247 w 858022"/>
              <a:gd name="connsiteY26" fmla="*/ 0 h 100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8022" h="1004400">
                <a:moveTo>
                  <a:pt x="355822" y="606825"/>
                </a:moveTo>
                <a:cubicBezTo>
                  <a:pt x="658188" y="606825"/>
                  <a:pt x="722847" y="857925"/>
                  <a:pt x="710292" y="878850"/>
                </a:cubicBezTo>
                <a:cubicBezTo>
                  <a:pt x="697737" y="899775"/>
                  <a:pt x="550425" y="1004400"/>
                  <a:pt x="355822" y="1004400"/>
                </a:cubicBezTo>
                <a:cubicBezTo>
                  <a:pt x="161220" y="1004400"/>
                  <a:pt x="12024" y="899775"/>
                  <a:pt x="1143" y="878850"/>
                </a:cubicBezTo>
                <a:cubicBezTo>
                  <a:pt x="-9738" y="857925"/>
                  <a:pt x="53246" y="606825"/>
                  <a:pt x="355822" y="606825"/>
                </a:cubicBezTo>
                <a:close/>
                <a:moveTo>
                  <a:pt x="355822" y="167400"/>
                </a:moveTo>
                <a:cubicBezTo>
                  <a:pt x="459830" y="167400"/>
                  <a:pt x="544147" y="251715"/>
                  <a:pt x="544147" y="355725"/>
                </a:cubicBezTo>
                <a:cubicBezTo>
                  <a:pt x="544147" y="459735"/>
                  <a:pt x="459830" y="544050"/>
                  <a:pt x="355822" y="544050"/>
                </a:cubicBezTo>
                <a:cubicBezTo>
                  <a:pt x="251812" y="544050"/>
                  <a:pt x="167497" y="459735"/>
                  <a:pt x="167497" y="355725"/>
                </a:cubicBezTo>
                <a:cubicBezTo>
                  <a:pt x="167497" y="251715"/>
                  <a:pt x="251812" y="167400"/>
                  <a:pt x="355822" y="167400"/>
                </a:cubicBezTo>
                <a:lnTo>
                  <a:pt x="355822" y="167400"/>
                </a:lnTo>
                <a:close/>
                <a:moveTo>
                  <a:pt x="795247" y="0"/>
                </a:moveTo>
                <a:cubicBezTo>
                  <a:pt x="829916" y="0"/>
                  <a:pt x="858022" y="28105"/>
                  <a:pt x="858022" y="62775"/>
                </a:cubicBezTo>
                <a:lnTo>
                  <a:pt x="858022" y="313875"/>
                </a:lnTo>
                <a:cubicBezTo>
                  <a:pt x="858022" y="336989"/>
                  <a:pt x="839286" y="355725"/>
                  <a:pt x="816172" y="355725"/>
                </a:cubicBezTo>
                <a:lnTo>
                  <a:pt x="783529" y="355725"/>
                </a:lnTo>
                <a:cubicBezTo>
                  <a:pt x="777656" y="355685"/>
                  <a:pt x="772037" y="358115"/>
                  <a:pt x="768045" y="362421"/>
                </a:cubicBezTo>
                <a:lnTo>
                  <a:pt x="674510" y="463070"/>
                </a:lnTo>
                <a:cubicBezTo>
                  <a:pt x="666699" y="471541"/>
                  <a:pt x="653508" y="472101"/>
                  <a:pt x="645006" y="464326"/>
                </a:cubicBezTo>
                <a:cubicBezTo>
                  <a:pt x="640699" y="460333"/>
                  <a:pt x="638270" y="454713"/>
                  <a:pt x="638310" y="448841"/>
                </a:cubicBezTo>
                <a:lnTo>
                  <a:pt x="638310" y="376650"/>
                </a:lnTo>
                <a:cubicBezTo>
                  <a:pt x="638310" y="365093"/>
                  <a:pt x="628942" y="355725"/>
                  <a:pt x="617385" y="355725"/>
                </a:cubicBezTo>
                <a:lnTo>
                  <a:pt x="585997" y="355725"/>
                </a:lnTo>
                <a:cubicBezTo>
                  <a:pt x="585997" y="228604"/>
                  <a:pt x="482944" y="125550"/>
                  <a:pt x="355822" y="125550"/>
                </a:cubicBezTo>
                <a:lnTo>
                  <a:pt x="355822" y="62775"/>
                </a:lnTo>
                <a:cubicBezTo>
                  <a:pt x="355822" y="28105"/>
                  <a:pt x="383927" y="0"/>
                  <a:pt x="418597" y="0"/>
                </a:cubicBezTo>
                <a:lnTo>
                  <a:pt x="79524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nvGrpSpPr>
          <p:cNvPr id="93" name="Graphic 266">
            <a:extLst>
              <a:ext uri="{FF2B5EF4-FFF2-40B4-BE49-F238E27FC236}">
                <a16:creationId xmlns:a16="http://schemas.microsoft.com/office/drawing/2014/main" id="{35775EB7-2556-D6D4-61E1-0979B66DEB78}"/>
              </a:ext>
            </a:extLst>
          </p:cNvPr>
          <p:cNvGrpSpPr/>
          <p:nvPr userDrawn="1"/>
        </p:nvGrpSpPr>
        <p:grpSpPr>
          <a:xfrm>
            <a:off x="11049920" y="4835505"/>
            <a:ext cx="502200" cy="502200"/>
            <a:chOff x="8230389" y="2576384"/>
            <a:chExt cx="1004400" cy="1004400"/>
          </a:xfrm>
        </p:grpSpPr>
        <p:sp>
          <p:nvSpPr>
            <p:cNvPr id="132" name="Freeform 59">
              <a:extLst>
                <a:ext uri="{FF2B5EF4-FFF2-40B4-BE49-F238E27FC236}">
                  <a16:creationId xmlns:a16="http://schemas.microsoft.com/office/drawing/2014/main" id="{C4E0629F-E9F6-6EB1-A435-1DE24BC55511}"/>
                </a:ext>
              </a:extLst>
            </p:cNvPr>
            <p:cNvSpPr/>
            <p:nvPr/>
          </p:nvSpPr>
          <p:spPr>
            <a:xfrm>
              <a:off x="9109239" y="2875402"/>
              <a:ext cx="104750" cy="280813"/>
            </a:xfrm>
            <a:custGeom>
              <a:avLst/>
              <a:gdLst>
                <a:gd name="connsiteX0" fmla="*/ 0 w 104750"/>
                <a:gd name="connsiteY0" fmla="*/ 0 h 280813"/>
                <a:gd name="connsiteX1" fmla="*/ 104751 w 104750"/>
                <a:gd name="connsiteY1" fmla="*/ 140407 h 280813"/>
                <a:gd name="connsiteX2" fmla="*/ 0 w 104750"/>
                <a:gd name="connsiteY2" fmla="*/ 280813 h 280813"/>
                <a:gd name="connsiteX3" fmla="*/ 0 w 104750"/>
                <a:gd name="connsiteY3" fmla="*/ 0 h 280813"/>
              </a:gdLst>
              <a:ahLst/>
              <a:cxnLst>
                <a:cxn ang="0">
                  <a:pos x="connsiteX0" y="connsiteY0"/>
                </a:cxn>
                <a:cxn ang="0">
                  <a:pos x="connsiteX1" y="connsiteY1"/>
                </a:cxn>
                <a:cxn ang="0">
                  <a:pos x="connsiteX2" y="connsiteY2"/>
                </a:cxn>
                <a:cxn ang="0">
                  <a:pos x="connsiteX3" y="connsiteY3"/>
                </a:cxn>
              </a:cxnLst>
              <a:rect l="l" t="t" r="r" b="b"/>
              <a:pathLst>
                <a:path w="104750" h="280813">
                  <a:moveTo>
                    <a:pt x="0" y="0"/>
                  </a:moveTo>
                  <a:cubicBezTo>
                    <a:pt x="62141" y="18466"/>
                    <a:pt x="104751" y="75581"/>
                    <a:pt x="104751" y="140407"/>
                  </a:cubicBezTo>
                  <a:cubicBezTo>
                    <a:pt x="104751" y="205232"/>
                    <a:pt x="62141" y="262347"/>
                    <a:pt x="0" y="280813"/>
                  </a:cubicBezTo>
                  <a:lnTo>
                    <a:pt x="0"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3" name="Freeform 60">
              <a:extLst>
                <a:ext uri="{FF2B5EF4-FFF2-40B4-BE49-F238E27FC236}">
                  <a16:creationId xmlns:a16="http://schemas.microsoft.com/office/drawing/2014/main" id="{31EEEEE9-D83C-6CC6-6B5A-D1678A478F97}"/>
                </a:ext>
              </a:extLst>
            </p:cNvPr>
            <p:cNvSpPr/>
            <p:nvPr/>
          </p:nvSpPr>
          <p:spPr>
            <a:xfrm>
              <a:off x="8251314" y="2666048"/>
              <a:ext cx="816075" cy="699504"/>
            </a:xfrm>
            <a:custGeom>
              <a:avLst/>
              <a:gdLst>
                <a:gd name="connsiteX0" fmla="*/ 811472 w 816075"/>
                <a:gd name="connsiteY0" fmla="*/ 22703 h 699504"/>
                <a:gd name="connsiteX1" fmla="*/ 816075 w 816075"/>
                <a:gd name="connsiteY1" fmla="*/ 41745 h 699504"/>
                <a:gd name="connsiteX2" fmla="*/ 816075 w 816075"/>
                <a:gd name="connsiteY2" fmla="*/ 657777 h 699504"/>
                <a:gd name="connsiteX3" fmla="*/ 795918 w 816075"/>
                <a:gd name="connsiteY3" fmla="*/ 693443 h 699504"/>
                <a:gd name="connsiteX4" fmla="*/ 754974 w 816075"/>
                <a:gd name="connsiteY4" fmla="*/ 694814 h 699504"/>
                <a:gd name="connsiteX5" fmla="*/ 451562 w 816075"/>
                <a:gd name="connsiteY5" fmla="*/ 538086 h 699504"/>
                <a:gd name="connsiteX6" fmla="*/ 376650 w 816075"/>
                <a:gd name="connsiteY6" fmla="*/ 538086 h 699504"/>
                <a:gd name="connsiteX7" fmla="*/ 376650 w 816075"/>
                <a:gd name="connsiteY7" fmla="*/ 161436 h 699504"/>
                <a:gd name="connsiteX8" fmla="*/ 451562 w 816075"/>
                <a:gd name="connsiteY8" fmla="*/ 161436 h 699504"/>
                <a:gd name="connsiteX9" fmla="*/ 754974 w 816075"/>
                <a:gd name="connsiteY9" fmla="*/ 4708 h 699504"/>
                <a:gd name="connsiteX10" fmla="*/ 786960 w 816075"/>
                <a:gd name="connsiteY10" fmla="*/ 1974 h 699504"/>
                <a:gd name="connsiteX11" fmla="*/ 811472 w 816075"/>
                <a:gd name="connsiteY11" fmla="*/ 22703 h 699504"/>
                <a:gd name="connsiteX12" fmla="*/ 62775 w 816075"/>
                <a:gd name="connsiteY12" fmla="*/ 203286 h 699504"/>
                <a:gd name="connsiteX13" fmla="*/ 62775 w 816075"/>
                <a:gd name="connsiteY13" fmla="*/ 496236 h 699504"/>
                <a:gd name="connsiteX14" fmla="*/ 41850 w 816075"/>
                <a:gd name="connsiteY14" fmla="*/ 496236 h 699504"/>
                <a:gd name="connsiteX15" fmla="*/ 0 w 816075"/>
                <a:gd name="connsiteY15" fmla="*/ 454386 h 699504"/>
                <a:gd name="connsiteX16" fmla="*/ 0 w 816075"/>
                <a:gd name="connsiteY16" fmla="*/ 245136 h 699504"/>
                <a:gd name="connsiteX17" fmla="*/ 41850 w 816075"/>
                <a:gd name="connsiteY17" fmla="*/ 203286 h 699504"/>
                <a:gd name="connsiteX18" fmla="*/ 62775 w 816075"/>
                <a:gd name="connsiteY18" fmla="*/ 203286 h 69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6075" h="699504">
                  <a:moveTo>
                    <a:pt x="811472" y="22703"/>
                  </a:moveTo>
                  <a:cubicBezTo>
                    <a:pt x="814441" y="28616"/>
                    <a:pt x="816014" y="35130"/>
                    <a:pt x="816075" y="41745"/>
                  </a:cubicBezTo>
                  <a:lnTo>
                    <a:pt x="816075" y="657777"/>
                  </a:lnTo>
                  <a:cubicBezTo>
                    <a:pt x="816033" y="672366"/>
                    <a:pt x="808396" y="685881"/>
                    <a:pt x="795918" y="693443"/>
                  </a:cubicBezTo>
                  <a:cubicBezTo>
                    <a:pt x="783442" y="701006"/>
                    <a:pt x="767929" y="701525"/>
                    <a:pt x="754974" y="694814"/>
                  </a:cubicBezTo>
                  <a:lnTo>
                    <a:pt x="451562" y="538086"/>
                  </a:lnTo>
                  <a:lnTo>
                    <a:pt x="376650" y="538086"/>
                  </a:lnTo>
                  <a:lnTo>
                    <a:pt x="376650" y="161436"/>
                  </a:lnTo>
                  <a:lnTo>
                    <a:pt x="451562" y="161436"/>
                  </a:lnTo>
                  <a:lnTo>
                    <a:pt x="754974" y="4708"/>
                  </a:lnTo>
                  <a:cubicBezTo>
                    <a:pt x="764849" y="-419"/>
                    <a:pt x="776357" y="-1403"/>
                    <a:pt x="786960" y="1974"/>
                  </a:cubicBezTo>
                  <a:cubicBezTo>
                    <a:pt x="797561" y="5351"/>
                    <a:pt x="806381" y="12810"/>
                    <a:pt x="811472" y="22703"/>
                  </a:cubicBezTo>
                  <a:close/>
                  <a:moveTo>
                    <a:pt x="62775" y="203286"/>
                  </a:moveTo>
                  <a:lnTo>
                    <a:pt x="62775" y="496236"/>
                  </a:lnTo>
                  <a:lnTo>
                    <a:pt x="41850" y="496236"/>
                  </a:lnTo>
                  <a:cubicBezTo>
                    <a:pt x="18737" y="496236"/>
                    <a:pt x="0" y="477499"/>
                    <a:pt x="0" y="454386"/>
                  </a:cubicBezTo>
                  <a:lnTo>
                    <a:pt x="0" y="245136"/>
                  </a:lnTo>
                  <a:cubicBezTo>
                    <a:pt x="0" y="222024"/>
                    <a:pt x="18737" y="203286"/>
                    <a:pt x="41850" y="203286"/>
                  </a:cubicBezTo>
                  <a:lnTo>
                    <a:pt x="62775" y="203286"/>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4" name="Freeform 61">
              <a:extLst>
                <a:ext uri="{FF2B5EF4-FFF2-40B4-BE49-F238E27FC236}">
                  <a16:creationId xmlns:a16="http://schemas.microsoft.com/office/drawing/2014/main" id="{C9EE98EF-D050-48EF-53ED-B09989CA8A35}"/>
                </a:ext>
              </a:extLst>
            </p:cNvPr>
            <p:cNvSpPr/>
            <p:nvPr/>
          </p:nvSpPr>
          <p:spPr>
            <a:xfrm>
              <a:off x="8355939" y="2827484"/>
              <a:ext cx="316699" cy="648675"/>
            </a:xfrm>
            <a:custGeom>
              <a:avLst/>
              <a:gdLst>
                <a:gd name="connsiteX0" fmla="*/ 41850 w 316699"/>
                <a:gd name="connsiteY0" fmla="*/ 376650 h 648675"/>
                <a:gd name="connsiteX1" fmla="*/ 0 w 316699"/>
                <a:gd name="connsiteY1" fmla="*/ 334800 h 648675"/>
                <a:gd name="connsiteX2" fmla="*/ 0 w 316699"/>
                <a:gd name="connsiteY2" fmla="*/ 41850 h 648675"/>
                <a:gd name="connsiteX3" fmla="*/ 41850 w 316699"/>
                <a:gd name="connsiteY3" fmla="*/ 0 h 648675"/>
                <a:gd name="connsiteX4" fmla="*/ 230175 w 316699"/>
                <a:gd name="connsiteY4" fmla="*/ 0 h 648675"/>
                <a:gd name="connsiteX5" fmla="*/ 230175 w 316699"/>
                <a:gd name="connsiteY5" fmla="*/ 376650 h 648675"/>
                <a:gd name="connsiteX6" fmla="*/ 313875 w 316699"/>
                <a:gd name="connsiteY6" fmla="*/ 591759 h 648675"/>
                <a:gd name="connsiteX7" fmla="*/ 313099 w 316699"/>
                <a:gd name="connsiteY7" fmla="*/ 623854 h 648675"/>
                <a:gd name="connsiteX8" fmla="*/ 289811 w 316699"/>
                <a:gd name="connsiteY8" fmla="*/ 645955 h 648675"/>
                <a:gd name="connsiteX9" fmla="*/ 274745 w 316699"/>
                <a:gd name="connsiteY9" fmla="*/ 648675 h 648675"/>
                <a:gd name="connsiteX10" fmla="*/ 201089 w 316699"/>
                <a:gd name="connsiteY10" fmla="*/ 648675 h 648675"/>
                <a:gd name="connsiteX11" fmla="*/ 161960 w 316699"/>
                <a:gd name="connsiteY11" fmla="*/ 621891 h 648675"/>
                <a:gd name="connsiteX12" fmla="*/ 67588 w 316699"/>
                <a:gd name="connsiteY12" fmla="*/ 376650 h 648675"/>
                <a:gd name="connsiteX13" fmla="*/ 41850 w 316699"/>
                <a:gd name="connsiteY13" fmla="*/ 376650 h 64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699" h="648675">
                  <a:moveTo>
                    <a:pt x="41850" y="376650"/>
                  </a:moveTo>
                  <a:cubicBezTo>
                    <a:pt x="18737" y="376650"/>
                    <a:pt x="0" y="357914"/>
                    <a:pt x="0" y="334800"/>
                  </a:cubicBezTo>
                  <a:lnTo>
                    <a:pt x="0" y="41850"/>
                  </a:lnTo>
                  <a:cubicBezTo>
                    <a:pt x="0" y="18736"/>
                    <a:pt x="18737" y="0"/>
                    <a:pt x="41850" y="0"/>
                  </a:cubicBezTo>
                  <a:lnTo>
                    <a:pt x="230175" y="0"/>
                  </a:lnTo>
                  <a:lnTo>
                    <a:pt x="230175" y="376650"/>
                  </a:lnTo>
                  <a:lnTo>
                    <a:pt x="313875" y="591759"/>
                  </a:lnTo>
                  <a:cubicBezTo>
                    <a:pt x="317893" y="602136"/>
                    <a:pt x="317614" y="613684"/>
                    <a:pt x="313099" y="623854"/>
                  </a:cubicBezTo>
                  <a:cubicBezTo>
                    <a:pt x="308583" y="634023"/>
                    <a:pt x="300203" y="641977"/>
                    <a:pt x="289811" y="645955"/>
                  </a:cubicBezTo>
                  <a:cubicBezTo>
                    <a:pt x="284978" y="647704"/>
                    <a:pt x="279884" y="648623"/>
                    <a:pt x="274745" y="648675"/>
                  </a:cubicBezTo>
                  <a:lnTo>
                    <a:pt x="201089" y="648675"/>
                  </a:lnTo>
                  <a:cubicBezTo>
                    <a:pt x="183759" y="648711"/>
                    <a:pt x="168199" y="638060"/>
                    <a:pt x="161960" y="621891"/>
                  </a:cubicBezTo>
                  <a:lnTo>
                    <a:pt x="67588" y="376650"/>
                  </a:lnTo>
                  <a:lnTo>
                    <a:pt x="41850" y="37665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5" name="Graphic 170">
            <a:extLst>
              <a:ext uri="{FF2B5EF4-FFF2-40B4-BE49-F238E27FC236}">
                <a16:creationId xmlns:a16="http://schemas.microsoft.com/office/drawing/2014/main" id="{64CC8EC7-6495-7A6B-E0E5-0B00D18922A1}"/>
              </a:ext>
            </a:extLst>
          </p:cNvPr>
          <p:cNvGrpSpPr/>
          <p:nvPr userDrawn="1"/>
        </p:nvGrpSpPr>
        <p:grpSpPr>
          <a:xfrm>
            <a:off x="1504547" y="2163146"/>
            <a:ext cx="502200" cy="502200"/>
            <a:chOff x="2981879" y="7953918"/>
            <a:chExt cx="1004400" cy="1004400"/>
          </a:xfrm>
        </p:grpSpPr>
        <p:sp>
          <p:nvSpPr>
            <p:cNvPr id="136" name="Freeform 63">
              <a:extLst>
                <a:ext uri="{FF2B5EF4-FFF2-40B4-BE49-F238E27FC236}">
                  <a16:creationId xmlns:a16="http://schemas.microsoft.com/office/drawing/2014/main" id="{F022FAA5-2AEC-DE5B-5391-0DF1FE032F2B}"/>
                </a:ext>
              </a:extLst>
            </p:cNvPr>
            <p:cNvSpPr/>
            <p:nvPr/>
          </p:nvSpPr>
          <p:spPr>
            <a:xfrm>
              <a:off x="2981879" y="7953918"/>
              <a:ext cx="669600" cy="890777"/>
            </a:xfrm>
            <a:custGeom>
              <a:avLst/>
              <a:gdLst>
                <a:gd name="connsiteX0" fmla="*/ 69053 w 669600"/>
                <a:gd name="connsiteY0" fmla="*/ 53777 h 890777"/>
                <a:gd name="connsiteX1" fmla="*/ 69053 w 669600"/>
                <a:gd name="connsiteY1" fmla="*/ 346727 h 890777"/>
                <a:gd name="connsiteX2" fmla="*/ 79515 w 669600"/>
                <a:gd name="connsiteY2" fmla="*/ 376650 h 890777"/>
                <a:gd name="connsiteX3" fmla="*/ 82235 w 669600"/>
                <a:gd name="connsiteY3" fmla="*/ 379789 h 890777"/>
                <a:gd name="connsiteX4" fmla="*/ 150032 w 669600"/>
                <a:gd name="connsiteY4" fmla="*/ 385229 h 890777"/>
                <a:gd name="connsiteX5" fmla="*/ 152753 w 669600"/>
                <a:gd name="connsiteY5" fmla="*/ 382718 h 890777"/>
                <a:gd name="connsiteX6" fmla="*/ 222433 w 669600"/>
                <a:gd name="connsiteY6" fmla="*/ 319943 h 890777"/>
                <a:gd name="connsiteX7" fmla="*/ 248589 w 669600"/>
                <a:gd name="connsiteY7" fmla="*/ 318269 h 890777"/>
                <a:gd name="connsiteX8" fmla="*/ 250681 w 669600"/>
                <a:gd name="connsiteY8" fmla="*/ 319943 h 890777"/>
                <a:gd name="connsiteX9" fmla="*/ 320153 w 669600"/>
                <a:gd name="connsiteY9" fmla="*/ 382718 h 890777"/>
                <a:gd name="connsiteX10" fmla="*/ 372442 w 669600"/>
                <a:gd name="connsiteY10" fmla="*/ 392348 h 890777"/>
                <a:gd name="connsiteX11" fmla="*/ 403852 w 669600"/>
                <a:gd name="connsiteY11" fmla="*/ 349448 h 890777"/>
                <a:gd name="connsiteX12" fmla="*/ 403852 w 669600"/>
                <a:gd name="connsiteY12" fmla="*/ 53777 h 890777"/>
                <a:gd name="connsiteX13" fmla="*/ 606825 w 669600"/>
                <a:gd name="connsiteY13" fmla="*/ 53777 h 890777"/>
                <a:gd name="connsiteX14" fmla="*/ 669600 w 669600"/>
                <a:gd name="connsiteY14" fmla="*/ 116552 h 890777"/>
                <a:gd name="connsiteX15" fmla="*/ 669600 w 669600"/>
                <a:gd name="connsiteY15" fmla="*/ 334800 h 890777"/>
                <a:gd name="connsiteX16" fmla="*/ 371605 w 669600"/>
                <a:gd name="connsiteY16" fmla="*/ 533535 h 890777"/>
                <a:gd name="connsiteX17" fmla="*/ 397575 w 669600"/>
                <a:gd name="connsiteY17" fmla="*/ 890777 h 890777"/>
                <a:gd name="connsiteX18" fmla="*/ 62775 w 669600"/>
                <a:gd name="connsiteY18" fmla="*/ 890777 h 890777"/>
                <a:gd name="connsiteX19" fmla="*/ 0 w 669600"/>
                <a:gd name="connsiteY19" fmla="*/ 828002 h 890777"/>
                <a:gd name="connsiteX20" fmla="*/ 0 w 669600"/>
                <a:gd name="connsiteY20" fmla="*/ 116552 h 890777"/>
                <a:gd name="connsiteX21" fmla="*/ 62775 w 669600"/>
                <a:gd name="connsiteY21" fmla="*/ 53777 h 890777"/>
                <a:gd name="connsiteX22" fmla="*/ 69053 w 669600"/>
                <a:gd name="connsiteY22" fmla="*/ 53777 h 890777"/>
                <a:gd name="connsiteX23" fmla="*/ 341077 w 669600"/>
                <a:gd name="connsiteY23" fmla="*/ 0 h 890777"/>
                <a:gd name="connsiteX24" fmla="*/ 362002 w 669600"/>
                <a:gd name="connsiteY24" fmla="*/ 20925 h 890777"/>
                <a:gd name="connsiteX25" fmla="*/ 362002 w 669600"/>
                <a:gd name="connsiteY25" fmla="*/ 326221 h 890777"/>
                <a:gd name="connsiteX26" fmla="*/ 341077 w 669600"/>
                <a:gd name="connsiteY26" fmla="*/ 347146 h 890777"/>
                <a:gd name="connsiteX27" fmla="*/ 326430 w 669600"/>
                <a:gd name="connsiteY27" fmla="*/ 340868 h 890777"/>
                <a:gd name="connsiteX28" fmla="*/ 251100 w 669600"/>
                <a:gd name="connsiteY28" fmla="*/ 265957 h 890777"/>
                <a:gd name="connsiteX29" fmla="*/ 221596 w 669600"/>
                <a:gd name="connsiteY29" fmla="*/ 265957 h 890777"/>
                <a:gd name="connsiteX30" fmla="*/ 146475 w 669600"/>
                <a:gd name="connsiteY30" fmla="*/ 340868 h 890777"/>
                <a:gd name="connsiteX31" fmla="*/ 116971 w 669600"/>
                <a:gd name="connsiteY31" fmla="*/ 340868 h 890777"/>
                <a:gd name="connsiteX32" fmla="*/ 110693 w 669600"/>
                <a:gd name="connsiteY32" fmla="*/ 326221 h 890777"/>
                <a:gd name="connsiteX33" fmla="*/ 110693 w 669600"/>
                <a:gd name="connsiteY33" fmla="*/ 20925 h 890777"/>
                <a:gd name="connsiteX34" fmla="*/ 131618 w 669600"/>
                <a:gd name="connsiteY34" fmla="*/ 0 h 890777"/>
                <a:gd name="connsiteX35" fmla="*/ 341077 w 669600"/>
                <a:gd name="connsiteY35" fmla="*/ 0 h 89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9600" h="890777">
                  <a:moveTo>
                    <a:pt x="69053" y="53777"/>
                  </a:moveTo>
                  <a:lnTo>
                    <a:pt x="69053" y="346727"/>
                  </a:lnTo>
                  <a:cubicBezTo>
                    <a:pt x="69277" y="357558"/>
                    <a:pt x="72941" y="368039"/>
                    <a:pt x="79515" y="376650"/>
                  </a:cubicBezTo>
                  <a:lnTo>
                    <a:pt x="82235" y="379789"/>
                  </a:lnTo>
                  <a:cubicBezTo>
                    <a:pt x="99980" y="398958"/>
                    <a:pt x="129458" y="401325"/>
                    <a:pt x="150032" y="385229"/>
                  </a:cubicBezTo>
                  <a:lnTo>
                    <a:pt x="152753" y="382718"/>
                  </a:lnTo>
                  <a:lnTo>
                    <a:pt x="222433" y="319943"/>
                  </a:lnTo>
                  <a:cubicBezTo>
                    <a:pt x="229679" y="313318"/>
                    <a:pt x="240558" y="312622"/>
                    <a:pt x="248589" y="318269"/>
                  </a:cubicBezTo>
                  <a:lnTo>
                    <a:pt x="250681" y="319943"/>
                  </a:lnTo>
                  <a:lnTo>
                    <a:pt x="320153" y="382718"/>
                  </a:lnTo>
                  <a:cubicBezTo>
                    <a:pt x="334292" y="395696"/>
                    <a:pt x="354610" y="399437"/>
                    <a:pt x="372442" y="392348"/>
                  </a:cubicBezTo>
                  <a:cubicBezTo>
                    <a:pt x="390276" y="385259"/>
                    <a:pt x="402482" y="368590"/>
                    <a:pt x="403852" y="349448"/>
                  </a:cubicBezTo>
                  <a:lnTo>
                    <a:pt x="403852" y="53777"/>
                  </a:lnTo>
                  <a:lnTo>
                    <a:pt x="606825" y="53777"/>
                  </a:lnTo>
                  <a:cubicBezTo>
                    <a:pt x="641496" y="53777"/>
                    <a:pt x="669600" y="81883"/>
                    <a:pt x="669600" y="116552"/>
                  </a:cubicBezTo>
                  <a:lnTo>
                    <a:pt x="669600" y="334800"/>
                  </a:lnTo>
                  <a:cubicBezTo>
                    <a:pt x="541729" y="342555"/>
                    <a:pt x="427906" y="418467"/>
                    <a:pt x="371605" y="533535"/>
                  </a:cubicBezTo>
                  <a:cubicBezTo>
                    <a:pt x="315306" y="648606"/>
                    <a:pt x="325225" y="785060"/>
                    <a:pt x="397575" y="890777"/>
                  </a:cubicBezTo>
                  <a:lnTo>
                    <a:pt x="62775" y="890777"/>
                  </a:lnTo>
                  <a:cubicBezTo>
                    <a:pt x="28105" y="890777"/>
                    <a:pt x="0" y="862673"/>
                    <a:pt x="0" y="828002"/>
                  </a:cubicBezTo>
                  <a:lnTo>
                    <a:pt x="0" y="116552"/>
                  </a:lnTo>
                  <a:cubicBezTo>
                    <a:pt x="0" y="81883"/>
                    <a:pt x="28105" y="53777"/>
                    <a:pt x="62775" y="53777"/>
                  </a:cubicBezTo>
                  <a:lnTo>
                    <a:pt x="69053" y="53777"/>
                  </a:lnTo>
                  <a:close/>
                  <a:moveTo>
                    <a:pt x="341077" y="0"/>
                  </a:moveTo>
                  <a:cubicBezTo>
                    <a:pt x="352634" y="0"/>
                    <a:pt x="362002" y="9368"/>
                    <a:pt x="362002" y="20925"/>
                  </a:cubicBezTo>
                  <a:lnTo>
                    <a:pt x="362002" y="326221"/>
                  </a:lnTo>
                  <a:cubicBezTo>
                    <a:pt x="362002" y="337778"/>
                    <a:pt x="352634" y="347146"/>
                    <a:pt x="341077" y="347146"/>
                  </a:cubicBezTo>
                  <a:cubicBezTo>
                    <a:pt x="335557" y="347066"/>
                    <a:pt x="330293" y="344811"/>
                    <a:pt x="326430" y="340868"/>
                  </a:cubicBezTo>
                  <a:lnTo>
                    <a:pt x="251100" y="265957"/>
                  </a:lnTo>
                  <a:cubicBezTo>
                    <a:pt x="242939" y="257844"/>
                    <a:pt x="229756" y="257844"/>
                    <a:pt x="221596" y="265957"/>
                  </a:cubicBezTo>
                  <a:lnTo>
                    <a:pt x="146475" y="340868"/>
                  </a:lnTo>
                  <a:cubicBezTo>
                    <a:pt x="138313" y="348981"/>
                    <a:pt x="125132" y="348981"/>
                    <a:pt x="116971" y="340868"/>
                  </a:cubicBezTo>
                  <a:cubicBezTo>
                    <a:pt x="113028" y="337006"/>
                    <a:pt x="110772" y="331741"/>
                    <a:pt x="110693" y="326221"/>
                  </a:cubicBezTo>
                  <a:lnTo>
                    <a:pt x="110693" y="20925"/>
                  </a:lnTo>
                  <a:cubicBezTo>
                    <a:pt x="110693" y="9368"/>
                    <a:pt x="120062" y="0"/>
                    <a:pt x="131618" y="0"/>
                  </a:cubicBezTo>
                  <a:lnTo>
                    <a:pt x="341077" y="0"/>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37" name="Freeform 64">
              <a:extLst>
                <a:ext uri="{FF2B5EF4-FFF2-40B4-BE49-F238E27FC236}">
                  <a16:creationId xmlns:a16="http://schemas.microsoft.com/office/drawing/2014/main" id="{A6E6DDFF-1372-3D9F-9785-53572EB91A47}"/>
                </a:ext>
              </a:extLst>
            </p:cNvPr>
            <p:cNvSpPr/>
            <p:nvPr/>
          </p:nvSpPr>
          <p:spPr>
            <a:xfrm>
              <a:off x="3358529" y="8330568"/>
              <a:ext cx="627750" cy="627750"/>
            </a:xfrm>
            <a:custGeom>
              <a:avLst/>
              <a:gdLst>
                <a:gd name="connsiteX0" fmla="*/ 313875 w 627750"/>
                <a:gd name="connsiteY0" fmla="*/ 0 h 627750"/>
                <a:gd name="connsiteX1" fmla="*/ 627750 w 627750"/>
                <a:gd name="connsiteY1" fmla="*/ 313875 h 627750"/>
                <a:gd name="connsiteX2" fmla="*/ 313875 w 627750"/>
                <a:gd name="connsiteY2" fmla="*/ 627750 h 627750"/>
                <a:gd name="connsiteX3" fmla="*/ 0 w 627750"/>
                <a:gd name="connsiteY3" fmla="*/ 313875 h 627750"/>
                <a:gd name="connsiteX4" fmla="*/ 313875 w 627750"/>
                <a:gd name="connsiteY4" fmla="*/ 0 h 627750"/>
                <a:gd name="connsiteX5" fmla="*/ 315131 w 627750"/>
                <a:gd name="connsiteY5" fmla="*/ 104625 h 627750"/>
                <a:gd name="connsiteX6" fmla="*/ 294206 w 627750"/>
                <a:gd name="connsiteY6" fmla="*/ 125550 h 627750"/>
                <a:gd name="connsiteX7" fmla="*/ 294206 w 627750"/>
                <a:gd name="connsiteY7" fmla="*/ 125550 h 627750"/>
                <a:gd name="connsiteX8" fmla="*/ 294206 w 627750"/>
                <a:gd name="connsiteY8" fmla="*/ 151288 h 627750"/>
                <a:gd name="connsiteX9" fmla="*/ 198788 w 627750"/>
                <a:gd name="connsiteY9" fmla="*/ 241893 h 627750"/>
                <a:gd name="connsiteX10" fmla="*/ 308853 w 627750"/>
                <a:gd name="connsiteY10" fmla="*/ 333544 h 627750"/>
                <a:gd name="connsiteX11" fmla="*/ 318060 w 627750"/>
                <a:gd name="connsiteY11" fmla="*/ 333544 h 627750"/>
                <a:gd name="connsiteX12" fmla="*/ 386694 w 627750"/>
                <a:gd name="connsiteY12" fmla="*/ 383346 h 627750"/>
                <a:gd name="connsiteX13" fmla="*/ 313875 w 627750"/>
                <a:gd name="connsiteY13" fmla="*/ 433566 h 627750"/>
                <a:gd name="connsiteX14" fmla="*/ 241056 w 627750"/>
                <a:gd name="connsiteY14" fmla="*/ 386485 h 627750"/>
                <a:gd name="connsiteX15" fmla="*/ 241056 w 627750"/>
                <a:gd name="connsiteY15" fmla="*/ 386485 h 627750"/>
                <a:gd name="connsiteX16" fmla="*/ 241056 w 627750"/>
                <a:gd name="connsiteY16" fmla="*/ 381254 h 627750"/>
                <a:gd name="connsiteX17" fmla="*/ 229597 w 627750"/>
                <a:gd name="connsiteY17" fmla="*/ 363708 h 627750"/>
                <a:gd name="connsiteX18" fmla="*/ 208672 w 627750"/>
                <a:gd name="connsiteY18" fmla="*/ 364859 h 627750"/>
                <a:gd name="connsiteX19" fmla="*/ 199206 w 627750"/>
                <a:gd name="connsiteY19" fmla="*/ 383555 h 627750"/>
                <a:gd name="connsiteX20" fmla="*/ 294624 w 627750"/>
                <a:gd name="connsiteY20" fmla="*/ 474161 h 627750"/>
                <a:gd name="connsiteX21" fmla="*/ 294624 w 627750"/>
                <a:gd name="connsiteY21" fmla="*/ 474161 h 627750"/>
                <a:gd name="connsiteX22" fmla="*/ 294624 w 627750"/>
                <a:gd name="connsiteY22" fmla="*/ 502200 h 627750"/>
                <a:gd name="connsiteX23" fmla="*/ 316805 w 627750"/>
                <a:gd name="connsiteY23" fmla="*/ 521869 h 627750"/>
                <a:gd name="connsiteX24" fmla="*/ 336474 w 627750"/>
                <a:gd name="connsiteY24" fmla="*/ 499689 h 627750"/>
                <a:gd name="connsiteX25" fmla="*/ 336474 w 627750"/>
                <a:gd name="connsiteY25" fmla="*/ 499689 h 627750"/>
                <a:gd name="connsiteX26" fmla="*/ 336474 w 627750"/>
                <a:gd name="connsiteY26" fmla="*/ 473742 h 627750"/>
                <a:gd name="connsiteX27" fmla="*/ 428963 w 627750"/>
                <a:gd name="connsiteY27" fmla="*/ 383555 h 627750"/>
                <a:gd name="connsiteX28" fmla="*/ 318897 w 627750"/>
                <a:gd name="connsiteY28" fmla="*/ 291904 h 627750"/>
                <a:gd name="connsiteX29" fmla="*/ 309690 w 627750"/>
                <a:gd name="connsiteY29" fmla="*/ 291904 h 627750"/>
                <a:gd name="connsiteX30" fmla="*/ 241056 w 627750"/>
                <a:gd name="connsiteY30" fmla="*/ 242102 h 627750"/>
                <a:gd name="connsiteX31" fmla="*/ 313875 w 627750"/>
                <a:gd name="connsiteY31" fmla="*/ 191882 h 627750"/>
                <a:gd name="connsiteX32" fmla="*/ 386694 w 627750"/>
                <a:gd name="connsiteY32" fmla="*/ 238964 h 627750"/>
                <a:gd name="connsiteX33" fmla="*/ 386694 w 627750"/>
                <a:gd name="connsiteY33" fmla="*/ 238964 h 627750"/>
                <a:gd name="connsiteX34" fmla="*/ 386694 w 627750"/>
                <a:gd name="connsiteY34" fmla="*/ 244195 h 627750"/>
                <a:gd name="connsiteX35" fmla="*/ 408770 w 627750"/>
                <a:gd name="connsiteY35" fmla="*/ 263969 h 627750"/>
                <a:gd name="connsiteX36" fmla="*/ 428544 w 627750"/>
                <a:gd name="connsiteY36" fmla="*/ 241893 h 627750"/>
                <a:gd name="connsiteX37" fmla="*/ 336056 w 627750"/>
                <a:gd name="connsiteY37" fmla="*/ 151706 h 627750"/>
                <a:gd name="connsiteX38" fmla="*/ 336056 w 627750"/>
                <a:gd name="connsiteY38" fmla="*/ 151706 h 627750"/>
                <a:gd name="connsiteX39" fmla="*/ 336056 w 627750"/>
                <a:gd name="connsiteY39" fmla="*/ 123039 h 627750"/>
                <a:gd name="connsiteX40" fmla="*/ 315131 w 627750"/>
                <a:gd name="connsiteY40" fmla="*/ 104625 h 62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7750" h="627750">
                  <a:moveTo>
                    <a:pt x="313875" y="0"/>
                  </a:moveTo>
                  <a:cubicBezTo>
                    <a:pt x="487224" y="0"/>
                    <a:pt x="627750" y="140526"/>
                    <a:pt x="627750" y="313875"/>
                  </a:cubicBezTo>
                  <a:cubicBezTo>
                    <a:pt x="627750" y="487224"/>
                    <a:pt x="487224" y="627750"/>
                    <a:pt x="313875" y="627750"/>
                  </a:cubicBezTo>
                  <a:cubicBezTo>
                    <a:pt x="140526" y="627750"/>
                    <a:pt x="0" y="487224"/>
                    <a:pt x="0" y="313875"/>
                  </a:cubicBezTo>
                  <a:cubicBezTo>
                    <a:pt x="0" y="140526"/>
                    <a:pt x="140526" y="0"/>
                    <a:pt x="313875" y="0"/>
                  </a:cubicBezTo>
                  <a:close/>
                  <a:moveTo>
                    <a:pt x="315131" y="104625"/>
                  </a:moveTo>
                  <a:cubicBezTo>
                    <a:pt x="303574" y="104625"/>
                    <a:pt x="294206" y="113993"/>
                    <a:pt x="294206" y="125550"/>
                  </a:cubicBezTo>
                  <a:lnTo>
                    <a:pt x="294206" y="125550"/>
                  </a:lnTo>
                  <a:lnTo>
                    <a:pt x="294206" y="151288"/>
                  </a:lnTo>
                  <a:cubicBezTo>
                    <a:pt x="240638" y="158612"/>
                    <a:pt x="198788" y="195230"/>
                    <a:pt x="198788" y="241893"/>
                  </a:cubicBezTo>
                  <a:cubicBezTo>
                    <a:pt x="198788" y="292741"/>
                    <a:pt x="248589" y="331452"/>
                    <a:pt x="308853" y="333544"/>
                  </a:cubicBezTo>
                  <a:lnTo>
                    <a:pt x="318060" y="333544"/>
                  </a:lnTo>
                  <a:cubicBezTo>
                    <a:pt x="357190" y="335219"/>
                    <a:pt x="386694" y="358236"/>
                    <a:pt x="386694" y="383346"/>
                  </a:cubicBezTo>
                  <a:cubicBezTo>
                    <a:pt x="386694" y="408456"/>
                    <a:pt x="355725" y="433566"/>
                    <a:pt x="313875" y="433566"/>
                  </a:cubicBezTo>
                  <a:cubicBezTo>
                    <a:pt x="272025" y="433566"/>
                    <a:pt x="243149" y="411386"/>
                    <a:pt x="241056" y="386485"/>
                  </a:cubicBezTo>
                  <a:lnTo>
                    <a:pt x="241056" y="386485"/>
                  </a:lnTo>
                  <a:lnTo>
                    <a:pt x="241056" y="381254"/>
                  </a:lnTo>
                  <a:cubicBezTo>
                    <a:pt x="240646" y="373777"/>
                    <a:pt x="236277" y="367089"/>
                    <a:pt x="229597" y="363708"/>
                  </a:cubicBezTo>
                  <a:cubicBezTo>
                    <a:pt x="222916" y="360326"/>
                    <a:pt x="214940" y="360764"/>
                    <a:pt x="208672" y="364859"/>
                  </a:cubicBezTo>
                  <a:cubicBezTo>
                    <a:pt x="202403" y="368952"/>
                    <a:pt x="198796" y="376079"/>
                    <a:pt x="199206" y="383555"/>
                  </a:cubicBezTo>
                  <a:cubicBezTo>
                    <a:pt x="199206" y="430218"/>
                    <a:pt x="241056" y="467255"/>
                    <a:pt x="294624" y="474161"/>
                  </a:cubicBezTo>
                  <a:lnTo>
                    <a:pt x="294624" y="474161"/>
                  </a:lnTo>
                  <a:lnTo>
                    <a:pt x="294624" y="502200"/>
                  </a:lnTo>
                  <a:cubicBezTo>
                    <a:pt x="295317" y="513757"/>
                    <a:pt x="305248" y="522562"/>
                    <a:pt x="316805" y="521869"/>
                  </a:cubicBezTo>
                  <a:cubicBezTo>
                    <a:pt x="328361" y="521177"/>
                    <a:pt x="337167" y="511246"/>
                    <a:pt x="336474" y="499689"/>
                  </a:cubicBezTo>
                  <a:lnTo>
                    <a:pt x="336474" y="499689"/>
                  </a:lnTo>
                  <a:lnTo>
                    <a:pt x="336474" y="473742"/>
                  </a:lnTo>
                  <a:cubicBezTo>
                    <a:pt x="388577" y="465581"/>
                    <a:pt x="428963" y="429381"/>
                    <a:pt x="428963" y="383555"/>
                  </a:cubicBezTo>
                  <a:cubicBezTo>
                    <a:pt x="428963" y="332708"/>
                    <a:pt x="379161" y="293787"/>
                    <a:pt x="318897" y="291904"/>
                  </a:cubicBezTo>
                  <a:lnTo>
                    <a:pt x="309690" y="291904"/>
                  </a:lnTo>
                  <a:cubicBezTo>
                    <a:pt x="270351" y="290230"/>
                    <a:pt x="241056" y="267212"/>
                    <a:pt x="241056" y="242102"/>
                  </a:cubicBezTo>
                  <a:cubicBezTo>
                    <a:pt x="241056" y="216992"/>
                    <a:pt x="272025" y="191882"/>
                    <a:pt x="313875" y="191882"/>
                  </a:cubicBezTo>
                  <a:cubicBezTo>
                    <a:pt x="355725" y="191882"/>
                    <a:pt x="384602" y="214063"/>
                    <a:pt x="386694" y="238964"/>
                  </a:cubicBezTo>
                  <a:lnTo>
                    <a:pt x="386694" y="238964"/>
                  </a:lnTo>
                  <a:lnTo>
                    <a:pt x="386694" y="244195"/>
                  </a:lnTo>
                  <a:cubicBezTo>
                    <a:pt x="387330" y="255752"/>
                    <a:pt x="397213" y="264605"/>
                    <a:pt x="408770" y="263969"/>
                  </a:cubicBezTo>
                  <a:cubicBezTo>
                    <a:pt x="420327" y="263333"/>
                    <a:pt x="429180" y="253450"/>
                    <a:pt x="428544" y="241893"/>
                  </a:cubicBezTo>
                  <a:cubicBezTo>
                    <a:pt x="428544" y="196067"/>
                    <a:pt x="388159" y="159867"/>
                    <a:pt x="336056" y="151706"/>
                  </a:cubicBezTo>
                  <a:lnTo>
                    <a:pt x="336056" y="151706"/>
                  </a:lnTo>
                  <a:lnTo>
                    <a:pt x="336056" y="123039"/>
                  </a:lnTo>
                  <a:cubicBezTo>
                    <a:pt x="334779" y="112472"/>
                    <a:pt x="325773" y="104548"/>
                    <a:pt x="315131" y="10462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grpSp>
        <p:nvGrpSpPr>
          <p:cNvPr id="138" name="Graphic 172">
            <a:extLst>
              <a:ext uri="{FF2B5EF4-FFF2-40B4-BE49-F238E27FC236}">
                <a16:creationId xmlns:a16="http://schemas.microsoft.com/office/drawing/2014/main" id="{CB942C88-A938-4C69-0001-79B97E85FBCB}"/>
              </a:ext>
            </a:extLst>
          </p:cNvPr>
          <p:cNvGrpSpPr/>
          <p:nvPr userDrawn="1"/>
        </p:nvGrpSpPr>
        <p:grpSpPr>
          <a:xfrm>
            <a:off x="4162861" y="1297809"/>
            <a:ext cx="502200" cy="502200"/>
            <a:chOff x="1256210" y="7953918"/>
            <a:chExt cx="1004400" cy="1004400"/>
          </a:xfrm>
        </p:grpSpPr>
        <p:sp>
          <p:nvSpPr>
            <p:cNvPr id="139" name="Freeform 66">
              <a:extLst>
                <a:ext uri="{FF2B5EF4-FFF2-40B4-BE49-F238E27FC236}">
                  <a16:creationId xmlns:a16="http://schemas.microsoft.com/office/drawing/2014/main" id="{80285572-6505-3BC5-74BC-EE3C1035C865}"/>
                </a:ext>
              </a:extLst>
            </p:cNvPr>
            <p:cNvSpPr/>
            <p:nvPr/>
          </p:nvSpPr>
          <p:spPr>
            <a:xfrm>
              <a:off x="1507310" y="7953918"/>
              <a:ext cx="753300" cy="460350"/>
            </a:xfrm>
            <a:custGeom>
              <a:avLst/>
              <a:gdLst>
                <a:gd name="connsiteX0" fmla="*/ 690525 w 753300"/>
                <a:gd name="connsiteY0" fmla="*/ 0 h 460350"/>
                <a:gd name="connsiteX1" fmla="*/ 753300 w 753300"/>
                <a:gd name="connsiteY1" fmla="*/ 62775 h 460350"/>
                <a:gd name="connsiteX2" fmla="*/ 753300 w 753300"/>
                <a:gd name="connsiteY2" fmla="*/ 397575 h 460350"/>
                <a:gd name="connsiteX3" fmla="*/ 690525 w 753300"/>
                <a:gd name="connsiteY3" fmla="*/ 460350 h 460350"/>
                <a:gd name="connsiteX4" fmla="*/ 62775 w 753300"/>
                <a:gd name="connsiteY4" fmla="*/ 460350 h 460350"/>
                <a:gd name="connsiteX5" fmla="*/ 0 w 753300"/>
                <a:gd name="connsiteY5" fmla="*/ 397575 h 460350"/>
                <a:gd name="connsiteX6" fmla="*/ 0 w 753300"/>
                <a:gd name="connsiteY6" fmla="*/ 62775 h 460350"/>
                <a:gd name="connsiteX7" fmla="*/ 62775 w 753300"/>
                <a:gd name="connsiteY7" fmla="*/ 0 h 460350"/>
                <a:gd name="connsiteX8" fmla="*/ 690525 w 753300"/>
                <a:gd name="connsiteY8" fmla="*/ 0 h 460350"/>
                <a:gd name="connsiteX9" fmla="*/ 376650 w 753300"/>
                <a:gd name="connsiteY9" fmla="*/ 62775 h 460350"/>
                <a:gd name="connsiteX10" fmla="*/ 355725 w 753300"/>
                <a:gd name="connsiteY10" fmla="*/ 83700 h 460350"/>
                <a:gd name="connsiteX11" fmla="*/ 355725 w 753300"/>
                <a:gd name="connsiteY11" fmla="*/ 83700 h 460350"/>
                <a:gd name="connsiteX12" fmla="*/ 355725 w 753300"/>
                <a:gd name="connsiteY12" fmla="*/ 99812 h 460350"/>
                <a:gd name="connsiteX13" fmla="*/ 281650 w 753300"/>
                <a:gd name="connsiteY13" fmla="*/ 174096 h 460350"/>
                <a:gd name="connsiteX14" fmla="*/ 371000 w 753300"/>
                <a:gd name="connsiteY14" fmla="*/ 250054 h 460350"/>
                <a:gd name="connsiteX15" fmla="*/ 379580 w 753300"/>
                <a:gd name="connsiteY15" fmla="*/ 250054 h 460350"/>
                <a:gd name="connsiteX16" fmla="*/ 427707 w 753300"/>
                <a:gd name="connsiteY16" fmla="*/ 284162 h 460350"/>
                <a:gd name="connsiteX17" fmla="*/ 376650 w 753300"/>
                <a:gd name="connsiteY17" fmla="*/ 318688 h 460350"/>
                <a:gd name="connsiteX18" fmla="*/ 324756 w 753300"/>
                <a:gd name="connsiteY18" fmla="*/ 286673 h 460350"/>
                <a:gd name="connsiteX19" fmla="*/ 324756 w 753300"/>
                <a:gd name="connsiteY19" fmla="*/ 286673 h 460350"/>
                <a:gd name="connsiteX20" fmla="*/ 324756 w 753300"/>
                <a:gd name="connsiteY20" fmla="*/ 282069 h 460350"/>
                <a:gd name="connsiteX21" fmla="*/ 302680 w 753300"/>
                <a:gd name="connsiteY21" fmla="*/ 262295 h 460350"/>
                <a:gd name="connsiteX22" fmla="*/ 282906 w 753300"/>
                <a:gd name="connsiteY22" fmla="*/ 284371 h 460350"/>
                <a:gd name="connsiteX23" fmla="*/ 356981 w 753300"/>
                <a:gd name="connsiteY23" fmla="*/ 358864 h 460350"/>
                <a:gd name="connsiteX24" fmla="*/ 356981 w 753300"/>
                <a:gd name="connsiteY24" fmla="*/ 358864 h 460350"/>
                <a:gd name="connsiteX25" fmla="*/ 356981 w 753300"/>
                <a:gd name="connsiteY25" fmla="*/ 376650 h 460350"/>
                <a:gd name="connsiteX26" fmla="*/ 379161 w 753300"/>
                <a:gd name="connsiteY26" fmla="*/ 396320 h 460350"/>
                <a:gd name="connsiteX27" fmla="*/ 398831 w 753300"/>
                <a:gd name="connsiteY27" fmla="*/ 374139 h 460350"/>
                <a:gd name="connsiteX28" fmla="*/ 398831 w 753300"/>
                <a:gd name="connsiteY28" fmla="*/ 374139 h 460350"/>
                <a:gd name="connsiteX29" fmla="*/ 398831 w 753300"/>
                <a:gd name="connsiteY29" fmla="*/ 357818 h 460350"/>
                <a:gd name="connsiteX30" fmla="*/ 470813 w 753300"/>
                <a:gd name="connsiteY30" fmla="*/ 283743 h 460350"/>
                <a:gd name="connsiteX31" fmla="*/ 381463 w 753300"/>
                <a:gd name="connsiteY31" fmla="*/ 207785 h 460350"/>
                <a:gd name="connsiteX32" fmla="*/ 373093 w 753300"/>
                <a:gd name="connsiteY32" fmla="*/ 207785 h 460350"/>
                <a:gd name="connsiteX33" fmla="*/ 324756 w 753300"/>
                <a:gd name="connsiteY33" fmla="*/ 173678 h 460350"/>
                <a:gd name="connsiteX34" fmla="*/ 376650 w 753300"/>
                <a:gd name="connsiteY34" fmla="*/ 139988 h 460350"/>
                <a:gd name="connsiteX35" fmla="*/ 428753 w 753300"/>
                <a:gd name="connsiteY35" fmla="*/ 171794 h 460350"/>
                <a:gd name="connsiteX36" fmla="*/ 428753 w 753300"/>
                <a:gd name="connsiteY36" fmla="*/ 171794 h 460350"/>
                <a:gd name="connsiteX37" fmla="*/ 428753 w 753300"/>
                <a:gd name="connsiteY37" fmla="*/ 176607 h 460350"/>
                <a:gd name="connsiteX38" fmla="*/ 450934 w 753300"/>
                <a:gd name="connsiteY38" fmla="*/ 196277 h 460350"/>
                <a:gd name="connsiteX39" fmla="*/ 470603 w 753300"/>
                <a:gd name="connsiteY39" fmla="*/ 174096 h 460350"/>
                <a:gd name="connsiteX40" fmla="*/ 397575 w 753300"/>
                <a:gd name="connsiteY40" fmla="*/ 100231 h 460350"/>
                <a:gd name="connsiteX41" fmla="*/ 397575 w 753300"/>
                <a:gd name="connsiteY41" fmla="*/ 100231 h 460350"/>
                <a:gd name="connsiteX42" fmla="*/ 397575 w 753300"/>
                <a:gd name="connsiteY42" fmla="*/ 81189 h 460350"/>
                <a:gd name="connsiteX43" fmla="*/ 376650 w 753300"/>
                <a:gd name="connsiteY43" fmla="*/ 62775 h 4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3300" h="460350">
                  <a:moveTo>
                    <a:pt x="690525" y="0"/>
                  </a:moveTo>
                  <a:cubicBezTo>
                    <a:pt x="725196" y="0"/>
                    <a:pt x="753300" y="28105"/>
                    <a:pt x="753300" y="62775"/>
                  </a:cubicBezTo>
                  <a:lnTo>
                    <a:pt x="753300" y="397575"/>
                  </a:lnTo>
                  <a:cubicBezTo>
                    <a:pt x="753300" y="432246"/>
                    <a:pt x="725196" y="460350"/>
                    <a:pt x="690525" y="460350"/>
                  </a:cubicBezTo>
                  <a:lnTo>
                    <a:pt x="62775" y="460350"/>
                  </a:lnTo>
                  <a:cubicBezTo>
                    <a:pt x="28104" y="460350"/>
                    <a:pt x="0" y="432246"/>
                    <a:pt x="0" y="397575"/>
                  </a:cubicBezTo>
                  <a:lnTo>
                    <a:pt x="0" y="62775"/>
                  </a:lnTo>
                  <a:cubicBezTo>
                    <a:pt x="0" y="28105"/>
                    <a:pt x="28104" y="0"/>
                    <a:pt x="62775" y="0"/>
                  </a:cubicBezTo>
                  <a:lnTo>
                    <a:pt x="690525" y="0"/>
                  </a:lnTo>
                  <a:close/>
                  <a:moveTo>
                    <a:pt x="376650" y="62775"/>
                  </a:moveTo>
                  <a:cubicBezTo>
                    <a:pt x="365093" y="62775"/>
                    <a:pt x="355725" y="72144"/>
                    <a:pt x="355725" y="83700"/>
                  </a:cubicBezTo>
                  <a:lnTo>
                    <a:pt x="355725" y="83700"/>
                  </a:lnTo>
                  <a:lnTo>
                    <a:pt x="355725" y="99812"/>
                  </a:lnTo>
                  <a:cubicBezTo>
                    <a:pt x="313875" y="106927"/>
                    <a:pt x="281650" y="136431"/>
                    <a:pt x="281650" y="174096"/>
                  </a:cubicBezTo>
                  <a:cubicBezTo>
                    <a:pt x="281650" y="215946"/>
                    <a:pt x="322245" y="248171"/>
                    <a:pt x="371000" y="250054"/>
                  </a:cubicBezTo>
                  <a:lnTo>
                    <a:pt x="379580" y="250054"/>
                  </a:lnTo>
                  <a:cubicBezTo>
                    <a:pt x="407410" y="251519"/>
                    <a:pt x="427707" y="267631"/>
                    <a:pt x="427707" y="284162"/>
                  </a:cubicBezTo>
                  <a:cubicBezTo>
                    <a:pt x="427707" y="300692"/>
                    <a:pt x="406364" y="318688"/>
                    <a:pt x="376650" y="318688"/>
                  </a:cubicBezTo>
                  <a:cubicBezTo>
                    <a:pt x="346937" y="318688"/>
                    <a:pt x="326430" y="303203"/>
                    <a:pt x="324756" y="286673"/>
                  </a:cubicBezTo>
                  <a:lnTo>
                    <a:pt x="324756" y="286673"/>
                  </a:lnTo>
                  <a:lnTo>
                    <a:pt x="324756" y="282069"/>
                  </a:lnTo>
                  <a:cubicBezTo>
                    <a:pt x="324120" y="270512"/>
                    <a:pt x="314237" y="261659"/>
                    <a:pt x="302680" y="262295"/>
                  </a:cubicBezTo>
                  <a:cubicBezTo>
                    <a:pt x="291123" y="262931"/>
                    <a:pt x="282270" y="272814"/>
                    <a:pt x="282906" y="284371"/>
                  </a:cubicBezTo>
                  <a:cubicBezTo>
                    <a:pt x="282906" y="322036"/>
                    <a:pt x="315340" y="351540"/>
                    <a:pt x="356981" y="358864"/>
                  </a:cubicBezTo>
                  <a:lnTo>
                    <a:pt x="356981" y="358864"/>
                  </a:lnTo>
                  <a:lnTo>
                    <a:pt x="356981" y="376650"/>
                  </a:lnTo>
                  <a:cubicBezTo>
                    <a:pt x="357673" y="388207"/>
                    <a:pt x="367604" y="397012"/>
                    <a:pt x="379161" y="396320"/>
                  </a:cubicBezTo>
                  <a:cubicBezTo>
                    <a:pt x="390718" y="395627"/>
                    <a:pt x="399523" y="385696"/>
                    <a:pt x="398831" y="374139"/>
                  </a:cubicBezTo>
                  <a:lnTo>
                    <a:pt x="398831" y="374139"/>
                  </a:lnTo>
                  <a:lnTo>
                    <a:pt x="398831" y="357818"/>
                  </a:lnTo>
                  <a:cubicBezTo>
                    <a:pt x="440681" y="349866"/>
                    <a:pt x="470813" y="320780"/>
                    <a:pt x="470813" y="283743"/>
                  </a:cubicBezTo>
                  <a:cubicBezTo>
                    <a:pt x="470813" y="241893"/>
                    <a:pt x="430218" y="209669"/>
                    <a:pt x="381463" y="207785"/>
                  </a:cubicBezTo>
                  <a:lnTo>
                    <a:pt x="373093" y="207785"/>
                  </a:lnTo>
                  <a:cubicBezTo>
                    <a:pt x="345053" y="206530"/>
                    <a:pt x="324756" y="190418"/>
                    <a:pt x="324756" y="173678"/>
                  </a:cubicBezTo>
                  <a:cubicBezTo>
                    <a:pt x="324756" y="156938"/>
                    <a:pt x="346518" y="139988"/>
                    <a:pt x="376650" y="139988"/>
                  </a:cubicBezTo>
                  <a:cubicBezTo>
                    <a:pt x="406782" y="139988"/>
                    <a:pt x="426870" y="155264"/>
                    <a:pt x="428753" y="171794"/>
                  </a:cubicBezTo>
                  <a:lnTo>
                    <a:pt x="428753" y="171794"/>
                  </a:lnTo>
                  <a:lnTo>
                    <a:pt x="428753" y="176607"/>
                  </a:lnTo>
                  <a:cubicBezTo>
                    <a:pt x="429446" y="188163"/>
                    <a:pt x="439377" y="196970"/>
                    <a:pt x="450934" y="196277"/>
                  </a:cubicBezTo>
                  <a:cubicBezTo>
                    <a:pt x="462491" y="195583"/>
                    <a:pt x="471296" y="185652"/>
                    <a:pt x="470603" y="174096"/>
                  </a:cubicBezTo>
                  <a:cubicBezTo>
                    <a:pt x="467502" y="134973"/>
                    <a:pt x="436661" y="103778"/>
                    <a:pt x="397575" y="100231"/>
                  </a:cubicBezTo>
                  <a:lnTo>
                    <a:pt x="397575" y="100231"/>
                  </a:lnTo>
                  <a:lnTo>
                    <a:pt x="397575" y="81189"/>
                  </a:lnTo>
                  <a:cubicBezTo>
                    <a:pt x="396299" y="70623"/>
                    <a:pt x="387292" y="62698"/>
                    <a:pt x="376650" y="62775"/>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40" name="Freeform 67">
              <a:extLst>
                <a:ext uri="{FF2B5EF4-FFF2-40B4-BE49-F238E27FC236}">
                  <a16:creationId xmlns:a16="http://schemas.microsoft.com/office/drawing/2014/main" id="{90BB2D2C-54E7-C0B3-3C54-52196DB0B9C4}"/>
                </a:ext>
              </a:extLst>
            </p:cNvPr>
            <p:cNvSpPr/>
            <p:nvPr/>
          </p:nvSpPr>
          <p:spPr>
            <a:xfrm>
              <a:off x="1272108" y="8553511"/>
              <a:ext cx="831564" cy="385016"/>
            </a:xfrm>
            <a:custGeom>
              <a:avLst/>
              <a:gdLst>
                <a:gd name="connsiteX0" fmla="*/ 322668 w 831564"/>
                <a:gd name="connsiteY0" fmla="*/ 2418 h 385016"/>
                <a:gd name="connsiteX1" fmla="*/ 374353 w 831564"/>
                <a:gd name="connsiteY1" fmla="*/ 4302 h 385016"/>
                <a:gd name="connsiteX2" fmla="*/ 374353 w 831564"/>
                <a:gd name="connsiteY2" fmla="*/ 4302 h 385016"/>
                <a:gd name="connsiteX3" fmla="*/ 510366 w 831564"/>
                <a:gd name="connsiteY3" fmla="*/ 44478 h 385016"/>
                <a:gd name="connsiteX4" fmla="*/ 555773 w 831564"/>
                <a:gd name="connsiteY4" fmla="*/ 59962 h 385016"/>
                <a:gd name="connsiteX5" fmla="*/ 599506 w 831564"/>
                <a:gd name="connsiteY5" fmla="*/ 105160 h 385016"/>
                <a:gd name="connsiteX6" fmla="*/ 585905 w 831564"/>
                <a:gd name="connsiteY6" fmla="*/ 162704 h 385016"/>
                <a:gd name="connsiteX7" fmla="*/ 582766 w 831564"/>
                <a:gd name="connsiteY7" fmla="*/ 166261 h 385016"/>
                <a:gd name="connsiteX8" fmla="*/ 521874 w 831564"/>
                <a:gd name="connsiteY8" fmla="*/ 181537 h 385016"/>
                <a:gd name="connsiteX9" fmla="*/ 398417 w 831564"/>
                <a:gd name="connsiteY9" fmla="*/ 139687 h 385016"/>
                <a:gd name="connsiteX10" fmla="*/ 372556 w 831564"/>
                <a:gd name="connsiteY10" fmla="*/ 152905 h 385016"/>
                <a:gd name="connsiteX11" fmla="*/ 384816 w 831564"/>
                <a:gd name="connsiteY11" fmla="*/ 179235 h 385016"/>
                <a:gd name="connsiteX12" fmla="*/ 508482 w 831564"/>
                <a:gd name="connsiteY12" fmla="*/ 221085 h 385016"/>
                <a:gd name="connsiteX13" fmla="*/ 613107 w 831564"/>
                <a:gd name="connsiteY13" fmla="*/ 194719 h 385016"/>
                <a:gd name="connsiteX14" fmla="*/ 614991 w 831564"/>
                <a:gd name="connsiteY14" fmla="*/ 192627 h 385016"/>
                <a:gd name="connsiteX15" fmla="*/ 714803 w 831564"/>
                <a:gd name="connsiteY15" fmla="*/ 108927 h 385016"/>
                <a:gd name="connsiteX16" fmla="*/ 784692 w 831564"/>
                <a:gd name="connsiteY16" fmla="*/ 90931 h 385016"/>
                <a:gd name="connsiteX17" fmla="*/ 789714 w 831564"/>
                <a:gd name="connsiteY17" fmla="*/ 90931 h 385016"/>
                <a:gd name="connsiteX18" fmla="*/ 790970 w 831564"/>
                <a:gd name="connsiteY18" fmla="*/ 90931 h 385016"/>
                <a:gd name="connsiteX19" fmla="*/ 831564 w 831564"/>
                <a:gd name="connsiteY19" fmla="*/ 143244 h 385016"/>
                <a:gd name="connsiteX20" fmla="*/ 798503 w 831564"/>
                <a:gd name="connsiteY20" fmla="*/ 210831 h 385016"/>
                <a:gd name="connsiteX21" fmla="*/ 798503 w 831564"/>
                <a:gd name="connsiteY21" fmla="*/ 210831 h 385016"/>
                <a:gd name="connsiteX22" fmla="*/ 610178 w 831564"/>
                <a:gd name="connsiteY22" fmla="*/ 358353 h 385016"/>
                <a:gd name="connsiteX23" fmla="*/ 495300 w 831564"/>
                <a:gd name="connsiteY23" fmla="*/ 379278 h 385016"/>
                <a:gd name="connsiteX24" fmla="*/ 495300 w 831564"/>
                <a:gd name="connsiteY24" fmla="*/ 379278 h 385016"/>
                <a:gd name="connsiteX25" fmla="*/ 224949 w 831564"/>
                <a:gd name="connsiteY25" fmla="*/ 295578 h 385016"/>
                <a:gd name="connsiteX26" fmla="*/ 143759 w 831564"/>
                <a:gd name="connsiteY26" fmla="*/ 290974 h 385016"/>
                <a:gd name="connsiteX27" fmla="*/ 143759 w 831564"/>
                <a:gd name="connsiteY27" fmla="*/ 290974 h 385016"/>
                <a:gd name="connsiteX28" fmla="*/ 77636 w 831564"/>
                <a:gd name="connsiteY28" fmla="*/ 303529 h 385016"/>
                <a:gd name="connsiteX29" fmla="*/ 77636 w 831564"/>
                <a:gd name="connsiteY29" fmla="*/ 303529 h 385016"/>
                <a:gd name="connsiteX30" fmla="*/ 45678 w 831564"/>
                <a:gd name="connsiteY30" fmla="*/ 296597 h 385016"/>
                <a:gd name="connsiteX31" fmla="*/ 28462 w 831564"/>
                <a:gd name="connsiteY31" fmla="*/ 268794 h 385016"/>
                <a:gd name="connsiteX32" fmla="*/ 28462 w 831564"/>
                <a:gd name="connsiteY32" fmla="*/ 268794 h 385016"/>
                <a:gd name="connsiteX33" fmla="*/ 632 w 831564"/>
                <a:gd name="connsiteY33" fmla="*/ 112902 h 385016"/>
                <a:gd name="connsiteX34" fmla="*/ 33066 w 831564"/>
                <a:gd name="connsiteY34" fmla="*/ 64775 h 385016"/>
                <a:gd name="connsiteX35" fmla="*/ 33066 w 831564"/>
                <a:gd name="connsiteY35" fmla="*/ 64775 h 385016"/>
                <a:gd name="connsiteX36" fmla="*/ 322668 w 831564"/>
                <a:gd name="connsiteY36" fmla="*/ 2418 h 3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1564" h="385016">
                  <a:moveTo>
                    <a:pt x="322668" y="2418"/>
                  </a:moveTo>
                  <a:cubicBezTo>
                    <a:pt x="339777" y="-1352"/>
                    <a:pt x="357563" y="-706"/>
                    <a:pt x="374353" y="4302"/>
                  </a:cubicBezTo>
                  <a:lnTo>
                    <a:pt x="374353" y="4302"/>
                  </a:lnTo>
                  <a:lnTo>
                    <a:pt x="510366" y="44478"/>
                  </a:lnTo>
                  <a:lnTo>
                    <a:pt x="555773" y="59962"/>
                  </a:lnTo>
                  <a:cubicBezTo>
                    <a:pt x="576821" y="67039"/>
                    <a:pt x="593126" y="83890"/>
                    <a:pt x="599506" y="105160"/>
                  </a:cubicBezTo>
                  <a:cubicBezTo>
                    <a:pt x="605514" y="125395"/>
                    <a:pt x="600337" y="147299"/>
                    <a:pt x="585905" y="162704"/>
                  </a:cubicBezTo>
                  <a:lnTo>
                    <a:pt x="582766" y="166261"/>
                  </a:lnTo>
                  <a:cubicBezTo>
                    <a:pt x="567221" y="182855"/>
                    <a:pt x="543410" y="188829"/>
                    <a:pt x="521874" y="181537"/>
                  </a:cubicBezTo>
                  <a:lnTo>
                    <a:pt x="398417" y="139687"/>
                  </a:lnTo>
                  <a:cubicBezTo>
                    <a:pt x="387643" y="136418"/>
                    <a:pt x="376215" y="142260"/>
                    <a:pt x="372556" y="152905"/>
                  </a:cubicBezTo>
                  <a:cubicBezTo>
                    <a:pt x="368894" y="163551"/>
                    <a:pt x="374311" y="175186"/>
                    <a:pt x="384816" y="179235"/>
                  </a:cubicBezTo>
                  <a:lnTo>
                    <a:pt x="508482" y="221085"/>
                  </a:lnTo>
                  <a:cubicBezTo>
                    <a:pt x="545509" y="233581"/>
                    <a:pt x="586424" y="223271"/>
                    <a:pt x="613107" y="194719"/>
                  </a:cubicBezTo>
                  <a:lnTo>
                    <a:pt x="614991" y="192627"/>
                  </a:lnTo>
                  <a:lnTo>
                    <a:pt x="714803" y="108927"/>
                  </a:lnTo>
                  <a:cubicBezTo>
                    <a:pt x="734184" y="92676"/>
                    <a:pt x="759873" y="86062"/>
                    <a:pt x="784692" y="90931"/>
                  </a:cubicBezTo>
                  <a:lnTo>
                    <a:pt x="789714" y="90931"/>
                  </a:lnTo>
                  <a:lnTo>
                    <a:pt x="790970" y="90931"/>
                  </a:lnTo>
                  <a:cubicBezTo>
                    <a:pt x="814904" y="96983"/>
                    <a:pt x="831644" y="118554"/>
                    <a:pt x="831564" y="143244"/>
                  </a:cubicBezTo>
                  <a:cubicBezTo>
                    <a:pt x="831569" y="169668"/>
                    <a:pt x="819367" y="194615"/>
                    <a:pt x="798503" y="210831"/>
                  </a:cubicBezTo>
                  <a:lnTo>
                    <a:pt x="798503" y="210831"/>
                  </a:lnTo>
                  <a:lnTo>
                    <a:pt x="610178" y="358353"/>
                  </a:lnTo>
                  <a:cubicBezTo>
                    <a:pt x="577656" y="383793"/>
                    <a:pt x="534704" y="391617"/>
                    <a:pt x="495300" y="379278"/>
                  </a:cubicBezTo>
                  <a:lnTo>
                    <a:pt x="495300" y="379278"/>
                  </a:lnTo>
                  <a:lnTo>
                    <a:pt x="224949" y="295578"/>
                  </a:lnTo>
                  <a:cubicBezTo>
                    <a:pt x="198675" y="287394"/>
                    <a:pt x="170789" y="285812"/>
                    <a:pt x="143759" y="290974"/>
                  </a:cubicBezTo>
                  <a:lnTo>
                    <a:pt x="143759" y="290974"/>
                  </a:lnTo>
                  <a:lnTo>
                    <a:pt x="77636" y="303529"/>
                  </a:lnTo>
                  <a:lnTo>
                    <a:pt x="77636" y="303529"/>
                  </a:lnTo>
                  <a:cubicBezTo>
                    <a:pt x="66484" y="305649"/>
                    <a:pt x="54950" y="303146"/>
                    <a:pt x="45678" y="296597"/>
                  </a:cubicBezTo>
                  <a:cubicBezTo>
                    <a:pt x="36406" y="290047"/>
                    <a:pt x="30193" y="280012"/>
                    <a:pt x="28462" y="268794"/>
                  </a:cubicBezTo>
                  <a:lnTo>
                    <a:pt x="28462" y="268794"/>
                  </a:lnTo>
                  <a:lnTo>
                    <a:pt x="632" y="112902"/>
                  </a:lnTo>
                  <a:cubicBezTo>
                    <a:pt x="-3243" y="90751"/>
                    <a:pt x="11080" y="69498"/>
                    <a:pt x="33066" y="64775"/>
                  </a:cubicBezTo>
                  <a:lnTo>
                    <a:pt x="33066" y="64775"/>
                  </a:lnTo>
                  <a:lnTo>
                    <a:pt x="322668" y="2418"/>
                  </a:ln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grpSp>
      <p:sp>
        <p:nvSpPr>
          <p:cNvPr id="141" name="Graphic 252">
            <a:extLst>
              <a:ext uri="{FF2B5EF4-FFF2-40B4-BE49-F238E27FC236}">
                <a16:creationId xmlns:a16="http://schemas.microsoft.com/office/drawing/2014/main" id="{7EB2671F-5345-EF5A-20FC-6B3C1AA71911}"/>
              </a:ext>
            </a:extLst>
          </p:cNvPr>
          <p:cNvSpPr/>
          <p:nvPr userDrawn="1"/>
        </p:nvSpPr>
        <p:spPr>
          <a:xfrm>
            <a:off x="4181864" y="5781139"/>
            <a:ext cx="501866" cy="387116"/>
          </a:xfrm>
          <a:custGeom>
            <a:avLst/>
            <a:gdLst>
              <a:gd name="connsiteX0" fmla="*/ 878860 w 1003732"/>
              <a:gd name="connsiteY0" fmla="*/ 0 h 774231"/>
              <a:gd name="connsiteX1" fmla="*/ 941635 w 1003732"/>
              <a:gd name="connsiteY1" fmla="*/ 62775 h 774231"/>
              <a:gd name="connsiteX2" fmla="*/ 941635 w 1003732"/>
              <a:gd name="connsiteY2" fmla="*/ 627750 h 774231"/>
              <a:gd name="connsiteX3" fmla="*/ 971767 w 1003732"/>
              <a:gd name="connsiteY3" fmla="*/ 627750 h 774231"/>
              <a:gd name="connsiteX4" fmla="*/ 992692 w 1003732"/>
              <a:gd name="connsiteY4" fmla="*/ 690525 h 774231"/>
              <a:gd name="connsiteX5" fmla="*/ 963188 w 1003732"/>
              <a:gd name="connsiteY5" fmla="*/ 750580 h 774231"/>
              <a:gd name="connsiteX6" fmla="*/ 926360 w 1003732"/>
              <a:gd name="connsiteY6" fmla="*/ 774225 h 774231"/>
              <a:gd name="connsiteX7" fmla="*/ 79525 w 1003732"/>
              <a:gd name="connsiteY7" fmla="*/ 774225 h 774231"/>
              <a:gd name="connsiteX8" fmla="*/ 41860 w 1003732"/>
              <a:gd name="connsiteY8" fmla="*/ 752045 h 774231"/>
              <a:gd name="connsiteX9" fmla="*/ 10891 w 1003732"/>
              <a:gd name="connsiteY9" fmla="*/ 690525 h 774231"/>
              <a:gd name="connsiteX10" fmla="*/ 32862 w 1003732"/>
              <a:gd name="connsiteY10" fmla="*/ 627750 h 774231"/>
              <a:gd name="connsiteX11" fmla="*/ 62785 w 1003732"/>
              <a:gd name="connsiteY11" fmla="*/ 627750 h 774231"/>
              <a:gd name="connsiteX12" fmla="*/ 62785 w 1003732"/>
              <a:gd name="connsiteY12" fmla="*/ 62775 h 774231"/>
              <a:gd name="connsiteX13" fmla="*/ 125560 w 1003732"/>
              <a:gd name="connsiteY13" fmla="*/ 0 h 774231"/>
              <a:gd name="connsiteX14" fmla="*/ 878860 w 1003732"/>
              <a:gd name="connsiteY14" fmla="*/ 0 h 774231"/>
              <a:gd name="connsiteX15" fmla="*/ 837010 w 1003732"/>
              <a:gd name="connsiteY15" fmla="*/ 83700 h 774231"/>
              <a:gd name="connsiteX16" fmla="*/ 167410 w 1003732"/>
              <a:gd name="connsiteY16" fmla="*/ 83700 h 774231"/>
              <a:gd name="connsiteX17" fmla="*/ 146485 w 1003732"/>
              <a:gd name="connsiteY17" fmla="*/ 102114 h 774231"/>
              <a:gd name="connsiteX18" fmla="*/ 146485 w 1003732"/>
              <a:gd name="connsiteY18" fmla="*/ 627750 h 774231"/>
              <a:gd name="connsiteX19" fmla="*/ 311165 w 1003732"/>
              <a:gd name="connsiteY19" fmla="*/ 627750 h 774231"/>
              <a:gd name="connsiteX20" fmla="*/ 329788 w 1003732"/>
              <a:gd name="connsiteY20" fmla="*/ 639050 h 774231"/>
              <a:gd name="connsiteX21" fmla="*/ 376660 w 1003732"/>
              <a:gd name="connsiteY21" fmla="*/ 680900 h 774231"/>
              <a:gd name="connsiteX22" fmla="*/ 627760 w 1003732"/>
              <a:gd name="connsiteY22" fmla="*/ 680900 h 774231"/>
              <a:gd name="connsiteX23" fmla="*/ 674632 w 1003732"/>
              <a:gd name="connsiteY23" fmla="*/ 639050 h 774231"/>
              <a:gd name="connsiteX24" fmla="*/ 693256 w 1003732"/>
              <a:gd name="connsiteY24" fmla="*/ 627750 h 774231"/>
              <a:gd name="connsiteX25" fmla="*/ 857935 w 1003732"/>
              <a:gd name="connsiteY25" fmla="*/ 627750 h 774231"/>
              <a:gd name="connsiteX26" fmla="*/ 857935 w 1003732"/>
              <a:gd name="connsiteY26" fmla="*/ 104625 h 774231"/>
              <a:gd name="connsiteX27" fmla="*/ 837010 w 1003732"/>
              <a:gd name="connsiteY27" fmla="*/ 83700 h 77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732" h="774231">
                <a:moveTo>
                  <a:pt x="878860" y="0"/>
                </a:moveTo>
                <a:cubicBezTo>
                  <a:pt x="913529" y="0"/>
                  <a:pt x="941635" y="28105"/>
                  <a:pt x="941635" y="62775"/>
                </a:cubicBezTo>
                <a:lnTo>
                  <a:pt x="941635" y="627750"/>
                </a:lnTo>
                <a:lnTo>
                  <a:pt x="971767" y="627750"/>
                </a:lnTo>
                <a:cubicBezTo>
                  <a:pt x="1003783" y="627750"/>
                  <a:pt x="1013617" y="648675"/>
                  <a:pt x="992692" y="690525"/>
                </a:cubicBezTo>
                <a:lnTo>
                  <a:pt x="963188" y="750580"/>
                </a:lnTo>
                <a:cubicBezTo>
                  <a:pt x="956339" y="764765"/>
                  <a:pt x="942108" y="773901"/>
                  <a:pt x="926360" y="774225"/>
                </a:cubicBezTo>
                <a:lnTo>
                  <a:pt x="79525" y="774225"/>
                </a:lnTo>
                <a:cubicBezTo>
                  <a:pt x="63799" y="774497"/>
                  <a:pt x="49250" y="765928"/>
                  <a:pt x="41860" y="752045"/>
                </a:cubicBezTo>
                <a:cubicBezTo>
                  <a:pt x="31607" y="732375"/>
                  <a:pt x="20935" y="711450"/>
                  <a:pt x="10891" y="690525"/>
                </a:cubicBezTo>
                <a:cubicBezTo>
                  <a:pt x="-10034" y="648675"/>
                  <a:pt x="219" y="627750"/>
                  <a:pt x="32862" y="627750"/>
                </a:cubicBezTo>
                <a:lnTo>
                  <a:pt x="62785" y="627750"/>
                </a:lnTo>
                <a:lnTo>
                  <a:pt x="62785" y="62775"/>
                </a:lnTo>
                <a:cubicBezTo>
                  <a:pt x="62785" y="28105"/>
                  <a:pt x="90890" y="0"/>
                  <a:pt x="125560" y="0"/>
                </a:cubicBezTo>
                <a:lnTo>
                  <a:pt x="878860" y="0"/>
                </a:lnTo>
                <a:close/>
                <a:moveTo>
                  <a:pt x="837010" y="83700"/>
                </a:moveTo>
                <a:lnTo>
                  <a:pt x="167410" y="83700"/>
                </a:lnTo>
                <a:cubicBezTo>
                  <a:pt x="156767" y="83623"/>
                  <a:pt x="147762" y="91547"/>
                  <a:pt x="146485" y="102114"/>
                </a:cubicBezTo>
                <a:lnTo>
                  <a:pt x="146485" y="627750"/>
                </a:lnTo>
                <a:lnTo>
                  <a:pt x="311165" y="627750"/>
                </a:lnTo>
                <a:cubicBezTo>
                  <a:pt x="318997" y="627733"/>
                  <a:pt x="326185" y="632094"/>
                  <a:pt x="329788" y="639050"/>
                </a:cubicBezTo>
                <a:cubicBezTo>
                  <a:pt x="344017" y="666461"/>
                  <a:pt x="359502" y="680900"/>
                  <a:pt x="376660" y="680900"/>
                </a:cubicBezTo>
                <a:lnTo>
                  <a:pt x="627760" y="680900"/>
                </a:lnTo>
                <a:cubicBezTo>
                  <a:pt x="644709" y="680900"/>
                  <a:pt x="660403" y="667298"/>
                  <a:pt x="674632" y="639050"/>
                </a:cubicBezTo>
                <a:cubicBezTo>
                  <a:pt x="678236" y="632094"/>
                  <a:pt x="685421" y="627733"/>
                  <a:pt x="693256" y="627750"/>
                </a:cubicBezTo>
                <a:lnTo>
                  <a:pt x="857935" y="627750"/>
                </a:lnTo>
                <a:lnTo>
                  <a:pt x="857935" y="104625"/>
                </a:lnTo>
                <a:cubicBezTo>
                  <a:pt x="857935" y="93068"/>
                  <a:pt x="848567" y="83700"/>
                  <a:pt x="837010" y="83700"/>
                </a:cubicBezTo>
                <a:close/>
              </a:path>
            </a:pathLst>
          </a:custGeom>
          <a:solidFill>
            <a:srgbClr val="FFFFFF"/>
          </a:solidFill>
          <a:ln w="20836"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42" name="Graphic 141">
            <a:extLst>
              <a:ext uri="{FF2B5EF4-FFF2-40B4-BE49-F238E27FC236}">
                <a16:creationId xmlns:a16="http://schemas.microsoft.com/office/drawing/2014/main" id="{923348F7-F019-95FF-668F-2766F6ED3D2D}"/>
              </a:ext>
            </a:extLst>
          </p:cNvPr>
          <p:cNvPicPr>
            <a:picLocks noChangeAspect="1"/>
          </p:cNvPicPr>
          <p:nvPr userDrawn="1"/>
        </p:nvPicPr>
        <p:blipFill>
          <a:blip>
            <a:extLst>
              <a:ext uri="{96DAC541-7B7A-43D3-8B79-37D633B846F1}">
                <asvg:svgBlip xmlns:asvg="http://schemas.microsoft.com/office/drawing/2016/SVG/main" r:embed="rId52"/>
              </a:ext>
            </a:extLst>
          </a:blip>
          <a:stretch>
            <a:fillRect/>
          </a:stretch>
        </p:blipFill>
        <p:spPr>
          <a:xfrm>
            <a:off x="9455314" y="4867962"/>
            <a:ext cx="355465" cy="488764"/>
          </a:xfrm>
          <a:prstGeom prst="rect">
            <a:avLst/>
          </a:prstGeom>
        </p:spPr>
      </p:pic>
      <p:pic>
        <p:nvPicPr>
          <p:cNvPr id="143" name="Graphic 142">
            <a:extLst>
              <a:ext uri="{FF2B5EF4-FFF2-40B4-BE49-F238E27FC236}">
                <a16:creationId xmlns:a16="http://schemas.microsoft.com/office/drawing/2014/main" id="{02D427EC-A118-C863-E722-0F26FD39E6D9}"/>
              </a:ext>
            </a:extLst>
          </p:cNvPr>
          <p:cNvPicPr>
            <a:picLocks noChangeAspect="1"/>
          </p:cNvPicPr>
          <p:nvPr userDrawn="1"/>
        </p:nvPicPr>
        <p:blipFill>
          <a:blip>
            <a:extLst>
              <a:ext uri="{96DAC541-7B7A-43D3-8B79-37D633B846F1}">
                <asvg:svgBlip xmlns:asvg="http://schemas.microsoft.com/office/drawing/2016/SVG/main" r:embed="rId53"/>
              </a:ext>
            </a:extLst>
          </a:blip>
          <a:stretch>
            <a:fillRect/>
          </a:stretch>
        </p:blipFill>
        <p:spPr>
          <a:xfrm>
            <a:off x="8488397" y="4825445"/>
            <a:ext cx="533197" cy="533197"/>
          </a:xfrm>
          <a:prstGeom prst="rect">
            <a:avLst/>
          </a:prstGeom>
        </p:spPr>
      </p:pic>
      <p:pic>
        <p:nvPicPr>
          <p:cNvPr id="144" name="Graphic 143">
            <a:extLst>
              <a:ext uri="{FF2B5EF4-FFF2-40B4-BE49-F238E27FC236}">
                <a16:creationId xmlns:a16="http://schemas.microsoft.com/office/drawing/2014/main" id="{1BB3F822-CA8B-AB05-8B6C-0E3395581D22}"/>
              </a:ext>
            </a:extLst>
          </p:cNvPr>
          <p:cNvPicPr>
            <a:picLocks noChangeAspect="1"/>
          </p:cNvPicPr>
          <p:nvPr userDrawn="1"/>
        </p:nvPicPr>
        <p:blipFill>
          <a:blip>
            <a:extLst>
              <a:ext uri="{96DAC541-7B7A-43D3-8B79-37D633B846F1}">
                <asvg:svgBlip xmlns:asvg="http://schemas.microsoft.com/office/drawing/2016/SVG/main" r:embed="rId54"/>
              </a:ext>
            </a:extLst>
          </a:blip>
          <a:stretch>
            <a:fillRect/>
          </a:stretch>
        </p:blipFill>
        <p:spPr>
          <a:xfrm>
            <a:off x="7644000" y="4914310"/>
            <a:ext cx="459142" cy="355465"/>
          </a:xfrm>
          <a:prstGeom prst="rect">
            <a:avLst/>
          </a:prstGeom>
        </p:spPr>
      </p:pic>
      <p:pic>
        <p:nvPicPr>
          <p:cNvPr id="145" name="Graphic 144">
            <a:extLst>
              <a:ext uri="{FF2B5EF4-FFF2-40B4-BE49-F238E27FC236}">
                <a16:creationId xmlns:a16="http://schemas.microsoft.com/office/drawing/2014/main" id="{42E13E9A-EFB5-D25A-C24A-B58ABE3E5C07}"/>
              </a:ext>
            </a:extLst>
          </p:cNvPr>
          <p:cNvPicPr>
            <a:picLocks noChangeAspect="1"/>
          </p:cNvPicPr>
          <p:nvPr userDrawn="1"/>
        </p:nvPicPr>
        <p:blipFill>
          <a:blip>
            <a:extLst>
              <a:ext uri="{96DAC541-7B7A-43D3-8B79-37D633B846F1}">
                <asvg:svgBlip xmlns:asvg="http://schemas.microsoft.com/office/drawing/2016/SVG/main" r:embed="rId55"/>
              </a:ext>
            </a:extLst>
          </a:blip>
          <a:stretch>
            <a:fillRect/>
          </a:stretch>
        </p:blipFill>
        <p:spPr>
          <a:xfrm>
            <a:off x="649587" y="2176582"/>
            <a:ext cx="503575" cy="488764"/>
          </a:xfrm>
          <a:prstGeom prst="rect">
            <a:avLst/>
          </a:prstGeom>
        </p:spPr>
      </p:pic>
      <p:pic>
        <p:nvPicPr>
          <p:cNvPr id="146" name="Graphic 145">
            <a:extLst>
              <a:ext uri="{FF2B5EF4-FFF2-40B4-BE49-F238E27FC236}">
                <a16:creationId xmlns:a16="http://schemas.microsoft.com/office/drawing/2014/main" id="{BC6ED7DF-B8D3-D934-2E1B-5AAE70825733}"/>
              </a:ext>
            </a:extLst>
          </p:cNvPr>
          <p:cNvPicPr>
            <a:picLocks noChangeAspect="1"/>
          </p:cNvPicPr>
          <p:nvPr userDrawn="1"/>
        </p:nvPicPr>
        <p:blipFill>
          <a:blip>
            <a:extLst>
              <a:ext uri="{96DAC541-7B7A-43D3-8B79-37D633B846F1}">
                <asvg:svgBlip xmlns:asvg="http://schemas.microsoft.com/office/drawing/2016/SVG/main" r:embed="rId56"/>
              </a:ext>
            </a:extLst>
          </a:blip>
          <a:stretch>
            <a:fillRect/>
          </a:stretch>
        </p:blipFill>
        <p:spPr>
          <a:xfrm>
            <a:off x="6790166" y="4876862"/>
            <a:ext cx="444331" cy="459142"/>
          </a:xfrm>
          <a:prstGeom prst="rect">
            <a:avLst/>
          </a:prstGeom>
        </p:spPr>
      </p:pic>
      <p:pic>
        <p:nvPicPr>
          <p:cNvPr id="147" name="Graphic 146">
            <a:extLst>
              <a:ext uri="{FF2B5EF4-FFF2-40B4-BE49-F238E27FC236}">
                <a16:creationId xmlns:a16="http://schemas.microsoft.com/office/drawing/2014/main" id="{5A37B8DC-F96B-3669-D04B-508ABC27965E}"/>
              </a:ext>
            </a:extLst>
          </p:cNvPr>
          <p:cNvPicPr>
            <a:picLocks noChangeAspect="1"/>
          </p:cNvPicPr>
          <p:nvPr userDrawn="1"/>
        </p:nvPicPr>
        <p:blipFill>
          <a:blip>
            <a:extLst>
              <a:ext uri="{96DAC541-7B7A-43D3-8B79-37D633B846F1}">
                <asvg:svgBlip xmlns:asvg="http://schemas.microsoft.com/office/drawing/2016/SVG/main" r:embed="rId57"/>
              </a:ext>
            </a:extLst>
          </a:blip>
          <a:stretch>
            <a:fillRect/>
          </a:stretch>
        </p:blipFill>
        <p:spPr>
          <a:xfrm>
            <a:off x="3309791" y="5708098"/>
            <a:ext cx="473953" cy="533197"/>
          </a:xfrm>
          <a:prstGeom prst="rect">
            <a:avLst/>
          </a:prstGeom>
        </p:spPr>
      </p:pic>
      <p:pic>
        <p:nvPicPr>
          <p:cNvPr id="148" name="Graphic 147">
            <a:extLst>
              <a:ext uri="{FF2B5EF4-FFF2-40B4-BE49-F238E27FC236}">
                <a16:creationId xmlns:a16="http://schemas.microsoft.com/office/drawing/2014/main" id="{74C4454D-0742-64F7-04C8-650F363622CF}"/>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a:xfrm>
            <a:off x="8500724" y="5705962"/>
            <a:ext cx="519835" cy="519835"/>
          </a:xfrm>
          <a:prstGeom prst="rect">
            <a:avLst/>
          </a:prstGeom>
        </p:spPr>
      </p:pic>
      <p:pic>
        <p:nvPicPr>
          <p:cNvPr id="149" name="Graphic 148">
            <a:extLst>
              <a:ext uri="{FF2B5EF4-FFF2-40B4-BE49-F238E27FC236}">
                <a16:creationId xmlns:a16="http://schemas.microsoft.com/office/drawing/2014/main" id="{2B205794-4BC0-650D-DD90-FF403A71BDDA}"/>
              </a:ext>
            </a:extLst>
          </p:cNvPr>
          <p:cNvPicPr>
            <a:picLocks noChangeAspect="1"/>
          </p:cNvPicPr>
          <p:nvPr userDrawn="1"/>
        </p:nvPicPr>
        <p:blipFill>
          <a:blip>
            <a:extLst>
              <a:ext uri="{96DAC541-7B7A-43D3-8B79-37D633B846F1}">
                <asvg:svgBlip xmlns:asvg="http://schemas.microsoft.com/office/drawing/2016/SVG/main" r:embed="rId59"/>
              </a:ext>
            </a:extLst>
          </a:blip>
          <a:stretch>
            <a:fillRect/>
          </a:stretch>
        </p:blipFill>
        <p:spPr>
          <a:xfrm>
            <a:off x="11029139" y="1276087"/>
            <a:ext cx="519835" cy="519835"/>
          </a:xfrm>
          <a:prstGeom prst="rect">
            <a:avLst/>
          </a:prstGeom>
        </p:spPr>
      </p:pic>
      <p:pic>
        <p:nvPicPr>
          <p:cNvPr id="150" name="Graphic 149">
            <a:extLst>
              <a:ext uri="{FF2B5EF4-FFF2-40B4-BE49-F238E27FC236}">
                <a16:creationId xmlns:a16="http://schemas.microsoft.com/office/drawing/2014/main" id="{2B81BCC7-5CAD-A719-E3F5-B00825AB8278}"/>
              </a:ext>
            </a:extLst>
          </p:cNvPr>
          <p:cNvPicPr>
            <a:picLocks noChangeAspect="1"/>
          </p:cNvPicPr>
          <p:nvPr userDrawn="1"/>
        </p:nvPicPr>
        <p:blipFill>
          <a:blip>
            <a:extLst>
              <a:ext uri="{96DAC541-7B7A-43D3-8B79-37D633B846F1}">
                <asvg:svgBlip xmlns:asvg="http://schemas.microsoft.com/office/drawing/2016/SVG/main" r:embed="rId60"/>
              </a:ext>
            </a:extLst>
          </a:blip>
          <a:stretch>
            <a:fillRect/>
          </a:stretch>
        </p:blipFill>
        <p:spPr>
          <a:xfrm>
            <a:off x="9367039" y="1276086"/>
            <a:ext cx="519835" cy="519835"/>
          </a:xfrm>
          <a:prstGeom prst="rect">
            <a:avLst/>
          </a:prstGeom>
        </p:spPr>
      </p:pic>
      <p:pic>
        <p:nvPicPr>
          <p:cNvPr id="151" name="Graphic 150">
            <a:extLst>
              <a:ext uri="{FF2B5EF4-FFF2-40B4-BE49-F238E27FC236}">
                <a16:creationId xmlns:a16="http://schemas.microsoft.com/office/drawing/2014/main" id="{BAAD44A1-F9B5-4467-A162-D5AAE5612318}"/>
              </a:ext>
            </a:extLst>
          </p:cNvPr>
          <p:cNvPicPr>
            <a:picLocks noChangeAspect="1"/>
          </p:cNvPicPr>
          <p:nvPr userDrawn="1"/>
        </p:nvPicPr>
        <p:blipFill>
          <a:blip>
            <a:extLst>
              <a:ext uri="{96DAC541-7B7A-43D3-8B79-37D633B846F1}">
                <asvg:svgBlip xmlns:asvg="http://schemas.microsoft.com/office/drawing/2016/SVG/main" r:embed="rId61"/>
              </a:ext>
            </a:extLst>
          </a:blip>
          <a:stretch>
            <a:fillRect/>
          </a:stretch>
        </p:blipFill>
        <p:spPr>
          <a:xfrm>
            <a:off x="9374611" y="5705962"/>
            <a:ext cx="519835" cy="519835"/>
          </a:xfrm>
          <a:prstGeom prst="rect">
            <a:avLst/>
          </a:prstGeom>
        </p:spPr>
      </p:pic>
      <p:pic>
        <p:nvPicPr>
          <p:cNvPr id="152" name="Graphic 151">
            <a:extLst>
              <a:ext uri="{FF2B5EF4-FFF2-40B4-BE49-F238E27FC236}">
                <a16:creationId xmlns:a16="http://schemas.microsoft.com/office/drawing/2014/main" id="{F0F28743-963C-006B-0AE7-F4DA10E06EAD}"/>
              </a:ext>
            </a:extLst>
          </p:cNvPr>
          <p:cNvPicPr>
            <a:picLocks noChangeAspect="1"/>
          </p:cNvPicPr>
          <p:nvPr userDrawn="1"/>
        </p:nvPicPr>
        <p:blipFill>
          <a:blip>
            <a:extLst>
              <a:ext uri="{96DAC541-7B7A-43D3-8B79-37D633B846F1}">
                <asvg:svgBlip xmlns:asvg="http://schemas.microsoft.com/office/drawing/2016/SVG/main" r:embed="rId62"/>
              </a:ext>
            </a:extLst>
          </a:blip>
          <a:stretch>
            <a:fillRect/>
          </a:stretch>
        </p:blipFill>
        <p:spPr>
          <a:xfrm>
            <a:off x="10190030" y="1265451"/>
            <a:ext cx="519835" cy="519835"/>
          </a:xfrm>
          <a:prstGeom prst="rect">
            <a:avLst/>
          </a:prstGeom>
        </p:spPr>
      </p:pic>
      <p:pic>
        <p:nvPicPr>
          <p:cNvPr id="153" name="Graphic 152">
            <a:extLst>
              <a:ext uri="{FF2B5EF4-FFF2-40B4-BE49-F238E27FC236}">
                <a16:creationId xmlns:a16="http://schemas.microsoft.com/office/drawing/2014/main" id="{343F3925-8D5B-A2A5-AB59-017C19C2F77C}"/>
              </a:ext>
            </a:extLst>
          </p:cNvPr>
          <p:cNvPicPr>
            <a:picLocks noChangeAspect="1"/>
          </p:cNvPicPr>
          <p:nvPr userDrawn="1"/>
        </p:nvPicPr>
        <p:blipFill>
          <a:blip>
            <a:extLst>
              <a:ext uri="{96DAC541-7B7A-43D3-8B79-37D633B846F1}">
                <asvg:svgBlip xmlns:asvg="http://schemas.microsoft.com/office/drawing/2016/SVG/main" r:embed="rId63"/>
              </a:ext>
            </a:extLst>
          </a:blip>
          <a:stretch>
            <a:fillRect/>
          </a:stretch>
        </p:blipFill>
        <p:spPr>
          <a:xfrm>
            <a:off x="5921549" y="1323000"/>
            <a:ext cx="389877" cy="447636"/>
          </a:xfrm>
          <a:prstGeom prst="rect">
            <a:avLst/>
          </a:prstGeom>
        </p:spPr>
      </p:pic>
      <p:pic>
        <p:nvPicPr>
          <p:cNvPr id="154" name="Graphic 153">
            <a:extLst>
              <a:ext uri="{FF2B5EF4-FFF2-40B4-BE49-F238E27FC236}">
                <a16:creationId xmlns:a16="http://schemas.microsoft.com/office/drawing/2014/main" id="{6489ED69-4EFC-FB11-32B7-90C418006FCC}"/>
              </a:ext>
            </a:extLst>
          </p:cNvPr>
          <p:cNvPicPr>
            <a:picLocks noChangeAspect="1"/>
          </p:cNvPicPr>
          <p:nvPr userDrawn="1"/>
        </p:nvPicPr>
        <p:blipFill>
          <a:blip>
            <a:extLst>
              <a:ext uri="{96DAC541-7B7A-43D3-8B79-37D633B846F1}">
                <asvg:svgBlip xmlns:asvg="http://schemas.microsoft.com/office/drawing/2016/SVG/main" r:embed="rId64"/>
              </a:ext>
            </a:extLst>
          </a:blip>
          <a:stretch>
            <a:fillRect/>
          </a:stretch>
        </p:blipFill>
        <p:spPr>
          <a:xfrm>
            <a:off x="5050090" y="3070991"/>
            <a:ext cx="519835" cy="519835"/>
          </a:xfrm>
          <a:prstGeom prst="rect">
            <a:avLst/>
          </a:prstGeom>
        </p:spPr>
      </p:pic>
      <p:pic>
        <p:nvPicPr>
          <p:cNvPr id="155" name="Graphic 154">
            <a:extLst>
              <a:ext uri="{FF2B5EF4-FFF2-40B4-BE49-F238E27FC236}">
                <a16:creationId xmlns:a16="http://schemas.microsoft.com/office/drawing/2014/main" id="{6BEDF32A-06D7-C1BE-6D3A-D00F43159BBB}"/>
              </a:ext>
            </a:extLst>
          </p:cNvPr>
          <p:cNvPicPr>
            <a:picLocks noChangeAspect="1"/>
          </p:cNvPicPr>
          <p:nvPr userDrawn="1"/>
        </p:nvPicPr>
        <p:blipFill>
          <a:blip>
            <a:extLst>
              <a:ext uri="{96DAC541-7B7A-43D3-8B79-37D633B846F1}">
                <asvg:svgBlip xmlns:asvg="http://schemas.microsoft.com/office/drawing/2016/SVG/main" r:embed="rId65"/>
              </a:ext>
            </a:extLst>
          </a:blip>
          <a:stretch>
            <a:fillRect/>
          </a:stretch>
        </p:blipFill>
        <p:spPr>
          <a:xfrm>
            <a:off x="5035661" y="2152475"/>
            <a:ext cx="519835" cy="519835"/>
          </a:xfrm>
          <a:prstGeom prst="rect">
            <a:avLst/>
          </a:prstGeom>
        </p:spPr>
      </p:pic>
      <p:pic>
        <p:nvPicPr>
          <p:cNvPr id="156" name="Graphic 155">
            <a:extLst>
              <a:ext uri="{FF2B5EF4-FFF2-40B4-BE49-F238E27FC236}">
                <a16:creationId xmlns:a16="http://schemas.microsoft.com/office/drawing/2014/main" id="{0C02FEED-12B2-6F24-1FD5-2D7C9CAF9DA4}"/>
              </a:ext>
            </a:extLst>
          </p:cNvPr>
          <p:cNvPicPr>
            <a:picLocks noChangeAspect="1"/>
          </p:cNvPicPr>
          <p:nvPr userDrawn="1"/>
        </p:nvPicPr>
        <p:blipFill>
          <a:blip>
            <a:extLst>
              <a:ext uri="{96DAC541-7B7A-43D3-8B79-37D633B846F1}">
                <asvg:svgBlip xmlns:asvg="http://schemas.microsoft.com/office/drawing/2016/SVG/main" r:embed="rId66"/>
              </a:ext>
            </a:extLst>
          </a:blip>
          <a:stretch>
            <a:fillRect/>
          </a:stretch>
        </p:blipFill>
        <p:spPr>
          <a:xfrm>
            <a:off x="10185894" y="5728330"/>
            <a:ext cx="519835" cy="519835"/>
          </a:xfrm>
          <a:prstGeom prst="rect">
            <a:avLst/>
          </a:prstGeom>
        </p:spPr>
      </p:pic>
      <p:pic>
        <p:nvPicPr>
          <p:cNvPr id="157" name="Graphic 156">
            <a:extLst>
              <a:ext uri="{FF2B5EF4-FFF2-40B4-BE49-F238E27FC236}">
                <a16:creationId xmlns:a16="http://schemas.microsoft.com/office/drawing/2014/main" id="{DF05D93B-E83E-46BF-3182-E812E28129B1}"/>
              </a:ext>
            </a:extLst>
          </p:cNvPr>
          <p:cNvPicPr>
            <a:picLocks noChangeAspect="1"/>
          </p:cNvPicPr>
          <p:nvPr userDrawn="1"/>
        </p:nvPicPr>
        <p:blipFill>
          <a:blip>
            <a:extLst>
              <a:ext uri="{96DAC541-7B7A-43D3-8B79-37D633B846F1}">
                <asvg:svgBlip xmlns:asvg="http://schemas.microsoft.com/office/drawing/2016/SVG/main" r:embed="rId67"/>
              </a:ext>
            </a:extLst>
          </a:blip>
          <a:stretch>
            <a:fillRect/>
          </a:stretch>
        </p:blipFill>
        <p:spPr>
          <a:xfrm>
            <a:off x="8501759" y="1259713"/>
            <a:ext cx="519835" cy="519835"/>
          </a:xfrm>
          <a:prstGeom prst="rect">
            <a:avLst/>
          </a:prstGeom>
        </p:spPr>
      </p:pic>
      <p:pic>
        <p:nvPicPr>
          <p:cNvPr id="158" name="Graphic 157">
            <a:extLst>
              <a:ext uri="{FF2B5EF4-FFF2-40B4-BE49-F238E27FC236}">
                <a16:creationId xmlns:a16="http://schemas.microsoft.com/office/drawing/2014/main" id="{DD6EB24C-6C12-54BF-7F9E-38E988CDE407}"/>
              </a:ext>
            </a:extLst>
          </p:cNvPr>
          <p:cNvPicPr>
            <a:picLocks noChangeAspect="1"/>
          </p:cNvPicPr>
          <p:nvPr userDrawn="1"/>
        </p:nvPicPr>
        <p:blipFill>
          <a:blip>
            <a:extLst>
              <a:ext uri="{96DAC541-7B7A-43D3-8B79-37D633B846F1}">
                <asvg:svgBlip xmlns:asvg="http://schemas.microsoft.com/office/drawing/2016/SVG/main" r:embed="rId68"/>
              </a:ext>
            </a:extLst>
          </a:blip>
          <a:stretch>
            <a:fillRect/>
          </a:stretch>
        </p:blipFill>
        <p:spPr>
          <a:xfrm>
            <a:off x="10185895" y="3082140"/>
            <a:ext cx="519835" cy="519835"/>
          </a:xfrm>
          <a:prstGeom prst="rect">
            <a:avLst/>
          </a:prstGeom>
        </p:spPr>
      </p:pic>
      <p:pic>
        <p:nvPicPr>
          <p:cNvPr id="159" name="Graphic 158">
            <a:extLst>
              <a:ext uri="{FF2B5EF4-FFF2-40B4-BE49-F238E27FC236}">
                <a16:creationId xmlns:a16="http://schemas.microsoft.com/office/drawing/2014/main" id="{35781F1B-956F-DE39-5AA3-E920D3A62259}"/>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a:xfrm>
            <a:off x="6723411" y="2163312"/>
            <a:ext cx="519835" cy="519835"/>
          </a:xfrm>
          <a:prstGeom prst="rect">
            <a:avLst/>
          </a:prstGeom>
        </p:spPr>
      </p:pic>
      <p:pic>
        <p:nvPicPr>
          <p:cNvPr id="160" name="Graphic 159">
            <a:extLst>
              <a:ext uri="{FF2B5EF4-FFF2-40B4-BE49-F238E27FC236}">
                <a16:creationId xmlns:a16="http://schemas.microsoft.com/office/drawing/2014/main" id="{E356A77D-9446-AB70-5E87-E6FAE39B0DEE}"/>
              </a:ext>
            </a:extLst>
          </p:cNvPr>
          <p:cNvPicPr>
            <a:picLocks noChangeAspect="1"/>
          </p:cNvPicPr>
          <p:nvPr userDrawn="1"/>
        </p:nvPicPr>
        <p:blipFill>
          <a:blip>
            <a:extLst>
              <a:ext uri="{96DAC541-7B7A-43D3-8B79-37D633B846F1}">
                <asvg:svgBlip xmlns:asvg="http://schemas.microsoft.com/office/drawing/2016/SVG/main" r:embed="rId70"/>
              </a:ext>
            </a:extLst>
          </a:blip>
          <a:stretch>
            <a:fillRect/>
          </a:stretch>
        </p:blipFill>
        <p:spPr>
          <a:xfrm>
            <a:off x="11037957" y="5705962"/>
            <a:ext cx="519835" cy="519835"/>
          </a:xfrm>
          <a:prstGeom prst="rect">
            <a:avLst/>
          </a:prstGeom>
        </p:spPr>
      </p:pic>
      <p:pic>
        <p:nvPicPr>
          <p:cNvPr id="161" name="Graphic 160">
            <a:extLst>
              <a:ext uri="{FF2B5EF4-FFF2-40B4-BE49-F238E27FC236}">
                <a16:creationId xmlns:a16="http://schemas.microsoft.com/office/drawing/2014/main" id="{5691E867-E960-210B-F517-4D24FD25A261}"/>
              </a:ext>
            </a:extLst>
          </p:cNvPr>
          <p:cNvPicPr>
            <a:picLocks noChangeAspect="1"/>
          </p:cNvPicPr>
          <p:nvPr userDrawn="1"/>
        </p:nvPicPr>
        <p:blipFill>
          <a:blip>
            <a:extLst>
              <a:ext uri="{96DAC541-7B7A-43D3-8B79-37D633B846F1}">
                <asvg:svgBlip xmlns:asvg="http://schemas.microsoft.com/office/drawing/2016/SVG/main" r:embed="rId71"/>
              </a:ext>
            </a:extLst>
          </a:blip>
          <a:stretch>
            <a:fillRect/>
          </a:stretch>
        </p:blipFill>
        <p:spPr>
          <a:xfrm>
            <a:off x="7622471" y="5705962"/>
            <a:ext cx="519835" cy="519835"/>
          </a:xfrm>
          <a:prstGeom prst="rect">
            <a:avLst/>
          </a:prstGeom>
        </p:spPr>
      </p:pic>
      <p:sp>
        <p:nvSpPr>
          <p:cNvPr id="162" name="TextBox 161">
            <a:extLst>
              <a:ext uri="{FF2B5EF4-FFF2-40B4-BE49-F238E27FC236}">
                <a16:creationId xmlns:a16="http://schemas.microsoft.com/office/drawing/2014/main" id="{5B14133E-F466-1B1B-CBA7-046FD8E3EFE9}"/>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Tree>
    <p:extLst>
      <p:ext uri="{BB962C8B-B14F-4D97-AF65-F5344CB8AC3E}">
        <p14:creationId xmlns:p14="http://schemas.microsoft.com/office/powerpoint/2010/main" val="37296899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Icons8">
    <p:bg>
      <p:bgPr>
        <a:solidFill>
          <a:srgbClr val="7F7F7F"/>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74AE1FBB-45CE-700E-3C71-3623F84B4C7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505223" y="1286447"/>
            <a:ext cx="502200" cy="502200"/>
          </a:xfrm>
          <a:prstGeom prst="rect">
            <a:avLst/>
          </a:prstGeom>
        </p:spPr>
      </p:pic>
      <p:pic>
        <p:nvPicPr>
          <p:cNvPr id="3" name="Graphic 2">
            <a:extLst>
              <a:ext uri="{FF2B5EF4-FFF2-40B4-BE49-F238E27FC236}">
                <a16:creationId xmlns:a16="http://schemas.microsoft.com/office/drawing/2014/main" id="{FFBB37E1-7DBC-F906-AC89-720F09D2161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068680" y="1290753"/>
            <a:ext cx="502200" cy="502200"/>
          </a:xfrm>
          <a:prstGeom prst="rect">
            <a:avLst/>
          </a:prstGeom>
        </p:spPr>
      </p:pic>
      <p:pic>
        <p:nvPicPr>
          <p:cNvPr id="5" name="Graphic 4">
            <a:extLst>
              <a:ext uri="{FF2B5EF4-FFF2-40B4-BE49-F238E27FC236}">
                <a16:creationId xmlns:a16="http://schemas.microsoft.com/office/drawing/2014/main" id="{EDFC7192-AC2F-D2C5-F80F-2E8FB868289B}"/>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2403407" y="1285755"/>
            <a:ext cx="502200" cy="502200"/>
          </a:xfrm>
          <a:prstGeom prst="rect">
            <a:avLst/>
          </a:prstGeom>
        </p:spPr>
      </p:pic>
      <p:pic>
        <p:nvPicPr>
          <p:cNvPr id="94" name="Graphic 93">
            <a:extLst>
              <a:ext uri="{FF2B5EF4-FFF2-40B4-BE49-F238E27FC236}">
                <a16:creationId xmlns:a16="http://schemas.microsoft.com/office/drawing/2014/main" id="{D266A995-5875-A7F5-19A7-9258AFD4742F}"/>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10211178" y="1314473"/>
            <a:ext cx="502200" cy="502200"/>
          </a:xfrm>
          <a:prstGeom prst="rect">
            <a:avLst/>
          </a:prstGeom>
        </p:spPr>
      </p:pic>
      <p:pic>
        <p:nvPicPr>
          <p:cNvPr id="95" name="Graphic 94">
            <a:extLst>
              <a:ext uri="{FF2B5EF4-FFF2-40B4-BE49-F238E27FC236}">
                <a16:creationId xmlns:a16="http://schemas.microsoft.com/office/drawing/2014/main" id="{73EAD90C-48EC-B928-5CD9-9456139C1532}"/>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7625553" y="1282456"/>
            <a:ext cx="502200" cy="502200"/>
          </a:xfrm>
          <a:prstGeom prst="rect">
            <a:avLst/>
          </a:prstGeom>
        </p:spPr>
      </p:pic>
      <p:pic>
        <p:nvPicPr>
          <p:cNvPr id="128" name="Graphic 127">
            <a:extLst>
              <a:ext uri="{FF2B5EF4-FFF2-40B4-BE49-F238E27FC236}">
                <a16:creationId xmlns:a16="http://schemas.microsoft.com/office/drawing/2014/main" id="{9D7DA479-2A55-3BFF-4D07-3B11D459B4E5}"/>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a:xfrm>
            <a:off x="9378592" y="1284471"/>
            <a:ext cx="502200" cy="502200"/>
          </a:xfrm>
          <a:prstGeom prst="rect">
            <a:avLst/>
          </a:prstGeom>
        </p:spPr>
      </p:pic>
      <p:pic>
        <p:nvPicPr>
          <p:cNvPr id="129" name="Graphic 128">
            <a:extLst>
              <a:ext uri="{FF2B5EF4-FFF2-40B4-BE49-F238E27FC236}">
                <a16:creationId xmlns:a16="http://schemas.microsoft.com/office/drawing/2014/main" id="{51C24A5B-4B92-01FE-6564-8EEC771D84C1}"/>
              </a:ext>
            </a:extLst>
          </p:cNvPr>
          <p:cNvPicPr>
            <a:picLocks noChangeAspect="1"/>
          </p:cNvPicPr>
          <p:nvPr userDrawn="1"/>
        </p:nvPicPr>
        <p:blipFill>
          <a:blip>
            <a:extLst>
              <a:ext uri="{96DAC541-7B7A-43D3-8B79-37D633B846F1}">
                <asvg:svgBlip xmlns:asvg="http://schemas.microsoft.com/office/drawing/2016/SVG/main" r:embed="rId8"/>
              </a:ext>
            </a:extLst>
          </a:blip>
          <a:stretch>
            <a:fillRect/>
          </a:stretch>
        </p:blipFill>
        <p:spPr>
          <a:xfrm>
            <a:off x="4207220" y="1283632"/>
            <a:ext cx="502200" cy="502200"/>
          </a:xfrm>
          <a:prstGeom prst="rect">
            <a:avLst/>
          </a:prstGeom>
        </p:spPr>
      </p:pic>
      <p:pic>
        <p:nvPicPr>
          <p:cNvPr id="130" name="Graphic 129">
            <a:extLst>
              <a:ext uri="{FF2B5EF4-FFF2-40B4-BE49-F238E27FC236}">
                <a16:creationId xmlns:a16="http://schemas.microsoft.com/office/drawing/2014/main" id="{8490971F-2350-2C46-0744-FF1A4598B90B}"/>
              </a:ext>
            </a:extLst>
          </p:cNvPr>
          <p:cNvPicPr>
            <a:picLocks noChangeAspect="1"/>
          </p:cNvPicPr>
          <p:nvPr userDrawn="1"/>
        </p:nvPicPr>
        <p:blipFill>
          <a:blip>
            <a:extLst>
              <a:ext uri="{96DAC541-7B7A-43D3-8B79-37D633B846F1}">
                <asvg:svgBlip xmlns:asvg="http://schemas.microsoft.com/office/drawing/2016/SVG/main" r:embed="rId9"/>
              </a:ext>
            </a:extLst>
          </a:blip>
          <a:stretch>
            <a:fillRect/>
          </a:stretch>
        </p:blipFill>
        <p:spPr>
          <a:xfrm>
            <a:off x="1491337" y="1289356"/>
            <a:ext cx="502200" cy="502200"/>
          </a:xfrm>
          <a:prstGeom prst="rect">
            <a:avLst/>
          </a:prstGeom>
        </p:spPr>
      </p:pic>
      <p:pic>
        <p:nvPicPr>
          <p:cNvPr id="131" name="Graphic 130">
            <a:extLst>
              <a:ext uri="{FF2B5EF4-FFF2-40B4-BE49-F238E27FC236}">
                <a16:creationId xmlns:a16="http://schemas.microsoft.com/office/drawing/2014/main" id="{5D420FD0-E5D1-5B37-4EBB-A14393DB15A1}"/>
              </a:ext>
            </a:extLst>
          </p:cNvPr>
          <p:cNvPicPr>
            <a:picLocks noChangeAspect="1"/>
          </p:cNvPicPr>
          <p:nvPr userDrawn="1"/>
        </p:nvPicPr>
        <p:blipFill>
          <a:blip>
            <a:extLst>
              <a:ext uri="{96DAC541-7B7A-43D3-8B79-37D633B846F1}">
                <asvg:svgBlip xmlns:asvg="http://schemas.microsoft.com/office/drawing/2016/SVG/main" r:embed="rId10"/>
              </a:ext>
            </a:extLst>
          </a:blip>
          <a:stretch>
            <a:fillRect/>
          </a:stretch>
        </p:blipFill>
        <p:spPr>
          <a:xfrm>
            <a:off x="628954" y="1292894"/>
            <a:ext cx="502200" cy="502200"/>
          </a:xfrm>
          <a:prstGeom prst="rect">
            <a:avLst/>
          </a:prstGeom>
        </p:spPr>
      </p:pic>
      <p:pic>
        <p:nvPicPr>
          <p:cNvPr id="163" name="Graphic 162">
            <a:extLst>
              <a:ext uri="{FF2B5EF4-FFF2-40B4-BE49-F238E27FC236}">
                <a16:creationId xmlns:a16="http://schemas.microsoft.com/office/drawing/2014/main" id="{F31949E4-A646-9B40-24AD-1D54F7F0A87F}"/>
              </a:ext>
            </a:extLst>
          </p:cNvPr>
          <p:cNvPicPr>
            <a:picLocks noChangeAspect="1"/>
          </p:cNvPicPr>
          <p:nvPr userDrawn="1"/>
        </p:nvPicPr>
        <p:blipFill>
          <a:blip>
            <a:extLst>
              <a:ext uri="{96DAC541-7B7A-43D3-8B79-37D633B846F1}">
                <asvg:svgBlip xmlns:asvg="http://schemas.microsoft.com/office/drawing/2016/SVG/main" r:embed="rId11"/>
              </a:ext>
            </a:extLst>
          </a:blip>
          <a:stretch>
            <a:fillRect/>
          </a:stretch>
        </p:blipFill>
        <p:spPr>
          <a:xfrm>
            <a:off x="3296278" y="1292061"/>
            <a:ext cx="502200" cy="502200"/>
          </a:xfrm>
          <a:prstGeom prst="rect">
            <a:avLst/>
          </a:prstGeom>
        </p:spPr>
      </p:pic>
      <p:pic>
        <p:nvPicPr>
          <p:cNvPr id="164" name="Graphic 163">
            <a:extLst>
              <a:ext uri="{FF2B5EF4-FFF2-40B4-BE49-F238E27FC236}">
                <a16:creationId xmlns:a16="http://schemas.microsoft.com/office/drawing/2014/main" id="{ADDD48C7-63C0-3F8F-EC47-A51B403B8E65}"/>
              </a:ext>
            </a:extLst>
          </p:cNvPr>
          <p:cNvPicPr>
            <a:picLocks noChangeAspect="1"/>
          </p:cNvPicPr>
          <p:nvPr userDrawn="1"/>
        </p:nvPicPr>
        <p:blipFill>
          <a:blip>
            <a:extLst>
              <a:ext uri="{96DAC541-7B7A-43D3-8B79-37D633B846F1}">
                <asvg:svgBlip xmlns:asvg="http://schemas.microsoft.com/office/drawing/2016/SVG/main" r:embed="rId12"/>
              </a:ext>
            </a:extLst>
          </a:blip>
          <a:stretch>
            <a:fillRect/>
          </a:stretch>
        </p:blipFill>
        <p:spPr>
          <a:xfrm>
            <a:off x="5883186" y="1292061"/>
            <a:ext cx="502200" cy="502200"/>
          </a:xfrm>
          <a:prstGeom prst="rect">
            <a:avLst/>
          </a:prstGeom>
        </p:spPr>
      </p:pic>
      <p:pic>
        <p:nvPicPr>
          <p:cNvPr id="165" name="Graphic 164">
            <a:extLst>
              <a:ext uri="{FF2B5EF4-FFF2-40B4-BE49-F238E27FC236}">
                <a16:creationId xmlns:a16="http://schemas.microsoft.com/office/drawing/2014/main" id="{69756813-69A3-18BB-7B5B-38DF644AD02D}"/>
              </a:ext>
            </a:extLst>
          </p:cNvPr>
          <p:cNvPicPr>
            <a:picLocks noChangeAspect="1"/>
          </p:cNvPicPr>
          <p:nvPr userDrawn="1"/>
        </p:nvPicPr>
        <p:blipFill>
          <a:blip>
            <a:extLst>
              <a:ext uri="{96DAC541-7B7A-43D3-8B79-37D633B846F1}">
                <asvg:svgBlip xmlns:asvg="http://schemas.microsoft.com/office/drawing/2016/SVG/main" r:embed="rId13"/>
              </a:ext>
            </a:extLst>
          </a:blip>
          <a:stretch>
            <a:fillRect/>
          </a:stretch>
        </p:blipFill>
        <p:spPr>
          <a:xfrm>
            <a:off x="6723623" y="2142835"/>
            <a:ext cx="502200" cy="502200"/>
          </a:xfrm>
          <a:prstGeom prst="rect">
            <a:avLst/>
          </a:prstGeom>
        </p:spPr>
      </p:pic>
      <p:grpSp>
        <p:nvGrpSpPr>
          <p:cNvPr id="166" name="Graphic 18">
            <a:extLst>
              <a:ext uri="{FF2B5EF4-FFF2-40B4-BE49-F238E27FC236}">
                <a16:creationId xmlns:a16="http://schemas.microsoft.com/office/drawing/2014/main" id="{0F55A05C-EC8A-2E7E-F7B9-4960F06B6BED}"/>
              </a:ext>
            </a:extLst>
          </p:cNvPr>
          <p:cNvGrpSpPr/>
          <p:nvPr userDrawn="1"/>
        </p:nvGrpSpPr>
        <p:grpSpPr>
          <a:xfrm>
            <a:off x="8505223" y="2148077"/>
            <a:ext cx="502200" cy="509375"/>
            <a:chOff x="11832554" y="11446311"/>
            <a:chExt cx="1004400" cy="1018749"/>
          </a:xfrm>
        </p:grpSpPr>
        <p:sp>
          <p:nvSpPr>
            <p:cNvPr id="167" name="Freeform 15">
              <a:extLst>
                <a:ext uri="{FF2B5EF4-FFF2-40B4-BE49-F238E27FC236}">
                  <a16:creationId xmlns:a16="http://schemas.microsoft.com/office/drawing/2014/main" id="{CCC35536-251F-2900-BA94-40CAB6BAC177}"/>
                </a:ext>
              </a:extLst>
            </p:cNvPr>
            <p:cNvSpPr/>
            <p:nvPr/>
          </p:nvSpPr>
          <p:spPr>
            <a:xfrm>
              <a:off x="12248738" y="11525237"/>
              <a:ext cx="175449" cy="176082"/>
            </a:xfrm>
            <a:custGeom>
              <a:avLst/>
              <a:gdLst>
                <a:gd name="connsiteX0" fmla="*/ 175449 w 175449"/>
                <a:gd name="connsiteY0" fmla="*/ 88041 h 176082"/>
                <a:gd name="connsiteX1" fmla="*/ 87725 w 175449"/>
                <a:gd name="connsiteY1" fmla="*/ 176083 h 176082"/>
                <a:gd name="connsiteX2" fmla="*/ 0 w 175449"/>
                <a:gd name="connsiteY2" fmla="*/ 88041 h 176082"/>
                <a:gd name="connsiteX3" fmla="*/ 87725 w 175449"/>
                <a:gd name="connsiteY3" fmla="*/ 0 h 176082"/>
                <a:gd name="connsiteX4" fmla="*/ 175449 w 175449"/>
                <a:gd name="connsiteY4" fmla="*/ 88041 h 176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449" h="176082">
                  <a:moveTo>
                    <a:pt x="175449" y="88041"/>
                  </a:moveTo>
                  <a:cubicBezTo>
                    <a:pt x="175449" y="136665"/>
                    <a:pt x="136174" y="176083"/>
                    <a:pt x="87725" y="176083"/>
                  </a:cubicBezTo>
                  <a:cubicBezTo>
                    <a:pt x="39276" y="176083"/>
                    <a:pt x="0" y="136665"/>
                    <a:pt x="0" y="88041"/>
                  </a:cubicBezTo>
                  <a:cubicBezTo>
                    <a:pt x="0" y="39417"/>
                    <a:pt x="39276" y="0"/>
                    <a:pt x="87725" y="0"/>
                  </a:cubicBezTo>
                  <a:cubicBezTo>
                    <a:pt x="136174" y="0"/>
                    <a:pt x="175449" y="39417"/>
                    <a:pt x="175449" y="88041"/>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8" name="Freeform 16">
              <a:extLst>
                <a:ext uri="{FF2B5EF4-FFF2-40B4-BE49-F238E27FC236}">
                  <a16:creationId xmlns:a16="http://schemas.microsoft.com/office/drawing/2014/main" id="{F6759029-A22D-CA0C-829E-B8653CA0C63A}"/>
                </a:ext>
              </a:extLst>
            </p:cNvPr>
            <p:cNvSpPr/>
            <p:nvPr/>
          </p:nvSpPr>
          <p:spPr>
            <a:xfrm>
              <a:off x="12018616" y="11496853"/>
              <a:ext cx="631275" cy="249953"/>
            </a:xfrm>
            <a:custGeom>
              <a:avLst/>
              <a:gdLst>
                <a:gd name="connsiteX0" fmla="*/ 18985 w 631275"/>
                <a:gd name="connsiteY0" fmla="*/ 249720 h 249953"/>
                <a:gd name="connsiteX1" fmla="*/ 232 w 631275"/>
                <a:gd name="connsiteY1" fmla="*/ 236369 h 249953"/>
                <a:gd name="connsiteX2" fmla="*/ 13535 w 631275"/>
                <a:gd name="connsiteY2" fmla="*/ 217549 h 249953"/>
                <a:gd name="connsiteX3" fmla="*/ 608803 w 631275"/>
                <a:gd name="connsiteY3" fmla="*/ 1360 h 249953"/>
                <a:gd name="connsiteX4" fmla="*/ 629921 w 631275"/>
                <a:gd name="connsiteY4" fmla="*/ 9625 h 249953"/>
                <a:gd name="connsiteX5" fmla="*/ 621685 w 631275"/>
                <a:gd name="connsiteY5" fmla="*/ 30819 h 249953"/>
                <a:gd name="connsiteX6" fmla="*/ 619488 w 631275"/>
                <a:gd name="connsiteY6" fmla="*/ 31601 h 249953"/>
                <a:gd name="connsiteX7" fmla="*/ 24434 w 631275"/>
                <a:gd name="connsiteY7" fmla="*/ 248219 h 249953"/>
                <a:gd name="connsiteX8" fmla="*/ 18985 w 631275"/>
                <a:gd name="connsiteY8" fmla="*/ 249720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275" h="249953">
                  <a:moveTo>
                    <a:pt x="18985" y="249720"/>
                  </a:moveTo>
                  <a:cubicBezTo>
                    <a:pt x="10133" y="251230"/>
                    <a:pt x="1737" y="245253"/>
                    <a:pt x="232" y="236369"/>
                  </a:cubicBezTo>
                  <a:cubicBezTo>
                    <a:pt x="-1272" y="227486"/>
                    <a:pt x="4684" y="219059"/>
                    <a:pt x="13535" y="217549"/>
                  </a:cubicBezTo>
                  <a:lnTo>
                    <a:pt x="608803" y="1360"/>
                  </a:lnTo>
                  <a:cubicBezTo>
                    <a:pt x="616908" y="-2210"/>
                    <a:pt x="626363" y="1490"/>
                    <a:pt x="629921" y="9625"/>
                  </a:cubicBezTo>
                  <a:cubicBezTo>
                    <a:pt x="633478" y="17760"/>
                    <a:pt x="629790" y="27249"/>
                    <a:pt x="621685" y="30819"/>
                  </a:cubicBezTo>
                  <a:cubicBezTo>
                    <a:pt x="620972" y="31133"/>
                    <a:pt x="620238" y="31394"/>
                    <a:pt x="619488" y="31601"/>
                  </a:cubicBezTo>
                  <a:lnTo>
                    <a:pt x="24434" y="248219"/>
                  </a:lnTo>
                  <a:cubicBezTo>
                    <a:pt x="22719" y="249035"/>
                    <a:pt x="20875" y="249543"/>
                    <a:pt x="18985" y="24972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69" name="Freeform 17">
              <a:extLst>
                <a:ext uri="{FF2B5EF4-FFF2-40B4-BE49-F238E27FC236}">
                  <a16:creationId xmlns:a16="http://schemas.microsoft.com/office/drawing/2014/main" id="{B243305A-33EA-DA94-E7E4-A5AC713C08BE}"/>
                </a:ext>
              </a:extLst>
            </p:cNvPr>
            <p:cNvSpPr/>
            <p:nvPr/>
          </p:nvSpPr>
          <p:spPr>
            <a:xfrm>
              <a:off x="11892872" y="11728179"/>
              <a:ext cx="191659" cy="290882"/>
            </a:xfrm>
            <a:custGeom>
              <a:avLst/>
              <a:gdLst>
                <a:gd name="connsiteX0" fmla="*/ 16080 w 191659"/>
                <a:gd name="connsiteY0" fmla="*/ 290883 h 290882"/>
                <a:gd name="connsiteX1" fmla="*/ 0 w 191659"/>
                <a:gd name="connsiteY1" fmla="*/ 274850 h 290882"/>
                <a:gd name="connsiteX2" fmla="*/ 2403 w 191659"/>
                <a:gd name="connsiteY2" fmla="*/ 266325 h 290882"/>
                <a:gd name="connsiteX3" fmla="*/ 162039 w 191659"/>
                <a:gd name="connsiteY3" fmla="*/ 7670 h 290882"/>
                <a:gd name="connsiteX4" fmla="*/ 183917 w 191659"/>
                <a:gd name="connsiteY4" fmla="*/ 2333 h 290882"/>
                <a:gd name="connsiteX5" fmla="*/ 184050 w 191659"/>
                <a:gd name="connsiteY5" fmla="*/ 2416 h 290882"/>
                <a:gd name="connsiteX6" fmla="*/ 189286 w 191659"/>
                <a:gd name="connsiteY6" fmla="*/ 24614 h 290882"/>
                <a:gd name="connsiteX7" fmla="*/ 29757 w 191659"/>
                <a:gd name="connsiteY7" fmla="*/ 283269 h 290882"/>
                <a:gd name="connsiteX8" fmla="*/ 16080 w 191659"/>
                <a:gd name="connsiteY8" fmla="*/ 290883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59" h="290882">
                  <a:moveTo>
                    <a:pt x="16080" y="290883"/>
                  </a:moveTo>
                  <a:cubicBezTo>
                    <a:pt x="7228" y="290912"/>
                    <a:pt x="29" y="283733"/>
                    <a:pt x="0" y="274850"/>
                  </a:cubicBezTo>
                  <a:cubicBezTo>
                    <a:pt x="-10" y="271839"/>
                    <a:pt x="823" y="268885"/>
                    <a:pt x="2403" y="266325"/>
                  </a:cubicBezTo>
                  <a:lnTo>
                    <a:pt x="162039" y="7670"/>
                  </a:lnTo>
                  <a:cubicBezTo>
                    <a:pt x="166612" y="134"/>
                    <a:pt x="176407" y="-2256"/>
                    <a:pt x="183917" y="2333"/>
                  </a:cubicBezTo>
                  <a:cubicBezTo>
                    <a:pt x="183961" y="2361"/>
                    <a:pt x="184006" y="2388"/>
                    <a:pt x="184050" y="2416"/>
                  </a:cubicBezTo>
                  <a:cubicBezTo>
                    <a:pt x="191573" y="7116"/>
                    <a:pt x="193911" y="17027"/>
                    <a:pt x="189286" y="24614"/>
                  </a:cubicBezTo>
                  <a:lnTo>
                    <a:pt x="29757" y="283269"/>
                  </a:lnTo>
                  <a:cubicBezTo>
                    <a:pt x="26810" y="288003"/>
                    <a:pt x="21642" y="290881"/>
                    <a:pt x="16080" y="290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0" name="Freeform 18">
              <a:extLst>
                <a:ext uri="{FF2B5EF4-FFF2-40B4-BE49-F238E27FC236}">
                  <a16:creationId xmlns:a16="http://schemas.microsoft.com/office/drawing/2014/main" id="{9F954941-AD43-AE02-8ECB-062CF6A0BB5B}"/>
                </a:ext>
              </a:extLst>
            </p:cNvPr>
            <p:cNvSpPr/>
            <p:nvPr/>
          </p:nvSpPr>
          <p:spPr>
            <a:xfrm>
              <a:off x="12047598" y="11721004"/>
              <a:ext cx="195777" cy="298164"/>
            </a:xfrm>
            <a:custGeom>
              <a:avLst/>
              <a:gdLst>
                <a:gd name="connsiteX0" fmla="*/ 180304 w 195777"/>
                <a:gd name="connsiteY0" fmla="*/ 298165 h 298164"/>
                <a:gd name="connsiteX1" fmla="*/ 166627 w 195777"/>
                <a:gd name="connsiteY1" fmla="*/ 290444 h 298164"/>
                <a:gd name="connsiteX2" fmla="*/ 2397 w 195777"/>
                <a:gd name="connsiteY2" fmla="*/ 24604 h 298164"/>
                <a:gd name="connsiteX3" fmla="*/ 7633 w 195777"/>
                <a:gd name="connsiteY3" fmla="*/ 2406 h 298164"/>
                <a:gd name="connsiteX4" fmla="*/ 29751 w 195777"/>
                <a:gd name="connsiteY4" fmla="*/ 7661 h 298164"/>
                <a:gd name="connsiteX5" fmla="*/ 193447 w 195777"/>
                <a:gd name="connsiteY5" fmla="*/ 273608 h 298164"/>
                <a:gd name="connsiteX6" fmla="*/ 187988 w 195777"/>
                <a:gd name="connsiteY6" fmla="*/ 295842 h 298164"/>
                <a:gd name="connsiteX7" fmla="*/ 180304 w 195777"/>
                <a:gd name="connsiteY7" fmla="*/ 298165 h 29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77" h="298164">
                  <a:moveTo>
                    <a:pt x="180304" y="298165"/>
                  </a:moveTo>
                  <a:cubicBezTo>
                    <a:pt x="174716" y="298161"/>
                    <a:pt x="169534" y="295234"/>
                    <a:pt x="166627" y="290444"/>
                  </a:cubicBezTo>
                  <a:lnTo>
                    <a:pt x="2397" y="24604"/>
                  </a:lnTo>
                  <a:cubicBezTo>
                    <a:pt x="-2265" y="17023"/>
                    <a:pt x="80" y="7085"/>
                    <a:pt x="7633" y="2406"/>
                  </a:cubicBezTo>
                  <a:cubicBezTo>
                    <a:pt x="15186" y="-2273"/>
                    <a:pt x="25089" y="80"/>
                    <a:pt x="29751" y="7661"/>
                  </a:cubicBezTo>
                  <a:lnTo>
                    <a:pt x="193447" y="273608"/>
                  </a:lnTo>
                  <a:cubicBezTo>
                    <a:pt x="198058" y="281260"/>
                    <a:pt x="195614" y="291216"/>
                    <a:pt x="187988" y="295842"/>
                  </a:cubicBezTo>
                  <a:cubicBezTo>
                    <a:pt x="185663" y="297253"/>
                    <a:pt x="183019" y="298052"/>
                    <a:pt x="180304" y="29816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1" name="Freeform 19">
              <a:extLst>
                <a:ext uri="{FF2B5EF4-FFF2-40B4-BE49-F238E27FC236}">
                  <a16:creationId xmlns:a16="http://schemas.microsoft.com/office/drawing/2014/main" id="{C67DB67D-2FD5-6DBB-9778-4FD6D180E8AF}"/>
                </a:ext>
              </a:extLst>
            </p:cNvPr>
            <p:cNvSpPr/>
            <p:nvPr/>
          </p:nvSpPr>
          <p:spPr>
            <a:xfrm>
              <a:off x="11893138" y="11999867"/>
              <a:ext cx="350792" cy="171738"/>
            </a:xfrm>
            <a:custGeom>
              <a:avLst/>
              <a:gdLst>
                <a:gd name="connsiteX0" fmla="*/ 0 w 350792"/>
                <a:gd name="connsiteY0" fmla="*/ 0 h 171738"/>
                <a:gd name="connsiteX1" fmla="*/ 179726 w 350792"/>
                <a:gd name="connsiteY1" fmla="*/ 171684 h 171738"/>
                <a:gd name="connsiteX2" fmla="*/ 350792 w 350792"/>
                <a:gd name="connsiteY2" fmla="*/ 0 h 171738"/>
              </a:gdLst>
              <a:ahLst/>
              <a:cxnLst>
                <a:cxn ang="0">
                  <a:pos x="connsiteX0" y="connsiteY0"/>
                </a:cxn>
                <a:cxn ang="0">
                  <a:pos x="connsiteX1" y="connsiteY1"/>
                </a:cxn>
                <a:cxn ang="0">
                  <a:pos x="connsiteX2" y="connsiteY2"/>
                </a:cxn>
              </a:cxnLst>
              <a:rect l="l" t="t" r="r" b="b"/>
              <a:pathLst>
                <a:path w="350792" h="171738">
                  <a:moveTo>
                    <a:pt x="0" y="0"/>
                  </a:moveTo>
                  <a:cubicBezTo>
                    <a:pt x="2391" y="97219"/>
                    <a:pt x="82857" y="174084"/>
                    <a:pt x="179726" y="171684"/>
                  </a:cubicBezTo>
                  <a:cubicBezTo>
                    <a:pt x="273230" y="169368"/>
                    <a:pt x="348484" y="93842"/>
                    <a:pt x="350792"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2" name="Freeform 20">
              <a:extLst>
                <a:ext uri="{FF2B5EF4-FFF2-40B4-BE49-F238E27FC236}">
                  <a16:creationId xmlns:a16="http://schemas.microsoft.com/office/drawing/2014/main" id="{E65AE72B-D1E9-51A8-380C-569F38BC2759}"/>
                </a:ext>
              </a:extLst>
            </p:cNvPr>
            <p:cNvSpPr/>
            <p:nvPr/>
          </p:nvSpPr>
          <p:spPr>
            <a:xfrm>
              <a:off x="12422705" y="11532616"/>
              <a:ext cx="190723" cy="292883"/>
            </a:xfrm>
            <a:custGeom>
              <a:avLst/>
              <a:gdLst>
                <a:gd name="connsiteX0" fmla="*/ 16015 w 190723"/>
                <a:gd name="connsiteY0" fmla="*/ 292883 h 292883"/>
                <a:gd name="connsiteX1" fmla="*/ 7680 w 190723"/>
                <a:gd name="connsiteY1" fmla="*/ 290524 h 292883"/>
                <a:gd name="connsiteX2" fmla="*/ 2338 w 190723"/>
                <a:gd name="connsiteY2" fmla="*/ 268434 h 292883"/>
                <a:gd name="connsiteX3" fmla="*/ 161332 w 190723"/>
                <a:gd name="connsiteY3" fmla="*/ 7205 h 292883"/>
                <a:gd name="connsiteX4" fmla="*/ 183545 w 190723"/>
                <a:gd name="connsiteY4" fmla="*/ 2677 h 292883"/>
                <a:gd name="connsiteX5" fmla="*/ 188686 w 190723"/>
                <a:gd name="connsiteY5" fmla="*/ 23934 h 292883"/>
                <a:gd name="connsiteX6" fmla="*/ 29585 w 190723"/>
                <a:gd name="connsiteY6" fmla="*/ 285162 h 292883"/>
                <a:gd name="connsiteX7" fmla="*/ 16015 w 190723"/>
                <a:gd name="connsiteY7" fmla="*/ 292883 h 29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723" h="292883">
                  <a:moveTo>
                    <a:pt x="16015" y="292883"/>
                  </a:moveTo>
                  <a:cubicBezTo>
                    <a:pt x="13070" y="292902"/>
                    <a:pt x="10180" y="292085"/>
                    <a:pt x="7680" y="290524"/>
                  </a:cubicBezTo>
                  <a:cubicBezTo>
                    <a:pt x="132" y="285900"/>
                    <a:pt x="-2259" y="276015"/>
                    <a:pt x="2338" y="268434"/>
                  </a:cubicBezTo>
                  <a:lnTo>
                    <a:pt x="161332" y="7205"/>
                  </a:lnTo>
                  <a:cubicBezTo>
                    <a:pt x="166220" y="-202"/>
                    <a:pt x="176165" y="-2229"/>
                    <a:pt x="183545" y="2677"/>
                  </a:cubicBezTo>
                  <a:cubicBezTo>
                    <a:pt x="190534" y="7323"/>
                    <a:pt x="192775" y="16589"/>
                    <a:pt x="188686" y="23934"/>
                  </a:cubicBezTo>
                  <a:lnTo>
                    <a:pt x="29585" y="285162"/>
                  </a:lnTo>
                  <a:cubicBezTo>
                    <a:pt x="26699" y="289921"/>
                    <a:pt x="21564" y="292842"/>
                    <a:pt x="16015" y="29288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3" name="Freeform 21">
              <a:extLst>
                <a:ext uri="{FF2B5EF4-FFF2-40B4-BE49-F238E27FC236}">
                  <a16:creationId xmlns:a16="http://schemas.microsoft.com/office/drawing/2014/main" id="{D16A1E62-0A6E-F1D2-E447-DC4AE8FCD6DC}"/>
                </a:ext>
              </a:extLst>
            </p:cNvPr>
            <p:cNvSpPr/>
            <p:nvPr/>
          </p:nvSpPr>
          <p:spPr>
            <a:xfrm>
              <a:off x="12576916" y="11525279"/>
              <a:ext cx="196020" cy="297432"/>
            </a:xfrm>
            <a:custGeom>
              <a:avLst/>
              <a:gdLst>
                <a:gd name="connsiteX0" fmla="*/ 180007 w 196020"/>
                <a:gd name="connsiteY0" fmla="*/ 297433 h 297432"/>
                <a:gd name="connsiteX1" fmla="*/ 166330 w 196020"/>
                <a:gd name="connsiteY1" fmla="*/ 289926 h 297432"/>
                <a:gd name="connsiteX2" fmla="*/ 2313 w 196020"/>
                <a:gd name="connsiteY2" fmla="*/ 24408 h 297432"/>
                <a:gd name="connsiteX3" fmla="*/ 7739 w 196020"/>
                <a:gd name="connsiteY3" fmla="*/ 2321 h 297432"/>
                <a:gd name="connsiteX4" fmla="*/ 29560 w 196020"/>
                <a:gd name="connsiteY4" fmla="*/ 7465 h 297432"/>
                <a:gd name="connsiteX5" fmla="*/ 193577 w 196020"/>
                <a:gd name="connsiteY5" fmla="*/ 272876 h 297432"/>
                <a:gd name="connsiteX6" fmla="*/ 188494 w 196020"/>
                <a:gd name="connsiteY6" fmla="*/ 295045 h 297432"/>
                <a:gd name="connsiteX7" fmla="*/ 188448 w 196020"/>
                <a:gd name="connsiteY7" fmla="*/ 295074 h 297432"/>
                <a:gd name="connsiteX8" fmla="*/ 180007 w 196020"/>
                <a:gd name="connsiteY8" fmla="*/ 297433 h 29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20" h="297432">
                  <a:moveTo>
                    <a:pt x="180007" y="297433"/>
                  </a:moveTo>
                  <a:cubicBezTo>
                    <a:pt x="174471" y="297434"/>
                    <a:pt x="169316" y="294604"/>
                    <a:pt x="166330" y="289926"/>
                  </a:cubicBezTo>
                  <a:lnTo>
                    <a:pt x="2313" y="24408"/>
                  </a:lnTo>
                  <a:cubicBezTo>
                    <a:pt x="-2265" y="16805"/>
                    <a:pt x="163" y="6917"/>
                    <a:pt x="7739" y="2321"/>
                  </a:cubicBezTo>
                  <a:cubicBezTo>
                    <a:pt x="15197" y="-2202"/>
                    <a:pt x="24889" y="82"/>
                    <a:pt x="29560" y="7465"/>
                  </a:cubicBezTo>
                  <a:lnTo>
                    <a:pt x="193577" y="272876"/>
                  </a:lnTo>
                  <a:cubicBezTo>
                    <a:pt x="198273" y="280406"/>
                    <a:pt x="195997" y="290332"/>
                    <a:pt x="188494" y="295045"/>
                  </a:cubicBezTo>
                  <a:cubicBezTo>
                    <a:pt x="188479" y="295054"/>
                    <a:pt x="188463" y="295064"/>
                    <a:pt x="188448" y="295074"/>
                  </a:cubicBezTo>
                  <a:cubicBezTo>
                    <a:pt x="185903" y="296621"/>
                    <a:pt x="182982" y="297437"/>
                    <a:pt x="180007" y="297433"/>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4" name="Freeform 22">
              <a:extLst>
                <a:ext uri="{FF2B5EF4-FFF2-40B4-BE49-F238E27FC236}">
                  <a16:creationId xmlns:a16="http://schemas.microsoft.com/office/drawing/2014/main" id="{7DAAA611-F4CE-B5E8-E48C-51DE26FFAAA8}"/>
                </a:ext>
              </a:extLst>
            </p:cNvPr>
            <p:cNvSpPr/>
            <p:nvPr/>
          </p:nvSpPr>
          <p:spPr>
            <a:xfrm>
              <a:off x="12422265" y="11803945"/>
              <a:ext cx="350898" cy="176082"/>
            </a:xfrm>
            <a:custGeom>
              <a:avLst/>
              <a:gdLst>
                <a:gd name="connsiteX0" fmla="*/ 0 w 350898"/>
                <a:gd name="connsiteY0" fmla="*/ 0 h 176082"/>
                <a:gd name="connsiteX1" fmla="*/ 175449 w 350898"/>
                <a:gd name="connsiteY1" fmla="*/ 176083 h 176082"/>
                <a:gd name="connsiteX2" fmla="*/ 350899 w 350898"/>
                <a:gd name="connsiteY2" fmla="*/ 0 h 176082"/>
              </a:gdLst>
              <a:ahLst/>
              <a:cxnLst>
                <a:cxn ang="0">
                  <a:pos x="connsiteX0" y="connsiteY0"/>
                </a:cxn>
                <a:cxn ang="0">
                  <a:pos x="connsiteX1" y="connsiteY1"/>
                </a:cxn>
                <a:cxn ang="0">
                  <a:pos x="connsiteX2" y="connsiteY2"/>
                </a:cxn>
              </a:cxnLst>
              <a:rect l="l" t="t" r="r" b="b"/>
              <a:pathLst>
                <a:path w="350898" h="176082">
                  <a:moveTo>
                    <a:pt x="0" y="0"/>
                  </a:moveTo>
                  <a:cubicBezTo>
                    <a:pt x="0" y="97248"/>
                    <a:pt x="78552" y="176083"/>
                    <a:pt x="175449" y="176083"/>
                  </a:cubicBezTo>
                  <a:cubicBezTo>
                    <a:pt x="272347" y="176083"/>
                    <a:pt x="350899" y="97248"/>
                    <a:pt x="350899"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5" name="Freeform 23">
              <a:extLst>
                <a:ext uri="{FF2B5EF4-FFF2-40B4-BE49-F238E27FC236}">
                  <a16:creationId xmlns:a16="http://schemas.microsoft.com/office/drawing/2014/main" id="{1C914A03-C99F-2F29-CE5E-20569AF05567}"/>
                </a:ext>
              </a:extLst>
            </p:cNvPr>
            <p:cNvSpPr/>
            <p:nvPr/>
          </p:nvSpPr>
          <p:spPr>
            <a:xfrm>
              <a:off x="12320863" y="11640623"/>
              <a:ext cx="32055" cy="720845"/>
            </a:xfrm>
            <a:custGeom>
              <a:avLst/>
              <a:gdLst>
                <a:gd name="connsiteX0" fmla="*/ 16028 w 32055"/>
                <a:gd name="connsiteY0" fmla="*/ 720845 h 720845"/>
                <a:gd name="connsiteX1" fmla="*/ 0 w 32055"/>
                <a:gd name="connsiteY1" fmla="*/ 704760 h 720845"/>
                <a:gd name="connsiteX2" fmla="*/ 0 w 32055"/>
                <a:gd name="connsiteY2" fmla="*/ 16086 h 720845"/>
                <a:gd name="connsiteX3" fmla="*/ 16028 w 32055"/>
                <a:gd name="connsiteY3" fmla="*/ 0 h 720845"/>
                <a:gd name="connsiteX4" fmla="*/ 32055 w 32055"/>
                <a:gd name="connsiteY4" fmla="*/ 16086 h 720845"/>
                <a:gd name="connsiteX5" fmla="*/ 32055 w 32055"/>
                <a:gd name="connsiteY5" fmla="*/ 704760 h 720845"/>
                <a:gd name="connsiteX6" fmla="*/ 16028 w 32055"/>
                <a:gd name="connsiteY6" fmla="*/ 720845 h 72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55" h="720845">
                  <a:moveTo>
                    <a:pt x="16028" y="720845"/>
                  </a:moveTo>
                  <a:cubicBezTo>
                    <a:pt x="7176" y="720845"/>
                    <a:pt x="0" y="713643"/>
                    <a:pt x="0" y="704760"/>
                  </a:cubicBezTo>
                  <a:lnTo>
                    <a:pt x="0" y="16086"/>
                  </a:lnTo>
                  <a:cubicBezTo>
                    <a:pt x="0" y="7202"/>
                    <a:pt x="7176" y="0"/>
                    <a:pt x="16028" y="0"/>
                  </a:cubicBezTo>
                  <a:cubicBezTo>
                    <a:pt x="24879" y="0"/>
                    <a:pt x="32055" y="7202"/>
                    <a:pt x="32055" y="16086"/>
                  </a:cubicBezTo>
                  <a:lnTo>
                    <a:pt x="32055" y="704760"/>
                  </a:lnTo>
                  <a:cubicBezTo>
                    <a:pt x="32055" y="713643"/>
                    <a:pt x="24879" y="720845"/>
                    <a:pt x="16028" y="720845"/>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76" name="Freeform 24">
              <a:extLst>
                <a:ext uri="{FF2B5EF4-FFF2-40B4-BE49-F238E27FC236}">
                  <a16:creationId xmlns:a16="http://schemas.microsoft.com/office/drawing/2014/main" id="{479B43BF-AA17-6A72-3951-9D392615205B}"/>
                </a:ext>
              </a:extLst>
            </p:cNvPr>
            <p:cNvSpPr/>
            <p:nvPr/>
          </p:nvSpPr>
          <p:spPr>
            <a:xfrm>
              <a:off x="12157488" y="12290156"/>
              <a:ext cx="352608" cy="89113"/>
            </a:xfrm>
            <a:custGeom>
              <a:avLst/>
              <a:gdLst>
                <a:gd name="connsiteX0" fmla="*/ 88793 w 352608"/>
                <a:gd name="connsiteY0" fmla="*/ 0 h 89113"/>
                <a:gd name="connsiteX1" fmla="*/ 263602 w 352608"/>
                <a:gd name="connsiteY1" fmla="*/ 0 h 89113"/>
                <a:gd name="connsiteX2" fmla="*/ 352609 w 352608"/>
                <a:gd name="connsiteY2" fmla="*/ 89114 h 89113"/>
                <a:gd name="connsiteX3" fmla="*/ 352609 w 352608"/>
                <a:gd name="connsiteY3" fmla="*/ 89114 h 89113"/>
                <a:gd name="connsiteX4" fmla="*/ 352609 w 352608"/>
                <a:gd name="connsiteY4" fmla="*/ 89114 h 89113"/>
                <a:gd name="connsiteX5" fmla="*/ 0 w 352608"/>
                <a:gd name="connsiteY5" fmla="*/ 89114 h 89113"/>
                <a:gd name="connsiteX6" fmla="*/ 0 w 352608"/>
                <a:gd name="connsiteY6" fmla="*/ 89114 h 89113"/>
                <a:gd name="connsiteX7" fmla="*/ 0 w 352608"/>
                <a:gd name="connsiteY7" fmla="*/ 89114 h 89113"/>
                <a:gd name="connsiteX8" fmla="*/ 88793 w 352608"/>
                <a:gd name="connsiteY8" fmla="*/ 0 h 8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08" h="89113">
                  <a:moveTo>
                    <a:pt x="88793" y="0"/>
                  </a:moveTo>
                  <a:lnTo>
                    <a:pt x="263602" y="0"/>
                  </a:lnTo>
                  <a:cubicBezTo>
                    <a:pt x="312675" y="0"/>
                    <a:pt x="352491" y="39863"/>
                    <a:pt x="352609" y="89114"/>
                  </a:cubicBezTo>
                  <a:lnTo>
                    <a:pt x="352609" y="89114"/>
                  </a:lnTo>
                  <a:lnTo>
                    <a:pt x="352609" y="89114"/>
                  </a:lnTo>
                  <a:lnTo>
                    <a:pt x="0" y="89114"/>
                  </a:lnTo>
                  <a:lnTo>
                    <a:pt x="0" y="89114"/>
                  </a:lnTo>
                  <a:lnTo>
                    <a:pt x="0" y="89114"/>
                  </a:lnTo>
                  <a:cubicBezTo>
                    <a:pt x="118" y="39947"/>
                    <a:pt x="39803" y="118"/>
                    <a:pt x="88793" y="0"/>
                  </a:cubicBezTo>
                  <a:close/>
                </a:path>
              </a:pathLst>
            </a:custGeom>
            <a:solidFill>
              <a:srgbClr val="FFFFFF"/>
            </a:solidFill>
            <a:ln w="10640" cap="flat">
              <a:noFill/>
              <a:prstDash val="solid"/>
              <a:miter/>
            </a:ln>
          </p:spPr>
          <p:txBody>
            <a:bodyPr rtlCol="0" anchor="ctr"/>
            <a:lstStyle/>
            <a:p>
              <a:pPr defTabSz="914355"/>
              <a:endParaRPr lang="en-US">
                <a:solidFill>
                  <a:srgbClr val="333333"/>
                </a:solidFill>
                <a:latin typeface="Calibri" panose="020F0502020204030204"/>
              </a:endParaRPr>
            </a:p>
          </p:txBody>
        </p:sp>
      </p:grpSp>
      <p:pic>
        <p:nvPicPr>
          <p:cNvPr id="177" name="Graphic 176">
            <a:extLst>
              <a:ext uri="{FF2B5EF4-FFF2-40B4-BE49-F238E27FC236}">
                <a16:creationId xmlns:a16="http://schemas.microsoft.com/office/drawing/2014/main" id="{EEEE39E9-B13B-343E-28DC-1BD31E98B7DA}"/>
              </a:ext>
            </a:extLst>
          </p:cNvPr>
          <p:cNvPicPr>
            <a:picLocks noChangeAspect="1"/>
          </p:cNvPicPr>
          <p:nvPr userDrawn="1"/>
        </p:nvPicPr>
        <p:blipFill>
          <a:blip>
            <a:extLst>
              <a:ext uri="{96DAC541-7B7A-43D3-8B79-37D633B846F1}">
                <asvg:svgBlip xmlns:asvg="http://schemas.microsoft.com/office/drawing/2016/SVG/main" r:embed="rId14"/>
              </a:ext>
            </a:extLst>
          </a:blip>
          <a:stretch>
            <a:fillRect/>
          </a:stretch>
        </p:blipFill>
        <p:spPr>
          <a:xfrm>
            <a:off x="11025684" y="1285114"/>
            <a:ext cx="518386" cy="488764"/>
          </a:xfrm>
          <a:prstGeom prst="rect">
            <a:avLst/>
          </a:prstGeom>
        </p:spPr>
      </p:pic>
      <p:pic>
        <p:nvPicPr>
          <p:cNvPr id="178" name="Graphic 177">
            <a:extLst>
              <a:ext uri="{FF2B5EF4-FFF2-40B4-BE49-F238E27FC236}">
                <a16:creationId xmlns:a16="http://schemas.microsoft.com/office/drawing/2014/main" id="{1FA00788-3786-8A01-C6DC-F7ED3FFF9EA1}"/>
              </a:ext>
            </a:extLst>
          </p:cNvPr>
          <p:cNvPicPr>
            <a:picLocks noChangeAspect="1"/>
          </p:cNvPicPr>
          <p:nvPr userDrawn="1"/>
        </p:nvPicPr>
        <p:blipFill>
          <a:blip>
            <a:extLst>
              <a:ext uri="{96DAC541-7B7A-43D3-8B79-37D633B846F1}">
                <asvg:svgBlip xmlns:asvg="http://schemas.microsoft.com/office/drawing/2016/SVG/main" r:embed="rId15"/>
              </a:ext>
            </a:extLst>
          </a:blip>
          <a:stretch>
            <a:fillRect/>
          </a:stretch>
        </p:blipFill>
        <p:spPr>
          <a:xfrm>
            <a:off x="4194830" y="2165774"/>
            <a:ext cx="355465" cy="488764"/>
          </a:xfrm>
          <a:prstGeom prst="rect">
            <a:avLst/>
          </a:prstGeom>
        </p:spPr>
      </p:pic>
      <p:pic>
        <p:nvPicPr>
          <p:cNvPr id="179" name="Graphic 178">
            <a:extLst>
              <a:ext uri="{FF2B5EF4-FFF2-40B4-BE49-F238E27FC236}">
                <a16:creationId xmlns:a16="http://schemas.microsoft.com/office/drawing/2014/main" id="{625E3F7E-0340-93D4-2B5E-4006DDCAF62F}"/>
              </a:ext>
            </a:extLst>
          </p:cNvPr>
          <p:cNvPicPr>
            <a:picLocks noChangeAspect="1"/>
          </p:cNvPicPr>
          <p:nvPr userDrawn="1"/>
        </p:nvPicPr>
        <p:blipFill>
          <a:blip>
            <a:extLst>
              <a:ext uri="{96DAC541-7B7A-43D3-8B79-37D633B846F1}">
                <asvg:svgBlip xmlns:asvg="http://schemas.microsoft.com/office/drawing/2016/SVG/main" r:embed="rId16"/>
              </a:ext>
            </a:extLst>
          </a:blip>
          <a:stretch>
            <a:fillRect/>
          </a:stretch>
        </p:blipFill>
        <p:spPr>
          <a:xfrm>
            <a:off x="3218413" y="2192907"/>
            <a:ext cx="518386" cy="429520"/>
          </a:xfrm>
          <a:prstGeom prst="rect">
            <a:avLst/>
          </a:prstGeom>
        </p:spPr>
      </p:pic>
      <p:pic>
        <p:nvPicPr>
          <p:cNvPr id="180" name="Graphic 179">
            <a:extLst>
              <a:ext uri="{FF2B5EF4-FFF2-40B4-BE49-F238E27FC236}">
                <a16:creationId xmlns:a16="http://schemas.microsoft.com/office/drawing/2014/main" id="{24BCDA66-9809-7217-C890-B9CD6931D165}"/>
              </a:ext>
            </a:extLst>
          </p:cNvPr>
          <p:cNvPicPr>
            <a:picLocks noChangeAspect="1"/>
          </p:cNvPicPr>
          <p:nvPr userDrawn="1"/>
        </p:nvPicPr>
        <p:blipFill>
          <a:blip>
            <a:extLst>
              <a:ext uri="{96DAC541-7B7A-43D3-8B79-37D633B846F1}">
                <asvg:svgBlip xmlns:asvg="http://schemas.microsoft.com/office/drawing/2016/SVG/main" r:embed="rId17"/>
              </a:ext>
            </a:extLst>
          </a:blip>
          <a:stretch>
            <a:fillRect/>
          </a:stretch>
        </p:blipFill>
        <p:spPr>
          <a:xfrm>
            <a:off x="663420" y="2158368"/>
            <a:ext cx="488764" cy="503575"/>
          </a:xfrm>
          <a:prstGeom prst="rect">
            <a:avLst/>
          </a:prstGeom>
        </p:spPr>
      </p:pic>
      <p:pic>
        <p:nvPicPr>
          <p:cNvPr id="181" name="Graphic 180">
            <a:extLst>
              <a:ext uri="{FF2B5EF4-FFF2-40B4-BE49-F238E27FC236}">
                <a16:creationId xmlns:a16="http://schemas.microsoft.com/office/drawing/2014/main" id="{7276CC30-3688-AA72-9E8C-C6B525D950DD}"/>
              </a:ext>
            </a:extLst>
          </p:cNvPr>
          <p:cNvPicPr>
            <a:picLocks noChangeAspect="1"/>
          </p:cNvPicPr>
          <p:nvPr userDrawn="1"/>
        </p:nvPicPr>
        <p:blipFill>
          <a:blip>
            <a:extLst>
              <a:ext uri="{96DAC541-7B7A-43D3-8B79-37D633B846F1}">
                <asvg:svgBlip xmlns:asvg="http://schemas.microsoft.com/office/drawing/2016/SVG/main" r:embed="rId18"/>
              </a:ext>
            </a:extLst>
          </a:blip>
          <a:stretch>
            <a:fillRect/>
          </a:stretch>
        </p:blipFill>
        <p:spPr>
          <a:xfrm>
            <a:off x="6780128" y="1317032"/>
            <a:ext cx="459142" cy="444331"/>
          </a:xfrm>
          <a:prstGeom prst="rect">
            <a:avLst/>
          </a:prstGeom>
        </p:spPr>
      </p:pic>
      <p:pic>
        <p:nvPicPr>
          <p:cNvPr id="182" name="Graphic 181">
            <a:extLst>
              <a:ext uri="{FF2B5EF4-FFF2-40B4-BE49-F238E27FC236}">
                <a16:creationId xmlns:a16="http://schemas.microsoft.com/office/drawing/2014/main" id="{178C2345-ADFB-D456-00B5-3852B7419924}"/>
              </a:ext>
            </a:extLst>
          </p:cNvPr>
          <p:cNvPicPr>
            <a:picLocks noChangeAspect="1"/>
          </p:cNvPicPr>
          <p:nvPr userDrawn="1"/>
        </p:nvPicPr>
        <p:blipFill>
          <a:blip>
            <a:extLst>
              <a:ext uri="{96DAC541-7B7A-43D3-8B79-37D633B846F1}">
                <asvg:svgBlip xmlns:asvg="http://schemas.microsoft.com/office/drawing/2016/SVG/main" r:embed="rId19"/>
              </a:ext>
            </a:extLst>
          </a:blip>
          <a:stretch>
            <a:fillRect/>
          </a:stretch>
        </p:blipFill>
        <p:spPr>
          <a:xfrm>
            <a:off x="7625553" y="2142384"/>
            <a:ext cx="533197" cy="533197"/>
          </a:xfrm>
          <a:prstGeom prst="rect">
            <a:avLst/>
          </a:prstGeom>
        </p:spPr>
      </p:pic>
      <p:pic>
        <p:nvPicPr>
          <p:cNvPr id="183" name="Graphic 182">
            <a:extLst>
              <a:ext uri="{FF2B5EF4-FFF2-40B4-BE49-F238E27FC236}">
                <a16:creationId xmlns:a16="http://schemas.microsoft.com/office/drawing/2014/main" id="{4321F784-B4AB-F139-68DE-148B43B0E649}"/>
              </a:ext>
            </a:extLst>
          </p:cNvPr>
          <p:cNvPicPr>
            <a:picLocks noChangeAspect="1"/>
          </p:cNvPicPr>
          <p:nvPr userDrawn="1"/>
        </p:nvPicPr>
        <p:blipFill>
          <a:blip>
            <a:extLst>
              <a:ext uri="{96DAC541-7B7A-43D3-8B79-37D633B846F1}">
                <asvg:svgBlip xmlns:asvg="http://schemas.microsoft.com/office/drawing/2016/SVG/main" r:embed="rId20"/>
              </a:ext>
            </a:extLst>
          </a:blip>
          <a:stretch>
            <a:fillRect/>
          </a:stretch>
        </p:blipFill>
        <p:spPr>
          <a:xfrm>
            <a:off x="4967833" y="2150476"/>
            <a:ext cx="519835" cy="519835"/>
          </a:xfrm>
          <a:prstGeom prst="rect">
            <a:avLst/>
          </a:prstGeom>
        </p:spPr>
      </p:pic>
      <p:pic>
        <p:nvPicPr>
          <p:cNvPr id="184" name="Graphic 183">
            <a:extLst>
              <a:ext uri="{FF2B5EF4-FFF2-40B4-BE49-F238E27FC236}">
                <a16:creationId xmlns:a16="http://schemas.microsoft.com/office/drawing/2014/main" id="{10BE524E-18CF-F9B2-B111-CBA47F63261C}"/>
              </a:ext>
            </a:extLst>
          </p:cNvPr>
          <p:cNvPicPr>
            <a:picLocks noChangeAspect="1"/>
          </p:cNvPicPr>
          <p:nvPr userDrawn="1"/>
        </p:nvPicPr>
        <p:blipFill>
          <a:blip>
            <a:extLst>
              <a:ext uri="{96DAC541-7B7A-43D3-8B79-37D633B846F1}">
                <asvg:svgBlip xmlns:asvg="http://schemas.microsoft.com/office/drawing/2016/SVG/main" r:embed="rId21"/>
              </a:ext>
            </a:extLst>
          </a:blip>
          <a:stretch>
            <a:fillRect/>
          </a:stretch>
        </p:blipFill>
        <p:spPr>
          <a:xfrm>
            <a:off x="5839436" y="2142108"/>
            <a:ext cx="519835" cy="519835"/>
          </a:xfrm>
          <a:prstGeom prst="rect">
            <a:avLst/>
          </a:prstGeom>
        </p:spPr>
      </p:pic>
      <p:pic>
        <p:nvPicPr>
          <p:cNvPr id="185" name="Graphic 184">
            <a:extLst>
              <a:ext uri="{FF2B5EF4-FFF2-40B4-BE49-F238E27FC236}">
                <a16:creationId xmlns:a16="http://schemas.microsoft.com/office/drawing/2014/main" id="{D7FFD139-3352-12D3-9E59-A885B4A709D4}"/>
              </a:ext>
            </a:extLst>
          </p:cNvPr>
          <p:cNvPicPr>
            <a:picLocks noChangeAspect="1"/>
          </p:cNvPicPr>
          <p:nvPr userDrawn="1"/>
        </p:nvPicPr>
        <p:blipFill>
          <a:blip>
            <a:extLst>
              <a:ext uri="{96DAC541-7B7A-43D3-8B79-37D633B846F1}">
                <asvg:svgBlip xmlns:asvg="http://schemas.microsoft.com/office/drawing/2016/SVG/main" r:embed="rId22"/>
              </a:ext>
            </a:extLst>
          </a:blip>
          <a:stretch>
            <a:fillRect/>
          </a:stretch>
        </p:blipFill>
        <p:spPr>
          <a:xfrm>
            <a:off x="2384618" y="2139881"/>
            <a:ext cx="519835" cy="519835"/>
          </a:xfrm>
          <a:prstGeom prst="rect">
            <a:avLst/>
          </a:prstGeom>
        </p:spPr>
      </p:pic>
      <p:pic>
        <p:nvPicPr>
          <p:cNvPr id="186" name="Graphic 185">
            <a:extLst>
              <a:ext uri="{FF2B5EF4-FFF2-40B4-BE49-F238E27FC236}">
                <a16:creationId xmlns:a16="http://schemas.microsoft.com/office/drawing/2014/main" id="{E0A49AC2-0773-E74F-23B6-89EDAF8D64A5}"/>
              </a:ext>
            </a:extLst>
          </p:cNvPr>
          <p:cNvPicPr>
            <a:picLocks noChangeAspect="1"/>
          </p:cNvPicPr>
          <p:nvPr userDrawn="1"/>
        </p:nvPicPr>
        <p:blipFill>
          <a:blip>
            <a:extLst>
              <a:ext uri="{96DAC541-7B7A-43D3-8B79-37D633B846F1}">
                <asvg:svgBlip xmlns:asvg="http://schemas.microsoft.com/office/drawing/2016/SVG/main" r:embed="rId23"/>
              </a:ext>
            </a:extLst>
          </a:blip>
          <a:stretch>
            <a:fillRect/>
          </a:stretch>
        </p:blipFill>
        <p:spPr>
          <a:xfrm>
            <a:off x="1517087" y="2155746"/>
            <a:ext cx="519835" cy="519835"/>
          </a:xfrm>
          <a:prstGeom prst="rect">
            <a:avLst/>
          </a:prstGeom>
        </p:spPr>
      </p:pic>
      <p:sp>
        <p:nvSpPr>
          <p:cNvPr id="187" name="TextBox 186">
            <a:extLst>
              <a:ext uri="{FF2B5EF4-FFF2-40B4-BE49-F238E27FC236}">
                <a16:creationId xmlns:a16="http://schemas.microsoft.com/office/drawing/2014/main" id="{F03D5788-2600-E578-4ABA-AB65F3A737BD}"/>
              </a:ext>
            </a:extLst>
          </p:cNvPr>
          <p:cNvSpPr txBox="1"/>
          <p:nvPr userDrawn="1"/>
        </p:nvSpPr>
        <p:spPr>
          <a:xfrm>
            <a:off x="527936" y="557685"/>
            <a:ext cx="10559111" cy="369332"/>
          </a:xfrm>
          <a:prstGeom prst="rect">
            <a:avLst/>
          </a:prstGeom>
          <a:noFill/>
        </p:spPr>
        <p:txBody>
          <a:bodyPr wrap="square" lIns="0" tIns="0" rIns="0" bIns="0" rtlCol="0">
            <a:spAutoFit/>
          </a:bodyPr>
          <a:lstStyle/>
          <a:p>
            <a:pPr defTabSz="914355"/>
            <a:r>
              <a:rPr lang="en-CA" sz="2400" b="1">
                <a:solidFill>
                  <a:srgbClr val="FFFFFF"/>
                </a:solidFill>
                <a:latin typeface="Scotia Headline" panose="020B0503020203020204" pitchFamily="34" charset="0"/>
                <a:ea typeface="Scotia Headline" panose="020B0503020203020204" pitchFamily="34" charset="0"/>
              </a:rPr>
              <a:t>White icons (use with solid colour backgrounds only)</a:t>
            </a:r>
          </a:p>
        </p:txBody>
      </p:sp>
      <p:sp>
        <p:nvSpPr>
          <p:cNvPr id="188" name="Graphic 8">
            <a:extLst>
              <a:ext uri="{FF2B5EF4-FFF2-40B4-BE49-F238E27FC236}">
                <a16:creationId xmlns:a16="http://schemas.microsoft.com/office/drawing/2014/main" id="{B82DBF7A-C0BD-597D-6E08-875260010EA4}"/>
              </a:ext>
            </a:extLst>
          </p:cNvPr>
          <p:cNvSpPr/>
          <p:nvPr userDrawn="1"/>
        </p:nvSpPr>
        <p:spPr>
          <a:xfrm flipV="1">
            <a:off x="626848" y="4474135"/>
            <a:ext cx="501558" cy="501558"/>
          </a:xfrm>
          <a:custGeom>
            <a:avLst/>
            <a:gdLst>
              <a:gd name="connsiteX0" fmla="*/ 501558 w 1003116"/>
              <a:gd name="connsiteY0" fmla="*/ 1003116 h 1003116"/>
              <a:gd name="connsiteX1" fmla="*/ 1003116 w 1003116"/>
              <a:gd name="connsiteY1" fmla="*/ 501558 h 1003116"/>
              <a:gd name="connsiteX2" fmla="*/ 501558 w 1003116"/>
              <a:gd name="connsiteY2" fmla="*/ 0 h 1003116"/>
              <a:gd name="connsiteX3" fmla="*/ 0 w 1003116"/>
              <a:gd name="connsiteY3" fmla="*/ 501558 h 1003116"/>
              <a:gd name="connsiteX4" fmla="*/ 501558 w 1003116"/>
              <a:gd name="connsiteY4" fmla="*/ 1003116 h 1003116"/>
              <a:gd name="connsiteX5" fmla="*/ 447224 w 1003116"/>
              <a:gd name="connsiteY5" fmla="*/ 260868 h 1003116"/>
              <a:gd name="connsiteX6" fmla="*/ 447224 w 1003116"/>
              <a:gd name="connsiteY6" fmla="*/ 533266 h 1003116"/>
              <a:gd name="connsiteX7" fmla="*/ 501558 w 1003116"/>
              <a:gd name="connsiteY7" fmla="*/ 585152 h 1003116"/>
              <a:gd name="connsiteX8" fmla="*/ 555892 w 1003116"/>
              <a:gd name="connsiteY8" fmla="*/ 533266 h 1003116"/>
              <a:gd name="connsiteX9" fmla="*/ 555892 w 1003116"/>
              <a:gd name="connsiteY9" fmla="*/ 260868 h 1003116"/>
              <a:gd name="connsiteX10" fmla="*/ 501558 w 1003116"/>
              <a:gd name="connsiteY10" fmla="*/ 208983 h 1003116"/>
              <a:gd name="connsiteX11" fmla="*/ 447224 w 1003116"/>
              <a:gd name="connsiteY11" fmla="*/ 260868 h 1003116"/>
              <a:gd name="connsiteX12" fmla="*/ 501558 w 1003116"/>
              <a:gd name="connsiteY12" fmla="*/ 819210 h 1003116"/>
              <a:gd name="connsiteX13" fmla="*/ 576792 w 1003116"/>
              <a:gd name="connsiteY13" fmla="*/ 743977 h 1003116"/>
              <a:gd name="connsiteX14" fmla="*/ 501558 w 1003116"/>
              <a:gd name="connsiteY14" fmla="*/ 668743 h 1003116"/>
              <a:gd name="connsiteX15" fmla="*/ 426324 w 1003116"/>
              <a:gd name="connsiteY15" fmla="*/ 743977 h 1003116"/>
              <a:gd name="connsiteX16" fmla="*/ 501558 w 1003116"/>
              <a:gd name="connsiteY16" fmla="*/ 819210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1003116"/>
                </a:moveTo>
                <a:cubicBezTo>
                  <a:pt x="778562" y="1003116"/>
                  <a:pt x="1003116" y="778562"/>
                  <a:pt x="1003116" y="501558"/>
                </a:cubicBezTo>
                <a:cubicBezTo>
                  <a:pt x="1003116" y="224555"/>
                  <a:pt x="778562" y="0"/>
                  <a:pt x="501558" y="0"/>
                </a:cubicBezTo>
                <a:cubicBezTo>
                  <a:pt x="224555" y="0"/>
                  <a:pt x="0" y="224555"/>
                  <a:pt x="0" y="501558"/>
                </a:cubicBezTo>
                <a:cubicBezTo>
                  <a:pt x="0" y="778562"/>
                  <a:pt x="224555" y="1003116"/>
                  <a:pt x="501558" y="1003116"/>
                </a:cubicBezTo>
                <a:close/>
                <a:moveTo>
                  <a:pt x="447224" y="260868"/>
                </a:move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ubicBezTo>
                  <a:pt x="471549" y="208983"/>
                  <a:pt x="447224" y="232212"/>
                  <a:pt x="447224" y="260868"/>
                </a:cubicBezTo>
                <a:close/>
                <a:moveTo>
                  <a:pt x="501558" y="819210"/>
                </a:moveTo>
                <a:cubicBezTo>
                  <a:pt x="543109" y="819210"/>
                  <a:pt x="576792" y="785528"/>
                  <a:pt x="576792" y="743977"/>
                </a:cubicBezTo>
                <a:cubicBezTo>
                  <a:pt x="576792" y="702429"/>
                  <a:pt x="543109" y="668743"/>
                  <a:pt x="501558" y="668743"/>
                </a:cubicBezTo>
                <a:cubicBezTo>
                  <a:pt x="460007" y="668743"/>
                  <a:pt x="426324" y="702429"/>
                  <a:pt x="426324" y="743977"/>
                </a:cubicBezTo>
                <a:cubicBezTo>
                  <a:pt x="426324" y="785528"/>
                  <a:pt x="460007" y="819210"/>
                  <a:pt x="501558" y="819210"/>
                </a:cubicBezTo>
                <a:close/>
              </a:path>
            </a:pathLst>
          </a:custGeom>
          <a:solidFill>
            <a:srgbClr val="91DDF8"/>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89" name="Graphic 9">
            <a:extLst>
              <a:ext uri="{FF2B5EF4-FFF2-40B4-BE49-F238E27FC236}">
                <a16:creationId xmlns:a16="http://schemas.microsoft.com/office/drawing/2014/main" id="{BCEB516C-DCE2-EE62-452B-66C7B555DC95}"/>
              </a:ext>
            </a:extLst>
          </p:cNvPr>
          <p:cNvSpPr/>
          <p:nvPr userDrawn="1"/>
        </p:nvSpPr>
        <p:spPr>
          <a:xfrm>
            <a:off x="1478384" y="4474135"/>
            <a:ext cx="501558" cy="501558"/>
          </a:xfrm>
          <a:custGeom>
            <a:avLst/>
            <a:gdLst>
              <a:gd name="connsiteX0" fmla="*/ 1003116 w 1003116"/>
              <a:gd name="connsiteY0" fmla="*/ 501558 h 1003115"/>
              <a:gd name="connsiteX1" fmla="*/ 501558 w 1003116"/>
              <a:gd name="connsiteY1" fmla="*/ 1003116 h 1003115"/>
              <a:gd name="connsiteX2" fmla="*/ 0 w 1003116"/>
              <a:gd name="connsiteY2" fmla="*/ 501558 h 1003115"/>
              <a:gd name="connsiteX3" fmla="*/ 501558 w 1003116"/>
              <a:gd name="connsiteY3" fmla="*/ 0 h 1003115"/>
              <a:gd name="connsiteX4" fmla="*/ 1003116 w 1003116"/>
              <a:gd name="connsiteY4" fmla="*/ 501558 h 1003115"/>
              <a:gd name="connsiteX5" fmla="*/ 442879 w 1003116"/>
              <a:gd name="connsiteY5" fmla="*/ 621205 h 1003115"/>
              <a:gd name="connsiteX6" fmla="*/ 320207 w 1003116"/>
              <a:gd name="connsiteY6" fmla="*/ 513116 h 1003115"/>
              <a:gd name="connsiteX7" fmla="*/ 261216 w 1003116"/>
              <a:gd name="connsiteY7" fmla="*/ 516843 h 1003115"/>
              <a:gd name="connsiteX8" fmla="*/ 264943 w 1003116"/>
              <a:gd name="connsiteY8" fmla="*/ 575836 h 1003115"/>
              <a:gd name="connsiteX9" fmla="*/ 419083 w 1003116"/>
              <a:gd name="connsiteY9" fmla="*/ 711651 h 1003115"/>
              <a:gd name="connsiteX10" fmla="*/ 478170 w 1003116"/>
              <a:gd name="connsiteY10" fmla="*/ 707817 h 1003115"/>
              <a:gd name="connsiteX11" fmla="*/ 744278 w 1003116"/>
              <a:gd name="connsiteY11" fmla="*/ 403692 h 1003115"/>
              <a:gd name="connsiteX12" fmla="*/ 740347 w 1003116"/>
              <a:gd name="connsiteY12" fmla="*/ 344715 h 1003115"/>
              <a:gd name="connsiteX13" fmla="*/ 681367 w 1003116"/>
              <a:gd name="connsiteY13" fmla="*/ 348646 h 1003115"/>
              <a:gd name="connsiteX14" fmla="*/ 442879 w 1003116"/>
              <a:gd name="connsiteY14" fmla="*/ 621205 h 100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116" h="1003115">
                <a:moveTo>
                  <a:pt x="1003116" y="501558"/>
                </a:moveTo>
                <a:cubicBezTo>
                  <a:pt x="1003116" y="778556"/>
                  <a:pt x="778509" y="1003116"/>
                  <a:pt x="501558" y="1003116"/>
                </a:cubicBezTo>
                <a:cubicBezTo>
                  <a:pt x="224516" y="1003116"/>
                  <a:pt x="0" y="778556"/>
                  <a:pt x="0" y="501558"/>
                </a:cubicBezTo>
                <a:cubicBezTo>
                  <a:pt x="0" y="224516"/>
                  <a:pt x="224516" y="0"/>
                  <a:pt x="501558" y="0"/>
                </a:cubicBezTo>
                <a:cubicBezTo>
                  <a:pt x="778509" y="0"/>
                  <a:pt x="1003116" y="224516"/>
                  <a:pt x="1003116" y="501558"/>
                </a:cubicBezTo>
                <a:close/>
                <a:moveTo>
                  <a:pt x="442879" y="621205"/>
                </a:moveTo>
                <a:lnTo>
                  <a:pt x="320207" y="513116"/>
                </a:lnTo>
                <a:cubicBezTo>
                  <a:pt x="302888" y="497856"/>
                  <a:pt x="276477" y="499524"/>
                  <a:pt x="261216" y="516843"/>
                </a:cubicBezTo>
                <a:cubicBezTo>
                  <a:pt x="245955" y="534162"/>
                  <a:pt x="247624" y="560573"/>
                  <a:pt x="264943" y="575836"/>
                </a:cubicBezTo>
                <a:lnTo>
                  <a:pt x="419083" y="711651"/>
                </a:lnTo>
                <a:cubicBezTo>
                  <a:pt x="436443" y="726952"/>
                  <a:pt x="462932" y="725231"/>
                  <a:pt x="478170" y="707817"/>
                </a:cubicBezTo>
                <a:lnTo>
                  <a:pt x="744278" y="403692"/>
                </a:lnTo>
                <a:cubicBezTo>
                  <a:pt x="759478" y="386319"/>
                  <a:pt x="757719" y="359915"/>
                  <a:pt x="740347" y="344715"/>
                </a:cubicBezTo>
                <a:cubicBezTo>
                  <a:pt x="722974" y="329514"/>
                  <a:pt x="696567" y="331273"/>
                  <a:pt x="681367" y="348646"/>
                </a:cubicBezTo>
                <a:lnTo>
                  <a:pt x="442879" y="621205"/>
                </a:lnTo>
                <a:close/>
              </a:path>
            </a:pathLst>
          </a:custGeom>
          <a:solidFill>
            <a:srgbClr val="84D9C6"/>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0" name="Graphic 7">
            <a:extLst>
              <a:ext uri="{FF2B5EF4-FFF2-40B4-BE49-F238E27FC236}">
                <a16:creationId xmlns:a16="http://schemas.microsoft.com/office/drawing/2014/main" id="{53BB5C2A-1D1A-2088-41B8-EC9751A5CB30}"/>
              </a:ext>
            </a:extLst>
          </p:cNvPr>
          <p:cNvSpPr/>
          <p:nvPr userDrawn="1"/>
        </p:nvSpPr>
        <p:spPr>
          <a:xfrm>
            <a:off x="2317976" y="4474135"/>
            <a:ext cx="501558" cy="501558"/>
          </a:xfrm>
          <a:custGeom>
            <a:avLst/>
            <a:gdLst>
              <a:gd name="connsiteX0" fmla="*/ 445581 w 1003116"/>
              <a:gd name="connsiteY0" fmla="*/ 234988 h 1003116"/>
              <a:gd name="connsiteX1" fmla="*/ 445581 w 1003116"/>
              <a:gd name="connsiteY1" fmla="*/ 521147 h 1003116"/>
              <a:gd name="connsiteX2" fmla="*/ 494978 w 1003116"/>
              <a:gd name="connsiteY2" fmla="*/ 575654 h 1003116"/>
              <a:gd name="connsiteX3" fmla="*/ 544372 w 1003116"/>
              <a:gd name="connsiteY3" fmla="*/ 521147 h 1003116"/>
              <a:gd name="connsiteX4" fmla="*/ 544372 w 1003116"/>
              <a:gd name="connsiteY4" fmla="*/ 234988 h 1003116"/>
              <a:gd name="connsiteX5" fmla="*/ 494978 w 1003116"/>
              <a:gd name="connsiteY5" fmla="*/ 180481 h 1003116"/>
              <a:gd name="connsiteX6" fmla="*/ 445581 w 1003116"/>
              <a:gd name="connsiteY6" fmla="*/ 234988 h 1003116"/>
              <a:gd name="connsiteX7" fmla="*/ 659000 w 1003116"/>
              <a:gd name="connsiteY7" fmla="*/ 65214 h 1003116"/>
              <a:gd name="connsiteX8" fmla="*/ 937901 w 1003116"/>
              <a:gd name="connsiteY8" fmla="*/ 344116 h 1003116"/>
              <a:gd name="connsiteX9" fmla="*/ 937901 w 1003116"/>
              <a:gd name="connsiteY9" fmla="*/ 659000 h 1003116"/>
              <a:gd name="connsiteX10" fmla="*/ 659000 w 1003116"/>
              <a:gd name="connsiteY10" fmla="*/ 937901 h 1003116"/>
              <a:gd name="connsiteX11" fmla="*/ 344116 w 1003116"/>
              <a:gd name="connsiteY11" fmla="*/ 937901 h 1003116"/>
              <a:gd name="connsiteX12" fmla="*/ 65214 w 1003116"/>
              <a:gd name="connsiteY12" fmla="*/ 659000 h 1003116"/>
              <a:gd name="connsiteX13" fmla="*/ 65214 w 1003116"/>
              <a:gd name="connsiteY13" fmla="*/ 344116 h 1003116"/>
              <a:gd name="connsiteX14" fmla="*/ 344116 w 1003116"/>
              <a:gd name="connsiteY14" fmla="*/ 65214 h 1003116"/>
              <a:gd name="connsiteX15" fmla="*/ 659000 w 1003116"/>
              <a:gd name="connsiteY15" fmla="*/ 65214 h 1003116"/>
              <a:gd name="connsiteX16" fmla="*/ 501558 w 1003116"/>
              <a:gd name="connsiteY16" fmla="*/ 822634 h 1003116"/>
              <a:gd name="connsiteX17" fmla="*/ 575654 w 1003116"/>
              <a:gd name="connsiteY17" fmla="*/ 748541 h 1003116"/>
              <a:gd name="connsiteX18" fmla="*/ 501558 w 1003116"/>
              <a:gd name="connsiteY18" fmla="*/ 674445 h 1003116"/>
              <a:gd name="connsiteX19" fmla="*/ 427462 w 1003116"/>
              <a:gd name="connsiteY19" fmla="*/ 748541 h 1003116"/>
              <a:gd name="connsiteX20" fmla="*/ 501558 w 1003116"/>
              <a:gd name="connsiteY20" fmla="*/ 822634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116" h="1003116">
                <a:moveTo>
                  <a:pt x="445581" y="234988"/>
                </a:moveTo>
                <a:lnTo>
                  <a:pt x="445581" y="521147"/>
                </a:lnTo>
                <a:cubicBezTo>
                  <a:pt x="445581" y="551250"/>
                  <a:pt x="467697" y="575654"/>
                  <a:pt x="494978" y="575654"/>
                </a:cubicBezTo>
                <a:cubicBezTo>
                  <a:pt x="522257" y="575654"/>
                  <a:pt x="544372" y="551250"/>
                  <a:pt x="544372" y="521147"/>
                </a:cubicBezTo>
                <a:lnTo>
                  <a:pt x="544372" y="234988"/>
                </a:lnTo>
                <a:cubicBezTo>
                  <a:pt x="544372" y="204885"/>
                  <a:pt x="522257" y="180481"/>
                  <a:pt x="494978" y="180481"/>
                </a:cubicBezTo>
                <a:cubicBezTo>
                  <a:pt x="467697" y="180481"/>
                  <a:pt x="445581" y="204885"/>
                  <a:pt x="445581" y="234988"/>
                </a:cubicBezTo>
                <a:close/>
                <a:moveTo>
                  <a:pt x="659000" y="65214"/>
                </a:moveTo>
                <a:lnTo>
                  <a:pt x="937901" y="344116"/>
                </a:lnTo>
                <a:cubicBezTo>
                  <a:pt x="1024855" y="431070"/>
                  <a:pt x="1024855" y="572046"/>
                  <a:pt x="937901" y="659000"/>
                </a:cubicBezTo>
                <a:lnTo>
                  <a:pt x="659000" y="937901"/>
                </a:lnTo>
                <a:cubicBezTo>
                  <a:pt x="572046" y="1024855"/>
                  <a:pt x="431070" y="1024855"/>
                  <a:pt x="344116" y="937901"/>
                </a:cubicBezTo>
                <a:lnTo>
                  <a:pt x="65214" y="659000"/>
                </a:lnTo>
                <a:cubicBezTo>
                  <a:pt x="-21738" y="572046"/>
                  <a:pt x="-21738" y="431070"/>
                  <a:pt x="65214" y="344116"/>
                </a:cubicBezTo>
                <a:lnTo>
                  <a:pt x="344116" y="65214"/>
                </a:lnTo>
                <a:cubicBezTo>
                  <a:pt x="431070" y="-21738"/>
                  <a:pt x="572046" y="-21738"/>
                  <a:pt x="659000" y="65214"/>
                </a:cubicBezTo>
                <a:close/>
                <a:moveTo>
                  <a:pt x="501558" y="822634"/>
                </a:moveTo>
                <a:cubicBezTo>
                  <a:pt x="542479" y="822634"/>
                  <a:pt x="575654" y="789462"/>
                  <a:pt x="575654" y="748541"/>
                </a:cubicBezTo>
                <a:cubicBezTo>
                  <a:pt x="575654" y="707620"/>
                  <a:pt x="542479" y="674445"/>
                  <a:pt x="501558" y="674445"/>
                </a:cubicBezTo>
                <a:cubicBezTo>
                  <a:pt x="460637" y="674445"/>
                  <a:pt x="427462" y="707620"/>
                  <a:pt x="427462" y="748541"/>
                </a:cubicBezTo>
                <a:cubicBezTo>
                  <a:pt x="427462" y="789462"/>
                  <a:pt x="460637" y="822634"/>
                  <a:pt x="501558" y="822634"/>
                </a:cubicBezTo>
                <a:close/>
              </a:path>
            </a:pathLst>
          </a:custGeom>
          <a:solidFill>
            <a:srgbClr val="FF969C"/>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sp>
        <p:nvSpPr>
          <p:cNvPr id="191" name="Graphic 6">
            <a:extLst>
              <a:ext uri="{FF2B5EF4-FFF2-40B4-BE49-F238E27FC236}">
                <a16:creationId xmlns:a16="http://schemas.microsoft.com/office/drawing/2014/main" id="{ACCB69C7-6D94-96BA-A91E-2CC6DD07B3BD}"/>
              </a:ext>
            </a:extLst>
          </p:cNvPr>
          <p:cNvSpPr/>
          <p:nvPr userDrawn="1"/>
        </p:nvSpPr>
        <p:spPr>
          <a:xfrm rot="10800000" flipV="1">
            <a:off x="3157568" y="4484458"/>
            <a:ext cx="501558" cy="501558"/>
          </a:xfrm>
          <a:custGeom>
            <a:avLst/>
            <a:gdLst>
              <a:gd name="connsiteX0" fmla="*/ 501558 w 1003116"/>
              <a:gd name="connsiteY0" fmla="*/ 0 h 1003116"/>
              <a:gd name="connsiteX1" fmla="*/ 1003116 w 1003116"/>
              <a:gd name="connsiteY1" fmla="*/ 501558 h 1003116"/>
              <a:gd name="connsiteX2" fmla="*/ 501558 w 1003116"/>
              <a:gd name="connsiteY2" fmla="*/ 1003116 h 1003116"/>
              <a:gd name="connsiteX3" fmla="*/ 0 w 1003116"/>
              <a:gd name="connsiteY3" fmla="*/ 501558 h 1003116"/>
              <a:gd name="connsiteX4" fmla="*/ 501558 w 1003116"/>
              <a:gd name="connsiteY4" fmla="*/ 0 h 1003116"/>
              <a:gd name="connsiteX5" fmla="*/ 501558 w 1003116"/>
              <a:gd name="connsiteY5" fmla="*/ 668743 h 1003116"/>
              <a:gd name="connsiteX6" fmla="*/ 426324 w 1003116"/>
              <a:gd name="connsiteY6" fmla="*/ 743977 h 1003116"/>
              <a:gd name="connsiteX7" fmla="*/ 501558 w 1003116"/>
              <a:gd name="connsiteY7" fmla="*/ 819210 h 1003116"/>
              <a:gd name="connsiteX8" fmla="*/ 576792 w 1003116"/>
              <a:gd name="connsiteY8" fmla="*/ 743977 h 1003116"/>
              <a:gd name="connsiteX9" fmla="*/ 501558 w 1003116"/>
              <a:gd name="connsiteY9" fmla="*/ 668743 h 1003116"/>
              <a:gd name="connsiteX10" fmla="*/ 501558 w 1003116"/>
              <a:gd name="connsiteY10" fmla="*/ 208983 h 1003116"/>
              <a:gd name="connsiteX11" fmla="*/ 447224 w 1003116"/>
              <a:gd name="connsiteY11" fmla="*/ 260868 h 1003116"/>
              <a:gd name="connsiteX12" fmla="*/ 447224 w 1003116"/>
              <a:gd name="connsiteY12" fmla="*/ 533266 h 1003116"/>
              <a:gd name="connsiteX13" fmla="*/ 501558 w 1003116"/>
              <a:gd name="connsiteY13" fmla="*/ 585152 h 1003116"/>
              <a:gd name="connsiteX14" fmla="*/ 555892 w 1003116"/>
              <a:gd name="connsiteY14" fmla="*/ 533266 h 1003116"/>
              <a:gd name="connsiteX15" fmla="*/ 555892 w 1003116"/>
              <a:gd name="connsiteY15" fmla="*/ 260868 h 1003116"/>
              <a:gd name="connsiteX16" fmla="*/ 501558 w 1003116"/>
              <a:gd name="connsiteY16" fmla="*/ 208983 h 100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3116" h="1003116">
                <a:moveTo>
                  <a:pt x="501558" y="0"/>
                </a:moveTo>
                <a:cubicBezTo>
                  <a:pt x="778562" y="0"/>
                  <a:pt x="1003116" y="224555"/>
                  <a:pt x="1003116" y="501558"/>
                </a:cubicBezTo>
                <a:cubicBezTo>
                  <a:pt x="1003116" y="778562"/>
                  <a:pt x="778562" y="1003116"/>
                  <a:pt x="501558" y="1003116"/>
                </a:cubicBezTo>
                <a:cubicBezTo>
                  <a:pt x="224555" y="1003116"/>
                  <a:pt x="0" y="778562"/>
                  <a:pt x="0" y="501558"/>
                </a:cubicBezTo>
                <a:cubicBezTo>
                  <a:pt x="0" y="224555"/>
                  <a:pt x="224555" y="0"/>
                  <a:pt x="501558" y="0"/>
                </a:cubicBezTo>
                <a:close/>
                <a:moveTo>
                  <a:pt x="501558" y="668743"/>
                </a:moveTo>
                <a:cubicBezTo>
                  <a:pt x="460007" y="668743"/>
                  <a:pt x="426324" y="702429"/>
                  <a:pt x="426324" y="743977"/>
                </a:cubicBezTo>
                <a:cubicBezTo>
                  <a:pt x="426324" y="785528"/>
                  <a:pt x="460007" y="819210"/>
                  <a:pt x="501558" y="819210"/>
                </a:cubicBezTo>
                <a:cubicBezTo>
                  <a:pt x="543109" y="819210"/>
                  <a:pt x="576792" y="785528"/>
                  <a:pt x="576792" y="743977"/>
                </a:cubicBezTo>
                <a:cubicBezTo>
                  <a:pt x="576792" y="702429"/>
                  <a:pt x="543109" y="668743"/>
                  <a:pt x="501558" y="668743"/>
                </a:cubicBezTo>
                <a:close/>
                <a:moveTo>
                  <a:pt x="501558" y="208983"/>
                </a:moveTo>
                <a:cubicBezTo>
                  <a:pt x="471549" y="208983"/>
                  <a:pt x="447224" y="232212"/>
                  <a:pt x="447224" y="260868"/>
                </a:cubicBezTo>
                <a:lnTo>
                  <a:pt x="447224" y="533266"/>
                </a:lnTo>
                <a:cubicBezTo>
                  <a:pt x="447224" y="561921"/>
                  <a:pt x="471549" y="585152"/>
                  <a:pt x="501558" y="585152"/>
                </a:cubicBezTo>
                <a:cubicBezTo>
                  <a:pt x="531567" y="585152"/>
                  <a:pt x="555892" y="561921"/>
                  <a:pt x="555892" y="533266"/>
                </a:cubicBezTo>
                <a:lnTo>
                  <a:pt x="555892" y="260868"/>
                </a:lnTo>
                <a:cubicBezTo>
                  <a:pt x="555892" y="232212"/>
                  <a:pt x="531567" y="208983"/>
                  <a:pt x="501558" y="208983"/>
                </a:cubicBezTo>
                <a:close/>
              </a:path>
            </a:pathLst>
          </a:custGeom>
          <a:solidFill>
            <a:srgbClr val="FFBA8E"/>
          </a:solidFill>
          <a:ln w="31254" cap="flat">
            <a:noFill/>
            <a:prstDash val="solid"/>
            <a:miter/>
          </a:ln>
        </p:spPr>
        <p:txBody>
          <a:bodyPr rtlCol="0" anchor="ctr"/>
          <a:lstStyle/>
          <a:p>
            <a:pPr defTabSz="914355"/>
            <a:endParaRPr lang="en-US">
              <a:solidFill>
                <a:srgbClr val="333333"/>
              </a:solidFill>
              <a:latin typeface="Calibri" panose="020F0502020204030204"/>
            </a:endParaRPr>
          </a:p>
        </p:txBody>
      </p:sp>
      <p:pic>
        <p:nvPicPr>
          <p:cNvPr id="192" name="Graphic 191">
            <a:extLst>
              <a:ext uri="{FF2B5EF4-FFF2-40B4-BE49-F238E27FC236}">
                <a16:creationId xmlns:a16="http://schemas.microsoft.com/office/drawing/2014/main" id="{C228096C-CDA3-49A9-9030-87012E17D46E}"/>
              </a:ext>
            </a:extLst>
          </p:cNvPr>
          <p:cNvPicPr>
            <a:picLocks noChangeAspect="1"/>
          </p:cNvPicPr>
          <p:nvPr userDrawn="1"/>
        </p:nvPicPr>
        <p:blipFill>
          <a:blip>
            <a:extLst>
              <a:ext uri="{96DAC541-7B7A-43D3-8B79-37D633B846F1}">
                <asvg:svgBlip xmlns:asvg="http://schemas.microsoft.com/office/drawing/2016/SVG/main" r:embed="rId24"/>
              </a:ext>
            </a:extLst>
          </a:blip>
          <a:stretch>
            <a:fillRect/>
          </a:stretch>
        </p:blipFill>
        <p:spPr>
          <a:xfrm>
            <a:off x="4965462" y="4477951"/>
            <a:ext cx="501558" cy="501558"/>
          </a:xfrm>
          <a:prstGeom prst="rect">
            <a:avLst/>
          </a:prstGeom>
        </p:spPr>
      </p:pic>
      <p:pic>
        <p:nvPicPr>
          <p:cNvPr id="193" name="Graphic 192">
            <a:extLst>
              <a:ext uri="{FF2B5EF4-FFF2-40B4-BE49-F238E27FC236}">
                <a16:creationId xmlns:a16="http://schemas.microsoft.com/office/drawing/2014/main" id="{701DE5BF-997A-648A-EA01-BDCE29831FAC}"/>
              </a:ext>
            </a:extLst>
          </p:cNvPr>
          <p:cNvPicPr>
            <a:picLocks noChangeAspect="1"/>
          </p:cNvPicPr>
          <p:nvPr userDrawn="1"/>
        </p:nvPicPr>
        <p:blipFill>
          <a:blip>
            <a:extLst>
              <a:ext uri="{96DAC541-7B7A-43D3-8B79-37D633B846F1}">
                <asvg:svgBlip xmlns:asvg="http://schemas.microsoft.com/office/drawing/2016/SVG/main" r:embed="rId25"/>
              </a:ext>
            </a:extLst>
          </a:blip>
          <a:stretch>
            <a:fillRect/>
          </a:stretch>
        </p:blipFill>
        <p:spPr>
          <a:xfrm>
            <a:off x="5823644" y="4477951"/>
            <a:ext cx="501558" cy="501558"/>
          </a:xfrm>
          <a:prstGeom prst="rect">
            <a:avLst/>
          </a:prstGeom>
        </p:spPr>
      </p:pic>
      <p:sp>
        <p:nvSpPr>
          <p:cNvPr id="194" name="TextBox 193">
            <a:extLst>
              <a:ext uri="{FF2B5EF4-FFF2-40B4-BE49-F238E27FC236}">
                <a16:creationId xmlns:a16="http://schemas.microsoft.com/office/drawing/2014/main" id="{38B1C3EF-B7CB-0DE2-90AD-C0CE1A1CA8F4}"/>
              </a:ext>
            </a:extLst>
          </p:cNvPr>
          <p:cNvSpPr txBox="1"/>
          <p:nvPr userDrawn="1"/>
        </p:nvSpPr>
        <p:spPr>
          <a:xfrm>
            <a:off x="527936"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Universal icons</a:t>
            </a:r>
          </a:p>
        </p:txBody>
      </p:sp>
      <p:sp>
        <p:nvSpPr>
          <p:cNvPr id="195" name="TextBox 194">
            <a:extLst>
              <a:ext uri="{FF2B5EF4-FFF2-40B4-BE49-F238E27FC236}">
                <a16:creationId xmlns:a16="http://schemas.microsoft.com/office/drawing/2014/main" id="{4522944D-85F7-15D9-6CB8-DCACFC21B43B}"/>
              </a:ext>
            </a:extLst>
          </p:cNvPr>
          <p:cNvSpPr txBox="1"/>
          <p:nvPr userDrawn="1"/>
        </p:nvSpPr>
        <p:spPr>
          <a:xfrm>
            <a:off x="4866550" y="3775283"/>
            <a:ext cx="3642103" cy="369332"/>
          </a:xfrm>
          <a:prstGeom prst="rect">
            <a:avLst/>
          </a:prstGeom>
          <a:noFill/>
        </p:spPr>
        <p:txBody>
          <a:bodyPr wrap="square" lIns="0" tIns="0" rIns="0" bIns="0" rtlCol="0">
            <a:spAutoFit/>
          </a:bodyPr>
          <a:lstStyle/>
          <a:p>
            <a:pPr defTabSz="914355"/>
            <a:r>
              <a:rPr lang="en-CA" sz="2400" b="1">
                <a:solidFill>
                  <a:schemeClr val="bg1"/>
                </a:solidFill>
                <a:latin typeface="Scotia Headline" panose="020B0503020203020204" pitchFamily="34" charset="0"/>
                <a:ea typeface="Scotia Headline" panose="020B0503020203020204" pitchFamily="34" charset="0"/>
              </a:rPr>
              <a:t>Third Party Logo Icons</a:t>
            </a:r>
          </a:p>
        </p:txBody>
      </p:sp>
      <p:pic>
        <p:nvPicPr>
          <p:cNvPr id="196" name="Graphic 195">
            <a:extLst>
              <a:ext uri="{FF2B5EF4-FFF2-40B4-BE49-F238E27FC236}">
                <a16:creationId xmlns:a16="http://schemas.microsoft.com/office/drawing/2014/main" id="{E2EDA061-4FF8-6E22-2D0D-319038789BFC}"/>
              </a:ext>
            </a:extLst>
          </p:cNvPr>
          <p:cNvPicPr>
            <a:picLocks noChangeAspect="1"/>
          </p:cNvPicPr>
          <p:nvPr userDrawn="1"/>
        </p:nvPicPr>
        <p:blipFill>
          <a:blip>
            <a:extLst>
              <a:ext uri="{96DAC541-7B7A-43D3-8B79-37D633B846F1}">
                <asvg:svgBlip xmlns:asvg="http://schemas.microsoft.com/office/drawing/2016/SVG/main" r:embed="rId26"/>
              </a:ext>
            </a:extLst>
          </a:blip>
          <a:stretch>
            <a:fillRect/>
          </a:stretch>
        </p:blipFill>
        <p:spPr>
          <a:xfrm>
            <a:off x="9333527" y="2123726"/>
            <a:ext cx="556598" cy="556598"/>
          </a:xfrm>
          <a:prstGeom prst="rect">
            <a:avLst/>
          </a:prstGeom>
        </p:spPr>
      </p:pic>
    </p:spTree>
    <p:extLst>
      <p:ext uri="{BB962C8B-B14F-4D97-AF65-F5344CB8AC3E}">
        <p14:creationId xmlns:p14="http://schemas.microsoft.com/office/powerpoint/2010/main" val="303914470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Board Cover Slide">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39" y="1363683"/>
            <a:ext cx="11151579" cy="880522"/>
          </a:xfrm>
          <a:prstGeom prst="rect">
            <a:avLst/>
          </a:prstGeom>
        </p:spPr>
        <p:txBody>
          <a:bodyPr lIns="0" tIns="0" rIns="0" bIns="0" anchor="b">
            <a:noAutofit/>
          </a:bodyPr>
          <a:lstStyle>
            <a:lvl1pPr marL="0" indent="0">
              <a:lnSpc>
                <a:spcPct val="100000"/>
              </a:lnSpc>
              <a:spcBef>
                <a:spcPts val="0"/>
              </a:spcBef>
              <a:buNone/>
              <a:defRPr sz="4500" b="1" baseline="0">
                <a:solidFill>
                  <a:schemeClr val="bg1"/>
                </a:solidFill>
                <a:latin typeface="Arial" panose="020B0604020202020204" pitchFamily="34" charset="0"/>
                <a:cs typeface="Arial" panose="020B0604020202020204" pitchFamily="34" charset="0"/>
              </a:defRPr>
            </a:lvl1pPr>
          </a:lstStyle>
          <a:p>
            <a:pPr lvl="0"/>
            <a:r>
              <a:rPr lang="en-US"/>
              <a:t>[Name of Report]</a:t>
            </a:r>
            <a:endParaRPr lang="en-CA"/>
          </a:p>
        </p:txBody>
      </p:sp>
      <p:sp>
        <p:nvSpPr>
          <p:cNvPr id="6" name="Text Placeholder 20">
            <a:extLst>
              <a:ext uri="{FF2B5EF4-FFF2-40B4-BE49-F238E27FC236}">
                <a16:creationId xmlns:a16="http://schemas.microsoft.com/office/drawing/2014/main" id="{8632D353-746E-7496-FD11-5D285E582305}"/>
              </a:ext>
            </a:extLst>
          </p:cNvPr>
          <p:cNvSpPr>
            <a:spLocks noGrp="1"/>
          </p:cNvSpPr>
          <p:nvPr>
            <p:ph type="body" sz="quarter" idx="13" hasCustomPrompt="1"/>
          </p:nvPr>
        </p:nvSpPr>
        <p:spPr>
          <a:xfrm>
            <a:off x="515939" y="6169481"/>
            <a:ext cx="5580061" cy="216024"/>
          </a:xfrm>
          <a:prstGeom prst="rect">
            <a:avLst/>
          </a:prstGeom>
        </p:spPr>
        <p:txBody>
          <a:bodyPr lIns="0" tIns="0" rIns="0" bIns="0" anchor="t">
            <a:noAutofit/>
          </a:bodyPr>
          <a:lstStyle>
            <a:lvl1pPr marL="0" indent="0">
              <a:lnSpc>
                <a:spcPct val="100000"/>
              </a:lnSpc>
              <a:spcBef>
                <a:spcPts val="0"/>
              </a:spcBef>
              <a:buNone/>
              <a:defRPr sz="1200" b="1" baseline="0">
                <a:solidFill>
                  <a:schemeClr val="bg1"/>
                </a:solidFill>
                <a:latin typeface="Arial" panose="020B0604020202020204" pitchFamily="34" charset="0"/>
                <a:cs typeface="Arial" panose="020B0604020202020204" pitchFamily="34" charset="0"/>
              </a:defRPr>
            </a:lvl1pPr>
          </a:lstStyle>
          <a:p>
            <a:pPr lvl="0"/>
            <a:r>
              <a:rPr lang="en-US"/>
              <a:t>[Insert Committee/Board – Date of Meeting]</a:t>
            </a:r>
            <a:endParaRPr lang="en-CA"/>
          </a:p>
        </p:txBody>
      </p:sp>
      <p:pic>
        <p:nvPicPr>
          <p:cNvPr id="2" name="Picture 1" descr="A white letters on a black background&#10;&#10;Description automatically generated">
            <a:extLst>
              <a:ext uri="{FF2B5EF4-FFF2-40B4-BE49-F238E27FC236}">
                <a16:creationId xmlns:a16="http://schemas.microsoft.com/office/drawing/2014/main" id="{024E97BB-ECB9-20D8-2260-286E9FE582AB}"/>
              </a:ext>
            </a:extLst>
          </p:cNvPr>
          <p:cNvPicPr>
            <a:picLocks noChangeAspect="1"/>
          </p:cNvPicPr>
          <p:nvPr userDrawn="1"/>
        </p:nvPicPr>
        <p:blipFill>
          <a:blip r:embed="rId2"/>
          <a:stretch>
            <a:fillRect/>
          </a:stretch>
        </p:blipFill>
        <p:spPr>
          <a:xfrm>
            <a:off x="9798462" y="6181787"/>
            <a:ext cx="1823276" cy="260468"/>
          </a:xfrm>
          <a:prstGeom prst="rect">
            <a:avLst/>
          </a:prstGeom>
        </p:spPr>
      </p:pic>
    </p:spTree>
    <p:extLst>
      <p:ext uri="{BB962C8B-B14F-4D97-AF65-F5344CB8AC3E}">
        <p14:creationId xmlns:p14="http://schemas.microsoft.com/office/powerpoint/2010/main" val="3798473864"/>
      </p:ext>
    </p:extLst>
  </p:cSld>
  <p:clrMapOvr>
    <a:masterClrMapping/>
  </p:clrMapOvr>
  <p:hf hdr="0" ftr="0" dt="0"/>
  <p:extLst>
    <p:ext uri="{DCECCB84-F9BA-43D5-87BE-67443E8EF086}">
      <p15:sldGuideLst xmlns:p15="http://schemas.microsoft.com/office/powerpoint/2012/main">
        <p15:guide id="2" pos="244">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5516">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Report Summary">
    <p:spTree>
      <p:nvGrpSpPr>
        <p:cNvPr id="1" name=""/>
        <p:cNvGrpSpPr/>
        <p:nvPr/>
      </p:nvGrpSpPr>
      <p:grpSpPr>
        <a:xfrm>
          <a:off x="0" y="0"/>
          <a:ext cx="0" cy="0"/>
          <a:chOff x="0" y="0"/>
          <a:chExt cx="0" cy="0"/>
        </a:xfrm>
      </p:grpSpPr>
      <p:sp>
        <p:nvSpPr>
          <p:cNvPr id="4" name="Slide Number Placeholder 2">
            <a:extLst>
              <a:ext uri="{FF2B5EF4-FFF2-40B4-BE49-F238E27FC236}">
                <a16:creationId xmlns:a16="http://schemas.microsoft.com/office/drawing/2014/main" id="{47796AC2-DA3F-5A6B-A668-2645521522AD}"/>
              </a:ext>
            </a:extLst>
          </p:cNvPr>
          <p:cNvSpPr>
            <a:spLocks noGrp="1"/>
          </p:cNvSpPr>
          <p:nvPr>
            <p:ph type="sldNum" sz="quarter" idx="10"/>
          </p:nvPr>
        </p:nvSpPr>
        <p:spPr>
          <a:xfrm>
            <a:off x="11231211" y="338582"/>
            <a:ext cx="435865" cy="180000"/>
          </a:xfrm>
          <a:prstGeom prst="rect">
            <a:avLst/>
          </a:prstGeom>
        </p:spPr>
        <p:txBody>
          <a:bodyPr/>
          <a:lstStyle>
            <a:lvl1pPr algn="r">
              <a:defRPr sz="1200">
                <a:latin typeface="Arial" panose="020B0604020202020204" pitchFamily="34" charset="0"/>
                <a:ea typeface="Scotia Light" panose="020B0403020203020204" pitchFamily="34" charset="0"/>
                <a:cs typeface="Arial" panose="020B0604020202020204" pitchFamily="34" charset="0"/>
              </a:defRPr>
            </a:lvl1pPr>
          </a:lstStyle>
          <a:p>
            <a:fld id="{95D835A7-12B2-4074-8DA2-469A8808C237}" type="slidenum">
              <a:rPr lang="en-CA" smtClean="0"/>
              <a:pPr/>
              <a:t>‹#›</a:t>
            </a:fld>
            <a:endParaRPr lang="en-CA"/>
          </a:p>
        </p:txBody>
      </p:sp>
      <p:sp>
        <p:nvSpPr>
          <p:cNvPr id="2" name="TextBox 1">
            <a:extLst>
              <a:ext uri="{FF2B5EF4-FFF2-40B4-BE49-F238E27FC236}">
                <a16:creationId xmlns:a16="http://schemas.microsoft.com/office/drawing/2014/main" id="{AA5C08C7-B4E9-DBE3-D36F-BD7F3CBB657F}"/>
              </a:ext>
            </a:extLst>
          </p:cNvPr>
          <p:cNvSpPr txBox="1"/>
          <p:nvPr userDrawn="1"/>
        </p:nvSpPr>
        <p:spPr>
          <a:xfrm>
            <a:off x="396867" y="332656"/>
            <a:ext cx="7680853" cy="369332"/>
          </a:xfrm>
          <a:prstGeom prst="rect">
            <a:avLst/>
          </a:prstGeom>
          <a:noFill/>
        </p:spPr>
        <p:txBody>
          <a:bodyPr wrap="square">
            <a:spAutoFit/>
          </a:bodyPr>
          <a:lstStyle/>
          <a:p>
            <a:r>
              <a:rPr lang="en-CA" sz="1800" b="1">
                <a:latin typeface="Arial" panose="020B0604020202020204" pitchFamily="34" charset="0"/>
                <a:cs typeface="Arial" panose="020B0604020202020204" pitchFamily="34" charset="0"/>
              </a:rPr>
              <a:t>Board of Directors Submission – Report Summary</a:t>
            </a:r>
          </a:p>
        </p:txBody>
      </p:sp>
      <p:cxnSp>
        <p:nvCxnSpPr>
          <p:cNvPr id="3" name="Straight Connector 2">
            <a:extLst>
              <a:ext uri="{FF2B5EF4-FFF2-40B4-BE49-F238E27FC236}">
                <a16:creationId xmlns:a16="http://schemas.microsoft.com/office/drawing/2014/main" id="{D4E691BA-DAE7-A5FE-91C3-61EEA87CA19A}"/>
              </a:ext>
            </a:extLst>
          </p:cNvPr>
          <p:cNvCxnSpPr>
            <a:cxnSpLocks/>
          </p:cNvCxnSpPr>
          <p:nvPr userDrawn="1"/>
        </p:nvCxnSpPr>
        <p:spPr>
          <a:xfrm>
            <a:off x="516467" y="692696"/>
            <a:ext cx="1115906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7FD4AFD-388A-C4F9-A806-6D6A7E96AA91}"/>
              </a:ext>
            </a:extLst>
          </p:cNvPr>
          <p:cNvCxnSpPr>
            <a:cxnSpLocks/>
          </p:cNvCxnSpPr>
          <p:nvPr userDrawn="1"/>
        </p:nvCxnSpPr>
        <p:spPr>
          <a:xfrm>
            <a:off x="6096000" y="1052736"/>
            <a:ext cx="0" cy="5076604"/>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387697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6_Board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15940" y="661850"/>
            <a:ext cx="11160124" cy="720000"/>
          </a:xfrm>
        </p:spPr>
        <p:txBody>
          <a:bodyPr>
            <a:noAutofit/>
          </a:bodyPr>
          <a:lstStyle>
            <a:lvl1pPr>
              <a:defRPr sz="2400"/>
            </a:lvl1pPr>
          </a:lstStyle>
          <a:p>
            <a:r>
              <a:rPr lang="en-US"/>
              <a:t>Click to edit title</a:t>
            </a:r>
            <a:endParaRPr lang="en-CA"/>
          </a:p>
        </p:txBody>
      </p:sp>
      <p:sp>
        <p:nvSpPr>
          <p:cNvPr id="3" name="Slide Number Placeholder 2"/>
          <p:cNvSpPr>
            <a:spLocks noGrp="1"/>
          </p:cNvSpPr>
          <p:nvPr>
            <p:ph type="sldNum" sz="quarter" idx="10"/>
          </p:nvPr>
        </p:nvSpPr>
        <p:spPr>
          <a:xfrm>
            <a:off x="11135939" y="338582"/>
            <a:ext cx="531137" cy="121562"/>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4" name="Text Placeholder 5"/>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
        <p:nvSpPr>
          <p:cNvPr id="5" name="Content Placeholder 7"/>
          <p:cNvSpPr>
            <a:spLocks noGrp="1"/>
          </p:cNvSpPr>
          <p:nvPr>
            <p:ph sz="quarter" idx="12" hasCustomPrompt="1"/>
          </p:nvPr>
        </p:nvSpPr>
        <p:spPr>
          <a:xfrm>
            <a:off x="515940" y="1959429"/>
            <a:ext cx="11160124" cy="4158775"/>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SECTION NAME</a:t>
            </a:r>
            <a:endParaRPr lang="en-CA"/>
          </a:p>
        </p:txBody>
      </p:sp>
      <p:grpSp>
        <p:nvGrpSpPr>
          <p:cNvPr id="13" name="Group 4">
            <a:extLst>
              <a:ext uri="{FF2B5EF4-FFF2-40B4-BE49-F238E27FC236}">
                <a16:creationId xmlns:a16="http://schemas.microsoft.com/office/drawing/2014/main" id="{AA074EBA-29B4-4B84-909C-21389481A2F6}"/>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14" name="Freeform 5">
              <a:extLst>
                <a:ext uri="{FF2B5EF4-FFF2-40B4-BE49-F238E27FC236}">
                  <a16:creationId xmlns:a16="http://schemas.microsoft.com/office/drawing/2014/main" id="{425F3CD6-F316-4187-B2EB-74AC82C8CB8B}"/>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5" name="Freeform 6">
              <a:extLst>
                <a:ext uri="{FF2B5EF4-FFF2-40B4-BE49-F238E27FC236}">
                  <a16:creationId xmlns:a16="http://schemas.microsoft.com/office/drawing/2014/main" id="{CBC724D9-95E9-4209-9996-BDDC2DAAE5B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6" name="Oval 7">
              <a:extLst>
                <a:ext uri="{FF2B5EF4-FFF2-40B4-BE49-F238E27FC236}">
                  <a16:creationId xmlns:a16="http://schemas.microsoft.com/office/drawing/2014/main" id="{9C9697DA-93B9-4E00-AE4B-D4A89FE5FE6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
        <p:nvSpPr>
          <p:cNvPr id="8" name="Text Placeholder 7">
            <a:extLst>
              <a:ext uri="{FF2B5EF4-FFF2-40B4-BE49-F238E27FC236}">
                <a16:creationId xmlns:a16="http://schemas.microsoft.com/office/drawing/2014/main" id="{A59050FD-BB9E-3301-DD57-3A6B33EF1722}"/>
              </a:ext>
            </a:extLst>
          </p:cNvPr>
          <p:cNvSpPr>
            <a:spLocks noGrp="1"/>
          </p:cNvSpPr>
          <p:nvPr>
            <p:ph type="body" sz="quarter" idx="14" hasCustomPrompt="1"/>
          </p:nvPr>
        </p:nvSpPr>
        <p:spPr>
          <a:xfrm>
            <a:off x="515939" y="1672753"/>
            <a:ext cx="5400000" cy="180000"/>
          </a:xfrm>
        </p:spPr>
        <p:txBody>
          <a:bodyPr anchor="ctr">
            <a:normAutofit/>
          </a:bodyPr>
          <a:lstStyle>
            <a:lvl1pPr marL="0" indent="0" algn="l">
              <a:spcBef>
                <a:spcPts val="0"/>
              </a:spcBef>
              <a:buNone/>
              <a:defRPr sz="1000" spc="200" baseline="0"/>
            </a:lvl1pPr>
          </a:lstStyle>
          <a:p>
            <a:pPr lvl="0"/>
            <a:r>
              <a:rPr lang="en-US"/>
              <a:t>INSERT SUBTITLE</a:t>
            </a:r>
          </a:p>
        </p:txBody>
      </p:sp>
    </p:spTree>
    <p:extLst>
      <p:ext uri="{BB962C8B-B14F-4D97-AF65-F5344CB8AC3E}">
        <p14:creationId xmlns:p14="http://schemas.microsoft.com/office/powerpoint/2010/main" val="4157117944"/>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03">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1_BoardConten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94BCD5C-1849-7473-8A4B-1903E617F620}"/>
              </a:ext>
            </a:extLst>
          </p:cNvPr>
          <p:cNvGraphicFramePr>
            <a:graphicFrameLocks noChangeAspect="1"/>
          </p:cNvGraphicFramePr>
          <p:nvPr userDrawn="1">
            <p:custDataLst>
              <p:tags r:id="rId1"/>
            </p:custDataLst>
            <p:extLst>
              <p:ext uri="{D42A27DB-BD31-4B8C-83A1-F6EECF244321}">
                <p14:modId xmlns:p14="http://schemas.microsoft.com/office/powerpoint/2010/main" val="10584121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8" name="think-cell data - do not delete" hidden="1">
                        <a:extLst>
                          <a:ext uri="{FF2B5EF4-FFF2-40B4-BE49-F238E27FC236}">
                            <a16:creationId xmlns:a16="http://schemas.microsoft.com/office/drawing/2014/main" id="{D94BCD5C-1849-7473-8A4B-1903E617F62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515940" y="661850"/>
            <a:ext cx="11160124" cy="720000"/>
          </a:xfrm>
        </p:spPr>
        <p:txBody>
          <a:bodyPr vert="horz" anchor="t">
            <a:noAutofit/>
          </a:bodyPr>
          <a:lstStyle>
            <a:lvl1pPr>
              <a:defRPr sz="2200"/>
            </a:lvl1pPr>
          </a:lstStyle>
          <a:p>
            <a:r>
              <a:rPr lang="en-US"/>
              <a:t>Click to edit title</a:t>
            </a:r>
            <a:endParaRPr lang="en-CA"/>
          </a:p>
        </p:txBody>
      </p:sp>
      <p:sp>
        <p:nvSpPr>
          <p:cNvPr id="3" name="Slide Number Placeholder 2"/>
          <p:cNvSpPr>
            <a:spLocks noGrp="1"/>
          </p:cNvSpPr>
          <p:nvPr>
            <p:ph type="sldNum" sz="quarter" idx="10"/>
          </p:nvPr>
        </p:nvSpPr>
        <p:spPr>
          <a:xfrm>
            <a:off x="11231211" y="338582"/>
            <a:ext cx="435865" cy="180000"/>
          </a:xfrm>
          <a:prstGeom prst="rect">
            <a:avLst/>
          </a:prstGeom>
        </p:spPr>
        <p:txBody>
          <a:bodyPr/>
          <a:lstStyle>
            <a:lvl1pPr>
              <a:defRPr sz="1200">
                <a:latin typeface="Scotia Light" panose="020B0403020203020204" pitchFamily="34" charset="0"/>
                <a:ea typeface="Scotia Light" panose="020B0403020203020204" pitchFamily="34" charset="0"/>
              </a:defRPr>
            </a:lvl1pPr>
          </a:lstStyle>
          <a:p>
            <a:fld id="{95D835A7-12B2-4074-8DA2-469A8808C237}" type="slidenum">
              <a:rPr lang="en-CA" smtClean="0"/>
              <a:pPr/>
              <a:t>‹#›</a:t>
            </a:fld>
            <a:endParaRPr lang="en-CA"/>
          </a:p>
        </p:txBody>
      </p:sp>
      <p:sp>
        <p:nvSpPr>
          <p:cNvPr id="5" name="Content Placeholder 7"/>
          <p:cNvSpPr>
            <a:spLocks noGrp="1"/>
          </p:cNvSpPr>
          <p:nvPr>
            <p:ph sz="quarter" idx="12" hasCustomPrompt="1"/>
          </p:nvPr>
        </p:nvSpPr>
        <p:spPr>
          <a:xfrm>
            <a:off x="515940" y="1625600"/>
            <a:ext cx="11160124" cy="4492603"/>
          </a:xfrm>
        </p:spPr>
        <p:txBody>
          <a:bodyPr>
            <a:noAutofit/>
          </a:bodyPr>
          <a:lstStyle>
            <a:lvl1pPr marL="357192" indent="-357192">
              <a:defRPr>
                <a:latin typeface="+mn-lt"/>
                <a:ea typeface="Scotia Light" panose="020B0403020203020204" pitchFamily="34" charset="0"/>
              </a:defRPr>
            </a:lvl1pPr>
            <a:lvl2pPr marL="809635" indent="-352429">
              <a:buFont typeface="Scotia" panose="020B0503020203020204" pitchFamily="34" charset="0"/>
              <a:buChar char="−"/>
              <a:defRPr sz="1200">
                <a:latin typeface="+mn-lt"/>
                <a:ea typeface="Scotia Light" panose="020B0403020203020204" pitchFamily="34" charset="0"/>
              </a:defRPr>
            </a:lvl2pPr>
            <a:lvl3pPr marL="1254140" indent="-339729">
              <a:buFont typeface="Courier New" panose="02070309020205020404" pitchFamily="49" charset="0"/>
              <a:buChar char="o"/>
              <a:defRPr sz="1100">
                <a:latin typeface="+mn-lt"/>
                <a:ea typeface="Scotia Light" panose="020B0403020203020204" pitchFamily="34" charset="0"/>
              </a:defRPr>
            </a:lvl3pPr>
            <a:lvl4pPr marL="1706585" indent="-334968">
              <a:defRPr sz="1200">
                <a:latin typeface="+mn-lt"/>
                <a:ea typeface="Scotia Light" panose="020B0403020203020204" pitchFamily="34" charset="0"/>
              </a:defRPr>
            </a:lvl4pPr>
            <a:lvl5pPr marL="2151090" indent="-322267">
              <a:defRPr sz="1200">
                <a:latin typeface="+mn-lt"/>
                <a:ea typeface="Scotia Light" panose="020B0403020203020204" pitchFamily="34" charset="0"/>
              </a:defRPr>
            </a:lvl5pPr>
          </a:lstStyle>
          <a:p>
            <a:pPr lvl="0"/>
            <a:r>
              <a:rPr lang="en-US"/>
              <a:t>Click to edit content</a:t>
            </a:r>
          </a:p>
          <a:p>
            <a:pPr lvl="1"/>
            <a:r>
              <a:rPr lang="en-US"/>
              <a:t>Second level</a:t>
            </a:r>
          </a:p>
          <a:p>
            <a:pPr lvl="2"/>
            <a:r>
              <a:rPr lang="en-US"/>
              <a:t>Third level</a:t>
            </a:r>
          </a:p>
        </p:txBody>
      </p:sp>
      <p:sp>
        <p:nvSpPr>
          <p:cNvPr id="7" name="Text Placeholder 7">
            <a:extLst>
              <a:ext uri="{FF2B5EF4-FFF2-40B4-BE49-F238E27FC236}">
                <a16:creationId xmlns:a16="http://schemas.microsoft.com/office/drawing/2014/main" id="{7F0B6CAB-0B78-4833-A53C-30169AE954F0}"/>
              </a:ext>
            </a:extLst>
          </p:cNvPr>
          <p:cNvSpPr>
            <a:spLocks noGrp="1"/>
          </p:cNvSpPr>
          <p:nvPr>
            <p:ph type="body" sz="quarter" idx="13" hasCustomPrompt="1"/>
          </p:nvPr>
        </p:nvSpPr>
        <p:spPr>
          <a:xfrm>
            <a:off x="515938" y="342857"/>
            <a:ext cx="5400000" cy="180000"/>
          </a:xfrm>
        </p:spPr>
        <p:txBody>
          <a:bodyPr anchor="ctr">
            <a:noAutofit/>
          </a:bodyPr>
          <a:lstStyle>
            <a:lvl1pPr marL="0" indent="0" algn="l">
              <a:buNone/>
              <a:defRPr sz="900" b="0" cap="all" spc="201" baseline="0">
                <a:solidFill>
                  <a:srgbClr val="EC111A"/>
                </a:solidFill>
                <a:latin typeface="Scotia Light" panose="020B0403020203020204" pitchFamily="34" charset="0"/>
                <a:ea typeface="Scotia Light" panose="020B0403020203020204" pitchFamily="34" charset="0"/>
              </a:defRPr>
            </a:lvl1pPr>
          </a:lstStyle>
          <a:p>
            <a:pPr lvl="0"/>
            <a:r>
              <a:rPr lang="en-US"/>
              <a:t>CLICK TO EDIT SECTION NAME</a:t>
            </a:r>
            <a:endParaRPr lang="en-CA"/>
          </a:p>
        </p:txBody>
      </p:sp>
      <p:sp>
        <p:nvSpPr>
          <p:cNvPr id="6" name="Text Placeholder 5">
            <a:extLst>
              <a:ext uri="{FF2B5EF4-FFF2-40B4-BE49-F238E27FC236}">
                <a16:creationId xmlns:a16="http://schemas.microsoft.com/office/drawing/2014/main" id="{4C6387AE-77D0-2F79-CD51-4A0712641C3A}"/>
              </a:ext>
            </a:extLst>
          </p:cNvPr>
          <p:cNvSpPr>
            <a:spLocks noGrp="1"/>
          </p:cNvSpPr>
          <p:nvPr>
            <p:ph type="body" sz="quarter" idx="11" hasCustomPrompt="1"/>
          </p:nvPr>
        </p:nvSpPr>
        <p:spPr>
          <a:xfrm>
            <a:off x="515939" y="6319910"/>
            <a:ext cx="10620000" cy="144000"/>
          </a:xfrm>
        </p:spPr>
        <p:txBody>
          <a:bodyPr anchor="b">
            <a:noAutofit/>
          </a:bodyPr>
          <a:lstStyle>
            <a:lvl1pPr marL="0" indent="0">
              <a:lnSpc>
                <a:spcPct val="100000"/>
              </a:lnSpc>
              <a:spcBef>
                <a:spcPts val="0"/>
              </a:spcBef>
              <a:buNone/>
              <a:defRPr sz="900" i="0" baseline="0">
                <a:latin typeface="Scotia Light" panose="020B0403020203020204" pitchFamily="34" charset="0"/>
                <a:ea typeface="Scotia Light" panose="020B0403020203020204" pitchFamily="34" charset="0"/>
              </a:defRPr>
            </a:lvl1pPr>
            <a:lvl2pPr>
              <a:defRPr sz="800" i="1"/>
            </a:lvl2pPr>
            <a:lvl3pPr>
              <a:defRPr sz="800" i="1"/>
            </a:lvl3pPr>
            <a:lvl4pPr>
              <a:defRPr sz="800" i="1"/>
            </a:lvl4pPr>
            <a:lvl5pPr>
              <a:defRPr sz="800" i="1"/>
            </a:lvl5pPr>
          </a:lstStyle>
          <a:p>
            <a:pPr lvl="0"/>
            <a:r>
              <a:rPr lang="en-US"/>
              <a:t>Insert footnote</a:t>
            </a:r>
          </a:p>
        </p:txBody>
      </p:sp>
    </p:spTree>
    <p:extLst>
      <p:ext uri="{BB962C8B-B14F-4D97-AF65-F5344CB8AC3E}">
        <p14:creationId xmlns:p14="http://schemas.microsoft.com/office/powerpoint/2010/main" val="1331143661"/>
      </p:ext>
    </p:extLst>
  </p:cSld>
  <p:clrMapOvr>
    <a:masterClrMapping/>
  </p:clrMapOvr>
  <p:extLst>
    <p:ext uri="{DCECCB84-F9BA-43D5-87BE-67443E8EF086}">
      <p15:sldGuideLst xmlns:p15="http://schemas.microsoft.com/office/powerpoint/2012/main">
        <p15:guide id="1" pos="325">
          <p15:clr>
            <a:srgbClr val="FBAE40"/>
          </p15:clr>
        </p15:guide>
        <p15:guide id="2" pos="7355">
          <p15:clr>
            <a:srgbClr val="FBAE40"/>
          </p15:clr>
        </p15:guide>
        <p15:guide id="3" orient="horz" pos="1026">
          <p15:clr>
            <a:srgbClr val="FBAE40"/>
          </p15:clr>
        </p15:guide>
        <p15:guide id="4" orient="horz" pos="890">
          <p15:clr>
            <a:srgbClr val="FBAE40"/>
          </p15:clr>
        </p15:guide>
        <p15:guide id="5" orient="horz" pos="414">
          <p15:clr>
            <a:srgbClr val="FBAE40"/>
          </p15:clr>
        </p15:guide>
        <p15:guide id="6" orient="horz" pos="3974">
          <p15:clr>
            <a:srgbClr val="FBAE40"/>
          </p15:clr>
        </p15:guide>
        <p15:guide id="7" orient="horz" pos="4088">
          <p15:clr>
            <a:srgbClr val="FBAE40"/>
          </p15:clr>
        </p15:guide>
        <p15:guide id="8" orient="horz" pos="3861">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1_Cover_Red">
    <p:bg>
      <p:bgPr>
        <a:solidFill>
          <a:srgbClr val="EC111A"/>
        </a:solidFill>
        <a:effectLst/>
      </p:bgPr>
    </p:bg>
    <p:spTree>
      <p:nvGrpSpPr>
        <p:cNvPr id="1" name=""/>
        <p:cNvGrpSpPr/>
        <p:nvPr/>
      </p:nvGrpSpPr>
      <p:grpSpPr>
        <a:xfrm>
          <a:off x="0" y="0"/>
          <a:ext cx="0" cy="0"/>
          <a:chOff x="0" y="0"/>
          <a:chExt cx="0" cy="0"/>
        </a:xfrm>
      </p:grpSpPr>
      <p:sp>
        <p:nvSpPr>
          <p:cNvPr id="21" name="Text Placeholder 20"/>
          <p:cNvSpPr>
            <a:spLocks noGrp="1"/>
          </p:cNvSpPr>
          <p:nvPr>
            <p:ph type="body" sz="quarter" idx="10" hasCustomPrompt="1"/>
          </p:nvPr>
        </p:nvSpPr>
        <p:spPr>
          <a:xfrm>
            <a:off x="515940" y="3093273"/>
            <a:ext cx="11151579" cy="880522"/>
          </a:xfrm>
        </p:spPr>
        <p:txBody>
          <a:bodyPr lIns="0" tIns="0" rIns="0" bIns="0" anchor="b">
            <a:noAutofit/>
          </a:bodyPr>
          <a:lstStyle>
            <a:lvl1pPr marL="0" indent="0">
              <a:buNone/>
              <a:defRPr sz="6000" b="1" baseline="0">
                <a:solidFill>
                  <a:schemeClr val="bg1"/>
                </a:solidFill>
                <a:latin typeface="+mj-lt"/>
              </a:defRPr>
            </a:lvl1pPr>
          </a:lstStyle>
          <a:p>
            <a:pPr lvl="0"/>
            <a:r>
              <a:rPr lang="en-US"/>
              <a:t>Insert document title</a:t>
            </a:r>
            <a:endParaRPr lang="en-CA"/>
          </a:p>
        </p:txBody>
      </p:sp>
      <p:sp>
        <p:nvSpPr>
          <p:cNvPr id="23" name="Text Placeholder 22"/>
          <p:cNvSpPr>
            <a:spLocks noGrp="1"/>
          </p:cNvSpPr>
          <p:nvPr>
            <p:ph type="body" sz="quarter" idx="11" hasCustomPrompt="1"/>
          </p:nvPr>
        </p:nvSpPr>
        <p:spPr>
          <a:xfrm>
            <a:off x="515940" y="4074964"/>
            <a:ext cx="11151579" cy="324000"/>
          </a:xfrm>
        </p:spPr>
        <p:txBody>
          <a:bodyPr anchor="ctr">
            <a:normAutofit/>
          </a:bodyPr>
          <a:lstStyle>
            <a:lvl1pPr marL="0" indent="0">
              <a:buNone/>
              <a:defRPr sz="1600" baseline="0">
                <a:solidFill>
                  <a:schemeClr val="bg1"/>
                </a:solidFill>
                <a:latin typeface="Scotia Light" panose="020B0403020203020204" pitchFamily="34" charset="0"/>
                <a:ea typeface="Scotia Light" panose="020B0403020203020204" pitchFamily="34" charset="0"/>
              </a:defRPr>
            </a:lvl1pPr>
          </a:lstStyle>
          <a:p>
            <a:pPr lvl="0"/>
            <a:r>
              <a:rPr lang="en-US"/>
              <a:t>Insert document subtitle</a:t>
            </a:r>
            <a:endParaRPr lang="en-CA"/>
          </a:p>
        </p:txBody>
      </p:sp>
      <p:sp>
        <p:nvSpPr>
          <p:cNvPr id="3" name="Text Placeholder 2"/>
          <p:cNvSpPr>
            <a:spLocks noGrp="1"/>
          </p:cNvSpPr>
          <p:nvPr>
            <p:ph type="body" sz="quarter" idx="12" hasCustomPrompt="1"/>
          </p:nvPr>
        </p:nvSpPr>
        <p:spPr>
          <a:xfrm>
            <a:off x="515938" y="5011398"/>
            <a:ext cx="3170763" cy="324000"/>
          </a:xfrm>
        </p:spPr>
        <p:txBody>
          <a:bodyPr anchor="ctr">
            <a:noAutofit/>
          </a:bodyPr>
          <a:lstStyle>
            <a:lvl1pPr marL="0" indent="0">
              <a:buNone/>
              <a:defRPr sz="1401">
                <a:solidFill>
                  <a:schemeClr val="bg1"/>
                </a:solidFill>
                <a:latin typeface="Scotia Light" panose="020B0403020203020204" pitchFamily="34" charset="0"/>
                <a:ea typeface="Scotia Light" panose="020B0403020203020204" pitchFamily="34" charset="0"/>
              </a:defRPr>
            </a:lvl1pPr>
            <a:lvl2pPr>
              <a:defRPr sz="1100">
                <a:solidFill>
                  <a:schemeClr val="bg1"/>
                </a:solidFill>
              </a:defRPr>
            </a:lvl2pPr>
            <a:lvl3pPr>
              <a:defRPr sz="1051">
                <a:solidFill>
                  <a:schemeClr val="bg1"/>
                </a:solidFill>
              </a:defRPr>
            </a:lvl3pPr>
            <a:lvl4pPr>
              <a:defRPr sz="1001">
                <a:solidFill>
                  <a:schemeClr val="bg1"/>
                </a:solidFill>
              </a:defRPr>
            </a:lvl4pPr>
            <a:lvl5pPr>
              <a:defRPr sz="1001">
                <a:solidFill>
                  <a:schemeClr val="bg1"/>
                </a:solidFill>
              </a:defRPr>
            </a:lvl5pPr>
          </a:lstStyle>
          <a:p>
            <a:pPr lvl="0"/>
            <a:r>
              <a:rPr lang="en-US"/>
              <a:t>Insert date</a:t>
            </a:r>
          </a:p>
        </p:txBody>
      </p:sp>
      <p:grpSp>
        <p:nvGrpSpPr>
          <p:cNvPr id="2" name="Group 1">
            <a:extLst>
              <a:ext uri="{FF2B5EF4-FFF2-40B4-BE49-F238E27FC236}">
                <a16:creationId xmlns:a16="http://schemas.microsoft.com/office/drawing/2014/main" id="{754C4F53-3F1D-3C7A-9D93-CAB2AF6A03B0}"/>
              </a:ext>
            </a:extLst>
          </p:cNvPr>
          <p:cNvGrpSpPr/>
          <p:nvPr userDrawn="1"/>
        </p:nvGrpSpPr>
        <p:grpSpPr>
          <a:xfrm>
            <a:off x="9845498" y="6035290"/>
            <a:ext cx="1822020" cy="259172"/>
            <a:chOff x="1181100" y="4584700"/>
            <a:chExt cx="2589213" cy="368300"/>
          </a:xfrm>
          <a:solidFill>
            <a:schemeClr val="bg1"/>
          </a:solidFill>
        </p:grpSpPr>
        <p:sp>
          <p:nvSpPr>
            <p:cNvPr id="4" name="Freeform 5">
              <a:extLst>
                <a:ext uri="{FF2B5EF4-FFF2-40B4-BE49-F238E27FC236}">
                  <a16:creationId xmlns:a16="http://schemas.microsoft.com/office/drawing/2014/main" id="{DA74CAEA-5198-A16A-84AE-32259B79D69D}"/>
                </a:ext>
              </a:extLst>
            </p:cNvPr>
            <p:cNvSpPr>
              <a:spLocks noEditPoints="1"/>
            </p:cNvSpPr>
            <p:nvPr userDrawn="1"/>
          </p:nvSpPr>
          <p:spPr bwMode="auto">
            <a:xfrm>
              <a:off x="1682750" y="4695825"/>
              <a:ext cx="255587" cy="257175"/>
            </a:xfrm>
            <a:custGeom>
              <a:avLst/>
              <a:gdLst>
                <a:gd name="T0" fmla="*/ 168 w 336"/>
                <a:gd name="T1" fmla="*/ 0 h 337"/>
                <a:gd name="T2" fmla="*/ 0 w 336"/>
                <a:gd name="T3" fmla="*/ 168 h 337"/>
                <a:gd name="T4" fmla="*/ 168 w 336"/>
                <a:gd name="T5" fmla="*/ 337 h 337"/>
                <a:gd name="T6" fmla="*/ 336 w 336"/>
                <a:gd name="T7" fmla="*/ 168 h 337"/>
                <a:gd name="T8" fmla="*/ 168 w 336"/>
                <a:gd name="T9" fmla="*/ 0 h 337"/>
                <a:gd name="T10" fmla="*/ 168 w 336"/>
                <a:gd name="T11" fmla="*/ 242 h 337"/>
                <a:gd name="T12" fmla="*/ 95 w 336"/>
                <a:gd name="T13" fmla="*/ 168 h 337"/>
                <a:gd name="T14" fmla="*/ 169 w 336"/>
                <a:gd name="T15" fmla="*/ 94 h 337"/>
                <a:gd name="T16" fmla="*/ 243 w 336"/>
                <a:gd name="T17" fmla="*/ 168 h 337"/>
                <a:gd name="T18" fmla="*/ 221 w 336"/>
                <a:gd name="T19" fmla="*/ 221 h 337"/>
                <a:gd name="T20" fmla="*/ 168 w 336"/>
                <a:gd name="T21" fmla="*/ 242 h 337"/>
                <a:gd name="T22" fmla="*/ 168 w 336"/>
                <a:gd name="T23" fmla="*/ 24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6" h="337">
                  <a:moveTo>
                    <a:pt x="168" y="0"/>
                  </a:moveTo>
                  <a:cubicBezTo>
                    <a:pt x="76" y="0"/>
                    <a:pt x="0" y="75"/>
                    <a:pt x="0" y="168"/>
                  </a:cubicBezTo>
                  <a:cubicBezTo>
                    <a:pt x="0" y="261"/>
                    <a:pt x="75" y="336"/>
                    <a:pt x="168" y="337"/>
                  </a:cubicBezTo>
                  <a:cubicBezTo>
                    <a:pt x="261" y="337"/>
                    <a:pt x="336" y="261"/>
                    <a:pt x="336" y="168"/>
                  </a:cubicBezTo>
                  <a:cubicBezTo>
                    <a:pt x="336" y="75"/>
                    <a:pt x="261" y="0"/>
                    <a:pt x="168" y="0"/>
                  </a:cubicBezTo>
                  <a:close/>
                  <a:moveTo>
                    <a:pt x="168" y="242"/>
                  </a:moveTo>
                  <a:cubicBezTo>
                    <a:pt x="127" y="242"/>
                    <a:pt x="95" y="209"/>
                    <a:pt x="95" y="168"/>
                  </a:cubicBezTo>
                  <a:cubicBezTo>
                    <a:pt x="95" y="127"/>
                    <a:pt x="128" y="94"/>
                    <a:pt x="169" y="94"/>
                  </a:cubicBezTo>
                  <a:cubicBezTo>
                    <a:pt x="210" y="94"/>
                    <a:pt x="243" y="127"/>
                    <a:pt x="243" y="168"/>
                  </a:cubicBezTo>
                  <a:cubicBezTo>
                    <a:pt x="243" y="188"/>
                    <a:pt x="235" y="207"/>
                    <a:pt x="221" y="221"/>
                  </a:cubicBezTo>
                  <a:cubicBezTo>
                    <a:pt x="207" y="235"/>
                    <a:pt x="188" y="243"/>
                    <a:pt x="168" y="242"/>
                  </a:cubicBezTo>
                  <a:close/>
                  <a:moveTo>
                    <a:pt x="168" y="24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5" name="Freeform 6">
              <a:extLst>
                <a:ext uri="{FF2B5EF4-FFF2-40B4-BE49-F238E27FC236}">
                  <a16:creationId xmlns:a16="http://schemas.microsoft.com/office/drawing/2014/main" id="{E59C982E-1F96-7467-627C-1F4403062610}"/>
                </a:ext>
              </a:extLst>
            </p:cNvPr>
            <p:cNvSpPr>
              <a:spLocks noEditPoints="1"/>
            </p:cNvSpPr>
            <p:nvPr userDrawn="1"/>
          </p:nvSpPr>
          <p:spPr bwMode="auto">
            <a:xfrm>
              <a:off x="1954213" y="4627563"/>
              <a:ext cx="147637" cy="319088"/>
            </a:xfrm>
            <a:custGeom>
              <a:avLst/>
              <a:gdLst>
                <a:gd name="T0" fmla="*/ 192 w 192"/>
                <a:gd name="T1" fmla="*/ 99 h 419"/>
                <a:gd name="T2" fmla="*/ 147 w 192"/>
                <a:gd name="T3" fmla="*/ 99 h 419"/>
                <a:gd name="T4" fmla="*/ 147 w 192"/>
                <a:gd name="T5" fmla="*/ 0 h 419"/>
                <a:gd name="T6" fmla="*/ 46 w 192"/>
                <a:gd name="T7" fmla="*/ 0 h 419"/>
                <a:gd name="T8" fmla="*/ 46 w 192"/>
                <a:gd name="T9" fmla="*/ 99 h 419"/>
                <a:gd name="T10" fmla="*/ 0 w 192"/>
                <a:gd name="T11" fmla="*/ 99 h 419"/>
                <a:gd name="T12" fmla="*/ 0 w 192"/>
                <a:gd name="T13" fmla="*/ 190 h 419"/>
                <a:gd name="T14" fmla="*/ 46 w 192"/>
                <a:gd name="T15" fmla="*/ 190 h 419"/>
                <a:gd name="T16" fmla="*/ 46 w 192"/>
                <a:gd name="T17" fmla="*/ 419 h 419"/>
                <a:gd name="T18" fmla="*/ 147 w 192"/>
                <a:gd name="T19" fmla="*/ 419 h 419"/>
                <a:gd name="T20" fmla="*/ 147 w 192"/>
                <a:gd name="T21" fmla="*/ 190 h 419"/>
                <a:gd name="T22" fmla="*/ 192 w 192"/>
                <a:gd name="T23" fmla="*/ 190 h 419"/>
                <a:gd name="T24" fmla="*/ 192 w 192"/>
                <a:gd name="T25" fmla="*/ 99 h 419"/>
                <a:gd name="T26" fmla="*/ 192 w 192"/>
                <a:gd name="T27" fmla="*/ 9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419">
                  <a:moveTo>
                    <a:pt x="192" y="99"/>
                  </a:moveTo>
                  <a:lnTo>
                    <a:pt x="147" y="99"/>
                  </a:lnTo>
                  <a:lnTo>
                    <a:pt x="147" y="0"/>
                  </a:lnTo>
                  <a:lnTo>
                    <a:pt x="46" y="0"/>
                  </a:lnTo>
                  <a:lnTo>
                    <a:pt x="46" y="99"/>
                  </a:lnTo>
                  <a:lnTo>
                    <a:pt x="0" y="99"/>
                  </a:lnTo>
                  <a:lnTo>
                    <a:pt x="0" y="190"/>
                  </a:lnTo>
                  <a:lnTo>
                    <a:pt x="46" y="190"/>
                  </a:lnTo>
                  <a:lnTo>
                    <a:pt x="46" y="419"/>
                  </a:lnTo>
                  <a:lnTo>
                    <a:pt x="147" y="419"/>
                  </a:lnTo>
                  <a:lnTo>
                    <a:pt x="147" y="190"/>
                  </a:lnTo>
                  <a:lnTo>
                    <a:pt x="192" y="190"/>
                  </a:lnTo>
                  <a:lnTo>
                    <a:pt x="192" y="99"/>
                  </a:lnTo>
                  <a:close/>
                  <a:moveTo>
                    <a:pt x="192" y="9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2" name="Freeform 7">
              <a:extLst>
                <a:ext uri="{FF2B5EF4-FFF2-40B4-BE49-F238E27FC236}">
                  <a16:creationId xmlns:a16="http://schemas.microsoft.com/office/drawing/2014/main" id="{45492594-6769-8B47-959D-4E494C86E97E}"/>
                </a:ext>
              </a:extLst>
            </p:cNvPr>
            <p:cNvSpPr>
              <a:spLocks noEditPoints="1"/>
            </p:cNvSpPr>
            <p:nvPr userDrawn="1"/>
          </p:nvSpPr>
          <p:spPr bwMode="auto">
            <a:xfrm>
              <a:off x="2136775" y="4702175"/>
              <a:ext cx="76200" cy="244475"/>
            </a:xfrm>
            <a:custGeom>
              <a:avLst/>
              <a:gdLst>
                <a:gd name="T0" fmla="*/ 0 w 101"/>
                <a:gd name="T1" fmla="*/ 0 h 320"/>
                <a:gd name="T2" fmla="*/ 101 w 101"/>
                <a:gd name="T3" fmla="*/ 0 h 320"/>
                <a:gd name="T4" fmla="*/ 101 w 101"/>
                <a:gd name="T5" fmla="*/ 320 h 320"/>
                <a:gd name="T6" fmla="*/ 0 w 101"/>
                <a:gd name="T7" fmla="*/ 320 h 320"/>
                <a:gd name="T8" fmla="*/ 0 w 101"/>
                <a:gd name="T9" fmla="*/ 0 h 320"/>
                <a:gd name="T10" fmla="*/ 0 w 101"/>
                <a:gd name="T11" fmla="*/ 0 h 320"/>
              </a:gdLst>
              <a:ahLst/>
              <a:cxnLst>
                <a:cxn ang="0">
                  <a:pos x="T0" y="T1"/>
                </a:cxn>
                <a:cxn ang="0">
                  <a:pos x="T2" y="T3"/>
                </a:cxn>
                <a:cxn ang="0">
                  <a:pos x="T4" y="T5"/>
                </a:cxn>
                <a:cxn ang="0">
                  <a:pos x="T6" y="T7"/>
                </a:cxn>
                <a:cxn ang="0">
                  <a:pos x="T8" y="T9"/>
                </a:cxn>
                <a:cxn ang="0">
                  <a:pos x="T10" y="T11"/>
                </a:cxn>
              </a:cxnLst>
              <a:rect l="0" t="0" r="r" b="b"/>
              <a:pathLst>
                <a:path w="101" h="320">
                  <a:moveTo>
                    <a:pt x="0" y="0"/>
                  </a:moveTo>
                  <a:lnTo>
                    <a:pt x="101" y="0"/>
                  </a:lnTo>
                  <a:lnTo>
                    <a:pt x="101" y="320"/>
                  </a:lnTo>
                  <a:lnTo>
                    <a:pt x="0" y="320"/>
                  </a:lnTo>
                  <a:lnTo>
                    <a:pt x="0" y="0"/>
                  </a:lnTo>
                  <a:close/>
                  <a:moveTo>
                    <a:pt x="0"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4" name="Freeform 8">
              <a:extLst>
                <a:ext uri="{FF2B5EF4-FFF2-40B4-BE49-F238E27FC236}">
                  <a16:creationId xmlns:a16="http://schemas.microsoft.com/office/drawing/2014/main" id="{D881D1FC-80AF-9EFF-9845-784699B03FC4}"/>
                </a:ext>
              </a:extLst>
            </p:cNvPr>
            <p:cNvSpPr>
              <a:spLocks noEditPoints="1"/>
            </p:cNvSpPr>
            <p:nvPr userDrawn="1"/>
          </p:nvSpPr>
          <p:spPr bwMode="auto">
            <a:xfrm>
              <a:off x="2128838" y="4584700"/>
              <a:ext cx="88900" cy="88900"/>
            </a:xfrm>
            <a:custGeom>
              <a:avLst/>
              <a:gdLst>
                <a:gd name="T0" fmla="*/ 61 w 116"/>
                <a:gd name="T1" fmla="*/ 0 h 117"/>
                <a:gd name="T2" fmla="*/ 9 w 116"/>
                <a:gd name="T3" fmla="*/ 35 h 117"/>
                <a:gd name="T4" fmla="*/ 21 w 116"/>
                <a:gd name="T5" fmla="*/ 96 h 117"/>
                <a:gd name="T6" fmla="*/ 82 w 116"/>
                <a:gd name="T7" fmla="*/ 108 h 117"/>
                <a:gd name="T8" fmla="*/ 116 w 116"/>
                <a:gd name="T9" fmla="*/ 56 h 117"/>
                <a:gd name="T10" fmla="*/ 61 w 116"/>
                <a:gd name="T11" fmla="*/ 0 h 117"/>
                <a:gd name="T12" fmla="*/ 61 w 116"/>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116" h="117">
                  <a:moveTo>
                    <a:pt x="61" y="0"/>
                  </a:moveTo>
                  <a:cubicBezTo>
                    <a:pt x="38" y="0"/>
                    <a:pt x="17" y="14"/>
                    <a:pt x="9" y="35"/>
                  </a:cubicBezTo>
                  <a:cubicBezTo>
                    <a:pt x="0" y="55"/>
                    <a:pt x="5" y="80"/>
                    <a:pt x="21" y="96"/>
                  </a:cubicBezTo>
                  <a:cubicBezTo>
                    <a:pt x="37" y="112"/>
                    <a:pt x="61" y="117"/>
                    <a:pt x="82" y="108"/>
                  </a:cubicBezTo>
                  <a:cubicBezTo>
                    <a:pt x="103" y="99"/>
                    <a:pt x="116" y="79"/>
                    <a:pt x="116" y="56"/>
                  </a:cubicBezTo>
                  <a:cubicBezTo>
                    <a:pt x="116" y="25"/>
                    <a:pt x="92" y="0"/>
                    <a:pt x="61" y="0"/>
                  </a:cubicBezTo>
                  <a:close/>
                  <a:moveTo>
                    <a:pt x="61" y="0"/>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5" name="Freeform 9">
              <a:extLst>
                <a:ext uri="{FF2B5EF4-FFF2-40B4-BE49-F238E27FC236}">
                  <a16:creationId xmlns:a16="http://schemas.microsoft.com/office/drawing/2014/main" id="{B653FF7D-AEB9-3203-D840-9426B4B1BED3}"/>
                </a:ext>
              </a:extLst>
            </p:cNvPr>
            <p:cNvSpPr>
              <a:spLocks noEditPoints="1"/>
            </p:cNvSpPr>
            <p:nvPr userDrawn="1"/>
          </p:nvSpPr>
          <p:spPr bwMode="auto">
            <a:xfrm>
              <a:off x="3151188" y="4697413"/>
              <a:ext cx="242887" cy="249238"/>
            </a:xfrm>
            <a:custGeom>
              <a:avLst/>
              <a:gdLst>
                <a:gd name="T0" fmla="*/ 160 w 320"/>
                <a:gd name="T1" fmla="*/ 92 h 327"/>
                <a:gd name="T2" fmla="*/ 220 w 320"/>
                <a:gd name="T3" fmla="*/ 152 h 327"/>
                <a:gd name="T4" fmla="*/ 220 w 320"/>
                <a:gd name="T5" fmla="*/ 327 h 327"/>
                <a:gd name="T6" fmla="*/ 320 w 320"/>
                <a:gd name="T7" fmla="*/ 327 h 327"/>
                <a:gd name="T8" fmla="*/ 320 w 320"/>
                <a:gd name="T9" fmla="*/ 140 h 327"/>
                <a:gd name="T10" fmla="*/ 194 w 320"/>
                <a:gd name="T11" fmla="*/ 0 h 327"/>
                <a:gd name="T12" fmla="*/ 101 w 320"/>
                <a:gd name="T13" fmla="*/ 58 h 327"/>
                <a:gd name="T14" fmla="*/ 101 w 320"/>
                <a:gd name="T15" fmla="*/ 7 h 327"/>
                <a:gd name="T16" fmla="*/ 0 w 320"/>
                <a:gd name="T17" fmla="*/ 7 h 327"/>
                <a:gd name="T18" fmla="*/ 0 w 320"/>
                <a:gd name="T19" fmla="*/ 327 h 327"/>
                <a:gd name="T20" fmla="*/ 100 w 320"/>
                <a:gd name="T21" fmla="*/ 327 h 327"/>
                <a:gd name="T22" fmla="*/ 100 w 320"/>
                <a:gd name="T23" fmla="*/ 152 h 327"/>
                <a:gd name="T24" fmla="*/ 118 w 320"/>
                <a:gd name="T25" fmla="*/ 110 h 327"/>
                <a:gd name="T26" fmla="*/ 160 w 320"/>
                <a:gd name="T27" fmla="*/ 92 h 327"/>
                <a:gd name="T28" fmla="*/ 160 w 320"/>
                <a:gd name="T29"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27">
                  <a:moveTo>
                    <a:pt x="160" y="92"/>
                  </a:moveTo>
                  <a:cubicBezTo>
                    <a:pt x="193" y="93"/>
                    <a:pt x="220" y="119"/>
                    <a:pt x="220" y="152"/>
                  </a:cubicBezTo>
                  <a:lnTo>
                    <a:pt x="220" y="327"/>
                  </a:lnTo>
                  <a:lnTo>
                    <a:pt x="320" y="327"/>
                  </a:lnTo>
                  <a:lnTo>
                    <a:pt x="320" y="140"/>
                  </a:lnTo>
                  <a:cubicBezTo>
                    <a:pt x="320" y="55"/>
                    <a:pt x="271" y="0"/>
                    <a:pt x="194" y="0"/>
                  </a:cubicBezTo>
                  <a:cubicBezTo>
                    <a:pt x="162" y="0"/>
                    <a:pt x="128" y="13"/>
                    <a:pt x="101" y="58"/>
                  </a:cubicBezTo>
                  <a:lnTo>
                    <a:pt x="101" y="7"/>
                  </a:lnTo>
                  <a:lnTo>
                    <a:pt x="0" y="7"/>
                  </a:lnTo>
                  <a:lnTo>
                    <a:pt x="0" y="327"/>
                  </a:lnTo>
                  <a:lnTo>
                    <a:pt x="100" y="327"/>
                  </a:lnTo>
                  <a:lnTo>
                    <a:pt x="100" y="152"/>
                  </a:lnTo>
                  <a:cubicBezTo>
                    <a:pt x="100" y="136"/>
                    <a:pt x="106" y="121"/>
                    <a:pt x="118" y="110"/>
                  </a:cubicBezTo>
                  <a:cubicBezTo>
                    <a:pt x="129" y="98"/>
                    <a:pt x="144" y="92"/>
                    <a:pt x="160" y="92"/>
                  </a:cubicBezTo>
                  <a:close/>
                  <a:moveTo>
                    <a:pt x="160" y="92"/>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6" name="Freeform 10">
              <a:extLst>
                <a:ext uri="{FF2B5EF4-FFF2-40B4-BE49-F238E27FC236}">
                  <a16:creationId xmlns:a16="http://schemas.microsoft.com/office/drawing/2014/main" id="{3D4128F3-F536-D356-F4CC-50F783BA0C8D}"/>
                </a:ext>
              </a:extLst>
            </p:cNvPr>
            <p:cNvSpPr>
              <a:spLocks noEditPoints="1"/>
            </p:cNvSpPr>
            <p:nvPr userDrawn="1"/>
          </p:nvSpPr>
          <p:spPr bwMode="auto">
            <a:xfrm>
              <a:off x="3430588" y="4591050"/>
              <a:ext cx="242887" cy="355600"/>
            </a:xfrm>
            <a:custGeom>
              <a:avLst/>
              <a:gdLst>
                <a:gd name="T0" fmla="*/ 318 w 318"/>
                <a:gd name="T1" fmla="*/ 467 h 467"/>
                <a:gd name="T2" fmla="*/ 195 w 318"/>
                <a:gd name="T3" fmla="*/ 307 h 467"/>
                <a:gd name="T4" fmla="*/ 310 w 318"/>
                <a:gd name="T5" fmla="*/ 147 h 467"/>
                <a:gd name="T6" fmla="*/ 192 w 318"/>
                <a:gd name="T7" fmla="*/ 147 h 467"/>
                <a:gd name="T8" fmla="*/ 100 w 318"/>
                <a:gd name="T9" fmla="*/ 277 h 467"/>
                <a:gd name="T10" fmla="*/ 100 w 318"/>
                <a:gd name="T11" fmla="*/ 0 h 467"/>
                <a:gd name="T12" fmla="*/ 0 w 318"/>
                <a:gd name="T13" fmla="*/ 0 h 467"/>
                <a:gd name="T14" fmla="*/ 0 w 318"/>
                <a:gd name="T15" fmla="*/ 467 h 467"/>
                <a:gd name="T16" fmla="*/ 100 w 318"/>
                <a:gd name="T17" fmla="*/ 467 h 467"/>
                <a:gd name="T18" fmla="*/ 100 w 318"/>
                <a:gd name="T19" fmla="*/ 335 h 467"/>
                <a:gd name="T20" fmla="*/ 201 w 318"/>
                <a:gd name="T21" fmla="*/ 467 h 467"/>
                <a:gd name="T22" fmla="*/ 318 w 318"/>
                <a:gd name="T23" fmla="*/ 467 h 467"/>
                <a:gd name="T24" fmla="*/ 318 w 318"/>
                <a:gd name="T25"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467">
                  <a:moveTo>
                    <a:pt x="318" y="467"/>
                  </a:moveTo>
                  <a:lnTo>
                    <a:pt x="195" y="307"/>
                  </a:lnTo>
                  <a:lnTo>
                    <a:pt x="310" y="147"/>
                  </a:lnTo>
                  <a:lnTo>
                    <a:pt x="192" y="147"/>
                  </a:lnTo>
                  <a:lnTo>
                    <a:pt x="100" y="277"/>
                  </a:lnTo>
                  <a:lnTo>
                    <a:pt x="100" y="0"/>
                  </a:lnTo>
                  <a:lnTo>
                    <a:pt x="0" y="0"/>
                  </a:lnTo>
                  <a:lnTo>
                    <a:pt x="0" y="467"/>
                  </a:lnTo>
                  <a:lnTo>
                    <a:pt x="100" y="467"/>
                  </a:lnTo>
                  <a:lnTo>
                    <a:pt x="100" y="335"/>
                  </a:lnTo>
                  <a:lnTo>
                    <a:pt x="201" y="467"/>
                  </a:lnTo>
                  <a:lnTo>
                    <a:pt x="318" y="467"/>
                  </a:lnTo>
                  <a:close/>
                  <a:moveTo>
                    <a:pt x="318" y="46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7" name="Freeform 11">
              <a:extLst>
                <a:ext uri="{FF2B5EF4-FFF2-40B4-BE49-F238E27FC236}">
                  <a16:creationId xmlns:a16="http://schemas.microsoft.com/office/drawing/2014/main" id="{9997ED4D-D43F-3718-F583-A2D6495F37D4}"/>
                </a:ext>
              </a:extLst>
            </p:cNvPr>
            <p:cNvSpPr>
              <a:spLocks noEditPoints="1"/>
            </p:cNvSpPr>
            <p:nvPr userDrawn="1"/>
          </p:nvSpPr>
          <p:spPr bwMode="auto">
            <a:xfrm>
              <a:off x="1181100" y="4584700"/>
              <a:ext cx="247650" cy="368300"/>
            </a:xfrm>
            <a:custGeom>
              <a:avLst/>
              <a:gdLst>
                <a:gd name="T0" fmla="*/ 312 w 324"/>
                <a:gd name="T1" fmla="*/ 389 h 483"/>
                <a:gd name="T2" fmla="*/ 323 w 324"/>
                <a:gd name="T3" fmla="*/ 330 h 483"/>
                <a:gd name="T4" fmla="*/ 294 w 324"/>
                <a:gd name="T5" fmla="*/ 249 h 483"/>
                <a:gd name="T6" fmla="*/ 185 w 324"/>
                <a:gd name="T7" fmla="*/ 191 h 483"/>
                <a:gd name="T8" fmla="*/ 157 w 324"/>
                <a:gd name="T9" fmla="*/ 180 h 483"/>
                <a:gd name="T10" fmla="*/ 135 w 324"/>
                <a:gd name="T11" fmla="*/ 165 h 483"/>
                <a:gd name="T12" fmla="*/ 126 w 324"/>
                <a:gd name="T13" fmla="*/ 139 h 483"/>
                <a:gd name="T14" fmla="*/ 147 w 324"/>
                <a:gd name="T15" fmla="*/ 105 h 483"/>
                <a:gd name="T16" fmla="*/ 226 w 324"/>
                <a:gd name="T17" fmla="*/ 105 h 483"/>
                <a:gd name="T18" fmla="*/ 258 w 324"/>
                <a:gd name="T19" fmla="*/ 121 h 483"/>
                <a:gd name="T20" fmla="*/ 301 w 324"/>
                <a:gd name="T21" fmla="*/ 36 h 483"/>
                <a:gd name="T22" fmla="*/ 240 w 324"/>
                <a:gd name="T23" fmla="*/ 9 h 483"/>
                <a:gd name="T24" fmla="*/ 172 w 324"/>
                <a:gd name="T25" fmla="*/ 0 h 483"/>
                <a:gd name="T26" fmla="*/ 108 w 324"/>
                <a:gd name="T27" fmla="*/ 11 h 483"/>
                <a:gd name="T28" fmla="*/ 59 w 324"/>
                <a:gd name="T29" fmla="*/ 42 h 483"/>
                <a:gd name="T30" fmla="*/ 27 w 324"/>
                <a:gd name="T31" fmla="*/ 91 h 483"/>
                <a:gd name="T32" fmla="*/ 16 w 324"/>
                <a:gd name="T33" fmla="*/ 150 h 483"/>
                <a:gd name="T34" fmla="*/ 54 w 324"/>
                <a:gd name="T35" fmla="*/ 235 h 483"/>
                <a:gd name="T36" fmla="*/ 130 w 324"/>
                <a:gd name="T37" fmla="*/ 277 h 483"/>
                <a:gd name="T38" fmla="*/ 167 w 324"/>
                <a:gd name="T39" fmla="*/ 290 h 483"/>
                <a:gd name="T40" fmla="*/ 194 w 324"/>
                <a:gd name="T41" fmla="*/ 304 h 483"/>
                <a:gd name="T42" fmla="*/ 209 w 324"/>
                <a:gd name="T43" fmla="*/ 321 h 483"/>
                <a:gd name="T44" fmla="*/ 212 w 324"/>
                <a:gd name="T45" fmla="*/ 342 h 483"/>
                <a:gd name="T46" fmla="*/ 198 w 324"/>
                <a:gd name="T47" fmla="*/ 370 h 483"/>
                <a:gd name="T48" fmla="*/ 152 w 324"/>
                <a:gd name="T49" fmla="*/ 382 h 483"/>
                <a:gd name="T50" fmla="*/ 96 w 324"/>
                <a:gd name="T51" fmla="*/ 369 h 483"/>
                <a:gd name="T52" fmla="*/ 51 w 324"/>
                <a:gd name="T53" fmla="*/ 344 h 483"/>
                <a:gd name="T54" fmla="*/ 0 w 324"/>
                <a:gd name="T55" fmla="*/ 432 h 483"/>
                <a:gd name="T56" fmla="*/ 143 w 324"/>
                <a:gd name="T57" fmla="*/ 483 h 483"/>
                <a:gd name="T58" fmla="*/ 218 w 324"/>
                <a:gd name="T59" fmla="*/ 471 h 483"/>
                <a:gd name="T60" fmla="*/ 276 w 324"/>
                <a:gd name="T61" fmla="*/ 439 h 483"/>
                <a:gd name="T62" fmla="*/ 312 w 324"/>
                <a:gd name="T63" fmla="*/ 389 h 483"/>
                <a:gd name="T64" fmla="*/ 312 w 324"/>
                <a:gd name="T65" fmla="*/ 389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83">
                  <a:moveTo>
                    <a:pt x="312" y="389"/>
                  </a:moveTo>
                  <a:cubicBezTo>
                    <a:pt x="320" y="370"/>
                    <a:pt x="323" y="350"/>
                    <a:pt x="323" y="330"/>
                  </a:cubicBezTo>
                  <a:cubicBezTo>
                    <a:pt x="324" y="300"/>
                    <a:pt x="313" y="271"/>
                    <a:pt x="294" y="249"/>
                  </a:cubicBezTo>
                  <a:cubicBezTo>
                    <a:pt x="273" y="225"/>
                    <a:pt x="236" y="206"/>
                    <a:pt x="185" y="191"/>
                  </a:cubicBezTo>
                  <a:cubicBezTo>
                    <a:pt x="175" y="188"/>
                    <a:pt x="166" y="185"/>
                    <a:pt x="157" y="180"/>
                  </a:cubicBezTo>
                  <a:cubicBezTo>
                    <a:pt x="149" y="176"/>
                    <a:pt x="141" y="171"/>
                    <a:pt x="135" y="165"/>
                  </a:cubicBezTo>
                  <a:cubicBezTo>
                    <a:pt x="129" y="157"/>
                    <a:pt x="126" y="148"/>
                    <a:pt x="126" y="139"/>
                  </a:cubicBezTo>
                  <a:cubicBezTo>
                    <a:pt x="126" y="125"/>
                    <a:pt x="134" y="112"/>
                    <a:pt x="147" y="105"/>
                  </a:cubicBezTo>
                  <a:cubicBezTo>
                    <a:pt x="172" y="94"/>
                    <a:pt x="201" y="94"/>
                    <a:pt x="226" y="105"/>
                  </a:cubicBezTo>
                  <a:cubicBezTo>
                    <a:pt x="237" y="110"/>
                    <a:pt x="248" y="115"/>
                    <a:pt x="258" y="121"/>
                  </a:cubicBezTo>
                  <a:lnTo>
                    <a:pt x="301" y="36"/>
                  </a:lnTo>
                  <a:cubicBezTo>
                    <a:pt x="282" y="24"/>
                    <a:pt x="262" y="15"/>
                    <a:pt x="240" y="9"/>
                  </a:cubicBezTo>
                  <a:cubicBezTo>
                    <a:pt x="218" y="3"/>
                    <a:pt x="195" y="0"/>
                    <a:pt x="172" y="0"/>
                  </a:cubicBezTo>
                  <a:cubicBezTo>
                    <a:pt x="150" y="0"/>
                    <a:pt x="129" y="3"/>
                    <a:pt x="108" y="11"/>
                  </a:cubicBezTo>
                  <a:cubicBezTo>
                    <a:pt x="90" y="18"/>
                    <a:pt x="73" y="29"/>
                    <a:pt x="59" y="42"/>
                  </a:cubicBezTo>
                  <a:cubicBezTo>
                    <a:pt x="45" y="56"/>
                    <a:pt x="34" y="73"/>
                    <a:pt x="27" y="91"/>
                  </a:cubicBezTo>
                  <a:cubicBezTo>
                    <a:pt x="20" y="110"/>
                    <a:pt x="16" y="130"/>
                    <a:pt x="16" y="150"/>
                  </a:cubicBezTo>
                  <a:cubicBezTo>
                    <a:pt x="17" y="182"/>
                    <a:pt x="31" y="213"/>
                    <a:pt x="54" y="235"/>
                  </a:cubicBezTo>
                  <a:cubicBezTo>
                    <a:pt x="76" y="254"/>
                    <a:pt x="102" y="269"/>
                    <a:pt x="130" y="277"/>
                  </a:cubicBezTo>
                  <a:cubicBezTo>
                    <a:pt x="143" y="282"/>
                    <a:pt x="158" y="287"/>
                    <a:pt x="167" y="290"/>
                  </a:cubicBezTo>
                  <a:cubicBezTo>
                    <a:pt x="177" y="294"/>
                    <a:pt x="186" y="299"/>
                    <a:pt x="194" y="304"/>
                  </a:cubicBezTo>
                  <a:cubicBezTo>
                    <a:pt x="201" y="309"/>
                    <a:pt x="206" y="315"/>
                    <a:pt x="209" y="321"/>
                  </a:cubicBezTo>
                  <a:cubicBezTo>
                    <a:pt x="212" y="328"/>
                    <a:pt x="213" y="335"/>
                    <a:pt x="212" y="342"/>
                  </a:cubicBezTo>
                  <a:cubicBezTo>
                    <a:pt x="211" y="353"/>
                    <a:pt x="206" y="363"/>
                    <a:pt x="198" y="370"/>
                  </a:cubicBezTo>
                  <a:cubicBezTo>
                    <a:pt x="185" y="379"/>
                    <a:pt x="168" y="384"/>
                    <a:pt x="152" y="382"/>
                  </a:cubicBezTo>
                  <a:cubicBezTo>
                    <a:pt x="133" y="382"/>
                    <a:pt x="113" y="377"/>
                    <a:pt x="96" y="369"/>
                  </a:cubicBezTo>
                  <a:cubicBezTo>
                    <a:pt x="80" y="361"/>
                    <a:pt x="66" y="353"/>
                    <a:pt x="51" y="344"/>
                  </a:cubicBezTo>
                  <a:lnTo>
                    <a:pt x="0" y="432"/>
                  </a:lnTo>
                  <a:cubicBezTo>
                    <a:pt x="40" y="465"/>
                    <a:pt x="91" y="483"/>
                    <a:pt x="143" y="483"/>
                  </a:cubicBezTo>
                  <a:cubicBezTo>
                    <a:pt x="168" y="483"/>
                    <a:pt x="194" y="479"/>
                    <a:pt x="218" y="471"/>
                  </a:cubicBezTo>
                  <a:cubicBezTo>
                    <a:pt x="239" y="464"/>
                    <a:pt x="259" y="453"/>
                    <a:pt x="276" y="439"/>
                  </a:cubicBezTo>
                  <a:cubicBezTo>
                    <a:pt x="291" y="425"/>
                    <a:pt x="304" y="408"/>
                    <a:pt x="312" y="389"/>
                  </a:cubicBezTo>
                  <a:close/>
                  <a:moveTo>
                    <a:pt x="312" y="38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8" name="Freeform 12">
              <a:extLst>
                <a:ext uri="{FF2B5EF4-FFF2-40B4-BE49-F238E27FC236}">
                  <a16:creationId xmlns:a16="http://schemas.microsoft.com/office/drawing/2014/main" id="{BDE19CEB-DFF9-98B5-36E8-85F074E3E33F}"/>
                </a:ext>
              </a:extLst>
            </p:cNvPr>
            <p:cNvSpPr>
              <a:spLocks noEditPoints="1"/>
            </p:cNvSpPr>
            <p:nvPr userDrawn="1"/>
          </p:nvSpPr>
          <p:spPr bwMode="auto">
            <a:xfrm>
              <a:off x="3681413" y="4860925"/>
              <a:ext cx="88900" cy="88900"/>
            </a:xfrm>
            <a:custGeom>
              <a:avLst/>
              <a:gdLst>
                <a:gd name="T0" fmla="*/ 61 w 117"/>
                <a:gd name="T1" fmla="*/ 0 h 117"/>
                <a:gd name="T2" fmla="*/ 9 w 117"/>
                <a:gd name="T3" fmla="*/ 35 h 117"/>
                <a:gd name="T4" fmla="*/ 21 w 117"/>
                <a:gd name="T5" fmla="*/ 96 h 117"/>
                <a:gd name="T6" fmla="*/ 82 w 117"/>
                <a:gd name="T7" fmla="*/ 108 h 117"/>
                <a:gd name="T8" fmla="*/ 117 w 117"/>
                <a:gd name="T9" fmla="*/ 57 h 117"/>
                <a:gd name="T10" fmla="*/ 61 w 117"/>
                <a:gd name="T11" fmla="*/ 0 h 117"/>
                <a:gd name="T12" fmla="*/ 61 w 117"/>
                <a:gd name="T13" fmla="*/ 101 h 117"/>
                <a:gd name="T14" fmla="*/ 20 w 117"/>
                <a:gd name="T15" fmla="*/ 74 h 117"/>
                <a:gd name="T16" fmla="*/ 29 w 117"/>
                <a:gd name="T17" fmla="*/ 25 h 117"/>
                <a:gd name="T18" fmla="*/ 78 w 117"/>
                <a:gd name="T19" fmla="*/ 15 h 117"/>
                <a:gd name="T20" fmla="*/ 106 w 117"/>
                <a:gd name="T21" fmla="*/ 56 h 117"/>
                <a:gd name="T22" fmla="*/ 93 w 117"/>
                <a:gd name="T23" fmla="*/ 88 h 117"/>
                <a:gd name="T24" fmla="*/ 61 w 117"/>
                <a:gd name="T25" fmla="*/ 101 h 117"/>
                <a:gd name="T26" fmla="*/ 61 w 117"/>
                <a:gd name="T27" fmla="*/ 10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61" y="0"/>
                  </a:moveTo>
                  <a:cubicBezTo>
                    <a:pt x="38" y="0"/>
                    <a:pt x="18" y="14"/>
                    <a:pt x="9" y="35"/>
                  </a:cubicBezTo>
                  <a:cubicBezTo>
                    <a:pt x="0" y="56"/>
                    <a:pt x="5" y="80"/>
                    <a:pt x="21" y="96"/>
                  </a:cubicBezTo>
                  <a:cubicBezTo>
                    <a:pt x="37" y="112"/>
                    <a:pt x="61" y="117"/>
                    <a:pt x="82" y="108"/>
                  </a:cubicBezTo>
                  <a:cubicBezTo>
                    <a:pt x="103" y="100"/>
                    <a:pt x="117" y="79"/>
                    <a:pt x="117" y="57"/>
                  </a:cubicBezTo>
                  <a:cubicBezTo>
                    <a:pt x="117" y="26"/>
                    <a:pt x="92" y="1"/>
                    <a:pt x="61" y="0"/>
                  </a:cubicBezTo>
                  <a:close/>
                  <a:moveTo>
                    <a:pt x="61" y="101"/>
                  </a:moveTo>
                  <a:cubicBezTo>
                    <a:pt x="43" y="101"/>
                    <a:pt x="26" y="90"/>
                    <a:pt x="20" y="74"/>
                  </a:cubicBezTo>
                  <a:cubicBezTo>
                    <a:pt x="12" y="57"/>
                    <a:pt x="16" y="38"/>
                    <a:pt x="29" y="25"/>
                  </a:cubicBezTo>
                  <a:cubicBezTo>
                    <a:pt x="42" y="12"/>
                    <a:pt x="61" y="8"/>
                    <a:pt x="78" y="15"/>
                  </a:cubicBezTo>
                  <a:cubicBezTo>
                    <a:pt x="95" y="22"/>
                    <a:pt x="106" y="38"/>
                    <a:pt x="106" y="56"/>
                  </a:cubicBezTo>
                  <a:cubicBezTo>
                    <a:pt x="106" y="68"/>
                    <a:pt x="101" y="80"/>
                    <a:pt x="93" y="88"/>
                  </a:cubicBezTo>
                  <a:cubicBezTo>
                    <a:pt x="84" y="96"/>
                    <a:pt x="73" y="101"/>
                    <a:pt x="61" y="101"/>
                  </a:cubicBezTo>
                  <a:close/>
                  <a:moveTo>
                    <a:pt x="61" y="101"/>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29" name="Freeform 13">
              <a:extLst>
                <a:ext uri="{FF2B5EF4-FFF2-40B4-BE49-F238E27FC236}">
                  <a16:creationId xmlns:a16="http://schemas.microsoft.com/office/drawing/2014/main" id="{68B3B3FC-F7DA-D027-95C8-96C21C12C270}"/>
                </a:ext>
              </a:extLst>
            </p:cNvPr>
            <p:cNvSpPr>
              <a:spLocks noEditPoints="1"/>
            </p:cNvSpPr>
            <p:nvPr userDrawn="1"/>
          </p:nvSpPr>
          <p:spPr bwMode="auto">
            <a:xfrm>
              <a:off x="3713163" y="4881563"/>
              <a:ext cx="33337" cy="46038"/>
            </a:xfrm>
            <a:custGeom>
              <a:avLst/>
              <a:gdLst>
                <a:gd name="T0" fmla="*/ 20 w 45"/>
                <a:gd name="T1" fmla="*/ 40 h 61"/>
                <a:gd name="T2" fmla="*/ 11 w 45"/>
                <a:gd name="T3" fmla="*/ 40 h 61"/>
                <a:gd name="T4" fmla="*/ 11 w 45"/>
                <a:gd name="T5" fmla="*/ 61 h 61"/>
                <a:gd name="T6" fmla="*/ 0 w 45"/>
                <a:gd name="T7" fmla="*/ 61 h 61"/>
                <a:gd name="T8" fmla="*/ 0 w 45"/>
                <a:gd name="T9" fmla="*/ 0 h 61"/>
                <a:gd name="T10" fmla="*/ 23 w 45"/>
                <a:gd name="T11" fmla="*/ 0 h 61"/>
                <a:gd name="T12" fmla="*/ 44 w 45"/>
                <a:gd name="T13" fmla="*/ 20 h 61"/>
                <a:gd name="T14" fmla="*/ 32 w 45"/>
                <a:gd name="T15" fmla="*/ 38 h 61"/>
                <a:gd name="T16" fmla="*/ 45 w 45"/>
                <a:gd name="T17" fmla="*/ 61 h 61"/>
                <a:gd name="T18" fmla="*/ 32 w 45"/>
                <a:gd name="T19" fmla="*/ 61 h 61"/>
                <a:gd name="T20" fmla="*/ 20 w 45"/>
                <a:gd name="T21" fmla="*/ 40 h 61"/>
                <a:gd name="T22" fmla="*/ 11 w 45"/>
                <a:gd name="T23" fmla="*/ 29 h 61"/>
                <a:gd name="T24" fmla="*/ 24 w 45"/>
                <a:gd name="T25" fmla="*/ 29 h 61"/>
                <a:gd name="T26" fmla="*/ 33 w 45"/>
                <a:gd name="T27" fmla="*/ 20 h 61"/>
                <a:gd name="T28" fmla="*/ 24 w 45"/>
                <a:gd name="T29" fmla="*/ 11 h 61"/>
                <a:gd name="T30" fmla="*/ 11 w 45"/>
                <a:gd name="T31" fmla="*/ 11 h 61"/>
                <a:gd name="T32" fmla="*/ 11 w 45"/>
                <a:gd name="T33" fmla="*/ 29 h 61"/>
                <a:gd name="T34" fmla="*/ 11 w 45"/>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61">
                  <a:moveTo>
                    <a:pt x="20" y="40"/>
                  </a:moveTo>
                  <a:lnTo>
                    <a:pt x="11" y="40"/>
                  </a:lnTo>
                  <a:lnTo>
                    <a:pt x="11" y="61"/>
                  </a:lnTo>
                  <a:lnTo>
                    <a:pt x="0" y="61"/>
                  </a:lnTo>
                  <a:lnTo>
                    <a:pt x="0" y="0"/>
                  </a:lnTo>
                  <a:lnTo>
                    <a:pt x="23" y="0"/>
                  </a:lnTo>
                  <a:cubicBezTo>
                    <a:pt x="35" y="0"/>
                    <a:pt x="44" y="9"/>
                    <a:pt x="44" y="20"/>
                  </a:cubicBezTo>
                  <a:cubicBezTo>
                    <a:pt x="43" y="28"/>
                    <a:pt x="39" y="35"/>
                    <a:pt x="32" y="38"/>
                  </a:cubicBezTo>
                  <a:lnTo>
                    <a:pt x="45" y="61"/>
                  </a:lnTo>
                  <a:lnTo>
                    <a:pt x="32" y="61"/>
                  </a:lnTo>
                  <a:lnTo>
                    <a:pt x="20" y="40"/>
                  </a:lnTo>
                  <a:close/>
                  <a:moveTo>
                    <a:pt x="11" y="29"/>
                  </a:moveTo>
                  <a:lnTo>
                    <a:pt x="24" y="29"/>
                  </a:lnTo>
                  <a:cubicBezTo>
                    <a:pt x="29" y="29"/>
                    <a:pt x="33" y="25"/>
                    <a:pt x="33" y="20"/>
                  </a:cubicBezTo>
                  <a:cubicBezTo>
                    <a:pt x="33" y="15"/>
                    <a:pt x="29" y="11"/>
                    <a:pt x="24" y="11"/>
                  </a:cubicBezTo>
                  <a:lnTo>
                    <a:pt x="11" y="11"/>
                  </a:lnTo>
                  <a:lnTo>
                    <a:pt x="11" y="29"/>
                  </a:lnTo>
                  <a:close/>
                  <a:moveTo>
                    <a:pt x="11" y="29"/>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0" name="Freeform 14">
              <a:extLst>
                <a:ext uri="{FF2B5EF4-FFF2-40B4-BE49-F238E27FC236}">
                  <a16:creationId xmlns:a16="http://schemas.microsoft.com/office/drawing/2014/main" id="{BA3A133E-0078-F86D-AC62-3759DD5CCC20}"/>
                </a:ext>
              </a:extLst>
            </p:cNvPr>
            <p:cNvSpPr>
              <a:spLocks noEditPoints="1"/>
            </p:cNvSpPr>
            <p:nvPr userDrawn="1"/>
          </p:nvSpPr>
          <p:spPr bwMode="auto">
            <a:xfrm>
              <a:off x="1452563" y="4695825"/>
              <a:ext cx="227012" cy="257175"/>
            </a:xfrm>
            <a:custGeom>
              <a:avLst/>
              <a:gdLst>
                <a:gd name="T0" fmla="*/ 230 w 297"/>
                <a:gd name="T1" fmla="*/ 215 h 336"/>
                <a:gd name="T2" fmla="*/ 126 w 297"/>
                <a:gd name="T3" fmla="*/ 226 h 336"/>
                <a:gd name="T4" fmla="*/ 114 w 297"/>
                <a:gd name="T5" fmla="*/ 122 h 336"/>
                <a:gd name="T6" fmla="*/ 218 w 297"/>
                <a:gd name="T7" fmla="*/ 111 h 336"/>
                <a:gd name="T8" fmla="*/ 230 w 297"/>
                <a:gd name="T9" fmla="*/ 122 h 336"/>
                <a:gd name="T10" fmla="*/ 296 w 297"/>
                <a:gd name="T11" fmla="*/ 55 h 336"/>
                <a:gd name="T12" fmla="*/ 172 w 297"/>
                <a:gd name="T13" fmla="*/ 0 h 336"/>
                <a:gd name="T14" fmla="*/ 0 w 297"/>
                <a:gd name="T15" fmla="*/ 168 h 336"/>
                <a:gd name="T16" fmla="*/ 173 w 297"/>
                <a:gd name="T17" fmla="*/ 336 h 336"/>
                <a:gd name="T18" fmla="*/ 297 w 297"/>
                <a:gd name="T19" fmla="*/ 281 h 336"/>
                <a:gd name="T20" fmla="*/ 230 w 297"/>
                <a:gd name="T21" fmla="*/ 215 h 336"/>
                <a:gd name="T22" fmla="*/ 230 w 297"/>
                <a:gd name="T23" fmla="*/ 21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7" h="336">
                  <a:moveTo>
                    <a:pt x="230" y="215"/>
                  </a:moveTo>
                  <a:cubicBezTo>
                    <a:pt x="204" y="247"/>
                    <a:pt x="158" y="252"/>
                    <a:pt x="126" y="226"/>
                  </a:cubicBezTo>
                  <a:cubicBezTo>
                    <a:pt x="94" y="201"/>
                    <a:pt x="89" y="154"/>
                    <a:pt x="114" y="122"/>
                  </a:cubicBezTo>
                  <a:cubicBezTo>
                    <a:pt x="140" y="90"/>
                    <a:pt x="186" y="85"/>
                    <a:pt x="218" y="111"/>
                  </a:cubicBezTo>
                  <a:cubicBezTo>
                    <a:pt x="223" y="114"/>
                    <a:pt x="226" y="118"/>
                    <a:pt x="230" y="122"/>
                  </a:cubicBezTo>
                  <a:lnTo>
                    <a:pt x="296" y="55"/>
                  </a:lnTo>
                  <a:cubicBezTo>
                    <a:pt x="265" y="20"/>
                    <a:pt x="219" y="0"/>
                    <a:pt x="172" y="0"/>
                  </a:cubicBezTo>
                  <a:cubicBezTo>
                    <a:pt x="80" y="0"/>
                    <a:pt x="0" y="66"/>
                    <a:pt x="0" y="168"/>
                  </a:cubicBezTo>
                  <a:cubicBezTo>
                    <a:pt x="0" y="270"/>
                    <a:pt x="80" y="336"/>
                    <a:pt x="173" y="336"/>
                  </a:cubicBezTo>
                  <a:cubicBezTo>
                    <a:pt x="220" y="336"/>
                    <a:pt x="265" y="316"/>
                    <a:pt x="297" y="281"/>
                  </a:cubicBezTo>
                  <a:lnTo>
                    <a:pt x="230" y="215"/>
                  </a:lnTo>
                  <a:close/>
                  <a:moveTo>
                    <a:pt x="230" y="215"/>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1" name="Freeform 15">
              <a:extLst>
                <a:ext uri="{FF2B5EF4-FFF2-40B4-BE49-F238E27FC236}">
                  <a16:creationId xmlns:a16="http://schemas.microsoft.com/office/drawing/2014/main" id="{70AE9BEC-9892-04F7-D6BF-9ABAE2153F39}"/>
                </a:ext>
              </a:extLst>
            </p:cNvPr>
            <p:cNvSpPr>
              <a:spLocks noEditPoints="1"/>
            </p:cNvSpPr>
            <p:nvPr userDrawn="1"/>
          </p:nvSpPr>
          <p:spPr bwMode="auto">
            <a:xfrm>
              <a:off x="2244725" y="4695825"/>
              <a:ext cx="268287" cy="257175"/>
            </a:xfrm>
            <a:custGeom>
              <a:avLst/>
              <a:gdLst>
                <a:gd name="T0" fmla="*/ 351 w 351"/>
                <a:gd name="T1" fmla="*/ 329 h 336"/>
                <a:gd name="T2" fmla="*/ 351 w 351"/>
                <a:gd name="T3" fmla="*/ 8 h 336"/>
                <a:gd name="T4" fmla="*/ 254 w 351"/>
                <a:gd name="T5" fmla="*/ 8 h 336"/>
                <a:gd name="T6" fmla="*/ 254 w 351"/>
                <a:gd name="T7" fmla="*/ 42 h 336"/>
                <a:gd name="T8" fmla="*/ 244 w 351"/>
                <a:gd name="T9" fmla="*/ 34 h 336"/>
                <a:gd name="T10" fmla="*/ 160 w 351"/>
                <a:gd name="T11" fmla="*/ 0 h 336"/>
                <a:gd name="T12" fmla="*/ 0 w 351"/>
                <a:gd name="T13" fmla="*/ 168 h 336"/>
                <a:gd name="T14" fmla="*/ 160 w 351"/>
                <a:gd name="T15" fmla="*/ 336 h 336"/>
                <a:gd name="T16" fmla="*/ 244 w 351"/>
                <a:gd name="T17" fmla="*/ 302 h 336"/>
                <a:gd name="T18" fmla="*/ 254 w 351"/>
                <a:gd name="T19" fmla="*/ 294 h 336"/>
                <a:gd name="T20" fmla="*/ 254 w 351"/>
                <a:gd name="T21" fmla="*/ 328 h 336"/>
                <a:gd name="T22" fmla="*/ 351 w 351"/>
                <a:gd name="T23" fmla="*/ 329 h 336"/>
                <a:gd name="T24" fmla="*/ 176 w 351"/>
                <a:gd name="T25" fmla="*/ 244 h 336"/>
                <a:gd name="T26" fmla="*/ 101 w 351"/>
                <a:gd name="T27" fmla="*/ 168 h 336"/>
                <a:gd name="T28" fmla="*/ 177 w 351"/>
                <a:gd name="T29" fmla="*/ 92 h 336"/>
                <a:gd name="T30" fmla="*/ 252 w 351"/>
                <a:gd name="T31" fmla="*/ 168 h 336"/>
                <a:gd name="T32" fmla="*/ 230 w 351"/>
                <a:gd name="T33" fmla="*/ 222 h 336"/>
                <a:gd name="T34" fmla="*/ 176 w 351"/>
                <a:gd name="T35" fmla="*/ 244 h 336"/>
                <a:gd name="T36" fmla="*/ 176 w 351"/>
                <a:gd name="T37"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1" h="336">
                  <a:moveTo>
                    <a:pt x="351" y="329"/>
                  </a:moveTo>
                  <a:lnTo>
                    <a:pt x="351" y="8"/>
                  </a:lnTo>
                  <a:lnTo>
                    <a:pt x="254" y="8"/>
                  </a:lnTo>
                  <a:lnTo>
                    <a:pt x="254" y="42"/>
                  </a:lnTo>
                  <a:lnTo>
                    <a:pt x="244" y="34"/>
                  </a:lnTo>
                  <a:cubicBezTo>
                    <a:pt x="222" y="12"/>
                    <a:pt x="191" y="0"/>
                    <a:pt x="160" y="0"/>
                  </a:cubicBezTo>
                  <a:cubicBezTo>
                    <a:pt x="73" y="0"/>
                    <a:pt x="0" y="77"/>
                    <a:pt x="0" y="168"/>
                  </a:cubicBezTo>
                  <a:cubicBezTo>
                    <a:pt x="0" y="259"/>
                    <a:pt x="73" y="336"/>
                    <a:pt x="160" y="336"/>
                  </a:cubicBezTo>
                  <a:cubicBezTo>
                    <a:pt x="191" y="336"/>
                    <a:pt x="222" y="324"/>
                    <a:pt x="244" y="302"/>
                  </a:cubicBezTo>
                  <a:lnTo>
                    <a:pt x="254" y="294"/>
                  </a:lnTo>
                  <a:lnTo>
                    <a:pt x="254" y="328"/>
                  </a:lnTo>
                  <a:lnTo>
                    <a:pt x="351" y="329"/>
                  </a:lnTo>
                  <a:close/>
                  <a:moveTo>
                    <a:pt x="176" y="244"/>
                  </a:moveTo>
                  <a:cubicBezTo>
                    <a:pt x="134" y="243"/>
                    <a:pt x="100" y="209"/>
                    <a:pt x="101" y="168"/>
                  </a:cubicBezTo>
                  <a:cubicBezTo>
                    <a:pt x="101" y="126"/>
                    <a:pt x="135" y="92"/>
                    <a:pt x="177" y="92"/>
                  </a:cubicBezTo>
                  <a:cubicBezTo>
                    <a:pt x="218" y="92"/>
                    <a:pt x="252" y="126"/>
                    <a:pt x="252" y="168"/>
                  </a:cubicBezTo>
                  <a:cubicBezTo>
                    <a:pt x="252" y="188"/>
                    <a:pt x="244" y="208"/>
                    <a:pt x="230" y="222"/>
                  </a:cubicBezTo>
                  <a:cubicBezTo>
                    <a:pt x="215" y="236"/>
                    <a:pt x="196"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2" name="Freeform 16">
              <a:extLst>
                <a:ext uri="{FF2B5EF4-FFF2-40B4-BE49-F238E27FC236}">
                  <a16:creationId xmlns:a16="http://schemas.microsoft.com/office/drawing/2014/main" id="{ABE106ED-28D4-EB98-F60A-2D349007B82C}"/>
                </a:ext>
              </a:extLst>
            </p:cNvPr>
            <p:cNvSpPr>
              <a:spLocks noEditPoints="1"/>
            </p:cNvSpPr>
            <p:nvPr userDrawn="1"/>
          </p:nvSpPr>
          <p:spPr bwMode="auto">
            <a:xfrm>
              <a:off x="2846388" y="4695825"/>
              <a:ext cx="268287" cy="257175"/>
            </a:xfrm>
            <a:custGeom>
              <a:avLst/>
              <a:gdLst>
                <a:gd name="T0" fmla="*/ 351 w 351"/>
                <a:gd name="T1" fmla="*/ 329 h 336"/>
                <a:gd name="T2" fmla="*/ 351 w 351"/>
                <a:gd name="T3" fmla="*/ 8 h 336"/>
                <a:gd name="T4" fmla="*/ 253 w 351"/>
                <a:gd name="T5" fmla="*/ 8 h 336"/>
                <a:gd name="T6" fmla="*/ 253 w 351"/>
                <a:gd name="T7" fmla="*/ 42 h 336"/>
                <a:gd name="T8" fmla="*/ 244 w 351"/>
                <a:gd name="T9" fmla="*/ 34 h 336"/>
                <a:gd name="T10" fmla="*/ 159 w 351"/>
                <a:gd name="T11" fmla="*/ 0 h 336"/>
                <a:gd name="T12" fmla="*/ 0 w 351"/>
                <a:gd name="T13" fmla="*/ 168 h 336"/>
                <a:gd name="T14" fmla="*/ 159 w 351"/>
                <a:gd name="T15" fmla="*/ 336 h 336"/>
                <a:gd name="T16" fmla="*/ 244 w 351"/>
                <a:gd name="T17" fmla="*/ 302 h 336"/>
                <a:gd name="T18" fmla="*/ 253 w 351"/>
                <a:gd name="T19" fmla="*/ 294 h 336"/>
                <a:gd name="T20" fmla="*/ 253 w 351"/>
                <a:gd name="T21" fmla="*/ 328 h 336"/>
                <a:gd name="T22" fmla="*/ 351 w 351"/>
                <a:gd name="T23" fmla="*/ 329 h 336"/>
                <a:gd name="T24" fmla="*/ 176 w 351"/>
                <a:gd name="T25" fmla="*/ 244 h 336"/>
                <a:gd name="T26" fmla="*/ 100 w 351"/>
                <a:gd name="T27" fmla="*/ 168 h 336"/>
                <a:gd name="T28" fmla="*/ 176 w 351"/>
                <a:gd name="T29" fmla="*/ 92 h 336"/>
                <a:gd name="T30" fmla="*/ 252 w 351"/>
                <a:gd name="T31" fmla="*/ 168 h 336"/>
                <a:gd name="T32" fmla="*/ 176 w 351"/>
                <a:gd name="T33" fmla="*/ 244 h 336"/>
                <a:gd name="T34" fmla="*/ 176 w 351"/>
                <a:gd name="T35" fmla="*/ 24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1" h="336">
                  <a:moveTo>
                    <a:pt x="351" y="329"/>
                  </a:moveTo>
                  <a:lnTo>
                    <a:pt x="351" y="8"/>
                  </a:lnTo>
                  <a:lnTo>
                    <a:pt x="253" y="8"/>
                  </a:lnTo>
                  <a:lnTo>
                    <a:pt x="253" y="42"/>
                  </a:lnTo>
                  <a:lnTo>
                    <a:pt x="244" y="34"/>
                  </a:lnTo>
                  <a:cubicBezTo>
                    <a:pt x="221" y="12"/>
                    <a:pt x="191" y="0"/>
                    <a:pt x="159" y="0"/>
                  </a:cubicBezTo>
                  <a:cubicBezTo>
                    <a:pt x="73" y="0"/>
                    <a:pt x="0" y="77"/>
                    <a:pt x="0" y="168"/>
                  </a:cubicBezTo>
                  <a:cubicBezTo>
                    <a:pt x="0" y="259"/>
                    <a:pt x="73" y="336"/>
                    <a:pt x="159" y="336"/>
                  </a:cubicBezTo>
                  <a:cubicBezTo>
                    <a:pt x="191" y="336"/>
                    <a:pt x="221" y="324"/>
                    <a:pt x="244" y="302"/>
                  </a:cubicBezTo>
                  <a:lnTo>
                    <a:pt x="253" y="294"/>
                  </a:lnTo>
                  <a:lnTo>
                    <a:pt x="253" y="328"/>
                  </a:lnTo>
                  <a:lnTo>
                    <a:pt x="351" y="329"/>
                  </a:lnTo>
                  <a:close/>
                  <a:moveTo>
                    <a:pt x="176" y="244"/>
                  </a:moveTo>
                  <a:cubicBezTo>
                    <a:pt x="134" y="244"/>
                    <a:pt x="100" y="210"/>
                    <a:pt x="100" y="168"/>
                  </a:cubicBezTo>
                  <a:cubicBezTo>
                    <a:pt x="100" y="126"/>
                    <a:pt x="134" y="92"/>
                    <a:pt x="176" y="92"/>
                  </a:cubicBezTo>
                  <a:cubicBezTo>
                    <a:pt x="218" y="92"/>
                    <a:pt x="252" y="126"/>
                    <a:pt x="252" y="168"/>
                  </a:cubicBezTo>
                  <a:cubicBezTo>
                    <a:pt x="252" y="210"/>
                    <a:pt x="218" y="244"/>
                    <a:pt x="176" y="244"/>
                  </a:cubicBezTo>
                  <a:close/>
                  <a:moveTo>
                    <a:pt x="176" y="244"/>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sp>
          <p:nvSpPr>
            <p:cNvPr id="33" name="Freeform 17">
              <a:extLst>
                <a:ext uri="{FF2B5EF4-FFF2-40B4-BE49-F238E27FC236}">
                  <a16:creationId xmlns:a16="http://schemas.microsoft.com/office/drawing/2014/main" id="{182262B2-2E56-3F49-2908-F81B3844CBB9}"/>
                </a:ext>
              </a:extLst>
            </p:cNvPr>
            <p:cNvSpPr>
              <a:spLocks noEditPoints="1"/>
            </p:cNvSpPr>
            <p:nvPr userDrawn="1"/>
          </p:nvSpPr>
          <p:spPr bwMode="auto">
            <a:xfrm>
              <a:off x="2552700" y="4591050"/>
              <a:ext cx="268287" cy="361950"/>
            </a:xfrm>
            <a:custGeom>
              <a:avLst/>
              <a:gdLst>
                <a:gd name="T0" fmla="*/ 98 w 352"/>
                <a:gd name="T1" fmla="*/ 468 h 476"/>
                <a:gd name="T2" fmla="*/ 98 w 352"/>
                <a:gd name="T3" fmla="*/ 434 h 476"/>
                <a:gd name="T4" fmla="*/ 107 w 352"/>
                <a:gd name="T5" fmla="*/ 442 h 476"/>
                <a:gd name="T6" fmla="*/ 192 w 352"/>
                <a:gd name="T7" fmla="*/ 476 h 476"/>
                <a:gd name="T8" fmla="*/ 352 w 352"/>
                <a:gd name="T9" fmla="*/ 307 h 476"/>
                <a:gd name="T10" fmla="*/ 192 w 352"/>
                <a:gd name="T11" fmla="*/ 139 h 476"/>
                <a:gd name="T12" fmla="*/ 107 w 352"/>
                <a:gd name="T13" fmla="*/ 173 h 476"/>
                <a:gd name="T14" fmla="*/ 98 w 352"/>
                <a:gd name="T15" fmla="*/ 181 h 476"/>
                <a:gd name="T16" fmla="*/ 98 w 352"/>
                <a:gd name="T17" fmla="*/ 0 h 476"/>
                <a:gd name="T18" fmla="*/ 0 w 352"/>
                <a:gd name="T19" fmla="*/ 0 h 476"/>
                <a:gd name="T20" fmla="*/ 0 w 352"/>
                <a:gd name="T21" fmla="*/ 468 h 476"/>
                <a:gd name="T22" fmla="*/ 98 w 352"/>
                <a:gd name="T23" fmla="*/ 468 h 476"/>
                <a:gd name="T24" fmla="*/ 100 w 352"/>
                <a:gd name="T25" fmla="*/ 307 h 476"/>
                <a:gd name="T26" fmla="*/ 147 w 352"/>
                <a:gd name="T27" fmla="*/ 237 h 476"/>
                <a:gd name="T28" fmla="*/ 229 w 352"/>
                <a:gd name="T29" fmla="*/ 253 h 476"/>
                <a:gd name="T30" fmla="*/ 246 w 352"/>
                <a:gd name="T31" fmla="*/ 336 h 476"/>
                <a:gd name="T32" fmla="*/ 176 w 352"/>
                <a:gd name="T33" fmla="*/ 383 h 476"/>
                <a:gd name="T34" fmla="*/ 100 w 352"/>
                <a:gd name="T35" fmla="*/ 307 h 476"/>
                <a:gd name="T36" fmla="*/ 100 w 352"/>
                <a:gd name="T37" fmla="*/ 307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2" h="476">
                  <a:moveTo>
                    <a:pt x="98" y="468"/>
                  </a:moveTo>
                  <a:lnTo>
                    <a:pt x="98" y="434"/>
                  </a:lnTo>
                  <a:lnTo>
                    <a:pt x="107" y="442"/>
                  </a:lnTo>
                  <a:cubicBezTo>
                    <a:pt x="130" y="464"/>
                    <a:pt x="161" y="476"/>
                    <a:pt x="192" y="476"/>
                  </a:cubicBezTo>
                  <a:cubicBezTo>
                    <a:pt x="279" y="476"/>
                    <a:pt x="352" y="399"/>
                    <a:pt x="352" y="307"/>
                  </a:cubicBezTo>
                  <a:cubicBezTo>
                    <a:pt x="352" y="216"/>
                    <a:pt x="279" y="139"/>
                    <a:pt x="192" y="139"/>
                  </a:cubicBezTo>
                  <a:cubicBezTo>
                    <a:pt x="161" y="139"/>
                    <a:pt x="130" y="152"/>
                    <a:pt x="107" y="173"/>
                  </a:cubicBezTo>
                  <a:lnTo>
                    <a:pt x="98" y="181"/>
                  </a:lnTo>
                  <a:lnTo>
                    <a:pt x="98" y="0"/>
                  </a:lnTo>
                  <a:lnTo>
                    <a:pt x="0" y="0"/>
                  </a:lnTo>
                  <a:lnTo>
                    <a:pt x="0" y="468"/>
                  </a:lnTo>
                  <a:lnTo>
                    <a:pt x="98" y="468"/>
                  </a:lnTo>
                  <a:close/>
                  <a:moveTo>
                    <a:pt x="100" y="307"/>
                  </a:moveTo>
                  <a:cubicBezTo>
                    <a:pt x="100" y="277"/>
                    <a:pt x="118" y="249"/>
                    <a:pt x="147" y="237"/>
                  </a:cubicBezTo>
                  <a:cubicBezTo>
                    <a:pt x="175" y="225"/>
                    <a:pt x="208" y="232"/>
                    <a:pt x="229" y="253"/>
                  </a:cubicBezTo>
                  <a:cubicBezTo>
                    <a:pt x="251" y="275"/>
                    <a:pt x="258" y="307"/>
                    <a:pt x="246" y="336"/>
                  </a:cubicBezTo>
                  <a:cubicBezTo>
                    <a:pt x="234" y="364"/>
                    <a:pt x="207" y="383"/>
                    <a:pt x="176" y="383"/>
                  </a:cubicBezTo>
                  <a:cubicBezTo>
                    <a:pt x="134" y="383"/>
                    <a:pt x="100" y="349"/>
                    <a:pt x="100" y="307"/>
                  </a:cubicBezTo>
                  <a:close/>
                  <a:moveTo>
                    <a:pt x="100" y="307"/>
                  </a:move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801"/>
            </a:p>
          </p:txBody>
        </p:sp>
      </p:grpSp>
      <p:sp>
        <p:nvSpPr>
          <p:cNvPr id="6" name="TextBox 5">
            <a:extLst>
              <a:ext uri="{FF2B5EF4-FFF2-40B4-BE49-F238E27FC236}">
                <a16:creationId xmlns:a16="http://schemas.microsoft.com/office/drawing/2014/main" id="{35951629-E081-567A-BE17-BE7E94528479}"/>
              </a:ext>
            </a:extLst>
          </p:cNvPr>
          <p:cNvSpPr txBox="1"/>
          <p:nvPr userDrawn="1"/>
        </p:nvSpPr>
        <p:spPr>
          <a:xfrm>
            <a:off x="9818776" y="6355422"/>
            <a:ext cx="1882247" cy="200055"/>
          </a:xfrm>
          <a:prstGeom prst="rect">
            <a:avLst/>
          </a:prstGeom>
          <a:noFill/>
        </p:spPr>
        <p:txBody>
          <a:bodyPr wrap="none" rtlCol="0">
            <a:spAutoFit/>
          </a:bodyPr>
          <a:lstStyle/>
          <a:p>
            <a:pPr algn="ctr"/>
            <a:r>
              <a:rPr lang="en-US" sz="700" spc="300" baseline="0">
                <a:solidFill>
                  <a:schemeClr val="bg1"/>
                </a:solidFill>
              </a:rPr>
              <a:t>ENTERPRISE STRATEGY</a:t>
            </a:r>
          </a:p>
        </p:txBody>
      </p:sp>
    </p:spTree>
    <p:extLst>
      <p:ext uri="{BB962C8B-B14F-4D97-AF65-F5344CB8AC3E}">
        <p14:creationId xmlns:p14="http://schemas.microsoft.com/office/powerpoint/2010/main" val="3111520707"/>
      </p:ext>
    </p:extLst>
  </p:cSld>
  <p:clrMapOvr>
    <a:masterClrMapping/>
  </p:clrMapOvr>
  <p:extLst>
    <p:ext uri="{DCECCB84-F9BA-43D5-87BE-67443E8EF086}">
      <p15:sldGuideLst xmlns:p15="http://schemas.microsoft.com/office/powerpoint/2012/main">
        <p15:guide id="2" pos="325">
          <p15:clr>
            <a:srgbClr val="FBAE40"/>
          </p15:clr>
        </p15:guide>
        <p15:guide id="3" orient="horz" pos="2500">
          <p15:clr>
            <a:srgbClr val="FBAE40"/>
          </p15:clr>
        </p15:guide>
        <p15:guide id="4" orient="horz" pos="1933">
          <p15:clr>
            <a:srgbClr val="FBAE40"/>
          </p15:clr>
        </p15:guide>
        <p15:guide id="5" orient="horz" pos="2772">
          <p15:clr>
            <a:srgbClr val="FBAE40"/>
          </p15:clr>
        </p15:guide>
        <p15:guide id="6" orient="horz" pos="2568">
          <p15:clr>
            <a:srgbClr val="FBAE40"/>
          </p15:clr>
        </p15:guide>
        <p15:guide id="7" orient="horz" pos="3158">
          <p15:clr>
            <a:srgbClr val="FBAE40"/>
          </p15:clr>
        </p15:guide>
        <p15:guide id="8" orient="horz" pos="3362">
          <p15:clr>
            <a:srgbClr val="FBAE40"/>
          </p15:clr>
        </p15:guide>
        <p15:guide id="9" orient="horz" pos="3861">
          <p15:clr>
            <a:srgbClr val="FBAE40"/>
          </p15:clr>
        </p15:guide>
        <p15:guide id="10" orient="horz" pos="4088">
          <p15:clr>
            <a:srgbClr val="FBAE40"/>
          </p15:clr>
        </p15:guide>
        <p15:guide id="11" pos="7355">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image" Target="../media/image1.emf"/><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oleObject" Target="../embeddings/oleObject1.bin"/><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ags" Target="../tags/tag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26" Type="http://schemas.openxmlformats.org/officeDocument/2006/relationships/oleObject" Target="../embeddings/oleObject7.bin"/><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5" Type="http://schemas.openxmlformats.org/officeDocument/2006/relationships/image" Target="../media/image1.emf"/><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24" Type="http://schemas.openxmlformats.org/officeDocument/2006/relationships/oleObject" Target="../embeddings/oleObject6.bin"/><Relationship Id="rId5" Type="http://schemas.openxmlformats.org/officeDocument/2006/relationships/slideLayout" Target="../slideLayouts/slideLayout26.xml"/><Relationship Id="rId15" Type="http://schemas.openxmlformats.org/officeDocument/2006/relationships/slideLayout" Target="../slideLayouts/slideLayout36.xml"/><Relationship Id="rId23" Type="http://schemas.openxmlformats.org/officeDocument/2006/relationships/tags" Target="../tags/tag8.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 Id="rId22" Type="http://schemas.openxmlformats.org/officeDocument/2006/relationships/tags" Target="../tags/tag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9.xml"/><Relationship Id="rId13" Type="http://schemas.openxmlformats.org/officeDocument/2006/relationships/slideLayout" Target="../slideLayouts/slideLayout54.xml"/><Relationship Id="rId18" Type="http://schemas.openxmlformats.org/officeDocument/2006/relationships/slideLayout" Target="../slideLayouts/slideLayout59.xml"/><Relationship Id="rId3" Type="http://schemas.openxmlformats.org/officeDocument/2006/relationships/slideLayout" Target="../slideLayouts/slideLayout44.xml"/><Relationship Id="rId21" Type="http://schemas.openxmlformats.org/officeDocument/2006/relationships/theme" Target="../theme/theme3.xml"/><Relationship Id="rId7" Type="http://schemas.openxmlformats.org/officeDocument/2006/relationships/slideLayout" Target="../slideLayouts/slideLayout48.xml"/><Relationship Id="rId12" Type="http://schemas.openxmlformats.org/officeDocument/2006/relationships/slideLayout" Target="../slideLayouts/slideLayout53.xml"/><Relationship Id="rId17" Type="http://schemas.openxmlformats.org/officeDocument/2006/relationships/slideLayout" Target="../slideLayouts/slideLayout58.xml"/><Relationship Id="rId2" Type="http://schemas.openxmlformats.org/officeDocument/2006/relationships/slideLayout" Target="../slideLayouts/slideLayout43.xml"/><Relationship Id="rId16" Type="http://schemas.openxmlformats.org/officeDocument/2006/relationships/slideLayout" Target="../slideLayouts/slideLayout57.xml"/><Relationship Id="rId20" Type="http://schemas.openxmlformats.org/officeDocument/2006/relationships/slideLayout" Target="../slideLayouts/slideLayout61.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24" Type="http://schemas.openxmlformats.org/officeDocument/2006/relationships/image" Target="../media/image1.emf"/><Relationship Id="rId5" Type="http://schemas.openxmlformats.org/officeDocument/2006/relationships/slideLayout" Target="../slideLayouts/slideLayout46.xml"/><Relationship Id="rId15" Type="http://schemas.openxmlformats.org/officeDocument/2006/relationships/slideLayout" Target="../slideLayouts/slideLayout56.xml"/><Relationship Id="rId23" Type="http://schemas.openxmlformats.org/officeDocument/2006/relationships/oleObject" Target="../embeddings/oleObject1.bin"/><Relationship Id="rId10" Type="http://schemas.openxmlformats.org/officeDocument/2006/relationships/slideLayout" Target="../slideLayouts/slideLayout51.xml"/><Relationship Id="rId19" Type="http://schemas.openxmlformats.org/officeDocument/2006/relationships/slideLayout" Target="../slideLayouts/slideLayout60.xml"/><Relationship Id="rId4" Type="http://schemas.openxmlformats.org/officeDocument/2006/relationships/slideLayout" Target="../slideLayouts/slideLayout45.xml"/><Relationship Id="rId9" Type="http://schemas.openxmlformats.org/officeDocument/2006/relationships/slideLayout" Target="../slideLayouts/slideLayout50.xml"/><Relationship Id="rId14" Type="http://schemas.openxmlformats.org/officeDocument/2006/relationships/slideLayout" Target="../slideLayouts/slideLayout55.xml"/><Relationship Id="rId22" Type="http://schemas.openxmlformats.org/officeDocument/2006/relationships/tags" Target="../tags/tag1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3" Type="http://schemas.openxmlformats.org/officeDocument/2006/relationships/slideLayout" Target="../slideLayouts/slideLayout64.xml"/><Relationship Id="rId21" Type="http://schemas.openxmlformats.org/officeDocument/2006/relationships/slideLayout" Target="../slideLayouts/slideLayout82.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5" Type="http://schemas.openxmlformats.org/officeDocument/2006/relationships/image" Target="../media/image1.emf"/><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24" Type="http://schemas.openxmlformats.org/officeDocument/2006/relationships/oleObject" Target="../embeddings/oleObject11.bin"/><Relationship Id="rId5" Type="http://schemas.openxmlformats.org/officeDocument/2006/relationships/slideLayout" Target="../slideLayouts/slideLayout66.xml"/><Relationship Id="rId15" Type="http://schemas.openxmlformats.org/officeDocument/2006/relationships/slideLayout" Target="../slideLayouts/slideLayout76.xml"/><Relationship Id="rId23" Type="http://schemas.openxmlformats.org/officeDocument/2006/relationships/tags" Target="../tags/tag13.xml"/><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 Id="rId22"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slideLayout" Target="../slideLayouts/slideLayout95.xml"/><Relationship Id="rId18" Type="http://schemas.openxmlformats.org/officeDocument/2006/relationships/slideLayout" Target="../slideLayouts/slideLayout100.xml"/><Relationship Id="rId3" Type="http://schemas.openxmlformats.org/officeDocument/2006/relationships/slideLayout" Target="../slideLayouts/slideLayout85.xml"/><Relationship Id="rId21" Type="http://schemas.openxmlformats.org/officeDocument/2006/relationships/theme" Target="../theme/theme5.xml"/><Relationship Id="rId7" Type="http://schemas.openxmlformats.org/officeDocument/2006/relationships/slideLayout" Target="../slideLayouts/slideLayout89.xml"/><Relationship Id="rId12" Type="http://schemas.openxmlformats.org/officeDocument/2006/relationships/slideLayout" Target="../slideLayouts/slideLayout94.xml"/><Relationship Id="rId17" Type="http://schemas.openxmlformats.org/officeDocument/2006/relationships/slideLayout" Target="../slideLayouts/slideLayout99.xml"/><Relationship Id="rId2" Type="http://schemas.openxmlformats.org/officeDocument/2006/relationships/slideLayout" Target="../slideLayouts/slideLayout84.xml"/><Relationship Id="rId16" Type="http://schemas.openxmlformats.org/officeDocument/2006/relationships/slideLayout" Target="../slideLayouts/slideLayout98.xml"/><Relationship Id="rId20" Type="http://schemas.openxmlformats.org/officeDocument/2006/relationships/slideLayout" Target="../slideLayouts/slideLayout102.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24" Type="http://schemas.openxmlformats.org/officeDocument/2006/relationships/image" Target="../media/image1.emf"/><Relationship Id="rId5" Type="http://schemas.openxmlformats.org/officeDocument/2006/relationships/slideLayout" Target="../slideLayouts/slideLayout87.xml"/><Relationship Id="rId15" Type="http://schemas.openxmlformats.org/officeDocument/2006/relationships/slideLayout" Target="../slideLayouts/slideLayout97.xml"/><Relationship Id="rId23" Type="http://schemas.openxmlformats.org/officeDocument/2006/relationships/oleObject" Target="../embeddings/oleObject1.bin"/><Relationship Id="rId10" Type="http://schemas.openxmlformats.org/officeDocument/2006/relationships/slideLayout" Target="../slideLayouts/slideLayout92.xml"/><Relationship Id="rId19" Type="http://schemas.openxmlformats.org/officeDocument/2006/relationships/slideLayout" Target="../slideLayouts/slideLayout101.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slideLayout" Target="../slideLayouts/slideLayout96.xml"/><Relationship Id="rId22" Type="http://schemas.openxmlformats.org/officeDocument/2006/relationships/tags" Target="../tags/tag1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10.xml"/><Relationship Id="rId13" Type="http://schemas.openxmlformats.org/officeDocument/2006/relationships/slideLayout" Target="../slideLayouts/slideLayout115.xml"/><Relationship Id="rId18" Type="http://schemas.openxmlformats.org/officeDocument/2006/relationships/slideLayout" Target="../slideLayouts/slideLayout120.xml"/><Relationship Id="rId3" Type="http://schemas.openxmlformats.org/officeDocument/2006/relationships/slideLayout" Target="../slideLayouts/slideLayout105.xml"/><Relationship Id="rId21" Type="http://schemas.openxmlformats.org/officeDocument/2006/relationships/slideLayout" Target="../slideLayouts/slideLayout123.xml"/><Relationship Id="rId7" Type="http://schemas.openxmlformats.org/officeDocument/2006/relationships/slideLayout" Target="../slideLayouts/slideLayout109.xml"/><Relationship Id="rId12" Type="http://schemas.openxmlformats.org/officeDocument/2006/relationships/slideLayout" Target="../slideLayouts/slideLayout114.xml"/><Relationship Id="rId17" Type="http://schemas.openxmlformats.org/officeDocument/2006/relationships/slideLayout" Target="../slideLayouts/slideLayout119.xml"/><Relationship Id="rId25" Type="http://schemas.openxmlformats.org/officeDocument/2006/relationships/image" Target="../media/image1.emf"/><Relationship Id="rId2" Type="http://schemas.openxmlformats.org/officeDocument/2006/relationships/slideLayout" Target="../slideLayouts/slideLayout104.xml"/><Relationship Id="rId16" Type="http://schemas.openxmlformats.org/officeDocument/2006/relationships/slideLayout" Target="../slideLayouts/slideLayout118.xml"/><Relationship Id="rId20" Type="http://schemas.openxmlformats.org/officeDocument/2006/relationships/slideLayout" Target="../slideLayouts/slideLayout122.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24" Type="http://schemas.openxmlformats.org/officeDocument/2006/relationships/oleObject" Target="../embeddings/oleObject12.bin"/><Relationship Id="rId5" Type="http://schemas.openxmlformats.org/officeDocument/2006/relationships/slideLayout" Target="../slideLayouts/slideLayout107.xml"/><Relationship Id="rId15" Type="http://schemas.openxmlformats.org/officeDocument/2006/relationships/slideLayout" Target="../slideLayouts/slideLayout117.xml"/><Relationship Id="rId23" Type="http://schemas.openxmlformats.org/officeDocument/2006/relationships/tags" Target="../tags/tag15.xml"/><Relationship Id="rId10" Type="http://schemas.openxmlformats.org/officeDocument/2006/relationships/slideLayout" Target="../slideLayouts/slideLayout112.xml"/><Relationship Id="rId19" Type="http://schemas.openxmlformats.org/officeDocument/2006/relationships/slideLayout" Target="../slideLayouts/slideLayout121.xml"/><Relationship Id="rId4" Type="http://schemas.openxmlformats.org/officeDocument/2006/relationships/slideLayout" Target="../slideLayouts/slideLayout106.xml"/><Relationship Id="rId9" Type="http://schemas.openxmlformats.org/officeDocument/2006/relationships/slideLayout" Target="../slideLayouts/slideLayout111.xml"/><Relationship Id="rId14" Type="http://schemas.openxmlformats.org/officeDocument/2006/relationships/slideLayout" Target="../slideLayouts/slideLayout116.xml"/><Relationship Id="rId22"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slideLayout" Target="../slideLayouts/slideLayout136.xml"/><Relationship Id="rId18" Type="http://schemas.openxmlformats.org/officeDocument/2006/relationships/slideLayout" Target="../slideLayouts/slideLayout141.xml"/><Relationship Id="rId26" Type="http://schemas.openxmlformats.org/officeDocument/2006/relationships/theme" Target="../theme/theme7.xml"/><Relationship Id="rId3" Type="http://schemas.openxmlformats.org/officeDocument/2006/relationships/slideLayout" Target="../slideLayouts/slideLayout126.xml"/><Relationship Id="rId21" Type="http://schemas.openxmlformats.org/officeDocument/2006/relationships/slideLayout" Target="../slideLayouts/slideLayout144.xml"/><Relationship Id="rId7" Type="http://schemas.openxmlformats.org/officeDocument/2006/relationships/slideLayout" Target="../slideLayouts/slideLayout130.xml"/><Relationship Id="rId12" Type="http://schemas.openxmlformats.org/officeDocument/2006/relationships/slideLayout" Target="../slideLayouts/slideLayout135.xml"/><Relationship Id="rId17" Type="http://schemas.openxmlformats.org/officeDocument/2006/relationships/slideLayout" Target="../slideLayouts/slideLayout140.xml"/><Relationship Id="rId25" Type="http://schemas.openxmlformats.org/officeDocument/2006/relationships/slideLayout" Target="../slideLayouts/slideLayout148.xml"/><Relationship Id="rId2" Type="http://schemas.openxmlformats.org/officeDocument/2006/relationships/slideLayout" Target="../slideLayouts/slideLayout125.xml"/><Relationship Id="rId16" Type="http://schemas.openxmlformats.org/officeDocument/2006/relationships/slideLayout" Target="../slideLayouts/slideLayout139.xml"/><Relationship Id="rId20" Type="http://schemas.openxmlformats.org/officeDocument/2006/relationships/slideLayout" Target="../slideLayouts/slideLayout143.xml"/><Relationship Id="rId29" Type="http://schemas.openxmlformats.org/officeDocument/2006/relationships/image" Target="../media/image1.emf"/><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24" Type="http://schemas.openxmlformats.org/officeDocument/2006/relationships/slideLayout" Target="../slideLayouts/slideLayout147.xml"/><Relationship Id="rId5" Type="http://schemas.openxmlformats.org/officeDocument/2006/relationships/slideLayout" Target="../slideLayouts/slideLayout128.xml"/><Relationship Id="rId15" Type="http://schemas.openxmlformats.org/officeDocument/2006/relationships/slideLayout" Target="../slideLayouts/slideLayout138.xml"/><Relationship Id="rId23" Type="http://schemas.openxmlformats.org/officeDocument/2006/relationships/slideLayout" Target="../slideLayouts/slideLayout146.xml"/><Relationship Id="rId28" Type="http://schemas.openxmlformats.org/officeDocument/2006/relationships/oleObject" Target="../embeddings/oleObject12.bin"/><Relationship Id="rId10" Type="http://schemas.openxmlformats.org/officeDocument/2006/relationships/slideLayout" Target="../slideLayouts/slideLayout133.xml"/><Relationship Id="rId19" Type="http://schemas.openxmlformats.org/officeDocument/2006/relationships/slideLayout" Target="../slideLayouts/slideLayout142.xml"/><Relationship Id="rId4" Type="http://schemas.openxmlformats.org/officeDocument/2006/relationships/slideLayout" Target="../slideLayouts/slideLayout127.xml"/><Relationship Id="rId9" Type="http://schemas.openxmlformats.org/officeDocument/2006/relationships/slideLayout" Target="../slideLayouts/slideLayout132.xml"/><Relationship Id="rId14" Type="http://schemas.openxmlformats.org/officeDocument/2006/relationships/slideLayout" Target="../slideLayouts/slideLayout137.xml"/><Relationship Id="rId22" Type="http://schemas.openxmlformats.org/officeDocument/2006/relationships/slideLayout" Target="../slideLayouts/slideLayout145.xml"/><Relationship Id="rId27" Type="http://schemas.openxmlformats.org/officeDocument/2006/relationships/tags" Target="../tags/tag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p:cNvGraphicFramePr>
          <p:nvPr userDrawn="1">
            <p:custDataLst>
              <p:tags r:id="rId23"/>
            </p:custDataLst>
            <p:extLst>
              <p:ext uri="{D42A27DB-BD31-4B8C-83A1-F6EECF244321}">
                <p14:modId xmlns:p14="http://schemas.microsoft.com/office/powerpoint/2010/main" val="37252218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306" imgH="306" progId="TCLayout.ActiveDocument.1">
                  <p:embed/>
                </p:oleObj>
              </mc:Choice>
              <mc:Fallback>
                <p:oleObj name="think-cell Slide" r:id="rId24"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b">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7750620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Lst>
  <p:hf hdr="0" ftr="0" dt="0"/>
  <p:txStyles>
    <p:titleStyle>
      <a:lvl1pPr algn="l" defTabSz="914411" rtl="0" eaLnBrk="1" latinLnBrk="0" hangingPunct="1">
        <a:lnSpc>
          <a:spcPct val="100000"/>
        </a:lnSpc>
        <a:spcBef>
          <a:spcPct val="0"/>
        </a:spcBef>
        <a:buNone/>
        <a:defRPr sz="24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p:cNvGraphicFramePr>
          <p:nvPr>
            <p:custDataLst>
              <p:tags r:id="rId22"/>
            </p:custDataLst>
            <p:extLst>
              <p:ext uri="{D42A27DB-BD31-4B8C-83A1-F6EECF244321}">
                <p14:modId xmlns:p14="http://schemas.microsoft.com/office/powerpoint/2010/main" val="37252218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306" imgH="306" progId="TCLayout.ActiveDocument.1">
                  <p:embed/>
                </p:oleObj>
              </mc:Choice>
              <mc:Fallback>
                <p:oleObj name="think-cell Slide" r:id="rId24"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b">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graphicFrame>
        <p:nvGraphicFramePr>
          <p:cNvPr id="3" name="Object 2" hidden="1">
            <a:extLst>
              <a:ext uri="{FF2B5EF4-FFF2-40B4-BE49-F238E27FC236}">
                <a16:creationId xmlns:a16="http://schemas.microsoft.com/office/drawing/2014/main" id="{21C8F462-7D08-D182-FEB7-EE13040D1F8E}"/>
              </a:ext>
            </a:extLst>
          </p:cNvPr>
          <p:cNvGraphicFramePr>
            <a:graphicFrameLocks noChangeAspect="1"/>
          </p:cNvGraphicFramePr>
          <p:nvPr userDrawn="1">
            <p:custDataLst>
              <p:tags r:id="rId23"/>
            </p:custDataLst>
            <p:extLst>
              <p:ext uri="{D42A27DB-BD31-4B8C-83A1-F6EECF244321}">
                <p14:modId xmlns:p14="http://schemas.microsoft.com/office/powerpoint/2010/main" val="11517571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6" imgW="306" imgH="306" progId="TCLayout.ActiveDocument.1">
                  <p:embed/>
                </p:oleObj>
              </mc:Choice>
              <mc:Fallback>
                <p:oleObj name="think-cell Slide" r:id="rId26" imgW="306" imgH="306" progId="TCLayout.ActiveDocument.1">
                  <p:embed/>
                  <p:pic>
                    <p:nvPicPr>
                      <p:cNvPr id="3" name="Object 2" hidden="1">
                        <a:extLst>
                          <a:ext uri="{FF2B5EF4-FFF2-40B4-BE49-F238E27FC236}">
                            <a16:creationId xmlns:a16="http://schemas.microsoft.com/office/drawing/2014/main" id="{21C8F462-7D08-D182-FEB7-EE13040D1F8E}"/>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grpSp>
        <p:nvGrpSpPr>
          <p:cNvPr id="4" name="Group 4">
            <a:extLst>
              <a:ext uri="{FF2B5EF4-FFF2-40B4-BE49-F238E27FC236}">
                <a16:creationId xmlns:a16="http://schemas.microsoft.com/office/drawing/2014/main" id="{D623622F-7669-80F4-1D59-526A86027315}"/>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5" name="Freeform 5">
              <a:extLst>
                <a:ext uri="{FF2B5EF4-FFF2-40B4-BE49-F238E27FC236}">
                  <a16:creationId xmlns:a16="http://schemas.microsoft.com/office/drawing/2014/main" id="{56AD17C6-E606-4157-8868-8D5BBCF633D4}"/>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6" name="Freeform 6">
              <a:extLst>
                <a:ext uri="{FF2B5EF4-FFF2-40B4-BE49-F238E27FC236}">
                  <a16:creationId xmlns:a16="http://schemas.microsoft.com/office/drawing/2014/main" id="{D29C51CB-AD48-FE6B-037D-A4CE329AD487}"/>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9" name="Oval 7">
              <a:extLst>
                <a:ext uri="{FF2B5EF4-FFF2-40B4-BE49-F238E27FC236}">
                  <a16:creationId xmlns:a16="http://schemas.microsoft.com/office/drawing/2014/main" id="{E248B3AE-9FAD-A58E-B908-F2B8B5795A04}"/>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2505975273"/>
      </p:ext>
    </p:extLst>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 id="2147483698" r:id="rId16"/>
    <p:sldLayoutId id="2147483699" r:id="rId17"/>
    <p:sldLayoutId id="2147483700" r:id="rId18"/>
    <p:sldLayoutId id="2147483701" r:id="rId19"/>
    <p:sldLayoutId id="2147483702" r:id="rId20"/>
  </p:sldLayoutIdLst>
  <p:hf hdr="0" ftr="0" dt="0"/>
  <p:txStyles>
    <p:titleStyle>
      <a:lvl1pPr algn="l" defTabSz="914411" rtl="0" eaLnBrk="1" latinLnBrk="0" hangingPunct="1">
        <a:lnSpc>
          <a:spcPct val="100000"/>
        </a:lnSpc>
        <a:spcBef>
          <a:spcPct val="0"/>
        </a:spcBef>
        <a:buNone/>
        <a:defRPr sz="24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noChangeAspect="1"/>
          </p:cNvGraphicFramePr>
          <p:nvPr>
            <p:custDataLst>
              <p:tags r:id="rId22"/>
            </p:custDataLst>
            <p:extLst>
              <p:ext uri="{D42A27DB-BD31-4B8C-83A1-F6EECF244321}">
                <p14:modId xmlns:p14="http://schemas.microsoft.com/office/powerpoint/2010/main" val="37252218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306" imgH="306" progId="TCLayout.ActiveDocument.1">
                  <p:embed/>
                </p:oleObj>
              </mc:Choice>
              <mc:Fallback>
                <p:oleObj name="think-cell Slide" r:id="rId23"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b">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2728278256"/>
      </p:ext>
    </p:extLst>
  </p:cSld>
  <p:clrMap bg1="lt1" tx1="dk1" bg2="lt2" tx2="dk2" accent1="accent1" accent2="accent2" accent3="accent3" accent4="accent4" accent5="accent5" accent6="accent6" hlink="hlink" folHlink="folHlink"/>
  <p:sldLayoutIdLst>
    <p:sldLayoutId id="2147483704"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715" r:id="rId12"/>
    <p:sldLayoutId id="2147483716" r:id="rId13"/>
    <p:sldLayoutId id="2147483717" r:id="rId14"/>
    <p:sldLayoutId id="2147483718" r:id="rId15"/>
    <p:sldLayoutId id="2147483719" r:id="rId16"/>
    <p:sldLayoutId id="2147483720" r:id="rId17"/>
    <p:sldLayoutId id="2147483721" r:id="rId18"/>
    <p:sldLayoutId id="2147483722" r:id="rId19"/>
    <p:sldLayoutId id="2147483723" r:id="rId20"/>
  </p:sldLayoutIdLst>
  <p:hf hdr="0" ftr="0" dt="0"/>
  <p:txStyles>
    <p:titleStyle>
      <a:lvl1pPr algn="l" defTabSz="914411" rtl="0" eaLnBrk="1" latinLnBrk="0" hangingPunct="1">
        <a:lnSpc>
          <a:spcPct val="100000"/>
        </a:lnSpc>
        <a:spcBef>
          <a:spcPct val="0"/>
        </a:spcBef>
        <a:buNone/>
        <a:defRPr sz="24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noChangeAspect="1"/>
          </p:cNvGraphicFramePr>
          <p:nvPr userDrawn="1">
            <p:custDataLst>
              <p:tags r:id="rId23"/>
            </p:custDataLst>
            <p:extLst>
              <p:ext uri="{D42A27DB-BD31-4B8C-83A1-F6EECF244321}">
                <p14:modId xmlns:p14="http://schemas.microsoft.com/office/powerpoint/2010/main" val="37252218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306" imgH="306" progId="TCLayout.ActiveDocument.1">
                  <p:embed/>
                </p:oleObj>
              </mc:Choice>
              <mc:Fallback>
                <p:oleObj name="think-cell Slide" r:id="rId24"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b">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080010648"/>
      </p:ext>
    </p:extLst>
  </p:cSld>
  <p:clrMap bg1="lt1" tx1="dk1" bg2="lt2" tx2="dk2" accent1="accent1" accent2="accent2" accent3="accent3" accent4="accent4" accent5="accent5" accent6="accent6" hlink="hlink" folHlink="folHlink"/>
  <p:sldLayoutIdLst>
    <p:sldLayoutId id="2147483725" r:id="rId1"/>
    <p:sldLayoutId id="2147483726" r:id="rId2"/>
    <p:sldLayoutId id="2147483727" r:id="rId3"/>
    <p:sldLayoutId id="2147483728" r:id="rId4"/>
    <p:sldLayoutId id="2147483729" r:id="rId5"/>
    <p:sldLayoutId id="2147483730" r:id="rId6"/>
    <p:sldLayoutId id="2147483731" r:id="rId7"/>
    <p:sldLayoutId id="2147483732" r:id="rId8"/>
    <p:sldLayoutId id="2147483733" r:id="rId9"/>
    <p:sldLayoutId id="2147483734" r:id="rId10"/>
    <p:sldLayoutId id="2147483735" r:id="rId11"/>
    <p:sldLayoutId id="2147483736" r:id="rId12"/>
    <p:sldLayoutId id="2147483737" r:id="rId13"/>
    <p:sldLayoutId id="2147483738" r:id="rId14"/>
    <p:sldLayoutId id="2147483739" r:id="rId15"/>
    <p:sldLayoutId id="2147483740" r:id="rId16"/>
    <p:sldLayoutId id="2147483741" r:id="rId17"/>
    <p:sldLayoutId id="2147483742" r:id="rId18"/>
    <p:sldLayoutId id="2147483743" r:id="rId19"/>
    <p:sldLayoutId id="2147483744" r:id="rId20"/>
    <p:sldLayoutId id="2147483745" r:id="rId21"/>
  </p:sldLayoutIdLst>
  <p:hf hdr="0" ftr="0" dt="0"/>
  <p:txStyles>
    <p:titleStyle>
      <a:lvl1pPr algn="l" defTabSz="914411" rtl="0" eaLnBrk="1" latinLnBrk="0" hangingPunct="1">
        <a:lnSpc>
          <a:spcPct val="100000"/>
        </a:lnSpc>
        <a:spcBef>
          <a:spcPct val="0"/>
        </a:spcBef>
        <a:buNone/>
        <a:defRPr sz="24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noChangeAspect="1"/>
          </p:cNvGraphicFramePr>
          <p:nvPr>
            <p:custDataLst>
              <p:tags r:id="rId22"/>
            </p:custDataLst>
            <p:extLst>
              <p:ext uri="{D42A27DB-BD31-4B8C-83A1-F6EECF244321}">
                <p14:modId xmlns:p14="http://schemas.microsoft.com/office/powerpoint/2010/main" val="37252218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306" imgH="306" progId="TCLayout.ActiveDocument.1">
                  <p:embed/>
                </p:oleObj>
              </mc:Choice>
              <mc:Fallback>
                <p:oleObj name="think-cell Slide" r:id="rId23"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b">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261891027"/>
      </p:ext>
    </p:extLst>
  </p:cSld>
  <p:clrMap bg1="lt1" tx1="dk1" bg2="lt2" tx2="dk2" accent1="accent1" accent2="accent2" accent3="accent3" accent4="accent4" accent5="accent5" accent6="accent6" hlink="hlink" folHlink="folHlink"/>
  <p:sldLayoutIdLst>
    <p:sldLayoutId id="2147483747" r:id="rId1"/>
    <p:sldLayoutId id="2147483748" r:id="rId2"/>
    <p:sldLayoutId id="2147483749" r:id="rId3"/>
    <p:sldLayoutId id="2147483750" r:id="rId4"/>
    <p:sldLayoutId id="2147483751" r:id="rId5"/>
    <p:sldLayoutId id="2147483752" r:id="rId6"/>
    <p:sldLayoutId id="2147483753" r:id="rId7"/>
    <p:sldLayoutId id="2147483754" r:id="rId8"/>
    <p:sldLayoutId id="2147483755" r:id="rId9"/>
    <p:sldLayoutId id="2147483756" r:id="rId10"/>
    <p:sldLayoutId id="2147483757" r:id="rId11"/>
    <p:sldLayoutId id="2147483758" r:id="rId12"/>
    <p:sldLayoutId id="2147483759" r:id="rId13"/>
    <p:sldLayoutId id="2147483760" r:id="rId14"/>
    <p:sldLayoutId id="2147483761" r:id="rId15"/>
    <p:sldLayoutId id="2147483762" r:id="rId16"/>
    <p:sldLayoutId id="2147483763" r:id="rId17"/>
    <p:sldLayoutId id="2147483764" r:id="rId18"/>
    <p:sldLayoutId id="2147483765" r:id="rId19"/>
    <p:sldLayoutId id="2147483766" r:id="rId20"/>
  </p:sldLayoutIdLst>
  <p:hf hdr="0" ftr="0" dt="0"/>
  <p:txStyles>
    <p:titleStyle>
      <a:lvl1pPr algn="l" defTabSz="914411" rtl="0" eaLnBrk="1" latinLnBrk="0" hangingPunct="1">
        <a:lnSpc>
          <a:spcPct val="100000"/>
        </a:lnSpc>
        <a:spcBef>
          <a:spcPct val="0"/>
        </a:spcBef>
        <a:buNone/>
        <a:defRPr sz="24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p:cNvGraphicFramePr>
          <p:nvPr userDrawn="1">
            <p:custDataLst>
              <p:tags r:id="rId23"/>
            </p:custDataLst>
            <p:extLst>
              <p:ext uri="{D42A27DB-BD31-4B8C-83A1-F6EECF244321}">
                <p14:modId xmlns:p14="http://schemas.microsoft.com/office/powerpoint/2010/main" val="15086054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306" imgH="306" progId="TCLayout.ActiveDocument.1">
                  <p:embed/>
                </p:oleObj>
              </mc:Choice>
              <mc:Fallback>
                <p:oleObj name="think-cell Slide" r:id="rId24"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t">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3063043802"/>
      </p:ext>
    </p:extLst>
  </p:cSld>
  <p:clrMap bg1="lt1" tx1="dk1" bg2="lt2" tx2="dk2" accent1="accent1" accent2="accent2" accent3="accent3" accent4="accent4" accent5="accent5" accent6="accent6" hlink="hlink" folHlink="folHlink"/>
  <p:sldLayoutIdLst>
    <p:sldLayoutId id="2147483768" r:id="rId1"/>
    <p:sldLayoutId id="2147483769" r:id="rId2"/>
    <p:sldLayoutId id="2147483770" r:id="rId3"/>
    <p:sldLayoutId id="2147483771" r:id="rId4"/>
    <p:sldLayoutId id="2147483772" r:id="rId5"/>
    <p:sldLayoutId id="2147483773" r:id="rId6"/>
    <p:sldLayoutId id="2147483774" r:id="rId7"/>
    <p:sldLayoutId id="2147483775" r:id="rId8"/>
    <p:sldLayoutId id="2147483776" r:id="rId9"/>
    <p:sldLayoutId id="2147483777" r:id="rId10"/>
    <p:sldLayoutId id="2147483778" r:id="rId11"/>
    <p:sldLayoutId id="2147483779" r:id="rId12"/>
    <p:sldLayoutId id="2147483780" r:id="rId13"/>
    <p:sldLayoutId id="2147483781" r:id="rId14"/>
    <p:sldLayoutId id="2147483782" r:id="rId15"/>
    <p:sldLayoutId id="2147483783" r:id="rId16"/>
    <p:sldLayoutId id="2147483784" r:id="rId17"/>
    <p:sldLayoutId id="2147483785" r:id="rId18"/>
    <p:sldLayoutId id="2147483786" r:id="rId19"/>
    <p:sldLayoutId id="2147483787" r:id="rId20"/>
    <p:sldLayoutId id="2147483788" r:id="rId21"/>
  </p:sldLayoutIdLst>
  <p:hf hdr="0" ftr="0" dt="0"/>
  <p:txStyles>
    <p:titleStyle>
      <a:lvl1pPr algn="l" defTabSz="914411" rtl="0" eaLnBrk="1" latinLnBrk="0" hangingPunct="1">
        <a:lnSpc>
          <a:spcPct val="100000"/>
        </a:lnSpc>
        <a:spcBef>
          <a:spcPct val="0"/>
        </a:spcBef>
        <a:buNone/>
        <a:defRPr sz="22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0918E0DF-C6C9-4FAC-8B0D-266D682809EA}"/>
              </a:ext>
            </a:extLst>
          </p:cNvPr>
          <p:cNvGraphicFramePr>
            <a:graphicFrameLocks/>
          </p:cNvGraphicFramePr>
          <p:nvPr userDrawn="1">
            <p:custDataLst>
              <p:tags r:id="rId27"/>
            </p:custDataLst>
            <p:extLst>
              <p:ext uri="{D42A27DB-BD31-4B8C-83A1-F6EECF244321}">
                <p14:modId xmlns:p14="http://schemas.microsoft.com/office/powerpoint/2010/main" val="15086054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8" imgW="306" imgH="306" progId="TCLayout.ActiveDocument.1">
                  <p:embed/>
                </p:oleObj>
              </mc:Choice>
              <mc:Fallback>
                <p:oleObj name="think-cell Slide" r:id="rId28" imgW="306" imgH="306" progId="TCLayout.ActiveDocument.1">
                  <p:embed/>
                  <p:pic>
                    <p:nvPicPr>
                      <p:cNvPr id="10" name="Object 9" hidden="1">
                        <a:extLst>
                          <a:ext uri="{FF2B5EF4-FFF2-40B4-BE49-F238E27FC236}">
                            <a16:creationId xmlns:a16="http://schemas.microsoft.com/office/drawing/2014/main" id="{0918E0DF-C6C9-4FAC-8B0D-266D682809EA}"/>
                          </a:ext>
                        </a:extLst>
                      </p:cNvPr>
                      <p:cNvPicPr/>
                      <p:nvPr/>
                    </p:nvPicPr>
                    <p:blipFill>
                      <a:blip r:embed="rId29"/>
                      <a:stretch>
                        <a:fillRect/>
                      </a:stretch>
                    </p:blipFill>
                    <p:spPr>
                      <a:xfrm>
                        <a:off x="1588" y="1588"/>
                        <a:ext cx="1588" cy="1588"/>
                      </a:xfrm>
                      <a:prstGeom prst="rect">
                        <a:avLst/>
                      </a:prstGeom>
                    </p:spPr>
                  </p:pic>
                </p:oleObj>
              </mc:Fallback>
            </mc:AlternateContent>
          </a:graphicData>
        </a:graphic>
      </p:graphicFrame>
      <p:sp>
        <p:nvSpPr>
          <p:cNvPr id="7" name="Title Placeholder 1"/>
          <p:cNvSpPr>
            <a:spLocks noGrp="1"/>
          </p:cNvSpPr>
          <p:nvPr>
            <p:ph type="title"/>
          </p:nvPr>
        </p:nvSpPr>
        <p:spPr>
          <a:xfrm>
            <a:off x="515940" y="680022"/>
            <a:ext cx="11160124" cy="704278"/>
          </a:xfrm>
          <a:prstGeom prst="rect">
            <a:avLst/>
          </a:prstGeom>
        </p:spPr>
        <p:txBody>
          <a:bodyPr vert="horz" lIns="0" tIns="0" rIns="0" bIns="0" rtlCol="0" anchor="t">
            <a:normAutofit/>
          </a:bodyPr>
          <a:lstStyle/>
          <a:p>
            <a:r>
              <a:rPr lang="en-US"/>
              <a:t>Click to edit title</a:t>
            </a:r>
          </a:p>
        </p:txBody>
      </p:sp>
      <p:sp>
        <p:nvSpPr>
          <p:cNvPr id="8" name="Text Placeholder 2"/>
          <p:cNvSpPr>
            <a:spLocks noGrp="1"/>
          </p:cNvSpPr>
          <p:nvPr>
            <p:ph type="body" idx="1"/>
          </p:nvPr>
        </p:nvSpPr>
        <p:spPr>
          <a:xfrm>
            <a:off x="515940" y="1627200"/>
            <a:ext cx="11160124" cy="4502138"/>
          </a:xfrm>
          <a:prstGeom prst="rect">
            <a:avLst/>
          </a:prstGeom>
        </p:spPr>
        <p:txBody>
          <a:bodyPr vert="horz" lIns="0" tIns="0" rIns="0" bIns="0" rtlCol="0">
            <a:normAutofit/>
          </a:bodyPr>
          <a:lstStyle/>
          <a:p>
            <a:pPr marL="228604" marR="0" lvl="0"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401" b="0" i="0" u="none" strike="noStrike" kern="1200" cap="none" spc="0" normalizeH="0" baseline="0" noProof="0">
                <a:ln>
                  <a:noFill/>
                </a:ln>
                <a:solidFill>
                  <a:srgbClr val="000000"/>
                </a:solidFill>
                <a:effectLst/>
                <a:uLnTx/>
                <a:uFillTx/>
                <a:latin typeface="Scotia"/>
                <a:ea typeface="+mn-ea"/>
                <a:cs typeface="+mn-cs"/>
              </a:rPr>
              <a:t>Click to edit content</a:t>
            </a:r>
          </a:p>
          <a:p>
            <a:pPr marL="685809" marR="0" lvl="1"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Second level</a:t>
            </a:r>
          </a:p>
          <a:p>
            <a:pPr marL="1143015" marR="0" lvl="2"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Third level</a:t>
            </a:r>
          </a:p>
          <a:p>
            <a:pPr marL="1600221" marR="0" lvl="3"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Fourth level</a:t>
            </a:r>
          </a:p>
          <a:p>
            <a:pPr marL="2057427" marR="0" lvl="4" indent="-228604" algn="l" defTabSz="914411" rtl="0" eaLnBrk="1" fontAlgn="auto" latinLnBrk="0" hangingPunct="1">
              <a:lnSpc>
                <a:spcPct val="100000"/>
              </a:lnSpc>
              <a:spcBef>
                <a:spcPts val="601"/>
              </a:spcBef>
              <a:spcAft>
                <a:spcPts val="0"/>
              </a:spcAft>
              <a:buClr>
                <a:srgbClr val="000000"/>
              </a:buClr>
              <a:buSzTx/>
              <a:buFont typeface="Arial" panose="020B0604020202020204" pitchFamily="34" charset="0"/>
              <a:buChar char="•"/>
              <a:tabLst/>
              <a:defRPr/>
            </a:pPr>
            <a:r>
              <a:rPr kumimoji="0" lang="en-US" sz="1051" b="0" i="0" u="none" strike="noStrike" kern="1200" cap="none" spc="0" normalizeH="0" baseline="0" noProof="0">
                <a:ln>
                  <a:noFill/>
                </a:ln>
                <a:solidFill>
                  <a:srgbClr val="000000"/>
                </a:solidFill>
                <a:effectLst/>
                <a:uLnTx/>
                <a:uFillTx/>
                <a:latin typeface="Scotia"/>
                <a:ea typeface="+mn-ea"/>
                <a:cs typeface="+mn-cs"/>
              </a:rPr>
              <a:t>Fifth level</a:t>
            </a:r>
            <a:endParaRPr kumimoji="0" lang="en-CA" sz="1051" b="0" i="0" u="none" strike="noStrike" kern="1200" cap="none" spc="0" normalizeH="0" baseline="0" noProof="0">
              <a:ln>
                <a:noFill/>
              </a:ln>
              <a:solidFill>
                <a:srgbClr val="000000"/>
              </a:solidFill>
              <a:effectLst/>
              <a:uLnTx/>
              <a:uFillTx/>
              <a:latin typeface="Scotia"/>
              <a:ea typeface="+mn-ea"/>
              <a:cs typeface="+mn-cs"/>
            </a:endParaRPr>
          </a:p>
        </p:txBody>
      </p:sp>
      <p:sp>
        <p:nvSpPr>
          <p:cNvPr id="2" name="Slide Number Placeholder 1"/>
          <p:cNvSpPr>
            <a:spLocks noGrp="1"/>
          </p:cNvSpPr>
          <p:nvPr>
            <p:ph type="sldNum" sz="quarter" idx="4"/>
          </p:nvPr>
        </p:nvSpPr>
        <p:spPr>
          <a:xfrm>
            <a:off x="11240199" y="334115"/>
            <a:ext cx="435865" cy="180000"/>
          </a:xfrm>
          <a:prstGeom prst="rect">
            <a:avLst/>
          </a:prstGeom>
        </p:spPr>
        <p:txBody>
          <a:bodyPr vert="horz" lIns="0" tIns="0" rIns="0" bIns="0" rtlCol="0" anchor="ctr"/>
          <a:lstStyle>
            <a:lvl1pPr algn="r">
              <a:defRPr sz="1200">
                <a:solidFill>
                  <a:schemeClr val="tx1"/>
                </a:solidFill>
              </a:defRPr>
            </a:lvl1pPr>
          </a:lstStyle>
          <a:p>
            <a:fld id="{95D835A7-12B2-4074-8DA2-469A8808C237}" type="slidenum">
              <a:rPr lang="en-CA" smtClean="0"/>
              <a:pPr/>
              <a:t>‹#›</a:t>
            </a:fld>
            <a:endParaRPr lang="en-CA"/>
          </a:p>
        </p:txBody>
      </p:sp>
      <p:grpSp>
        <p:nvGrpSpPr>
          <p:cNvPr id="19" name="Group 4">
            <a:extLst>
              <a:ext uri="{FF2B5EF4-FFF2-40B4-BE49-F238E27FC236}">
                <a16:creationId xmlns:a16="http://schemas.microsoft.com/office/drawing/2014/main" id="{340449ED-B9D4-488F-AE8C-EBA432053CA0}"/>
              </a:ext>
            </a:extLst>
          </p:cNvPr>
          <p:cNvGrpSpPr>
            <a:grpSpLocks noChangeAspect="1"/>
          </p:cNvGrpSpPr>
          <p:nvPr userDrawn="1"/>
        </p:nvGrpSpPr>
        <p:grpSpPr bwMode="auto">
          <a:xfrm>
            <a:off x="11449144" y="6230846"/>
            <a:ext cx="227013" cy="249238"/>
            <a:chOff x="7312" y="4020"/>
            <a:chExt cx="143" cy="157"/>
          </a:xfrm>
          <a:solidFill>
            <a:srgbClr val="EC111A"/>
          </a:solidFill>
        </p:grpSpPr>
        <p:sp>
          <p:nvSpPr>
            <p:cNvPr id="20" name="Freeform 5">
              <a:extLst>
                <a:ext uri="{FF2B5EF4-FFF2-40B4-BE49-F238E27FC236}">
                  <a16:creationId xmlns:a16="http://schemas.microsoft.com/office/drawing/2014/main" id="{82AF64FA-9A1B-48C6-A6E9-F03140D15DE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1" name="Freeform 6">
              <a:extLst>
                <a:ext uri="{FF2B5EF4-FFF2-40B4-BE49-F238E27FC236}">
                  <a16:creationId xmlns:a16="http://schemas.microsoft.com/office/drawing/2014/main" id="{B9C9CD35-A904-4295-B5B9-BF2784DFE7A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22" name="Oval 7">
              <a:extLst>
                <a:ext uri="{FF2B5EF4-FFF2-40B4-BE49-F238E27FC236}">
                  <a16:creationId xmlns:a16="http://schemas.microsoft.com/office/drawing/2014/main" id="{592AB6CE-DD0F-42D2-8282-994977BBF55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spTree>
    <p:extLst>
      <p:ext uri="{BB962C8B-B14F-4D97-AF65-F5344CB8AC3E}">
        <p14:creationId xmlns:p14="http://schemas.microsoft.com/office/powerpoint/2010/main" val="2758319448"/>
      </p:ext>
    </p:extLst>
  </p:cSld>
  <p:clrMap bg1="lt1" tx1="dk1" bg2="lt2" tx2="dk2" accent1="accent1" accent2="accent2" accent3="accent3" accent4="accent4" accent5="accent5" accent6="accent6" hlink="hlink" folHlink="folHlink"/>
  <p:sldLayoutIdLst>
    <p:sldLayoutId id="2147483790" r:id="rId1"/>
    <p:sldLayoutId id="2147483791" r:id="rId2"/>
    <p:sldLayoutId id="2147483792" r:id="rId3"/>
    <p:sldLayoutId id="2147483793" r:id="rId4"/>
    <p:sldLayoutId id="2147483794" r:id="rId5"/>
    <p:sldLayoutId id="2147483795" r:id="rId6"/>
    <p:sldLayoutId id="2147483796" r:id="rId7"/>
    <p:sldLayoutId id="2147483797" r:id="rId8"/>
    <p:sldLayoutId id="2147483798" r:id="rId9"/>
    <p:sldLayoutId id="2147483799" r:id="rId10"/>
    <p:sldLayoutId id="2147483800" r:id="rId11"/>
    <p:sldLayoutId id="2147483801" r:id="rId12"/>
    <p:sldLayoutId id="2147483802" r:id="rId13"/>
    <p:sldLayoutId id="2147483803" r:id="rId14"/>
    <p:sldLayoutId id="2147483804" r:id="rId15"/>
    <p:sldLayoutId id="2147483805" r:id="rId16"/>
    <p:sldLayoutId id="2147483806" r:id="rId17"/>
    <p:sldLayoutId id="2147483807" r:id="rId18"/>
    <p:sldLayoutId id="2147483808" r:id="rId19"/>
    <p:sldLayoutId id="2147483809" r:id="rId20"/>
    <p:sldLayoutId id="2147483810" r:id="rId21"/>
    <p:sldLayoutId id="2147483811" r:id="rId22"/>
    <p:sldLayoutId id="2147483812" r:id="rId23"/>
    <p:sldLayoutId id="2147483813" r:id="rId24"/>
    <p:sldLayoutId id="2147483814" r:id="rId25"/>
  </p:sldLayoutIdLst>
  <p:hf hdr="0" ftr="0" dt="0"/>
  <p:txStyles>
    <p:titleStyle>
      <a:lvl1pPr algn="l" defTabSz="914411" rtl="0" eaLnBrk="1" latinLnBrk="0" hangingPunct="1">
        <a:lnSpc>
          <a:spcPct val="100000"/>
        </a:lnSpc>
        <a:spcBef>
          <a:spcPct val="0"/>
        </a:spcBef>
        <a:buNone/>
        <a:defRPr sz="2200" kern="1200">
          <a:solidFill>
            <a:schemeClr val="tx1"/>
          </a:solidFill>
          <a:latin typeface="+mj-lt"/>
          <a:ea typeface="+mj-ea"/>
          <a:cs typeface="+mj-cs"/>
        </a:defRPr>
      </a:lvl1pPr>
    </p:titleStyle>
    <p:body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p:bodyStyle>
    <p:otherStyle>
      <a:defPPr>
        <a:defRPr lang="en-US"/>
      </a:defPPr>
      <a:lvl1pPr marL="0" algn="l" defTabSz="914411" rtl="0" eaLnBrk="1" latinLnBrk="0" hangingPunct="1">
        <a:defRPr sz="1801" kern="1200">
          <a:solidFill>
            <a:schemeClr val="tx1"/>
          </a:solidFill>
          <a:latin typeface="+mn-lt"/>
          <a:ea typeface="+mn-ea"/>
          <a:cs typeface="+mn-cs"/>
        </a:defRPr>
      </a:lvl1pPr>
      <a:lvl2pPr marL="457206" algn="l" defTabSz="914411" rtl="0" eaLnBrk="1" latinLnBrk="0" hangingPunct="1">
        <a:defRPr sz="1801" kern="1200">
          <a:solidFill>
            <a:schemeClr val="tx1"/>
          </a:solidFill>
          <a:latin typeface="+mn-lt"/>
          <a:ea typeface="+mn-ea"/>
          <a:cs typeface="+mn-cs"/>
        </a:defRPr>
      </a:lvl2pPr>
      <a:lvl3pPr marL="914411" algn="l" defTabSz="914411" rtl="0" eaLnBrk="1" latinLnBrk="0" hangingPunct="1">
        <a:defRPr sz="1801" kern="1200">
          <a:solidFill>
            <a:schemeClr val="tx1"/>
          </a:solidFill>
          <a:latin typeface="+mn-lt"/>
          <a:ea typeface="+mn-ea"/>
          <a:cs typeface="+mn-cs"/>
        </a:defRPr>
      </a:lvl3pPr>
      <a:lvl4pPr marL="1371617" algn="l" defTabSz="914411" rtl="0" eaLnBrk="1" latinLnBrk="0" hangingPunct="1">
        <a:defRPr sz="1801" kern="1200">
          <a:solidFill>
            <a:schemeClr val="tx1"/>
          </a:solidFill>
          <a:latin typeface="+mn-lt"/>
          <a:ea typeface="+mn-ea"/>
          <a:cs typeface="+mn-cs"/>
        </a:defRPr>
      </a:lvl4pPr>
      <a:lvl5pPr marL="1828823" algn="l" defTabSz="914411" rtl="0" eaLnBrk="1" latinLnBrk="0" hangingPunct="1">
        <a:defRPr sz="1801" kern="1200">
          <a:solidFill>
            <a:schemeClr val="tx1"/>
          </a:solidFill>
          <a:latin typeface="+mn-lt"/>
          <a:ea typeface="+mn-ea"/>
          <a:cs typeface="+mn-cs"/>
        </a:defRPr>
      </a:lvl5pPr>
      <a:lvl6pPr marL="2286029" algn="l" defTabSz="914411" rtl="0" eaLnBrk="1" latinLnBrk="0" hangingPunct="1">
        <a:defRPr sz="1801" kern="1200">
          <a:solidFill>
            <a:schemeClr val="tx1"/>
          </a:solidFill>
          <a:latin typeface="+mn-lt"/>
          <a:ea typeface="+mn-ea"/>
          <a:cs typeface="+mn-cs"/>
        </a:defRPr>
      </a:lvl6pPr>
      <a:lvl7pPr marL="2743234" algn="l" defTabSz="914411" rtl="0" eaLnBrk="1" latinLnBrk="0" hangingPunct="1">
        <a:defRPr sz="1801" kern="1200">
          <a:solidFill>
            <a:schemeClr val="tx1"/>
          </a:solidFill>
          <a:latin typeface="+mn-lt"/>
          <a:ea typeface="+mn-ea"/>
          <a:cs typeface="+mn-cs"/>
        </a:defRPr>
      </a:lvl7pPr>
      <a:lvl8pPr marL="3200440" algn="l" defTabSz="914411" rtl="0" eaLnBrk="1" latinLnBrk="0" hangingPunct="1">
        <a:defRPr sz="1801" kern="1200">
          <a:solidFill>
            <a:schemeClr val="tx1"/>
          </a:solidFill>
          <a:latin typeface="+mn-lt"/>
          <a:ea typeface="+mn-ea"/>
          <a:cs typeface="+mn-cs"/>
        </a:defRPr>
      </a:lvl8pPr>
      <a:lvl9pPr marL="3657646" algn="l" defTabSz="914411" rtl="0" eaLnBrk="1" latinLnBrk="0" hangingPunct="1">
        <a:defRPr sz="1801"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3.xml"/><Relationship Id="rId1" Type="http://schemas.openxmlformats.org/officeDocument/2006/relationships/tags" Target="../tags/tag30.xml"/><Relationship Id="rId5" Type="http://schemas.openxmlformats.org/officeDocument/2006/relationships/image" Target="../media/image275.emf"/><Relationship Id="rId4" Type="http://schemas.openxmlformats.org/officeDocument/2006/relationships/oleObject" Target="../embeddings/oleObject19.bin"/></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4.xml"/><Relationship Id="rId1" Type="http://schemas.openxmlformats.org/officeDocument/2006/relationships/tags" Target="../tags/tag31.xml"/><Relationship Id="rId5" Type="http://schemas.openxmlformats.org/officeDocument/2006/relationships/image" Target="../media/image276.emf"/><Relationship Id="rId4" Type="http://schemas.openxmlformats.org/officeDocument/2006/relationships/oleObject" Target="../embeddings/oleObject20.bin"/></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0.xml"/><Relationship Id="rId1" Type="http://schemas.openxmlformats.org/officeDocument/2006/relationships/tags" Target="../tags/tag32.xml"/><Relationship Id="rId5" Type="http://schemas.openxmlformats.org/officeDocument/2006/relationships/image" Target="../media/image3.emf"/><Relationship Id="rId4" Type="http://schemas.openxmlformats.org/officeDocument/2006/relationships/oleObject" Target="../embeddings/oleObject21.bin"/></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45.xml"/><Relationship Id="rId1" Type="http://schemas.openxmlformats.org/officeDocument/2006/relationships/tags" Target="../tags/tag33.xml"/><Relationship Id="rId5" Type="http://schemas.openxmlformats.org/officeDocument/2006/relationships/image" Target="../media/image277.emf"/><Relationship Id="rId4" Type="http://schemas.openxmlformats.org/officeDocument/2006/relationships/oleObject" Target="../embeddings/oleObject22.bin"/></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0.xml"/></Relationships>
</file>

<file path=ppt/slides/_rels/slide11.xml.rels><?xml version="1.0" encoding="UTF-8" standalone="yes"?>
<Relationships xmlns="http://schemas.openxmlformats.org/package/2006/relationships"><Relationship Id="rId8" Type="http://schemas.openxmlformats.org/officeDocument/2006/relationships/slide" Target="slide54.xml"/><Relationship Id="rId13" Type="http://schemas.openxmlformats.org/officeDocument/2006/relationships/slide" Target="slide21.xml"/><Relationship Id="rId3" Type="http://schemas.openxmlformats.org/officeDocument/2006/relationships/notesSlide" Target="../notesSlides/notesSlide7.xml"/><Relationship Id="rId7" Type="http://schemas.openxmlformats.org/officeDocument/2006/relationships/slide" Target="slide38.xml"/><Relationship Id="rId12" Type="http://schemas.openxmlformats.org/officeDocument/2006/relationships/slide" Target="slide66.xml"/><Relationship Id="rId2" Type="http://schemas.openxmlformats.org/officeDocument/2006/relationships/slideLayout" Target="../slideLayouts/slideLayout17.xml"/><Relationship Id="rId1" Type="http://schemas.openxmlformats.org/officeDocument/2006/relationships/tags" Target="../tags/tag34.xml"/><Relationship Id="rId6" Type="http://schemas.openxmlformats.org/officeDocument/2006/relationships/slide" Target="slide6.xml"/><Relationship Id="rId11" Type="http://schemas.openxmlformats.org/officeDocument/2006/relationships/slide" Target="slide12.xml"/><Relationship Id="rId5" Type="http://schemas.openxmlformats.org/officeDocument/2006/relationships/image" Target="../media/image3.emf"/><Relationship Id="rId10" Type="http://schemas.openxmlformats.org/officeDocument/2006/relationships/slide" Target="slide57.xml"/><Relationship Id="rId4" Type="http://schemas.openxmlformats.org/officeDocument/2006/relationships/oleObject" Target="../embeddings/oleObject23.bin"/><Relationship Id="rId9" Type="http://schemas.openxmlformats.org/officeDocument/2006/relationships/slide" Target="slide5.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4.xml"/><Relationship Id="rId1" Type="http://schemas.openxmlformats.org/officeDocument/2006/relationships/tags" Target="../tags/tag35.xml"/><Relationship Id="rId5" Type="http://schemas.openxmlformats.org/officeDocument/2006/relationships/image" Target="../media/image275.emf"/><Relationship Id="rId4" Type="http://schemas.openxmlformats.org/officeDocument/2006/relationships/oleObject" Target="../embeddings/oleObject24.bin"/></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7.xml"/><Relationship Id="rId1" Type="http://schemas.openxmlformats.org/officeDocument/2006/relationships/tags" Target="../tags/tag36.xml"/><Relationship Id="rId5" Type="http://schemas.openxmlformats.org/officeDocument/2006/relationships/image" Target="../media/image197.emf"/><Relationship Id="rId4" Type="http://schemas.openxmlformats.org/officeDocument/2006/relationships/oleObject" Target="../embeddings/oleObject25.bin"/></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8" Type="http://schemas.openxmlformats.org/officeDocument/2006/relationships/image" Target="../media/image281.png"/><Relationship Id="rId3" Type="http://schemas.openxmlformats.org/officeDocument/2006/relationships/notesSlide" Target="../notesSlides/notesSlide10.xml"/><Relationship Id="rId7" Type="http://schemas.openxmlformats.org/officeDocument/2006/relationships/image" Target="../media/image280.png"/><Relationship Id="rId2" Type="http://schemas.openxmlformats.org/officeDocument/2006/relationships/slideLayout" Target="../slideLayouts/slideLayout4.xml"/><Relationship Id="rId1" Type="http://schemas.openxmlformats.org/officeDocument/2006/relationships/tags" Target="../tags/tag37.xml"/><Relationship Id="rId6" Type="http://schemas.openxmlformats.org/officeDocument/2006/relationships/image" Target="../media/image279.png"/><Relationship Id="rId5" Type="http://schemas.openxmlformats.org/officeDocument/2006/relationships/image" Target="../media/image278.emf"/><Relationship Id="rId10" Type="http://schemas.openxmlformats.org/officeDocument/2006/relationships/image" Target="../media/image283.png"/><Relationship Id="rId4" Type="http://schemas.openxmlformats.org/officeDocument/2006/relationships/oleObject" Target="../embeddings/oleObject26.bin"/><Relationship Id="rId9" Type="http://schemas.openxmlformats.org/officeDocument/2006/relationships/image" Target="../media/image282.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64.xml"/><Relationship Id="rId1" Type="http://schemas.openxmlformats.org/officeDocument/2006/relationships/tags" Target="../tags/tag38.xml"/><Relationship Id="rId6" Type="http://schemas.openxmlformats.org/officeDocument/2006/relationships/image" Target="../media/image285.svg"/><Relationship Id="rId5" Type="http://schemas.openxmlformats.org/officeDocument/2006/relationships/image" Target="../media/image284.emf"/><Relationship Id="rId4" Type="http://schemas.openxmlformats.org/officeDocument/2006/relationships/oleObject" Target="../embeddings/oleObject27.bin"/></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7.xml"/><Relationship Id="rId1" Type="http://schemas.openxmlformats.org/officeDocument/2006/relationships/tags" Target="../tags/tag39.xml"/><Relationship Id="rId5" Type="http://schemas.openxmlformats.org/officeDocument/2006/relationships/image" Target="../media/image284.emf"/><Relationship Id="rId4" Type="http://schemas.openxmlformats.org/officeDocument/2006/relationships/oleObject" Target="../embeddings/oleObject28.bin"/></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7.xml"/><Relationship Id="rId1" Type="http://schemas.openxmlformats.org/officeDocument/2006/relationships/tags" Target="../tags/tag40.xml"/><Relationship Id="rId5" Type="http://schemas.openxmlformats.org/officeDocument/2006/relationships/image" Target="../media/image3.emf"/><Relationship Id="rId4" Type="http://schemas.openxmlformats.org/officeDocument/2006/relationships/oleObject" Target="../embeddings/oleObject29.bin"/></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8" Type="http://schemas.openxmlformats.org/officeDocument/2006/relationships/tags" Target="../tags/tag48.xml"/><Relationship Id="rId13" Type="http://schemas.openxmlformats.org/officeDocument/2006/relationships/tags" Target="../tags/tag53.xml"/><Relationship Id="rId18" Type="http://schemas.openxmlformats.org/officeDocument/2006/relationships/tags" Target="../tags/tag58.xml"/><Relationship Id="rId26" Type="http://schemas.openxmlformats.org/officeDocument/2006/relationships/notesSlide" Target="../notesSlides/notesSlide14.xml"/><Relationship Id="rId3" Type="http://schemas.openxmlformats.org/officeDocument/2006/relationships/tags" Target="../tags/tag43.xml"/><Relationship Id="rId21" Type="http://schemas.openxmlformats.org/officeDocument/2006/relationships/tags" Target="../tags/tag61.xml"/><Relationship Id="rId7" Type="http://schemas.openxmlformats.org/officeDocument/2006/relationships/tags" Target="../tags/tag47.xml"/><Relationship Id="rId12" Type="http://schemas.openxmlformats.org/officeDocument/2006/relationships/tags" Target="../tags/tag52.xml"/><Relationship Id="rId17" Type="http://schemas.openxmlformats.org/officeDocument/2006/relationships/tags" Target="../tags/tag57.xml"/><Relationship Id="rId25" Type="http://schemas.openxmlformats.org/officeDocument/2006/relationships/slideLayout" Target="../slideLayouts/slideLayout17.xml"/><Relationship Id="rId2" Type="http://schemas.openxmlformats.org/officeDocument/2006/relationships/tags" Target="../tags/tag42.xml"/><Relationship Id="rId16" Type="http://schemas.openxmlformats.org/officeDocument/2006/relationships/tags" Target="../tags/tag56.xml"/><Relationship Id="rId20" Type="http://schemas.openxmlformats.org/officeDocument/2006/relationships/tags" Target="../tags/tag60.xml"/><Relationship Id="rId1" Type="http://schemas.openxmlformats.org/officeDocument/2006/relationships/tags" Target="../tags/tag41.xml"/><Relationship Id="rId6" Type="http://schemas.openxmlformats.org/officeDocument/2006/relationships/tags" Target="../tags/tag46.xml"/><Relationship Id="rId11" Type="http://schemas.openxmlformats.org/officeDocument/2006/relationships/tags" Target="../tags/tag51.xml"/><Relationship Id="rId24" Type="http://schemas.openxmlformats.org/officeDocument/2006/relationships/tags" Target="../tags/tag64.xml"/><Relationship Id="rId5" Type="http://schemas.openxmlformats.org/officeDocument/2006/relationships/tags" Target="../tags/tag45.xml"/><Relationship Id="rId15" Type="http://schemas.openxmlformats.org/officeDocument/2006/relationships/tags" Target="../tags/tag55.xml"/><Relationship Id="rId23" Type="http://schemas.openxmlformats.org/officeDocument/2006/relationships/tags" Target="../tags/tag63.xml"/><Relationship Id="rId28" Type="http://schemas.openxmlformats.org/officeDocument/2006/relationships/image" Target="../media/image3.emf"/><Relationship Id="rId10" Type="http://schemas.openxmlformats.org/officeDocument/2006/relationships/tags" Target="../tags/tag50.xml"/><Relationship Id="rId19" Type="http://schemas.openxmlformats.org/officeDocument/2006/relationships/tags" Target="../tags/tag59.xml"/><Relationship Id="rId4" Type="http://schemas.openxmlformats.org/officeDocument/2006/relationships/tags" Target="../tags/tag44.xml"/><Relationship Id="rId9" Type="http://schemas.openxmlformats.org/officeDocument/2006/relationships/tags" Target="../tags/tag49.xml"/><Relationship Id="rId14" Type="http://schemas.openxmlformats.org/officeDocument/2006/relationships/tags" Target="../tags/tag54.xml"/><Relationship Id="rId22" Type="http://schemas.openxmlformats.org/officeDocument/2006/relationships/tags" Target="../tags/tag62.xml"/><Relationship Id="rId27" Type="http://schemas.openxmlformats.org/officeDocument/2006/relationships/oleObject" Target="../embeddings/oleObject30.bin"/></Relationships>
</file>

<file path=ppt/slides/_rels/slide22.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Layout" Target="../slideLayouts/slideLayout23.xml"/><Relationship Id="rId1" Type="http://schemas.openxmlformats.org/officeDocument/2006/relationships/tags" Target="../tags/tag65.xml"/><Relationship Id="rId4" Type="http://schemas.openxmlformats.org/officeDocument/2006/relationships/image" Target="../media/image278.emf"/></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4.xml"/><Relationship Id="rId1" Type="http://schemas.openxmlformats.org/officeDocument/2006/relationships/tags" Target="../tags/tag66.xml"/><Relationship Id="rId6" Type="http://schemas.openxmlformats.org/officeDocument/2006/relationships/image" Target="../media/image286.svg"/><Relationship Id="rId5" Type="http://schemas.openxmlformats.org/officeDocument/2006/relationships/image" Target="../media/image278.emf"/><Relationship Id="rId4" Type="http://schemas.openxmlformats.org/officeDocument/2006/relationships/oleObject" Target="../embeddings/oleObject32.bin"/></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23.xml"/><Relationship Id="rId2" Type="http://schemas.openxmlformats.org/officeDocument/2006/relationships/tags" Target="../tags/tag68.xml"/><Relationship Id="rId1" Type="http://schemas.openxmlformats.org/officeDocument/2006/relationships/tags" Target="../tags/tag67.xml"/><Relationship Id="rId6" Type="http://schemas.openxmlformats.org/officeDocument/2006/relationships/image" Target="../media/image275.emf"/><Relationship Id="rId5" Type="http://schemas.openxmlformats.org/officeDocument/2006/relationships/oleObject" Target="../embeddings/oleObject33.bin"/><Relationship Id="rId4" Type="http://schemas.openxmlformats.org/officeDocument/2006/relationships/notesSlide" Target="../notesSlides/notesSlide16.xml"/></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Layout" Target="../slideLayouts/slideLayout41.xml"/><Relationship Id="rId1" Type="http://schemas.openxmlformats.org/officeDocument/2006/relationships/tags" Target="../tags/tag69.xml"/><Relationship Id="rId4" Type="http://schemas.openxmlformats.org/officeDocument/2006/relationships/image" Target="../media/image278.emf"/></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3.xml"/><Relationship Id="rId1" Type="http://schemas.openxmlformats.org/officeDocument/2006/relationships/tags" Target="../tags/tag70.xml"/><Relationship Id="rId5" Type="http://schemas.openxmlformats.org/officeDocument/2006/relationships/image" Target="../media/image3.emf"/><Relationship Id="rId4" Type="http://schemas.openxmlformats.org/officeDocument/2006/relationships/oleObject" Target="../embeddings/oleObject35.bin"/></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41.xml"/><Relationship Id="rId1" Type="http://schemas.openxmlformats.org/officeDocument/2006/relationships/tags" Target="../tags/tag71.xml"/><Relationship Id="rId5" Type="http://schemas.openxmlformats.org/officeDocument/2006/relationships/image" Target="../media/image197.emf"/><Relationship Id="rId4" Type="http://schemas.openxmlformats.org/officeDocument/2006/relationships/oleObject" Target="../embeddings/oleObject36.bin"/></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3.xml"/><Relationship Id="rId1" Type="http://schemas.openxmlformats.org/officeDocument/2006/relationships/tags" Target="../tags/tag72.xml"/><Relationship Id="rId5" Type="http://schemas.openxmlformats.org/officeDocument/2006/relationships/image" Target="../media/image275.emf"/><Relationship Id="rId4" Type="http://schemas.openxmlformats.org/officeDocument/2006/relationships/oleObject" Target="../embeddings/oleObject37.bin"/></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3" Type="http://schemas.openxmlformats.org/officeDocument/2006/relationships/tags" Target="../tags/tag85.xml"/><Relationship Id="rId18" Type="http://schemas.openxmlformats.org/officeDocument/2006/relationships/tags" Target="../tags/tag90.xml"/><Relationship Id="rId26" Type="http://schemas.openxmlformats.org/officeDocument/2006/relationships/tags" Target="../tags/tag98.xml"/><Relationship Id="rId39" Type="http://schemas.openxmlformats.org/officeDocument/2006/relationships/tags" Target="../tags/tag111.xml"/><Relationship Id="rId21" Type="http://schemas.openxmlformats.org/officeDocument/2006/relationships/tags" Target="../tags/tag93.xml"/><Relationship Id="rId34" Type="http://schemas.openxmlformats.org/officeDocument/2006/relationships/tags" Target="../tags/tag106.xml"/><Relationship Id="rId42" Type="http://schemas.openxmlformats.org/officeDocument/2006/relationships/tags" Target="../tags/tag114.xml"/><Relationship Id="rId47" Type="http://schemas.openxmlformats.org/officeDocument/2006/relationships/chart" Target="../charts/chart2.xml"/><Relationship Id="rId7" Type="http://schemas.openxmlformats.org/officeDocument/2006/relationships/tags" Target="../tags/tag79.xml"/><Relationship Id="rId2" Type="http://schemas.openxmlformats.org/officeDocument/2006/relationships/tags" Target="../tags/tag74.xml"/><Relationship Id="rId16" Type="http://schemas.openxmlformats.org/officeDocument/2006/relationships/tags" Target="../tags/tag88.xml"/><Relationship Id="rId29" Type="http://schemas.openxmlformats.org/officeDocument/2006/relationships/tags" Target="../tags/tag101.xml"/><Relationship Id="rId11" Type="http://schemas.openxmlformats.org/officeDocument/2006/relationships/tags" Target="../tags/tag83.xml"/><Relationship Id="rId24" Type="http://schemas.openxmlformats.org/officeDocument/2006/relationships/tags" Target="../tags/tag96.xml"/><Relationship Id="rId32" Type="http://schemas.openxmlformats.org/officeDocument/2006/relationships/tags" Target="../tags/tag104.xml"/><Relationship Id="rId37" Type="http://schemas.openxmlformats.org/officeDocument/2006/relationships/tags" Target="../tags/tag109.xml"/><Relationship Id="rId40" Type="http://schemas.openxmlformats.org/officeDocument/2006/relationships/tags" Target="../tags/tag112.xml"/><Relationship Id="rId45" Type="http://schemas.openxmlformats.org/officeDocument/2006/relationships/notesSlide" Target="../notesSlides/notesSlide20.xml"/><Relationship Id="rId5" Type="http://schemas.openxmlformats.org/officeDocument/2006/relationships/tags" Target="../tags/tag77.xml"/><Relationship Id="rId15" Type="http://schemas.openxmlformats.org/officeDocument/2006/relationships/tags" Target="../tags/tag87.xml"/><Relationship Id="rId23" Type="http://schemas.openxmlformats.org/officeDocument/2006/relationships/tags" Target="../tags/tag95.xml"/><Relationship Id="rId28" Type="http://schemas.openxmlformats.org/officeDocument/2006/relationships/tags" Target="../tags/tag100.xml"/><Relationship Id="rId36" Type="http://schemas.openxmlformats.org/officeDocument/2006/relationships/tags" Target="../tags/tag108.xml"/><Relationship Id="rId49" Type="http://schemas.openxmlformats.org/officeDocument/2006/relationships/chart" Target="../charts/chart4.xml"/><Relationship Id="rId10" Type="http://schemas.openxmlformats.org/officeDocument/2006/relationships/tags" Target="../tags/tag82.xml"/><Relationship Id="rId19" Type="http://schemas.openxmlformats.org/officeDocument/2006/relationships/tags" Target="../tags/tag91.xml"/><Relationship Id="rId31" Type="http://schemas.openxmlformats.org/officeDocument/2006/relationships/tags" Target="../tags/tag103.xml"/><Relationship Id="rId44" Type="http://schemas.openxmlformats.org/officeDocument/2006/relationships/slideLayout" Target="../slideLayouts/slideLayout20.xml"/><Relationship Id="rId4" Type="http://schemas.openxmlformats.org/officeDocument/2006/relationships/tags" Target="../tags/tag76.xml"/><Relationship Id="rId9" Type="http://schemas.openxmlformats.org/officeDocument/2006/relationships/tags" Target="../tags/tag81.xml"/><Relationship Id="rId14" Type="http://schemas.openxmlformats.org/officeDocument/2006/relationships/tags" Target="../tags/tag86.xml"/><Relationship Id="rId22" Type="http://schemas.openxmlformats.org/officeDocument/2006/relationships/tags" Target="../tags/tag94.xml"/><Relationship Id="rId27" Type="http://schemas.openxmlformats.org/officeDocument/2006/relationships/tags" Target="../tags/tag99.xml"/><Relationship Id="rId30" Type="http://schemas.openxmlformats.org/officeDocument/2006/relationships/tags" Target="../tags/tag102.xml"/><Relationship Id="rId35" Type="http://schemas.openxmlformats.org/officeDocument/2006/relationships/tags" Target="../tags/tag107.xml"/><Relationship Id="rId43" Type="http://schemas.openxmlformats.org/officeDocument/2006/relationships/tags" Target="../tags/tag115.xml"/><Relationship Id="rId48" Type="http://schemas.openxmlformats.org/officeDocument/2006/relationships/chart" Target="../charts/chart3.xml"/><Relationship Id="rId8" Type="http://schemas.openxmlformats.org/officeDocument/2006/relationships/tags" Target="../tags/tag80.xml"/><Relationship Id="rId3" Type="http://schemas.openxmlformats.org/officeDocument/2006/relationships/tags" Target="../tags/tag75.xml"/><Relationship Id="rId12" Type="http://schemas.openxmlformats.org/officeDocument/2006/relationships/tags" Target="../tags/tag84.xml"/><Relationship Id="rId17" Type="http://schemas.openxmlformats.org/officeDocument/2006/relationships/tags" Target="../tags/tag89.xml"/><Relationship Id="rId25" Type="http://schemas.openxmlformats.org/officeDocument/2006/relationships/tags" Target="../tags/tag97.xml"/><Relationship Id="rId33" Type="http://schemas.openxmlformats.org/officeDocument/2006/relationships/tags" Target="../tags/tag105.xml"/><Relationship Id="rId38" Type="http://schemas.openxmlformats.org/officeDocument/2006/relationships/tags" Target="../tags/tag110.xml"/><Relationship Id="rId46" Type="http://schemas.openxmlformats.org/officeDocument/2006/relationships/chart" Target="../charts/chart1.xml"/><Relationship Id="rId20" Type="http://schemas.openxmlformats.org/officeDocument/2006/relationships/tags" Target="../tags/tag92.xml"/><Relationship Id="rId41" Type="http://schemas.openxmlformats.org/officeDocument/2006/relationships/tags" Target="../tags/tag113.xml"/><Relationship Id="rId1" Type="http://schemas.openxmlformats.org/officeDocument/2006/relationships/tags" Target="../tags/tag73.xml"/><Relationship Id="rId6" Type="http://schemas.openxmlformats.org/officeDocument/2006/relationships/tags" Target="../tags/tag78.xml"/></Relationships>
</file>

<file path=ppt/slides/_rels/slide32.xml.rels><?xml version="1.0" encoding="UTF-8" standalone="yes"?>
<Relationships xmlns="http://schemas.openxmlformats.org/package/2006/relationships"><Relationship Id="rId8" Type="http://schemas.openxmlformats.org/officeDocument/2006/relationships/tags" Target="../tags/tag123.xml"/><Relationship Id="rId13" Type="http://schemas.openxmlformats.org/officeDocument/2006/relationships/tags" Target="../tags/tag128.xml"/><Relationship Id="rId18" Type="http://schemas.openxmlformats.org/officeDocument/2006/relationships/tags" Target="../tags/tag133.xml"/><Relationship Id="rId3" Type="http://schemas.openxmlformats.org/officeDocument/2006/relationships/tags" Target="../tags/tag118.xml"/><Relationship Id="rId21" Type="http://schemas.openxmlformats.org/officeDocument/2006/relationships/oleObject" Target="../embeddings/oleObject38.bin"/><Relationship Id="rId7" Type="http://schemas.openxmlformats.org/officeDocument/2006/relationships/tags" Target="../tags/tag122.xml"/><Relationship Id="rId12" Type="http://schemas.openxmlformats.org/officeDocument/2006/relationships/tags" Target="../tags/tag127.xml"/><Relationship Id="rId17" Type="http://schemas.openxmlformats.org/officeDocument/2006/relationships/tags" Target="../tags/tag132.xml"/><Relationship Id="rId25" Type="http://schemas.openxmlformats.org/officeDocument/2006/relationships/image" Target="../media/image288.svg"/><Relationship Id="rId2" Type="http://schemas.openxmlformats.org/officeDocument/2006/relationships/tags" Target="../tags/tag117.xml"/><Relationship Id="rId16" Type="http://schemas.openxmlformats.org/officeDocument/2006/relationships/tags" Target="../tags/tag131.xml"/><Relationship Id="rId20" Type="http://schemas.openxmlformats.org/officeDocument/2006/relationships/notesSlide" Target="../notesSlides/notesSlide21.xml"/><Relationship Id="rId1" Type="http://schemas.openxmlformats.org/officeDocument/2006/relationships/tags" Target="../tags/tag116.xml"/><Relationship Id="rId6" Type="http://schemas.openxmlformats.org/officeDocument/2006/relationships/tags" Target="../tags/tag121.xml"/><Relationship Id="rId11" Type="http://schemas.openxmlformats.org/officeDocument/2006/relationships/tags" Target="../tags/tag126.xml"/><Relationship Id="rId24" Type="http://schemas.openxmlformats.org/officeDocument/2006/relationships/image" Target="../media/image287.svg"/><Relationship Id="rId5" Type="http://schemas.openxmlformats.org/officeDocument/2006/relationships/tags" Target="../tags/tag120.xml"/><Relationship Id="rId15" Type="http://schemas.openxmlformats.org/officeDocument/2006/relationships/tags" Target="../tags/tag130.xml"/><Relationship Id="rId23" Type="http://schemas.openxmlformats.org/officeDocument/2006/relationships/chart" Target="../charts/chart5.xml"/><Relationship Id="rId10" Type="http://schemas.openxmlformats.org/officeDocument/2006/relationships/tags" Target="../tags/tag125.xml"/><Relationship Id="rId19" Type="http://schemas.openxmlformats.org/officeDocument/2006/relationships/slideLayout" Target="../slideLayouts/slideLayout20.xml"/><Relationship Id="rId4" Type="http://schemas.openxmlformats.org/officeDocument/2006/relationships/tags" Target="../tags/tag119.xml"/><Relationship Id="rId9" Type="http://schemas.openxmlformats.org/officeDocument/2006/relationships/tags" Target="../tags/tag124.xml"/><Relationship Id="rId14" Type="http://schemas.openxmlformats.org/officeDocument/2006/relationships/tags" Target="../tags/tag129.xml"/><Relationship Id="rId22" Type="http://schemas.openxmlformats.org/officeDocument/2006/relationships/image" Target="../media/image275.em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22.xml"/><Relationship Id="rId7" Type="http://schemas.openxmlformats.org/officeDocument/2006/relationships/image" Target="../media/image290.png"/><Relationship Id="rId2" Type="http://schemas.openxmlformats.org/officeDocument/2006/relationships/slideLayout" Target="../slideLayouts/slideLayout44.xml"/><Relationship Id="rId1" Type="http://schemas.openxmlformats.org/officeDocument/2006/relationships/tags" Target="../tags/tag134.xml"/><Relationship Id="rId6" Type="http://schemas.openxmlformats.org/officeDocument/2006/relationships/image" Target="../media/image289.jpeg"/><Relationship Id="rId5" Type="http://schemas.openxmlformats.org/officeDocument/2006/relationships/image" Target="../media/image3.emf"/><Relationship Id="rId4" Type="http://schemas.openxmlformats.org/officeDocument/2006/relationships/oleObject" Target="../embeddings/oleObject39.bin"/></Relationships>
</file>

<file path=ppt/slides/_rels/slide35.xml.rels><?xml version="1.0" encoding="UTF-8" standalone="yes"?>
<Relationships xmlns="http://schemas.openxmlformats.org/package/2006/relationships"><Relationship Id="rId8" Type="http://schemas.openxmlformats.org/officeDocument/2006/relationships/image" Target="../media/image293.png"/><Relationship Id="rId3" Type="http://schemas.openxmlformats.org/officeDocument/2006/relationships/notesSlide" Target="../notesSlides/notesSlide23.xml"/><Relationship Id="rId7" Type="http://schemas.openxmlformats.org/officeDocument/2006/relationships/image" Target="../media/image292.png"/><Relationship Id="rId2" Type="http://schemas.openxmlformats.org/officeDocument/2006/relationships/slideLayout" Target="../slideLayouts/slideLayout44.xml"/><Relationship Id="rId1" Type="http://schemas.openxmlformats.org/officeDocument/2006/relationships/tags" Target="../tags/tag135.xml"/><Relationship Id="rId6" Type="http://schemas.openxmlformats.org/officeDocument/2006/relationships/image" Target="../media/image291.png"/><Relationship Id="rId5" Type="http://schemas.openxmlformats.org/officeDocument/2006/relationships/image" Target="../media/image277.emf"/><Relationship Id="rId10" Type="http://schemas.openxmlformats.org/officeDocument/2006/relationships/image" Target="../media/image294.png"/><Relationship Id="rId4" Type="http://schemas.openxmlformats.org/officeDocument/2006/relationships/oleObject" Target="../embeddings/oleObject40.bin"/><Relationship Id="rId9" Type="http://schemas.microsoft.com/office/2007/relationships/hdphoto" Target="../media/hdphoto1.wdp"/></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24.xml"/><Relationship Id="rId7" Type="http://schemas.openxmlformats.org/officeDocument/2006/relationships/image" Target="../media/image296.svg"/><Relationship Id="rId2" Type="http://schemas.openxmlformats.org/officeDocument/2006/relationships/slideLayout" Target="../slideLayouts/slideLayout41.xml"/><Relationship Id="rId1" Type="http://schemas.openxmlformats.org/officeDocument/2006/relationships/tags" Target="../tags/tag136.xml"/><Relationship Id="rId6" Type="http://schemas.openxmlformats.org/officeDocument/2006/relationships/image" Target="../media/image295.png"/><Relationship Id="rId5" Type="http://schemas.openxmlformats.org/officeDocument/2006/relationships/image" Target="../media/image276.emf"/><Relationship Id="rId4" Type="http://schemas.openxmlformats.org/officeDocument/2006/relationships/oleObject" Target="../embeddings/oleObject41.bin"/></Relationships>
</file>

<file path=ppt/slides/_rels/slide37.xml.rels><?xml version="1.0" encoding="UTF-8" standalone="yes"?>
<Relationships xmlns="http://schemas.openxmlformats.org/package/2006/relationships"><Relationship Id="rId8" Type="http://schemas.openxmlformats.org/officeDocument/2006/relationships/image" Target="../media/image298.png"/><Relationship Id="rId3" Type="http://schemas.openxmlformats.org/officeDocument/2006/relationships/notesSlide" Target="../notesSlides/notesSlide25.xml"/><Relationship Id="rId7" Type="http://schemas.microsoft.com/office/2007/relationships/hdphoto" Target="../media/hdphoto2.wdp"/><Relationship Id="rId2" Type="http://schemas.openxmlformats.org/officeDocument/2006/relationships/slideLayout" Target="../slideLayouts/slideLayout65.xml"/><Relationship Id="rId1" Type="http://schemas.openxmlformats.org/officeDocument/2006/relationships/tags" Target="../tags/tag137.xml"/><Relationship Id="rId6" Type="http://schemas.openxmlformats.org/officeDocument/2006/relationships/image" Target="../media/image297.png"/><Relationship Id="rId5" Type="http://schemas.openxmlformats.org/officeDocument/2006/relationships/image" Target="../media/image278.emf"/><Relationship Id="rId10" Type="http://schemas.microsoft.com/office/2007/relationships/hdphoto" Target="../media/hdphoto3.wdp"/><Relationship Id="rId4" Type="http://schemas.openxmlformats.org/officeDocument/2006/relationships/oleObject" Target="../embeddings/oleObject42.bin"/><Relationship Id="rId9" Type="http://schemas.openxmlformats.org/officeDocument/2006/relationships/image" Target="../media/image299.png"/></Relationships>
</file>

<file path=ppt/slides/_rels/slide38.xml.rels><?xml version="1.0" encoding="UTF-8" standalone="yes"?>
<Relationships xmlns="http://schemas.openxmlformats.org/package/2006/relationships"><Relationship Id="rId3" Type="http://schemas.openxmlformats.org/officeDocument/2006/relationships/image" Target="../media/image300.png"/><Relationship Id="rId7" Type="http://schemas.openxmlformats.org/officeDocument/2006/relationships/image" Target="../media/image304.png"/><Relationship Id="rId2" Type="http://schemas.openxmlformats.org/officeDocument/2006/relationships/notesSlide" Target="../notesSlides/notesSlide26.xml"/><Relationship Id="rId1" Type="http://schemas.openxmlformats.org/officeDocument/2006/relationships/slideLayout" Target="../slideLayouts/slideLayout20.xml"/><Relationship Id="rId6" Type="http://schemas.openxmlformats.org/officeDocument/2006/relationships/image" Target="../media/image303.png"/><Relationship Id="rId5" Type="http://schemas.openxmlformats.org/officeDocument/2006/relationships/image" Target="../media/image302.png"/><Relationship Id="rId4" Type="http://schemas.openxmlformats.org/officeDocument/2006/relationships/image" Target="../media/image301.png"/></Relationships>
</file>

<file path=ppt/slides/_rels/slide39.xml.rels><?xml version="1.0" encoding="UTF-8" standalone="yes"?>
<Relationships xmlns="http://schemas.openxmlformats.org/package/2006/relationships"><Relationship Id="rId13" Type="http://schemas.openxmlformats.org/officeDocument/2006/relationships/tags" Target="../tags/tag150.xml"/><Relationship Id="rId18" Type="http://schemas.openxmlformats.org/officeDocument/2006/relationships/tags" Target="../tags/tag155.xml"/><Relationship Id="rId26" Type="http://schemas.openxmlformats.org/officeDocument/2006/relationships/tags" Target="../tags/tag163.xml"/><Relationship Id="rId39" Type="http://schemas.openxmlformats.org/officeDocument/2006/relationships/tags" Target="../tags/tag176.xml"/><Relationship Id="rId21" Type="http://schemas.openxmlformats.org/officeDocument/2006/relationships/tags" Target="../tags/tag158.xml"/><Relationship Id="rId34" Type="http://schemas.openxmlformats.org/officeDocument/2006/relationships/tags" Target="../tags/tag171.xml"/><Relationship Id="rId42" Type="http://schemas.openxmlformats.org/officeDocument/2006/relationships/tags" Target="../tags/tag179.xml"/><Relationship Id="rId47" Type="http://schemas.openxmlformats.org/officeDocument/2006/relationships/tags" Target="../tags/tag184.xml"/><Relationship Id="rId50" Type="http://schemas.openxmlformats.org/officeDocument/2006/relationships/tags" Target="../tags/tag187.xml"/><Relationship Id="rId55" Type="http://schemas.openxmlformats.org/officeDocument/2006/relationships/tags" Target="../tags/tag192.xml"/><Relationship Id="rId7" Type="http://schemas.openxmlformats.org/officeDocument/2006/relationships/tags" Target="../tags/tag144.xml"/><Relationship Id="rId2" Type="http://schemas.openxmlformats.org/officeDocument/2006/relationships/tags" Target="../tags/tag139.xml"/><Relationship Id="rId16" Type="http://schemas.openxmlformats.org/officeDocument/2006/relationships/tags" Target="../tags/tag153.xml"/><Relationship Id="rId29" Type="http://schemas.openxmlformats.org/officeDocument/2006/relationships/tags" Target="../tags/tag166.xml"/><Relationship Id="rId11" Type="http://schemas.openxmlformats.org/officeDocument/2006/relationships/tags" Target="../tags/tag148.xml"/><Relationship Id="rId24" Type="http://schemas.openxmlformats.org/officeDocument/2006/relationships/tags" Target="../tags/tag161.xml"/><Relationship Id="rId32" Type="http://schemas.openxmlformats.org/officeDocument/2006/relationships/tags" Target="../tags/tag169.xml"/><Relationship Id="rId37" Type="http://schemas.openxmlformats.org/officeDocument/2006/relationships/tags" Target="../tags/tag174.xml"/><Relationship Id="rId40" Type="http://schemas.openxmlformats.org/officeDocument/2006/relationships/tags" Target="../tags/tag177.xml"/><Relationship Id="rId45" Type="http://schemas.openxmlformats.org/officeDocument/2006/relationships/tags" Target="../tags/tag182.xml"/><Relationship Id="rId53" Type="http://schemas.openxmlformats.org/officeDocument/2006/relationships/tags" Target="../tags/tag190.xml"/><Relationship Id="rId58" Type="http://schemas.openxmlformats.org/officeDocument/2006/relationships/slideLayout" Target="../slideLayouts/slideLayout20.xml"/><Relationship Id="rId5" Type="http://schemas.openxmlformats.org/officeDocument/2006/relationships/tags" Target="../tags/tag142.xml"/><Relationship Id="rId61" Type="http://schemas.openxmlformats.org/officeDocument/2006/relationships/chart" Target="../charts/chart7.xml"/><Relationship Id="rId19" Type="http://schemas.openxmlformats.org/officeDocument/2006/relationships/tags" Target="../tags/tag156.xml"/><Relationship Id="rId14" Type="http://schemas.openxmlformats.org/officeDocument/2006/relationships/tags" Target="../tags/tag151.xml"/><Relationship Id="rId22" Type="http://schemas.openxmlformats.org/officeDocument/2006/relationships/tags" Target="../tags/tag159.xml"/><Relationship Id="rId27" Type="http://schemas.openxmlformats.org/officeDocument/2006/relationships/tags" Target="../tags/tag164.xml"/><Relationship Id="rId30" Type="http://schemas.openxmlformats.org/officeDocument/2006/relationships/tags" Target="../tags/tag167.xml"/><Relationship Id="rId35" Type="http://schemas.openxmlformats.org/officeDocument/2006/relationships/tags" Target="../tags/tag172.xml"/><Relationship Id="rId43" Type="http://schemas.openxmlformats.org/officeDocument/2006/relationships/tags" Target="../tags/tag180.xml"/><Relationship Id="rId48" Type="http://schemas.openxmlformats.org/officeDocument/2006/relationships/tags" Target="../tags/tag185.xml"/><Relationship Id="rId56" Type="http://schemas.openxmlformats.org/officeDocument/2006/relationships/tags" Target="../tags/tag193.xml"/><Relationship Id="rId8" Type="http://schemas.openxmlformats.org/officeDocument/2006/relationships/tags" Target="../tags/tag145.xml"/><Relationship Id="rId51" Type="http://schemas.openxmlformats.org/officeDocument/2006/relationships/tags" Target="../tags/tag188.xml"/><Relationship Id="rId3" Type="http://schemas.openxmlformats.org/officeDocument/2006/relationships/tags" Target="../tags/tag140.xml"/><Relationship Id="rId12" Type="http://schemas.openxmlformats.org/officeDocument/2006/relationships/tags" Target="../tags/tag149.xml"/><Relationship Id="rId17" Type="http://schemas.openxmlformats.org/officeDocument/2006/relationships/tags" Target="../tags/tag154.xml"/><Relationship Id="rId25" Type="http://schemas.openxmlformats.org/officeDocument/2006/relationships/tags" Target="../tags/tag162.xml"/><Relationship Id="rId33" Type="http://schemas.openxmlformats.org/officeDocument/2006/relationships/tags" Target="../tags/tag170.xml"/><Relationship Id="rId38" Type="http://schemas.openxmlformats.org/officeDocument/2006/relationships/tags" Target="../tags/tag175.xml"/><Relationship Id="rId46" Type="http://schemas.openxmlformats.org/officeDocument/2006/relationships/tags" Target="../tags/tag183.xml"/><Relationship Id="rId59" Type="http://schemas.openxmlformats.org/officeDocument/2006/relationships/notesSlide" Target="../notesSlides/notesSlide27.xml"/><Relationship Id="rId20" Type="http://schemas.openxmlformats.org/officeDocument/2006/relationships/tags" Target="../tags/tag157.xml"/><Relationship Id="rId41" Type="http://schemas.openxmlformats.org/officeDocument/2006/relationships/tags" Target="../tags/tag178.xml"/><Relationship Id="rId54" Type="http://schemas.openxmlformats.org/officeDocument/2006/relationships/tags" Target="../tags/tag191.xml"/><Relationship Id="rId62" Type="http://schemas.openxmlformats.org/officeDocument/2006/relationships/chart" Target="../charts/chart8.xml"/><Relationship Id="rId1" Type="http://schemas.openxmlformats.org/officeDocument/2006/relationships/tags" Target="../tags/tag138.xml"/><Relationship Id="rId6" Type="http://schemas.openxmlformats.org/officeDocument/2006/relationships/tags" Target="../tags/tag143.xml"/><Relationship Id="rId15" Type="http://schemas.openxmlformats.org/officeDocument/2006/relationships/tags" Target="../tags/tag152.xml"/><Relationship Id="rId23" Type="http://schemas.openxmlformats.org/officeDocument/2006/relationships/tags" Target="../tags/tag160.xml"/><Relationship Id="rId28" Type="http://schemas.openxmlformats.org/officeDocument/2006/relationships/tags" Target="../tags/tag165.xml"/><Relationship Id="rId36" Type="http://schemas.openxmlformats.org/officeDocument/2006/relationships/tags" Target="../tags/tag173.xml"/><Relationship Id="rId49" Type="http://schemas.openxmlformats.org/officeDocument/2006/relationships/tags" Target="../tags/tag186.xml"/><Relationship Id="rId57" Type="http://schemas.openxmlformats.org/officeDocument/2006/relationships/tags" Target="../tags/tag194.xml"/><Relationship Id="rId10" Type="http://schemas.openxmlformats.org/officeDocument/2006/relationships/tags" Target="../tags/tag147.xml"/><Relationship Id="rId31" Type="http://schemas.openxmlformats.org/officeDocument/2006/relationships/tags" Target="../tags/tag168.xml"/><Relationship Id="rId44" Type="http://schemas.openxmlformats.org/officeDocument/2006/relationships/tags" Target="../tags/tag181.xml"/><Relationship Id="rId52" Type="http://schemas.openxmlformats.org/officeDocument/2006/relationships/tags" Target="../tags/tag189.xml"/><Relationship Id="rId60" Type="http://schemas.openxmlformats.org/officeDocument/2006/relationships/chart" Target="../charts/chart6.xml"/><Relationship Id="rId4" Type="http://schemas.openxmlformats.org/officeDocument/2006/relationships/tags" Target="../tags/tag141.xml"/><Relationship Id="rId9" Type="http://schemas.openxmlformats.org/officeDocument/2006/relationships/tags" Target="../tags/tag146.xml"/></Relationships>
</file>

<file path=ppt/slides/_rels/slide40.xml.rels><?xml version="1.0" encoding="UTF-8" standalone="yes"?>
<Relationships xmlns="http://schemas.openxmlformats.org/package/2006/relationships"><Relationship Id="rId13" Type="http://schemas.openxmlformats.org/officeDocument/2006/relationships/tags" Target="../tags/tag207.xml"/><Relationship Id="rId18" Type="http://schemas.openxmlformats.org/officeDocument/2006/relationships/tags" Target="../tags/tag212.xml"/><Relationship Id="rId26" Type="http://schemas.openxmlformats.org/officeDocument/2006/relationships/notesSlide" Target="../notesSlides/notesSlide28.xml"/><Relationship Id="rId3" Type="http://schemas.openxmlformats.org/officeDocument/2006/relationships/tags" Target="../tags/tag197.xml"/><Relationship Id="rId21" Type="http://schemas.openxmlformats.org/officeDocument/2006/relationships/tags" Target="../tags/tag215.xml"/><Relationship Id="rId7" Type="http://schemas.openxmlformats.org/officeDocument/2006/relationships/tags" Target="../tags/tag201.xml"/><Relationship Id="rId12" Type="http://schemas.openxmlformats.org/officeDocument/2006/relationships/tags" Target="../tags/tag206.xml"/><Relationship Id="rId17" Type="http://schemas.openxmlformats.org/officeDocument/2006/relationships/tags" Target="../tags/tag211.xml"/><Relationship Id="rId25" Type="http://schemas.openxmlformats.org/officeDocument/2006/relationships/slideLayout" Target="../slideLayouts/slideLayout20.xml"/><Relationship Id="rId33" Type="http://schemas.openxmlformats.org/officeDocument/2006/relationships/image" Target="../media/image309.png"/><Relationship Id="rId2" Type="http://schemas.openxmlformats.org/officeDocument/2006/relationships/tags" Target="../tags/tag196.xml"/><Relationship Id="rId16" Type="http://schemas.openxmlformats.org/officeDocument/2006/relationships/tags" Target="../tags/tag210.xml"/><Relationship Id="rId20" Type="http://schemas.openxmlformats.org/officeDocument/2006/relationships/tags" Target="../tags/tag214.xml"/><Relationship Id="rId29" Type="http://schemas.openxmlformats.org/officeDocument/2006/relationships/image" Target="../media/image305.png"/><Relationship Id="rId1" Type="http://schemas.openxmlformats.org/officeDocument/2006/relationships/tags" Target="../tags/tag195.xml"/><Relationship Id="rId6" Type="http://schemas.openxmlformats.org/officeDocument/2006/relationships/tags" Target="../tags/tag200.xml"/><Relationship Id="rId11" Type="http://schemas.openxmlformats.org/officeDocument/2006/relationships/tags" Target="../tags/tag205.xml"/><Relationship Id="rId24" Type="http://schemas.openxmlformats.org/officeDocument/2006/relationships/tags" Target="../tags/tag218.xml"/><Relationship Id="rId32" Type="http://schemas.openxmlformats.org/officeDocument/2006/relationships/image" Target="../media/image308.png"/><Relationship Id="rId5" Type="http://schemas.openxmlformats.org/officeDocument/2006/relationships/tags" Target="../tags/tag199.xml"/><Relationship Id="rId15" Type="http://schemas.openxmlformats.org/officeDocument/2006/relationships/tags" Target="../tags/tag209.xml"/><Relationship Id="rId23" Type="http://schemas.openxmlformats.org/officeDocument/2006/relationships/tags" Target="../tags/tag217.xml"/><Relationship Id="rId28" Type="http://schemas.openxmlformats.org/officeDocument/2006/relationships/chart" Target="../charts/chart10.xml"/><Relationship Id="rId10" Type="http://schemas.openxmlformats.org/officeDocument/2006/relationships/tags" Target="../tags/tag204.xml"/><Relationship Id="rId19" Type="http://schemas.openxmlformats.org/officeDocument/2006/relationships/tags" Target="../tags/tag213.xml"/><Relationship Id="rId31" Type="http://schemas.openxmlformats.org/officeDocument/2006/relationships/image" Target="../media/image307.png"/><Relationship Id="rId4" Type="http://schemas.openxmlformats.org/officeDocument/2006/relationships/tags" Target="../tags/tag198.xml"/><Relationship Id="rId9" Type="http://schemas.openxmlformats.org/officeDocument/2006/relationships/tags" Target="../tags/tag203.xml"/><Relationship Id="rId14" Type="http://schemas.openxmlformats.org/officeDocument/2006/relationships/tags" Target="../tags/tag208.xml"/><Relationship Id="rId22" Type="http://schemas.openxmlformats.org/officeDocument/2006/relationships/tags" Target="../tags/tag216.xml"/><Relationship Id="rId27" Type="http://schemas.openxmlformats.org/officeDocument/2006/relationships/chart" Target="../charts/chart9.xml"/><Relationship Id="rId30" Type="http://schemas.openxmlformats.org/officeDocument/2006/relationships/image" Target="../media/image306.png"/><Relationship Id="rId8" Type="http://schemas.openxmlformats.org/officeDocument/2006/relationships/tags" Target="../tags/tag202.xml"/></Relationships>
</file>

<file path=ppt/slides/_rels/slide41.xml.rels><?xml version="1.0" encoding="UTF-8" standalone="yes"?>
<Relationships xmlns="http://schemas.openxmlformats.org/package/2006/relationships"><Relationship Id="rId13" Type="http://schemas.openxmlformats.org/officeDocument/2006/relationships/tags" Target="../tags/tag231.xml"/><Relationship Id="rId18" Type="http://schemas.openxmlformats.org/officeDocument/2006/relationships/tags" Target="../tags/tag236.xml"/><Relationship Id="rId26" Type="http://schemas.openxmlformats.org/officeDocument/2006/relationships/image" Target="../media/image292.png"/><Relationship Id="rId3" Type="http://schemas.openxmlformats.org/officeDocument/2006/relationships/tags" Target="../tags/tag221.xml"/><Relationship Id="rId21" Type="http://schemas.openxmlformats.org/officeDocument/2006/relationships/tags" Target="../tags/tag239.xml"/><Relationship Id="rId34" Type="http://schemas.openxmlformats.org/officeDocument/2006/relationships/image" Target="../media/image314.png"/><Relationship Id="rId7" Type="http://schemas.openxmlformats.org/officeDocument/2006/relationships/tags" Target="../tags/tag225.xml"/><Relationship Id="rId12" Type="http://schemas.openxmlformats.org/officeDocument/2006/relationships/tags" Target="../tags/tag230.xml"/><Relationship Id="rId17" Type="http://schemas.openxmlformats.org/officeDocument/2006/relationships/tags" Target="../tags/tag235.xml"/><Relationship Id="rId25" Type="http://schemas.openxmlformats.org/officeDocument/2006/relationships/image" Target="../media/image278.emf"/><Relationship Id="rId33" Type="http://schemas.openxmlformats.org/officeDocument/2006/relationships/image" Target="../media/image313.svg"/><Relationship Id="rId2" Type="http://schemas.openxmlformats.org/officeDocument/2006/relationships/tags" Target="../tags/tag220.xml"/><Relationship Id="rId16" Type="http://schemas.openxmlformats.org/officeDocument/2006/relationships/tags" Target="../tags/tag234.xml"/><Relationship Id="rId20" Type="http://schemas.openxmlformats.org/officeDocument/2006/relationships/tags" Target="../tags/tag238.xml"/><Relationship Id="rId29" Type="http://schemas.openxmlformats.org/officeDocument/2006/relationships/image" Target="../media/image312.png"/><Relationship Id="rId1" Type="http://schemas.openxmlformats.org/officeDocument/2006/relationships/tags" Target="../tags/tag219.xml"/><Relationship Id="rId6" Type="http://schemas.openxmlformats.org/officeDocument/2006/relationships/tags" Target="../tags/tag224.xml"/><Relationship Id="rId11" Type="http://schemas.openxmlformats.org/officeDocument/2006/relationships/tags" Target="../tags/tag229.xml"/><Relationship Id="rId24" Type="http://schemas.openxmlformats.org/officeDocument/2006/relationships/oleObject" Target="../embeddings/oleObject43.bin"/><Relationship Id="rId32" Type="http://schemas.openxmlformats.org/officeDocument/2006/relationships/chart" Target="../charts/chart13.xml"/><Relationship Id="rId5" Type="http://schemas.openxmlformats.org/officeDocument/2006/relationships/tags" Target="../tags/tag223.xml"/><Relationship Id="rId15" Type="http://schemas.openxmlformats.org/officeDocument/2006/relationships/tags" Target="../tags/tag233.xml"/><Relationship Id="rId23" Type="http://schemas.openxmlformats.org/officeDocument/2006/relationships/slideLayout" Target="../slideLayouts/slideLayout17.xml"/><Relationship Id="rId28" Type="http://schemas.openxmlformats.org/officeDocument/2006/relationships/image" Target="../media/image311.png"/><Relationship Id="rId36" Type="http://schemas.openxmlformats.org/officeDocument/2006/relationships/image" Target="../media/image316.png"/><Relationship Id="rId10" Type="http://schemas.openxmlformats.org/officeDocument/2006/relationships/tags" Target="../tags/tag228.xml"/><Relationship Id="rId19" Type="http://schemas.openxmlformats.org/officeDocument/2006/relationships/tags" Target="../tags/tag237.xml"/><Relationship Id="rId31" Type="http://schemas.openxmlformats.org/officeDocument/2006/relationships/chart" Target="../charts/chart12.xml"/><Relationship Id="rId4" Type="http://schemas.openxmlformats.org/officeDocument/2006/relationships/tags" Target="../tags/tag222.xml"/><Relationship Id="rId9" Type="http://schemas.openxmlformats.org/officeDocument/2006/relationships/tags" Target="../tags/tag227.xml"/><Relationship Id="rId14" Type="http://schemas.openxmlformats.org/officeDocument/2006/relationships/tags" Target="../tags/tag232.xml"/><Relationship Id="rId22" Type="http://schemas.openxmlformats.org/officeDocument/2006/relationships/tags" Target="../tags/tag240.xml"/><Relationship Id="rId27" Type="http://schemas.openxmlformats.org/officeDocument/2006/relationships/image" Target="../media/image310.png"/><Relationship Id="rId30" Type="http://schemas.openxmlformats.org/officeDocument/2006/relationships/chart" Target="../charts/chart11.xml"/><Relationship Id="rId35" Type="http://schemas.openxmlformats.org/officeDocument/2006/relationships/image" Target="../media/image315.png"/><Relationship Id="rId8" Type="http://schemas.openxmlformats.org/officeDocument/2006/relationships/tags" Target="../tags/tag226.xml"/></Relationships>
</file>

<file path=ppt/slides/_rels/slide42.xml.rels><?xml version="1.0" encoding="UTF-8" standalone="yes"?>
<Relationships xmlns="http://schemas.openxmlformats.org/package/2006/relationships"><Relationship Id="rId8" Type="http://schemas.openxmlformats.org/officeDocument/2006/relationships/image" Target="../media/image289.jpeg"/><Relationship Id="rId3" Type="http://schemas.openxmlformats.org/officeDocument/2006/relationships/notesSlide" Target="../notesSlides/notesSlide29.xml"/><Relationship Id="rId7" Type="http://schemas.openxmlformats.org/officeDocument/2006/relationships/image" Target="../media/image317.png"/><Relationship Id="rId12" Type="http://schemas.microsoft.com/office/2007/relationships/hdphoto" Target="../media/hdphoto5.wdp"/><Relationship Id="rId2" Type="http://schemas.openxmlformats.org/officeDocument/2006/relationships/slideLayout" Target="../slideLayouts/slideLayout3.xml"/><Relationship Id="rId1" Type="http://schemas.openxmlformats.org/officeDocument/2006/relationships/tags" Target="../tags/tag241.xml"/><Relationship Id="rId6" Type="http://schemas.openxmlformats.org/officeDocument/2006/relationships/image" Target="../media/image292.png"/><Relationship Id="rId11" Type="http://schemas.openxmlformats.org/officeDocument/2006/relationships/image" Target="../media/image319.png"/><Relationship Id="rId5" Type="http://schemas.openxmlformats.org/officeDocument/2006/relationships/image" Target="../media/image275.emf"/><Relationship Id="rId10" Type="http://schemas.microsoft.com/office/2007/relationships/hdphoto" Target="../media/hdphoto4.wdp"/><Relationship Id="rId4" Type="http://schemas.openxmlformats.org/officeDocument/2006/relationships/oleObject" Target="../embeddings/oleObject44.bin"/><Relationship Id="rId9" Type="http://schemas.openxmlformats.org/officeDocument/2006/relationships/image" Target="../media/image318.png"/></Relationships>
</file>

<file path=ppt/slides/_rels/slide43.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tags" Target="../tags/tag244.xml"/><Relationship Id="rId7" Type="http://schemas.openxmlformats.org/officeDocument/2006/relationships/tags" Target="../tags/tag248.xml"/><Relationship Id="rId2" Type="http://schemas.openxmlformats.org/officeDocument/2006/relationships/tags" Target="../tags/tag243.xml"/><Relationship Id="rId1" Type="http://schemas.openxmlformats.org/officeDocument/2006/relationships/tags" Target="../tags/tag242.xml"/><Relationship Id="rId6" Type="http://schemas.openxmlformats.org/officeDocument/2006/relationships/tags" Target="../tags/tag247.xml"/><Relationship Id="rId5" Type="http://schemas.openxmlformats.org/officeDocument/2006/relationships/tags" Target="../tags/tag246.xml"/><Relationship Id="rId4" Type="http://schemas.openxmlformats.org/officeDocument/2006/relationships/tags" Target="../tags/tag245.xml"/><Relationship Id="rId9" Type="http://schemas.openxmlformats.org/officeDocument/2006/relationships/notesSlide" Target="../notesSlides/notesSlide30.xml"/></Relationships>
</file>

<file path=ppt/slides/_rels/slide44.xml.rels><?xml version="1.0" encoding="UTF-8" standalone="yes"?>
<Relationships xmlns="http://schemas.openxmlformats.org/package/2006/relationships"><Relationship Id="rId26" Type="http://schemas.openxmlformats.org/officeDocument/2006/relationships/tags" Target="../tags/tag274.xml"/><Relationship Id="rId21" Type="http://schemas.openxmlformats.org/officeDocument/2006/relationships/tags" Target="../tags/tag269.xml"/><Relationship Id="rId42" Type="http://schemas.openxmlformats.org/officeDocument/2006/relationships/tags" Target="../tags/tag290.xml"/><Relationship Id="rId47" Type="http://schemas.openxmlformats.org/officeDocument/2006/relationships/tags" Target="../tags/tag295.xml"/><Relationship Id="rId63" Type="http://schemas.openxmlformats.org/officeDocument/2006/relationships/tags" Target="../tags/tag311.xml"/><Relationship Id="rId68" Type="http://schemas.openxmlformats.org/officeDocument/2006/relationships/tags" Target="../tags/tag316.xml"/><Relationship Id="rId84" Type="http://schemas.openxmlformats.org/officeDocument/2006/relationships/notesSlide" Target="../notesSlides/notesSlide31.xml"/><Relationship Id="rId89" Type="http://schemas.openxmlformats.org/officeDocument/2006/relationships/chart" Target="../charts/chart16.xml"/><Relationship Id="rId16" Type="http://schemas.openxmlformats.org/officeDocument/2006/relationships/tags" Target="../tags/tag264.xml"/><Relationship Id="rId11" Type="http://schemas.openxmlformats.org/officeDocument/2006/relationships/tags" Target="../tags/tag259.xml"/><Relationship Id="rId32" Type="http://schemas.openxmlformats.org/officeDocument/2006/relationships/tags" Target="../tags/tag280.xml"/><Relationship Id="rId37" Type="http://schemas.openxmlformats.org/officeDocument/2006/relationships/tags" Target="../tags/tag285.xml"/><Relationship Id="rId53" Type="http://schemas.openxmlformats.org/officeDocument/2006/relationships/tags" Target="../tags/tag301.xml"/><Relationship Id="rId58" Type="http://schemas.openxmlformats.org/officeDocument/2006/relationships/tags" Target="../tags/tag306.xml"/><Relationship Id="rId74" Type="http://schemas.openxmlformats.org/officeDocument/2006/relationships/tags" Target="../tags/tag322.xml"/><Relationship Id="rId79" Type="http://schemas.openxmlformats.org/officeDocument/2006/relationships/tags" Target="../tags/tag327.xml"/><Relationship Id="rId5" Type="http://schemas.openxmlformats.org/officeDocument/2006/relationships/tags" Target="../tags/tag253.xml"/><Relationship Id="rId14" Type="http://schemas.openxmlformats.org/officeDocument/2006/relationships/tags" Target="../tags/tag262.xml"/><Relationship Id="rId22" Type="http://schemas.openxmlformats.org/officeDocument/2006/relationships/tags" Target="../tags/tag270.xml"/><Relationship Id="rId27" Type="http://schemas.openxmlformats.org/officeDocument/2006/relationships/tags" Target="../tags/tag275.xml"/><Relationship Id="rId30" Type="http://schemas.openxmlformats.org/officeDocument/2006/relationships/tags" Target="../tags/tag278.xml"/><Relationship Id="rId35" Type="http://schemas.openxmlformats.org/officeDocument/2006/relationships/tags" Target="../tags/tag283.xml"/><Relationship Id="rId43" Type="http://schemas.openxmlformats.org/officeDocument/2006/relationships/tags" Target="../tags/tag291.xml"/><Relationship Id="rId48" Type="http://schemas.openxmlformats.org/officeDocument/2006/relationships/tags" Target="../tags/tag296.xml"/><Relationship Id="rId56" Type="http://schemas.openxmlformats.org/officeDocument/2006/relationships/tags" Target="../tags/tag304.xml"/><Relationship Id="rId64" Type="http://schemas.openxmlformats.org/officeDocument/2006/relationships/tags" Target="../tags/tag312.xml"/><Relationship Id="rId69" Type="http://schemas.openxmlformats.org/officeDocument/2006/relationships/tags" Target="../tags/tag317.xml"/><Relationship Id="rId77" Type="http://schemas.openxmlformats.org/officeDocument/2006/relationships/tags" Target="../tags/tag325.xml"/><Relationship Id="rId8" Type="http://schemas.openxmlformats.org/officeDocument/2006/relationships/tags" Target="../tags/tag256.xml"/><Relationship Id="rId51" Type="http://schemas.openxmlformats.org/officeDocument/2006/relationships/tags" Target="../tags/tag299.xml"/><Relationship Id="rId72" Type="http://schemas.openxmlformats.org/officeDocument/2006/relationships/tags" Target="../tags/tag320.xml"/><Relationship Id="rId80" Type="http://schemas.openxmlformats.org/officeDocument/2006/relationships/tags" Target="../tags/tag328.xml"/><Relationship Id="rId85" Type="http://schemas.openxmlformats.org/officeDocument/2006/relationships/oleObject" Target="../embeddings/oleObject45.bin"/><Relationship Id="rId3" Type="http://schemas.openxmlformats.org/officeDocument/2006/relationships/tags" Target="../tags/tag251.xml"/><Relationship Id="rId12" Type="http://schemas.openxmlformats.org/officeDocument/2006/relationships/tags" Target="../tags/tag260.xml"/><Relationship Id="rId17" Type="http://schemas.openxmlformats.org/officeDocument/2006/relationships/tags" Target="../tags/tag265.xml"/><Relationship Id="rId25" Type="http://schemas.openxmlformats.org/officeDocument/2006/relationships/tags" Target="../tags/tag273.xml"/><Relationship Id="rId33" Type="http://schemas.openxmlformats.org/officeDocument/2006/relationships/tags" Target="../tags/tag281.xml"/><Relationship Id="rId38" Type="http://schemas.openxmlformats.org/officeDocument/2006/relationships/tags" Target="../tags/tag286.xml"/><Relationship Id="rId46" Type="http://schemas.openxmlformats.org/officeDocument/2006/relationships/tags" Target="../tags/tag294.xml"/><Relationship Id="rId59" Type="http://schemas.openxmlformats.org/officeDocument/2006/relationships/tags" Target="../tags/tag307.xml"/><Relationship Id="rId67" Type="http://schemas.openxmlformats.org/officeDocument/2006/relationships/tags" Target="../tags/tag315.xml"/><Relationship Id="rId20" Type="http://schemas.openxmlformats.org/officeDocument/2006/relationships/tags" Target="../tags/tag268.xml"/><Relationship Id="rId41" Type="http://schemas.openxmlformats.org/officeDocument/2006/relationships/tags" Target="../tags/tag289.xml"/><Relationship Id="rId54" Type="http://schemas.openxmlformats.org/officeDocument/2006/relationships/tags" Target="../tags/tag302.xml"/><Relationship Id="rId62" Type="http://schemas.openxmlformats.org/officeDocument/2006/relationships/tags" Target="../tags/tag310.xml"/><Relationship Id="rId70" Type="http://schemas.openxmlformats.org/officeDocument/2006/relationships/tags" Target="../tags/tag318.xml"/><Relationship Id="rId75" Type="http://schemas.openxmlformats.org/officeDocument/2006/relationships/tags" Target="../tags/tag323.xml"/><Relationship Id="rId83" Type="http://schemas.openxmlformats.org/officeDocument/2006/relationships/slideLayout" Target="../slideLayouts/slideLayout20.xml"/><Relationship Id="rId88" Type="http://schemas.openxmlformats.org/officeDocument/2006/relationships/chart" Target="../charts/chart15.xml"/><Relationship Id="rId1" Type="http://schemas.openxmlformats.org/officeDocument/2006/relationships/tags" Target="../tags/tag249.xml"/><Relationship Id="rId6" Type="http://schemas.openxmlformats.org/officeDocument/2006/relationships/tags" Target="../tags/tag254.xml"/><Relationship Id="rId15" Type="http://schemas.openxmlformats.org/officeDocument/2006/relationships/tags" Target="../tags/tag263.xml"/><Relationship Id="rId23" Type="http://schemas.openxmlformats.org/officeDocument/2006/relationships/tags" Target="../tags/tag271.xml"/><Relationship Id="rId28" Type="http://schemas.openxmlformats.org/officeDocument/2006/relationships/tags" Target="../tags/tag276.xml"/><Relationship Id="rId36" Type="http://schemas.openxmlformats.org/officeDocument/2006/relationships/tags" Target="../tags/tag284.xml"/><Relationship Id="rId49" Type="http://schemas.openxmlformats.org/officeDocument/2006/relationships/tags" Target="../tags/tag297.xml"/><Relationship Id="rId57" Type="http://schemas.openxmlformats.org/officeDocument/2006/relationships/tags" Target="../tags/tag305.xml"/><Relationship Id="rId10" Type="http://schemas.openxmlformats.org/officeDocument/2006/relationships/tags" Target="../tags/tag258.xml"/><Relationship Id="rId31" Type="http://schemas.openxmlformats.org/officeDocument/2006/relationships/tags" Target="../tags/tag279.xml"/><Relationship Id="rId44" Type="http://schemas.openxmlformats.org/officeDocument/2006/relationships/tags" Target="../tags/tag292.xml"/><Relationship Id="rId52" Type="http://schemas.openxmlformats.org/officeDocument/2006/relationships/tags" Target="../tags/tag300.xml"/><Relationship Id="rId60" Type="http://schemas.openxmlformats.org/officeDocument/2006/relationships/tags" Target="../tags/tag308.xml"/><Relationship Id="rId65" Type="http://schemas.openxmlformats.org/officeDocument/2006/relationships/tags" Target="../tags/tag313.xml"/><Relationship Id="rId73" Type="http://schemas.openxmlformats.org/officeDocument/2006/relationships/tags" Target="../tags/tag321.xml"/><Relationship Id="rId78" Type="http://schemas.openxmlformats.org/officeDocument/2006/relationships/tags" Target="../tags/tag326.xml"/><Relationship Id="rId81" Type="http://schemas.openxmlformats.org/officeDocument/2006/relationships/tags" Target="../tags/tag329.xml"/><Relationship Id="rId86" Type="http://schemas.openxmlformats.org/officeDocument/2006/relationships/image" Target="../media/image275.emf"/><Relationship Id="rId4" Type="http://schemas.openxmlformats.org/officeDocument/2006/relationships/tags" Target="../tags/tag252.xml"/><Relationship Id="rId9" Type="http://schemas.openxmlformats.org/officeDocument/2006/relationships/tags" Target="../tags/tag257.xml"/><Relationship Id="rId13" Type="http://schemas.openxmlformats.org/officeDocument/2006/relationships/tags" Target="../tags/tag261.xml"/><Relationship Id="rId18" Type="http://schemas.openxmlformats.org/officeDocument/2006/relationships/tags" Target="../tags/tag266.xml"/><Relationship Id="rId39" Type="http://schemas.openxmlformats.org/officeDocument/2006/relationships/tags" Target="../tags/tag287.xml"/><Relationship Id="rId34" Type="http://schemas.openxmlformats.org/officeDocument/2006/relationships/tags" Target="../tags/tag282.xml"/><Relationship Id="rId50" Type="http://schemas.openxmlformats.org/officeDocument/2006/relationships/tags" Target="../tags/tag298.xml"/><Relationship Id="rId55" Type="http://schemas.openxmlformats.org/officeDocument/2006/relationships/tags" Target="../tags/tag303.xml"/><Relationship Id="rId76" Type="http://schemas.openxmlformats.org/officeDocument/2006/relationships/tags" Target="../tags/tag324.xml"/><Relationship Id="rId7" Type="http://schemas.openxmlformats.org/officeDocument/2006/relationships/tags" Target="../tags/tag255.xml"/><Relationship Id="rId71" Type="http://schemas.openxmlformats.org/officeDocument/2006/relationships/tags" Target="../tags/tag319.xml"/><Relationship Id="rId2" Type="http://schemas.openxmlformats.org/officeDocument/2006/relationships/tags" Target="../tags/tag250.xml"/><Relationship Id="rId29" Type="http://schemas.openxmlformats.org/officeDocument/2006/relationships/tags" Target="../tags/tag277.xml"/><Relationship Id="rId24" Type="http://schemas.openxmlformats.org/officeDocument/2006/relationships/tags" Target="../tags/tag272.xml"/><Relationship Id="rId40" Type="http://schemas.openxmlformats.org/officeDocument/2006/relationships/tags" Target="../tags/tag288.xml"/><Relationship Id="rId45" Type="http://schemas.openxmlformats.org/officeDocument/2006/relationships/tags" Target="../tags/tag293.xml"/><Relationship Id="rId66" Type="http://schemas.openxmlformats.org/officeDocument/2006/relationships/tags" Target="../tags/tag314.xml"/><Relationship Id="rId87" Type="http://schemas.openxmlformats.org/officeDocument/2006/relationships/chart" Target="../charts/chart14.xml"/><Relationship Id="rId61" Type="http://schemas.openxmlformats.org/officeDocument/2006/relationships/tags" Target="../tags/tag309.xml"/><Relationship Id="rId82" Type="http://schemas.openxmlformats.org/officeDocument/2006/relationships/tags" Target="../tags/tag330.xml"/><Relationship Id="rId19" Type="http://schemas.openxmlformats.org/officeDocument/2006/relationships/tags" Target="../tags/tag267.xml"/></Relationships>
</file>

<file path=ppt/slides/_rels/slide45.xml.rels><?xml version="1.0" encoding="UTF-8" standalone="yes"?>
<Relationships xmlns="http://schemas.openxmlformats.org/package/2006/relationships"><Relationship Id="rId8" Type="http://schemas.openxmlformats.org/officeDocument/2006/relationships/image" Target="../media/image321.svg"/><Relationship Id="rId3" Type="http://schemas.openxmlformats.org/officeDocument/2006/relationships/notesSlide" Target="../notesSlides/notesSlide32.xml"/><Relationship Id="rId7" Type="http://schemas.openxmlformats.org/officeDocument/2006/relationships/image" Target="../media/image289.jpeg"/><Relationship Id="rId2" Type="http://schemas.openxmlformats.org/officeDocument/2006/relationships/slideLayout" Target="../slideLayouts/slideLayout3.xml"/><Relationship Id="rId1" Type="http://schemas.openxmlformats.org/officeDocument/2006/relationships/tags" Target="../tags/tag331.xml"/><Relationship Id="rId6" Type="http://schemas.openxmlformats.org/officeDocument/2006/relationships/image" Target="../media/image320.png"/><Relationship Id="rId5" Type="http://schemas.openxmlformats.org/officeDocument/2006/relationships/image" Target="../media/image275.emf"/><Relationship Id="rId4" Type="http://schemas.openxmlformats.org/officeDocument/2006/relationships/oleObject" Target="../embeddings/oleObject46.bin"/><Relationship Id="rId9" Type="http://schemas.openxmlformats.org/officeDocument/2006/relationships/image" Target="../media/image322.sv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3" Type="http://schemas.openxmlformats.org/officeDocument/2006/relationships/tags" Target="../tags/tag344.xml"/><Relationship Id="rId18" Type="http://schemas.openxmlformats.org/officeDocument/2006/relationships/tags" Target="../tags/tag349.xml"/><Relationship Id="rId26" Type="http://schemas.openxmlformats.org/officeDocument/2006/relationships/tags" Target="../tags/tag357.xml"/><Relationship Id="rId3" Type="http://schemas.openxmlformats.org/officeDocument/2006/relationships/tags" Target="../tags/tag334.xml"/><Relationship Id="rId21" Type="http://schemas.openxmlformats.org/officeDocument/2006/relationships/tags" Target="../tags/tag352.xml"/><Relationship Id="rId7" Type="http://schemas.openxmlformats.org/officeDocument/2006/relationships/tags" Target="../tags/tag338.xml"/><Relationship Id="rId12" Type="http://schemas.openxmlformats.org/officeDocument/2006/relationships/tags" Target="../tags/tag343.xml"/><Relationship Id="rId17" Type="http://schemas.openxmlformats.org/officeDocument/2006/relationships/tags" Target="../tags/tag348.xml"/><Relationship Id="rId25" Type="http://schemas.openxmlformats.org/officeDocument/2006/relationships/tags" Target="../tags/tag356.xml"/><Relationship Id="rId33" Type="http://schemas.openxmlformats.org/officeDocument/2006/relationships/chart" Target="../charts/chart19.xml"/><Relationship Id="rId2" Type="http://schemas.openxmlformats.org/officeDocument/2006/relationships/tags" Target="../tags/tag333.xml"/><Relationship Id="rId16" Type="http://schemas.openxmlformats.org/officeDocument/2006/relationships/tags" Target="../tags/tag347.xml"/><Relationship Id="rId20" Type="http://schemas.openxmlformats.org/officeDocument/2006/relationships/tags" Target="../tags/tag351.xml"/><Relationship Id="rId29" Type="http://schemas.openxmlformats.org/officeDocument/2006/relationships/slideLayout" Target="../slideLayouts/slideLayout20.xml"/><Relationship Id="rId1" Type="http://schemas.openxmlformats.org/officeDocument/2006/relationships/tags" Target="../tags/tag332.xml"/><Relationship Id="rId6" Type="http://schemas.openxmlformats.org/officeDocument/2006/relationships/tags" Target="../tags/tag337.xml"/><Relationship Id="rId11" Type="http://schemas.openxmlformats.org/officeDocument/2006/relationships/tags" Target="../tags/tag342.xml"/><Relationship Id="rId24" Type="http://schemas.openxmlformats.org/officeDocument/2006/relationships/tags" Target="../tags/tag355.xml"/><Relationship Id="rId32" Type="http://schemas.openxmlformats.org/officeDocument/2006/relationships/chart" Target="../charts/chart18.xml"/><Relationship Id="rId5" Type="http://schemas.openxmlformats.org/officeDocument/2006/relationships/tags" Target="../tags/tag336.xml"/><Relationship Id="rId15" Type="http://schemas.openxmlformats.org/officeDocument/2006/relationships/tags" Target="../tags/tag346.xml"/><Relationship Id="rId23" Type="http://schemas.openxmlformats.org/officeDocument/2006/relationships/tags" Target="../tags/tag354.xml"/><Relationship Id="rId28" Type="http://schemas.openxmlformats.org/officeDocument/2006/relationships/tags" Target="../tags/tag359.xml"/><Relationship Id="rId10" Type="http://schemas.openxmlformats.org/officeDocument/2006/relationships/tags" Target="../tags/tag341.xml"/><Relationship Id="rId19" Type="http://schemas.openxmlformats.org/officeDocument/2006/relationships/tags" Target="../tags/tag350.xml"/><Relationship Id="rId31" Type="http://schemas.openxmlformats.org/officeDocument/2006/relationships/chart" Target="../charts/chart17.xml"/><Relationship Id="rId4" Type="http://schemas.openxmlformats.org/officeDocument/2006/relationships/tags" Target="../tags/tag335.xml"/><Relationship Id="rId9" Type="http://schemas.openxmlformats.org/officeDocument/2006/relationships/tags" Target="../tags/tag340.xml"/><Relationship Id="rId14" Type="http://schemas.openxmlformats.org/officeDocument/2006/relationships/tags" Target="../tags/tag345.xml"/><Relationship Id="rId22" Type="http://schemas.openxmlformats.org/officeDocument/2006/relationships/tags" Target="../tags/tag353.xml"/><Relationship Id="rId27" Type="http://schemas.openxmlformats.org/officeDocument/2006/relationships/tags" Target="../tags/tag358.xml"/><Relationship Id="rId30" Type="http://schemas.openxmlformats.org/officeDocument/2006/relationships/notesSlide" Target="../notesSlides/notesSlide33.xml"/><Relationship Id="rId8" Type="http://schemas.openxmlformats.org/officeDocument/2006/relationships/tags" Target="../tags/tag33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0.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37.xml"/><Relationship Id="rId7" Type="http://schemas.openxmlformats.org/officeDocument/2006/relationships/image" Target="../media/image324.svg"/><Relationship Id="rId2" Type="http://schemas.openxmlformats.org/officeDocument/2006/relationships/slideLayout" Target="../slideLayouts/slideLayout3.xml"/><Relationship Id="rId1" Type="http://schemas.openxmlformats.org/officeDocument/2006/relationships/tags" Target="../tags/tag360.xml"/><Relationship Id="rId6" Type="http://schemas.openxmlformats.org/officeDocument/2006/relationships/image" Target="../media/image323.svg"/><Relationship Id="rId5" Type="http://schemas.openxmlformats.org/officeDocument/2006/relationships/image" Target="../media/image275.emf"/><Relationship Id="rId4" Type="http://schemas.openxmlformats.org/officeDocument/2006/relationships/oleObject" Target="../embeddings/oleObject47.bin"/></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3" Type="http://schemas.openxmlformats.org/officeDocument/2006/relationships/tags" Target="../tags/tag373.xml"/><Relationship Id="rId18" Type="http://schemas.openxmlformats.org/officeDocument/2006/relationships/tags" Target="../tags/tag378.xml"/><Relationship Id="rId26" Type="http://schemas.openxmlformats.org/officeDocument/2006/relationships/tags" Target="../tags/tag386.xml"/><Relationship Id="rId3" Type="http://schemas.openxmlformats.org/officeDocument/2006/relationships/tags" Target="../tags/tag363.xml"/><Relationship Id="rId21" Type="http://schemas.openxmlformats.org/officeDocument/2006/relationships/tags" Target="../tags/tag381.xml"/><Relationship Id="rId34" Type="http://schemas.openxmlformats.org/officeDocument/2006/relationships/notesSlide" Target="../notesSlides/notesSlide38.xml"/><Relationship Id="rId7" Type="http://schemas.openxmlformats.org/officeDocument/2006/relationships/tags" Target="../tags/tag367.xml"/><Relationship Id="rId12" Type="http://schemas.openxmlformats.org/officeDocument/2006/relationships/tags" Target="../tags/tag372.xml"/><Relationship Id="rId17" Type="http://schemas.openxmlformats.org/officeDocument/2006/relationships/tags" Target="../tags/tag377.xml"/><Relationship Id="rId25" Type="http://schemas.openxmlformats.org/officeDocument/2006/relationships/tags" Target="../tags/tag385.xml"/><Relationship Id="rId33" Type="http://schemas.openxmlformats.org/officeDocument/2006/relationships/slideLayout" Target="../slideLayouts/slideLayout20.xml"/><Relationship Id="rId2" Type="http://schemas.openxmlformats.org/officeDocument/2006/relationships/tags" Target="../tags/tag362.xml"/><Relationship Id="rId16" Type="http://schemas.openxmlformats.org/officeDocument/2006/relationships/tags" Target="../tags/tag376.xml"/><Relationship Id="rId20" Type="http://schemas.openxmlformats.org/officeDocument/2006/relationships/tags" Target="../tags/tag380.xml"/><Relationship Id="rId29" Type="http://schemas.openxmlformats.org/officeDocument/2006/relationships/tags" Target="../tags/tag389.xml"/><Relationship Id="rId1" Type="http://schemas.openxmlformats.org/officeDocument/2006/relationships/tags" Target="../tags/tag361.xml"/><Relationship Id="rId6" Type="http://schemas.openxmlformats.org/officeDocument/2006/relationships/tags" Target="../tags/tag366.xml"/><Relationship Id="rId11" Type="http://schemas.openxmlformats.org/officeDocument/2006/relationships/tags" Target="../tags/tag371.xml"/><Relationship Id="rId24" Type="http://schemas.openxmlformats.org/officeDocument/2006/relationships/tags" Target="../tags/tag384.xml"/><Relationship Id="rId32" Type="http://schemas.openxmlformats.org/officeDocument/2006/relationships/tags" Target="../tags/tag392.xml"/><Relationship Id="rId5" Type="http://schemas.openxmlformats.org/officeDocument/2006/relationships/tags" Target="../tags/tag365.xml"/><Relationship Id="rId15" Type="http://schemas.openxmlformats.org/officeDocument/2006/relationships/tags" Target="../tags/tag375.xml"/><Relationship Id="rId23" Type="http://schemas.openxmlformats.org/officeDocument/2006/relationships/tags" Target="../tags/tag383.xml"/><Relationship Id="rId28" Type="http://schemas.openxmlformats.org/officeDocument/2006/relationships/tags" Target="../tags/tag388.xml"/><Relationship Id="rId36" Type="http://schemas.openxmlformats.org/officeDocument/2006/relationships/chart" Target="../charts/chart21.xml"/><Relationship Id="rId10" Type="http://schemas.openxmlformats.org/officeDocument/2006/relationships/tags" Target="../tags/tag370.xml"/><Relationship Id="rId19" Type="http://schemas.openxmlformats.org/officeDocument/2006/relationships/tags" Target="../tags/tag379.xml"/><Relationship Id="rId31" Type="http://schemas.openxmlformats.org/officeDocument/2006/relationships/tags" Target="../tags/tag391.xml"/><Relationship Id="rId4" Type="http://schemas.openxmlformats.org/officeDocument/2006/relationships/tags" Target="../tags/tag364.xml"/><Relationship Id="rId9" Type="http://schemas.openxmlformats.org/officeDocument/2006/relationships/tags" Target="../tags/tag369.xml"/><Relationship Id="rId14" Type="http://schemas.openxmlformats.org/officeDocument/2006/relationships/tags" Target="../tags/tag374.xml"/><Relationship Id="rId22" Type="http://schemas.openxmlformats.org/officeDocument/2006/relationships/tags" Target="../tags/tag382.xml"/><Relationship Id="rId27" Type="http://schemas.openxmlformats.org/officeDocument/2006/relationships/tags" Target="../tags/tag387.xml"/><Relationship Id="rId30" Type="http://schemas.openxmlformats.org/officeDocument/2006/relationships/tags" Target="../tags/tag390.xml"/><Relationship Id="rId35" Type="http://schemas.openxmlformats.org/officeDocument/2006/relationships/chart" Target="../charts/chart20.xml"/><Relationship Id="rId8" Type="http://schemas.openxmlformats.org/officeDocument/2006/relationships/tags" Target="../tags/tag368.xml"/></Relationships>
</file>

<file path=ppt/slides/_rels/slide55.xml.rels><?xml version="1.0" encoding="UTF-8" standalone="yes"?>
<Relationships xmlns="http://schemas.openxmlformats.org/package/2006/relationships"><Relationship Id="rId8" Type="http://schemas.openxmlformats.org/officeDocument/2006/relationships/tags" Target="../tags/tag400.xml"/><Relationship Id="rId13" Type="http://schemas.openxmlformats.org/officeDocument/2006/relationships/oleObject" Target="../embeddings/oleObject48.bin"/><Relationship Id="rId18" Type="http://schemas.openxmlformats.org/officeDocument/2006/relationships/image" Target="../media/image328.jpeg"/><Relationship Id="rId26" Type="http://schemas.openxmlformats.org/officeDocument/2006/relationships/image" Target="../media/image336.png"/><Relationship Id="rId3" Type="http://schemas.openxmlformats.org/officeDocument/2006/relationships/tags" Target="../tags/tag395.xml"/><Relationship Id="rId21" Type="http://schemas.openxmlformats.org/officeDocument/2006/relationships/image" Target="../media/image331.png"/><Relationship Id="rId7" Type="http://schemas.openxmlformats.org/officeDocument/2006/relationships/tags" Target="../tags/tag399.xml"/><Relationship Id="rId12" Type="http://schemas.openxmlformats.org/officeDocument/2006/relationships/notesSlide" Target="../notesSlides/notesSlide39.xml"/><Relationship Id="rId17" Type="http://schemas.openxmlformats.org/officeDocument/2006/relationships/image" Target="../media/image327.png"/><Relationship Id="rId25" Type="http://schemas.openxmlformats.org/officeDocument/2006/relationships/image" Target="../media/image335.png"/><Relationship Id="rId2" Type="http://schemas.openxmlformats.org/officeDocument/2006/relationships/tags" Target="../tags/tag394.xml"/><Relationship Id="rId16" Type="http://schemas.openxmlformats.org/officeDocument/2006/relationships/image" Target="../media/image326.png"/><Relationship Id="rId20" Type="http://schemas.openxmlformats.org/officeDocument/2006/relationships/image" Target="../media/image330.jpeg"/><Relationship Id="rId1" Type="http://schemas.openxmlformats.org/officeDocument/2006/relationships/tags" Target="../tags/tag393.xml"/><Relationship Id="rId6" Type="http://schemas.openxmlformats.org/officeDocument/2006/relationships/tags" Target="../tags/tag398.xml"/><Relationship Id="rId11" Type="http://schemas.openxmlformats.org/officeDocument/2006/relationships/slideLayout" Target="../slideLayouts/slideLayout20.xml"/><Relationship Id="rId24" Type="http://schemas.openxmlformats.org/officeDocument/2006/relationships/image" Target="../media/image334.png"/><Relationship Id="rId5" Type="http://schemas.openxmlformats.org/officeDocument/2006/relationships/tags" Target="../tags/tag397.xml"/><Relationship Id="rId15" Type="http://schemas.openxmlformats.org/officeDocument/2006/relationships/image" Target="../media/image325.png"/><Relationship Id="rId23" Type="http://schemas.openxmlformats.org/officeDocument/2006/relationships/image" Target="../media/image333.png"/><Relationship Id="rId10" Type="http://schemas.openxmlformats.org/officeDocument/2006/relationships/tags" Target="../tags/tag402.xml"/><Relationship Id="rId19" Type="http://schemas.openxmlformats.org/officeDocument/2006/relationships/image" Target="../media/image329.png"/><Relationship Id="rId4" Type="http://schemas.openxmlformats.org/officeDocument/2006/relationships/tags" Target="../tags/tag396.xml"/><Relationship Id="rId9" Type="http://schemas.openxmlformats.org/officeDocument/2006/relationships/tags" Target="../tags/tag401.xml"/><Relationship Id="rId14" Type="http://schemas.openxmlformats.org/officeDocument/2006/relationships/image" Target="../media/image275.emf"/><Relationship Id="rId22" Type="http://schemas.openxmlformats.org/officeDocument/2006/relationships/image" Target="../media/image332.png"/></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40.xml"/><Relationship Id="rId7" Type="http://schemas.openxmlformats.org/officeDocument/2006/relationships/hyperlink" Target="https://iptango.blogspot.com/2011/07/mexican-trade-mark-amendment-speeds.html" TargetMode="External"/><Relationship Id="rId2" Type="http://schemas.openxmlformats.org/officeDocument/2006/relationships/slideLayout" Target="../slideLayouts/slideLayout20.xml"/><Relationship Id="rId1" Type="http://schemas.openxmlformats.org/officeDocument/2006/relationships/tags" Target="../tags/tag403.xml"/><Relationship Id="rId6" Type="http://schemas.openxmlformats.org/officeDocument/2006/relationships/image" Target="../media/image338.gif"/><Relationship Id="rId5" Type="http://schemas.openxmlformats.org/officeDocument/2006/relationships/image" Target="../media/image337.emf"/><Relationship Id="rId4" Type="http://schemas.openxmlformats.org/officeDocument/2006/relationships/oleObject" Target="../embeddings/oleObject49.bin"/></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20.xml"/><Relationship Id="rId1" Type="http://schemas.openxmlformats.org/officeDocument/2006/relationships/tags" Target="../tags/tag404.xml"/><Relationship Id="rId5" Type="http://schemas.openxmlformats.org/officeDocument/2006/relationships/image" Target="../media/image275.emf"/><Relationship Id="rId4" Type="http://schemas.openxmlformats.org/officeDocument/2006/relationships/oleObject" Target="../embeddings/oleObject50.bin"/></Relationships>
</file>

<file path=ppt/slides/_rels/slide58.xml.rels><?xml version="1.0" encoding="UTF-8" standalone="yes"?>
<Relationships xmlns="http://schemas.openxmlformats.org/package/2006/relationships"><Relationship Id="rId8" Type="http://schemas.openxmlformats.org/officeDocument/2006/relationships/image" Target="../media/image341.svg"/><Relationship Id="rId3" Type="http://schemas.openxmlformats.org/officeDocument/2006/relationships/notesSlide" Target="../notesSlides/notesSlide42.xml"/><Relationship Id="rId7" Type="http://schemas.openxmlformats.org/officeDocument/2006/relationships/image" Target="../media/image340.svg"/><Relationship Id="rId2" Type="http://schemas.openxmlformats.org/officeDocument/2006/relationships/slideLayout" Target="../slideLayouts/slideLayout44.xml"/><Relationship Id="rId1" Type="http://schemas.openxmlformats.org/officeDocument/2006/relationships/tags" Target="../tags/tag405.xml"/><Relationship Id="rId6" Type="http://schemas.openxmlformats.org/officeDocument/2006/relationships/image" Target="../media/image339.svg"/><Relationship Id="rId11" Type="http://schemas.openxmlformats.org/officeDocument/2006/relationships/image" Target="../media/image344.svg"/><Relationship Id="rId5" Type="http://schemas.openxmlformats.org/officeDocument/2006/relationships/image" Target="../media/image278.emf"/><Relationship Id="rId10" Type="http://schemas.openxmlformats.org/officeDocument/2006/relationships/image" Target="../media/image343.svg"/><Relationship Id="rId4" Type="http://schemas.openxmlformats.org/officeDocument/2006/relationships/oleObject" Target="../embeddings/oleObject51.bin"/><Relationship Id="rId9" Type="http://schemas.openxmlformats.org/officeDocument/2006/relationships/image" Target="../media/image342.sv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13" Type="http://schemas.openxmlformats.org/officeDocument/2006/relationships/tags" Target="../tags/tag418.xml"/><Relationship Id="rId18" Type="http://schemas.openxmlformats.org/officeDocument/2006/relationships/tags" Target="../tags/tag423.xml"/><Relationship Id="rId26" Type="http://schemas.openxmlformats.org/officeDocument/2006/relationships/tags" Target="../tags/tag431.xml"/><Relationship Id="rId39" Type="http://schemas.openxmlformats.org/officeDocument/2006/relationships/image" Target="../media/image345.svg"/><Relationship Id="rId21" Type="http://schemas.openxmlformats.org/officeDocument/2006/relationships/tags" Target="../tags/tag426.xml"/><Relationship Id="rId34" Type="http://schemas.openxmlformats.org/officeDocument/2006/relationships/tags" Target="../tags/tag439.xml"/><Relationship Id="rId42" Type="http://schemas.openxmlformats.org/officeDocument/2006/relationships/image" Target="../media/image348.svg"/><Relationship Id="rId7" Type="http://schemas.openxmlformats.org/officeDocument/2006/relationships/tags" Target="../tags/tag412.xml"/><Relationship Id="rId2" Type="http://schemas.openxmlformats.org/officeDocument/2006/relationships/tags" Target="../tags/tag407.xml"/><Relationship Id="rId16" Type="http://schemas.openxmlformats.org/officeDocument/2006/relationships/tags" Target="../tags/tag421.xml"/><Relationship Id="rId20" Type="http://schemas.openxmlformats.org/officeDocument/2006/relationships/tags" Target="../tags/tag425.xml"/><Relationship Id="rId29" Type="http://schemas.openxmlformats.org/officeDocument/2006/relationships/tags" Target="../tags/tag434.xml"/><Relationship Id="rId41" Type="http://schemas.openxmlformats.org/officeDocument/2006/relationships/image" Target="../media/image347.svg"/><Relationship Id="rId1" Type="http://schemas.openxmlformats.org/officeDocument/2006/relationships/tags" Target="../tags/tag406.xml"/><Relationship Id="rId6" Type="http://schemas.openxmlformats.org/officeDocument/2006/relationships/tags" Target="../tags/tag411.xml"/><Relationship Id="rId11" Type="http://schemas.openxmlformats.org/officeDocument/2006/relationships/tags" Target="../tags/tag416.xml"/><Relationship Id="rId24" Type="http://schemas.openxmlformats.org/officeDocument/2006/relationships/tags" Target="../tags/tag429.xml"/><Relationship Id="rId32" Type="http://schemas.openxmlformats.org/officeDocument/2006/relationships/tags" Target="../tags/tag437.xml"/><Relationship Id="rId37" Type="http://schemas.openxmlformats.org/officeDocument/2006/relationships/notesSlide" Target="../notesSlides/notesSlide43.xml"/><Relationship Id="rId40" Type="http://schemas.openxmlformats.org/officeDocument/2006/relationships/image" Target="../media/image346.svg"/><Relationship Id="rId5" Type="http://schemas.openxmlformats.org/officeDocument/2006/relationships/tags" Target="../tags/tag410.xml"/><Relationship Id="rId15" Type="http://schemas.openxmlformats.org/officeDocument/2006/relationships/tags" Target="../tags/tag420.xml"/><Relationship Id="rId23" Type="http://schemas.openxmlformats.org/officeDocument/2006/relationships/tags" Target="../tags/tag428.xml"/><Relationship Id="rId28" Type="http://schemas.openxmlformats.org/officeDocument/2006/relationships/tags" Target="../tags/tag433.xml"/><Relationship Id="rId36" Type="http://schemas.openxmlformats.org/officeDocument/2006/relationships/slideLayout" Target="../slideLayouts/slideLayout20.xml"/><Relationship Id="rId10" Type="http://schemas.openxmlformats.org/officeDocument/2006/relationships/tags" Target="../tags/tag415.xml"/><Relationship Id="rId19" Type="http://schemas.openxmlformats.org/officeDocument/2006/relationships/tags" Target="../tags/tag424.xml"/><Relationship Id="rId31" Type="http://schemas.openxmlformats.org/officeDocument/2006/relationships/tags" Target="../tags/tag436.xml"/><Relationship Id="rId44" Type="http://schemas.openxmlformats.org/officeDocument/2006/relationships/chart" Target="../charts/chart23.xml"/><Relationship Id="rId4" Type="http://schemas.openxmlformats.org/officeDocument/2006/relationships/tags" Target="../tags/tag409.xml"/><Relationship Id="rId9" Type="http://schemas.openxmlformats.org/officeDocument/2006/relationships/tags" Target="../tags/tag414.xml"/><Relationship Id="rId14" Type="http://schemas.openxmlformats.org/officeDocument/2006/relationships/tags" Target="../tags/tag419.xml"/><Relationship Id="rId22" Type="http://schemas.openxmlformats.org/officeDocument/2006/relationships/tags" Target="../tags/tag427.xml"/><Relationship Id="rId27" Type="http://schemas.openxmlformats.org/officeDocument/2006/relationships/tags" Target="../tags/tag432.xml"/><Relationship Id="rId30" Type="http://schemas.openxmlformats.org/officeDocument/2006/relationships/tags" Target="../tags/tag435.xml"/><Relationship Id="rId35" Type="http://schemas.openxmlformats.org/officeDocument/2006/relationships/tags" Target="../tags/tag440.xml"/><Relationship Id="rId43" Type="http://schemas.openxmlformats.org/officeDocument/2006/relationships/image" Target="../media/image349.svg"/><Relationship Id="rId8" Type="http://schemas.openxmlformats.org/officeDocument/2006/relationships/tags" Target="../tags/tag413.xml"/><Relationship Id="rId3" Type="http://schemas.openxmlformats.org/officeDocument/2006/relationships/tags" Target="../tags/tag408.xml"/><Relationship Id="rId12" Type="http://schemas.openxmlformats.org/officeDocument/2006/relationships/tags" Target="../tags/tag417.xml"/><Relationship Id="rId17" Type="http://schemas.openxmlformats.org/officeDocument/2006/relationships/tags" Target="../tags/tag422.xml"/><Relationship Id="rId25" Type="http://schemas.openxmlformats.org/officeDocument/2006/relationships/tags" Target="../tags/tag430.xml"/><Relationship Id="rId33" Type="http://schemas.openxmlformats.org/officeDocument/2006/relationships/tags" Target="../tags/tag438.xml"/><Relationship Id="rId38" Type="http://schemas.openxmlformats.org/officeDocument/2006/relationships/chart" Target="../charts/chart22.xml"/></Relationships>
</file>

<file path=ppt/slides/_rels/slide61.xml.rels><?xml version="1.0" encoding="UTF-8" standalone="yes"?>
<Relationships xmlns="http://schemas.openxmlformats.org/package/2006/relationships"><Relationship Id="rId8" Type="http://schemas.openxmlformats.org/officeDocument/2006/relationships/image" Target="../media/image352.svg"/><Relationship Id="rId3" Type="http://schemas.openxmlformats.org/officeDocument/2006/relationships/notesSlide" Target="../notesSlides/notesSlide44.xml"/><Relationship Id="rId7" Type="http://schemas.openxmlformats.org/officeDocument/2006/relationships/image" Target="../media/image351.svg"/><Relationship Id="rId2" Type="http://schemas.openxmlformats.org/officeDocument/2006/relationships/slideLayout" Target="../slideLayouts/slideLayout20.xml"/><Relationship Id="rId1" Type="http://schemas.openxmlformats.org/officeDocument/2006/relationships/tags" Target="../tags/tag441.xml"/><Relationship Id="rId6" Type="http://schemas.openxmlformats.org/officeDocument/2006/relationships/image" Target="../media/image350.svg"/><Relationship Id="rId11" Type="http://schemas.openxmlformats.org/officeDocument/2006/relationships/image" Target="../media/image355.svg"/><Relationship Id="rId5" Type="http://schemas.openxmlformats.org/officeDocument/2006/relationships/image" Target="../media/image337.emf"/><Relationship Id="rId10" Type="http://schemas.openxmlformats.org/officeDocument/2006/relationships/image" Target="../media/image354.svg"/><Relationship Id="rId4" Type="http://schemas.openxmlformats.org/officeDocument/2006/relationships/oleObject" Target="../embeddings/oleObject52.bin"/><Relationship Id="rId9" Type="http://schemas.openxmlformats.org/officeDocument/2006/relationships/image" Target="../media/image353.svg"/></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45.xml"/><Relationship Id="rId7" Type="http://schemas.openxmlformats.org/officeDocument/2006/relationships/image" Target="../media/image357.png"/><Relationship Id="rId2" Type="http://schemas.openxmlformats.org/officeDocument/2006/relationships/slideLayout" Target="../slideLayouts/slideLayout85.xml"/><Relationship Id="rId1" Type="http://schemas.openxmlformats.org/officeDocument/2006/relationships/tags" Target="../tags/tag442.xml"/><Relationship Id="rId6" Type="http://schemas.openxmlformats.org/officeDocument/2006/relationships/image" Target="../media/image356.png"/><Relationship Id="rId5" Type="http://schemas.openxmlformats.org/officeDocument/2006/relationships/image" Target="../media/image275.emf"/><Relationship Id="rId4" Type="http://schemas.openxmlformats.org/officeDocument/2006/relationships/oleObject" Target="../embeddings/oleObject53.bin"/></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8" Type="http://schemas.openxmlformats.org/officeDocument/2006/relationships/image" Target="../media/image360.svg"/><Relationship Id="rId3" Type="http://schemas.openxmlformats.org/officeDocument/2006/relationships/notesSlide" Target="../notesSlides/notesSlide46.xml"/><Relationship Id="rId7" Type="http://schemas.openxmlformats.org/officeDocument/2006/relationships/image" Target="../media/image359.svg"/><Relationship Id="rId2" Type="http://schemas.openxmlformats.org/officeDocument/2006/relationships/slideLayout" Target="../slideLayouts/slideLayout4.xml"/><Relationship Id="rId1" Type="http://schemas.openxmlformats.org/officeDocument/2006/relationships/tags" Target="../tags/tag443.xml"/><Relationship Id="rId6" Type="http://schemas.openxmlformats.org/officeDocument/2006/relationships/image" Target="../media/image358.svg"/><Relationship Id="rId5" Type="http://schemas.openxmlformats.org/officeDocument/2006/relationships/image" Target="../media/image278.emf"/><Relationship Id="rId4" Type="http://schemas.openxmlformats.org/officeDocument/2006/relationships/oleObject" Target="../embeddings/oleObject54.bin"/><Relationship Id="rId9" Type="http://schemas.openxmlformats.org/officeDocument/2006/relationships/image" Target="../media/image361.svg"/></Relationships>
</file>

<file path=ppt/slides/_rels/slide65.xml.rels><?xml version="1.0" encoding="UTF-8" standalone="yes"?>
<Relationships xmlns="http://schemas.openxmlformats.org/package/2006/relationships"><Relationship Id="rId8" Type="http://schemas.openxmlformats.org/officeDocument/2006/relationships/image" Target="../media/image363.png"/><Relationship Id="rId13" Type="http://schemas.openxmlformats.org/officeDocument/2006/relationships/image" Target="../media/image343.svg"/><Relationship Id="rId3" Type="http://schemas.openxmlformats.org/officeDocument/2006/relationships/notesSlide" Target="../notesSlides/notesSlide47.xml"/><Relationship Id="rId7" Type="http://schemas.openxmlformats.org/officeDocument/2006/relationships/image" Target="../media/image341.svg"/><Relationship Id="rId12" Type="http://schemas.openxmlformats.org/officeDocument/2006/relationships/image" Target="../media/image367.svg"/><Relationship Id="rId2" Type="http://schemas.openxmlformats.org/officeDocument/2006/relationships/slideLayout" Target="../slideLayouts/slideLayout45.xml"/><Relationship Id="rId1" Type="http://schemas.openxmlformats.org/officeDocument/2006/relationships/tags" Target="../tags/tag444.xml"/><Relationship Id="rId6" Type="http://schemas.openxmlformats.org/officeDocument/2006/relationships/image" Target="../media/image362.svg"/><Relationship Id="rId11" Type="http://schemas.openxmlformats.org/officeDocument/2006/relationships/image" Target="../media/image366.svg"/><Relationship Id="rId5" Type="http://schemas.openxmlformats.org/officeDocument/2006/relationships/image" Target="../media/image277.emf"/><Relationship Id="rId10" Type="http://schemas.openxmlformats.org/officeDocument/2006/relationships/image" Target="../media/image365.svg"/><Relationship Id="rId4" Type="http://schemas.openxmlformats.org/officeDocument/2006/relationships/oleObject" Target="../embeddings/oleObject55.bin"/><Relationship Id="rId9" Type="http://schemas.openxmlformats.org/officeDocument/2006/relationships/image" Target="../media/image364.sv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56.bin"/><Relationship Id="rId2" Type="http://schemas.openxmlformats.org/officeDocument/2006/relationships/slideLayout" Target="../slideLayouts/slideLayout106.xml"/><Relationship Id="rId1" Type="http://schemas.openxmlformats.org/officeDocument/2006/relationships/tags" Target="../tags/tag445.xml"/><Relationship Id="rId4" Type="http://schemas.openxmlformats.org/officeDocument/2006/relationships/image" Target="../media/image277.emf"/></Relationships>
</file>

<file path=ppt/slides/_rels/slide68.xml.rels><?xml version="1.0" encoding="UTF-8" standalone="yes"?>
<Relationships xmlns="http://schemas.openxmlformats.org/package/2006/relationships"><Relationship Id="rId3" Type="http://schemas.openxmlformats.org/officeDocument/2006/relationships/oleObject" Target="../embeddings/oleObject57.bin"/><Relationship Id="rId7" Type="http://schemas.openxmlformats.org/officeDocument/2006/relationships/chart" Target="../charts/chart26.xml"/><Relationship Id="rId2" Type="http://schemas.openxmlformats.org/officeDocument/2006/relationships/slideLayout" Target="../slideLayouts/slideLayout126.xml"/><Relationship Id="rId1" Type="http://schemas.openxmlformats.org/officeDocument/2006/relationships/tags" Target="../tags/tag446.xml"/><Relationship Id="rId6" Type="http://schemas.openxmlformats.org/officeDocument/2006/relationships/chart" Target="../charts/chart25.xml"/><Relationship Id="rId5" Type="http://schemas.openxmlformats.org/officeDocument/2006/relationships/chart" Target="../charts/chart24.xml"/><Relationship Id="rId4" Type="http://schemas.openxmlformats.org/officeDocument/2006/relationships/image" Target="../media/image3.emf"/></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86.xml"/><Relationship Id="rId1" Type="http://schemas.openxmlformats.org/officeDocument/2006/relationships/tags" Target="../tags/tag447.xml"/><Relationship Id="rId5" Type="http://schemas.openxmlformats.org/officeDocument/2006/relationships/image" Target="../media/image278.emf"/><Relationship Id="rId4" Type="http://schemas.openxmlformats.org/officeDocument/2006/relationships/oleObject" Target="../embeddings/oleObject58.bin"/></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85.xml"/><Relationship Id="rId1" Type="http://schemas.openxmlformats.org/officeDocument/2006/relationships/tags" Target="../tags/tag448.xml"/><Relationship Id="rId5" Type="http://schemas.openxmlformats.org/officeDocument/2006/relationships/image" Target="../media/image3.emf"/><Relationship Id="rId4" Type="http://schemas.openxmlformats.org/officeDocument/2006/relationships/oleObject" Target="../embeddings/oleObject59.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ED2E0C4-BE8E-7D4B-57EC-509CC24142C7}"/>
              </a:ext>
            </a:extLst>
          </p:cNvPr>
          <p:cNvSpPr>
            <a:spLocks noGrp="1"/>
          </p:cNvSpPr>
          <p:nvPr>
            <p:ph type="body" sz="quarter" idx="10"/>
          </p:nvPr>
        </p:nvSpPr>
        <p:spPr/>
        <p:txBody>
          <a:bodyPr/>
          <a:lstStyle/>
          <a:p>
            <a:r>
              <a:rPr lang="en-CA"/>
              <a:t>Slide collection </a:t>
            </a:r>
          </a:p>
        </p:txBody>
      </p:sp>
      <p:sp>
        <p:nvSpPr>
          <p:cNvPr id="3" name="Text Placeholder 2">
            <a:extLst>
              <a:ext uri="{FF2B5EF4-FFF2-40B4-BE49-F238E27FC236}">
                <a16:creationId xmlns:a16="http://schemas.microsoft.com/office/drawing/2014/main" id="{317F5EE9-AC9C-1AB4-180F-B82BE9626843}"/>
              </a:ext>
            </a:extLst>
          </p:cNvPr>
          <p:cNvSpPr>
            <a:spLocks noGrp="1"/>
          </p:cNvSpPr>
          <p:nvPr>
            <p:ph type="body" sz="quarter" idx="11"/>
          </p:nvPr>
        </p:nvSpPr>
        <p:spPr/>
        <p:txBody>
          <a:bodyPr/>
          <a:lstStyle/>
          <a:p>
            <a:r>
              <a:rPr lang="en-CA"/>
              <a:t>Enriched Context for AI model training</a:t>
            </a:r>
          </a:p>
        </p:txBody>
      </p:sp>
      <p:sp>
        <p:nvSpPr>
          <p:cNvPr id="4" name="Text Placeholder 3">
            <a:extLst>
              <a:ext uri="{FF2B5EF4-FFF2-40B4-BE49-F238E27FC236}">
                <a16:creationId xmlns:a16="http://schemas.microsoft.com/office/drawing/2014/main" id="{B1DE9CF8-CC90-6E7A-9850-C6AA6C3D93E0}"/>
              </a:ext>
            </a:extLst>
          </p:cNvPr>
          <p:cNvSpPr>
            <a:spLocks noGrp="1"/>
          </p:cNvSpPr>
          <p:nvPr>
            <p:ph type="body" sz="quarter" idx="12"/>
          </p:nvPr>
        </p:nvSpPr>
        <p:spPr/>
        <p:txBody>
          <a:bodyPr/>
          <a:lstStyle/>
          <a:p>
            <a:r>
              <a:rPr lang="en-CA"/>
              <a:t>May 2026</a:t>
            </a:r>
          </a:p>
        </p:txBody>
      </p:sp>
    </p:spTree>
    <p:extLst>
      <p:ext uri="{BB962C8B-B14F-4D97-AF65-F5344CB8AC3E}">
        <p14:creationId xmlns:p14="http://schemas.microsoft.com/office/powerpoint/2010/main" val="25562630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CE21879-9C8B-30D0-A73C-B1384C0B8515}"/>
              </a:ext>
            </a:extLst>
          </p:cNvPr>
          <p:cNvGraphicFramePr>
            <a:graphicFrameLocks/>
          </p:cNvGraphicFramePr>
          <p:nvPr>
            <p:custDataLst>
              <p:tags r:id="rId1"/>
            </p:custDataLst>
            <p:extLst>
              <p:ext uri="{D42A27DB-BD31-4B8C-83A1-F6EECF244321}">
                <p14:modId xmlns:p14="http://schemas.microsoft.com/office/powerpoint/2010/main" val="36450137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7" name="think-cell data - do not delete" hidden="1">
                        <a:extLst>
                          <a:ext uri="{FF2B5EF4-FFF2-40B4-BE49-F238E27FC236}">
                            <a16:creationId xmlns:a16="http://schemas.microsoft.com/office/drawing/2014/main" id="{0CE21879-9C8B-30D0-A73C-B1384C0B851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248D3AFF-DB78-D75F-70A4-A1EC638A9A3A}"/>
              </a:ext>
            </a:extLst>
          </p:cNvPr>
          <p:cNvSpPr>
            <a:spLocks noGrp="1"/>
          </p:cNvSpPr>
          <p:nvPr>
            <p:ph type="title"/>
          </p:nvPr>
        </p:nvSpPr>
        <p:spPr/>
        <p:txBody>
          <a:bodyPr vert="horz" rIns="0"/>
          <a:lstStyle/>
          <a:p>
            <a:r>
              <a:rPr lang="en-US"/>
              <a:t>PLEASE READ:  To enrich the context of our slides for AI training purposes we have identified 6-9 context variables that will be useful to collect</a:t>
            </a:r>
            <a:endParaRPr lang="en-CA"/>
          </a:p>
        </p:txBody>
      </p:sp>
      <p:sp>
        <p:nvSpPr>
          <p:cNvPr id="3" name="Slide Number Placeholder 2">
            <a:extLst>
              <a:ext uri="{FF2B5EF4-FFF2-40B4-BE49-F238E27FC236}">
                <a16:creationId xmlns:a16="http://schemas.microsoft.com/office/drawing/2014/main" id="{75BE4A78-7C71-6DF0-8A09-7B9258172E4C}"/>
              </a:ext>
            </a:extLst>
          </p:cNvPr>
          <p:cNvSpPr>
            <a:spLocks noGrp="1"/>
          </p:cNvSpPr>
          <p:nvPr>
            <p:ph type="sldNum" sz="quarter" idx="10"/>
          </p:nvPr>
        </p:nvSpPr>
        <p:spPr/>
        <p:txBody>
          <a:bodyPr/>
          <a:lstStyle/>
          <a:p>
            <a:fld id="{95D835A7-12B2-4074-8DA2-469A8808C237}" type="slidenum">
              <a:rPr lang="en-CA" smtClean="0"/>
              <a:pPr/>
              <a:t>2</a:t>
            </a:fld>
            <a:endParaRPr lang="en-CA"/>
          </a:p>
        </p:txBody>
      </p:sp>
      <p:sp>
        <p:nvSpPr>
          <p:cNvPr id="6" name="Text Placeholder 5">
            <a:extLst>
              <a:ext uri="{FF2B5EF4-FFF2-40B4-BE49-F238E27FC236}">
                <a16:creationId xmlns:a16="http://schemas.microsoft.com/office/drawing/2014/main" id="{479120F3-6D9E-D6C0-9C97-B43465300C71}"/>
              </a:ext>
            </a:extLst>
          </p:cNvPr>
          <p:cNvSpPr>
            <a:spLocks noGrp="1"/>
          </p:cNvSpPr>
          <p:nvPr>
            <p:ph type="body" sz="quarter" idx="11"/>
          </p:nvPr>
        </p:nvSpPr>
        <p:spPr/>
        <p:txBody>
          <a:bodyPr/>
          <a:lstStyle/>
          <a:p>
            <a:endParaRPr lang="en-CA"/>
          </a:p>
        </p:txBody>
      </p:sp>
      <p:graphicFrame>
        <p:nvGraphicFramePr>
          <p:cNvPr id="8" name="Table 7">
            <a:extLst>
              <a:ext uri="{FF2B5EF4-FFF2-40B4-BE49-F238E27FC236}">
                <a16:creationId xmlns:a16="http://schemas.microsoft.com/office/drawing/2014/main" id="{C148CE1E-CCEC-8FFC-D1E2-B7A7ED09C76D}"/>
              </a:ext>
            </a:extLst>
          </p:cNvPr>
          <p:cNvGraphicFramePr>
            <a:graphicFrameLocks noGrp="1"/>
          </p:cNvGraphicFramePr>
          <p:nvPr>
            <p:extLst>
              <p:ext uri="{D42A27DB-BD31-4B8C-83A1-F6EECF244321}">
                <p14:modId xmlns:p14="http://schemas.microsoft.com/office/powerpoint/2010/main" val="3059343794"/>
              </p:ext>
            </p:extLst>
          </p:nvPr>
        </p:nvGraphicFramePr>
        <p:xfrm>
          <a:off x="505305" y="2267154"/>
          <a:ext cx="11170757" cy="4193689"/>
        </p:xfrm>
        <a:graphic>
          <a:graphicData uri="http://schemas.openxmlformats.org/drawingml/2006/table">
            <a:tbl>
              <a:tblPr firstRow="1" bandRow="1">
                <a:tableStyleId>{5C22544A-7EE6-4342-B048-85BDC9FD1C3A}</a:tableStyleId>
              </a:tblPr>
              <a:tblGrid>
                <a:gridCol w="1572983">
                  <a:extLst>
                    <a:ext uri="{9D8B030D-6E8A-4147-A177-3AD203B41FA5}">
                      <a16:colId xmlns:a16="http://schemas.microsoft.com/office/drawing/2014/main" val="3275072926"/>
                    </a:ext>
                  </a:extLst>
                </a:gridCol>
                <a:gridCol w="1354723">
                  <a:extLst>
                    <a:ext uri="{9D8B030D-6E8A-4147-A177-3AD203B41FA5}">
                      <a16:colId xmlns:a16="http://schemas.microsoft.com/office/drawing/2014/main" val="2067692575"/>
                    </a:ext>
                  </a:extLst>
                </a:gridCol>
                <a:gridCol w="8243051">
                  <a:extLst>
                    <a:ext uri="{9D8B030D-6E8A-4147-A177-3AD203B41FA5}">
                      <a16:colId xmlns:a16="http://schemas.microsoft.com/office/drawing/2014/main" val="3778858316"/>
                    </a:ext>
                  </a:extLst>
                </a:gridCol>
              </a:tblGrid>
              <a:tr h="273501">
                <a:tc>
                  <a:txBody>
                    <a:bodyPr/>
                    <a:lstStyle/>
                    <a:p>
                      <a:r>
                        <a:rPr lang="en-CA" sz="1200">
                          <a:solidFill>
                            <a:schemeClr val="tx1"/>
                          </a:solidFill>
                        </a:rPr>
                        <a:t>Importance</a:t>
                      </a:r>
                    </a:p>
                  </a:txBody>
                  <a:tcPr>
                    <a:solidFill>
                      <a:srgbClr val="F5EFE8"/>
                    </a:solidFill>
                  </a:tcPr>
                </a:tc>
                <a:tc>
                  <a:txBody>
                    <a:bodyPr/>
                    <a:lstStyle/>
                    <a:p>
                      <a:r>
                        <a:rPr lang="en-CA" sz="1200">
                          <a:solidFill>
                            <a:schemeClr val="tx1"/>
                          </a:solidFill>
                        </a:rPr>
                        <a:t>Context Data</a:t>
                      </a:r>
                    </a:p>
                  </a:txBody>
                  <a:tcPr>
                    <a:solidFill>
                      <a:srgbClr val="F5EFE8"/>
                    </a:solidFill>
                  </a:tcPr>
                </a:tc>
                <a:tc>
                  <a:txBody>
                    <a:bodyPr/>
                    <a:lstStyle/>
                    <a:p>
                      <a:r>
                        <a:rPr lang="en-CA" sz="1200">
                          <a:solidFill>
                            <a:schemeClr val="tx1"/>
                          </a:solidFill>
                        </a:rPr>
                        <a:t>Question this answers Instructions</a:t>
                      </a:r>
                    </a:p>
                  </a:txBody>
                  <a:tcPr>
                    <a:solidFill>
                      <a:srgbClr val="F5EFE8"/>
                    </a:solidFill>
                  </a:tcPr>
                </a:tc>
                <a:extLst>
                  <a:ext uri="{0D108BD9-81ED-4DB2-BD59-A6C34878D82A}">
                    <a16:rowId xmlns:a16="http://schemas.microsoft.com/office/drawing/2014/main" val="2314808853"/>
                  </a:ext>
                </a:extLst>
              </a:tr>
              <a:tr h="428622">
                <a:tc rowSpan="6">
                  <a:txBody>
                    <a:bodyPr/>
                    <a:lstStyle/>
                    <a:p>
                      <a:r>
                        <a:rPr lang="en-CA" sz="1200" b="1"/>
                        <a:t>Must Have</a:t>
                      </a:r>
                    </a:p>
                  </a:txBody>
                  <a:tcPr>
                    <a:solidFill>
                      <a:srgbClr val="D8D6CA"/>
                    </a:solidFill>
                  </a:tcPr>
                </a:tc>
                <a:tc>
                  <a:txBody>
                    <a:bodyPr/>
                    <a:lstStyle/>
                    <a:p>
                      <a:r>
                        <a:rPr lang="en-CA" sz="1200"/>
                        <a:t>Typical name</a:t>
                      </a:r>
                    </a:p>
                  </a:txBody>
                  <a:tcPr>
                    <a:solidFill>
                      <a:srgbClr val="EDECE7"/>
                    </a:solidFill>
                  </a:tcPr>
                </a:tc>
                <a:tc>
                  <a:txBody>
                    <a:bodyPr/>
                    <a:lstStyle/>
                    <a:p>
                      <a:r>
                        <a:rPr lang="en-CA" sz="1200"/>
                        <a:t>The name by which we would colloquially describe the slide / content</a:t>
                      </a:r>
                    </a:p>
                  </a:txBody>
                  <a:tcPr>
                    <a:solidFill>
                      <a:schemeClr val="bg1"/>
                    </a:solidFill>
                  </a:tcPr>
                </a:tc>
                <a:extLst>
                  <a:ext uri="{0D108BD9-81ED-4DB2-BD59-A6C34878D82A}">
                    <a16:rowId xmlns:a16="http://schemas.microsoft.com/office/drawing/2014/main" val="2623764049"/>
                  </a:ext>
                </a:extLst>
              </a:tr>
              <a:tr h="428622">
                <a:tc vMerge="1">
                  <a:txBody>
                    <a:bodyPr/>
                    <a:lstStyle/>
                    <a:p>
                      <a:endParaRPr lang="en-CA" sz="1200"/>
                    </a:p>
                  </a:txBody>
                  <a:tcPr/>
                </a:tc>
                <a:tc>
                  <a:txBody>
                    <a:bodyPr/>
                    <a:lstStyle/>
                    <a:p>
                      <a:r>
                        <a:rPr lang="en-CA" sz="1200"/>
                        <a:t>Target Audience</a:t>
                      </a:r>
                    </a:p>
                  </a:txBody>
                  <a:tcPr>
                    <a:solidFill>
                      <a:srgbClr val="EDECE7"/>
                    </a:solidFill>
                  </a:tcPr>
                </a:tc>
                <a:tc>
                  <a:txBody>
                    <a:bodyPr/>
                    <a:lstStyle/>
                    <a:p>
                      <a:r>
                        <a:rPr lang="en-US" sz="1200"/>
                        <a:t>Who are the senior most stakeholder that would see this slide?</a:t>
                      </a:r>
                      <a:endParaRPr lang="en-CA" sz="1200"/>
                    </a:p>
                  </a:txBody>
                  <a:tcPr>
                    <a:solidFill>
                      <a:schemeClr val="bg1">
                        <a:lumMod val="95000"/>
                      </a:schemeClr>
                    </a:solidFill>
                  </a:tcPr>
                </a:tc>
                <a:extLst>
                  <a:ext uri="{0D108BD9-81ED-4DB2-BD59-A6C34878D82A}">
                    <a16:rowId xmlns:a16="http://schemas.microsoft.com/office/drawing/2014/main" val="4138154266"/>
                  </a:ext>
                </a:extLst>
              </a:tr>
              <a:tr h="236149">
                <a:tc vMerge="1">
                  <a:txBody>
                    <a:bodyPr/>
                    <a:lstStyle/>
                    <a:p>
                      <a:endParaRPr lang="en-CA" sz="1200"/>
                    </a:p>
                  </a:txBody>
                  <a:tcPr/>
                </a:tc>
                <a:tc>
                  <a:txBody>
                    <a:bodyPr/>
                    <a:lstStyle/>
                    <a:p>
                      <a:r>
                        <a:rPr lang="en-CA" sz="1200"/>
                        <a:t>Target Forum</a:t>
                      </a:r>
                    </a:p>
                  </a:txBody>
                  <a:tcPr>
                    <a:solidFill>
                      <a:srgbClr val="EDECE7"/>
                    </a:solidFill>
                  </a:tcPr>
                </a:tc>
                <a:tc>
                  <a:txBody>
                    <a:bodyPr/>
                    <a:lstStyle/>
                    <a:p>
                      <a:r>
                        <a:rPr lang="en-CA" sz="1200"/>
                        <a:t>What is the typical forum this slide would be used at?</a:t>
                      </a:r>
                    </a:p>
                  </a:txBody>
                  <a:tcPr>
                    <a:solidFill>
                      <a:schemeClr val="bg1"/>
                    </a:solidFill>
                  </a:tcPr>
                </a:tc>
                <a:extLst>
                  <a:ext uri="{0D108BD9-81ED-4DB2-BD59-A6C34878D82A}">
                    <a16:rowId xmlns:a16="http://schemas.microsoft.com/office/drawing/2014/main" val="2330623694"/>
                  </a:ext>
                </a:extLst>
              </a:tr>
              <a:tr h="428622">
                <a:tc vMerge="1">
                  <a:txBody>
                    <a:bodyPr/>
                    <a:lstStyle/>
                    <a:p>
                      <a:endParaRPr lang="en-CA" sz="1200"/>
                    </a:p>
                  </a:txBody>
                  <a:tcPr/>
                </a:tc>
                <a:tc>
                  <a:txBody>
                    <a:bodyPr/>
                    <a:lstStyle/>
                    <a:p>
                      <a:r>
                        <a:rPr lang="en-CA" sz="1200"/>
                        <a:t>Slide Purpose</a:t>
                      </a:r>
                    </a:p>
                  </a:txBody>
                  <a:tcPr>
                    <a:solidFill>
                      <a:srgbClr val="EDECE7"/>
                    </a:solidFill>
                  </a:tcPr>
                </a:tc>
                <a:tc>
                  <a:txBody>
                    <a:bodyPr/>
                    <a:lstStyle/>
                    <a:p>
                      <a:r>
                        <a:rPr lang="en-US" sz="1200"/>
                        <a:t>What is the communication intent (inform, persuade, compare, etc.)?</a:t>
                      </a:r>
                      <a:endParaRPr lang="en-CA" sz="1200"/>
                    </a:p>
                  </a:txBody>
                  <a:tcPr>
                    <a:solidFill>
                      <a:schemeClr val="bg1">
                        <a:lumMod val="95000"/>
                      </a:schemeClr>
                    </a:solidFill>
                  </a:tcPr>
                </a:tc>
                <a:extLst>
                  <a:ext uri="{0D108BD9-81ED-4DB2-BD59-A6C34878D82A}">
                    <a16:rowId xmlns:a16="http://schemas.microsoft.com/office/drawing/2014/main" val="2717886018"/>
                  </a:ext>
                </a:extLst>
              </a:tr>
              <a:tr h="531335">
                <a:tc vMerge="1">
                  <a:txBody>
                    <a:bodyPr/>
                    <a:lstStyle/>
                    <a:p>
                      <a:endParaRPr lang="en-CA" sz="1200"/>
                    </a:p>
                  </a:txBody>
                  <a:tcPr/>
                </a:tc>
                <a:tc>
                  <a:txBody>
                    <a:bodyPr/>
                    <a:lstStyle/>
                    <a:p>
                      <a:r>
                        <a:rPr lang="en-CA" sz="1200"/>
                        <a:t>Key Takeaway</a:t>
                      </a:r>
                    </a:p>
                  </a:txBody>
                  <a:tcPr>
                    <a:solidFill>
                      <a:srgbClr val="EDECE7"/>
                    </a:solidFill>
                  </a:tcPr>
                </a:tc>
                <a:tc>
                  <a:txBody>
                    <a:bodyPr/>
                    <a:lstStyle/>
                    <a:p>
                      <a:r>
                        <a:rPr lang="en-CA" sz="1200"/>
                        <a:t>What is the one sentence the audience should take away from this slide?</a:t>
                      </a:r>
                    </a:p>
                  </a:txBody>
                  <a:tcPr>
                    <a:solidFill>
                      <a:schemeClr val="bg1"/>
                    </a:solidFill>
                  </a:tcPr>
                </a:tc>
                <a:extLst>
                  <a:ext uri="{0D108BD9-81ED-4DB2-BD59-A6C34878D82A}">
                    <a16:rowId xmlns:a16="http://schemas.microsoft.com/office/drawing/2014/main" val="799126029"/>
                  </a:ext>
                </a:extLst>
              </a:tr>
              <a:tr h="428622">
                <a:tc vMerge="1">
                  <a:txBody>
                    <a:bodyPr/>
                    <a:lstStyle/>
                    <a:p>
                      <a:endParaRPr lang="en-CA" sz="1200"/>
                    </a:p>
                  </a:txBody>
                  <a:tcPr/>
                </a:tc>
                <a:tc>
                  <a:txBody>
                    <a:bodyPr/>
                    <a:lstStyle/>
                    <a:p>
                      <a:r>
                        <a:rPr lang="en-CA" sz="1200"/>
                        <a:t>Content Type</a:t>
                      </a:r>
                    </a:p>
                  </a:txBody>
                  <a:tcPr>
                    <a:solidFill>
                      <a:srgbClr val="EDECE7"/>
                    </a:solid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CA" sz="1200"/>
                        <a:t>What is the structural nature of the content (data, comparison, timeline, framework, org. chart etc.)?</a:t>
                      </a:r>
                    </a:p>
                  </a:txBody>
                  <a:tcPr>
                    <a:solidFill>
                      <a:schemeClr val="bg1">
                        <a:lumMod val="95000"/>
                      </a:schemeClr>
                    </a:solidFill>
                  </a:tcPr>
                </a:tc>
                <a:extLst>
                  <a:ext uri="{0D108BD9-81ED-4DB2-BD59-A6C34878D82A}">
                    <a16:rowId xmlns:a16="http://schemas.microsoft.com/office/drawing/2014/main" val="3155408236"/>
                  </a:ext>
                </a:extLst>
              </a:tr>
              <a:tr h="410691">
                <a:tc rowSpan="3">
                  <a:txBody>
                    <a:bodyPr/>
                    <a:lstStyle/>
                    <a:p>
                      <a:r>
                        <a:rPr lang="en-CA" sz="1200" b="1"/>
                        <a:t>Nice to Have</a:t>
                      </a:r>
                    </a:p>
                  </a:txBody>
                  <a:tcPr>
                    <a:solidFill>
                      <a:srgbClr val="D8D6CA"/>
                    </a:solidFill>
                  </a:tcPr>
                </a:tc>
                <a:tc>
                  <a:txBody>
                    <a:bodyPr/>
                    <a:lstStyle/>
                    <a:p>
                      <a:r>
                        <a:rPr lang="en-CA" sz="1200"/>
                        <a:t>Usage</a:t>
                      </a:r>
                    </a:p>
                  </a:txBody>
                  <a:tcPr>
                    <a:solidFill>
                      <a:srgbClr val="EDECE7"/>
                    </a:solidFill>
                  </a:tcPr>
                </a:tc>
                <a:tc>
                  <a:txBody>
                    <a:bodyPr/>
                    <a:lstStyle/>
                    <a:p>
                      <a:r>
                        <a:rPr lang="en-CA" sz="1200"/>
                        <a:t>How will it be used?</a:t>
                      </a:r>
                    </a:p>
                  </a:txBody>
                  <a:tcPr>
                    <a:solidFill>
                      <a:schemeClr val="bg1"/>
                    </a:solidFill>
                  </a:tcPr>
                </a:tc>
                <a:extLst>
                  <a:ext uri="{0D108BD9-81ED-4DB2-BD59-A6C34878D82A}">
                    <a16:rowId xmlns:a16="http://schemas.microsoft.com/office/drawing/2014/main" val="1859614580"/>
                  </a:ext>
                </a:extLst>
              </a:tr>
              <a:tr h="531335">
                <a:tc vMerge="1">
                  <a:txBody>
                    <a:bodyPr/>
                    <a:lstStyle/>
                    <a:p>
                      <a:endParaRPr lang="en-CA" sz="1200"/>
                    </a:p>
                  </a:txBody>
                  <a:tcPr/>
                </a:tc>
                <a:tc>
                  <a:txBody>
                    <a:bodyPr/>
                    <a:lstStyle/>
                    <a:p>
                      <a:r>
                        <a:rPr lang="en-CA" sz="1200"/>
                        <a:t>Position in Narrative</a:t>
                      </a:r>
                    </a:p>
                  </a:txBody>
                  <a:tcPr>
                    <a:solidFill>
                      <a:srgbClr val="EDECE7"/>
                    </a:solid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CA" sz="1200"/>
                        <a:t>Where did this fall in the narrative arc (Context, call-to-action, Hypothesis / Answer First / Framework, Evidence etc.)? </a:t>
                      </a:r>
                    </a:p>
                  </a:txBody>
                  <a:tcPr>
                    <a:solidFill>
                      <a:schemeClr val="bg1">
                        <a:lumMod val="95000"/>
                      </a:schemeClr>
                    </a:solidFill>
                  </a:tcPr>
                </a:tc>
                <a:extLst>
                  <a:ext uri="{0D108BD9-81ED-4DB2-BD59-A6C34878D82A}">
                    <a16:rowId xmlns:a16="http://schemas.microsoft.com/office/drawing/2014/main" val="1715889479"/>
                  </a:ext>
                </a:extLst>
              </a:tr>
              <a:tr h="383742">
                <a:tc vMerge="1">
                  <a:txBody>
                    <a:bodyPr/>
                    <a:lstStyle/>
                    <a:p>
                      <a:endParaRPr lang="en-CA" sz="1200"/>
                    </a:p>
                  </a:txBody>
                  <a:tcPr/>
                </a:tc>
                <a:tc>
                  <a:txBody>
                    <a:bodyPr/>
                    <a:lstStyle/>
                    <a:p>
                      <a:r>
                        <a:rPr lang="en-CA" sz="1200"/>
                        <a:t>Information Density</a:t>
                      </a:r>
                    </a:p>
                  </a:txBody>
                  <a:tcPr>
                    <a:solidFill>
                      <a:srgbClr val="EDECE7"/>
                    </a:solid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CA" sz="1200"/>
                        <a:t>What is the detail for an audience to grasp (single big message  vs Data/Reference Slide)? </a:t>
                      </a:r>
                    </a:p>
                  </a:txBody>
                  <a:tcPr>
                    <a:solidFill>
                      <a:schemeClr val="bg1"/>
                    </a:solidFill>
                  </a:tcPr>
                </a:tc>
                <a:extLst>
                  <a:ext uri="{0D108BD9-81ED-4DB2-BD59-A6C34878D82A}">
                    <a16:rowId xmlns:a16="http://schemas.microsoft.com/office/drawing/2014/main" val="3784818228"/>
                  </a:ext>
                </a:extLst>
              </a:tr>
            </a:tbl>
          </a:graphicData>
        </a:graphic>
      </p:graphicFrame>
      <p:sp>
        <p:nvSpPr>
          <p:cNvPr id="12" name="TextBox 11">
            <a:extLst>
              <a:ext uri="{FF2B5EF4-FFF2-40B4-BE49-F238E27FC236}">
                <a16:creationId xmlns:a16="http://schemas.microsoft.com/office/drawing/2014/main" id="{EF1AF8C1-541E-BC79-D186-FA66BB853067}"/>
              </a:ext>
            </a:extLst>
          </p:cNvPr>
          <p:cNvSpPr txBox="1"/>
          <p:nvPr/>
        </p:nvSpPr>
        <p:spPr>
          <a:xfrm>
            <a:off x="515938" y="1438307"/>
            <a:ext cx="11160125" cy="646331"/>
          </a:xfrm>
          <a:prstGeom prst="rect">
            <a:avLst/>
          </a:prstGeom>
          <a:noFill/>
        </p:spPr>
        <p:txBody>
          <a:bodyPr wrap="square" rtlCol="0">
            <a:spAutoFit/>
          </a:bodyPr>
          <a:lstStyle/>
          <a:p>
            <a:r>
              <a:rPr lang="en-CA" sz="1200" b="1" i="1"/>
              <a:t>INSTRUCTIONS: </a:t>
            </a:r>
            <a:r>
              <a:rPr lang="en-CA" sz="1200" i="1"/>
              <a:t>We are collecting additional examples of client ready slides to try and train a purpose-built AI model on how to build strategy grade presentations/slides. In order for the model to really learn how we build slides and to ensure it understands the context we want to enrich each slide with context to help the AI not just understand what to say but how to say it. Please, add the below context to the speaker notes for each slide you add. </a:t>
            </a:r>
            <a:r>
              <a:rPr lang="en-CA" sz="1200" b="1" i="1"/>
              <a:t>See Slide 6 for an example</a:t>
            </a:r>
            <a:endParaRPr lang="en-CA" b="1" i="1"/>
          </a:p>
        </p:txBody>
      </p:sp>
    </p:spTree>
    <p:extLst>
      <p:ext uri="{BB962C8B-B14F-4D97-AF65-F5344CB8AC3E}">
        <p14:creationId xmlns:p14="http://schemas.microsoft.com/office/powerpoint/2010/main" val="376609425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515940" y="400000"/>
            <a:ext cx="11160124" cy="520000"/>
          </a:xfrm>
          <a:prstGeom prst="rect">
            <a:avLst/>
          </a:prstGeom>
          <a:noFill/>
          <a:ln>
            <a:noFill/>
          </a:ln>
        </p:spPr>
        <p:txBody>
          <a:bodyPr wrap="square" anchor="b">
            <a:noAutofit/>
          </a:bodyPr>
          <a:lstStyle/>
          <a:p>
            <a:pPr algn="l"/>
            <a:r>
              <a:rPr lang="en-CA" sz="2200" b="1">
                <a:solidFill>
                  <a:schemeClr val="tx1"/>
                </a:solidFill>
                <a:latin typeface="Scotia" panose="020B0503020203020204" pitchFamily="34" charset="0"/>
                <a:ea typeface="Scotia" panose="020B0503020203020204" pitchFamily="34" charset="0"/>
              </a:rPr>
              <a:t>Table of Contents</a:t>
            </a:r>
          </a:p>
        </p:txBody>
      </p:sp>
      <p:sp>
        <p:nvSpPr>
          <p:cNvPr id="3" name="Slide Number"/>
          <p:cNvSpPr txBox="1"/>
          <p:nvPr/>
        </p:nvSpPr>
        <p:spPr>
          <a:xfrm>
            <a:off x="11231211" y="338582"/>
            <a:ext cx="435865" cy="180000"/>
          </a:xfrm>
          <a:prstGeom prst="rect">
            <a:avLst/>
          </a:prstGeom>
          <a:noFill/>
          <a:ln>
            <a:noFill/>
          </a:ln>
        </p:spPr>
        <p:txBody>
          <a:bodyPr/>
          <a:lstStyle/>
          <a:p>
            <a:fld id="{95D835A7-12B2-4074-8DA2-469A8808C237}" type="slidenum">
              <a:rPr lang="en-CA" sz="1200" smtClean="0">
                <a:latin typeface="Scotia Light" panose="020B0403020203020204" pitchFamily="34" charset="0"/>
              </a:rPr>
              <a:pPr/>
              <a:t>3</a:t>
            </a:fld>
            <a:endParaRPr lang="en-CA" sz="1200"/>
          </a:p>
        </p:txBody>
      </p:sp>
      <p:graphicFrame>
        <p:nvGraphicFramePr>
          <p:cNvPr id="4" name="Table 4"/>
          <p:cNvGraphicFramePr>
            <a:graphicFrameLocks noGrp="1"/>
          </p:cNvGraphicFramePr>
          <p:nvPr>
            <p:extLst>
              <p:ext uri="{D42A27DB-BD31-4B8C-83A1-F6EECF244321}">
                <p14:modId xmlns:p14="http://schemas.microsoft.com/office/powerpoint/2010/main" val="3345828796"/>
              </p:ext>
            </p:extLst>
          </p:nvPr>
        </p:nvGraphicFramePr>
        <p:xfrm>
          <a:off x="515940" y="1050000"/>
          <a:ext cx="11160124" cy="5100000"/>
        </p:xfrm>
        <a:graphic>
          <a:graphicData uri="http://schemas.openxmlformats.org/drawingml/2006/table">
            <a:tbl>
              <a:tblPr>
                <a:noFill/>
              </a:tblPr>
              <a:tblGrid>
                <a:gridCol w="11160124">
                  <a:extLst>
                    <a:ext uri="{9D8B030D-6E8A-4147-A177-3AD203B41FA5}">
                      <a16:colId xmlns:a16="http://schemas.microsoft.com/office/drawing/2014/main" val="20000"/>
                    </a:ext>
                  </a:extLst>
                </a:gridCol>
              </a:tblGrid>
              <a:tr h="340000">
                <a:tc>
                  <a:txBody>
                    <a:bodyPr/>
                    <a:lstStyle/>
                    <a:p>
                      <a:pPr algn="l"/>
                      <a:r>
                        <a:rPr lang="en-CA" sz="1200" b="1">
                          <a:solidFill>
                            <a:schemeClr val="tx1"/>
                          </a:solidFill>
                          <a:latin typeface="Scotia" panose="020B0503020203020204" pitchFamily="34" charset="0"/>
                        </a:rPr>
                        <a:t>01. </a:t>
                      </a:r>
                      <a:r>
                        <a:rPr lang="en-CA" sz="1200" b="0">
                          <a:solidFill>
                            <a:schemeClr val="tx1"/>
                          </a:solidFill>
                          <a:latin typeface="Scotia" panose="020B0503020203020204" pitchFamily="34" charset="0"/>
                        </a:rPr>
                        <a:t>Executive Summary</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0"/>
                  </a:ext>
                </a:extLst>
              </a:tr>
              <a:tr h="340000">
                <a:tc>
                  <a:txBody>
                    <a:bodyPr/>
                    <a:lstStyle/>
                    <a:p>
                      <a:pPr algn="l"/>
                      <a:r>
                        <a:rPr lang="en-CA" sz="1200" b="1">
                          <a:solidFill>
                            <a:schemeClr val="tx1"/>
                          </a:solidFill>
                          <a:latin typeface="Scotia" panose="020B0503020203020204" pitchFamily="34" charset="0"/>
                        </a:rPr>
                        <a:t>02. </a:t>
                      </a:r>
                      <a:r>
                        <a:rPr lang="en-CA" sz="1200" b="0">
                          <a:solidFill>
                            <a:schemeClr val="tx1"/>
                          </a:solidFill>
                          <a:latin typeface="Scotia" panose="020B0503020203020204" pitchFamily="34" charset="0"/>
                        </a:rPr>
                        <a:t>Agendas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1"/>
                  </a:ext>
                </a:extLst>
              </a:tr>
              <a:tr h="340000">
                <a:tc>
                  <a:txBody>
                    <a:bodyPr/>
                    <a:lstStyle/>
                    <a:p>
                      <a:pPr algn="l"/>
                      <a:r>
                        <a:rPr lang="en-CA" sz="1200" b="1">
                          <a:solidFill>
                            <a:schemeClr val="tx1"/>
                          </a:solidFill>
                          <a:latin typeface="Scotia" panose="020B0503020203020204" pitchFamily="34" charset="0"/>
                        </a:rPr>
                        <a:t>03. </a:t>
                      </a:r>
                      <a:r>
                        <a:rPr lang="en-CA" sz="1200" b="0">
                          <a:solidFill>
                            <a:schemeClr val="tx1"/>
                          </a:solidFill>
                          <a:latin typeface="Scotia" panose="020B0503020203020204" pitchFamily="34" charset="0"/>
                        </a:rPr>
                        <a:t>Recalls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2"/>
                  </a:ext>
                </a:extLst>
              </a:tr>
              <a:tr h="340000">
                <a:tc>
                  <a:txBody>
                    <a:bodyPr/>
                    <a:lstStyle/>
                    <a:p>
                      <a:pPr algn="l"/>
                      <a:r>
                        <a:rPr lang="en-CA" sz="1200" b="1">
                          <a:solidFill>
                            <a:schemeClr val="tx1"/>
                          </a:solidFill>
                          <a:latin typeface="Scotia" panose="020B0503020203020204" pitchFamily="34" charset="0"/>
                        </a:rPr>
                        <a:t>04. </a:t>
                      </a:r>
                      <a:r>
                        <a:rPr lang="en-CA" sz="1200" b="0">
                          <a:solidFill>
                            <a:schemeClr val="tx1"/>
                          </a:solidFill>
                          <a:latin typeface="Scotia" panose="020B0503020203020204" pitchFamily="34" charset="0"/>
                        </a:rPr>
                        <a:t>Project Scope</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3"/>
                  </a:ext>
                </a:extLst>
              </a:tr>
              <a:tr h="340000">
                <a:tc>
                  <a:txBody>
                    <a:bodyPr/>
                    <a:lstStyle/>
                    <a:p>
                      <a:pPr algn="l"/>
                      <a:r>
                        <a:rPr lang="en-CA" sz="1200" b="1">
                          <a:solidFill>
                            <a:schemeClr val="tx1"/>
                          </a:solidFill>
                          <a:latin typeface="Scotia" panose="020B0503020203020204" pitchFamily="34" charset="0"/>
                        </a:rPr>
                        <a:t>05. </a:t>
                      </a:r>
                      <a:r>
                        <a:rPr lang="en-CA" sz="1200" b="0">
                          <a:solidFill>
                            <a:schemeClr val="tx1"/>
                          </a:solidFill>
                          <a:latin typeface="Scotia" panose="020B0503020203020204" pitchFamily="34" charset="0"/>
                        </a:rPr>
                        <a:t>Project Milestones &amp; Planning</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4"/>
                  </a:ext>
                </a:extLst>
              </a:tr>
              <a:tr h="340000">
                <a:tc>
                  <a:txBody>
                    <a:bodyPr/>
                    <a:lstStyle/>
                    <a:p>
                      <a:pPr algn="l"/>
                      <a:r>
                        <a:rPr lang="en-CA" sz="1200" b="1">
                          <a:solidFill>
                            <a:schemeClr val="tx1"/>
                          </a:solidFill>
                          <a:latin typeface="Scotia" panose="020B0503020203020204" pitchFamily="34" charset="0"/>
                        </a:rPr>
                        <a:t>06. </a:t>
                      </a:r>
                      <a:r>
                        <a:rPr lang="en-CA" sz="1200" b="0">
                          <a:solidFill>
                            <a:schemeClr val="tx1"/>
                          </a:solidFill>
                          <a:latin typeface="Scotia" panose="020B0503020203020204" pitchFamily="34" charset="0"/>
                        </a:rPr>
                        <a:t>Project Governance</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5"/>
                  </a:ext>
                </a:extLst>
              </a:tr>
              <a:tr h="340000">
                <a:tc>
                  <a:txBody>
                    <a:bodyPr/>
                    <a:lstStyle/>
                    <a:p>
                      <a:pPr algn="l"/>
                      <a:r>
                        <a:rPr lang="en-CA" sz="1200" b="1">
                          <a:solidFill>
                            <a:schemeClr val="tx1"/>
                          </a:solidFill>
                          <a:latin typeface="Scotia" panose="020B0503020203020204" pitchFamily="34" charset="0"/>
                        </a:rPr>
                        <a:t>07. </a:t>
                      </a:r>
                      <a:r>
                        <a:rPr lang="en-CA" sz="1200" b="0">
                          <a:solidFill>
                            <a:schemeClr val="tx1"/>
                          </a:solidFill>
                          <a:latin typeface="Scotia" panose="020B0503020203020204" pitchFamily="34" charset="0"/>
                        </a:rPr>
                        <a:t>Current State &amp; Context Setting</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6"/>
                  </a:ext>
                </a:extLst>
              </a:tr>
              <a:tr h="340000">
                <a:tc>
                  <a:txBody>
                    <a:bodyPr/>
                    <a:lstStyle/>
                    <a:p>
                      <a:pPr algn="l"/>
                      <a:r>
                        <a:rPr lang="en-CA" sz="1200" b="1">
                          <a:solidFill>
                            <a:schemeClr val="tx1"/>
                          </a:solidFill>
                          <a:latin typeface="Scotia" panose="020B0503020203020204" pitchFamily="34" charset="0"/>
                        </a:rPr>
                        <a:t>08. </a:t>
                      </a:r>
                      <a:r>
                        <a:rPr lang="en-CA" sz="1200" b="0">
                          <a:solidFill>
                            <a:schemeClr val="tx1"/>
                          </a:solidFill>
                          <a:latin typeface="Scotia" panose="020B0503020203020204" pitchFamily="34" charset="0"/>
                        </a:rPr>
                        <a:t>Competitive Overview &amp; Positioning</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7"/>
                  </a:ext>
                </a:extLst>
              </a:tr>
              <a:tr h="340000">
                <a:tc>
                  <a:txBody>
                    <a:bodyPr/>
                    <a:lstStyle/>
                    <a:p>
                      <a:pPr algn="l"/>
                      <a:r>
                        <a:rPr lang="en-CA" sz="1200" b="1">
                          <a:solidFill>
                            <a:schemeClr val="tx1"/>
                          </a:solidFill>
                          <a:latin typeface="Scotia" panose="020B0503020203020204" pitchFamily="34" charset="0"/>
                        </a:rPr>
                        <a:t>09. </a:t>
                      </a:r>
                      <a:r>
                        <a:rPr lang="en-CA" sz="1200" b="0">
                          <a:solidFill>
                            <a:schemeClr val="tx1"/>
                          </a:solidFill>
                          <a:latin typeface="Scotia" panose="020B0503020203020204" pitchFamily="34" charset="0"/>
                        </a:rPr>
                        <a:t>Industry Trends, Headwinds or Tailwinds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8"/>
                  </a:ext>
                </a:extLst>
              </a:tr>
              <a:tr h="340000">
                <a:tc>
                  <a:txBody>
                    <a:bodyPr/>
                    <a:lstStyle/>
                    <a:p>
                      <a:pPr algn="l"/>
                      <a:r>
                        <a:rPr lang="en-CA" sz="1200" b="1">
                          <a:solidFill>
                            <a:schemeClr val="tx1"/>
                          </a:solidFill>
                          <a:latin typeface="Scotia" panose="020B0503020203020204" pitchFamily="34" charset="0"/>
                        </a:rPr>
                        <a:t>10.</a:t>
                      </a:r>
                      <a:r>
                        <a:rPr lang="en-CA" sz="1200" b="0">
                          <a:solidFill>
                            <a:schemeClr val="tx1"/>
                          </a:solidFill>
                          <a:latin typeface="Scotia" panose="020B0503020203020204" pitchFamily="34" charset="0"/>
                        </a:rPr>
                        <a:t> Mission, Strategic Frameworks, Strategic Priorities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09"/>
                  </a:ext>
                </a:extLst>
              </a:tr>
              <a:tr h="340000">
                <a:tc>
                  <a:txBody>
                    <a:bodyPr/>
                    <a:lstStyle/>
                    <a:p>
                      <a:pPr algn="l"/>
                      <a:r>
                        <a:rPr lang="en-CA" sz="1200" b="1">
                          <a:solidFill>
                            <a:schemeClr val="tx1"/>
                          </a:solidFill>
                          <a:latin typeface="Scotia" panose="020B0503020203020204" pitchFamily="34" charset="0"/>
                        </a:rPr>
                        <a:t>11. </a:t>
                      </a:r>
                      <a:r>
                        <a:rPr lang="en-CA" sz="1200" b="0">
                          <a:solidFill>
                            <a:schemeClr val="tx1"/>
                          </a:solidFill>
                          <a:latin typeface="Scotia" panose="020B0503020203020204" pitchFamily="34" charset="0"/>
                        </a:rPr>
                        <a:t>Deep Dives and assorted analysis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10"/>
                  </a:ext>
                </a:extLst>
              </a:tr>
              <a:tr h="340000">
                <a:tc>
                  <a:txBody>
                    <a:bodyPr/>
                    <a:lstStyle/>
                    <a:p>
                      <a:pPr algn="l"/>
                      <a:r>
                        <a:rPr lang="en-CA" sz="1200" b="1">
                          <a:solidFill>
                            <a:schemeClr val="tx1"/>
                          </a:solidFill>
                          <a:latin typeface="Scotia" panose="020B0503020203020204" pitchFamily="34" charset="0"/>
                        </a:rPr>
                        <a:t>12. </a:t>
                      </a:r>
                      <a:r>
                        <a:rPr lang="en-CA" sz="1200" b="0">
                          <a:solidFill>
                            <a:schemeClr val="tx1"/>
                          </a:solidFill>
                          <a:latin typeface="Scotia" panose="020B0503020203020204" pitchFamily="34" charset="0"/>
                        </a:rPr>
                        <a:t>Client Experience</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11"/>
                  </a:ext>
                </a:extLst>
              </a:tr>
              <a:tr h="340000">
                <a:tc>
                  <a:txBody>
                    <a:bodyPr/>
                    <a:lstStyle/>
                    <a:p>
                      <a:pPr algn="l"/>
                      <a:r>
                        <a:rPr lang="en-CA" sz="1200" b="1">
                          <a:solidFill>
                            <a:schemeClr val="tx1"/>
                          </a:solidFill>
                          <a:latin typeface="Scotia" panose="020B0503020203020204" pitchFamily="34" charset="0"/>
                        </a:rPr>
                        <a:t>13. </a:t>
                      </a:r>
                      <a:r>
                        <a:rPr lang="en-CA" sz="1200" b="0">
                          <a:solidFill>
                            <a:schemeClr val="tx1"/>
                          </a:solidFill>
                          <a:latin typeface="Scotia" panose="020B0503020203020204" pitchFamily="34" charset="0"/>
                        </a:rPr>
                        <a:t>Overviews of Strategic Work Packages, Roadmaps, Milestones etc.</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12"/>
                  </a:ext>
                </a:extLst>
              </a:tr>
              <a:tr h="340000">
                <a:tc>
                  <a:txBody>
                    <a:bodyPr/>
                    <a:lstStyle/>
                    <a:p>
                      <a:pPr algn="l"/>
                      <a:r>
                        <a:rPr lang="en-CA" sz="1200" b="1">
                          <a:solidFill>
                            <a:schemeClr val="tx1"/>
                          </a:solidFill>
                          <a:latin typeface="Scotia" panose="020B0503020203020204" pitchFamily="34" charset="0"/>
                        </a:rPr>
                        <a:t>14. </a:t>
                      </a:r>
                      <a:r>
                        <a:rPr lang="en-CA" sz="1200" b="0">
                          <a:solidFill>
                            <a:schemeClr val="tx1"/>
                          </a:solidFill>
                          <a:latin typeface="Scotia" panose="020B0503020203020204" pitchFamily="34" charset="0"/>
                        </a:rPr>
                        <a:t>Measures of Success, Metrics, KPIs, Targets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13"/>
                  </a:ext>
                </a:extLst>
              </a:tr>
              <a:tr h="340000">
                <a:tc>
                  <a:txBody>
                    <a:bodyPr/>
                    <a:lstStyle/>
                    <a:p>
                      <a:pPr algn="l"/>
                      <a:r>
                        <a:rPr lang="en-CA" sz="1200" b="1">
                          <a:solidFill>
                            <a:schemeClr val="tx1"/>
                          </a:solidFill>
                          <a:latin typeface="Scotia" panose="020B0503020203020204" pitchFamily="34" charset="0"/>
                        </a:rPr>
                        <a:t>15. </a:t>
                      </a:r>
                      <a:r>
                        <a:rPr lang="en-CA" sz="1200" b="0">
                          <a:solidFill>
                            <a:schemeClr val="tx1"/>
                          </a:solidFill>
                          <a:latin typeface="Scotia" panose="020B0503020203020204" pitchFamily="34" charset="0"/>
                        </a:rPr>
                        <a:t>Risk and Key Considerations</a:t>
                      </a:r>
                    </a:p>
                  </a:txBody>
                  <a:tcPr anchor="ctr">
                    <a:lnL>
                      <a:noFill/>
                    </a:lnL>
                    <a:lnR>
                      <a:noFill/>
                    </a:lnR>
                    <a:lnT w="6350" cap="flat" cmpd="sng" algn="ctr">
                      <a:solidFill>
                        <a:srgbClr val="D9D9D9"/>
                      </a:solidFill>
                      <a:prstDash val="solid"/>
                      <a:round/>
                      <a:headEnd type="none" w="med" len="med"/>
                      <a:tailEnd type="none" w="med" len="med"/>
                    </a:lnT>
                    <a:lnB w="6350">
                      <a:solidFill>
                        <a:srgbClr val="D9D9D9"/>
                      </a:solidFill>
                    </a:lnB>
                    <a:noFill/>
                  </a:tcPr>
                </a:tc>
                <a:extLst>
                  <a:ext uri="{0D108BD9-81ED-4DB2-BD59-A6C34878D82A}">
                    <a16:rowId xmlns:a16="http://schemas.microsoft.com/office/drawing/2014/main" val="10014"/>
                  </a:ext>
                </a:extLst>
              </a:tr>
            </a:tbl>
          </a:graphicData>
        </a:graphic>
      </p:graphicFrame>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CA137E9-27A9-7006-DACE-6F3126E137A4}"/>
              </a:ext>
            </a:extLst>
          </p:cNvPr>
          <p:cNvSpPr>
            <a:spLocks noGrp="1"/>
          </p:cNvSpPr>
          <p:nvPr>
            <p:ph type="body" sz="quarter" idx="11"/>
          </p:nvPr>
        </p:nvSpPr>
        <p:spPr/>
        <p:txBody>
          <a:bodyPr/>
          <a:lstStyle/>
          <a:p>
            <a:r>
              <a:rPr lang="en-CA"/>
              <a:t>Executive Summaries</a:t>
            </a:r>
          </a:p>
        </p:txBody>
      </p:sp>
      <p:sp>
        <p:nvSpPr>
          <p:cNvPr id="3" name="Text Placeholder 2">
            <a:extLst>
              <a:ext uri="{FF2B5EF4-FFF2-40B4-BE49-F238E27FC236}">
                <a16:creationId xmlns:a16="http://schemas.microsoft.com/office/drawing/2014/main" id="{4FA00923-1A68-375E-429C-1DD9FD2908FB}"/>
              </a:ext>
            </a:extLst>
          </p:cNvPr>
          <p:cNvSpPr>
            <a:spLocks noGrp="1"/>
          </p:cNvSpPr>
          <p:nvPr>
            <p:ph type="body" sz="quarter" idx="12"/>
          </p:nvPr>
        </p:nvSpPr>
        <p:spPr/>
        <p:txBody>
          <a:bodyPr/>
          <a:lstStyle/>
          <a:p>
            <a:r>
              <a:rPr lang="en-CA"/>
              <a:t>01</a:t>
            </a:r>
          </a:p>
        </p:txBody>
      </p:sp>
    </p:spTree>
    <p:extLst>
      <p:ext uri="{BB962C8B-B14F-4D97-AF65-F5344CB8AC3E}">
        <p14:creationId xmlns:p14="http://schemas.microsoft.com/office/powerpoint/2010/main" val="277968741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41EE23DD-D29F-A706-9778-466CFEFAA16A}"/>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5" imgH="405" progId="TCLayout.ActiveDocument.1">
                  <p:embed/>
                </p:oleObj>
              </mc:Choice>
              <mc:Fallback>
                <p:oleObj name="think-cell Slide" r:id="rId4" imgW="405" imgH="405" progId="TCLayout.ActiveDocument.1">
                  <p:embed/>
                  <p:pic>
                    <p:nvPicPr>
                      <p:cNvPr id="10" name="think-cell data - do not delete" hidden="1">
                        <a:extLst>
                          <a:ext uri="{FF2B5EF4-FFF2-40B4-BE49-F238E27FC236}">
                            <a16:creationId xmlns:a16="http://schemas.microsoft.com/office/drawing/2014/main" id="{41EE23DD-D29F-A706-9778-466CFEFAA16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a:extLst>
              <a:ext uri="{FF2B5EF4-FFF2-40B4-BE49-F238E27FC236}">
                <a16:creationId xmlns:a16="http://schemas.microsoft.com/office/drawing/2014/main" id="{B112F586-7DB2-C679-6F0E-60D1F3C210EA}"/>
              </a:ext>
            </a:extLst>
          </p:cNvPr>
          <p:cNvSpPr/>
          <p:nvPr/>
        </p:nvSpPr>
        <p:spPr>
          <a:xfrm>
            <a:off x="11382375" y="6129338"/>
            <a:ext cx="381000" cy="478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FFFFFF"/>
              </a:solidFill>
              <a:effectLst/>
              <a:uLnTx/>
              <a:uFillTx/>
              <a:latin typeface="Scotia"/>
              <a:ea typeface="+mn-ea"/>
              <a:cs typeface="+mn-cs"/>
            </a:endParaRPr>
          </a:p>
        </p:txBody>
      </p:sp>
      <p:sp>
        <p:nvSpPr>
          <p:cNvPr id="5" name="Title 4">
            <a:extLst>
              <a:ext uri="{FF2B5EF4-FFF2-40B4-BE49-F238E27FC236}">
                <a16:creationId xmlns:a16="http://schemas.microsoft.com/office/drawing/2014/main" id="{4B74811C-3378-B867-D8C5-31A894C6D03F}"/>
              </a:ext>
            </a:extLst>
          </p:cNvPr>
          <p:cNvSpPr>
            <a:spLocks noGrp="1"/>
          </p:cNvSpPr>
          <p:nvPr>
            <p:ph type="title"/>
          </p:nvPr>
        </p:nvSpPr>
        <p:spPr/>
        <p:txBody>
          <a:bodyPr vert="horz" rIns="0"/>
          <a:lstStyle/>
          <a:p>
            <a:r>
              <a:rPr lang="en-US"/>
              <a:t>Executive Summary</a:t>
            </a:r>
          </a:p>
        </p:txBody>
      </p:sp>
      <p:sp>
        <p:nvSpPr>
          <p:cNvPr id="9" name="Content Placeholder 8">
            <a:extLst>
              <a:ext uri="{FF2B5EF4-FFF2-40B4-BE49-F238E27FC236}">
                <a16:creationId xmlns:a16="http://schemas.microsoft.com/office/drawing/2014/main" id="{0FE6EBDC-1E76-7424-611E-FF3E4DCE3BC4}"/>
              </a:ext>
            </a:extLst>
          </p:cNvPr>
          <p:cNvSpPr>
            <a:spLocks noGrp="1"/>
          </p:cNvSpPr>
          <p:nvPr>
            <p:ph sz="quarter" idx="12"/>
          </p:nvPr>
        </p:nvSpPr>
        <p:spPr>
          <a:xfrm>
            <a:off x="525463" y="997471"/>
            <a:ext cx="11409362" cy="5601027"/>
          </a:xfrm>
          <a:solidFill>
            <a:schemeClr val="bg1"/>
          </a:solidFill>
        </p:spPr>
        <p:txBody>
          <a:bodyPr/>
          <a:lstStyle/>
          <a:p>
            <a:pPr marL="0" marR="0" lvl="0" indent="0">
              <a:lnSpc>
                <a:spcPct val="107000"/>
              </a:lnSpc>
              <a:spcBef>
                <a:spcPts val="0"/>
              </a:spcBef>
              <a:spcAft>
                <a:spcPts val="300"/>
              </a:spcAft>
              <a:buNone/>
            </a:pPr>
            <a:r>
              <a:rPr lang="en-CA" sz="1050" b="1">
                <a:solidFill>
                  <a:srgbClr val="EC111A"/>
                </a:solidFill>
                <a:effectLst/>
                <a:latin typeface="Scotia" panose="020B0503020203020204" pitchFamily="34" charset="0"/>
                <a:ea typeface="Scotia" panose="020B0503020203020204" pitchFamily="34" charset="0"/>
                <a:cs typeface="Scotia" panose="020B0503020203020204" pitchFamily="34" charset="0"/>
              </a:rPr>
              <a:t>RECALL</a:t>
            </a:r>
          </a:p>
          <a:p>
            <a:pPr marL="115888" indent="-115888">
              <a:lnSpc>
                <a:spcPct val="107000"/>
              </a:lnSpc>
              <a:spcBef>
                <a:spcPts val="0"/>
              </a:spcBef>
              <a:spcAft>
                <a:spcPts val="300"/>
              </a:spcAft>
              <a:buFont typeface="Symbol" panose="05050102010706020507" pitchFamily="18" charset="2"/>
              <a:buChar char=""/>
            </a:pPr>
            <a:r>
              <a:rPr lang="en-CA" sz="1050">
                <a:solidFill>
                  <a:srgbClr val="000000"/>
                </a:solidFill>
                <a:latin typeface="Scotia" panose="020B0503020203020204" pitchFamily="34" charset="0"/>
                <a:ea typeface="Scotia" panose="020B0503020203020204" pitchFamily="34" charset="0"/>
                <a:cs typeface="Scotia" panose="020B0503020203020204" pitchFamily="34" charset="0"/>
              </a:rPr>
              <a:t>During the development of the All-Bank Tech strategy, Technology leadership aligned on consolidating the activities and teams focused on end-user experience and enablement under a single mandate within the GTEP organization. The consolidation commenced in January 2026 with the hiring of Peter Capraro as the VP, </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Global Employee Digital Experience. Under Peter, WXE’s mandate is to deliver on Initiative C8 </a:t>
            </a:r>
            <a:r>
              <a:rPr lang="en-US" sz="1050" i="1">
                <a:solidFill>
                  <a:srgbClr val="000000"/>
                </a:solidFill>
                <a:latin typeface="Scotia" panose="020B0503020203020204" pitchFamily="34" charset="0"/>
                <a:ea typeface="Scotia" panose="020B0503020203020204" pitchFamily="34" charset="0"/>
                <a:cs typeface="Scotia" panose="020B0503020203020204" pitchFamily="34" charset="0"/>
              </a:rPr>
              <a:t>(Develop and Implement an Integrated Strategy for All End User Services to Create a Simplified Workplace Experience that Enables Employee Productivity) </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within the All-Bank Tech Strategy and to support GTEP’s focus on creating Exceptional Colleague Experiences.</a:t>
            </a:r>
          </a:p>
          <a:p>
            <a:pPr marL="0" marR="0" lvl="0" indent="0">
              <a:lnSpc>
                <a:spcPct val="107000"/>
              </a:lnSpc>
              <a:spcBef>
                <a:spcPts val="0"/>
              </a:spcBef>
              <a:spcAft>
                <a:spcPts val="300"/>
              </a:spcAft>
              <a:buNone/>
            </a:pPr>
            <a:r>
              <a:rPr lang="en-CA" sz="1050" b="1">
                <a:solidFill>
                  <a:srgbClr val="EC111A"/>
                </a:solidFill>
                <a:effectLst/>
                <a:latin typeface="Scotia" panose="020B0503020203020204" pitchFamily="34" charset="0"/>
                <a:ea typeface="Scotia" panose="020B0503020203020204" pitchFamily="34" charset="0"/>
                <a:cs typeface="Scotia" panose="020B0503020203020204" pitchFamily="34" charset="0"/>
              </a:rPr>
              <a:t>KEY POINTS</a:t>
            </a:r>
          </a:p>
          <a:p>
            <a:pPr marL="115888" indent="-115888">
              <a:lnSpc>
                <a:spcPct val="107000"/>
              </a:lnSpc>
              <a:spcBef>
                <a:spcPts val="0"/>
              </a:spcBef>
              <a:spcAft>
                <a:spcPts val="200"/>
              </a:spcAft>
              <a:buFont typeface="Symbol" panose="05050102010706020507" pitchFamily="18" charset="2"/>
              <a:buChar char=""/>
            </a:pPr>
            <a:r>
              <a:rPr lang="en-CA" sz="1050" b="1">
                <a:solidFill>
                  <a:srgbClr val="000000"/>
                </a:solidFill>
                <a:latin typeface="Scotia" panose="020B0503020203020204" pitchFamily="34" charset="0"/>
                <a:ea typeface="Scotia" panose="020B0503020203020204" pitchFamily="34" charset="0"/>
                <a:cs typeface="Scotia" panose="020B0503020203020204" pitchFamily="34" charset="0"/>
              </a:rPr>
              <a:t>Context and Current State:</a:t>
            </a:r>
          </a:p>
          <a:p>
            <a:pPr marL="346075" indent="-114300">
              <a:lnSpc>
                <a:spcPct val="107000"/>
              </a:lnSpc>
              <a:spcBef>
                <a:spcPts val="0"/>
              </a:spcBef>
              <a:spcAft>
                <a:spcPts val="200"/>
              </a:spcAft>
              <a:buFont typeface="Symbol" panose="05050102010706020507" pitchFamily="18" charset="2"/>
              <a:buChar char=""/>
            </a:pPr>
            <a:r>
              <a:rPr lang="en-CA" sz="1050" b="1">
                <a:solidFill>
                  <a:srgbClr val="000000"/>
                </a:solidFill>
                <a:effectLst/>
                <a:latin typeface="Scotia" panose="020B0503020203020204" pitchFamily="34" charset="0"/>
                <a:ea typeface="Scotia" panose="020B0503020203020204" pitchFamily="34" charset="0"/>
                <a:cs typeface="Scotia" panose="020B0503020203020204" pitchFamily="34" charset="0"/>
              </a:rPr>
              <a:t>Context: </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WXE is BNS’ first globally integrated team responsible for engineering and designing workplaces and optimizing colleague productivity and experience</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 </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The team designs, engineers, and manages global workplace experiences aimed at elevating our colleagues' productivity, strengthening the Bank’s resilience, and maintaining cost discipline. We aim to deliver this mandate through an integrated operating model (WIP) that elevates engineering rigor</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 </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and product </a:t>
            </a:r>
            <a:r>
              <a:rPr lang="en-US" sz="1050" err="1">
                <a:solidFill>
                  <a:srgbClr val="000000"/>
                </a:solidFill>
                <a:effectLst/>
                <a:latin typeface="Scotia" panose="020B0503020203020204" pitchFamily="34" charset="0"/>
                <a:ea typeface="Scotia" panose="020B0503020203020204" pitchFamily="34" charset="0"/>
                <a:cs typeface="Scotia" panose="020B0503020203020204" pitchFamily="34" charset="0"/>
              </a:rPr>
              <a:t>mgmt</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 philosophy</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 </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supported by a</a:t>
            </a:r>
            <a:r>
              <a:rPr lang="en-US" sz="1050">
                <a:solidFill>
                  <a:srgbClr val="000000"/>
                </a:solidFill>
                <a:latin typeface="Scotia" panose="020B0503020203020204" pitchFamily="34" charset="0"/>
                <a:ea typeface="Scotia" panose="020B0503020203020204" pitchFamily="34" charset="0"/>
                <a:cs typeface="Scotia" panose="020B0503020203020204" pitchFamily="34" charset="0"/>
              </a:rPr>
              <a:t>n</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 intelligence layer (DEX) </a:t>
            </a:r>
            <a:r>
              <a:rPr lang="en-US" sz="1050" i="1">
                <a:solidFill>
                  <a:srgbClr val="EC111A"/>
                </a:solidFill>
                <a:effectLst/>
                <a:latin typeface="Scotia" panose="020B0503020203020204" pitchFamily="34" charset="0"/>
                <a:ea typeface="Scotia" panose="020B0503020203020204" pitchFamily="34" charset="0"/>
                <a:cs typeface="Scotia" panose="020B0503020203020204" pitchFamily="34" charset="0"/>
              </a:rPr>
              <a:t>(see slide 3)</a:t>
            </a:r>
            <a:endParaRPr lang="en-CA" sz="1050" i="1">
              <a:solidFill>
                <a:srgbClr val="EC111A"/>
              </a:solidFill>
              <a:effectLst/>
              <a:latin typeface="Scotia" panose="020B0503020203020204" pitchFamily="34" charset="0"/>
              <a:ea typeface="Scotia" panose="020B0503020203020204" pitchFamily="34" charset="0"/>
              <a:cs typeface="Scotia" panose="020B0503020203020204" pitchFamily="34" charset="0"/>
            </a:endParaRPr>
          </a:p>
          <a:p>
            <a:pPr marL="346075" indent="-114300">
              <a:lnSpc>
                <a:spcPct val="107000"/>
              </a:lnSpc>
              <a:spcBef>
                <a:spcPts val="0"/>
              </a:spcBef>
              <a:spcAft>
                <a:spcPts val="200"/>
              </a:spcAft>
              <a:buFont typeface="Symbol" panose="05050102010706020507" pitchFamily="18" charset="2"/>
              <a:buChar char=""/>
            </a:pPr>
            <a:r>
              <a:rPr lang="en-CA" sz="1050" b="1">
                <a:solidFill>
                  <a:srgbClr val="000000"/>
                </a:solidFill>
                <a:effectLst/>
                <a:latin typeface="Scotia" panose="020B0503020203020204" pitchFamily="34" charset="0"/>
                <a:ea typeface="Scotia" panose="020B0503020203020204" pitchFamily="34" charset="0"/>
                <a:cs typeface="Scotia" panose="020B0503020203020204" pitchFamily="34" charset="0"/>
              </a:rPr>
              <a:t>Current State and Case for change:</a:t>
            </a:r>
            <a:r>
              <a:rPr lang="en-CA" sz="1050">
                <a:solidFill>
                  <a:srgbClr val="000000"/>
                </a:solidFill>
                <a:effectLst/>
                <a:latin typeface="Scotia" panose="020B0503020203020204" pitchFamily="34" charset="0"/>
                <a:ea typeface="Scotia" panose="020B0503020203020204" pitchFamily="34" charset="0"/>
                <a:cs typeface="Scotia" panose="020B0503020203020204" pitchFamily="34" charset="0"/>
              </a:rPr>
              <a:t> Today, </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BNS’ endpoint estate does not meet modern requirements and is eroding our colleague's productivity while increasing risk exposure and capital costs. </a:t>
            </a:r>
            <a:r>
              <a:rPr lang="en-CA" sz="1050">
                <a:solidFill>
                  <a:srgbClr val="000000"/>
                </a:solidFill>
                <a:effectLst/>
                <a:latin typeface="Scotia" panose="020B0503020203020204" pitchFamily="34" charset="0"/>
                <a:ea typeface="Scotia" panose="020B0503020203020204" pitchFamily="34" charset="0"/>
                <a:cs typeface="Scotia" panose="020B0503020203020204" pitchFamily="34" charset="0"/>
              </a:rPr>
              <a:t>The </a:t>
            </a:r>
            <a:r>
              <a:rPr lang="en-CA" sz="1050">
                <a:solidFill>
                  <a:srgbClr val="000000"/>
                </a:solidFill>
                <a:latin typeface="Scotia" panose="020B0503020203020204" pitchFamily="34" charset="0"/>
                <a:ea typeface="Scotia" panose="020B0503020203020204" pitchFamily="34" charset="0"/>
                <a:cs typeface="Scotia" panose="020B0503020203020204" pitchFamily="34" charset="0"/>
              </a:rPr>
              <a:t>estate supports ~90k employees with predominantly </a:t>
            </a:r>
            <a:r>
              <a:rPr lang="en-CA" sz="1050">
                <a:solidFill>
                  <a:srgbClr val="000000"/>
                </a:solidFill>
                <a:effectLst/>
                <a:latin typeface="Scotia" panose="020B0503020203020204" pitchFamily="34" charset="0"/>
                <a:ea typeface="Scotia" panose="020B0503020203020204" pitchFamily="34" charset="0"/>
                <a:cs typeface="Scotia" panose="020B0503020203020204" pitchFamily="34" charset="0"/>
              </a:rPr>
              <a:t>physical and windows devices (~130K physical devices and ~8K virtual, ~6% virtual), with a relatively high device ratio (1.27). BNS has historically not </a:t>
            </a:r>
            <a:r>
              <a:rPr lang="en-CA" sz="1050">
                <a:solidFill>
                  <a:srgbClr val="000000"/>
                </a:solidFill>
              </a:rPr>
              <a:t>managed the experience, demand, or cost of the endpoint estate in a centralized mandate, creating a substantial need/opportunity to manage risk and lower capital costs </a:t>
            </a:r>
            <a:r>
              <a:rPr lang="en-CA" sz="1050" i="1">
                <a:solidFill>
                  <a:srgbClr val="EC111A"/>
                </a:solidFill>
                <a:latin typeface="Scotia" panose="020B0503020203020204" pitchFamily="34" charset="0"/>
                <a:ea typeface="Scotia" panose="020B0503020203020204" pitchFamily="34" charset="0"/>
                <a:cs typeface="Scotia" panose="020B0503020203020204" pitchFamily="34" charset="0"/>
              </a:rPr>
              <a:t>(see slide 4)</a:t>
            </a:r>
            <a:r>
              <a:rPr lang="en-CA" sz="1050" i="1">
                <a:solidFill>
                  <a:srgbClr val="EC111A"/>
                </a:solidFill>
              </a:rPr>
              <a:t>.</a:t>
            </a:r>
            <a:r>
              <a:rPr lang="en-CA" sz="1050" b="1" i="1">
                <a:solidFill>
                  <a:srgbClr val="EC111A"/>
                </a:solidFill>
              </a:rPr>
              <a:t> </a:t>
            </a:r>
            <a:r>
              <a:rPr lang="en-CA" sz="1050">
                <a:solidFill>
                  <a:srgbClr val="000000"/>
                </a:solidFill>
                <a:effectLst/>
                <a:latin typeface="Scotia" panose="020B0503020203020204" pitchFamily="34" charset="0"/>
                <a:ea typeface="Scotia" panose="020B0503020203020204" pitchFamily="34" charset="0"/>
                <a:cs typeface="Scotia" panose="020B0503020203020204" pitchFamily="34" charset="0"/>
              </a:rPr>
              <a:t>At the same time, t</a:t>
            </a:r>
            <a:r>
              <a:rPr lang="en-US" sz="1050">
                <a:solidFill>
                  <a:srgbClr val="000000"/>
                </a:solidFill>
                <a:effectLst/>
                <a:latin typeface="Scotia" panose="020B0503020203020204" pitchFamily="34" charset="0"/>
                <a:ea typeface="Scotia" panose="020B0503020203020204" pitchFamily="34" charset="0"/>
                <a:cs typeface="Scotia" panose="020B0503020203020204" pitchFamily="34" charset="0"/>
              </a:rPr>
              <a:t>he current estate further amplifies BNS’ exposure to volatile hardware market prices and evolving security threats; meanwhile, peers lead BNS with more virtual, diversified, and dynamically managed </a:t>
            </a:r>
            <a:r>
              <a:rPr lang="en-CA" sz="1050">
                <a:solidFill>
                  <a:srgbClr val="000000"/>
                </a:solidFill>
                <a:effectLst/>
                <a:latin typeface="Scotia" panose="020B0503020203020204" pitchFamily="34" charset="0"/>
                <a:ea typeface="Scotia" panose="020B0503020203020204" pitchFamily="34" charset="0"/>
                <a:cs typeface="Scotia" panose="020B0503020203020204" pitchFamily="34" charset="0"/>
              </a:rPr>
              <a:t>estates </a:t>
            </a:r>
            <a:r>
              <a:rPr lang="en-CA" sz="1050" i="1">
                <a:solidFill>
                  <a:srgbClr val="EC111A"/>
                </a:solidFill>
                <a:effectLst/>
                <a:latin typeface="Scotia" panose="020B0503020203020204" pitchFamily="34" charset="0"/>
                <a:ea typeface="Scotia" panose="020B0503020203020204" pitchFamily="34" charset="0"/>
                <a:cs typeface="Scotia" panose="020B0503020203020204" pitchFamily="34" charset="0"/>
              </a:rPr>
              <a:t>(see slide 5).</a:t>
            </a:r>
          </a:p>
          <a:p>
            <a:pPr marL="115888" indent="-115888">
              <a:lnSpc>
                <a:spcPct val="107000"/>
              </a:lnSpc>
              <a:spcBef>
                <a:spcPts val="0"/>
              </a:spcBef>
              <a:spcAft>
                <a:spcPts val="200"/>
              </a:spcAft>
              <a:buFont typeface="Symbol" panose="05050102010706020507" pitchFamily="18" charset="2"/>
              <a:buChar char=""/>
            </a:pPr>
            <a:r>
              <a:rPr lang="en-US" sz="1050" b="1">
                <a:ea typeface="DengXian" panose="02010600030101010101" pitchFamily="2" charset="-122"/>
                <a:cs typeface="Arial" panose="020B0604020202020204" pitchFamily="34" charset="0"/>
              </a:rPr>
              <a:t>Path Forward:  </a:t>
            </a:r>
            <a:r>
              <a:rPr lang="en-US" sz="1050">
                <a:ea typeface="DengXian" panose="02010600030101010101" pitchFamily="2" charset="-122"/>
                <a:cs typeface="Arial" panose="020B0604020202020204" pitchFamily="34" charset="0"/>
              </a:rPr>
              <a:t>In response, WXE has defined a go forward mission and 6 strategic priorities aligned to the GTEP and All-Bank Technology Strategy: Deliver a seamless provisioning experience; Curate exceptional colleague offerings; Globalize &amp;  modernize support operations; Enable intelligence &amp; proactive response; Establish a global workplace hardware estate; Win as a global unified team </a:t>
            </a:r>
            <a:r>
              <a:rPr lang="en-US" sz="1050" i="1">
                <a:solidFill>
                  <a:srgbClr val="EC111A"/>
                </a:solidFill>
                <a:ea typeface="DengXian" panose="02010600030101010101" pitchFamily="2" charset="-122"/>
                <a:cs typeface="Arial" panose="020B0604020202020204" pitchFamily="34" charset="0"/>
              </a:rPr>
              <a:t>(see slide 6)</a:t>
            </a:r>
            <a:r>
              <a:rPr lang="en-US" sz="1050">
                <a:ea typeface="DengXian" panose="02010600030101010101" pitchFamily="2" charset="-122"/>
                <a:cs typeface="Arial" panose="020B0604020202020204" pitchFamily="34" charset="0"/>
              </a:rPr>
              <a:t>. </a:t>
            </a:r>
          </a:p>
          <a:p>
            <a:pPr marL="346075" lvl="1" indent="-114300">
              <a:lnSpc>
                <a:spcPct val="107000"/>
              </a:lnSpc>
              <a:spcBef>
                <a:spcPts val="0"/>
              </a:spcBef>
              <a:spcAft>
                <a:spcPts val="200"/>
              </a:spcAft>
              <a:buFont typeface="Symbol" panose="05050102010706020507" pitchFamily="18" charset="2"/>
              <a:buChar char=""/>
            </a:pPr>
            <a:r>
              <a:rPr lang="en-US" sz="1050" b="1">
                <a:ea typeface="DengXian" panose="02010600030101010101" pitchFamily="2" charset="-122"/>
                <a:cs typeface="Arial" panose="020B0604020202020204" pitchFamily="34" charset="0"/>
              </a:rPr>
              <a:t>Vision:</a:t>
            </a:r>
            <a:r>
              <a:rPr lang="en-US" sz="1050">
                <a:ea typeface="DengXian" panose="02010600030101010101" pitchFamily="2" charset="-122"/>
                <a:cs typeface="Arial" panose="020B0604020202020204" pitchFamily="34" charset="0"/>
              </a:rPr>
              <a:t> WXE has developed a clear perspective of what the future of WXE should look and feel like by the end of F28: combining a zero-touch provisioning experience with curated &amp; persona-based workplace offerings and a proactive and globally standardized support operation, which is </a:t>
            </a:r>
            <a:r>
              <a:rPr lang="en-US" sz="1050">
                <a:solidFill>
                  <a:srgbClr val="000000"/>
                </a:solidFill>
              </a:rPr>
              <a:t>centrally managed through a DEX intelligence layer </a:t>
            </a:r>
            <a:r>
              <a:rPr lang="en-US" sz="1050" i="1">
                <a:solidFill>
                  <a:srgbClr val="EC111A"/>
                </a:solidFill>
              </a:rPr>
              <a:t>(see slide 7).</a:t>
            </a:r>
            <a:r>
              <a:rPr lang="en-US" sz="1050">
                <a:solidFill>
                  <a:srgbClr val="000000"/>
                </a:solidFill>
              </a:rPr>
              <a:t> </a:t>
            </a:r>
          </a:p>
          <a:p>
            <a:pPr marL="346075" lvl="1" indent="-114300">
              <a:lnSpc>
                <a:spcPct val="107000"/>
              </a:lnSpc>
              <a:spcBef>
                <a:spcPts val="0"/>
              </a:spcBef>
              <a:spcAft>
                <a:spcPts val="200"/>
              </a:spcAft>
              <a:buFont typeface="Symbol" panose="05050102010706020507" pitchFamily="18" charset="2"/>
              <a:buChar char=""/>
            </a:pPr>
            <a:r>
              <a:rPr lang="en-US" sz="1050" b="1">
                <a:solidFill>
                  <a:srgbClr val="000000"/>
                </a:solidFill>
              </a:rPr>
              <a:t>Critical Work:</a:t>
            </a:r>
            <a:r>
              <a:rPr lang="en-US" sz="1050">
                <a:solidFill>
                  <a:srgbClr val="000000"/>
                </a:solidFill>
              </a:rPr>
              <a:t> We have identified a portfolio of 35 critical work initiatives across our 6 strategic priorities to deliver on WXE’s mandate </a:t>
            </a:r>
            <a:r>
              <a:rPr lang="en-US" sz="1050" i="1">
                <a:solidFill>
                  <a:srgbClr val="EC111A"/>
                </a:solidFill>
              </a:rPr>
              <a:t>(see slide 8)</a:t>
            </a:r>
          </a:p>
          <a:p>
            <a:pPr marL="346075" lvl="1" indent="-114300">
              <a:lnSpc>
                <a:spcPct val="107000"/>
              </a:lnSpc>
              <a:spcBef>
                <a:spcPts val="0"/>
              </a:spcBef>
              <a:spcAft>
                <a:spcPts val="200"/>
              </a:spcAft>
              <a:buFont typeface="Symbol" panose="05050102010706020507" pitchFamily="18" charset="2"/>
              <a:buChar char=""/>
            </a:pPr>
            <a:r>
              <a:rPr lang="en-US" sz="1050" b="1">
                <a:solidFill>
                  <a:srgbClr val="000000"/>
                </a:solidFill>
              </a:rPr>
              <a:t>Mobilization: </a:t>
            </a:r>
            <a:r>
              <a:rPr lang="en-US" sz="1050">
                <a:solidFill>
                  <a:srgbClr val="000000"/>
                </a:solidFill>
              </a:rPr>
              <a:t>WXE’s leadership team is actively working on defining and orchestrating the detailed milestone roadmap of when and how value will be unlocked for BNS </a:t>
            </a:r>
            <a:r>
              <a:rPr lang="en-US" sz="1050" i="1">
                <a:solidFill>
                  <a:srgbClr val="EC111A"/>
                </a:solidFill>
              </a:rPr>
              <a:t>(see slide 9).</a:t>
            </a:r>
          </a:p>
          <a:p>
            <a:pPr marL="115888" lvl="1" indent="-115888">
              <a:lnSpc>
                <a:spcPct val="107000"/>
              </a:lnSpc>
              <a:spcBef>
                <a:spcPts val="0"/>
              </a:spcBef>
              <a:spcAft>
                <a:spcPts val="200"/>
              </a:spcAft>
              <a:buFont typeface="Symbol" panose="05050102010706020507" pitchFamily="18" charset="2"/>
              <a:buChar char=""/>
            </a:pPr>
            <a:r>
              <a:rPr lang="en-US" sz="1050" b="1">
                <a:solidFill>
                  <a:srgbClr val="000000"/>
                </a:solidFill>
                <a:ea typeface="Scotia" panose="020B0503020203020204" pitchFamily="34" charset="0"/>
              </a:rPr>
              <a:t>Deep Dive - End-User Strategy: </a:t>
            </a:r>
            <a:r>
              <a:rPr lang="en-US" sz="1050">
                <a:solidFill>
                  <a:srgbClr val="000000"/>
                </a:solidFill>
                <a:ea typeface="Scotia" panose="020B0503020203020204" pitchFamily="34" charset="0"/>
              </a:rPr>
              <a:t>The new end-user strategy will shift BNS away from a device-centric model to a segmented, hybrid endpoint strategy driven by DEX. The focus of this work will be to optimize device diversity, introducing a clear persona-based segmentation of our workforce, and building/integrating the critical DEX intelligence layer. </a:t>
            </a:r>
            <a:r>
              <a:rPr lang="en-US" sz="1050" i="1">
                <a:solidFill>
                  <a:srgbClr val="EC111A"/>
                </a:solidFill>
                <a:ea typeface="Scotia" panose="020B0503020203020204" pitchFamily="34" charset="0"/>
              </a:rPr>
              <a:t>(see slide 12)</a:t>
            </a:r>
          </a:p>
          <a:p>
            <a:pPr marL="346075" lvl="1" indent="-114300">
              <a:lnSpc>
                <a:spcPct val="107000"/>
              </a:lnSpc>
              <a:spcBef>
                <a:spcPts val="0"/>
              </a:spcBef>
              <a:spcAft>
                <a:spcPts val="200"/>
              </a:spcAft>
              <a:buFont typeface="Symbol" panose="05050102010706020507" pitchFamily="18" charset="2"/>
              <a:buChar char=""/>
            </a:pPr>
            <a:r>
              <a:rPr lang="en-US" sz="1050" b="1">
                <a:solidFill>
                  <a:srgbClr val="000000"/>
                </a:solidFill>
                <a:ea typeface="Scotia" panose="020B0503020203020204" pitchFamily="34" charset="0"/>
              </a:rPr>
              <a:t>Optimizing Device Diversity:</a:t>
            </a:r>
            <a:r>
              <a:rPr lang="en-US" sz="1050">
                <a:solidFill>
                  <a:srgbClr val="000000"/>
                </a:solidFill>
                <a:ea typeface="Scotia" panose="020B0503020203020204" pitchFamily="34" charset="0"/>
              </a:rPr>
              <a:t> The new diversified endpoint portfolio (Mac, Cloud PC, Enterprise browser) de-risks the estate and introduces true workspace continuity. </a:t>
            </a:r>
            <a:r>
              <a:rPr lang="en-US" sz="1050" i="1">
                <a:solidFill>
                  <a:srgbClr val="EC111A"/>
                </a:solidFill>
                <a:ea typeface="Scotia" panose="020B0503020203020204" pitchFamily="34" charset="0"/>
              </a:rPr>
              <a:t>(see slide 13)</a:t>
            </a:r>
          </a:p>
          <a:p>
            <a:pPr marL="346075" lvl="1" indent="-114300">
              <a:lnSpc>
                <a:spcPct val="107000"/>
              </a:lnSpc>
              <a:spcBef>
                <a:spcPts val="0"/>
              </a:spcBef>
              <a:spcAft>
                <a:spcPts val="200"/>
              </a:spcAft>
              <a:buFont typeface="Symbol" panose="05050102010706020507" pitchFamily="18" charset="2"/>
              <a:buChar char=""/>
            </a:pPr>
            <a:r>
              <a:rPr lang="en-US" sz="1050" b="1"/>
              <a:t>Introducing Segmentation:</a:t>
            </a:r>
            <a:r>
              <a:rPr lang="en-US" sz="1050"/>
              <a:t> Personas will involve distinct physical, virtual, and mobile endpoint postures to better optimize colleague experience, risk, and cost. Specifically, we will deliver fundamentally different workspaces based on the personas' mobility, consistency, and performance needs. </a:t>
            </a:r>
            <a:r>
              <a:rPr lang="en-US" sz="1050" i="1">
                <a:solidFill>
                  <a:srgbClr val="EC111A"/>
                </a:solidFill>
              </a:rPr>
              <a:t>(see slide 14 &amp; 15)</a:t>
            </a:r>
          </a:p>
          <a:p>
            <a:pPr marL="346075" lvl="1" indent="-114300">
              <a:lnSpc>
                <a:spcPct val="107000"/>
              </a:lnSpc>
              <a:spcBef>
                <a:spcPts val="0"/>
              </a:spcBef>
              <a:spcAft>
                <a:spcPts val="200"/>
              </a:spcAft>
              <a:buFont typeface="Symbol" panose="05050102010706020507" pitchFamily="18" charset="2"/>
              <a:buChar char=""/>
            </a:pPr>
            <a:r>
              <a:rPr lang="en-US" sz="1050" b="1"/>
              <a:t>Building the Intelligence Layer:</a:t>
            </a:r>
            <a:r>
              <a:rPr lang="en-US" sz="1050"/>
              <a:t> It is critical we integrate a DEX system that makes the end‑user strategy observable, controllable, and scalable </a:t>
            </a:r>
            <a:r>
              <a:rPr lang="en-US" sz="1050" i="1">
                <a:solidFill>
                  <a:srgbClr val="EC111A"/>
                </a:solidFill>
              </a:rPr>
              <a:t>(see slide 16)</a:t>
            </a:r>
          </a:p>
          <a:p>
            <a:pPr marL="346075" lvl="1" indent="-114300">
              <a:lnSpc>
                <a:spcPct val="107000"/>
              </a:lnSpc>
              <a:spcBef>
                <a:spcPts val="0"/>
              </a:spcBef>
              <a:spcAft>
                <a:spcPts val="200"/>
              </a:spcAft>
              <a:buFont typeface="Symbol" panose="05050102010706020507" pitchFamily="18" charset="2"/>
              <a:buChar char=""/>
            </a:pPr>
            <a:r>
              <a:rPr lang="en-US" sz="1050" b="1"/>
              <a:t>Mobilization: </a:t>
            </a:r>
            <a:r>
              <a:rPr lang="en-US" sz="1050"/>
              <a:t>We will be delivering the modern workplace across the Enterprise in phased approaches with key pilots delivered in the U.S. over the next ~3 quarters </a:t>
            </a:r>
            <a:r>
              <a:rPr lang="en-US" sz="1050" i="1">
                <a:solidFill>
                  <a:srgbClr val="EC111A"/>
                </a:solidFill>
              </a:rPr>
              <a:t>(see slide 17)</a:t>
            </a:r>
          </a:p>
          <a:p>
            <a:pPr marL="0" marR="0" lvl="0" indent="0">
              <a:lnSpc>
                <a:spcPct val="107000"/>
              </a:lnSpc>
              <a:spcBef>
                <a:spcPts val="0"/>
              </a:spcBef>
              <a:spcAft>
                <a:spcPts val="300"/>
              </a:spcAft>
              <a:buNone/>
            </a:pPr>
            <a:r>
              <a:rPr lang="en-US" sz="1050" b="1">
                <a:solidFill>
                  <a:srgbClr val="EC111A"/>
                </a:solidFill>
                <a:ea typeface="DengXian" panose="02010600030101010101" pitchFamily="2" charset="-122"/>
                <a:cs typeface="Arial" panose="020B0604020202020204" pitchFamily="34" charset="0"/>
              </a:rPr>
              <a:t>NEXT STEPS</a:t>
            </a:r>
          </a:p>
          <a:p>
            <a:pPr marL="114300" lvl="1" indent="-114300">
              <a:lnSpc>
                <a:spcPct val="107000"/>
              </a:lnSpc>
              <a:spcBef>
                <a:spcPts val="0"/>
              </a:spcBef>
              <a:spcAft>
                <a:spcPts val="200"/>
              </a:spcAft>
              <a:buFont typeface="Symbol" panose="05050102010706020507" pitchFamily="18" charset="2"/>
              <a:buChar char=""/>
            </a:pPr>
            <a:r>
              <a:rPr lang="en-US" sz="1050"/>
              <a:t>The WXE leadership team is currently articulating the measures of success and detailed strategy roadmap to define the timing of critical milestones (~tentatively wrapped up by early June)</a:t>
            </a:r>
          </a:p>
        </p:txBody>
      </p:sp>
      <p:sp>
        <p:nvSpPr>
          <p:cNvPr id="3" name="Text Placeholder 2">
            <a:extLst>
              <a:ext uri="{FF2B5EF4-FFF2-40B4-BE49-F238E27FC236}">
                <a16:creationId xmlns:a16="http://schemas.microsoft.com/office/drawing/2014/main" id="{3DC7C54C-1E80-3A31-E152-D907500B54D9}"/>
              </a:ext>
            </a:extLst>
          </p:cNvPr>
          <p:cNvSpPr>
            <a:spLocks noGrp="1"/>
          </p:cNvSpPr>
          <p:nvPr>
            <p:ph type="body" sz="quarter" idx="13"/>
          </p:nvPr>
        </p:nvSpPr>
        <p:spPr/>
        <p:txBody>
          <a:bodyPr/>
          <a:lstStyle/>
          <a:p>
            <a:r>
              <a:rPr lang="en-US"/>
              <a:t>EXECUTIVE SUMMARY</a:t>
            </a:r>
          </a:p>
        </p:txBody>
      </p:sp>
    </p:spTree>
    <p:extLst>
      <p:ext uri="{BB962C8B-B14F-4D97-AF65-F5344CB8AC3E}">
        <p14:creationId xmlns:p14="http://schemas.microsoft.com/office/powerpoint/2010/main" val="7583578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A89A7B-FF7B-B0B6-EA16-9CA6CB7A6A86}"/>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0696C162-FF4F-7DCF-E6B7-8484E5CE9FFD}"/>
              </a:ext>
            </a:extLst>
          </p:cNvPr>
          <p:cNvSpPr>
            <a:spLocks noGrp="1"/>
          </p:cNvSpPr>
          <p:nvPr>
            <p:ph type="title"/>
          </p:nvPr>
        </p:nvSpPr>
        <p:spPr/>
        <p:txBody>
          <a:bodyPr vert="horz" lIns="0" tIns="0" rIns="0" bIns="0" rtlCol="0" anchor="t">
            <a:noAutofit/>
          </a:bodyPr>
          <a:lstStyle/>
          <a:p>
            <a:r>
              <a:rPr lang="en-US" noProof="0">
                <a:solidFill>
                  <a:srgbClr val="EC111A"/>
                </a:solidFill>
              </a:rPr>
              <a:t>Executive Summary</a:t>
            </a:r>
          </a:p>
        </p:txBody>
      </p:sp>
      <p:sp>
        <p:nvSpPr>
          <p:cNvPr id="3" name="Slide Number Placeholder 2">
            <a:extLst>
              <a:ext uri="{FF2B5EF4-FFF2-40B4-BE49-F238E27FC236}">
                <a16:creationId xmlns:a16="http://schemas.microsoft.com/office/drawing/2014/main" id="{517CDF0B-4CE0-685F-EC52-0E8FB139E9D2}"/>
              </a:ext>
            </a:extLst>
          </p:cNvPr>
          <p:cNvSpPr>
            <a:spLocks noGrp="1"/>
          </p:cNvSpPr>
          <p:nvPr>
            <p:ph type="sldNum" sz="quarter" idx="10"/>
          </p:nvPr>
        </p:nvSpPr>
        <p:spPr/>
        <p:txBody>
          <a:bodyPr/>
          <a:lstStyle/>
          <a:p>
            <a:fld id="{95D835A7-12B2-4074-8DA2-469A8808C237}" type="slidenum">
              <a:rPr lang="en-US" noProof="0" smtClean="0"/>
              <a:pPr/>
              <a:t>6</a:t>
            </a:fld>
            <a:endParaRPr lang="en-US" noProof="0"/>
          </a:p>
        </p:txBody>
      </p:sp>
      <p:sp>
        <p:nvSpPr>
          <p:cNvPr id="19" name="Content Placeholder 9">
            <a:extLst>
              <a:ext uri="{FF2B5EF4-FFF2-40B4-BE49-F238E27FC236}">
                <a16:creationId xmlns:a16="http://schemas.microsoft.com/office/drawing/2014/main" id="{B7288E6A-A456-63BD-CCDB-006E521D743B}"/>
              </a:ext>
            </a:extLst>
          </p:cNvPr>
          <p:cNvSpPr>
            <a:spLocks noGrp="1"/>
          </p:cNvSpPr>
          <p:nvPr>
            <p:ph sz="quarter" idx="12"/>
          </p:nvPr>
        </p:nvSpPr>
        <p:spPr>
          <a:xfrm>
            <a:off x="515938" y="1259839"/>
            <a:ext cx="11160124" cy="5060071"/>
          </a:xfrm>
        </p:spPr>
        <p:txBody>
          <a:bodyPr/>
          <a:lstStyle/>
          <a:p>
            <a:pPr marL="0" indent="0">
              <a:spcBef>
                <a:spcPts val="0"/>
              </a:spcBef>
              <a:spcAft>
                <a:spcPts val="601"/>
              </a:spcAft>
              <a:buNone/>
            </a:pPr>
            <a:r>
              <a:rPr lang="en-US" sz="1100" b="1" spc="201">
                <a:solidFill>
                  <a:srgbClr val="E1111A"/>
                </a:solidFill>
              </a:rPr>
              <a:t>ABOVE PLAN, BELOW AMBITION</a:t>
            </a:r>
            <a:endParaRPr lang="en-US" sz="1100"/>
          </a:p>
          <a:p>
            <a:pPr marL="265116" indent="-265116">
              <a:spcBef>
                <a:spcPts val="0"/>
              </a:spcBef>
              <a:spcAft>
                <a:spcPts val="400"/>
              </a:spcAft>
              <a:buFont typeface="Wingdings" panose="05000000000000000000" pitchFamily="2" charset="2"/>
              <a:buChar char="§"/>
            </a:pPr>
            <a:r>
              <a:rPr lang="en-US" sz="1100"/>
              <a:t>Mexico operates in </a:t>
            </a:r>
            <a:r>
              <a:rPr lang="en-US" sz="1100" b="1"/>
              <a:t>a stable macroeconomic environment</a:t>
            </a:r>
            <a:r>
              <a:rPr lang="en-US" sz="1100"/>
              <a:t>, supported by solid fundamentals, a </a:t>
            </a:r>
            <a:r>
              <a:rPr lang="en-US" sz="1100" b="1"/>
              <a:t>large and young workforce, and deep North American integration</a:t>
            </a:r>
            <a:r>
              <a:rPr lang="en-US" sz="1100"/>
              <a:t>. While near‑term growth is expected to remain moderate, the environment remains constructive for disciplined, profitable banking growth</a:t>
            </a:r>
          </a:p>
          <a:p>
            <a:pPr marL="265116" indent="-265116">
              <a:spcBef>
                <a:spcPts val="0"/>
              </a:spcBef>
              <a:spcAft>
                <a:spcPts val="400"/>
              </a:spcAft>
              <a:buFont typeface="Wingdings" panose="05000000000000000000" pitchFamily="2" charset="2"/>
              <a:buChar char="§"/>
            </a:pPr>
            <a:r>
              <a:rPr lang="en-US" sz="1100"/>
              <a:t>SBM is at a pivotal moment. The franchise is delivering on the 2026 plan, anchored in a </a:t>
            </a:r>
            <a:r>
              <a:rPr lang="en-US" sz="1100" b="1"/>
              <a:t>strong Risk and Control operation</a:t>
            </a:r>
            <a:r>
              <a:rPr lang="en-US" sz="1100"/>
              <a:t>. At the same time, SBM is yet to reach </a:t>
            </a:r>
            <a:r>
              <a:rPr lang="en-US" sz="1100" b="1"/>
              <a:t>its full potential, </a:t>
            </a:r>
            <a:r>
              <a:rPr lang="en-US" sz="1100"/>
              <a:t>and acceleration in client acquisition and share-of-wallet growth </a:t>
            </a:r>
          </a:p>
          <a:p>
            <a:pPr marL="265116" indent="-265116">
              <a:spcBef>
                <a:spcPts val="0"/>
              </a:spcBef>
              <a:spcAft>
                <a:spcPts val="400"/>
              </a:spcAft>
              <a:buFont typeface="Wingdings" panose="05000000000000000000" pitchFamily="2" charset="2"/>
              <a:buChar char="§"/>
            </a:pPr>
            <a:r>
              <a:rPr lang="en-US" sz="1100"/>
              <a:t>While </a:t>
            </a:r>
            <a:r>
              <a:rPr lang="en-US" sz="1100" b="1"/>
              <a:t>Q1 FY26 results exceed plan </a:t>
            </a:r>
            <a:r>
              <a:rPr lang="en-US" sz="1100"/>
              <a:t>across key metrics reflecting early traction, structural factors such as deposit and loan mix, client experience, and scale in priority segments persist as long-term challenges</a:t>
            </a:r>
          </a:p>
          <a:p>
            <a:pPr marL="265116" indent="-265116">
              <a:spcBef>
                <a:spcPts val="0"/>
              </a:spcBef>
              <a:spcAft>
                <a:spcPts val="400"/>
              </a:spcAft>
              <a:buFont typeface="Wingdings" panose="05000000000000000000" pitchFamily="2" charset="2"/>
              <a:buChar char="§"/>
            </a:pPr>
            <a:r>
              <a:rPr lang="en-US" sz="1100"/>
              <a:t>Reaching the 2030 ambition will require more than momentum. It will depend on disciplined execution and </a:t>
            </a:r>
            <a:r>
              <a:rPr lang="en-US" sz="1100" b="1"/>
              <a:t>targeted strategic choices to strengthen primacy, transactional volume and sustainable scale</a:t>
            </a:r>
            <a:r>
              <a:rPr lang="en-US" sz="1100"/>
              <a:t>, with a sharper focus on distribution capabilities to strengthen our position</a:t>
            </a:r>
          </a:p>
          <a:p>
            <a:pPr marL="0" indent="0">
              <a:spcBef>
                <a:spcPts val="1200"/>
              </a:spcBef>
              <a:spcAft>
                <a:spcPts val="601"/>
              </a:spcAft>
              <a:buNone/>
            </a:pPr>
            <a:r>
              <a:rPr lang="en-US" sz="1100" b="1" spc="201">
                <a:solidFill>
                  <a:srgbClr val="E1111A"/>
                </a:solidFill>
              </a:rPr>
              <a:t>WHERE WE ARE WINNING</a:t>
            </a:r>
          </a:p>
          <a:p>
            <a:pPr marL="265116" indent="-265116">
              <a:spcBef>
                <a:spcPts val="0"/>
              </a:spcBef>
              <a:spcAft>
                <a:spcPts val="400"/>
              </a:spcAft>
              <a:buFont typeface="Wingdings" panose="05000000000000000000" pitchFamily="2" charset="2"/>
              <a:buChar char="§"/>
            </a:pPr>
            <a:r>
              <a:rPr lang="en-US" sz="1100"/>
              <a:t>Robust </a:t>
            </a:r>
            <a:r>
              <a:rPr lang="en-US" sz="1100" b="1"/>
              <a:t>governance and disciplined execution </a:t>
            </a:r>
            <a:r>
              <a:rPr lang="en-US" sz="1100"/>
              <a:t>across strategic priorities, anchored by a </a:t>
            </a:r>
            <a:r>
              <a:rPr lang="en-US" sz="1100" b="1"/>
              <a:t>strong, talented team</a:t>
            </a:r>
          </a:p>
          <a:p>
            <a:pPr marL="265116" indent="-265116">
              <a:spcBef>
                <a:spcPts val="0"/>
              </a:spcBef>
              <a:spcAft>
                <a:spcPts val="400"/>
              </a:spcAft>
              <a:buFont typeface="Wingdings" panose="05000000000000000000" pitchFamily="2" charset="2"/>
              <a:buChar char="§"/>
            </a:pPr>
            <a:r>
              <a:rPr lang="en-US" sz="1100" b="1"/>
              <a:t>PCLs are stabilizing and exhibiting a positive trend; however, challenges persist with legacy portfolios</a:t>
            </a:r>
            <a:endParaRPr lang="en-US" sz="1100"/>
          </a:p>
          <a:p>
            <a:pPr marL="265116" indent="-265116">
              <a:spcBef>
                <a:spcPts val="0"/>
              </a:spcBef>
              <a:spcAft>
                <a:spcPts val="400"/>
              </a:spcAft>
              <a:buFont typeface="Wingdings" panose="05000000000000000000" pitchFamily="2" charset="2"/>
              <a:buChar char="§"/>
            </a:pPr>
            <a:r>
              <a:rPr lang="en-US" sz="1100" b="1"/>
              <a:t>Wealth Management </a:t>
            </a:r>
            <a:r>
              <a:rPr lang="en-US" sz="1100"/>
              <a:t>sustains momentum with double‑digit growth</a:t>
            </a:r>
          </a:p>
          <a:p>
            <a:pPr marL="265116" indent="-265116">
              <a:spcBef>
                <a:spcPts val="0"/>
              </a:spcBef>
              <a:spcAft>
                <a:spcPts val="400"/>
              </a:spcAft>
              <a:buFont typeface="Wingdings" panose="05000000000000000000" pitchFamily="2" charset="2"/>
              <a:buChar char="§"/>
            </a:pPr>
            <a:r>
              <a:rPr lang="en-US" sz="1100" b="1"/>
              <a:t>Strong Corporate Banking franchise </a:t>
            </a:r>
          </a:p>
          <a:p>
            <a:pPr marL="265116" indent="-265116">
              <a:spcBef>
                <a:spcPts val="0"/>
              </a:spcBef>
              <a:spcAft>
                <a:spcPts val="400"/>
              </a:spcAft>
              <a:buFont typeface="Wingdings" panose="05000000000000000000" pitchFamily="2" charset="2"/>
              <a:buChar char="§"/>
            </a:pPr>
            <a:r>
              <a:rPr lang="en-US" sz="1100" b="1"/>
              <a:t>Commercial Banking </a:t>
            </a:r>
            <a:r>
              <a:rPr lang="en-US" sz="1100"/>
              <a:t>on the right path to reach profitability</a:t>
            </a:r>
          </a:p>
          <a:p>
            <a:pPr marL="0" indent="0">
              <a:spcBef>
                <a:spcPts val="1200"/>
              </a:spcBef>
              <a:spcAft>
                <a:spcPts val="601"/>
              </a:spcAft>
              <a:buNone/>
            </a:pPr>
            <a:r>
              <a:rPr lang="en-US" sz="1100" b="1" spc="201">
                <a:solidFill>
                  <a:srgbClr val="E1111A"/>
                </a:solidFill>
              </a:rPr>
              <a:t>WHAT ARE OUR CHALLENGES</a:t>
            </a:r>
          </a:p>
          <a:p>
            <a:pPr marL="265116" indent="-265116">
              <a:spcBef>
                <a:spcPts val="0"/>
              </a:spcBef>
              <a:spcAft>
                <a:spcPts val="400"/>
              </a:spcAft>
              <a:buFont typeface="Wingdings" panose="05000000000000000000" pitchFamily="2" charset="2"/>
              <a:buChar char="§"/>
            </a:pPr>
            <a:r>
              <a:rPr lang="en-US" sz="1100"/>
              <a:t>A deposit mix skewed toward </a:t>
            </a:r>
            <a:r>
              <a:rPr lang="en-US" sz="1100" b="1"/>
              <a:t>higher cost of funds </a:t>
            </a:r>
            <a:r>
              <a:rPr lang="en-US" sz="1100"/>
              <a:t>relative to peers</a:t>
            </a:r>
          </a:p>
          <a:p>
            <a:pPr marL="265116" indent="-265116">
              <a:spcBef>
                <a:spcPts val="0"/>
              </a:spcBef>
              <a:spcAft>
                <a:spcPts val="400"/>
              </a:spcAft>
              <a:buFont typeface="Wingdings" panose="05000000000000000000" pitchFamily="2" charset="2"/>
              <a:buChar char="§"/>
            </a:pPr>
            <a:r>
              <a:rPr lang="en-US" sz="1100"/>
              <a:t>Excess </a:t>
            </a:r>
            <a:r>
              <a:rPr lang="en-US" sz="1100" b="1"/>
              <a:t>concentration in secured lending</a:t>
            </a:r>
            <a:r>
              <a:rPr lang="en-US" sz="1100"/>
              <a:t> leading to lower return in Retail Banking</a:t>
            </a:r>
          </a:p>
          <a:p>
            <a:pPr marL="265116" indent="-265116">
              <a:spcBef>
                <a:spcPts val="0"/>
              </a:spcBef>
              <a:spcAft>
                <a:spcPts val="400"/>
              </a:spcAft>
              <a:buFont typeface="Wingdings" panose="05000000000000000000" pitchFamily="2" charset="2"/>
              <a:buChar char="§"/>
            </a:pPr>
            <a:r>
              <a:rPr lang="en-US" sz="1100"/>
              <a:t>Insufficient </a:t>
            </a:r>
            <a:r>
              <a:rPr lang="en-US" sz="1100" b="1"/>
              <a:t>digital capabilities </a:t>
            </a:r>
            <a:r>
              <a:rPr lang="en-US" sz="1100"/>
              <a:t>have driven a heavy reliance on branch execution while </a:t>
            </a:r>
            <a:r>
              <a:rPr lang="en-US" sz="1100" b="1"/>
              <a:t>frontline sales productivity </a:t>
            </a:r>
            <a:r>
              <a:rPr lang="en-US" sz="1100"/>
              <a:t>remains constrained</a:t>
            </a:r>
          </a:p>
          <a:p>
            <a:pPr marL="265116" indent="-265116">
              <a:spcBef>
                <a:spcPts val="0"/>
              </a:spcBef>
              <a:spcAft>
                <a:spcPts val="400"/>
              </a:spcAft>
              <a:buFont typeface="Wingdings" panose="05000000000000000000" pitchFamily="2" charset="2"/>
              <a:buChar char="§"/>
            </a:pPr>
            <a:r>
              <a:rPr lang="en-US" sz="1100" b="1"/>
              <a:t>Under‑penetration of transactional banking solutions </a:t>
            </a:r>
            <a:r>
              <a:rPr lang="en-US" sz="1100"/>
              <a:t>across segments challenging primacy</a:t>
            </a:r>
          </a:p>
          <a:p>
            <a:pPr marL="265116" indent="-265116">
              <a:spcBef>
                <a:spcPts val="0"/>
              </a:spcBef>
              <a:spcAft>
                <a:spcPts val="400"/>
              </a:spcAft>
              <a:buFont typeface="Wingdings" panose="05000000000000000000" pitchFamily="2" charset="2"/>
              <a:buChar char="§"/>
            </a:pPr>
            <a:r>
              <a:rPr lang="en-US" sz="1100" b="1"/>
              <a:t>Accelerate penetration rates in GBM clients</a:t>
            </a:r>
            <a:r>
              <a:rPr lang="en-US" sz="1100"/>
              <a:t> with focus on Cash Management and FX</a:t>
            </a:r>
          </a:p>
          <a:p>
            <a:pPr marL="265116" indent="-265116">
              <a:spcBef>
                <a:spcPts val="0"/>
              </a:spcBef>
              <a:spcAft>
                <a:spcPts val="400"/>
              </a:spcAft>
              <a:buFont typeface="Wingdings" panose="05000000000000000000" pitchFamily="2" charset="2"/>
              <a:buChar char="§"/>
            </a:pPr>
            <a:r>
              <a:rPr lang="en-US" sz="1100" b="1"/>
              <a:t>Limited client acquisition </a:t>
            </a:r>
            <a:r>
              <a:rPr lang="en-US" sz="1100"/>
              <a:t>and an </a:t>
            </a:r>
            <a:r>
              <a:rPr lang="en-US" sz="1100" b="1"/>
              <a:t>uncompetitive payroll proposition </a:t>
            </a:r>
            <a:r>
              <a:rPr lang="en-US" sz="1100"/>
              <a:t>have capped our scaling potential</a:t>
            </a:r>
          </a:p>
        </p:txBody>
      </p:sp>
    </p:spTree>
    <p:extLst>
      <p:ext uri="{BB962C8B-B14F-4D97-AF65-F5344CB8AC3E}">
        <p14:creationId xmlns:p14="http://schemas.microsoft.com/office/powerpoint/2010/main" val="180396175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8C46F1A-2A0D-2872-DAC3-39B9FB20A61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7" name="think-cell data - do not delete" hidden="1">
                        <a:extLst>
                          <a:ext uri="{FF2B5EF4-FFF2-40B4-BE49-F238E27FC236}">
                            <a16:creationId xmlns:a16="http://schemas.microsoft.com/office/drawing/2014/main" id="{68C46F1A-2A0D-2872-DAC3-39B9FB20A613}"/>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46906A98-5F94-AEE0-C50F-7599CD8331C0}"/>
              </a:ext>
            </a:extLst>
          </p:cNvPr>
          <p:cNvSpPr>
            <a:spLocks noGrp="1"/>
          </p:cNvSpPr>
          <p:nvPr>
            <p:ph type="title"/>
          </p:nvPr>
        </p:nvSpPr>
        <p:spPr>
          <a:xfrm>
            <a:off x="515938" y="661850"/>
            <a:ext cx="11160124" cy="720000"/>
          </a:xfrm>
        </p:spPr>
        <p:txBody>
          <a:bodyPr vert="horz"/>
          <a:lstStyle/>
          <a:p>
            <a:r>
              <a:rPr lang="en-CA"/>
              <a:t>Executive Summary</a:t>
            </a:r>
          </a:p>
        </p:txBody>
      </p:sp>
      <p:sp>
        <p:nvSpPr>
          <p:cNvPr id="3" name="Slide Number Placeholder 2">
            <a:extLst>
              <a:ext uri="{FF2B5EF4-FFF2-40B4-BE49-F238E27FC236}">
                <a16:creationId xmlns:a16="http://schemas.microsoft.com/office/drawing/2014/main" id="{117B3B6E-8141-1618-FF8F-1229847C09BC}"/>
              </a:ext>
            </a:extLst>
          </p:cNvPr>
          <p:cNvSpPr>
            <a:spLocks noGrp="1"/>
          </p:cNvSpPr>
          <p:nvPr>
            <p:ph type="sldNum" sz="quarter" idx="10"/>
          </p:nvPr>
        </p:nvSpPr>
        <p:spPr>
          <a:xfrm>
            <a:off x="11231211" y="338582"/>
            <a:ext cx="435865" cy="180000"/>
          </a:xfrm>
        </p:spPr>
        <p:txBody>
          <a:bodyPr/>
          <a:lstStyle/>
          <a:p>
            <a:fld id="{95D835A7-12B2-4074-8DA2-469A8808C237}" type="slidenum">
              <a:rPr lang="en-US" smtClean="0"/>
              <a:pPr/>
              <a:t>7</a:t>
            </a:fld>
            <a:endParaRPr lang="en-US"/>
          </a:p>
        </p:txBody>
      </p:sp>
      <p:sp>
        <p:nvSpPr>
          <p:cNvPr id="5" name="Content Placeholder 4">
            <a:extLst>
              <a:ext uri="{FF2B5EF4-FFF2-40B4-BE49-F238E27FC236}">
                <a16:creationId xmlns:a16="http://schemas.microsoft.com/office/drawing/2014/main" id="{8F196646-6117-4CCB-85D9-C5019817F89D}"/>
              </a:ext>
            </a:extLst>
          </p:cNvPr>
          <p:cNvSpPr>
            <a:spLocks noGrp="1"/>
          </p:cNvSpPr>
          <p:nvPr>
            <p:ph sz="quarter" idx="12"/>
          </p:nvPr>
        </p:nvSpPr>
        <p:spPr>
          <a:xfrm>
            <a:off x="515938" y="1260839"/>
            <a:ext cx="11160125" cy="4759554"/>
          </a:xfrm>
        </p:spPr>
        <p:txBody>
          <a:bodyPr/>
          <a:lstStyle/>
          <a:p>
            <a:pPr marL="0" lvl="0" indent="0" defTabSz="914355">
              <a:spcAft>
                <a:spcPts val="300"/>
              </a:spcAft>
              <a:buClrTx/>
              <a:buNone/>
              <a:defRPr/>
            </a:pPr>
            <a:r>
              <a:rPr lang="en-US" sz="1200" b="1">
                <a:solidFill>
                  <a:srgbClr val="EC111A"/>
                </a:solidFill>
              </a:rPr>
              <a:t>Credit cards remain structurally relevant across Latin America &amp; the Caribbean, despite rise of alternative payment methods</a:t>
            </a:r>
          </a:p>
          <a:p>
            <a:pPr marL="185738" indent="-185738" defTabSz="914355">
              <a:spcBef>
                <a:spcPts val="200"/>
              </a:spcBef>
              <a:buClrTx/>
              <a:defRPr/>
            </a:pPr>
            <a:r>
              <a:rPr lang="en-US" sz="1100" b="1">
                <a:solidFill>
                  <a:srgbClr val="000000"/>
                </a:solidFill>
              </a:rPr>
              <a:t>Credit cards are central to everyday payments across LATAM </a:t>
            </a:r>
            <a:r>
              <a:rPr lang="en-US" sz="1100">
                <a:solidFill>
                  <a:srgbClr val="000000"/>
                </a:solidFill>
              </a:rPr>
              <a:t>(~65% cards penetration) </a:t>
            </a:r>
            <a:r>
              <a:rPr lang="en-US" sz="1100" b="1">
                <a:solidFill>
                  <a:srgbClr val="000000"/>
                </a:solidFill>
              </a:rPr>
              <a:t>and the Caribbean (~$305Bn credit card market volume)</a:t>
            </a:r>
            <a:r>
              <a:rPr lang="en-US" sz="1100">
                <a:solidFill>
                  <a:srgbClr val="000000"/>
                </a:solidFill>
              </a:rPr>
              <a:t>, with high penetration, strong consumer preference, and a large, growing transaction base.</a:t>
            </a:r>
          </a:p>
          <a:p>
            <a:pPr marL="185738" indent="-185738" defTabSz="914355">
              <a:spcAft>
                <a:spcPts val="500"/>
              </a:spcAft>
              <a:buClrTx/>
              <a:defRPr/>
            </a:pPr>
            <a:r>
              <a:rPr lang="en-US" sz="1100">
                <a:solidFill>
                  <a:srgbClr val="000000"/>
                </a:solidFill>
              </a:rPr>
              <a:t>Cards are a </a:t>
            </a:r>
            <a:r>
              <a:rPr lang="en-US" sz="1100" b="1">
                <a:solidFill>
                  <a:srgbClr val="000000"/>
                </a:solidFill>
              </a:rPr>
              <a:t>critical driver of client primacy</a:t>
            </a:r>
            <a:r>
              <a:rPr lang="en-US" sz="1100">
                <a:solidFill>
                  <a:srgbClr val="000000"/>
                </a:solidFill>
              </a:rPr>
              <a:t>, shaping how customers spend, pay, and engage with their primary bank daily.</a:t>
            </a:r>
          </a:p>
          <a:p>
            <a:pPr marL="0" indent="0" defTabSz="914355">
              <a:spcAft>
                <a:spcPts val="300"/>
              </a:spcAft>
              <a:buClrTx/>
              <a:buNone/>
              <a:defRPr/>
            </a:pPr>
            <a:r>
              <a:rPr lang="en-US" sz="1200" b="1">
                <a:solidFill>
                  <a:srgbClr val="EC111A"/>
                </a:solidFill>
              </a:rPr>
              <a:t>Credit cards deliver outsized value and remain a priority growth engine for IB Retail, with solid revenue momentum</a:t>
            </a:r>
          </a:p>
          <a:p>
            <a:pPr marL="185738" lvl="0" indent="-185738" defTabSz="914355">
              <a:spcBef>
                <a:spcPts val="200"/>
              </a:spcBef>
              <a:buClrTx/>
              <a:defRPr/>
            </a:pPr>
            <a:r>
              <a:rPr lang="en-US" sz="1100">
                <a:solidFill>
                  <a:srgbClr val="000000"/>
                </a:solidFill>
              </a:rPr>
              <a:t>Credit cards account for </a:t>
            </a:r>
            <a:r>
              <a:rPr lang="en-US" sz="1100" b="1">
                <a:solidFill>
                  <a:srgbClr val="000000"/>
                </a:solidFill>
              </a:rPr>
              <a:t>5% of IB Retail lending balances</a:t>
            </a:r>
            <a:r>
              <a:rPr lang="en-US" sz="1100">
                <a:solidFill>
                  <a:srgbClr val="000000"/>
                </a:solidFill>
              </a:rPr>
              <a:t>, yet generate </a:t>
            </a:r>
            <a:r>
              <a:rPr lang="en-US" sz="1100" b="1">
                <a:solidFill>
                  <a:srgbClr val="000000"/>
                </a:solidFill>
              </a:rPr>
              <a:t>28% of lending revenue</a:t>
            </a:r>
            <a:r>
              <a:rPr lang="en-US" sz="1100">
                <a:solidFill>
                  <a:srgbClr val="000000"/>
                </a:solidFill>
              </a:rPr>
              <a:t>, supported by </a:t>
            </a:r>
            <a:r>
              <a:rPr lang="en-US" sz="1100" b="1">
                <a:solidFill>
                  <a:srgbClr val="000000"/>
                </a:solidFill>
              </a:rPr>
              <a:t>significantly higher NIMs  vs other lending products </a:t>
            </a:r>
            <a:r>
              <a:rPr lang="en-US" sz="1100">
                <a:solidFill>
                  <a:srgbClr val="000000"/>
                </a:solidFill>
              </a:rPr>
              <a:t>(~17%, in F25), positioning cards as a</a:t>
            </a:r>
            <a:r>
              <a:rPr lang="en-US" sz="1100" b="1">
                <a:solidFill>
                  <a:srgbClr val="000000"/>
                </a:solidFill>
              </a:rPr>
              <a:t> core driver of F26 growth</a:t>
            </a:r>
            <a:endParaRPr lang="en-US" sz="1100">
              <a:solidFill>
                <a:srgbClr val="000000"/>
              </a:solidFill>
            </a:endParaRPr>
          </a:p>
          <a:p>
            <a:pPr marL="185738" lvl="0" indent="-185738" defTabSz="914355">
              <a:spcAft>
                <a:spcPts val="600"/>
              </a:spcAft>
              <a:buClrTx/>
              <a:defRPr/>
            </a:pPr>
            <a:r>
              <a:rPr lang="en-US" sz="1100">
                <a:solidFill>
                  <a:srgbClr val="000000"/>
                </a:solidFill>
              </a:rPr>
              <a:t>IB Credit Cards </a:t>
            </a:r>
            <a:r>
              <a:rPr lang="en-US" sz="1100" b="1">
                <a:solidFill>
                  <a:srgbClr val="000000"/>
                </a:solidFill>
              </a:rPr>
              <a:t>delivered solid F25 revenue growth (+6% Y/Y)</a:t>
            </a:r>
            <a:r>
              <a:rPr lang="en-US" sz="1100">
                <a:solidFill>
                  <a:srgbClr val="000000"/>
                </a:solidFill>
              </a:rPr>
              <a:t>, driven by NII expansion from lower funding costs, supporting a +108 bps NIM uplift and maintaining a materially higher NIM than CB despite modest fee growth</a:t>
            </a:r>
          </a:p>
          <a:p>
            <a:pPr marL="0" indent="0" defTabSz="914355">
              <a:spcAft>
                <a:spcPts val="300"/>
              </a:spcAft>
              <a:buClrTx/>
              <a:buNone/>
              <a:defRPr/>
            </a:pPr>
            <a:r>
              <a:rPr lang="en-US" sz="1200" b="1">
                <a:solidFill>
                  <a:srgbClr val="EC111A"/>
                </a:solidFill>
              </a:rPr>
              <a:t>Monetization however constrained by usage gaps and weak, fragmented loyalty programs</a:t>
            </a:r>
          </a:p>
          <a:p>
            <a:pPr marL="185738" indent="-185738" defTabSz="914355">
              <a:spcBef>
                <a:spcPts val="200"/>
              </a:spcBef>
              <a:buClrTx/>
              <a:defRPr/>
            </a:pPr>
            <a:r>
              <a:rPr lang="en-US" sz="1100" b="1">
                <a:solidFill>
                  <a:srgbClr val="000000"/>
                </a:solidFill>
              </a:rPr>
              <a:t>Competitive performance is mixed</a:t>
            </a:r>
            <a:r>
              <a:rPr lang="en-US" sz="1100">
                <a:solidFill>
                  <a:srgbClr val="000000"/>
                </a:solidFill>
              </a:rPr>
              <a:t>, with weak acquisition growth vs market but consistently strong usage metrics across countries</a:t>
            </a:r>
          </a:p>
          <a:p>
            <a:pPr marL="185738" lvl="0" indent="-185738" defTabSz="914355">
              <a:buClrTx/>
              <a:defRPr/>
            </a:pPr>
            <a:r>
              <a:rPr lang="en-US" sz="1100">
                <a:solidFill>
                  <a:srgbClr val="000000"/>
                </a:solidFill>
              </a:rPr>
              <a:t>Despite </a:t>
            </a:r>
            <a:r>
              <a:rPr lang="en-US" sz="1100" b="1">
                <a:solidFill>
                  <a:srgbClr val="000000"/>
                </a:solidFill>
              </a:rPr>
              <a:t>low usage (~20% vs 30% benchmark) and high Open-To-Buy </a:t>
            </a:r>
            <a:r>
              <a:rPr lang="en-US" sz="1100">
                <a:solidFill>
                  <a:srgbClr val="000000"/>
                </a:solidFill>
              </a:rPr>
              <a:t>(driven by Chile and Mexico), IB </a:t>
            </a:r>
            <a:r>
              <a:rPr lang="en-US" sz="1100" b="1">
                <a:solidFill>
                  <a:srgbClr val="000000"/>
                </a:solidFill>
              </a:rPr>
              <a:t>continues to deliver solid momentum</a:t>
            </a:r>
            <a:r>
              <a:rPr lang="en-US" sz="1100">
                <a:solidFill>
                  <a:srgbClr val="000000"/>
                </a:solidFill>
              </a:rPr>
              <a:t>, with </a:t>
            </a:r>
            <a:r>
              <a:rPr lang="en-US" sz="1100" b="1">
                <a:solidFill>
                  <a:srgbClr val="000000"/>
                </a:solidFill>
              </a:rPr>
              <a:t>spend and balances up 7% and 8% YoY respectively</a:t>
            </a:r>
            <a:r>
              <a:rPr lang="en-US" sz="1100">
                <a:solidFill>
                  <a:srgbClr val="000000"/>
                </a:solidFill>
              </a:rPr>
              <a:t>, alongside </a:t>
            </a:r>
            <a:r>
              <a:rPr lang="en-US" sz="1100" b="1">
                <a:solidFill>
                  <a:srgbClr val="000000"/>
                </a:solidFill>
              </a:rPr>
              <a:t>improving attrition </a:t>
            </a:r>
            <a:r>
              <a:rPr lang="en-US" sz="1100">
                <a:solidFill>
                  <a:srgbClr val="000000"/>
                </a:solidFill>
              </a:rPr>
              <a:t>across key markets</a:t>
            </a:r>
          </a:p>
          <a:p>
            <a:pPr marL="185738" lvl="0" indent="-185738" defTabSz="914355">
              <a:buClrTx/>
              <a:defRPr/>
            </a:pPr>
            <a:r>
              <a:rPr lang="en-US" sz="1100" b="1">
                <a:solidFill>
                  <a:srgbClr val="000000"/>
                </a:solidFill>
              </a:rPr>
              <a:t>Revolving balances remain stable overall</a:t>
            </a:r>
            <a:r>
              <a:rPr lang="en-US" sz="1100">
                <a:solidFill>
                  <a:srgbClr val="000000"/>
                </a:solidFill>
              </a:rPr>
              <a:t>, with </a:t>
            </a:r>
            <a:r>
              <a:rPr lang="en-US" sz="1100" b="1">
                <a:solidFill>
                  <a:srgbClr val="000000"/>
                </a:solidFill>
              </a:rPr>
              <a:t>Chile under targeted review following TSYS migration </a:t>
            </a:r>
            <a:r>
              <a:rPr lang="en-US" sz="1100">
                <a:solidFill>
                  <a:srgbClr val="000000"/>
                </a:solidFill>
              </a:rPr>
              <a:t>accounting adjustments</a:t>
            </a:r>
          </a:p>
          <a:p>
            <a:pPr marL="185738" lvl="0" indent="-185738" defTabSz="914355">
              <a:spcAft>
                <a:spcPts val="600"/>
              </a:spcAft>
              <a:buClrTx/>
              <a:defRPr/>
            </a:pPr>
            <a:r>
              <a:rPr lang="en-US" sz="1100" b="1">
                <a:solidFill>
                  <a:srgbClr val="000000"/>
                </a:solidFill>
              </a:rPr>
              <a:t>Fragmentation and limited competitiveness of loyalty programs</a:t>
            </a:r>
            <a:r>
              <a:rPr lang="en-US" sz="1100">
                <a:solidFill>
                  <a:srgbClr val="000000"/>
                </a:solidFill>
              </a:rPr>
              <a:t> has led to wide dispersion in cost, engagement and profitability</a:t>
            </a:r>
          </a:p>
          <a:p>
            <a:pPr marL="0" lvl="0" indent="0">
              <a:spcAft>
                <a:spcPts val="300"/>
              </a:spcAft>
              <a:buNone/>
              <a:defRPr/>
            </a:pPr>
            <a:r>
              <a:rPr lang="en-US" sz="1200" b="1">
                <a:solidFill>
                  <a:srgbClr val="EC111A"/>
                </a:solidFill>
              </a:rPr>
              <a:t>We are focused on 4 strategic levers to unlock full potential by driving primacy, digital engagement, and profitability across markets </a:t>
            </a:r>
          </a:p>
          <a:p>
            <a:pPr marL="185738" lvl="0" indent="-185738" defTabSz="914355">
              <a:spcBef>
                <a:spcPts val="200"/>
              </a:spcBef>
              <a:buClrTx/>
              <a:defRPr/>
            </a:pPr>
            <a:r>
              <a:rPr lang="en-US" sz="1100" b="1">
                <a:solidFill>
                  <a:srgbClr val="000000"/>
                </a:solidFill>
              </a:rPr>
              <a:t>Grow primacy through credit cards</a:t>
            </a:r>
            <a:r>
              <a:rPr lang="en-US" sz="1100">
                <a:solidFill>
                  <a:srgbClr val="000000"/>
                </a:solidFill>
              </a:rPr>
              <a:t>: Deepen existing client relationships through targeted offers, regional and local campaigns, and proactive segment-led retention strategies</a:t>
            </a:r>
          </a:p>
          <a:p>
            <a:pPr marL="185738" lvl="0" indent="-185738" defTabSz="914355">
              <a:buClrTx/>
              <a:defRPr/>
            </a:pPr>
            <a:r>
              <a:rPr lang="en-US" sz="1100" b="1">
                <a:solidFill>
                  <a:srgbClr val="000000"/>
                </a:solidFill>
              </a:rPr>
              <a:t>Deliver differentiated value proposition</a:t>
            </a:r>
            <a:r>
              <a:rPr lang="en-US" sz="1100">
                <a:solidFill>
                  <a:srgbClr val="000000"/>
                </a:solidFill>
              </a:rPr>
              <a:t>: Reinforce card differentiation by relaunching regional, value‑based loyalty program &amp; clearly communicating exclusive, unique benefits</a:t>
            </a:r>
          </a:p>
          <a:p>
            <a:pPr marL="185738" lvl="0" indent="-185738" defTabSz="914355">
              <a:buClrTx/>
              <a:defRPr/>
            </a:pPr>
            <a:r>
              <a:rPr lang="en-US" sz="1100" b="1">
                <a:solidFill>
                  <a:srgbClr val="000000"/>
                </a:solidFill>
              </a:rPr>
              <a:t>Enable </a:t>
            </a:r>
            <a:r>
              <a:rPr lang="en-US" sz="1100" b="1" err="1">
                <a:solidFill>
                  <a:srgbClr val="000000"/>
                </a:solidFill>
              </a:rPr>
              <a:t>ScotiaMóvil</a:t>
            </a:r>
            <a:r>
              <a:rPr lang="en-US" sz="1100" b="1">
                <a:solidFill>
                  <a:srgbClr val="000000"/>
                </a:solidFill>
              </a:rPr>
              <a:t> as primary channel</a:t>
            </a:r>
            <a:r>
              <a:rPr lang="en-US" sz="1100">
                <a:solidFill>
                  <a:srgbClr val="000000"/>
                </a:solidFill>
              </a:rPr>
              <a:t>: Scale digital onboarding with bundled offerings, elevate </a:t>
            </a:r>
            <a:r>
              <a:rPr lang="en-US" sz="1100" err="1">
                <a:solidFill>
                  <a:srgbClr val="000000"/>
                </a:solidFill>
              </a:rPr>
              <a:t>ScotiaMóvil</a:t>
            </a:r>
            <a:r>
              <a:rPr lang="en-US" sz="1100">
                <a:solidFill>
                  <a:srgbClr val="000000"/>
                </a:solidFill>
              </a:rPr>
              <a:t> self‑service, and accelerate multi‑channel servicing</a:t>
            </a:r>
          </a:p>
          <a:p>
            <a:pPr marL="185738" lvl="0" indent="-185738" defTabSz="914355">
              <a:buClrTx/>
              <a:defRPr/>
            </a:pPr>
            <a:r>
              <a:rPr lang="en-US" sz="1100" b="1">
                <a:solidFill>
                  <a:srgbClr val="000000"/>
                </a:solidFill>
              </a:rPr>
              <a:t>Strengthen profitability</a:t>
            </a:r>
            <a:r>
              <a:rPr lang="en-US" sz="1100">
                <a:solidFill>
                  <a:srgbClr val="000000"/>
                </a:solidFill>
              </a:rPr>
              <a:t>: Convert Mercury benefits into sustained P&amp;L impact, execute authorization uplift initiatives, and drive operational efficiency via product simplification</a:t>
            </a:r>
          </a:p>
          <a:p>
            <a:pPr lvl="0" defTabSz="914355">
              <a:buClrTx/>
              <a:defRPr/>
            </a:pPr>
            <a:endParaRPr lang="en-US" sz="1200" b="1">
              <a:solidFill>
                <a:srgbClr val="000000"/>
              </a:solidFill>
            </a:endParaRPr>
          </a:p>
        </p:txBody>
      </p:sp>
    </p:spTree>
    <p:extLst>
      <p:ext uri="{BB962C8B-B14F-4D97-AF65-F5344CB8AC3E}">
        <p14:creationId xmlns:p14="http://schemas.microsoft.com/office/powerpoint/2010/main" val="118605857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569B79AB-B5E6-97BB-2548-954C2851FA01}"/>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9" name="think-cell data - do not delete" hidden="1">
                        <a:extLst>
                          <a:ext uri="{FF2B5EF4-FFF2-40B4-BE49-F238E27FC236}">
                            <a16:creationId xmlns:a16="http://schemas.microsoft.com/office/drawing/2014/main" id="{569B79AB-B5E6-97BB-2548-954C2851FA0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345823AD-3043-9D8B-8C5C-8ACCA74FEEAC}"/>
              </a:ext>
            </a:extLst>
          </p:cNvPr>
          <p:cNvSpPr>
            <a:spLocks noGrp="1"/>
          </p:cNvSpPr>
          <p:nvPr>
            <p:ph type="title"/>
          </p:nvPr>
        </p:nvSpPr>
        <p:spPr/>
        <p:txBody>
          <a:bodyPr vert="horz" anchor="t"/>
          <a:lstStyle/>
          <a:p>
            <a:r>
              <a:rPr lang="en-CA"/>
              <a:t>Executive summary</a:t>
            </a:r>
          </a:p>
        </p:txBody>
      </p:sp>
      <p:sp>
        <p:nvSpPr>
          <p:cNvPr id="3" name="Slide Number Placeholder 2">
            <a:extLst>
              <a:ext uri="{FF2B5EF4-FFF2-40B4-BE49-F238E27FC236}">
                <a16:creationId xmlns:a16="http://schemas.microsoft.com/office/drawing/2014/main" id="{D0C3EDB0-876A-DEBB-3506-4651657E226C}"/>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 name="Content Placeholder 4">
            <a:extLst>
              <a:ext uri="{FF2B5EF4-FFF2-40B4-BE49-F238E27FC236}">
                <a16:creationId xmlns:a16="http://schemas.microsoft.com/office/drawing/2014/main" id="{DBB02DB9-EE37-CC81-0330-6523C358DAE7}"/>
              </a:ext>
            </a:extLst>
          </p:cNvPr>
          <p:cNvSpPr>
            <a:spLocks noGrp="1"/>
          </p:cNvSpPr>
          <p:nvPr>
            <p:ph sz="quarter" idx="12"/>
          </p:nvPr>
        </p:nvSpPr>
        <p:spPr>
          <a:xfrm>
            <a:off x="350873" y="1242126"/>
            <a:ext cx="11407537" cy="5273017"/>
          </a:xfrm>
        </p:spPr>
        <p:txBody>
          <a:bodyPr/>
          <a:lstStyle/>
          <a:p>
            <a:pPr marL="177800" indent="0">
              <a:spcBef>
                <a:spcPts val="600"/>
              </a:spcBef>
              <a:buNone/>
            </a:pPr>
            <a:r>
              <a:rPr lang="en-US" sz="1200" b="1">
                <a:solidFill>
                  <a:srgbClr val="EC111A"/>
                </a:solidFill>
              </a:rPr>
              <a:t>CONTEXT AND OBJECTIVES</a:t>
            </a:r>
          </a:p>
          <a:p>
            <a:pPr marL="347472" indent="-173736">
              <a:spcBef>
                <a:spcPts val="300"/>
              </a:spcBef>
            </a:pPr>
            <a:r>
              <a:rPr lang="en-US" sz="1050"/>
              <a:t>Wealthsimple’s (“WS”) recent product announcements have </a:t>
            </a:r>
            <a:r>
              <a:rPr lang="en-US" sz="1050" b="1"/>
              <a:t>garnered interest</a:t>
            </a:r>
            <a:r>
              <a:rPr lang="en-US" sz="1050"/>
              <a:t> and attention across FIs and consumers on its offerings and value proposition</a:t>
            </a:r>
          </a:p>
          <a:p>
            <a:pPr marL="347472" indent="-173736">
              <a:spcBef>
                <a:spcPts val="300"/>
              </a:spcBef>
            </a:pPr>
            <a:r>
              <a:rPr lang="en-US" sz="1050"/>
              <a:t>Given the attention, this fact-base was developed with the objectives to: 1) outline </a:t>
            </a:r>
            <a:r>
              <a:rPr lang="en-US" sz="1050" b="1"/>
              <a:t>WS’s growth and impact on BNS</a:t>
            </a:r>
            <a:r>
              <a:rPr lang="en-US" sz="1050"/>
              <a:t>; 2) understand their </a:t>
            </a:r>
            <a:r>
              <a:rPr lang="en-US" sz="1050" b="1"/>
              <a:t>relative strengths, </a:t>
            </a:r>
            <a:r>
              <a:rPr lang="en-US" sz="1050"/>
              <a:t>and</a:t>
            </a:r>
            <a:r>
              <a:rPr lang="en-US" sz="1050" b="1"/>
              <a:t> </a:t>
            </a:r>
            <a:r>
              <a:rPr lang="en-US" sz="1050"/>
              <a:t>3) frame next steps and discuss </a:t>
            </a:r>
            <a:r>
              <a:rPr lang="en-US" sz="1050" b="1"/>
              <a:t>if a further strategic response is required</a:t>
            </a:r>
          </a:p>
          <a:p>
            <a:pPr marL="177800" indent="0">
              <a:spcBef>
                <a:spcPts val="1200"/>
              </a:spcBef>
              <a:buNone/>
            </a:pPr>
            <a:r>
              <a:rPr lang="en-US" sz="1200" b="1">
                <a:solidFill>
                  <a:srgbClr val="EC111A"/>
                </a:solidFill>
              </a:rPr>
              <a:t>WEALTHSIMPLE GROWTH STORY</a:t>
            </a:r>
          </a:p>
          <a:p>
            <a:pPr marL="347472" indent="-173736">
              <a:spcBef>
                <a:spcPts val="300"/>
              </a:spcBef>
            </a:pPr>
            <a:r>
              <a:rPr lang="en-CA" sz="1050"/>
              <a:t>Since its inception, </a:t>
            </a:r>
            <a:r>
              <a:rPr lang="en-US" sz="1050"/>
              <a:t>WS has experienced strong growth; it now has ~</a:t>
            </a:r>
            <a:r>
              <a:rPr lang="en-US" sz="1050" b="1"/>
              <a:t>3MM clients and has seen ~70% CAGR in assets </a:t>
            </a:r>
            <a:r>
              <a:rPr lang="en-US" sz="1050"/>
              <a:t>since 2018 (vs. 8% for BNS and 4% for TNG) </a:t>
            </a:r>
          </a:p>
          <a:p>
            <a:pPr marL="347472" indent="-173736">
              <a:spcBef>
                <a:spcPts val="300"/>
              </a:spcBef>
            </a:pPr>
            <a:r>
              <a:rPr lang="en-US" sz="1050"/>
              <a:t>While outflows to WS across Retail, iTRADE and TNG account for 2% of total, </a:t>
            </a:r>
            <a:r>
              <a:rPr lang="en-US" sz="1050" b="1"/>
              <a:t>net outflows to WS have grown by ~100% Y/Y</a:t>
            </a:r>
            <a:r>
              <a:rPr lang="en-US" sz="1050"/>
              <a:t> and are overindexed from primary clients (~50% of outflows) </a:t>
            </a:r>
          </a:p>
          <a:p>
            <a:pPr marL="799915" lvl="1" indent="-173736">
              <a:spcBef>
                <a:spcPts val="300"/>
              </a:spcBef>
            </a:pPr>
            <a:r>
              <a:rPr lang="en-US" sz="1050"/>
              <a:t>Clients sending funds to WS skew younger and less affluent (e.g., c</a:t>
            </a:r>
            <a:r>
              <a:rPr lang="en-US" sz="1050">
                <a:latin typeface="Scotia (Body)"/>
              </a:rPr>
              <a:t>lients aged 18–34 make up ~70% of WS outflow activity, despite representing only ~35% of our total client base)</a:t>
            </a:r>
          </a:p>
          <a:p>
            <a:pPr marL="799915" lvl="1" indent="-173736">
              <a:spcBef>
                <a:spcPts val="300"/>
              </a:spcBef>
            </a:pPr>
            <a:r>
              <a:rPr lang="en-US" sz="1050"/>
              <a:t>WS leads the market in net switching-gains across most banking and investing products; BNS leads in GIC net-switching gains, and TNG is top three in chequing accts and RRSPs</a:t>
            </a:r>
          </a:p>
          <a:p>
            <a:pPr marL="347472" indent="-173736">
              <a:spcBef>
                <a:spcPts val="300"/>
              </a:spcBef>
            </a:pPr>
            <a:r>
              <a:rPr lang="en-US" sz="1050">
                <a:solidFill>
                  <a:srgbClr val="000000"/>
                </a:solidFill>
                <a:latin typeface="Scotia (Body)"/>
              </a:rPr>
              <a:t>Continued net outflows to WS could</a:t>
            </a:r>
            <a:r>
              <a:rPr lang="en-US" sz="1050" b="1">
                <a:solidFill>
                  <a:srgbClr val="000000"/>
                </a:solidFill>
                <a:latin typeface="Scotia (Body)"/>
              </a:rPr>
              <a:t> reduce our assets by $60-230Bn </a:t>
            </a:r>
            <a:r>
              <a:rPr lang="en-US" sz="1050">
                <a:solidFill>
                  <a:srgbClr val="000000"/>
                </a:solidFill>
                <a:latin typeface="Scotia (Body)"/>
              </a:rPr>
              <a:t>in next five years (~$0.2-1.2Bn impact on F30 run-rate revenue) and </a:t>
            </a:r>
            <a:r>
              <a:rPr lang="en-US" sz="1050" b="1">
                <a:solidFill>
                  <a:srgbClr val="000000"/>
                </a:solidFill>
                <a:latin typeface="Scotia (Body)"/>
              </a:rPr>
              <a:t>our primary clients by 5-20% </a:t>
            </a:r>
            <a:r>
              <a:rPr lang="en-US" sz="1050">
                <a:solidFill>
                  <a:srgbClr val="000000"/>
                </a:solidFill>
                <a:latin typeface="Scotia (Body)"/>
              </a:rPr>
              <a:t>of today’s base </a:t>
            </a:r>
          </a:p>
          <a:p>
            <a:pPr marL="177800" indent="0">
              <a:spcBef>
                <a:spcPts val="1200"/>
              </a:spcBef>
              <a:buNone/>
            </a:pPr>
            <a:r>
              <a:rPr lang="en-US" sz="1200" b="1">
                <a:solidFill>
                  <a:srgbClr val="EC111A"/>
                </a:solidFill>
              </a:rPr>
              <a:t>WEALTHSIMPLE STRENGTHS</a:t>
            </a:r>
          </a:p>
          <a:p>
            <a:pPr marL="347472" lvl="0" indent="-173736">
              <a:spcBef>
                <a:spcPts val="300"/>
              </a:spcBef>
              <a:defRPr/>
            </a:pPr>
            <a:r>
              <a:rPr lang="en-US" sz="1050"/>
              <a:t>Through primary and secondary research, </a:t>
            </a:r>
            <a:r>
              <a:rPr lang="en-US" sz="1050" b="1"/>
              <a:t>Wealthsimple’s strengths have been identified </a:t>
            </a:r>
            <a:r>
              <a:rPr lang="en-US" sz="1050"/>
              <a:t>along the following dimensions: </a:t>
            </a:r>
          </a:p>
          <a:p>
            <a:pPr marL="799915" lvl="1" indent="-173736">
              <a:spcBef>
                <a:spcPts val="300"/>
              </a:spcBef>
              <a:defRPr/>
            </a:pPr>
            <a:r>
              <a:rPr lang="en-US" sz="1050" b="1"/>
              <a:t>Products</a:t>
            </a:r>
            <a:r>
              <a:rPr lang="en-US" sz="1050"/>
              <a:t>: WS has strong direct investing and retail investing offerings (e.g., robo); WS continues to evolve its offering to meet client needs (e.g., banking) </a:t>
            </a:r>
          </a:p>
          <a:p>
            <a:pPr marL="799915" lvl="1" indent="-173736">
              <a:spcBef>
                <a:spcPts val="300"/>
              </a:spcBef>
              <a:defRPr/>
            </a:pPr>
            <a:r>
              <a:rPr lang="en-US" sz="1050" b="1"/>
              <a:t>Pricing</a:t>
            </a:r>
            <a:r>
              <a:rPr lang="en-US" sz="1050"/>
              <a:t>: WS offers value for money in the form of low cost, high rates; additionally, WS offers incentives and promotions with high rewards </a:t>
            </a:r>
          </a:p>
          <a:p>
            <a:pPr marL="799915" lvl="1" indent="-173736">
              <a:spcBef>
                <a:spcPts val="300"/>
              </a:spcBef>
              <a:defRPr/>
            </a:pPr>
            <a:r>
              <a:rPr lang="en-US" sz="1050" b="1"/>
              <a:t>Experience</a:t>
            </a:r>
            <a:r>
              <a:rPr lang="en-US" sz="1050"/>
              <a:t>: WS has created strong brand equity among its clients through its digital capabilities, branding, and two-way client engagement </a:t>
            </a:r>
          </a:p>
          <a:p>
            <a:pPr marL="799915" lvl="1" indent="-173736">
              <a:spcBef>
                <a:spcPts val="300"/>
              </a:spcBef>
              <a:defRPr/>
            </a:pPr>
            <a:r>
              <a:rPr lang="en-US" sz="1050" b="1"/>
              <a:t>Enablers</a:t>
            </a:r>
            <a:r>
              <a:rPr lang="en-US" sz="1050"/>
              <a:t>: WS’s ability to execute at pace can be attributed to their modern tech stack, agile delivery, calculated risk-taking culture, and long-term profitability horizon</a:t>
            </a:r>
            <a:endParaRPr lang="en-CA" sz="1050"/>
          </a:p>
          <a:p>
            <a:pPr marL="177800" lvl="1" indent="0">
              <a:spcBef>
                <a:spcPts val="1200"/>
              </a:spcBef>
              <a:buNone/>
            </a:pPr>
            <a:r>
              <a:rPr lang="en-US" b="1">
                <a:solidFill>
                  <a:srgbClr val="EC111A"/>
                </a:solidFill>
              </a:rPr>
              <a:t>PATH FORWARD</a:t>
            </a:r>
          </a:p>
          <a:p>
            <a:pPr marL="349250" indent="-171450">
              <a:spcBef>
                <a:spcPts val="300"/>
              </a:spcBef>
            </a:pPr>
            <a:r>
              <a:rPr lang="en-US" sz="1050" b="1"/>
              <a:t>Near-term,</a:t>
            </a:r>
            <a:r>
              <a:rPr lang="en-US" sz="1050"/>
              <a:t> WS will likely deepen its wealth and banking offerings; </a:t>
            </a:r>
            <a:r>
              <a:rPr lang="en-US" sz="1050" b="1"/>
              <a:t>Medium-to-long-term</a:t>
            </a:r>
            <a:r>
              <a:rPr lang="en-US" sz="1050"/>
              <a:t>, IPO is the likely destination for WS, allowing Power Corp. to unlock value from its stake</a:t>
            </a:r>
          </a:p>
          <a:p>
            <a:pPr marL="349250" indent="-171450">
              <a:spcBef>
                <a:spcPts val="300"/>
              </a:spcBef>
            </a:pPr>
            <a:r>
              <a:rPr lang="en-US" sz="1050"/>
              <a:t>Across BNS and Tangerine, there are several </a:t>
            </a:r>
            <a:r>
              <a:rPr lang="en-US" sz="1050" b="1"/>
              <a:t>strategies and investments in-flight </a:t>
            </a:r>
            <a:r>
              <a:rPr lang="en-US" sz="1050"/>
              <a:t>that are expected to combat outflows to WS (e.g., Retail segmentation, iTRADE growth strategy, Project Clarity); time and resources are required to execute on these initiatives and realize benefits</a:t>
            </a:r>
          </a:p>
          <a:p>
            <a:pPr marL="349250" indent="-171450">
              <a:spcBef>
                <a:spcPts val="300"/>
              </a:spcBef>
            </a:pPr>
            <a:r>
              <a:rPr lang="en-US" sz="1050"/>
              <a:t>Specifically, </a:t>
            </a:r>
            <a:r>
              <a:rPr lang="en-US" sz="1050" b="1"/>
              <a:t>the highest priority initiatives </a:t>
            </a:r>
            <a:r>
              <a:rPr lang="en-US" sz="1050"/>
              <a:t>to compete are: </a:t>
            </a:r>
            <a:r>
              <a:rPr lang="en-US" sz="1050" b="1"/>
              <a:t> </a:t>
            </a:r>
          </a:p>
          <a:p>
            <a:pPr marL="801693" lvl="1" indent="-171450">
              <a:spcBef>
                <a:spcPts val="300"/>
              </a:spcBef>
            </a:pPr>
            <a:r>
              <a:rPr lang="en-US" sz="1050"/>
              <a:t>Tangerine ‘Project Clarity’ strategy, including the crypto offering</a:t>
            </a:r>
          </a:p>
          <a:p>
            <a:pPr marL="801693" lvl="1" indent="-171450">
              <a:spcBef>
                <a:spcPts val="300"/>
              </a:spcBef>
            </a:pPr>
            <a:r>
              <a:rPr lang="en-US" sz="1050"/>
              <a:t>CX initiatives within CB and Wealth, particularly the digital experience</a:t>
            </a:r>
          </a:p>
          <a:p>
            <a:pPr marL="349250" indent="-171450">
              <a:spcBef>
                <a:spcPts val="300"/>
              </a:spcBef>
            </a:pPr>
            <a:r>
              <a:rPr lang="en-US" sz="1050"/>
              <a:t>At this time, these initiatives are moving as quickly as possible; </a:t>
            </a:r>
            <a:r>
              <a:rPr lang="en-US" sz="1050" b="1"/>
              <a:t>no further action is needed </a:t>
            </a:r>
            <a:r>
              <a:rPr lang="en-US" sz="1050"/>
              <a:t>but we will continue to monitor progress</a:t>
            </a:r>
          </a:p>
        </p:txBody>
      </p:sp>
      <p:sp>
        <p:nvSpPr>
          <p:cNvPr id="7" name="Text Placeholder 6">
            <a:extLst>
              <a:ext uri="{FF2B5EF4-FFF2-40B4-BE49-F238E27FC236}">
                <a16:creationId xmlns:a16="http://schemas.microsoft.com/office/drawing/2014/main" id="{7A874B2C-2907-FE29-F587-F3179147AE4D}"/>
              </a:ext>
            </a:extLst>
          </p:cNvPr>
          <p:cNvSpPr>
            <a:spLocks noGrp="1"/>
          </p:cNvSpPr>
          <p:nvPr>
            <p:ph type="body" sz="quarter" idx="13"/>
          </p:nvPr>
        </p:nvSpPr>
        <p:spPr/>
        <p:txBody>
          <a:bodyPr/>
          <a:lstStyle/>
          <a:p>
            <a:r>
              <a:rPr lang="en-CA"/>
              <a:t>WEALTHSIMPLE OVERVIEW</a:t>
            </a:r>
          </a:p>
        </p:txBody>
      </p:sp>
    </p:spTree>
    <p:extLst>
      <p:ext uri="{BB962C8B-B14F-4D97-AF65-F5344CB8AC3E}">
        <p14:creationId xmlns:p14="http://schemas.microsoft.com/office/powerpoint/2010/main" val="418341970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484CE3-B6BD-3281-72AA-80034E94C00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A8F0B94-7B7B-AD69-03D0-36477824A675}"/>
              </a:ext>
            </a:extLst>
          </p:cNvPr>
          <p:cNvSpPr>
            <a:spLocks noGrp="1"/>
          </p:cNvSpPr>
          <p:nvPr>
            <p:ph type="body" sz="quarter" idx="11"/>
          </p:nvPr>
        </p:nvSpPr>
        <p:spPr/>
        <p:txBody>
          <a:bodyPr/>
          <a:lstStyle/>
          <a:p>
            <a:r>
              <a:rPr lang="en-CA"/>
              <a:t>Agendas</a:t>
            </a:r>
          </a:p>
        </p:txBody>
      </p:sp>
      <p:sp>
        <p:nvSpPr>
          <p:cNvPr id="3" name="Text Placeholder 2">
            <a:extLst>
              <a:ext uri="{FF2B5EF4-FFF2-40B4-BE49-F238E27FC236}">
                <a16:creationId xmlns:a16="http://schemas.microsoft.com/office/drawing/2014/main" id="{85488C9E-E95D-0E5F-EA45-7327530B2434}"/>
              </a:ext>
            </a:extLst>
          </p:cNvPr>
          <p:cNvSpPr>
            <a:spLocks noGrp="1"/>
          </p:cNvSpPr>
          <p:nvPr>
            <p:ph type="body" sz="quarter" idx="12"/>
          </p:nvPr>
        </p:nvSpPr>
        <p:spPr/>
        <p:txBody>
          <a:bodyPr/>
          <a:lstStyle/>
          <a:p>
            <a:r>
              <a:rPr lang="en-CA"/>
              <a:t>02</a:t>
            </a:r>
          </a:p>
        </p:txBody>
      </p:sp>
    </p:spTree>
    <p:extLst>
      <p:ext uri="{BB962C8B-B14F-4D97-AF65-F5344CB8AC3E}">
        <p14:creationId xmlns:p14="http://schemas.microsoft.com/office/powerpoint/2010/main" val="260203582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6C09A2-F2E5-3459-BE12-60E1E543973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7155D9-142E-9874-8B88-B055A7124381}"/>
              </a:ext>
            </a:extLst>
          </p:cNvPr>
          <p:cNvSpPr>
            <a:spLocks noGrp="1"/>
          </p:cNvSpPr>
          <p:nvPr>
            <p:ph type="title"/>
          </p:nvPr>
        </p:nvSpPr>
        <p:spPr/>
        <p:txBody>
          <a:bodyPr vert="horz"/>
          <a:lstStyle/>
          <a:p>
            <a:r>
              <a:rPr lang="en-US">
                <a:solidFill>
                  <a:srgbClr val="E1111A"/>
                </a:solidFill>
              </a:rPr>
              <a:t>Agenda | </a:t>
            </a:r>
            <a:r>
              <a:rPr lang="en-US"/>
              <a:t>Day 1: Tuesday, March 31</a:t>
            </a:r>
            <a:r>
              <a:rPr lang="en-US" baseline="30000"/>
              <a:t>st</a:t>
            </a:r>
            <a:r>
              <a:rPr lang="en-US"/>
              <a:t>, 2026</a:t>
            </a:r>
            <a:r>
              <a:rPr lang="en-US">
                <a:solidFill>
                  <a:srgbClr val="E1111A"/>
                </a:solidFill>
              </a:rPr>
              <a:t> </a:t>
            </a:r>
          </a:p>
        </p:txBody>
      </p:sp>
      <p:sp>
        <p:nvSpPr>
          <p:cNvPr id="3" name="Slide Number Placeholder 2">
            <a:extLst>
              <a:ext uri="{FF2B5EF4-FFF2-40B4-BE49-F238E27FC236}">
                <a16:creationId xmlns:a16="http://schemas.microsoft.com/office/drawing/2014/main" id="{C58F080B-72FD-DAE0-1C87-EF60F33EAD37}"/>
              </a:ext>
            </a:extLst>
          </p:cNvPr>
          <p:cNvSpPr>
            <a:spLocks noGrp="1"/>
          </p:cNvSpPr>
          <p:nvPr>
            <p:ph type="sldNum" sz="quarter" idx="10"/>
          </p:nvPr>
        </p:nvSpPr>
        <p:spPr/>
        <p:txBody>
          <a:bodyPr/>
          <a:lstStyle/>
          <a:p>
            <a:fld id="{95D835A7-12B2-4074-8DA2-469A8808C237}" type="slidenum">
              <a:rPr lang="en-CA" smtClean="0"/>
              <a:pPr/>
              <a:t>10</a:t>
            </a:fld>
            <a:endParaRPr lang="en-CA"/>
          </a:p>
        </p:txBody>
      </p:sp>
      <p:graphicFrame>
        <p:nvGraphicFramePr>
          <p:cNvPr id="8" name="Table 7">
            <a:extLst>
              <a:ext uri="{FF2B5EF4-FFF2-40B4-BE49-F238E27FC236}">
                <a16:creationId xmlns:a16="http://schemas.microsoft.com/office/drawing/2014/main" id="{36983D6F-55D5-889B-1427-940A2B2DD0B3}"/>
              </a:ext>
            </a:extLst>
          </p:cNvPr>
          <p:cNvGraphicFramePr>
            <a:graphicFrameLocks noGrp="1"/>
          </p:cNvGraphicFramePr>
          <p:nvPr/>
        </p:nvGraphicFramePr>
        <p:xfrm>
          <a:off x="515937" y="1201801"/>
          <a:ext cx="11160125" cy="4975527"/>
        </p:xfrm>
        <a:graphic>
          <a:graphicData uri="http://schemas.openxmlformats.org/drawingml/2006/table">
            <a:tbl>
              <a:tblPr firstRow="1" firstCol="1" bandRow="1">
                <a:tableStyleId>{5C22544A-7EE6-4342-B048-85BDC9FD1C3A}</a:tableStyleId>
              </a:tblPr>
              <a:tblGrid>
                <a:gridCol w="789580">
                  <a:extLst>
                    <a:ext uri="{9D8B030D-6E8A-4147-A177-3AD203B41FA5}">
                      <a16:colId xmlns:a16="http://schemas.microsoft.com/office/drawing/2014/main" val="2541594253"/>
                    </a:ext>
                  </a:extLst>
                </a:gridCol>
                <a:gridCol w="468855">
                  <a:extLst>
                    <a:ext uri="{9D8B030D-6E8A-4147-A177-3AD203B41FA5}">
                      <a16:colId xmlns:a16="http://schemas.microsoft.com/office/drawing/2014/main" val="3630005550"/>
                    </a:ext>
                  </a:extLst>
                </a:gridCol>
                <a:gridCol w="3588112">
                  <a:extLst>
                    <a:ext uri="{9D8B030D-6E8A-4147-A177-3AD203B41FA5}">
                      <a16:colId xmlns:a16="http://schemas.microsoft.com/office/drawing/2014/main" val="536583754"/>
                    </a:ext>
                  </a:extLst>
                </a:gridCol>
                <a:gridCol w="771572">
                  <a:extLst>
                    <a:ext uri="{9D8B030D-6E8A-4147-A177-3AD203B41FA5}">
                      <a16:colId xmlns:a16="http://schemas.microsoft.com/office/drawing/2014/main" val="3845237668"/>
                    </a:ext>
                  </a:extLst>
                </a:gridCol>
                <a:gridCol w="1612130">
                  <a:extLst>
                    <a:ext uri="{9D8B030D-6E8A-4147-A177-3AD203B41FA5}">
                      <a16:colId xmlns:a16="http://schemas.microsoft.com/office/drawing/2014/main" val="1766619200"/>
                    </a:ext>
                  </a:extLst>
                </a:gridCol>
                <a:gridCol w="3929876">
                  <a:extLst>
                    <a:ext uri="{9D8B030D-6E8A-4147-A177-3AD203B41FA5}">
                      <a16:colId xmlns:a16="http://schemas.microsoft.com/office/drawing/2014/main" val="2378020684"/>
                    </a:ext>
                  </a:extLst>
                </a:gridCol>
              </a:tblGrid>
              <a:tr h="176221">
                <a:tc>
                  <a:txBody>
                    <a:bodyPr/>
                    <a:lstStyle/>
                    <a:p>
                      <a:pPr algn="ctr" rtl="0">
                        <a:lnSpc>
                          <a:spcPct val="107000"/>
                        </a:lnSpc>
                        <a:buNone/>
                      </a:pPr>
                      <a:r>
                        <a:rPr lang="en-US" sz="1000" b="1" noProof="0">
                          <a:effectLst/>
                          <a:latin typeface="+mn-lt"/>
                        </a:rPr>
                        <a:t>Local Time</a:t>
                      </a:r>
                      <a:endParaRPr lang="en-US" sz="1000" b="1" noProof="0">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algn="ctr" rtl="0">
                        <a:lnSpc>
                          <a:spcPct val="107000"/>
                        </a:lnSpc>
                        <a:buNone/>
                      </a:pPr>
                      <a:r>
                        <a:rPr lang="en-US" sz="1000" b="1" noProof="0">
                          <a:effectLst/>
                          <a:latin typeface="+mn-lt"/>
                        </a:rPr>
                        <a:t>Length</a:t>
                      </a:r>
                      <a:endParaRPr lang="en-US" sz="1000" b="1" noProof="0">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rtl="0">
                        <a:lnSpc>
                          <a:spcPct val="107000"/>
                        </a:lnSpc>
                        <a:buNone/>
                      </a:pPr>
                      <a:r>
                        <a:rPr lang="en-US" sz="1000" b="1" noProof="0">
                          <a:effectLst/>
                          <a:latin typeface="+mn-lt"/>
                        </a:rPr>
                        <a:t>Meeting</a:t>
                      </a:r>
                      <a:endParaRPr lang="en-US" sz="1000" b="1" noProof="0">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rtl="0">
                        <a:lnSpc>
                          <a:spcPct val="107000"/>
                        </a:lnSpc>
                        <a:buNone/>
                      </a:pPr>
                      <a:r>
                        <a:rPr lang="en-US" sz="1000" b="1" noProof="0">
                          <a:effectLst/>
                          <a:latin typeface="+mn-lt"/>
                          <a:ea typeface="Times New Roman" panose="02020603050405020304" pitchFamily="18" charset="0"/>
                          <a:cs typeface="Arial" panose="020B0604020202020204" pitchFamily="34" charset="0"/>
                        </a:rPr>
                        <a:t>Structure</a:t>
                      </a:r>
                    </a:p>
                  </a:txBody>
                  <a:tcPr marL="52125" marR="52125"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rtl="0">
                        <a:lnSpc>
                          <a:spcPct val="107000"/>
                        </a:lnSpc>
                        <a:buNone/>
                      </a:pPr>
                      <a:r>
                        <a:rPr lang="en-US" sz="1000" b="1" noProof="0">
                          <a:effectLst/>
                          <a:latin typeface="+mn-lt"/>
                        </a:rPr>
                        <a:t>Location</a:t>
                      </a:r>
                      <a:endParaRPr lang="en-US" sz="1000" b="1" noProof="0">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rtl="0">
                        <a:lnSpc>
                          <a:spcPct val="107000"/>
                        </a:lnSpc>
                        <a:buNone/>
                      </a:pPr>
                      <a:r>
                        <a:rPr lang="en-US" sz="1000" b="1" noProof="0">
                          <a:effectLst/>
                          <a:latin typeface="+mn-lt"/>
                        </a:rPr>
                        <a:t>Participants</a:t>
                      </a:r>
                      <a:endParaRPr lang="en-US" sz="1000" b="1" noProof="0">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710006189"/>
                  </a:ext>
                </a:extLst>
              </a:tr>
              <a:tr h="176221">
                <a:tc>
                  <a:txBody>
                    <a:bodyPr/>
                    <a:lstStyle/>
                    <a:p>
                      <a:pPr algn="ctr" rtl="0">
                        <a:lnSpc>
                          <a:spcPct val="107000"/>
                        </a:lnSpc>
                        <a:buNone/>
                      </a:pPr>
                      <a:r>
                        <a:rPr lang="en-US" sz="1000" b="0" noProof="0">
                          <a:solidFill>
                            <a:schemeClr val="tx1"/>
                          </a:solidFill>
                          <a:effectLst/>
                          <a:latin typeface="+mn-lt"/>
                        </a:rPr>
                        <a:t>8:00 – 8:30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Transfer to Scotiabank Plaza</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Scotiabank Plaza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381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8874911"/>
                  </a:ext>
                </a:extLst>
              </a:tr>
              <a:tr h="401906">
                <a:tc>
                  <a:txBody>
                    <a:bodyPr/>
                    <a:lstStyle/>
                    <a:p>
                      <a:pPr algn="ctr" rtl="0">
                        <a:lnSpc>
                          <a:spcPct val="107000"/>
                        </a:lnSpc>
                        <a:buNone/>
                      </a:pPr>
                      <a:r>
                        <a:rPr lang="en-US" sz="1000" b="0" noProof="0">
                          <a:solidFill>
                            <a:schemeClr val="tx1"/>
                          </a:solidFill>
                          <a:effectLst/>
                          <a:latin typeface="+mn-lt"/>
                        </a:rPr>
                        <a:t>8:30 – 9:30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1:00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1" noProof="0">
                          <a:solidFill>
                            <a:schemeClr val="tx1"/>
                          </a:solidFill>
                          <a:effectLst/>
                          <a:latin typeface="+mn-lt"/>
                        </a:rPr>
                        <a:t>Breakfast with Senior Management Team</a:t>
                      </a:r>
                    </a:p>
                    <a:p>
                      <a:pPr rtl="0">
                        <a:lnSpc>
                          <a:spcPct val="107000"/>
                        </a:lnSpc>
                        <a:buNone/>
                      </a:pPr>
                      <a:r>
                        <a:rPr lang="en-US" sz="1000" b="0" noProof="0">
                          <a:solidFill>
                            <a:schemeClr val="tx1"/>
                          </a:solidFill>
                          <a:effectLst/>
                          <a:latin typeface="+mn-lt"/>
                        </a:rPr>
                        <a:t>I</a:t>
                      </a:r>
                      <a:r>
                        <a:rPr lang="en-US" sz="1000" b="0" noProof="0">
                          <a:solidFill>
                            <a:schemeClr val="tx1"/>
                          </a:solidFill>
                          <a:effectLst/>
                          <a:latin typeface="+mn-lt"/>
                          <a:ea typeface="Times New Roman" panose="02020603050405020304" pitchFamily="18" charset="0"/>
                          <a:cs typeface="Arial" panose="020B0604020202020204" pitchFamily="34" charset="0"/>
                        </a:rPr>
                        <a:t>ntroduction and welcome session with new leadership team.</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Casual discussion</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Scotiabank Plaza 9</a:t>
                      </a:r>
                      <a:r>
                        <a:rPr lang="en-US" sz="1000" b="0" baseline="30000" noProof="0">
                          <a:solidFill>
                            <a:schemeClr val="tx1"/>
                          </a:solidFill>
                          <a:effectLst/>
                          <a:latin typeface="+mn-lt"/>
                        </a:rPr>
                        <a:t>th</a:t>
                      </a:r>
                      <a:r>
                        <a:rPr lang="en-US" sz="1000" b="0" noProof="0">
                          <a:solidFill>
                            <a:schemeClr val="tx1"/>
                          </a:solidFill>
                          <a:effectLst/>
                          <a:latin typeface="+mn-lt"/>
                        </a:rPr>
                        <a:t> floor: Popocatépetl Room</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p>
                    <a:p>
                      <a:pPr rtl="0">
                        <a:lnSpc>
                          <a:spcPct val="107000"/>
                        </a:lnSpc>
                        <a:buNone/>
                      </a:pPr>
                      <a:r>
                        <a:rPr lang="en-US" sz="1000" b="0" noProof="0">
                          <a:solidFill>
                            <a:schemeClr val="tx1"/>
                          </a:solidFill>
                          <a:effectLst/>
                          <a:latin typeface="+mn-lt"/>
                        </a:rPr>
                        <a:t>Pablo Elek &amp; Senior Management Team</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2142135"/>
                  </a:ext>
                </a:extLst>
              </a:tr>
              <a:tr h="176221">
                <a:tc>
                  <a:txBody>
                    <a:bodyPr/>
                    <a:lstStyle/>
                    <a:p>
                      <a:pPr algn="ctr" rtl="0">
                        <a:lnSpc>
                          <a:spcPct val="107000"/>
                        </a:lnSpc>
                        <a:buNone/>
                      </a:pPr>
                      <a:r>
                        <a:rPr lang="en-US" sz="1000" b="0" noProof="0">
                          <a:solidFill>
                            <a:schemeClr val="tx1"/>
                          </a:solidFill>
                          <a:effectLst/>
                          <a:latin typeface="+mn-lt"/>
                        </a:rPr>
                        <a:t>9:30 – 10:00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Break</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51264796"/>
                  </a:ext>
                </a:extLst>
              </a:tr>
              <a:tr h="989307">
                <a:tc>
                  <a:txBody>
                    <a:bodyPr/>
                    <a:lstStyle/>
                    <a:p>
                      <a:pPr algn="ctr" rtl="0">
                        <a:lnSpc>
                          <a:spcPct val="107000"/>
                        </a:lnSpc>
                        <a:buNone/>
                      </a:pPr>
                      <a:r>
                        <a:rPr lang="en-US" sz="1000" b="0" noProof="0">
                          <a:solidFill>
                            <a:schemeClr val="tx1"/>
                          </a:solidFill>
                          <a:effectLst/>
                          <a:latin typeface="+mn-lt"/>
                        </a:rPr>
                        <a:t>10:00 – 13:15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3:15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1" noProof="0">
                          <a:solidFill>
                            <a:schemeClr val="tx1"/>
                          </a:solidFill>
                          <a:effectLst/>
                          <a:latin typeface="+mn-lt"/>
                        </a:rPr>
                        <a:t>Political and Macroeconomic Q&amp;A (25 min</a:t>
                      </a:r>
                    </a:p>
                    <a:p>
                      <a:pPr rtl="0">
                        <a:lnSpc>
                          <a:spcPct val="107000"/>
                        </a:lnSpc>
                        <a:buNone/>
                      </a:pPr>
                      <a:r>
                        <a:rPr lang="en-US" sz="1000" b="0" noProof="0">
                          <a:solidFill>
                            <a:schemeClr val="tx1"/>
                          </a:solidFill>
                          <a:effectLst/>
                          <a:latin typeface="+mn-lt"/>
                        </a:rPr>
                        <a:t>Q&amp;A session with Luis De La Calle, leading Mexican economist, expert in international trade and public policy.</a:t>
                      </a:r>
                    </a:p>
                    <a:p>
                      <a:pPr marL="0" indent="0" rtl="0">
                        <a:lnSpc>
                          <a:spcPct val="107000"/>
                        </a:lnSpc>
                        <a:spcBef>
                          <a:spcPts val="300"/>
                        </a:spcBef>
                        <a:buFont typeface="Arial" panose="020B0604020202020204" pitchFamily="34" charset="0"/>
                        <a:buNone/>
                      </a:pPr>
                      <a:r>
                        <a:rPr lang="en-US" sz="1000" b="1" noProof="0">
                          <a:solidFill>
                            <a:schemeClr val="tx1"/>
                          </a:solidFill>
                          <a:effectLst/>
                          <a:latin typeface="+mn-lt"/>
                          <a:ea typeface="Times New Roman" panose="02020603050405020304" pitchFamily="18" charset="0"/>
                          <a:cs typeface="Arial" panose="020B0604020202020204" pitchFamily="34" charset="0"/>
                        </a:rPr>
                        <a:t>Priorities, Opportunities &amp; Challenges (2hrs 50 min)</a:t>
                      </a:r>
                    </a:p>
                    <a:p>
                      <a:pPr marL="0" indent="0" rtl="0">
                        <a:lnSpc>
                          <a:spcPct val="107000"/>
                        </a:lnSpc>
                        <a:buFont typeface="Arial" panose="020B0604020202020204" pitchFamily="34" charset="0"/>
                        <a:buNone/>
                      </a:pPr>
                      <a:r>
                        <a:rPr lang="en-US" sz="1000" b="0" noProof="0">
                          <a:solidFill>
                            <a:schemeClr val="tx1"/>
                          </a:solidFill>
                          <a:effectLst/>
                          <a:latin typeface="+mn-lt"/>
                          <a:ea typeface="Times New Roman" panose="02020603050405020304" pitchFamily="18" charset="0"/>
                          <a:cs typeface="Arial" panose="020B0604020202020204" pitchFamily="34" charset="0"/>
                        </a:rPr>
                        <a:t>Q&amp;A session with Senior Management Team about All-Bank and by segment priorities, opportunities and challenges.</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lnSpc>
                          <a:spcPct val="107000"/>
                        </a:lnSpc>
                        <a:buFont typeface="Arial" panose="020B0604020202020204" pitchFamily="34" charset="0"/>
                        <a:buNone/>
                      </a:pPr>
                      <a:r>
                        <a:rPr lang="en-US" sz="1000" b="0" noProof="0">
                          <a:solidFill>
                            <a:schemeClr val="tx1"/>
                          </a:solidFill>
                          <a:effectLst/>
                          <a:latin typeface="+mn-lt"/>
                          <a:ea typeface="Times New Roman" panose="02020603050405020304" pitchFamily="18" charset="0"/>
                          <a:cs typeface="Arial" panose="020B0604020202020204" pitchFamily="34" charset="0"/>
                        </a:rPr>
                        <a:t>Q&amp;A sessions</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Scotiabank Plaza 9</a:t>
                      </a:r>
                      <a:r>
                        <a:rPr lang="en-US" sz="1000" b="0" baseline="30000" noProof="0">
                          <a:solidFill>
                            <a:schemeClr val="tx1"/>
                          </a:solidFill>
                          <a:effectLst/>
                          <a:latin typeface="+mn-lt"/>
                        </a:rPr>
                        <a:t>th</a:t>
                      </a:r>
                      <a:r>
                        <a:rPr lang="en-US" sz="1000" b="0" noProof="0">
                          <a:solidFill>
                            <a:schemeClr val="tx1"/>
                          </a:solidFill>
                          <a:effectLst/>
                          <a:latin typeface="+mn-lt"/>
                        </a:rPr>
                        <a:t> floor: </a:t>
                      </a:r>
                    </a:p>
                    <a:p>
                      <a:pPr rtl="0">
                        <a:lnSpc>
                          <a:spcPct val="107000"/>
                        </a:lnSpc>
                        <a:buNone/>
                      </a:pPr>
                      <a:r>
                        <a:rPr lang="en-US" sz="1000" b="0" noProof="0">
                          <a:solidFill>
                            <a:schemeClr val="tx1"/>
                          </a:solidFill>
                          <a:effectLst/>
                          <a:latin typeface="+mn-lt"/>
                        </a:rPr>
                        <a:t>Iztaccíhuatl Room</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p>
                    <a:p>
                      <a:pPr rtl="0">
                        <a:lnSpc>
                          <a:spcPct val="107000"/>
                        </a:lnSpc>
                        <a:buNone/>
                      </a:pPr>
                      <a:r>
                        <a:rPr lang="en-US" sz="1000" b="0" noProof="0">
                          <a:solidFill>
                            <a:schemeClr val="tx1"/>
                          </a:solidFill>
                          <a:effectLst/>
                          <a:latin typeface="+mn-lt"/>
                        </a:rPr>
                        <a:t>Pablo Elek &amp; Senior Management Team</a:t>
                      </a:r>
                    </a:p>
                    <a:p>
                      <a:pPr rtl="0">
                        <a:lnSpc>
                          <a:spcPct val="107000"/>
                        </a:lnSpc>
                        <a:buNone/>
                      </a:pPr>
                      <a:r>
                        <a:rPr lang="en-US" sz="1000" b="0" noProof="0">
                          <a:solidFill>
                            <a:schemeClr val="tx1"/>
                          </a:solidFill>
                          <a:effectLst/>
                          <a:latin typeface="+mn-lt"/>
                        </a:rPr>
                        <a:t>Luis De La Calle (Mexican economist)</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9090580"/>
                  </a:ext>
                </a:extLst>
              </a:tr>
              <a:tr h="176221">
                <a:tc>
                  <a:txBody>
                    <a:bodyPr/>
                    <a:lstStyle/>
                    <a:p>
                      <a:pPr algn="ctr" rtl="0">
                        <a:lnSpc>
                          <a:spcPct val="107000"/>
                        </a:lnSpc>
                        <a:buNone/>
                      </a:pPr>
                      <a:r>
                        <a:rPr lang="en-US" sz="1000" b="0" noProof="0">
                          <a:solidFill>
                            <a:schemeClr val="tx1"/>
                          </a:solidFill>
                          <a:effectLst/>
                          <a:latin typeface="+mn-lt"/>
                        </a:rPr>
                        <a:t>13:15 – 13:45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Break</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96124152"/>
                  </a:ext>
                </a:extLst>
              </a:tr>
              <a:tr h="621971">
                <a:tc>
                  <a:txBody>
                    <a:bodyPr/>
                    <a:lstStyle/>
                    <a:p>
                      <a:pPr algn="ctr" rtl="0">
                        <a:lnSpc>
                          <a:spcPct val="107000"/>
                        </a:lnSpc>
                        <a:buNone/>
                      </a:pPr>
                      <a:r>
                        <a:rPr lang="en-US" sz="1000" b="0" noProof="0">
                          <a:solidFill>
                            <a:schemeClr val="tx1"/>
                          </a:solidFill>
                          <a:effectLst/>
                          <a:latin typeface="+mn-lt"/>
                        </a:rPr>
                        <a:t>13:45 – 15:30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1:45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1" noProof="0">
                          <a:solidFill>
                            <a:schemeClr val="tx1"/>
                          </a:solidFill>
                          <a:effectLst/>
                          <a:latin typeface="+mn-lt"/>
                        </a:rPr>
                        <a:t>Client Panel (Lunch)</a:t>
                      </a:r>
                    </a:p>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Fireside-chat panel led by Pablo, featuring select clients to discuss Mexico’s outlook, business climate and expectations.</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Roundtable discussion</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Scotiabank Plaza 9</a:t>
                      </a:r>
                      <a:r>
                        <a:rPr lang="en-US" sz="1000" b="0" baseline="30000" noProof="0">
                          <a:solidFill>
                            <a:schemeClr val="tx1"/>
                          </a:solidFill>
                          <a:effectLst/>
                          <a:latin typeface="+mn-lt"/>
                        </a:rPr>
                        <a:t>th</a:t>
                      </a:r>
                      <a:r>
                        <a:rPr lang="en-US" sz="1000" b="0" noProof="0">
                          <a:solidFill>
                            <a:schemeClr val="tx1"/>
                          </a:solidFill>
                          <a:effectLst/>
                          <a:latin typeface="+mn-lt"/>
                        </a:rPr>
                        <a:t> floor:</a:t>
                      </a:r>
                    </a:p>
                    <a:p>
                      <a:pPr rtl="0">
                        <a:lnSpc>
                          <a:spcPct val="107000"/>
                        </a:lnSpc>
                        <a:buNone/>
                      </a:pPr>
                      <a:r>
                        <a:rPr lang="en-US" sz="1000" b="0" noProof="0">
                          <a:solidFill>
                            <a:schemeClr val="tx1"/>
                          </a:solidFill>
                          <a:effectLst/>
                          <a:latin typeface="+mn-lt"/>
                        </a:rPr>
                        <a:t>Popocatépetl Room</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p>
                    <a:p>
                      <a:pPr rtl="0">
                        <a:lnSpc>
                          <a:spcPct val="107000"/>
                        </a:lnSpc>
                        <a:buNone/>
                      </a:pPr>
                      <a:r>
                        <a:rPr lang="en-US" sz="1000" b="0" noProof="0">
                          <a:solidFill>
                            <a:schemeClr val="tx1"/>
                          </a:solidFill>
                          <a:effectLst/>
                          <a:latin typeface="+mn-lt"/>
                        </a:rPr>
                        <a:t>Pablo Elek, Jose Jorge Rivero</a:t>
                      </a:r>
                    </a:p>
                    <a:p>
                      <a:pPr rtl="0">
                        <a:lnSpc>
                          <a:spcPct val="107000"/>
                        </a:lnSpc>
                        <a:buNone/>
                      </a:pPr>
                      <a:r>
                        <a:rPr lang="en-US" sz="1000" b="0" noProof="0">
                          <a:solidFill>
                            <a:schemeClr val="tx1"/>
                          </a:solidFill>
                          <a:effectLst/>
                          <a:latin typeface="+mn-lt"/>
                        </a:rPr>
                        <a:t>Guillermo Babatz</a:t>
                      </a:r>
                    </a:p>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Clients: BlackRock, Engie, FUNO, IRG</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272551"/>
                  </a:ext>
                </a:extLst>
              </a:tr>
              <a:tr h="176221">
                <a:tc>
                  <a:txBody>
                    <a:bodyPr/>
                    <a:lstStyle/>
                    <a:p>
                      <a:pPr algn="ctr" rtl="0">
                        <a:lnSpc>
                          <a:spcPct val="107000"/>
                        </a:lnSpc>
                        <a:buNone/>
                      </a:pPr>
                      <a:r>
                        <a:rPr lang="en-US" sz="1000" b="0" noProof="0">
                          <a:solidFill>
                            <a:schemeClr val="tx1"/>
                          </a:solidFill>
                          <a:effectLst/>
                          <a:latin typeface="+mn-lt"/>
                        </a:rPr>
                        <a:t>15:30 – 16:00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Break</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rtl="0">
                        <a:lnSpc>
                          <a:spcPct val="107000"/>
                        </a:lnSpc>
                        <a:buNone/>
                      </a:pPr>
                      <a:r>
                        <a:rPr lang="en-US" sz="1000" b="0" noProof="0">
                          <a:solidFill>
                            <a:schemeClr val="tx1"/>
                          </a:solidFill>
                          <a:effectLst/>
                          <a:latin typeface="+mn-lt"/>
                        </a:rPr>
                        <a:t> </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50361515"/>
                  </a:ext>
                </a:extLst>
              </a:tr>
              <a:tr h="692107">
                <a:tc>
                  <a:txBody>
                    <a:bodyPr/>
                    <a:lstStyle/>
                    <a:p>
                      <a:pPr algn="ctr" rtl="0">
                        <a:lnSpc>
                          <a:spcPct val="107000"/>
                        </a:lnSpc>
                        <a:buNone/>
                      </a:pPr>
                      <a:r>
                        <a:rPr lang="en-US" sz="1000" b="0" noProof="0">
                          <a:solidFill>
                            <a:schemeClr val="tx1"/>
                          </a:solidFill>
                          <a:effectLst/>
                          <a:latin typeface="+mn-lt"/>
                        </a:rPr>
                        <a:t>16:00 – 17:00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1:00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1" noProof="0">
                          <a:solidFill>
                            <a:schemeClr val="tx1"/>
                          </a:solidFill>
                          <a:effectLst/>
                          <a:latin typeface="+mn-lt"/>
                        </a:rPr>
                        <a:t>Leadership Meetings by segment</a:t>
                      </a:r>
                    </a:p>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Each OpCo member meets with their respective teams, including Director meetings and AMA sessions.</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Fireside chat / </a:t>
                      </a:r>
                    </a:p>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Ask Me Anything</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Scotiabank Plaza (various venues)</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OpCo &amp; Senior Management Team – Individual meetings</a:t>
                      </a:r>
                    </a:p>
                    <a:p>
                      <a:pPr rtl="0">
                        <a:lnSpc>
                          <a:spcPct val="107000"/>
                        </a:lnSpc>
                        <a:buNone/>
                      </a:pPr>
                      <a:r>
                        <a:rPr lang="en-US" sz="1000" b="0" noProof="0">
                          <a:solidFill>
                            <a:schemeClr val="tx1"/>
                          </a:solidFill>
                          <a:effectLst/>
                          <a:latin typeface="+mn-lt"/>
                        </a:rPr>
                        <a:t>Scott and Francsico to record internal materials (visit recap)</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8391286"/>
                  </a:ext>
                </a:extLst>
              </a:tr>
              <a:tr h="176221">
                <a:tc>
                  <a:txBody>
                    <a:bodyPr/>
                    <a:lstStyle/>
                    <a:p>
                      <a:pPr algn="ctr" rtl="0">
                        <a:lnSpc>
                          <a:spcPct val="107000"/>
                        </a:lnSpc>
                        <a:buNone/>
                      </a:pPr>
                      <a:r>
                        <a:rPr lang="en-US" sz="1000" b="0" noProof="0">
                          <a:solidFill>
                            <a:schemeClr val="tx1"/>
                          </a:solidFill>
                          <a:effectLst/>
                          <a:latin typeface="+mn-lt"/>
                        </a:rPr>
                        <a:t>17:00 – 17:30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Transfer to hotel</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St. Regis Hotel</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625353"/>
                  </a:ext>
                </a:extLst>
              </a:tr>
              <a:tr h="176221">
                <a:tc>
                  <a:txBody>
                    <a:bodyPr/>
                    <a:lstStyle/>
                    <a:p>
                      <a:pPr marL="0" algn="ctr" defTabSz="914411" rtl="0" eaLnBrk="1" latinLnBrk="0" hangingPunct="1">
                        <a:lnSpc>
                          <a:spcPct val="107000"/>
                        </a:lnSpc>
                        <a:buNone/>
                      </a:pPr>
                      <a:r>
                        <a:rPr lang="en-US" sz="1000" b="0" kern="1200" noProof="0">
                          <a:solidFill>
                            <a:schemeClr val="tx1"/>
                          </a:solidFill>
                          <a:effectLst/>
                          <a:latin typeface="+mn-lt"/>
                          <a:ea typeface="+mn-ea"/>
                          <a:cs typeface="+mn-cs"/>
                        </a:rPr>
                        <a:t>17:30 – 18:30</a:t>
                      </a: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11" rtl="0" eaLnBrk="1" latinLnBrk="0" hangingPunct="1">
                        <a:lnSpc>
                          <a:spcPct val="107000"/>
                        </a:lnSpc>
                        <a:buNone/>
                      </a:pPr>
                      <a:r>
                        <a:rPr lang="en-US" sz="1000" b="0" kern="1200" noProof="0">
                          <a:solidFill>
                            <a:schemeClr val="tx1"/>
                          </a:solidFill>
                          <a:effectLst/>
                          <a:latin typeface="+mn-lt"/>
                          <a:ea typeface="+mn-ea"/>
                          <a:cs typeface="+mn-cs"/>
                        </a:rPr>
                        <a:t>1:00</a:t>
                      </a: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Free time</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11" rtl="0" eaLnBrk="1" latinLnBrk="0" hangingPunct="1">
                        <a:lnSpc>
                          <a:spcPct val="107000"/>
                        </a:lnSpc>
                        <a:buNone/>
                      </a:pPr>
                      <a:endParaRPr lang="en-US" sz="1000" b="0" kern="1200" noProof="0">
                        <a:solidFill>
                          <a:schemeClr val="tx1"/>
                        </a:solidFill>
                        <a:effectLst/>
                        <a:latin typeface="+mn-lt"/>
                        <a:ea typeface="+mn-ea"/>
                        <a:cs typeface="+mn-cs"/>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St. Regis Hotel</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 </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92111062"/>
                  </a:ext>
                </a:extLst>
              </a:tr>
              <a:tr h="176221">
                <a:tc>
                  <a:txBody>
                    <a:bodyPr/>
                    <a:lstStyle/>
                    <a:p>
                      <a:pPr marL="0" algn="ctr" defTabSz="914411" rtl="0" eaLnBrk="1" latinLnBrk="0" hangingPunct="1">
                        <a:lnSpc>
                          <a:spcPct val="107000"/>
                        </a:lnSpc>
                        <a:buNone/>
                      </a:pPr>
                      <a:r>
                        <a:rPr lang="en-US" sz="1000" b="0" kern="1200" noProof="0">
                          <a:solidFill>
                            <a:schemeClr val="tx1"/>
                          </a:solidFill>
                          <a:effectLst/>
                          <a:latin typeface="+mn-lt"/>
                          <a:ea typeface="+mn-ea"/>
                          <a:cs typeface="+mn-cs"/>
                        </a:rPr>
                        <a:t>18:00 – 18:45</a:t>
                      </a: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tc>
                  <a:txBody>
                    <a:bodyPr/>
                    <a:lstStyle/>
                    <a:p>
                      <a:pPr marL="0" algn="ctr" defTabSz="914411" rtl="0" eaLnBrk="1" latinLnBrk="0" hangingPunct="1">
                        <a:lnSpc>
                          <a:spcPct val="107000"/>
                        </a:lnSpc>
                        <a:buNone/>
                      </a:pPr>
                      <a:r>
                        <a:rPr lang="en-US" sz="1000" b="0" kern="1200" noProof="0">
                          <a:solidFill>
                            <a:schemeClr val="tx1"/>
                          </a:solidFill>
                          <a:effectLst/>
                          <a:latin typeface="+mn-lt"/>
                          <a:ea typeface="+mn-ea"/>
                          <a:cs typeface="+mn-cs"/>
                        </a:rPr>
                        <a:t>0:45</a:t>
                      </a: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OPTIONAL: Private tour </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tc>
                  <a:txBody>
                    <a:bodyPr/>
                    <a:lstStyle/>
                    <a:p>
                      <a:pPr marL="0" algn="l" defTabSz="914411" rtl="0" eaLnBrk="1" latinLnBrk="0" hangingPunct="1">
                        <a:lnSpc>
                          <a:spcPct val="107000"/>
                        </a:lnSpc>
                        <a:buNone/>
                      </a:pPr>
                      <a:endParaRPr lang="en-US" sz="1000" b="0" kern="1200" noProof="0">
                        <a:solidFill>
                          <a:schemeClr val="tx1"/>
                        </a:solidFill>
                        <a:effectLst/>
                        <a:latin typeface="+mn-lt"/>
                        <a:ea typeface="+mn-ea"/>
                        <a:cs typeface="+mn-cs"/>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Chapultepec Castle</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tc>
                  <a:txBody>
                    <a:bodyPr/>
                    <a:lstStyle/>
                    <a:p>
                      <a:pPr marL="0" algn="l" defTabSz="914411" rtl="0" eaLnBrk="1" latinLnBrk="0" hangingPunct="1">
                        <a:lnSpc>
                          <a:spcPct val="107000"/>
                        </a:lnSpc>
                        <a:buNone/>
                      </a:pPr>
                      <a:r>
                        <a:rPr lang="en-US" sz="1000" b="0" kern="1200" noProof="0">
                          <a:solidFill>
                            <a:schemeClr val="tx1"/>
                          </a:solidFill>
                          <a:effectLst/>
                          <a:latin typeface="+mn-lt"/>
                          <a:ea typeface="+mn-ea"/>
                          <a:cs typeface="+mn-cs"/>
                        </a:rPr>
                        <a:t>Scott Thomson, OpCo &amp; Pablo Elek</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BCB8A4"/>
                    </a:solidFill>
                  </a:tcPr>
                </a:tc>
                <a:extLst>
                  <a:ext uri="{0D108BD9-81ED-4DB2-BD59-A6C34878D82A}">
                    <a16:rowId xmlns:a16="http://schemas.microsoft.com/office/drawing/2014/main" val="4211627520"/>
                  </a:ext>
                </a:extLst>
              </a:tr>
              <a:tr h="176221">
                <a:tc>
                  <a:txBody>
                    <a:bodyPr/>
                    <a:lstStyle/>
                    <a:p>
                      <a:pPr algn="ctr" rtl="0">
                        <a:lnSpc>
                          <a:spcPct val="107000"/>
                        </a:lnSpc>
                        <a:buNone/>
                      </a:pPr>
                      <a:r>
                        <a:rPr lang="en-US" sz="1000" b="0" noProof="0">
                          <a:solidFill>
                            <a:schemeClr val="tx1"/>
                          </a:solidFill>
                          <a:effectLst/>
                          <a:latin typeface="+mn-lt"/>
                        </a:rPr>
                        <a:t>18:30 – 19:00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0:30</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Transfer to cocktail</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Chapultepec Castle</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358814"/>
                  </a:ext>
                </a:extLst>
              </a:tr>
              <a:tr h="621971">
                <a:tc>
                  <a:txBody>
                    <a:bodyPr/>
                    <a:lstStyle/>
                    <a:p>
                      <a:pPr algn="ctr" rtl="0">
                        <a:lnSpc>
                          <a:spcPct val="107000"/>
                        </a:lnSpc>
                        <a:buNone/>
                      </a:pPr>
                      <a:r>
                        <a:rPr lang="en-US" sz="1000" b="0" noProof="0">
                          <a:solidFill>
                            <a:schemeClr val="tx1"/>
                          </a:solidFill>
                          <a:effectLst/>
                          <a:latin typeface="+mn-lt"/>
                        </a:rPr>
                        <a:t>19:00 – 21:15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rtl="0">
                        <a:lnSpc>
                          <a:spcPct val="107000"/>
                        </a:lnSpc>
                        <a:buNone/>
                      </a:pPr>
                      <a:r>
                        <a:rPr lang="en-US" sz="1000" b="0" noProof="0">
                          <a:solidFill>
                            <a:schemeClr val="tx1"/>
                          </a:solidFill>
                          <a:effectLst/>
                          <a:latin typeface="+mn-lt"/>
                        </a:rPr>
                        <a:t>2:15</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0" marR="0"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rtl="0">
                        <a:lnSpc>
                          <a:spcPct val="107000"/>
                        </a:lnSpc>
                        <a:buNone/>
                      </a:pPr>
                      <a:r>
                        <a:rPr lang="en-US" sz="1000" b="1" noProof="0">
                          <a:solidFill>
                            <a:schemeClr val="tx1"/>
                          </a:solidFill>
                          <a:effectLst/>
                          <a:latin typeface="+mn-lt"/>
                        </a:rPr>
                        <a:t>Cocktail with clients</a:t>
                      </a:r>
                      <a:endParaRPr lang="en-US" sz="1000" b="1"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ea typeface="Times New Roman" panose="02020603050405020304" pitchFamily="18" charset="0"/>
                          <a:cs typeface="Arial" panose="020B0604020202020204" pitchFamily="34" charset="0"/>
                        </a:rPr>
                        <a:t>Stand-up cocktail</a:t>
                      </a: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Chapultepec Castle</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rtl="0">
                        <a:lnSpc>
                          <a:spcPct val="107000"/>
                        </a:lnSpc>
                        <a:buNone/>
                      </a:pPr>
                      <a:r>
                        <a:rPr lang="en-US" sz="1000" b="0" noProof="0">
                          <a:solidFill>
                            <a:schemeClr val="tx1"/>
                          </a:solidFill>
                          <a:effectLst/>
                          <a:latin typeface="+mn-lt"/>
                        </a:rPr>
                        <a:t>Scott Thomson &amp; OpCo</a:t>
                      </a:r>
                    </a:p>
                    <a:p>
                      <a:pPr rtl="0">
                        <a:lnSpc>
                          <a:spcPct val="107000"/>
                        </a:lnSpc>
                        <a:buNone/>
                      </a:pPr>
                      <a:r>
                        <a:rPr lang="en-US" sz="1000" b="0" noProof="0">
                          <a:solidFill>
                            <a:schemeClr val="tx1"/>
                          </a:solidFill>
                          <a:effectLst/>
                          <a:latin typeface="+mn-lt"/>
                        </a:rPr>
                        <a:t>Pablo Elek &amp; Senior Management Team</a:t>
                      </a:r>
                    </a:p>
                    <a:p>
                      <a:pPr rtl="0">
                        <a:lnSpc>
                          <a:spcPct val="107000"/>
                        </a:lnSpc>
                        <a:buNone/>
                      </a:pPr>
                      <a:r>
                        <a:rPr lang="en-US" sz="1000" b="0" noProof="0">
                          <a:solidFill>
                            <a:schemeClr val="tx1"/>
                          </a:solidFill>
                          <a:effectLst/>
                          <a:latin typeface="+mn-lt"/>
                        </a:rPr>
                        <a:t>Mexico Board</a:t>
                      </a:r>
                    </a:p>
                    <a:p>
                      <a:pPr rtl="0">
                        <a:lnSpc>
                          <a:spcPct val="107000"/>
                        </a:lnSpc>
                        <a:buNone/>
                      </a:pPr>
                      <a:r>
                        <a:rPr lang="en-US" sz="1000" b="0" noProof="0">
                          <a:solidFill>
                            <a:schemeClr val="tx1"/>
                          </a:solidFill>
                          <a:effectLst/>
                          <a:latin typeface="+mn-lt"/>
                        </a:rPr>
                        <a:t>Clients, Top Talent</a:t>
                      </a:r>
                      <a:endParaRPr lang="en-US" sz="1000" b="0" noProof="0">
                        <a:solidFill>
                          <a:schemeClr val="tx1"/>
                        </a:solidFill>
                        <a:effectLst/>
                        <a:latin typeface="+mn-lt"/>
                        <a:ea typeface="Times New Roman" panose="02020603050405020304" pitchFamily="18" charset="0"/>
                        <a:cs typeface="Arial" panose="020B0604020202020204" pitchFamily="34" charset="0"/>
                      </a:endParaRPr>
                    </a:p>
                  </a:txBody>
                  <a:tcPr marL="52125" marR="52125" marT="0" marB="0" anchor="ctr">
                    <a:lnL w="12700" cmpd="sng">
                      <a:noFill/>
                    </a:lnL>
                    <a:lnR w="12700" cmpd="sng">
                      <a:noFill/>
                    </a:lnR>
                    <a:lnT w="952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37260567"/>
                  </a:ext>
                </a:extLst>
              </a:tr>
            </a:tbl>
          </a:graphicData>
        </a:graphic>
      </p:graphicFrame>
    </p:spTree>
    <p:extLst>
      <p:ext uri="{BB962C8B-B14F-4D97-AF65-F5344CB8AC3E}">
        <p14:creationId xmlns:p14="http://schemas.microsoft.com/office/powerpoint/2010/main" val="315347138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0208E08E-7E52-4EA8-11ED-262B3FB6CE5A}"/>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17" name="think-cell data - do not delete" hidden="1">
                        <a:extLst>
                          <a:ext uri="{FF2B5EF4-FFF2-40B4-BE49-F238E27FC236}">
                            <a16:creationId xmlns:a16="http://schemas.microsoft.com/office/drawing/2014/main" id="{0208E08E-7E52-4EA8-11ED-262B3FB6CE5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2092DAD-A664-43F5-2386-71CB633CE846}"/>
              </a:ext>
            </a:extLst>
          </p:cNvPr>
          <p:cNvSpPr>
            <a:spLocks noGrp="1"/>
          </p:cNvSpPr>
          <p:nvPr>
            <p:ph type="title"/>
          </p:nvPr>
        </p:nvSpPr>
        <p:spPr/>
        <p:txBody>
          <a:bodyPr vert="horz"/>
          <a:lstStyle/>
          <a:p>
            <a:r>
              <a:rPr lang="en-CA"/>
              <a:t>Offsite Agenda </a:t>
            </a:r>
          </a:p>
        </p:txBody>
      </p:sp>
      <p:sp>
        <p:nvSpPr>
          <p:cNvPr id="3" name="Slide Number Placeholder 2">
            <a:extLst>
              <a:ext uri="{FF2B5EF4-FFF2-40B4-BE49-F238E27FC236}">
                <a16:creationId xmlns:a16="http://schemas.microsoft.com/office/drawing/2014/main" id="{1BEE06CF-DC7A-2042-431D-0B49AE3009F2}"/>
              </a:ext>
            </a:extLst>
          </p:cNvPr>
          <p:cNvSpPr>
            <a:spLocks noGrp="1"/>
          </p:cNvSpPr>
          <p:nvPr>
            <p:ph type="sldNum" sz="quarter" idx="10"/>
          </p:nvPr>
        </p:nvSpPr>
        <p:spPr/>
        <p:txBody>
          <a:bodyPr/>
          <a:lstStyle/>
          <a:p>
            <a:fld id="{95D835A7-12B2-4074-8DA2-469A8808C237}" type="slidenum">
              <a:rPr lang="en-CA" smtClean="0"/>
              <a:pPr/>
              <a:t>11</a:t>
            </a:fld>
            <a:endParaRPr lang="en-CA"/>
          </a:p>
        </p:txBody>
      </p:sp>
      <p:graphicFrame>
        <p:nvGraphicFramePr>
          <p:cNvPr id="6" name="Table 46">
            <a:extLst>
              <a:ext uri="{FF2B5EF4-FFF2-40B4-BE49-F238E27FC236}">
                <a16:creationId xmlns:a16="http://schemas.microsoft.com/office/drawing/2014/main" id="{30F6E78F-F283-E7F3-7954-C32F1F19D4A0}"/>
              </a:ext>
            </a:extLst>
          </p:cNvPr>
          <p:cNvGraphicFramePr>
            <a:graphicFrameLocks noGrp="1"/>
          </p:cNvGraphicFramePr>
          <p:nvPr/>
        </p:nvGraphicFramePr>
        <p:xfrm>
          <a:off x="524924" y="1520843"/>
          <a:ext cx="11151139" cy="4600561"/>
        </p:xfrm>
        <a:graphic>
          <a:graphicData uri="http://schemas.openxmlformats.org/drawingml/2006/table">
            <a:tbl>
              <a:tblPr firstRow="1" bandRow="1">
                <a:tableStyleId>{5C22544A-7EE6-4342-B048-85BDC9FD1C3A}</a:tableStyleId>
              </a:tblPr>
              <a:tblGrid>
                <a:gridCol w="2302976">
                  <a:extLst>
                    <a:ext uri="{9D8B030D-6E8A-4147-A177-3AD203B41FA5}">
                      <a16:colId xmlns:a16="http://schemas.microsoft.com/office/drawing/2014/main" val="3126530189"/>
                    </a:ext>
                  </a:extLst>
                </a:gridCol>
                <a:gridCol w="4284928">
                  <a:extLst>
                    <a:ext uri="{9D8B030D-6E8A-4147-A177-3AD203B41FA5}">
                      <a16:colId xmlns:a16="http://schemas.microsoft.com/office/drawing/2014/main" val="2442557511"/>
                    </a:ext>
                  </a:extLst>
                </a:gridCol>
                <a:gridCol w="2730724">
                  <a:extLst>
                    <a:ext uri="{9D8B030D-6E8A-4147-A177-3AD203B41FA5}">
                      <a16:colId xmlns:a16="http://schemas.microsoft.com/office/drawing/2014/main" val="2486331313"/>
                    </a:ext>
                  </a:extLst>
                </a:gridCol>
                <a:gridCol w="1832511">
                  <a:extLst>
                    <a:ext uri="{9D8B030D-6E8A-4147-A177-3AD203B41FA5}">
                      <a16:colId xmlns:a16="http://schemas.microsoft.com/office/drawing/2014/main" val="150491323"/>
                    </a:ext>
                  </a:extLst>
                </a:gridCol>
              </a:tblGrid>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300" normalizeH="0" baseline="0" noProof="0">
                          <a:ln>
                            <a:noFill/>
                          </a:ln>
                          <a:solidFill>
                            <a:schemeClr val="bg1"/>
                          </a:solidFill>
                          <a:effectLst/>
                          <a:uLnTx/>
                          <a:uFillTx/>
                          <a:latin typeface="+mn-lt"/>
                          <a:ea typeface="+mn-ea"/>
                          <a:cs typeface="+mn-cs"/>
                        </a:rPr>
                        <a:t>TIMING</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300" normalizeH="0" baseline="0" noProof="0">
                          <a:ln>
                            <a:noFill/>
                          </a:ln>
                          <a:solidFill>
                            <a:schemeClr val="bg1"/>
                          </a:solidFill>
                          <a:effectLst/>
                          <a:uLnTx/>
                          <a:uFillTx/>
                          <a:latin typeface="+mn-lt"/>
                          <a:ea typeface="+mn-ea"/>
                          <a:cs typeface="+mn-cs"/>
                        </a:rPr>
                        <a:t>TOPIC</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300" normalizeH="0" baseline="0" noProof="0">
                          <a:ln>
                            <a:noFill/>
                          </a:ln>
                          <a:solidFill>
                            <a:schemeClr val="bg1"/>
                          </a:solidFill>
                          <a:effectLst/>
                          <a:uLnTx/>
                          <a:uFillTx/>
                          <a:latin typeface="+mn-lt"/>
                          <a:ea typeface="+mn-ea"/>
                          <a:cs typeface="+mn-cs"/>
                        </a:rPr>
                        <a:t>PRESENTERS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300" normalizeH="0" baseline="0" noProof="0">
                          <a:ln>
                            <a:noFill/>
                          </a:ln>
                          <a:solidFill>
                            <a:schemeClr val="bg1"/>
                          </a:solidFill>
                          <a:effectLst/>
                          <a:uLnTx/>
                          <a:uFillTx/>
                          <a:latin typeface="+mn-lt"/>
                          <a:ea typeface="+mn-ea"/>
                          <a:cs typeface="+mn-cs"/>
                        </a:rPr>
                        <a:t>PAGE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1199471751"/>
                  </a:ext>
                </a:extLst>
              </a:tr>
              <a:tr h="340325">
                <a:tc>
                  <a:txBody>
                    <a:bodyPr/>
                    <a:lstStyle/>
                    <a:p>
                      <a:pPr marL="0" marR="0" lvl="0" indent="0" algn="l" defTabSz="914355" rtl="0" eaLnBrk="1" fontAlgn="auto" latinLnBrk="0" hangingPunct="1">
                        <a:lnSpc>
                          <a:spcPct val="100000"/>
                        </a:lnSpc>
                        <a:spcBef>
                          <a:spcPts val="0"/>
                        </a:spcBef>
                        <a:spcAft>
                          <a:spcPts val="0"/>
                        </a:spcAft>
                        <a:buClrTx/>
                        <a:buSzTx/>
                        <a:buFontTx/>
                        <a:buNone/>
                        <a:tabLst/>
                        <a:defRPr/>
                      </a:pPr>
                      <a:r>
                        <a:rPr lang="en-US" sz="1200" b="1">
                          <a:effectLst/>
                          <a:latin typeface="+mn-lt"/>
                        </a:rPr>
                        <a:t>9:30 am - 9:50 am</a:t>
                      </a:r>
                      <a:endParaRPr kumimoji="0" lang="en-CA" sz="1200" b="1"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38100" cmpd="sng">
                      <a:noFill/>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sng" strike="noStrike" kern="1200" cap="none" spc="0" normalizeH="0" baseline="0" noProof="0">
                          <a:ln>
                            <a:noFill/>
                          </a:ln>
                          <a:solidFill>
                            <a:schemeClr val="tx1"/>
                          </a:solidFill>
                          <a:effectLst/>
                          <a:uLnTx/>
                          <a:uFill>
                            <a:solidFill>
                              <a:schemeClr val="bg1"/>
                            </a:solidFill>
                          </a:uFill>
                          <a:latin typeface="+mn-lt"/>
                          <a:ea typeface="Scotia Headline" panose="020B0703020203020204" pitchFamily="34" charset="0"/>
                          <a:cs typeface="+mn-cs"/>
                          <a:hlinkClick r:id="rId6" action="ppaction://hlinksldjump">
                            <a:extLst>
                              <a:ext uri="{A12FA001-AC4F-418D-AE19-62706E023703}">
                                <ahyp:hlinkClr xmlns:ahyp="http://schemas.microsoft.com/office/drawing/2018/hyperlinkcolor" val="tx"/>
                              </a:ext>
                            </a:extLst>
                          </a:hlinkClick>
                        </a:rPr>
                        <a:t>Update on Must-Win </a:t>
                      </a:r>
                      <a:r>
                        <a:rPr lang="en-CA" sz="1200" b="1" u="sng">
                          <a:solidFill>
                            <a:schemeClr val="tx1"/>
                          </a:solidFill>
                          <a:uFill>
                            <a:solidFill>
                              <a:schemeClr val="bg1"/>
                            </a:solidFill>
                          </a:uFill>
                          <a:latin typeface="+mn-lt"/>
                          <a:ea typeface="Scotia Headline" panose="020B0703020203020204" pitchFamily="34" charset="0"/>
                          <a:hlinkClick r:id="rId6" action="ppaction://hlinksldjump">
                            <a:extLst>
                              <a:ext uri="{A12FA001-AC4F-418D-AE19-62706E023703}">
                                <ahyp:hlinkClr xmlns:ahyp="http://schemas.microsoft.com/office/drawing/2018/hyperlinkcolor" val="tx"/>
                              </a:ext>
                            </a:extLst>
                          </a:hlinkClick>
                        </a:rPr>
                        <a:t>Priorities</a:t>
                      </a:r>
                      <a:endParaRPr kumimoji="0" lang="en-CA" sz="1200" b="1" i="0" u="sng" strike="noStrike" kern="1200" cap="none" spc="0" normalizeH="0" baseline="0" noProof="0">
                        <a:ln>
                          <a:noFill/>
                        </a:ln>
                        <a:solidFill>
                          <a:schemeClr val="tx1"/>
                        </a:solidFill>
                        <a:effectLst/>
                        <a:uLnTx/>
                        <a:uFill>
                          <a:solidFill>
                            <a:schemeClr val="bg1"/>
                          </a:solidFill>
                        </a:uFill>
                        <a:latin typeface="+mn-lt"/>
                        <a:ea typeface="Scotia Headline" panose="020B0703020203020204" pitchFamily="34" charset="0"/>
                        <a:cs typeface="+mn-cs"/>
                      </a:endParaRPr>
                    </a:p>
                  </a:txBody>
                  <a:tcPr anchor="ctr">
                    <a:lnL w="12700" cmpd="sng">
                      <a:noFill/>
                    </a:lnL>
                    <a:lnR w="12700" cmpd="sng">
                      <a:noFill/>
                    </a:lnR>
                    <a:lnT w="38100" cmpd="sng">
                      <a:noFill/>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dk1"/>
                          </a:solidFill>
                          <a:effectLst/>
                          <a:latin typeface="+mn-lt"/>
                          <a:ea typeface="+mn-ea"/>
                          <a:cs typeface="+mn-cs"/>
                        </a:rPr>
                        <a:t>Anique A., Mehnaz C.</a:t>
                      </a:r>
                      <a:endParaRPr kumimoji="0" lang="en-CA" sz="1200" b="1"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38100" cmpd="sng">
                      <a:noFill/>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sng" strike="noStrike" kern="1200" cap="none" spc="0" normalizeH="0" baseline="0">
                          <a:ln>
                            <a:noFill/>
                          </a:ln>
                          <a:solidFill>
                            <a:schemeClr val="tx1"/>
                          </a:solidFill>
                          <a:effectLst/>
                          <a:uLnTx/>
                          <a:uFill>
                            <a:solidFill>
                              <a:schemeClr val="bg1"/>
                            </a:solidFill>
                          </a:uFill>
                          <a:latin typeface="+mn-lt"/>
                          <a:ea typeface="Scotia Headline" panose="020B0703020203020204" pitchFamily="34" charset="0"/>
                          <a:cs typeface="+mn-cs"/>
                        </a:rPr>
                        <a:t>3-11</a:t>
                      </a:r>
                      <a:endParaRPr kumimoji="0" lang="en-CA" sz="1200" b="1" i="0" u="sng" strike="noStrike" kern="1200" cap="none" spc="0" normalizeH="0" baseline="0" noProof="0">
                        <a:ln>
                          <a:noFill/>
                        </a:ln>
                        <a:solidFill>
                          <a:schemeClr val="tx1"/>
                        </a:solidFill>
                        <a:effectLst/>
                        <a:uLnTx/>
                        <a:uFill>
                          <a:solidFill>
                            <a:schemeClr val="bg1"/>
                          </a:solidFill>
                        </a:uFill>
                        <a:latin typeface="+mn-lt"/>
                        <a:ea typeface="Scotia Headline" panose="020B0703020203020204" pitchFamily="34" charset="0"/>
                        <a:cs typeface="+mn-cs"/>
                      </a:endParaRPr>
                    </a:p>
                  </a:txBody>
                  <a:tcPr anchor="ctr">
                    <a:lnL w="12700" cmpd="sng">
                      <a:noFill/>
                    </a:lnL>
                    <a:lnR w="12700" cmpd="sng">
                      <a:noFill/>
                    </a:lnR>
                    <a:lnT w="38100" cmpd="sng">
                      <a:noFill/>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0638446"/>
                  </a:ext>
                </a:extLst>
              </a:tr>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a:effectLst/>
                          <a:latin typeface="+mn-lt"/>
                        </a:rPr>
                        <a:t>9:50 am - 1:30 pm</a:t>
                      </a:r>
                      <a:endParaRPr kumimoji="0" lang="en-CA" sz="1200" b="1"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sng" strike="noStrike" kern="1200" cap="none" spc="0" normalizeH="0" baseline="0" noProof="0">
                          <a:ln>
                            <a:noFill/>
                          </a:ln>
                          <a:solidFill>
                            <a:schemeClr val="tx1"/>
                          </a:solidFill>
                          <a:effectLst/>
                          <a:uLnTx/>
                          <a:uFill>
                            <a:solidFill>
                              <a:schemeClr val="bg1"/>
                            </a:solidFill>
                          </a:uFill>
                          <a:latin typeface="+mn-lt"/>
                          <a:ea typeface="Scotia Headline" panose="020B0703020203020204" pitchFamily="34" charset="0"/>
                          <a:cs typeface="+mn-cs"/>
                          <a:hlinkClick r:id="rId7" action="ppaction://hlinksldjump">
                            <a:extLst>
                              <a:ext uri="{A12FA001-AC4F-418D-AE19-62706E023703}">
                                <ahyp:hlinkClr xmlns:ahyp="http://schemas.microsoft.com/office/drawing/2018/hyperlinkcolor" val="tx"/>
                              </a:ext>
                            </a:extLst>
                          </a:hlinkClick>
                        </a:rPr>
                        <a:t>Must-Win </a:t>
                      </a:r>
                      <a:r>
                        <a:rPr kumimoji="0" lang="en-CA" sz="1200" b="1" i="0" u="sng" strike="noStrike" kern="1200" cap="none" spc="0" normalizeH="0" baseline="0">
                          <a:ln>
                            <a:noFill/>
                          </a:ln>
                          <a:solidFill>
                            <a:schemeClr val="tx1"/>
                          </a:solidFill>
                          <a:effectLst/>
                          <a:uLnTx/>
                          <a:uFill>
                            <a:solidFill>
                              <a:schemeClr val="bg1"/>
                            </a:solidFill>
                          </a:uFill>
                          <a:latin typeface="+mn-lt"/>
                          <a:ea typeface="Scotia Headline" panose="020B0703020203020204" pitchFamily="34" charset="0"/>
                          <a:cs typeface="+mn-cs"/>
                          <a:hlinkClick r:id="rId7" action="ppaction://hlinksldjump">
                            <a:extLst>
                              <a:ext uri="{A12FA001-AC4F-418D-AE19-62706E023703}">
                                <ahyp:hlinkClr xmlns:ahyp="http://schemas.microsoft.com/office/drawing/2018/hyperlinkcolor" val="tx"/>
                              </a:ext>
                            </a:extLst>
                          </a:hlinkClick>
                        </a:rPr>
                        <a:t>Deep Dives</a:t>
                      </a:r>
                      <a:endParaRPr kumimoji="0" lang="en-CA" sz="1200" b="1" i="0" u="sng" strike="noStrike" kern="1200" cap="none" spc="0" normalizeH="0" baseline="0" noProof="0">
                        <a:ln>
                          <a:noFill/>
                        </a:ln>
                        <a:solidFill>
                          <a:schemeClr val="tx1"/>
                        </a:solidFill>
                        <a:effectLst/>
                        <a:uLnTx/>
                        <a:uFill>
                          <a:solidFill>
                            <a:schemeClr val="bg1"/>
                          </a:solidFill>
                        </a:uFill>
                        <a:latin typeface="+mn-lt"/>
                        <a:ea typeface="Scotia Headline" panose="020B0703020203020204" pitchFamily="34" charset="0"/>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endParaRPr lang="en-CA" sz="1200" b="1">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sng" strike="noStrike" kern="1200" cap="none" spc="0" normalizeH="0" baseline="0">
                          <a:ln>
                            <a:noFill/>
                          </a:ln>
                          <a:solidFill>
                            <a:schemeClr val="tx1"/>
                          </a:solidFill>
                          <a:effectLst/>
                          <a:uLnTx/>
                          <a:uFill>
                            <a:solidFill>
                              <a:schemeClr val="bg1"/>
                            </a:solidFill>
                          </a:uFill>
                          <a:latin typeface="+mn-lt"/>
                          <a:ea typeface="Scotia Headline" panose="020B0703020203020204" pitchFamily="34" charset="0"/>
                          <a:cs typeface="+mn-cs"/>
                          <a:hlinkClick r:id="rId7" action="ppaction://hlinksldjump">
                            <a:extLst>
                              <a:ext uri="{A12FA001-AC4F-418D-AE19-62706E023703}">
                                <ahyp:hlinkClr xmlns:ahyp="http://schemas.microsoft.com/office/drawing/2018/hyperlinkcolor" val="tx"/>
                              </a:ext>
                            </a:extLst>
                          </a:hlinkClick>
                        </a:rPr>
                        <a:t>12-72</a:t>
                      </a:r>
                      <a:endParaRPr kumimoji="0" lang="en-CA" sz="1200" b="1" i="0" u="sng" strike="noStrike" kern="1200" cap="none" spc="0" normalizeH="0" baseline="0">
                        <a:ln>
                          <a:noFill/>
                        </a:ln>
                        <a:solidFill>
                          <a:schemeClr val="tx1"/>
                        </a:solidFill>
                        <a:effectLst/>
                        <a:uLnTx/>
                        <a:uFill>
                          <a:solidFill>
                            <a:schemeClr val="bg1"/>
                          </a:solidFill>
                        </a:uFill>
                        <a:latin typeface="+mn-lt"/>
                        <a:ea typeface="Scotia Headline" panose="020B0703020203020204" pitchFamily="34" charset="0"/>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81171099"/>
                  </a:ext>
                </a:extLst>
              </a:tr>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0">
                          <a:effectLst/>
                          <a:latin typeface="+mn-lt"/>
                        </a:rPr>
                        <a:t>9:50 am - 10:15 am</a:t>
                      </a:r>
                      <a:endParaRPr kumimoji="0" lang="en-CA" sz="1200" b="0"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8" action="ppaction://hlinksldjump">
                            <a:extLst>
                              <a:ext uri="{A12FA001-AC4F-418D-AE19-62706E023703}">
                                <ahyp:hlinkClr xmlns:ahyp="http://schemas.microsoft.com/office/drawing/2018/hyperlinkcolor" val="tx"/>
                              </a:ext>
                            </a:extLst>
                          </a:hlinkClick>
                        </a:rPr>
                        <a:t>Retail Client Primacy and Deposits</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i="0" kern="1200">
                          <a:solidFill>
                            <a:schemeClr val="dk1"/>
                          </a:solidFill>
                          <a:effectLst/>
                          <a:latin typeface="+mn-lt"/>
                          <a:ea typeface="+mn-ea"/>
                          <a:cs typeface="+mn-cs"/>
                        </a:rPr>
                        <a:t>Terri-Lee W., Thayde O.</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200" u="none" baseline="0">
                          <a:solidFill>
                            <a:schemeClr val="tx1"/>
                          </a:solidFill>
                          <a:uFill>
                            <a:solidFill>
                              <a:schemeClr val="bg1"/>
                            </a:solidFill>
                          </a:uFill>
                          <a:latin typeface="+mn-lt"/>
                          <a:hlinkClick r:id="rId8" action="ppaction://hlinksldjump">
                            <a:extLst>
                              <a:ext uri="{A12FA001-AC4F-418D-AE19-62706E023703}">
                                <ahyp:hlinkClr xmlns:ahyp="http://schemas.microsoft.com/office/drawing/2018/hyperlinkcolor" val="tx"/>
                              </a:ext>
                            </a:extLst>
                          </a:hlinkClick>
                        </a:rPr>
                        <a:t>13-19</a:t>
                      </a:r>
                      <a:endParaRPr lang="en-CA" sz="1200" u="none" baseline="0">
                        <a:solidFill>
                          <a:schemeClr val="tx1"/>
                        </a:solidFill>
                        <a:uFill>
                          <a:solidFill>
                            <a:schemeClr val="bg1"/>
                          </a:solidFill>
                        </a:uFill>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3389441"/>
                  </a:ext>
                </a:extLst>
              </a:tr>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0">
                          <a:effectLst/>
                          <a:latin typeface="+mn-lt"/>
                        </a:rPr>
                        <a:t>10:15 am - 10:40 am</a:t>
                      </a:r>
                      <a:endParaRPr kumimoji="0" lang="en-CA" sz="1200" b="0"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9" action="ppaction://hlinksldjump">
                            <a:extLst>
                              <a:ext uri="{A12FA001-AC4F-418D-AE19-62706E023703}">
                                <ahyp:hlinkClr xmlns:ahyp="http://schemas.microsoft.com/office/drawing/2018/hyperlinkcolor" val="tx"/>
                              </a:ext>
                            </a:extLst>
                          </a:hlinkClick>
                        </a:rPr>
                        <a:t>Retail Investment Advice</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i="0" kern="1200">
                          <a:solidFill>
                            <a:schemeClr val="dk1"/>
                          </a:solidFill>
                          <a:effectLst/>
                          <a:latin typeface="+mn-lt"/>
                          <a:ea typeface="+mn-ea"/>
                          <a:cs typeface="+mn-cs"/>
                        </a:rPr>
                        <a:t>Neal K., John D.</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a:solidFill>
                            <a:schemeClr val="tx1"/>
                          </a:solidFill>
                          <a:uFill>
                            <a:solidFill>
                              <a:schemeClr val="bg1"/>
                            </a:solidFill>
                          </a:uFill>
                          <a:latin typeface="+mn-lt"/>
                          <a:ea typeface="+mn-ea"/>
                          <a:cs typeface="+mn-cs"/>
                          <a:hlinkClick r:id="rId9" action="ppaction://hlinksldjump">
                            <a:extLst>
                              <a:ext uri="{A12FA001-AC4F-418D-AE19-62706E023703}">
                                <ahyp:hlinkClr xmlns:ahyp="http://schemas.microsoft.com/office/drawing/2018/hyperlinkcolor" val="tx"/>
                              </a:ext>
                            </a:extLst>
                          </a:hlinkClick>
                        </a:rPr>
                        <a:t>20-25</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4971742"/>
                  </a:ext>
                </a:extLst>
              </a:tr>
              <a:tr h="299328">
                <a:tc>
                  <a:txBody>
                    <a:bodyPr/>
                    <a:lstStyle/>
                    <a:p>
                      <a:pPr algn="l"/>
                      <a:r>
                        <a:rPr lang="en-US" sz="1200" i="0">
                          <a:solidFill>
                            <a:schemeClr val="bg1">
                              <a:lumMod val="75000"/>
                            </a:schemeClr>
                          </a:solidFill>
                          <a:effectLst/>
                          <a:latin typeface="+mn-lt"/>
                        </a:rPr>
                        <a:t>10:40 am - 11:00 am</a:t>
                      </a:r>
                      <a:endParaRPr lang="en-CA" sz="1200" i="0">
                        <a:solidFill>
                          <a:schemeClr val="bg1">
                            <a:lumMod val="75000"/>
                          </a:schemeClr>
                        </a:solidFill>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strike="noStrike" kern="1200" cap="none" spc="0" normalizeH="0" baseline="0" noProof="0">
                          <a:ln>
                            <a:noFill/>
                          </a:ln>
                          <a:solidFill>
                            <a:schemeClr val="bg1">
                              <a:lumMod val="75000"/>
                            </a:schemeClr>
                          </a:solidFill>
                          <a:effectLst/>
                          <a:uLnTx/>
                          <a:uFill>
                            <a:solidFill>
                              <a:srgbClr val="FFFFFF"/>
                            </a:solidFill>
                          </a:uFill>
                          <a:latin typeface="+mn-lt"/>
                          <a:ea typeface="+mn-ea"/>
                          <a:cs typeface="+mn-cs"/>
                        </a:rPr>
                        <a:t>BREAK</a:t>
                      </a: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CA" sz="1400" i="0">
                        <a:latin typeface="+mn-lt"/>
                      </a:endParaRPr>
                    </a:p>
                  </a:txBody>
                  <a:tcPr/>
                </a:tc>
                <a:tc hMerge="1">
                  <a:txBody>
                    <a:bodyPr/>
                    <a:lstStyle/>
                    <a:p>
                      <a:endParaRPr lang="en-CA" sz="1400">
                        <a:latin typeface="+mn-lt"/>
                      </a:endParaRPr>
                    </a:p>
                  </a:txBody>
                  <a:tcPr/>
                </a:tc>
                <a:extLst>
                  <a:ext uri="{0D108BD9-81ED-4DB2-BD59-A6C34878D82A}">
                    <a16:rowId xmlns:a16="http://schemas.microsoft.com/office/drawing/2014/main" val="1000675660"/>
                  </a:ext>
                </a:extLst>
              </a:tr>
              <a:tr h="340325">
                <a:tc>
                  <a:txBody>
                    <a:bodyPr/>
                    <a:lstStyle/>
                    <a:p>
                      <a:pPr algn="l"/>
                      <a:r>
                        <a:rPr lang="en-US" sz="1200" i="0">
                          <a:effectLst/>
                          <a:latin typeface="+mn-lt"/>
                        </a:rPr>
                        <a:t>11:00 am - 11:25 am</a:t>
                      </a:r>
                      <a:endParaRPr lang="en-CA" sz="1200" i="0">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10" action="ppaction://hlinksldjump">
                            <a:extLst>
                              <a:ext uri="{A12FA001-AC4F-418D-AE19-62706E023703}">
                                <ahyp:hlinkClr xmlns:ahyp="http://schemas.microsoft.com/office/drawing/2018/hyperlinkcolor" val="tx"/>
                              </a:ext>
                            </a:extLst>
                          </a:hlinkClick>
                        </a:rPr>
                        <a:t>Commercial Growth and Optimization</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i="0" kern="1200">
                          <a:solidFill>
                            <a:schemeClr val="dk1"/>
                          </a:solidFill>
                          <a:effectLst/>
                          <a:latin typeface="+mn-lt"/>
                          <a:ea typeface="+mn-ea"/>
                          <a:cs typeface="+mn-cs"/>
                        </a:rPr>
                        <a:t>Stephen B., Adrian O.R., Chris M.</a:t>
                      </a:r>
                      <a:endParaRPr lang="en-CA" sz="1200" i="0">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rId10" action="ppaction://hlinksldjump">
                            <a:extLst>
                              <a:ext uri="{A12FA001-AC4F-418D-AE19-62706E023703}">
                                <ahyp:hlinkClr xmlns:ahyp="http://schemas.microsoft.com/office/drawing/2018/hyperlinkcolor" val="tx"/>
                              </a:ext>
                            </a:extLst>
                          </a:hlinkClick>
                        </a:rPr>
                        <a:t>26-30</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4010102"/>
                  </a:ext>
                </a:extLst>
              </a:tr>
              <a:tr h="340325">
                <a:tc>
                  <a:txBody>
                    <a:bodyPr/>
                    <a:lstStyle/>
                    <a:p>
                      <a:pPr algn="l"/>
                      <a:r>
                        <a:rPr lang="en-US" sz="1200" i="0">
                          <a:effectLst/>
                          <a:latin typeface="+mn-lt"/>
                        </a:rPr>
                        <a:t>11:25 am - 11:50 am</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6" action="ppaction://hlinksldjump">
                            <a:extLst>
                              <a:ext uri="{A12FA001-AC4F-418D-AE19-62706E023703}">
                                <ahyp:hlinkClr xmlns:ahyp="http://schemas.microsoft.com/office/drawing/2018/hyperlinkcolor" val="tx"/>
                              </a:ext>
                            </a:extLst>
                          </a:hlinkClick>
                        </a:rPr>
                        <a:t>Cloud Acceleration</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i="0" kern="1200">
                          <a:solidFill>
                            <a:schemeClr val="dk1"/>
                          </a:solidFill>
                          <a:effectLst/>
                          <a:latin typeface="+mn-lt"/>
                          <a:ea typeface="+mn-ea"/>
                          <a:cs typeface="+mn-cs"/>
                        </a:rPr>
                        <a:t>Steve S., Grace L.</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rId6" action="ppaction://hlinksldjump">
                            <a:extLst>
                              <a:ext uri="{A12FA001-AC4F-418D-AE19-62706E023703}">
                                <ahyp:hlinkClr xmlns:ahyp="http://schemas.microsoft.com/office/drawing/2018/hyperlinkcolor" val="tx"/>
                              </a:ext>
                            </a:extLst>
                          </a:hlinkClick>
                        </a:rPr>
                        <a:t>31-41</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2711282"/>
                  </a:ext>
                </a:extLst>
              </a:tr>
              <a:tr h="598655">
                <a:tc>
                  <a:txBody>
                    <a:bodyPr/>
                    <a:lstStyle/>
                    <a:p>
                      <a:pPr algn="l"/>
                      <a:r>
                        <a:rPr lang="en-US" sz="1200" i="0">
                          <a:effectLst/>
                          <a:latin typeface="+mn-lt"/>
                        </a:rPr>
                        <a:t>11:50 am - 12:15 pm</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11" action="ppaction://hlinksldjump">
                            <a:extLst>
                              <a:ext uri="{A12FA001-AC4F-418D-AE19-62706E023703}">
                                <ahyp:hlinkClr xmlns:ahyp="http://schemas.microsoft.com/office/drawing/2018/hyperlinkcolor" val="tx"/>
                              </a:ext>
                            </a:extLst>
                          </a:hlinkClick>
                        </a:rPr>
                        <a:t>Global Transaction Banking</a:t>
                      </a: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rPr>
                        <a:t> </a:t>
                      </a:r>
                    </a:p>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strike="noStrike" kern="1200" cap="none" spc="0" normalizeH="0" baseline="0" noProof="0">
                          <a:ln>
                            <a:noFill/>
                          </a:ln>
                          <a:solidFill>
                            <a:schemeClr val="tx1"/>
                          </a:solidFill>
                          <a:effectLst/>
                          <a:uLnTx/>
                          <a:uFill>
                            <a:solidFill>
                              <a:srgbClr val="FFFFFF"/>
                            </a:solidFill>
                          </a:uFill>
                          <a:latin typeface="+mn-lt"/>
                          <a:ea typeface="+mn-ea"/>
                          <a:cs typeface="+mn-cs"/>
                        </a:rPr>
                        <a:t>(including U.S. Core Banking Replacement &amp; Cash Management Expansion Business Case Review)</a:t>
                      </a: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CA" sz="1200" i="0" kern="1200">
                          <a:solidFill>
                            <a:schemeClr val="dk1"/>
                          </a:solidFill>
                          <a:effectLst/>
                          <a:latin typeface="+mn-lt"/>
                          <a:ea typeface="+mn-ea"/>
                          <a:cs typeface="+mn-cs"/>
                        </a:rPr>
                        <a:t>Matthew P. J.</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rId11" action="ppaction://hlinksldjump">
                            <a:extLst>
                              <a:ext uri="{A12FA001-AC4F-418D-AE19-62706E023703}">
                                <ahyp:hlinkClr xmlns:ahyp="http://schemas.microsoft.com/office/drawing/2018/hyperlinkcolor" val="tx"/>
                              </a:ext>
                            </a:extLst>
                          </a:hlinkClick>
                        </a:rPr>
                        <a:t>42-49</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69565233"/>
                  </a:ext>
                </a:extLst>
              </a:tr>
              <a:tr h="2993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0">
                          <a:solidFill>
                            <a:schemeClr val="bg1">
                              <a:lumMod val="75000"/>
                            </a:schemeClr>
                          </a:solidFill>
                          <a:effectLst/>
                          <a:latin typeface="+mn-lt"/>
                        </a:rPr>
                        <a:t>12:15 pm - 12:35 pm</a:t>
                      </a:r>
                      <a:endParaRPr kumimoji="0" lang="en-CA" sz="1200" b="0" i="0" u="none" strike="noStrike" kern="1200" cap="none" spc="0" normalizeH="0" baseline="0" noProof="0">
                        <a:ln>
                          <a:noFill/>
                        </a:ln>
                        <a:solidFill>
                          <a:schemeClr val="bg1">
                            <a:lumMod val="75000"/>
                          </a:schemeClr>
                        </a:solidFill>
                        <a:effectLst/>
                        <a:uLnTx/>
                        <a:uFillTx/>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strike="noStrike" kern="1200" cap="none" spc="0" normalizeH="0" baseline="0" noProof="0">
                          <a:ln>
                            <a:noFill/>
                          </a:ln>
                          <a:solidFill>
                            <a:schemeClr val="bg1">
                              <a:lumMod val="75000"/>
                            </a:schemeClr>
                          </a:solidFill>
                          <a:effectLst/>
                          <a:uLnTx/>
                          <a:uFill>
                            <a:solidFill>
                              <a:srgbClr val="FFFFFF"/>
                            </a:solidFill>
                          </a:uFill>
                          <a:latin typeface="+mn-lt"/>
                          <a:ea typeface="+mn-ea"/>
                          <a:cs typeface="+mn-cs"/>
                        </a:rPr>
                        <a:t>LUNCH</a:t>
                      </a: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CA" sz="1400" i="0">
                        <a:latin typeface="+mn-lt"/>
                      </a:endParaRPr>
                    </a:p>
                  </a:txBody>
                  <a:tcPr/>
                </a:tc>
                <a:tc hMerge="1">
                  <a:txBody>
                    <a:bodyPr/>
                    <a:lstStyle/>
                    <a:p>
                      <a:endParaRPr lang="en-CA" sz="1400">
                        <a:latin typeface="+mn-lt"/>
                      </a:endParaRPr>
                    </a:p>
                  </a:txBody>
                  <a:tcPr/>
                </a:tc>
                <a:extLst>
                  <a:ext uri="{0D108BD9-81ED-4DB2-BD59-A6C34878D82A}">
                    <a16:rowId xmlns:a16="http://schemas.microsoft.com/office/drawing/2014/main" val="1251319345"/>
                  </a:ext>
                </a:extLst>
              </a:tr>
              <a:tr h="340325">
                <a:tc>
                  <a:txBody>
                    <a:bodyPr/>
                    <a:lstStyle/>
                    <a:p>
                      <a:pPr algn="l"/>
                      <a:r>
                        <a:rPr lang="en-US" sz="1200" i="0">
                          <a:effectLst/>
                          <a:latin typeface="+mn-lt"/>
                        </a:rPr>
                        <a:t>12:35 pm - 1:00 pm</a:t>
                      </a:r>
                      <a:endParaRPr lang="en-CA" sz="1200" i="0">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 action="ppaction://noaction">
                            <a:extLst>
                              <a:ext uri="{A12FA001-AC4F-418D-AE19-62706E023703}">
                                <ahyp:hlinkClr xmlns:ahyp="http://schemas.microsoft.com/office/drawing/2018/hyperlinkcolor" val="tx"/>
                              </a:ext>
                            </a:extLst>
                          </a:hlinkClick>
                        </a:rPr>
                        <a:t>Productivity</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CA" sz="1200" i="0" kern="1200">
                          <a:solidFill>
                            <a:schemeClr val="dk1"/>
                          </a:solidFill>
                          <a:effectLst/>
                          <a:latin typeface="+mn-lt"/>
                          <a:ea typeface="+mn-ea"/>
                          <a:cs typeface="+mn-cs"/>
                        </a:rPr>
                        <a:t>Loretta M., Tracy B.</a:t>
                      </a:r>
                      <a:endParaRPr lang="en-CA" sz="1200" i="0">
                        <a:latin typeface="+mn-lt"/>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 action="ppaction://noaction">
                            <a:extLst>
                              <a:ext uri="{A12FA001-AC4F-418D-AE19-62706E023703}">
                                <ahyp:hlinkClr xmlns:ahyp="http://schemas.microsoft.com/office/drawing/2018/hyperlinkcolor" val="tx"/>
                              </a:ext>
                            </a:extLst>
                          </a:hlinkClick>
                        </a:rPr>
                        <a:t>50-57</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50000"/>
                        </a:schemeClr>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75231768"/>
                  </a:ext>
                </a:extLst>
              </a:tr>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0">
                          <a:effectLst/>
                          <a:latin typeface="+mn-lt"/>
                        </a:rPr>
                        <a:t>1:00 pm - 1:15 pm</a:t>
                      </a:r>
                      <a:endParaRPr kumimoji="0" lang="en-CA" sz="1200" b="0"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12" action="ppaction://hlinksldjump">
                            <a:extLst>
                              <a:ext uri="{A12FA001-AC4F-418D-AE19-62706E023703}">
                                <ahyp:hlinkClr xmlns:ahyp="http://schemas.microsoft.com/office/drawing/2018/hyperlinkcolor" val="tx"/>
                              </a:ext>
                            </a:extLst>
                          </a:hlinkClick>
                        </a:rPr>
                        <a:t>Data-Driven Decision Making</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CA" sz="1200" i="0" kern="1200">
                          <a:solidFill>
                            <a:schemeClr val="dk1"/>
                          </a:solidFill>
                          <a:effectLst/>
                          <a:latin typeface="+mn-lt"/>
                          <a:ea typeface="+mn-ea"/>
                          <a:cs typeface="+mn-cs"/>
                        </a:rPr>
                        <a:t>Grace L., Martin W.</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rId12" action="ppaction://hlinksldjump">
                            <a:extLst>
                              <a:ext uri="{A12FA001-AC4F-418D-AE19-62706E023703}">
                                <ahyp:hlinkClr xmlns:ahyp="http://schemas.microsoft.com/office/drawing/2018/hyperlinkcolor" val="tx"/>
                              </a:ext>
                            </a:extLst>
                          </a:hlinkClick>
                        </a:rPr>
                        <a:t>58-63</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9953188"/>
                  </a:ext>
                </a:extLst>
              </a:tr>
              <a:tr h="3403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0">
                          <a:effectLst/>
                          <a:latin typeface="+mn-lt"/>
                        </a:rPr>
                        <a:t>1:15 pm - 1:30 pm</a:t>
                      </a:r>
                      <a:endParaRPr kumimoji="0" lang="en-CA" sz="1200" b="0" i="0" u="none" strike="noStrike" kern="1200" cap="none" spc="0" normalizeH="0" baseline="0" noProof="0">
                        <a:ln>
                          <a:noFill/>
                        </a:ln>
                        <a:solidFill>
                          <a:srgbClr val="000000"/>
                        </a:solidFill>
                        <a:effectLst/>
                        <a:uLnTx/>
                        <a:uFillTx/>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171450" marR="0" lvl="0" indent="0" algn="l" defTabSz="914400" rtl="0" eaLnBrk="1" fontAlgn="auto" latinLnBrk="0" hangingPunct="1">
                        <a:lnSpc>
                          <a:spcPct val="100000"/>
                        </a:lnSpc>
                        <a:spcBef>
                          <a:spcPts val="0"/>
                        </a:spcBef>
                        <a:spcAft>
                          <a:spcPts val="0"/>
                        </a:spcAft>
                        <a:buClrTx/>
                        <a:buSzTx/>
                        <a:buFontTx/>
                        <a:buNone/>
                        <a:tabLst/>
                        <a:defRPr/>
                      </a:pPr>
                      <a:r>
                        <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hlinkClick r:id="rId13" action="ppaction://hlinksldjump">
                            <a:extLst>
                              <a:ext uri="{A12FA001-AC4F-418D-AE19-62706E023703}">
                                <ahyp:hlinkClr xmlns:ahyp="http://schemas.microsoft.com/office/drawing/2018/hyperlinkcolor" val="tx"/>
                              </a:ext>
                            </a:extLst>
                          </a:hlinkClick>
                        </a:rPr>
                        <a:t>Capital Allocation</a:t>
                      </a:r>
                      <a:endParaRPr kumimoji="0" lang="en-CA" sz="1200" b="0" i="0" strike="noStrike" kern="1200" cap="none" spc="0" normalizeH="0" baseline="0" noProof="0">
                        <a:ln>
                          <a:noFill/>
                        </a:ln>
                        <a:solidFill>
                          <a:schemeClr val="tx1"/>
                        </a:solidFill>
                        <a:effectLst/>
                        <a:uLnTx/>
                        <a:uFill>
                          <a:solidFill>
                            <a:srgbClr val="FFFFFF"/>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lang="en-CA" sz="1200" i="0" kern="1200">
                          <a:solidFill>
                            <a:schemeClr val="dk1"/>
                          </a:solidFill>
                          <a:effectLst/>
                          <a:latin typeface="+mn-lt"/>
                          <a:ea typeface="+mn-ea"/>
                          <a:cs typeface="+mn-cs"/>
                        </a:rPr>
                        <a:t>Anique A.</a:t>
                      </a:r>
                      <a:endParaRPr lang="en-CA" sz="1200" i="0">
                        <a:latin typeface="+mn-lt"/>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en-CA" sz="1200" u="sng" kern="1200" baseline="0" noProof="0">
                          <a:solidFill>
                            <a:schemeClr val="tx1"/>
                          </a:solidFill>
                          <a:uFill>
                            <a:solidFill>
                              <a:schemeClr val="bg1"/>
                            </a:solidFill>
                          </a:uFill>
                          <a:latin typeface="+mn-lt"/>
                          <a:ea typeface="+mn-ea"/>
                          <a:cs typeface="+mn-cs"/>
                          <a:hlinkClick r:id="rId13" action="ppaction://hlinksldjump">
                            <a:extLst>
                              <a:ext uri="{A12FA001-AC4F-418D-AE19-62706E023703}">
                                <ahyp:hlinkClr xmlns:ahyp="http://schemas.microsoft.com/office/drawing/2018/hyperlinkcolor" val="tx"/>
                              </a:ext>
                            </a:extLst>
                          </a:hlinkClick>
                        </a:rPr>
                        <a:t>64-7</a:t>
                      </a:r>
                      <a:r>
                        <a:rPr lang="en-CA" sz="1200" u="sng" kern="1200" baseline="0" noProof="0">
                          <a:solidFill>
                            <a:schemeClr val="tx1"/>
                          </a:solidFill>
                          <a:uFill>
                            <a:solidFill>
                              <a:schemeClr val="bg1"/>
                            </a:solidFill>
                          </a:uFill>
                          <a:latin typeface="+mn-lt"/>
                          <a:ea typeface="+mn-ea"/>
                          <a:cs typeface="+mn-cs"/>
                        </a:rPr>
                        <a:t>4</a:t>
                      </a:r>
                      <a:endParaRPr lang="en-CA" sz="1200" u="sng" kern="1200" baseline="0">
                        <a:solidFill>
                          <a:schemeClr val="tx1"/>
                        </a:solidFill>
                        <a:uFill>
                          <a:solidFill>
                            <a:schemeClr val="bg1"/>
                          </a:solidFill>
                        </a:uFill>
                        <a:latin typeface="+mn-lt"/>
                        <a:ea typeface="+mn-ea"/>
                        <a:cs typeface="+mn-cs"/>
                      </a:endParaRPr>
                    </a:p>
                  </a:txBody>
                  <a:tcPr anchor="ctr">
                    <a:lnL w="12700" cmpd="sng">
                      <a:noFill/>
                    </a:lnL>
                    <a:lnR w="12700" cmpd="sng">
                      <a:noFill/>
                    </a:lnR>
                    <a:lnT w="9525" cap="flat" cmpd="sng" algn="ctr">
                      <a:solidFill>
                        <a:schemeClr val="bg1">
                          <a:lumMod val="7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4955398"/>
                  </a:ext>
                </a:extLst>
              </a:tr>
            </a:tbl>
          </a:graphicData>
        </a:graphic>
      </p:graphicFrame>
    </p:spTree>
    <p:extLst>
      <p:ext uri="{BB962C8B-B14F-4D97-AF65-F5344CB8AC3E}">
        <p14:creationId xmlns:p14="http://schemas.microsoft.com/office/powerpoint/2010/main" val="219824079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090FB5-018C-6806-7A0F-7F5F21F2B45D}"/>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05DECF43-43EF-ECE8-BFB0-FFC816652095}"/>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8" name="think-cell data - do not delete" hidden="1">
                        <a:extLst>
                          <a:ext uri="{FF2B5EF4-FFF2-40B4-BE49-F238E27FC236}">
                            <a16:creationId xmlns:a16="http://schemas.microsoft.com/office/drawing/2014/main" id="{05DECF43-43EF-ECE8-BFB0-FFC81665209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292E099B-8C04-2D78-5D83-4840C0797CA2}"/>
              </a:ext>
            </a:extLst>
          </p:cNvPr>
          <p:cNvSpPr>
            <a:spLocks noGrp="1"/>
          </p:cNvSpPr>
          <p:nvPr>
            <p:ph type="title"/>
          </p:nvPr>
        </p:nvSpPr>
        <p:spPr/>
        <p:txBody>
          <a:bodyPr vert="horz" rIns="0" anchor="t"/>
          <a:lstStyle/>
          <a:p>
            <a:r>
              <a:rPr lang="en-US" sz="2200">
                <a:solidFill>
                  <a:srgbClr val="FF0000"/>
                </a:solidFill>
              </a:rPr>
              <a:t>Agenda | </a:t>
            </a:r>
            <a:r>
              <a:rPr lang="en-US" sz="2200"/>
              <a:t>Day 1</a:t>
            </a:r>
          </a:p>
        </p:txBody>
      </p:sp>
      <p:sp>
        <p:nvSpPr>
          <p:cNvPr id="3" name="Slide Number Placeholder 2">
            <a:extLst>
              <a:ext uri="{FF2B5EF4-FFF2-40B4-BE49-F238E27FC236}">
                <a16:creationId xmlns:a16="http://schemas.microsoft.com/office/drawing/2014/main" id="{41D2C7A2-201E-C20F-6652-3D47415A1C85}"/>
              </a:ext>
            </a:extLst>
          </p:cNvPr>
          <p:cNvSpPr>
            <a:spLocks noGrp="1"/>
          </p:cNvSpPr>
          <p:nvPr>
            <p:ph type="sldNum" sz="quarter" idx="10"/>
          </p:nvPr>
        </p:nvSpPr>
        <p:spPr/>
        <p:txBody>
          <a:bodyPr/>
          <a:lstStyle/>
          <a:p>
            <a:fld id="{95D835A7-12B2-4074-8DA2-469A8808C237}" type="slidenum">
              <a:rPr lang="en-US" smtClean="0"/>
              <a:pPr/>
              <a:t>12</a:t>
            </a:fld>
            <a:endParaRPr lang="en-US"/>
          </a:p>
        </p:txBody>
      </p:sp>
      <p:sp>
        <p:nvSpPr>
          <p:cNvPr id="4" name="Text Placeholder 3">
            <a:extLst>
              <a:ext uri="{FF2B5EF4-FFF2-40B4-BE49-F238E27FC236}">
                <a16:creationId xmlns:a16="http://schemas.microsoft.com/office/drawing/2014/main" id="{DAB45192-4B67-6731-2DC7-CCAB4DAD287E}"/>
              </a:ext>
            </a:extLst>
          </p:cNvPr>
          <p:cNvSpPr>
            <a:spLocks noGrp="1"/>
          </p:cNvSpPr>
          <p:nvPr>
            <p:ph type="body" sz="quarter" idx="11"/>
          </p:nvPr>
        </p:nvSpPr>
        <p:spPr/>
        <p:txBody>
          <a:bodyPr/>
          <a:lstStyle/>
          <a:p>
            <a:endParaRPr lang="en-US"/>
          </a:p>
        </p:txBody>
      </p:sp>
      <p:graphicFrame>
        <p:nvGraphicFramePr>
          <p:cNvPr id="14" name="Table 13">
            <a:extLst>
              <a:ext uri="{FF2B5EF4-FFF2-40B4-BE49-F238E27FC236}">
                <a16:creationId xmlns:a16="http://schemas.microsoft.com/office/drawing/2014/main" id="{206B0FC2-0C5C-C213-104B-8F56B139B081}"/>
              </a:ext>
            </a:extLst>
          </p:cNvPr>
          <p:cNvGraphicFramePr>
            <a:graphicFrameLocks noGrp="1"/>
          </p:cNvGraphicFramePr>
          <p:nvPr/>
        </p:nvGraphicFramePr>
        <p:xfrm>
          <a:off x="510531" y="1412875"/>
          <a:ext cx="11201400" cy="4685095"/>
        </p:xfrm>
        <a:graphic>
          <a:graphicData uri="http://schemas.openxmlformats.org/drawingml/2006/table">
            <a:tbl>
              <a:tblPr bandRow="1">
                <a:tableStyleId>{5C22544A-7EE6-4342-B048-85BDC9FD1C3A}</a:tableStyleId>
              </a:tblPr>
              <a:tblGrid>
                <a:gridCol w="1280160">
                  <a:extLst>
                    <a:ext uri="{9D8B030D-6E8A-4147-A177-3AD203B41FA5}">
                      <a16:colId xmlns:a16="http://schemas.microsoft.com/office/drawing/2014/main" val="3473172531"/>
                    </a:ext>
                  </a:extLst>
                </a:gridCol>
                <a:gridCol w="6446520">
                  <a:extLst>
                    <a:ext uri="{9D8B030D-6E8A-4147-A177-3AD203B41FA5}">
                      <a16:colId xmlns:a16="http://schemas.microsoft.com/office/drawing/2014/main" val="3832201592"/>
                    </a:ext>
                  </a:extLst>
                </a:gridCol>
                <a:gridCol w="1920240">
                  <a:extLst>
                    <a:ext uri="{9D8B030D-6E8A-4147-A177-3AD203B41FA5}">
                      <a16:colId xmlns:a16="http://schemas.microsoft.com/office/drawing/2014/main" val="1510359640"/>
                    </a:ext>
                  </a:extLst>
                </a:gridCol>
                <a:gridCol w="1554480">
                  <a:extLst>
                    <a:ext uri="{9D8B030D-6E8A-4147-A177-3AD203B41FA5}">
                      <a16:colId xmlns:a16="http://schemas.microsoft.com/office/drawing/2014/main" val="3796002455"/>
                    </a:ext>
                  </a:extLst>
                </a:gridCol>
              </a:tblGrid>
              <a:tr h="295975">
                <a:tc>
                  <a:txBody>
                    <a:bodyPr/>
                    <a:lstStyle/>
                    <a:p>
                      <a:r>
                        <a:rPr lang="en-US" sz="1100" b="0" spc="300"/>
                        <a:t>SECTION</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r>
                        <a:rPr lang="en-US" sz="1100" b="0" spc="300"/>
                        <a:t>SESSION</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BB9F78"/>
                      </a:solidFill>
                      <a:prstDash val="solid"/>
                      <a:round/>
                      <a:headEnd type="none" w="med" len="med"/>
                      <a:tailEnd type="none" w="med" len="med"/>
                    </a:lnB>
                    <a:noFill/>
                  </a:tcPr>
                </a:tc>
                <a:tc>
                  <a:txBody>
                    <a:bodyPr/>
                    <a:lstStyle/>
                    <a:p>
                      <a:pPr algn="l"/>
                      <a:r>
                        <a:rPr lang="en-US" sz="1100" b="0" spc="300"/>
                        <a:t>LED BY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BB9F78"/>
                      </a:solidFill>
                      <a:prstDash val="solid"/>
                      <a:round/>
                      <a:headEnd type="none" w="med" len="med"/>
                      <a:tailEnd type="none" w="med" len="med"/>
                    </a:lnB>
                    <a:noFill/>
                  </a:tcPr>
                </a:tc>
                <a:tc>
                  <a:txBody>
                    <a:bodyPr/>
                    <a:lstStyle/>
                    <a:p>
                      <a:pPr algn="ctr"/>
                      <a:r>
                        <a:rPr lang="en-US" sz="1100" b="0" spc="300"/>
                        <a:t>TIME</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BB9F78"/>
                      </a:solidFill>
                      <a:prstDash val="solid"/>
                      <a:round/>
                      <a:headEnd type="none" w="med" len="med"/>
                      <a:tailEnd type="none" w="med" len="med"/>
                    </a:lnB>
                    <a:noFill/>
                  </a:tcPr>
                </a:tc>
                <a:extLst>
                  <a:ext uri="{0D108BD9-81ED-4DB2-BD59-A6C34878D82A}">
                    <a16:rowId xmlns:a16="http://schemas.microsoft.com/office/drawing/2014/main" val="614934607"/>
                  </a:ext>
                </a:extLst>
              </a:tr>
              <a:tr h="292608">
                <a:tc rowSpan="4">
                  <a:txBody>
                    <a:bodyPr/>
                    <a:lstStyle/>
                    <a:p>
                      <a:pPr marL="0" algn="l" defTabSz="914411" rtl="0" eaLnBrk="1" latinLnBrk="0" hangingPunct="1"/>
                      <a:r>
                        <a:rPr lang="en-US" sz="1100" b="1" kern="1200">
                          <a:solidFill>
                            <a:schemeClr val="dk1"/>
                          </a:solidFill>
                          <a:latin typeface="+mn-lt"/>
                          <a:ea typeface="+mn-ea"/>
                          <a:cs typeface="+mn-cs"/>
                        </a:rPr>
                        <a:t>INTRODUCTION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5EFE8"/>
                    </a:solidFill>
                  </a:tcPr>
                </a:tc>
                <a:tc gridSpan="2">
                  <a:txBody>
                    <a:bodyPr/>
                    <a:lstStyle/>
                    <a:p>
                      <a:pPr algn="ctr"/>
                      <a:r>
                        <a:rPr lang="en-US" sz="1100" b="0" spc="300">
                          <a:solidFill>
                            <a:srgbClr val="BB9F78"/>
                          </a:solidFill>
                        </a:rPr>
                        <a:t>BREAKFAST</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B9F78"/>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hMerge="1">
                  <a:txBody>
                    <a:bodyPr/>
                    <a:lstStyle/>
                    <a:p>
                      <a:pPr algn="ctr"/>
                      <a:endParaRPr lang="en-US" sz="1100"/>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B9F78"/>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i="1">
                          <a:solidFill>
                            <a:srgbClr val="BB9F78"/>
                          </a:solidFill>
                        </a:rPr>
                        <a:t>9:00 am – 9:30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B9F78"/>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extLst>
                  <a:ext uri="{0D108BD9-81ED-4DB2-BD59-A6C34878D82A}">
                    <a16:rowId xmlns:a16="http://schemas.microsoft.com/office/drawing/2014/main" val="776717985"/>
                  </a:ext>
                </a:extLst>
              </a:tr>
              <a:tr h="292608">
                <a:tc vMerge="1">
                  <a:txBody>
                    <a:bodyPr/>
                    <a:lstStyle/>
                    <a:p>
                      <a:endParaRPr lang="en-US"/>
                    </a:p>
                  </a:txBody>
                  <a:tcPr/>
                </a:tc>
                <a:tc>
                  <a:txBody>
                    <a:bodyPr/>
                    <a:lstStyle/>
                    <a:p>
                      <a:r>
                        <a:rPr lang="en-US" sz="1100" b="1"/>
                        <a:t>Opening Remarks</a:t>
                      </a:r>
                      <a:endParaRPr lang="en-US" sz="1100"/>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a:t>Maria </a:t>
                      </a:r>
                      <a:r>
                        <a:rPr lang="en-US" sz="1100" err="1"/>
                        <a:t>Theofilaktidis</a:t>
                      </a:r>
                      <a:endParaRPr lang="en-US" sz="1100"/>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9:30 am – 9:35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2245094794"/>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a:t>Icebreaker: </a:t>
                      </a:r>
                      <a:r>
                        <a:rPr lang="en-US" sz="1100" b="0"/>
                        <a:t>“</a:t>
                      </a:r>
                      <a:r>
                        <a:rPr lang="en-US" sz="1100" b="0" i="1"/>
                        <a:t>Common grounds</a:t>
                      </a:r>
                      <a:r>
                        <a:rPr lang="en-US" sz="1100" b="0"/>
                        <a:t>”</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b="0"/>
                        <a:t>Ent. Strategy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9:35 am – 9:45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479899122"/>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a:t>Objectives for today: </a:t>
                      </a:r>
                      <a:r>
                        <a:rPr lang="en-US" sz="1100" b="0"/>
                        <a:t>“</a:t>
                      </a:r>
                      <a:r>
                        <a:rPr lang="en-US" sz="1100" b="0" i="1"/>
                        <a:t>What do we want to achieve</a:t>
                      </a:r>
                      <a:r>
                        <a:rPr lang="en-US" sz="1100" b="0"/>
                        <a:t>”</a:t>
                      </a:r>
                      <a:r>
                        <a:rPr lang="en-US" sz="1100" b="1"/>
                        <a:t> </a:t>
                      </a:r>
                      <a:endParaRPr lang="en-US" sz="1100"/>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algn="l"/>
                      <a:r>
                        <a:rPr lang="en-US" sz="1100"/>
                        <a:t>Phil Seymour</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9:45 am – 9:50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extLst>
                  <a:ext uri="{0D108BD9-81ED-4DB2-BD59-A6C34878D82A}">
                    <a16:rowId xmlns:a16="http://schemas.microsoft.com/office/drawing/2014/main" val="831820467"/>
                  </a:ext>
                </a:extLst>
              </a:tr>
              <a:tr h="292608">
                <a:tc rowSpan="5">
                  <a:txBody>
                    <a:bodyPr/>
                    <a:lstStyle/>
                    <a:p>
                      <a:pPr marL="0" algn="l" defTabSz="914411" rtl="0" eaLnBrk="1" latinLnBrk="0" hangingPunct="1"/>
                      <a:r>
                        <a:rPr lang="en-US" sz="1100" b="1" kern="1200">
                          <a:solidFill>
                            <a:schemeClr val="dk1"/>
                          </a:solidFill>
                          <a:latin typeface="+mn-lt"/>
                          <a:ea typeface="+mn-ea"/>
                          <a:cs typeface="+mn-cs"/>
                        </a:rPr>
                        <a:t>WHERE WE ARE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5EFE8"/>
                    </a:solidFill>
                  </a:tcPr>
                </a:tc>
                <a:tc>
                  <a:txBody>
                    <a:bodyPr/>
                    <a:lstStyle/>
                    <a:p>
                      <a:r>
                        <a:rPr lang="en-US" sz="1100" b="1"/>
                        <a:t>Presentation: </a:t>
                      </a:r>
                      <a:r>
                        <a:rPr lang="en-US" sz="1100" b="0" i="1"/>
                        <a:t>“Our strategy and FY 2026 recap”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a:t>Phil Seymour</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9:50 am – 10:00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968759656"/>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a:t>Fireside Chat with Nicole Frew &amp; Diego Masola: </a:t>
                      </a:r>
                      <a:r>
                        <a:rPr lang="en-US" sz="1100" b="0" i="1"/>
                        <a:t>“</a:t>
                      </a:r>
                      <a:r>
                        <a:rPr lang="en-US" sz="1100" b="0" i="1" kern="1200">
                          <a:solidFill>
                            <a:schemeClr val="dk1"/>
                          </a:solidFill>
                          <a:latin typeface="+mn-lt"/>
                          <a:ea typeface="+mn-ea"/>
                          <a:cs typeface="+mn-cs"/>
                        </a:rPr>
                        <a:t>Elevating Internal Audit as a Trusted Partner</a:t>
                      </a:r>
                      <a:r>
                        <a:rPr lang="en-US" sz="1100" b="0" i="1"/>
                        <a:t>”</a:t>
                      </a:r>
                      <a:endParaRPr lang="en-US" sz="1100" i="1"/>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i="0"/>
                        <a:t>Anna Tung</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10:00 am – 10:45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85725291"/>
                  </a:ext>
                </a:extLst>
              </a:tr>
              <a:tr h="292608">
                <a:tc vMerge="1">
                  <a:txBody>
                    <a:bodyPr/>
                    <a:lstStyle/>
                    <a:p>
                      <a:endParaRPr lang="en-US"/>
                    </a:p>
                  </a:txBody>
                  <a:tcPr/>
                </a:tc>
                <a:tc gridSpan="2">
                  <a:txBody>
                    <a:bodyPr/>
                    <a:lstStyle/>
                    <a:p>
                      <a:pPr algn="ctr"/>
                      <a:r>
                        <a:rPr lang="en-US" sz="1100" i="0" spc="300">
                          <a:solidFill>
                            <a:srgbClr val="BB9F78"/>
                          </a:solidFill>
                        </a:rPr>
                        <a:t>BREAK</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hMerge="1">
                  <a:txBody>
                    <a:bodyPr/>
                    <a:lstStyle/>
                    <a:p>
                      <a:pPr algn="l"/>
                      <a:endParaRPr lang="en-US" sz="1100" i="0" spc="300">
                        <a:solidFill>
                          <a:srgbClr val="005A85"/>
                        </a:solidFill>
                        <a:highlight>
                          <a:srgbClr val="FFFF00"/>
                        </a:highlight>
                      </a:endParaRPr>
                    </a:p>
                  </a:txBody>
                  <a:tcPr marL="182880"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a:txBody>
                    <a:bodyPr/>
                    <a:lstStyle/>
                    <a:p>
                      <a:pPr algn="ctr"/>
                      <a:r>
                        <a:rPr lang="en-US" sz="1100" i="1">
                          <a:solidFill>
                            <a:srgbClr val="BB9F78"/>
                          </a:solidFill>
                        </a:rPr>
                        <a:t>10:45 am – 11:00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extLst>
                  <a:ext uri="{0D108BD9-81ED-4DB2-BD59-A6C34878D82A}">
                    <a16:rowId xmlns:a16="http://schemas.microsoft.com/office/drawing/2014/main" val="3359375487"/>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a:solidFill>
                            <a:schemeClr val="tx1"/>
                          </a:solidFill>
                        </a:rPr>
                        <a:t>Live Poll: </a:t>
                      </a:r>
                      <a:r>
                        <a:rPr lang="en-US" sz="1100" b="0">
                          <a:solidFill>
                            <a:schemeClr val="tx1"/>
                          </a:solidFill>
                        </a:rPr>
                        <a:t>“</a:t>
                      </a:r>
                      <a:r>
                        <a:rPr lang="en-US" sz="1100" b="0" i="1">
                          <a:solidFill>
                            <a:schemeClr val="tx1"/>
                          </a:solidFill>
                        </a:rPr>
                        <a:t>Preliminary insights from EY Diagnostic Survey Results”</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b="0" i="0">
                          <a:solidFill>
                            <a:schemeClr val="tx1"/>
                          </a:solidFill>
                        </a:rPr>
                        <a:t>Elizabeth V. / Ent. Strategy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11:00 am – 11:30 am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653087765"/>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i="0">
                          <a:solidFill>
                            <a:schemeClr val="tx1"/>
                          </a:solidFill>
                        </a:rPr>
                        <a:t>Group Breakout: </a:t>
                      </a:r>
                      <a:r>
                        <a:rPr lang="en-US" sz="1100" b="0" i="0">
                          <a:solidFill>
                            <a:schemeClr val="tx1"/>
                          </a:solidFill>
                        </a:rPr>
                        <a:t>“</a:t>
                      </a:r>
                      <a:r>
                        <a:rPr lang="en-US" sz="1100" b="0" i="1">
                          <a:solidFill>
                            <a:schemeClr val="tx1"/>
                          </a:solidFill>
                        </a:rPr>
                        <a:t>Current state reflections”</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0" i="0">
                          <a:solidFill>
                            <a:schemeClr val="tx1"/>
                          </a:solidFill>
                        </a:rPr>
                        <a:t>Ent. Strategy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a:solidFill>
                            <a:schemeClr val="tx1"/>
                          </a:solidFill>
                        </a:rPr>
                        <a:t>11:30 am – 12:15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extLst>
                  <a:ext uri="{0D108BD9-81ED-4DB2-BD59-A6C34878D82A}">
                    <a16:rowId xmlns:a16="http://schemas.microsoft.com/office/drawing/2014/main" val="3947967948"/>
                  </a:ext>
                </a:extLst>
              </a:tr>
              <a:tr h="292608">
                <a:tc rowSpan="5">
                  <a:txBody>
                    <a:bodyPr/>
                    <a:lstStyle/>
                    <a:p>
                      <a:r>
                        <a:rPr lang="en-US" sz="1100" b="1"/>
                        <a:t>FUTURE STATE &amp; INNOVATION</a:t>
                      </a:r>
                      <a:endParaRPr lang="en-US" sz="1100" b="1">
                        <a:solidFill>
                          <a:srgbClr val="BB9F78"/>
                        </a:solidFill>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5EFE8"/>
                    </a:solidFill>
                  </a:tcPr>
                </a:tc>
                <a:tc gridSpan="2">
                  <a:txBody>
                    <a:bodyPr/>
                    <a:lstStyle/>
                    <a:p>
                      <a:pPr algn="ctr"/>
                      <a:r>
                        <a:rPr lang="en-US" sz="1100" i="0" kern="1200" spc="300">
                          <a:solidFill>
                            <a:srgbClr val="BB9F78"/>
                          </a:solidFill>
                          <a:latin typeface="+mn-lt"/>
                          <a:ea typeface="+mn-ea"/>
                          <a:cs typeface="+mn-cs"/>
                        </a:rPr>
                        <a:t>LUNCH</a:t>
                      </a:r>
                      <a:r>
                        <a:rPr lang="en-US" sz="1100" i="1" kern="1200">
                          <a:solidFill>
                            <a:srgbClr val="BB9F78"/>
                          </a:solidFill>
                          <a:latin typeface="+mn-lt"/>
                          <a:ea typeface="+mn-ea"/>
                          <a:cs typeface="+mn-cs"/>
                        </a:rPr>
                        <a:t>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hMerge="1">
                  <a:txBody>
                    <a:bodyPr/>
                    <a:lstStyle/>
                    <a:p>
                      <a:pPr algn="l"/>
                      <a:endParaRPr lang="en-US" sz="1100" i="1" kern="1200">
                        <a:solidFill>
                          <a:srgbClr val="BB9F78"/>
                        </a:solidFill>
                        <a:latin typeface="+mn-lt"/>
                        <a:ea typeface="+mn-ea"/>
                        <a:cs typeface="+mn-cs"/>
                      </a:endParaRPr>
                    </a:p>
                  </a:txBody>
                  <a:tcPr marL="182880"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a:txBody>
                    <a:bodyPr/>
                    <a:lstStyle/>
                    <a:p>
                      <a:pPr algn="ctr"/>
                      <a:r>
                        <a:rPr lang="en-US" sz="1100" i="1">
                          <a:solidFill>
                            <a:srgbClr val="BB9F78"/>
                          </a:solidFill>
                        </a:rPr>
                        <a:t>12:15 pm – 1:00 pm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extLst>
                  <a:ext uri="{0D108BD9-81ED-4DB2-BD59-A6C34878D82A}">
                    <a16:rowId xmlns:a16="http://schemas.microsoft.com/office/drawing/2014/main" val="347064092"/>
                  </a:ext>
                </a:extLst>
              </a:tr>
              <a:tr h="292608">
                <a:tc vMerge="1">
                  <a:txBody>
                    <a:bodyPr/>
                    <a:lstStyle/>
                    <a:p>
                      <a:endParaRPr lang="en-US"/>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5EFE8"/>
                    </a:solidFill>
                  </a:tcPr>
                </a:tc>
                <a:tc>
                  <a:txBody>
                    <a:bodyPr/>
                    <a:lstStyle/>
                    <a:p>
                      <a:r>
                        <a:rPr lang="en-US" sz="1100" b="1" i="0"/>
                        <a:t>EY Perspective:</a:t>
                      </a:r>
                      <a:r>
                        <a:rPr lang="en-US" sz="1100" b="1" i="1"/>
                        <a:t> </a:t>
                      </a:r>
                      <a:r>
                        <a:rPr lang="en-US" sz="1100" b="0" i="1"/>
                        <a:t>“Future of Internal Audit”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l"/>
                      <a:r>
                        <a:rPr lang="en-US" sz="1100" b="0" i="0"/>
                        <a:t>EY representative </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ctr"/>
                      <a:r>
                        <a:rPr lang="en-US" sz="1100"/>
                        <a:t>1:00 pm – 1:30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914541597"/>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r>
                        <a:rPr lang="en-US" sz="1100" b="1" i="0"/>
                        <a:t>Gallery Walk: </a:t>
                      </a:r>
                      <a:r>
                        <a:rPr lang="en-US" sz="1100" b="0" i="1"/>
                        <a:t>“Examples of Innovation in Internal Audit”</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0" i="0"/>
                        <a:t>IA Directors / Ent. Strategy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ctr"/>
                      <a:r>
                        <a:rPr lang="en-US" sz="1100"/>
                        <a:t>1:30 pm – 2:00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721261435"/>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5EFE8"/>
                    </a:solidFill>
                  </a:tcPr>
                </a:tc>
                <a:tc gridSpan="2">
                  <a:txBody>
                    <a:bodyPr/>
                    <a:lstStyle/>
                    <a:p>
                      <a:pPr algn="ctr"/>
                      <a:r>
                        <a:rPr lang="en-US" sz="1100" i="0" spc="300">
                          <a:solidFill>
                            <a:srgbClr val="BB9F78"/>
                          </a:solidFill>
                        </a:rPr>
                        <a:t>BREAK</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hMerge="1">
                  <a:txBody>
                    <a:bodyPr/>
                    <a:lstStyle/>
                    <a:p>
                      <a:pPr algn="l"/>
                      <a:endParaRPr lang="en-US" sz="1100" i="0" spc="300">
                        <a:solidFill>
                          <a:srgbClr val="BB9F78"/>
                        </a:solidFill>
                      </a:endParaRPr>
                    </a:p>
                  </a:txBody>
                  <a:tcPr marL="182880"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tc>
                  <a:txBody>
                    <a:bodyPr/>
                    <a:lstStyle/>
                    <a:p>
                      <a:pPr algn="ctr"/>
                      <a:r>
                        <a:rPr lang="en-US" sz="1100" i="1">
                          <a:solidFill>
                            <a:srgbClr val="BB9F78"/>
                          </a:solidFill>
                        </a:rPr>
                        <a:t>2:00 pm – 2:15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BF8F5"/>
                    </a:solidFill>
                  </a:tcPr>
                </a:tc>
                <a:extLst>
                  <a:ext uri="{0D108BD9-81ED-4DB2-BD59-A6C34878D82A}">
                    <a16:rowId xmlns:a16="http://schemas.microsoft.com/office/drawing/2014/main" val="3972195374"/>
                  </a:ext>
                </a:extLst>
              </a:tr>
              <a:tr h="292608">
                <a:tc vMerge="1">
                  <a:txBody>
                    <a:bodyPr/>
                    <a:lstStyle/>
                    <a:p>
                      <a:endParaRP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1" i="0"/>
                        <a:t>Group Breakout: </a:t>
                      </a:r>
                      <a:r>
                        <a:rPr lang="en-US" sz="1100" b="0" i="1"/>
                        <a:t>“Crazy Eights”</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0" i="0"/>
                        <a:t>Ent. Strategy</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tc>
                  <a:txBody>
                    <a:bodyPr/>
                    <a:lstStyle/>
                    <a:p>
                      <a:pPr algn="ctr"/>
                      <a:r>
                        <a:rPr lang="en-US" sz="1100"/>
                        <a:t>2:15 pm – 3:15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E8DACA"/>
                      </a:solidFill>
                      <a:prstDash val="solid"/>
                      <a:round/>
                      <a:headEnd type="none" w="med" len="med"/>
                      <a:tailEnd type="none" w="med" len="med"/>
                    </a:lnB>
                    <a:noFill/>
                  </a:tcPr>
                </a:tc>
                <a:extLst>
                  <a:ext uri="{0D108BD9-81ED-4DB2-BD59-A6C34878D82A}">
                    <a16:rowId xmlns:a16="http://schemas.microsoft.com/office/drawing/2014/main" val="4034865499"/>
                  </a:ext>
                </a:extLst>
              </a:tr>
              <a:tr h="292608">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1" kern="1200">
                          <a:solidFill>
                            <a:schemeClr val="dk1"/>
                          </a:solidFill>
                          <a:latin typeface="+mn-lt"/>
                          <a:ea typeface="+mn-ea"/>
                          <a:cs typeface="+mn-cs"/>
                        </a:rPr>
                        <a:t>CLOSING</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F5EFE8"/>
                    </a:solid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100" b="1" i="0"/>
                        <a:t>Closing Remarks</a:t>
                      </a:r>
                      <a:endParaRPr lang="en-US" sz="1100"/>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a:r>
                        <a:rPr lang="en-US" sz="1100"/>
                        <a:t>Phil Seymour</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100"/>
                        <a:t>3:15 pm – 3:30 pm</a:t>
                      </a:r>
                    </a:p>
                  </a:txBody>
                  <a:tcPr marT="54864" marB="5486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E8DACA"/>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224749671"/>
                  </a:ext>
                </a:extLst>
              </a:tr>
            </a:tbl>
          </a:graphicData>
        </a:graphic>
      </p:graphicFrame>
      <p:sp>
        <p:nvSpPr>
          <p:cNvPr id="9" name="Rectangle 8">
            <a:extLst>
              <a:ext uri="{FF2B5EF4-FFF2-40B4-BE49-F238E27FC236}">
                <a16:creationId xmlns:a16="http://schemas.microsoft.com/office/drawing/2014/main" id="{B6817211-5BBB-7D0C-3576-1277F74313F0}"/>
              </a:ext>
            </a:extLst>
          </p:cNvPr>
          <p:cNvSpPr/>
          <p:nvPr/>
        </p:nvSpPr>
        <p:spPr>
          <a:xfrm>
            <a:off x="0" y="-4417"/>
            <a:ext cx="840143" cy="22860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b="1" spc="300">
                <a:solidFill>
                  <a:schemeClr val="bg1"/>
                </a:solidFill>
              </a:rPr>
              <a:t>DAY 1</a:t>
            </a:r>
          </a:p>
        </p:txBody>
      </p:sp>
      <p:sp>
        <p:nvSpPr>
          <p:cNvPr id="11" name="Rectangle 10">
            <a:extLst>
              <a:ext uri="{FF2B5EF4-FFF2-40B4-BE49-F238E27FC236}">
                <a16:creationId xmlns:a16="http://schemas.microsoft.com/office/drawing/2014/main" id="{7185F940-3409-784D-B8D9-B565BB1C2D61}"/>
              </a:ext>
            </a:extLst>
          </p:cNvPr>
          <p:cNvSpPr/>
          <p:nvPr/>
        </p:nvSpPr>
        <p:spPr>
          <a:xfrm>
            <a:off x="840143" y="0"/>
            <a:ext cx="2468880" cy="228600"/>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r>
              <a:rPr lang="en-US" sz="1100" b="1" spc="300">
                <a:solidFill>
                  <a:schemeClr val="tx1"/>
                </a:solidFill>
              </a:rPr>
              <a:t>INTRODUCTION</a:t>
            </a:r>
          </a:p>
        </p:txBody>
      </p:sp>
    </p:spTree>
    <p:extLst>
      <p:ext uri="{BB962C8B-B14F-4D97-AF65-F5344CB8AC3E}">
        <p14:creationId xmlns:p14="http://schemas.microsoft.com/office/powerpoint/2010/main" val="221517311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F93A374B-0794-D276-FCB7-0D5779B8E205}"/>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3" progId="TCLayout.ActiveDocument.1">
                  <p:embed/>
                </p:oleObj>
              </mc:Choice>
              <mc:Fallback>
                <p:oleObj name="think-cell Slide" r:id="rId4" imgW="404" imgH="403" progId="TCLayout.ActiveDocument.1">
                  <p:embed/>
                  <p:pic>
                    <p:nvPicPr>
                      <p:cNvPr id="9" name="think-cell data - do not delete" hidden="1">
                        <a:extLst>
                          <a:ext uri="{FF2B5EF4-FFF2-40B4-BE49-F238E27FC236}">
                            <a16:creationId xmlns:a16="http://schemas.microsoft.com/office/drawing/2014/main" id="{F93A374B-0794-D276-FCB7-0D5779B8E20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E04F4CAC-E925-26CD-692E-DE0D65BC4375}"/>
              </a:ext>
            </a:extLst>
          </p:cNvPr>
          <p:cNvSpPr>
            <a:spLocks noGrp="1"/>
          </p:cNvSpPr>
          <p:nvPr>
            <p:ph type="title"/>
          </p:nvPr>
        </p:nvSpPr>
        <p:spPr/>
        <p:txBody>
          <a:bodyPr vert="horz"/>
          <a:lstStyle/>
          <a:p>
            <a:r>
              <a:rPr lang="en-CA"/>
              <a:t>Aligning on guiding principles and future state client contact strategy are foundational to achieving channel strategy outcomes</a:t>
            </a:r>
          </a:p>
        </p:txBody>
      </p:sp>
      <p:sp>
        <p:nvSpPr>
          <p:cNvPr id="3" name="Slide Number Placeholder 2">
            <a:extLst>
              <a:ext uri="{FF2B5EF4-FFF2-40B4-BE49-F238E27FC236}">
                <a16:creationId xmlns:a16="http://schemas.microsoft.com/office/drawing/2014/main" id="{4141607C-9F85-EE39-9B2B-DBEA452E43B9}"/>
              </a:ext>
            </a:extLst>
          </p:cNvPr>
          <p:cNvSpPr>
            <a:spLocks noGrp="1"/>
          </p:cNvSpPr>
          <p:nvPr>
            <p:ph type="sldNum" sz="quarter" idx="10"/>
          </p:nvPr>
        </p:nvSpPr>
        <p:spPr/>
        <p:txBody>
          <a:bodyPr/>
          <a:lstStyle/>
          <a:p>
            <a:fld id="{95D835A7-12B2-4074-8DA2-469A8808C237}" type="slidenum">
              <a:rPr lang="en-CA" smtClean="0"/>
              <a:pPr/>
              <a:t>13</a:t>
            </a:fld>
            <a:endParaRPr lang="en-CA"/>
          </a:p>
        </p:txBody>
      </p:sp>
      <p:graphicFrame>
        <p:nvGraphicFramePr>
          <p:cNvPr id="8" name="Table 9">
            <a:extLst>
              <a:ext uri="{FF2B5EF4-FFF2-40B4-BE49-F238E27FC236}">
                <a16:creationId xmlns:a16="http://schemas.microsoft.com/office/drawing/2014/main" id="{F0FC1056-9B1A-41EC-4265-214022C86A2E}"/>
              </a:ext>
            </a:extLst>
          </p:cNvPr>
          <p:cNvGraphicFramePr>
            <a:graphicFrameLocks noGrp="1"/>
          </p:cNvGraphicFramePr>
          <p:nvPr/>
        </p:nvGraphicFramePr>
        <p:xfrm>
          <a:off x="897462" y="1672753"/>
          <a:ext cx="10778601" cy="4456585"/>
        </p:xfrm>
        <a:graphic>
          <a:graphicData uri="http://schemas.openxmlformats.org/drawingml/2006/table">
            <a:tbl>
              <a:tblPr firstRow="1" bandRow="1">
                <a:tableStyleId>{6E25E649-3F16-4E02-A733-19D2CDBF48F0}</a:tableStyleId>
              </a:tblPr>
              <a:tblGrid>
                <a:gridCol w="1195797">
                  <a:extLst>
                    <a:ext uri="{9D8B030D-6E8A-4147-A177-3AD203B41FA5}">
                      <a16:colId xmlns:a16="http://schemas.microsoft.com/office/drawing/2014/main" val="1742512265"/>
                    </a:ext>
                  </a:extLst>
                </a:gridCol>
                <a:gridCol w="7490012">
                  <a:extLst>
                    <a:ext uri="{9D8B030D-6E8A-4147-A177-3AD203B41FA5}">
                      <a16:colId xmlns:a16="http://schemas.microsoft.com/office/drawing/2014/main" val="3652531944"/>
                    </a:ext>
                  </a:extLst>
                </a:gridCol>
                <a:gridCol w="2092792">
                  <a:extLst>
                    <a:ext uri="{9D8B030D-6E8A-4147-A177-3AD203B41FA5}">
                      <a16:colId xmlns:a16="http://schemas.microsoft.com/office/drawing/2014/main" val="1468775069"/>
                    </a:ext>
                  </a:extLst>
                </a:gridCol>
              </a:tblGrid>
              <a:tr h="299815">
                <a:tc gridSpan="2">
                  <a:txBody>
                    <a:bodyPr/>
                    <a:lstStyle/>
                    <a:p>
                      <a:endParaRPr lang="en-US" sz="1000" b="0" spc="200" baseline="0">
                        <a:solidFill>
                          <a:schemeClr val="tx1"/>
                        </a:solidFill>
                        <a:latin typeface="Scotia Light" panose="020B0403020203020204" pitchFamily="34" charset="0"/>
                        <a:ea typeface="Scotia Light" panose="020B0403020203020204" pitchFamily="34" charset="0"/>
                      </a:endParaRPr>
                    </a:p>
                  </a:txBody>
                  <a:tcPr marL="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r>
                        <a:rPr lang="en-US" sz="1000" b="0" spc="200" baseline="0">
                          <a:solidFill>
                            <a:schemeClr val="tx1"/>
                          </a:solidFill>
                          <a:latin typeface="Scotia Light" panose="020B0403020203020204" pitchFamily="34" charset="0"/>
                          <a:ea typeface="Scotia Light" panose="020B0403020203020204" pitchFamily="34" charset="0"/>
                        </a:rPr>
                        <a:t>DESCRIPTION</a:t>
                      </a:r>
                    </a:p>
                  </a:txBody>
                  <a:tcPr marL="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r>
                        <a:rPr lang="en-US" sz="1000" b="0" spc="200" baseline="0">
                          <a:solidFill>
                            <a:schemeClr val="tx1"/>
                          </a:solidFill>
                          <a:latin typeface="Scotia" panose="020B0503020203020204" pitchFamily="34" charset="0"/>
                          <a:ea typeface="Scotia" panose="020B0503020203020204" pitchFamily="34" charset="0"/>
                        </a:rPr>
                        <a:t>APPROXIMATE TIME</a:t>
                      </a:r>
                    </a:p>
                  </a:txBody>
                  <a:tcPr marL="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5502615"/>
                  </a:ext>
                </a:extLst>
              </a:tr>
              <a:tr h="768318">
                <a:tc>
                  <a:txBody>
                    <a:bodyPr/>
                    <a:lstStyle/>
                    <a:p>
                      <a:pPr marL="0" lvl="1" indent="0" algn="l">
                        <a:spcBef>
                          <a:spcPts val="300"/>
                        </a:spcBef>
                        <a:buFont typeface="Arial" panose="020B0604020202020204" pitchFamily="34" charset="0"/>
                        <a:buNone/>
                      </a:pPr>
                      <a:endParaRPr lang="en-US" sz="2800" b="1">
                        <a:solidFill>
                          <a:srgbClr val="EC111A"/>
                        </a:solidFill>
                        <a:latin typeface="+mn-lt"/>
                        <a:ea typeface="Scotia" panose="020B0503020203020204" pitchFamily="34" charset="0"/>
                      </a:endParaRPr>
                    </a:p>
                  </a:txBody>
                  <a:tcPr marL="144000" marR="0" marT="0"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1" indent="0">
                        <a:spcBef>
                          <a:spcPts val="600"/>
                        </a:spcBef>
                        <a:buFont typeface="Arial" panose="020B0604020202020204" pitchFamily="34" charset="0"/>
                        <a:buNone/>
                      </a:pPr>
                      <a:r>
                        <a:rPr lang="en-US" sz="1200" b="1">
                          <a:latin typeface="+mn-lt"/>
                          <a:ea typeface="Scotia" panose="020B0503020203020204" pitchFamily="34" charset="0"/>
                        </a:rPr>
                        <a:t>Outline the ‘north star’ for channel strategy and establish key guiding principles</a:t>
                      </a:r>
                      <a:endParaRPr lang="en-US" sz="1200" b="1">
                        <a:solidFill>
                          <a:srgbClr val="EC111A"/>
                        </a:solidFill>
                        <a:latin typeface="+mn-lt"/>
                        <a:ea typeface="Scotia" panose="020B0503020203020204" pitchFamily="34" charset="0"/>
                      </a:endParaRP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Defined north star and guiding principles will inform the future state client contact strategy </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Gaps </a:t>
                      </a:r>
                      <a:r>
                        <a:rPr lang="en-US" sz="1050">
                          <a:latin typeface="Scotia" panose="020B0503020203020204" pitchFamily="34" charset="0"/>
                          <a:ea typeface="Scotia" panose="020B0503020203020204" pitchFamily="34" charset="0"/>
                        </a:rPr>
                        <a:t>in the current state offering will highlight improvement opportunities</a:t>
                      </a:r>
                    </a:p>
                  </a:txBody>
                  <a:tcPr marL="180000" marR="46800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2" indent="0" algn="l" defTabSz="914411" rtl="0" eaLnBrk="1" latinLnBrk="0" hangingPunct="1">
                        <a:spcBef>
                          <a:spcPts val="400"/>
                        </a:spcBef>
                        <a:buFont typeface="+mj-lt"/>
                        <a:buNone/>
                      </a:pPr>
                      <a:r>
                        <a:rPr lang="en-US" sz="1050">
                          <a:latin typeface="Scotia" panose="020B0503020203020204" pitchFamily="34" charset="0"/>
                          <a:ea typeface="Scotia" panose="020B0503020203020204" pitchFamily="34" charset="0"/>
                        </a:rPr>
                        <a:t>60 mins </a:t>
                      </a:r>
                      <a:br>
                        <a:rPr lang="en-US" sz="1050">
                          <a:latin typeface="Scotia" panose="020B0503020203020204" pitchFamily="34" charset="0"/>
                          <a:ea typeface="Scotia" panose="020B0503020203020204" pitchFamily="34" charset="0"/>
                        </a:rPr>
                      </a:br>
                      <a:r>
                        <a:rPr lang="en-US" sz="900" i="1">
                          <a:latin typeface="Scotia" panose="020B0503020203020204" pitchFamily="34" charset="0"/>
                          <a:ea typeface="Scotia" panose="020B0503020203020204" pitchFamily="34" charset="0"/>
                        </a:rPr>
                        <a:t>(followed by break)</a:t>
                      </a:r>
                    </a:p>
                  </a:txBody>
                  <a:tcPr marL="180000" marR="46800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4134060"/>
                  </a:ext>
                </a:extLst>
              </a:tr>
              <a:tr h="1540041">
                <a:tc>
                  <a:txBody>
                    <a:bodyPr/>
                    <a:lstStyle/>
                    <a:p>
                      <a:pPr marL="0" lvl="1" indent="0" algn="l">
                        <a:spcBef>
                          <a:spcPts val="300"/>
                        </a:spcBef>
                        <a:buFont typeface="Arial" panose="020B0604020202020204" pitchFamily="34" charset="0"/>
                        <a:buNone/>
                      </a:pPr>
                      <a:endParaRPr lang="en-US" sz="2800" b="1">
                        <a:solidFill>
                          <a:srgbClr val="EC111A"/>
                        </a:solidFill>
                        <a:latin typeface="+mn-lt"/>
                        <a:ea typeface="Scotia" panose="020B0503020203020204" pitchFamily="34" charset="0"/>
                      </a:endParaRPr>
                    </a:p>
                  </a:txBody>
                  <a:tcPr marL="144000" marR="0" marT="0"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1" indent="0">
                        <a:spcBef>
                          <a:spcPts val="600"/>
                        </a:spcBef>
                        <a:buFont typeface="Arial" panose="020B0604020202020204" pitchFamily="34" charset="0"/>
                        <a:buNone/>
                      </a:pPr>
                      <a:r>
                        <a:rPr lang="en-US" sz="1200" b="1">
                          <a:latin typeface="+mn-lt"/>
                          <a:ea typeface="Scotia" panose="020B0503020203020204" pitchFamily="34" charset="0"/>
                        </a:rPr>
                        <a:t>Develop future state ‘client contact strategy’ by identifying and refining key foundational themes</a:t>
                      </a:r>
                      <a:endParaRPr lang="en-US" sz="1200">
                        <a:solidFill>
                          <a:srgbClr val="EC111A"/>
                        </a:solidFill>
                        <a:latin typeface="+mn-lt"/>
                        <a:ea typeface="Scotia" panose="020B0503020203020204" pitchFamily="34" charset="0"/>
                      </a:endParaRPr>
                    </a:p>
                    <a:p>
                      <a:pPr marL="457200" marR="0" lvl="2" indent="-228600" algn="l" defTabSz="914411" rtl="0" eaLnBrk="1" fontAlgn="auto" latinLnBrk="0" hangingPunct="1">
                        <a:lnSpc>
                          <a:spcPct val="100000"/>
                        </a:lnSpc>
                        <a:spcBef>
                          <a:spcPts val="200"/>
                        </a:spcBef>
                        <a:spcAft>
                          <a:spcPts val="0"/>
                        </a:spcAft>
                        <a:buClrTx/>
                        <a:buSzTx/>
                        <a:buFont typeface="+mj-lt"/>
                        <a:buAutoNum type="alphaLcPeriod"/>
                        <a:tabLst/>
                        <a:defRPr/>
                      </a:pPr>
                      <a:r>
                        <a:rPr lang="en-US" sz="1050">
                          <a:latin typeface="Scotia" panose="020B0503020203020204" pitchFamily="34" charset="0"/>
                          <a:ea typeface="Scotia" panose="020B0503020203020204" pitchFamily="34" charset="0"/>
                        </a:rPr>
                        <a:t>What are key client contact strategy elements?</a:t>
                      </a:r>
                    </a:p>
                    <a:p>
                      <a:pPr marL="457200" lvl="2" indent="-228600">
                        <a:spcBef>
                          <a:spcPts val="200"/>
                        </a:spcBef>
                        <a:buFont typeface="+mj-lt"/>
                        <a:buAutoNum type="alphaLcPeriod"/>
                      </a:pPr>
                      <a:r>
                        <a:rPr lang="en-US" sz="1050">
                          <a:latin typeface="Scotia" panose="020B0503020203020204" pitchFamily="34" charset="0"/>
                          <a:ea typeface="Scotia" panose="020B0503020203020204" pitchFamily="34" charset="0"/>
                        </a:rPr>
                        <a:t>How do we categorize client needs?</a:t>
                      </a:r>
                    </a:p>
                    <a:p>
                      <a:pPr marL="457200" lvl="2" indent="-228600">
                        <a:spcBef>
                          <a:spcPts val="200"/>
                        </a:spcBef>
                        <a:buFont typeface="+mj-lt"/>
                        <a:buAutoNum type="alphaLcPeriod"/>
                      </a:pPr>
                      <a:r>
                        <a:rPr lang="en-US" sz="1050">
                          <a:latin typeface="Scotia" panose="020B0503020203020204" pitchFamily="34" charset="0"/>
                          <a:ea typeface="Scotia" panose="020B0503020203020204" pitchFamily="34" charset="0"/>
                        </a:rPr>
                        <a:t>What are the optimal service models to address distinct client needs?</a:t>
                      </a:r>
                    </a:p>
                    <a:p>
                      <a:pPr marL="457200" lvl="2" indent="-228600">
                        <a:spcBef>
                          <a:spcPts val="200"/>
                        </a:spcBef>
                        <a:buFont typeface="+mj-lt"/>
                        <a:buAutoNum type="alphaLcPeriod"/>
                      </a:pPr>
                      <a:r>
                        <a:rPr lang="en-US" sz="1050">
                          <a:latin typeface="Scotia" panose="020B0503020203020204" pitchFamily="34" charset="0"/>
                          <a:ea typeface="Scotia" panose="020B0503020203020204" pitchFamily="34" charset="0"/>
                        </a:rPr>
                        <a:t>How do we deliver these service models across channels?</a:t>
                      </a:r>
                    </a:p>
                    <a:p>
                      <a:pPr marL="457200" lvl="2" indent="-228600">
                        <a:spcBef>
                          <a:spcPts val="200"/>
                        </a:spcBef>
                        <a:buFont typeface="+mj-lt"/>
                        <a:buAutoNum type="alphaLcPeriod"/>
                      </a:pPr>
                      <a:r>
                        <a:rPr lang="en-US" sz="1050">
                          <a:latin typeface="Scotia" panose="020B0503020203020204" pitchFamily="34" charset="0"/>
                          <a:ea typeface="Scotia" panose="020B0503020203020204" pitchFamily="34" charset="0"/>
                        </a:rPr>
                        <a:t>What team structure can support this evolved approach?</a:t>
                      </a:r>
                    </a:p>
                    <a:p>
                      <a:pPr marL="457200" lvl="2" indent="-228600">
                        <a:spcBef>
                          <a:spcPts val="200"/>
                        </a:spcBef>
                        <a:buFont typeface="+mj-lt"/>
                        <a:buAutoNum type="alphaLcPeriod"/>
                      </a:pPr>
                      <a:r>
                        <a:rPr lang="en-US" sz="1050">
                          <a:latin typeface="Scotia" panose="020B0503020203020204" pitchFamily="34" charset="0"/>
                          <a:ea typeface="Scotia" panose="020B0503020203020204" pitchFamily="34" charset="0"/>
                        </a:rPr>
                        <a:t>What is an effective client routing and channel connectivity strategy?</a:t>
                      </a: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2" indent="0" algn="l">
                        <a:spcBef>
                          <a:spcPts val="400"/>
                        </a:spcBef>
                        <a:buFont typeface="+mj-lt"/>
                        <a:buNone/>
                      </a:pPr>
                      <a:r>
                        <a:rPr lang="en-US" sz="1050">
                          <a:latin typeface="Scotia" panose="020B0503020203020204" pitchFamily="34" charset="0"/>
                          <a:ea typeface="Scotia" panose="020B0503020203020204" pitchFamily="34" charset="0"/>
                        </a:rPr>
                        <a:t>120 minutes </a:t>
                      </a:r>
                      <a:br>
                        <a:rPr lang="en-US" sz="1050">
                          <a:latin typeface="Scotia" panose="020B0503020203020204" pitchFamily="34" charset="0"/>
                          <a:ea typeface="Scotia" panose="020B0503020203020204" pitchFamily="34" charset="0"/>
                        </a:rPr>
                      </a:br>
                      <a:r>
                        <a:rPr lang="en-US" sz="900" i="1">
                          <a:latin typeface="Scotia" panose="020B0503020203020204" pitchFamily="34" charset="0"/>
                          <a:ea typeface="Scotia" panose="020B0503020203020204" pitchFamily="34" charset="0"/>
                        </a:rPr>
                        <a:t>(followed by break)</a:t>
                      </a: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20315643"/>
                  </a:ext>
                </a:extLst>
              </a:tr>
              <a:tr h="1082373">
                <a:tc>
                  <a:txBody>
                    <a:bodyPr/>
                    <a:lstStyle/>
                    <a:p>
                      <a:pPr marL="0" lvl="1" indent="0" algn="l">
                        <a:spcBef>
                          <a:spcPts val="300"/>
                        </a:spcBef>
                        <a:buFont typeface="Arial" panose="020B0604020202020204" pitchFamily="34" charset="0"/>
                        <a:buNone/>
                      </a:pPr>
                      <a:endParaRPr lang="en-US" sz="2800" b="1">
                        <a:solidFill>
                          <a:srgbClr val="EC111A"/>
                        </a:solidFill>
                        <a:latin typeface="+mn-lt"/>
                        <a:ea typeface="Scotia" panose="020B0503020203020204" pitchFamily="34" charset="0"/>
                      </a:endParaRPr>
                    </a:p>
                  </a:txBody>
                  <a:tcPr marL="144000" marR="0" marT="0"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1" indent="0">
                        <a:spcBef>
                          <a:spcPts val="600"/>
                        </a:spcBef>
                        <a:buFont typeface="Arial" panose="020B0604020202020204" pitchFamily="34" charset="0"/>
                        <a:buNone/>
                      </a:pPr>
                      <a:r>
                        <a:rPr lang="en-US" sz="1200" b="1" kern="1200">
                          <a:solidFill>
                            <a:schemeClr val="dk1"/>
                          </a:solidFill>
                          <a:latin typeface="+mn-lt"/>
                          <a:ea typeface="Scotia" panose="020B0503020203020204" pitchFamily="34" charset="0"/>
                          <a:cs typeface="+mn-cs"/>
                        </a:rPr>
                        <a:t>Evaluate and assess strategic changes to achieve defined north star</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Design elements and future state for team structure</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Client selection and assignment</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Lead orchestration for outbound channels</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Virtual value proposition</a:t>
                      </a: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2" indent="0" algn="l" defTabSz="914411" rtl="0" eaLnBrk="1" latinLnBrk="0" hangingPunct="1">
                        <a:spcBef>
                          <a:spcPts val="400"/>
                        </a:spcBef>
                        <a:buFont typeface="+mj-lt"/>
                        <a:buNone/>
                      </a:pPr>
                      <a:r>
                        <a:rPr lang="en-US" sz="900" i="1">
                          <a:latin typeface="Scotia" panose="020B0503020203020204" pitchFamily="34" charset="0"/>
                          <a:ea typeface="Scotia" panose="020B0503020203020204" pitchFamily="34" charset="0"/>
                        </a:rPr>
                        <a:t>If time permits</a:t>
                      </a: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12700" cap="flat" cmpd="sng" algn="ctr">
                      <a:solidFill>
                        <a:srgbClr val="ECE1D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2789271"/>
                  </a:ext>
                </a:extLst>
              </a:tr>
              <a:tr h="766038">
                <a:tc>
                  <a:txBody>
                    <a:bodyPr/>
                    <a:lstStyle/>
                    <a:p>
                      <a:pPr marL="0" lvl="1" indent="0" algn="l">
                        <a:buFont typeface="Arial" panose="020B0604020202020204" pitchFamily="34" charset="0"/>
                        <a:buNone/>
                      </a:pPr>
                      <a:endParaRPr lang="en-US" sz="2800" b="1">
                        <a:solidFill>
                          <a:srgbClr val="EC111A"/>
                        </a:solidFill>
                        <a:latin typeface="+mn-lt"/>
                        <a:ea typeface="Scotia" panose="020B0503020203020204" pitchFamily="34" charset="0"/>
                      </a:endParaRPr>
                    </a:p>
                  </a:txBody>
                  <a:tcPr marL="144000" marR="0" marT="0"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1" indent="0">
                        <a:spcBef>
                          <a:spcPts val="600"/>
                        </a:spcBef>
                        <a:buFont typeface="Arial" panose="020B0604020202020204" pitchFamily="34" charset="0"/>
                        <a:buNone/>
                      </a:pPr>
                      <a:r>
                        <a:rPr lang="en-US" sz="1200" b="1" kern="1200">
                          <a:solidFill>
                            <a:schemeClr val="dk1"/>
                          </a:solidFill>
                          <a:latin typeface="+mn-lt"/>
                          <a:ea typeface="Scotia" panose="020B0503020203020204" pitchFamily="34" charset="0"/>
                          <a:cs typeface="+mn-cs"/>
                        </a:rPr>
                        <a:t>Identify enhanced or new capabilities required to deliver channel vision</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Capabilities to augment and improve virtual servicing</a:t>
                      </a:r>
                    </a:p>
                    <a:p>
                      <a:pPr marL="457200" lvl="2" indent="-228600" algn="l" defTabSz="914411" rtl="0" eaLnBrk="1" latinLnBrk="0" hangingPunct="1">
                        <a:spcBef>
                          <a:spcPts val="200"/>
                        </a:spcBef>
                        <a:buFont typeface="+mj-lt"/>
                        <a:buAutoNum type="alphaLcPeriod"/>
                      </a:pPr>
                      <a:r>
                        <a:rPr lang="en-US" sz="1050" kern="1200">
                          <a:solidFill>
                            <a:schemeClr val="dk1"/>
                          </a:solidFill>
                          <a:latin typeface="Scotia" panose="020B0503020203020204" pitchFamily="34" charset="0"/>
                          <a:ea typeface="Scotia" panose="020B0503020203020204" pitchFamily="34" charset="0"/>
                          <a:cs typeface="+mn-cs"/>
                        </a:rPr>
                        <a:t>Broader capability requirements to enable virtual growth</a:t>
                      </a: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2" indent="0" algn="l" defTabSz="914411" rtl="0" eaLnBrk="1" fontAlgn="auto" latinLnBrk="0" hangingPunct="1">
                        <a:lnSpc>
                          <a:spcPct val="100000"/>
                        </a:lnSpc>
                        <a:spcBef>
                          <a:spcPts val="400"/>
                        </a:spcBef>
                        <a:spcAft>
                          <a:spcPts val="0"/>
                        </a:spcAft>
                        <a:buClrTx/>
                        <a:buSzTx/>
                        <a:buFont typeface="+mj-lt"/>
                        <a:buNone/>
                        <a:tabLst/>
                        <a:defRPr/>
                      </a:pPr>
                      <a:r>
                        <a:rPr lang="en-US" sz="900" i="1">
                          <a:latin typeface="Scotia" panose="020B0503020203020204" pitchFamily="34" charset="0"/>
                          <a:ea typeface="Scotia" panose="020B0503020203020204" pitchFamily="34" charset="0"/>
                        </a:rPr>
                        <a:t>If time permits</a:t>
                      </a:r>
                    </a:p>
                    <a:p>
                      <a:pPr marL="0" lvl="2" indent="0" algn="l" defTabSz="914411" rtl="0" eaLnBrk="1" latinLnBrk="0" hangingPunct="1">
                        <a:spcBef>
                          <a:spcPts val="400"/>
                        </a:spcBef>
                        <a:buFont typeface="+mj-lt"/>
                        <a:buNone/>
                      </a:pPr>
                      <a:endParaRPr lang="en-US" sz="900" i="1" kern="1200">
                        <a:solidFill>
                          <a:schemeClr val="dk1"/>
                        </a:solidFill>
                        <a:latin typeface="Scotia" panose="020B0503020203020204" pitchFamily="34" charset="0"/>
                        <a:ea typeface="Scotia" panose="020B0503020203020204" pitchFamily="34" charset="0"/>
                        <a:cs typeface="+mn-cs"/>
                      </a:endParaRPr>
                    </a:p>
                  </a:txBody>
                  <a:tcPr marL="180000" marR="468000" anchor="ctr">
                    <a:lnL>
                      <a:noFill/>
                    </a:lnL>
                    <a:lnR w="12700" cap="flat" cmpd="sng" algn="ctr">
                      <a:noFill/>
                      <a:prstDash val="solid"/>
                      <a:round/>
                      <a:headEnd type="none" w="med" len="med"/>
                      <a:tailEnd type="none" w="med" len="med"/>
                    </a:lnR>
                    <a:lnT w="12700" cap="flat" cmpd="sng" algn="ctr">
                      <a:solidFill>
                        <a:srgbClr val="ECE1D4"/>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80372451"/>
                  </a:ext>
                </a:extLst>
              </a:tr>
            </a:tbl>
          </a:graphicData>
        </a:graphic>
      </p:graphicFrame>
      <p:cxnSp>
        <p:nvCxnSpPr>
          <p:cNvPr id="14" name="Straight Connector 13">
            <a:extLst>
              <a:ext uri="{FF2B5EF4-FFF2-40B4-BE49-F238E27FC236}">
                <a16:creationId xmlns:a16="http://schemas.microsoft.com/office/drawing/2014/main" id="{71F6A43A-1740-3F92-70A8-3F79C7E53D9D}"/>
              </a:ext>
            </a:extLst>
          </p:cNvPr>
          <p:cNvCxnSpPr>
            <a:cxnSpLocks/>
          </p:cNvCxnSpPr>
          <p:nvPr/>
        </p:nvCxnSpPr>
        <p:spPr>
          <a:xfrm flipV="1">
            <a:off x="639469" y="2066365"/>
            <a:ext cx="0" cy="2173941"/>
          </a:xfrm>
          <a:prstGeom prst="line">
            <a:avLst/>
          </a:prstGeom>
          <a:ln w="15875"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D5C298B-CA3D-2725-4940-72701D76D96E}"/>
              </a:ext>
            </a:extLst>
          </p:cNvPr>
          <p:cNvSpPr txBox="1"/>
          <p:nvPr/>
        </p:nvSpPr>
        <p:spPr>
          <a:xfrm rot="16200000">
            <a:off x="-210365" y="3045613"/>
            <a:ext cx="1699668" cy="215444"/>
          </a:xfrm>
          <a:prstGeom prst="rect">
            <a:avLst/>
          </a:prstGeom>
          <a:solidFill>
            <a:schemeClr val="bg1"/>
          </a:solidFill>
        </p:spPr>
        <p:txBody>
          <a:bodyPr wrap="square" rtlCol="0" anchor="ctr">
            <a:spAutoFit/>
          </a:bodyPr>
          <a:lstStyle/>
          <a:p>
            <a:pPr algn="ctr"/>
            <a:r>
              <a:rPr lang="en-CA" sz="800" b="1" spc="300"/>
              <a:t>FOCUS FOR TODAY</a:t>
            </a:r>
          </a:p>
        </p:txBody>
      </p:sp>
      <p:sp>
        <p:nvSpPr>
          <p:cNvPr id="13" name="Oval 12">
            <a:extLst>
              <a:ext uri="{FF2B5EF4-FFF2-40B4-BE49-F238E27FC236}">
                <a16:creationId xmlns:a16="http://schemas.microsoft.com/office/drawing/2014/main" id="{85DD455B-4A77-1F3E-4ECF-AB02545815DB}"/>
              </a:ext>
            </a:extLst>
          </p:cNvPr>
          <p:cNvSpPr/>
          <p:nvPr/>
        </p:nvSpPr>
        <p:spPr>
          <a:xfrm>
            <a:off x="1184103" y="3319369"/>
            <a:ext cx="387457" cy="401547"/>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200" b="1">
                <a:solidFill>
                  <a:schemeClr val="bg1"/>
                </a:solidFill>
                <a:latin typeface="+mj-lt"/>
              </a:rPr>
              <a:t>2</a:t>
            </a:r>
          </a:p>
        </p:txBody>
      </p:sp>
      <p:sp>
        <p:nvSpPr>
          <p:cNvPr id="16" name="Oval 15">
            <a:extLst>
              <a:ext uri="{FF2B5EF4-FFF2-40B4-BE49-F238E27FC236}">
                <a16:creationId xmlns:a16="http://schemas.microsoft.com/office/drawing/2014/main" id="{72C03026-37BE-6105-748E-B0FBC46C43C0}"/>
              </a:ext>
            </a:extLst>
          </p:cNvPr>
          <p:cNvSpPr/>
          <p:nvPr/>
        </p:nvSpPr>
        <p:spPr>
          <a:xfrm>
            <a:off x="1184103" y="4623822"/>
            <a:ext cx="387457" cy="401547"/>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200" b="1">
                <a:solidFill>
                  <a:schemeClr val="bg1"/>
                </a:solidFill>
                <a:latin typeface="+mj-lt"/>
              </a:rPr>
              <a:t>3</a:t>
            </a:r>
          </a:p>
        </p:txBody>
      </p:sp>
      <p:sp>
        <p:nvSpPr>
          <p:cNvPr id="17" name="Oval 16">
            <a:extLst>
              <a:ext uri="{FF2B5EF4-FFF2-40B4-BE49-F238E27FC236}">
                <a16:creationId xmlns:a16="http://schemas.microsoft.com/office/drawing/2014/main" id="{AF73440C-9793-7A38-E808-8B97F48CD2AF}"/>
              </a:ext>
            </a:extLst>
          </p:cNvPr>
          <p:cNvSpPr/>
          <p:nvPr/>
        </p:nvSpPr>
        <p:spPr>
          <a:xfrm>
            <a:off x="1184103" y="5575133"/>
            <a:ext cx="387457" cy="401547"/>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200" b="1">
                <a:solidFill>
                  <a:schemeClr val="bg1"/>
                </a:solidFill>
                <a:latin typeface="+mj-lt"/>
              </a:rPr>
              <a:t>4</a:t>
            </a:r>
          </a:p>
        </p:txBody>
      </p:sp>
      <p:sp>
        <p:nvSpPr>
          <p:cNvPr id="18" name="Oval 17">
            <a:extLst>
              <a:ext uri="{FF2B5EF4-FFF2-40B4-BE49-F238E27FC236}">
                <a16:creationId xmlns:a16="http://schemas.microsoft.com/office/drawing/2014/main" id="{C0A19932-8483-509A-7E94-79F8F2031CDF}"/>
              </a:ext>
            </a:extLst>
          </p:cNvPr>
          <p:cNvSpPr/>
          <p:nvPr/>
        </p:nvSpPr>
        <p:spPr>
          <a:xfrm>
            <a:off x="1184103" y="2143390"/>
            <a:ext cx="387457" cy="401547"/>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200" b="1">
                <a:solidFill>
                  <a:schemeClr val="bg1"/>
                </a:solidFill>
                <a:latin typeface="+mj-lt"/>
              </a:rPr>
              <a:t>1</a:t>
            </a:r>
          </a:p>
        </p:txBody>
      </p:sp>
      <p:sp>
        <p:nvSpPr>
          <p:cNvPr id="5" name="Text Placeholder 4">
            <a:extLst>
              <a:ext uri="{FF2B5EF4-FFF2-40B4-BE49-F238E27FC236}">
                <a16:creationId xmlns:a16="http://schemas.microsoft.com/office/drawing/2014/main" id="{45B3022F-0923-4702-D5C3-5470AB8937C0}"/>
              </a:ext>
            </a:extLst>
          </p:cNvPr>
          <p:cNvSpPr>
            <a:spLocks noGrp="1"/>
          </p:cNvSpPr>
          <p:nvPr>
            <p:ph type="body" sz="quarter" idx="11"/>
          </p:nvPr>
        </p:nvSpPr>
        <p:spPr/>
        <p:txBody>
          <a:bodyPr/>
          <a:lstStyle/>
          <a:p>
            <a:endParaRPr lang="en-CA"/>
          </a:p>
        </p:txBody>
      </p:sp>
      <p:sp>
        <p:nvSpPr>
          <p:cNvPr id="6" name="Text Placeholder 5">
            <a:extLst>
              <a:ext uri="{FF2B5EF4-FFF2-40B4-BE49-F238E27FC236}">
                <a16:creationId xmlns:a16="http://schemas.microsoft.com/office/drawing/2014/main" id="{209B2599-7764-1801-9364-F0E81087F3B4}"/>
              </a:ext>
            </a:extLst>
          </p:cNvPr>
          <p:cNvSpPr>
            <a:spLocks noGrp="1"/>
          </p:cNvSpPr>
          <p:nvPr>
            <p:ph type="body" sz="quarter" idx="13"/>
          </p:nvPr>
        </p:nvSpPr>
        <p:spPr/>
        <p:txBody>
          <a:bodyPr/>
          <a:lstStyle/>
          <a:p>
            <a:endParaRPr lang="en-CA"/>
          </a:p>
        </p:txBody>
      </p:sp>
    </p:spTree>
    <p:extLst>
      <p:ext uri="{BB962C8B-B14F-4D97-AF65-F5344CB8AC3E}">
        <p14:creationId xmlns:p14="http://schemas.microsoft.com/office/powerpoint/2010/main" val="91359432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E78DBF-344A-98C6-0A36-BEB9ED26411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7828A7F-7DEC-21D5-0F12-C2FBC69DD0D1}"/>
              </a:ext>
            </a:extLst>
          </p:cNvPr>
          <p:cNvSpPr>
            <a:spLocks noGrp="1"/>
          </p:cNvSpPr>
          <p:nvPr>
            <p:ph type="body" sz="quarter" idx="11"/>
          </p:nvPr>
        </p:nvSpPr>
        <p:spPr/>
        <p:txBody>
          <a:bodyPr/>
          <a:lstStyle/>
          <a:p>
            <a:r>
              <a:rPr lang="en-CA"/>
              <a:t>Recalls</a:t>
            </a:r>
          </a:p>
        </p:txBody>
      </p:sp>
      <p:sp>
        <p:nvSpPr>
          <p:cNvPr id="3" name="Text Placeholder 2">
            <a:extLst>
              <a:ext uri="{FF2B5EF4-FFF2-40B4-BE49-F238E27FC236}">
                <a16:creationId xmlns:a16="http://schemas.microsoft.com/office/drawing/2014/main" id="{824B1F6C-719D-07CB-4164-FB4D1450E438}"/>
              </a:ext>
            </a:extLst>
          </p:cNvPr>
          <p:cNvSpPr>
            <a:spLocks noGrp="1"/>
          </p:cNvSpPr>
          <p:nvPr>
            <p:ph type="body" sz="quarter" idx="12"/>
          </p:nvPr>
        </p:nvSpPr>
        <p:spPr/>
        <p:txBody>
          <a:bodyPr/>
          <a:lstStyle/>
          <a:p>
            <a:r>
              <a:rPr lang="en-CA"/>
              <a:t>03</a:t>
            </a:r>
          </a:p>
        </p:txBody>
      </p:sp>
    </p:spTree>
    <p:extLst>
      <p:ext uri="{BB962C8B-B14F-4D97-AF65-F5344CB8AC3E}">
        <p14:creationId xmlns:p14="http://schemas.microsoft.com/office/powerpoint/2010/main" val="365162835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E65212C1-8872-9400-F412-B40AE0C5006A}"/>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1063" imgH="1063" progId="TCLayout.ActiveDocument.1">
                  <p:embed/>
                </p:oleObj>
              </mc:Choice>
              <mc:Fallback>
                <p:oleObj name="think-cell Slide" r:id="rId4" imgW="1063" imgH="1063" progId="TCLayout.ActiveDocument.1">
                  <p:embed/>
                  <p:pic>
                    <p:nvPicPr>
                      <p:cNvPr id="7" name="think-cell data - do not delete" hidden="1">
                        <a:extLst>
                          <a:ext uri="{FF2B5EF4-FFF2-40B4-BE49-F238E27FC236}">
                            <a16:creationId xmlns:a16="http://schemas.microsoft.com/office/drawing/2014/main" id="{E65212C1-8872-9400-F412-B40AE0C5006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DADF5247-C46D-00B3-7645-382ADFF92C20}"/>
              </a:ext>
            </a:extLst>
          </p:cNvPr>
          <p:cNvSpPr>
            <a:spLocks noGrp="1"/>
          </p:cNvSpPr>
          <p:nvPr>
            <p:ph type="title"/>
          </p:nvPr>
        </p:nvSpPr>
        <p:spPr/>
        <p:txBody>
          <a:bodyPr vert="horz"/>
          <a:lstStyle/>
          <a:p>
            <a:r>
              <a:rPr lang="en-CA">
                <a:solidFill>
                  <a:schemeClr val="accent1"/>
                </a:solidFill>
              </a:rPr>
              <a:t>Recall | </a:t>
            </a:r>
            <a:r>
              <a:rPr lang="en-CA"/>
              <a:t>Multiple workshops have been conducted with the virtual and digital working teams based on prioritized topics for channel strategy</a:t>
            </a:r>
          </a:p>
        </p:txBody>
      </p:sp>
      <p:sp>
        <p:nvSpPr>
          <p:cNvPr id="3" name="Slide Number Placeholder 2">
            <a:extLst>
              <a:ext uri="{FF2B5EF4-FFF2-40B4-BE49-F238E27FC236}">
                <a16:creationId xmlns:a16="http://schemas.microsoft.com/office/drawing/2014/main" id="{64E4B53F-91C3-6AF3-171A-D476A78EE3AF}"/>
              </a:ext>
            </a:extLst>
          </p:cNvPr>
          <p:cNvSpPr>
            <a:spLocks noGrp="1"/>
          </p:cNvSpPr>
          <p:nvPr>
            <p:ph type="sldNum" sz="quarter" idx="10"/>
          </p:nvPr>
        </p:nvSpPr>
        <p:spPr/>
        <p:txBody>
          <a:bodyPr/>
          <a:lstStyle/>
          <a:p>
            <a:fld id="{95D835A7-12B2-4074-8DA2-469A8808C237}" type="slidenum">
              <a:rPr lang="en-CA" smtClean="0"/>
              <a:pPr/>
              <a:t>15</a:t>
            </a:fld>
            <a:endParaRPr lang="en-CA"/>
          </a:p>
        </p:txBody>
      </p:sp>
      <p:sp>
        <p:nvSpPr>
          <p:cNvPr id="6" name="Text Placeholder 5">
            <a:extLst>
              <a:ext uri="{FF2B5EF4-FFF2-40B4-BE49-F238E27FC236}">
                <a16:creationId xmlns:a16="http://schemas.microsoft.com/office/drawing/2014/main" id="{2F9450BA-E7DA-F137-1FCF-520E36B0CD01}"/>
              </a:ext>
            </a:extLst>
          </p:cNvPr>
          <p:cNvSpPr>
            <a:spLocks noGrp="1"/>
          </p:cNvSpPr>
          <p:nvPr>
            <p:ph type="body" sz="quarter" idx="11"/>
          </p:nvPr>
        </p:nvSpPr>
        <p:spPr/>
        <p:txBody>
          <a:bodyPr/>
          <a:lstStyle/>
          <a:p>
            <a:r>
              <a:rPr lang="en-CA"/>
              <a:t>CHANNEL STRATEGY WORKSHOP 05</a:t>
            </a:r>
          </a:p>
        </p:txBody>
      </p:sp>
      <p:grpSp>
        <p:nvGrpSpPr>
          <p:cNvPr id="35" name="Group 34">
            <a:extLst>
              <a:ext uri="{FF2B5EF4-FFF2-40B4-BE49-F238E27FC236}">
                <a16:creationId xmlns:a16="http://schemas.microsoft.com/office/drawing/2014/main" id="{5C0D8AA9-92D7-6992-BA8B-039B1A5E0D49}"/>
              </a:ext>
            </a:extLst>
          </p:cNvPr>
          <p:cNvGrpSpPr/>
          <p:nvPr/>
        </p:nvGrpSpPr>
        <p:grpSpPr>
          <a:xfrm>
            <a:off x="608807" y="2920841"/>
            <a:ext cx="2007639" cy="1207148"/>
            <a:chOff x="1084006" y="2252191"/>
            <a:chExt cx="3938370" cy="2199847"/>
          </a:xfrm>
        </p:grpSpPr>
        <p:sp>
          <p:nvSpPr>
            <p:cNvPr id="8" name="Rectangle: Rounded Corners 7">
              <a:extLst>
                <a:ext uri="{FF2B5EF4-FFF2-40B4-BE49-F238E27FC236}">
                  <a16:creationId xmlns:a16="http://schemas.microsoft.com/office/drawing/2014/main" id="{BD242275-A71F-6ED0-5864-B49E8D1E0845}"/>
                </a:ext>
              </a:extLst>
            </p:cNvPr>
            <p:cNvSpPr/>
            <p:nvPr/>
          </p:nvSpPr>
          <p:spPr>
            <a:xfrm>
              <a:off x="1084006" y="2252191"/>
              <a:ext cx="3938370" cy="2199847"/>
            </a:xfrm>
            <a:prstGeom prst="roundRect">
              <a:avLst>
                <a:gd name="adj" fmla="val 0"/>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Scotia Light"/>
                <a:ea typeface="+mn-ea"/>
                <a:cs typeface="+mn-cs"/>
              </a:endParaRPr>
            </a:p>
          </p:txBody>
        </p:sp>
        <p:pic>
          <p:nvPicPr>
            <p:cNvPr id="13" name="Picture 12">
              <a:extLst>
                <a:ext uri="{FF2B5EF4-FFF2-40B4-BE49-F238E27FC236}">
                  <a16:creationId xmlns:a16="http://schemas.microsoft.com/office/drawing/2014/main" id="{26AB32AC-A239-2537-F01B-2CDDEB12733D}"/>
                </a:ext>
              </a:extLst>
            </p:cNvPr>
            <p:cNvPicPr>
              <a:picLocks noChangeAspect="1"/>
            </p:cNvPicPr>
            <p:nvPr/>
          </p:nvPicPr>
          <p:blipFill>
            <a:blip r:embed="rId6"/>
            <a:stretch>
              <a:fillRect/>
            </a:stretch>
          </p:blipFill>
          <p:spPr>
            <a:xfrm>
              <a:off x="1133614" y="2283639"/>
              <a:ext cx="3839155" cy="2136951"/>
            </a:xfrm>
            <a:prstGeom prst="rect">
              <a:avLst/>
            </a:prstGeom>
            <a:effectLst/>
          </p:spPr>
        </p:pic>
      </p:grpSp>
      <p:sp>
        <p:nvSpPr>
          <p:cNvPr id="15" name="TextBox 14">
            <a:extLst>
              <a:ext uri="{FF2B5EF4-FFF2-40B4-BE49-F238E27FC236}">
                <a16:creationId xmlns:a16="http://schemas.microsoft.com/office/drawing/2014/main" id="{60D9E1B9-9065-1DB5-3A61-B58182B53F37}"/>
              </a:ext>
            </a:extLst>
          </p:cNvPr>
          <p:cNvSpPr txBox="1"/>
          <p:nvPr/>
        </p:nvSpPr>
        <p:spPr>
          <a:xfrm>
            <a:off x="608806" y="2176704"/>
            <a:ext cx="2007640" cy="4572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91440" bIns="0" rtlCol="0" anchor="ctr"/>
          <a:lstStyle>
            <a:defPPr>
              <a:defRPr lang="en-US"/>
            </a:defPPr>
            <a:lvl1pPr marL="91440" indent="0" algn="ctr">
              <a:spcBef>
                <a:spcPts val="600"/>
              </a:spcBef>
              <a:buFont typeface="Arial" panose="020B0604020202020204" pitchFamily="34" charset="0"/>
              <a:buNone/>
              <a:defRPr sz="900" b="0" spc="300">
                <a:solidFill>
                  <a:srgbClr val="C00000"/>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a:r>
              <a:rPr lang="en-CA" sz="1050">
                <a:solidFill>
                  <a:schemeClr val="tx1"/>
                </a:solidFill>
              </a:rPr>
              <a:t>WORKSHOP 1</a:t>
            </a:r>
            <a:br>
              <a:rPr lang="en-CA" sz="1050">
                <a:solidFill>
                  <a:schemeClr val="tx1"/>
                </a:solidFill>
              </a:rPr>
            </a:br>
            <a:br>
              <a:rPr lang="en-CA" sz="1050">
                <a:solidFill>
                  <a:schemeClr val="tx1"/>
                </a:solidFill>
              </a:rPr>
            </a:br>
            <a:r>
              <a:rPr lang="en-CA" sz="1050" spc="0"/>
              <a:t> (31</a:t>
            </a:r>
            <a:r>
              <a:rPr lang="en-CA" sz="1050" spc="0" baseline="30000"/>
              <a:t>ST</a:t>
            </a:r>
            <a:r>
              <a:rPr lang="en-CA" sz="1050" spc="0"/>
              <a:t> Jan) </a:t>
            </a:r>
            <a:r>
              <a:rPr lang="en-CA" sz="1050"/>
              <a:t>~</a:t>
            </a:r>
            <a:r>
              <a:rPr lang="en-CA" sz="1000" i="1" spc="0"/>
              <a:t>4 hours</a:t>
            </a:r>
            <a:endParaRPr lang="en-CA" sz="1050" i="1" spc="0"/>
          </a:p>
        </p:txBody>
      </p:sp>
      <p:sp>
        <p:nvSpPr>
          <p:cNvPr id="17" name="Rectangle: Rounded Corners 16">
            <a:extLst>
              <a:ext uri="{FF2B5EF4-FFF2-40B4-BE49-F238E27FC236}">
                <a16:creationId xmlns:a16="http://schemas.microsoft.com/office/drawing/2014/main" id="{C2CB8F52-3068-0A30-D0DC-8101232E376B}"/>
              </a:ext>
            </a:extLst>
          </p:cNvPr>
          <p:cNvSpPr/>
          <p:nvPr/>
        </p:nvSpPr>
        <p:spPr>
          <a:xfrm>
            <a:off x="608532" y="4485779"/>
            <a:ext cx="2008188" cy="1207148"/>
          </a:xfrm>
          <a:prstGeom prst="roundRect">
            <a:avLst>
              <a:gd name="adj" fmla="val 4795"/>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t"/>
          <a:lstStyle/>
          <a:p>
            <a:pPr marL="0" marR="0" lvl="0" indent="0" algn="ctr" defTabSz="914355" eaLnBrk="1" fontAlgn="auto" latinLnBrk="0" hangingPunct="1">
              <a:lnSpc>
                <a:spcPct val="100000"/>
              </a:lnSpc>
              <a:spcBef>
                <a:spcPts val="0"/>
              </a:spcBef>
              <a:spcAft>
                <a:spcPts val="0"/>
              </a:spcAft>
              <a:buClrTx/>
              <a:buSzTx/>
              <a:buFontTx/>
              <a:buNone/>
              <a:tabLst/>
              <a:defRPr/>
            </a:pPr>
            <a:r>
              <a:rPr lang="en-CA" sz="1050" b="1">
                <a:solidFill>
                  <a:srgbClr val="000000"/>
                </a:solidFill>
                <a:latin typeface="+mj-lt"/>
              </a:rPr>
              <a:t>Channel Kick-Off</a:t>
            </a:r>
            <a:br>
              <a:rPr lang="en-CA" sz="1050" b="1">
                <a:solidFill>
                  <a:srgbClr val="000000"/>
                </a:solidFill>
                <a:latin typeface="Scotia"/>
              </a:rPr>
            </a:br>
            <a:br>
              <a:rPr lang="en-CA" sz="1050">
                <a:solidFill>
                  <a:srgbClr val="000000"/>
                </a:solidFill>
                <a:latin typeface="Scotia"/>
              </a:rPr>
            </a:br>
            <a:r>
              <a:rPr lang="en-CA" sz="1050">
                <a:solidFill>
                  <a:srgbClr val="000000"/>
                </a:solidFill>
                <a:latin typeface="Scotia"/>
              </a:rPr>
              <a:t>Distilled </a:t>
            </a:r>
            <a:r>
              <a:rPr lang="en-CA" sz="1050" b="1">
                <a:solidFill>
                  <a:srgbClr val="000000"/>
                </a:solidFill>
                <a:latin typeface="Scotia"/>
              </a:rPr>
              <a:t>key themes and business needs</a:t>
            </a:r>
            <a:r>
              <a:rPr lang="en-CA" sz="1050">
                <a:solidFill>
                  <a:srgbClr val="000000"/>
                </a:solidFill>
                <a:latin typeface="Scotia"/>
              </a:rPr>
              <a:t> to be addressed by virtual</a:t>
            </a:r>
            <a:endParaRPr kumimoji="0" lang="en-CA" sz="1050" i="0" u="none" strike="noStrike" kern="1200" cap="none" normalizeH="0" baseline="0" noProof="0">
              <a:ln>
                <a:noFill/>
              </a:ln>
              <a:solidFill>
                <a:srgbClr val="000000"/>
              </a:solidFill>
              <a:effectLst/>
              <a:uLnTx/>
              <a:uFillTx/>
              <a:latin typeface="Scotia"/>
              <a:ea typeface="+mn-ea"/>
              <a:cs typeface="+mn-cs"/>
            </a:endParaRPr>
          </a:p>
        </p:txBody>
      </p:sp>
      <p:sp>
        <p:nvSpPr>
          <p:cNvPr id="18" name="Rectangle: Rounded Corners 17">
            <a:extLst>
              <a:ext uri="{FF2B5EF4-FFF2-40B4-BE49-F238E27FC236}">
                <a16:creationId xmlns:a16="http://schemas.microsoft.com/office/drawing/2014/main" id="{224D3BE8-699C-0B10-FC0D-859C54264F40}"/>
              </a:ext>
            </a:extLst>
          </p:cNvPr>
          <p:cNvSpPr/>
          <p:nvPr/>
        </p:nvSpPr>
        <p:spPr>
          <a:xfrm>
            <a:off x="2857775" y="4485779"/>
            <a:ext cx="2008188" cy="1207148"/>
          </a:xfrm>
          <a:prstGeom prst="roundRect">
            <a:avLst>
              <a:gd name="adj" fmla="val 4795"/>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t"/>
          <a:lstStyle/>
          <a:p>
            <a:pPr marL="0" marR="0" lvl="0" indent="0" algn="ctr" defTabSz="914355" eaLnBrk="1" fontAlgn="auto" latinLnBrk="0" hangingPunct="1">
              <a:lnSpc>
                <a:spcPct val="100000"/>
              </a:lnSpc>
              <a:spcBef>
                <a:spcPts val="0"/>
              </a:spcBef>
              <a:spcAft>
                <a:spcPts val="0"/>
              </a:spcAft>
              <a:buClrTx/>
              <a:buSzTx/>
              <a:buFontTx/>
              <a:buNone/>
              <a:tabLst/>
              <a:defRPr/>
            </a:pPr>
            <a:r>
              <a:rPr lang="en-CA" sz="1050" b="1">
                <a:solidFill>
                  <a:srgbClr val="000000"/>
                </a:solidFill>
                <a:latin typeface="+mj-lt"/>
              </a:rPr>
              <a:t>Virtual Top Bets</a:t>
            </a:r>
          </a:p>
          <a:p>
            <a:pPr marL="0" marR="0" lvl="0" indent="0" algn="ctr" defTabSz="914355" eaLnBrk="1" fontAlgn="auto" latinLnBrk="0" hangingPunct="1">
              <a:lnSpc>
                <a:spcPct val="100000"/>
              </a:lnSpc>
              <a:spcBef>
                <a:spcPts val="0"/>
              </a:spcBef>
              <a:spcAft>
                <a:spcPts val="0"/>
              </a:spcAft>
              <a:buClrTx/>
              <a:buSzTx/>
              <a:buFontTx/>
              <a:buNone/>
              <a:tabLst/>
              <a:defRPr/>
            </a:pPr>
            <a:br>
              <a:rPr lang="en-CA" sz="1050">
                <a:solidFill>
                  <a:srgbClr val="000000"/>
                </a:solidFill>
                <a:latin typeface="Scotia"/>
              </a:rPr>
            </a:br>
            <a:r>
              <a:rPr lang="en-CA" sz="1050">
                <a:solidFill>
                  <a:srgbClr val="000000"/>
                </a:solidFill>
                <a:latin typeface="Scotia"/>
              </a:rPr>
              <a:t>Prioritize </a:t>
            </a:r>
            <a:r>
              <a:rPr lang="en-CA" sz="1050" b="1">
                <a:solidFill>
                  <a:srgbClr val="000000"/>
                </a:solidFill>
                <a:latin typeface="Scotia"/>
              </a:rPr>
              <a:t>‘top bets’</a:t>
            </a:r>
            <a:r>
              <a:rPr lang="en-CA" sz="1050">
                <a:solidFill>
                  <a:srgbClr val="000000"/>
                </a:solidFill>
                <a:latin typeface="Scotia"/>
              </a:rPr>
              <a:t> to establish virtual ‘proof points’ and </a:t>
            </a:r>
            <a:r>
              <a:rPr lang="en-CA" sz="1050" b="1">
                <a:solidFill>
                  <a:srgbClr val="000000"/>
                </a:solidFill>
                <a:latin typeface="Scotia"/>
              </a:rPr>
              <a:t>inform future state design</a:t>
            </a:r>
            <a:endParaRPr kumimoji="0" lang="en-CA" sz="1050" b="1" i="0" u="none" strike="noStrike" kern="1200" cap="none" normalizeH="0" baseline="0" noProof="0">
              <a:ln>
                <a:noFill/>
              </a:ln>
              <a:solidFill>
                <a:srgbClr val="000000"/>
              </a:solidFill>
              <a:effectLst/>
              <a:uLnTx/>
              <a:uFillTx/>
              <a:latin typeface="Scotia"/>
              <a:ea typeface="+mn-ea"/>
              <a:cs typeface="+mn-cs"/>
            </a:endParaRPr>
          </a:p>
        </p:txBody>
      </p:sp>
      <p:grpSp>
        <p:nvGrpSpPr>
          <p:cNvPr id="36" name="Group 35">
            <a:extLst>
              <a:ext uri="{FF2B5EF4-FFF2-40B4-BE49-F238E27FC236}">
                <a16:creationId xmlns:a16="http://schemas.microsoft.com/office/drawing/2014/main" id="{4B6B8D7D-0C2D-0315-E5D2-04D55D1DB4D6}"/>
              </a:ext>
            </a:extLst>
          </p:cNvPr>
          <p:cNvGrpSpPr/>
          <p:nvPr/>
        </p:nvGrpSpPr>
        <p:grpSpPr>
          <a:xfrm>
            <a:off x="2858202" y="2920903"/>
            <a:ext cx="2007335" cy="1207025"/>
            <a:chOff x="6998035" y="2252191"/>
            <a:chExt cx="3938370" cy="2199847"/>
          </a:xfrm>
        </p:grpSpPr>
        <p:sp>
          <p:nvSpPr>
            <p:cNvPr id="9" name="Rectangle: Rounded Corners 8">
              <a:extLst>
                <a:ext uri="{FF2B5EF4-FFF2-40B4-BE49-F238E27FC236}">
                  <a16:creationId xmlns:a16="http://schemas.microsoft.com/office/drawing/2014/main" id="{6CABC23C-233E-D9D6-30DA-9822537BF055}"/>
                </a:ext>
              </a:extLst>
            </p:cNvPr>
            <p:cNvSpPr/>
            <p:nvPr/>
          </p:nvSpPr>
          <p:spPr>
            <a:xfrm>
              <a:off x="6998035" y="2252191"/>
              <a:ext cx="3938370" cy="2199847"/>
            </a:xfrm>
            <a:prstGeom prst="roundRect">
              <a:avLst>
                <a:gd name="adj" fmla="val 0"/>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Scotia Light"/>
                <a:ea typeface="+mn-ea"/>
                <a:cs typeface="+mn-cs"/>
              </a:endParaRPr>
            </a:p>
          </p:txBody>
        </p:sp>
        <p:pic>
          <p:nvPicPr>
            <p:cNvPr id="19" name="Picture 18">
              <a:extLst>
                <a:ext uri="{FF2B5EF4-FFF2-40B4-BE49-F238E27FC236}">
                  <a16:creationId xmlns:a16="http://schemas.microsoft.com/office/drawing/2014/main" id="{799F6A9F-8C24-86F0-13BF-43C673810B3C}"/>
                </a:ext>
              </a:extLst>
            </p:cNvPr>
            <p:cNvPicPr>
              <a:picLocks noChangeAspect="1"/>
            </p:cNvPicPr>
            <p:nvPr/>
          </p:nvPicPr>
          <p:blipFill>
            <a:blip r:embed="rId7"/>
            <a:stretch>
              <a:fillRect/>
            </a:stretch>
          </p:blipFill>
          <p:spPr>
            <a:xfrm>
              <a:off x="7056344" y="2277247"/>
              <a:ext cx="3821751" cy="2149735"/>
            </a:xfrm>
            <a:prstGeom prst="rect">
              <a:avLst/>
            </a:prstGeom>
          </p:spPr>
        </p:pic>
      </p:grpSp>
      <p:grpSp>
        <p:nvGrpSpPr>
          <p:cNvPr id="23" name="Group 22">
            <a:extLst>
              <a:ext uri="{FF2B5EF4-FFF2-40B4-BE49-F238E27FC236}">
                <a16:creationId xmlns:a16="http://schemas.microsoft.com/office/drawing/2014/main" id="{974469F5-7AF7-B8E0-CD9A-87F94BCEC231}"/>
              </a:ext>
            </a:extLst>
          </p:cNvPr>
          <p:cNvGrpSpPr/>
          <p:nvPr/>
        </p:nvGrpSpPr>
        <p:grpSpPr>
          <a:xfrm>
            <a:off x="5077046" y="2920903"/>
            <a:ext cx="2007335" cy="1207025"/>
            <a:chOff x="6571281" y="3146931"/>
            <a:chExt cx="2428875" cy="1460500"/>
          </a:xfrm>
        </p:grpSpPr>
        <p:sp>
          <p:nvSpPr>
            <p:cNvPr id="11" name="Rectangle: Rounded Corners 10">
              <a:extLst>
                <a:ext uri="{FF2B5EF4-FFF2-40B4-BE49-F238E27FC236}">
                  <a16:creationId xmlns:a16="http://schemas.microsoft.com/office/drawing/2014/main" id="{5B80E861-CD64-7757-264E-1D9CDBD22EC7}"/>
                </a:ext>
              </a:extLst>
            </p:cNvPr>
            <p:cNvSpPr/>
            <p:nvPr/>
          </p:nvSpPr>
          <p:spPr>
            <a:xfrm>
              <a:off x="6571281" y="3146931"/>
              <a:ext cx="2428875" cy="1460500"/>
            </a:xfrm>
            <a:prstGeom prst="roundRect">
              <a:avLst>
                <a:gd name="adj" fmla="val 0"/>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Scotia Light"/>
                <a:ea typeface="+mn-ea"/>
                <a:cs typeface="+mn-cs"/>
              </a:endParaRPr>
            </a:p>
          </p:txBody>
        </p:sp>
        <p:pic>
          <p:nvPicPr>
            <p:cNvPr id="5" name="Picture 4">
              <a:extLst>
                <a:ext uri="{FF2B5EF4-FFF2-40B4-BE49-F238E27FC236}">
                  <a16:creationId xmlns:a16="http://schemas.microsoft.com/office/drawing/2014/main" id="{5E2A1907-CB5A-304B-F3FD-DBD3727B481B}"/>
                </a:ext>
              </a:extLst>
            </p:cNvPr>
            <p:cNvPicPr>
              <a:picLocks noChangeAspect="1"/>
            </p:cNvPicPr>
            <p:nvPr/>
          </p:nvPicPr>
          <p:blipFill>
            <a:blip r:embed="rId8" cstate="print">
              <a:extLst>
                <a:ext uri="{28A0092B-C50C-407E-A947-70E740481C1C}">
                  <a14:useLocalDpi xmlns:a14="http://schemas.microsoft.com/office/drawing/2010/main" val="0"/>
                </a:ext>
              </a:extLst>
            </a:blip>
            <a:srcRect/>
            <a:stretch/>
          </p:blipFill>
          <p:spPr>
            <a:xfrm>
              <a:off x="6597467" y="3180793"/>
              <a:ext cx="2386586" cy="1392775"/>
            </a:xfrm>
            <a:prstGeom prst="rect">
              <a:avLst/>
            </a:prstGeom>
            <a:effectLst/>
          </p:spPr>
        </p:pic>
      </p:grpSp>
      <p:sp>
        <p:nvSpPr>
          <p:cNvPr id="21" name="Rectangle: Rounded Corners 20">
            <a:extLst>
              <a:ext uri="{FF2B5EF4-FFF2-40B4-BE49-F238E27FC236}">
                <a16:creationId xmlns:a16="http://schemas.microsoft.com/office/drawing/2014/main" id="{58A24530-D9C3-CFF9-6861-74EE48EC04B8}"/>
              </a:ext>
            </a:extLst>
          </p:cNvPr>
          <p:cNvSpPr/>
          <p:nvPr/>
        </p:nvSpPr>
        <p:spPr>
          <a:xfrm>
            <a:off x="5076619" y="4485779"/>
            <a:ext cx="2008188" cy="1207148"/>
          </a:xfrm>
          <a:prstGeom prst="roundRect">
            <a:avLst>
              <a:gd name="adj" fmla="val 4795"/>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t"/>
          <a:lstStyle/>
          <a:p>
            <a:pPr marL="0" marR="0" lvl="0" indent="0" algn="ctr" defTabSz="914355" eaLnBrk="1" fontAlgn="auto" latinLnBrk="0" hangingPunct="1">
              <a:lnSpc>
                <a:spcPct val="100000"/>
              </a:lnSpc>
              <a:spcBef>
                <a:spcPts val="0"/>
              </a:spcBef>
              <a:spcAft>
                <a:spcPts val="0"/>
              </a:spcAft>
              <a:buClrTx/>
              <a:buSzTx/>
              <a:buFontTx/>
              <a:buNone/>
              <a:tabLst/>
              <a:defRPr/>
            </a:pPr>
            <a:r>
              <a:rPr lang="en-CA" sz="1050" b="1">
                <a:solidFill>
                  <a:srgbClr val="000000"/>
                </a:solidFill>
                <a:latin typeface="Scotia Headline" panose="020B0703020203020204" pitchFamily="34" charset="0"/>
                <a:ea typeface="Scotia Headline" panose="020B0703020203020204" pitchFamily="34" charset="0"/>
              </a:rPr>
              <a:t>Client Assignment</a:t>
            </a:r>
            <a:br>
              <a:rPr lang="en-CA" sz="1050">
                <a:solidFill>
                  <a:srgbClr val="000000"/>
                </a:solidFill>
                <a:latin typeface="Scotia"/>
              </a:rPr>
            </a:br>
            <a:br>
              <a:rPr lang="en-CA" sz="1050">
                <a:solidFill>
                  <a:srgbClr val="000000"/>
                </a:solidFill>
                <a:latin typeface="Scotia"/>
              </a:rPr>
            </a:br>
            <a:r>
              <a:rPr lang="en-CA" sz="1050">
                <a:solidFill>
                  <a:srgbClr val="000000"/>
                </a:solidFill>
                <a:latin typeface="Scotia"/>
              </a:rPr>
              <a:t>Deep dive on </a:t>
            </a:r>
            <a:r>
              <a:rPr lang="en-CA" sz="1050" b="1">
                <a:solidFill>
                  <a:srgbClr val="000000"/>
                </a:solidFill>
                <a:latin typeface="Scotia"/>
              </a:rPr>
              <a:t>key pain points </a:t>
            </a:r>
            <a:r>
              <a:rPr lang="en-CA" sz="1050">
                <a:solidFill>
                  <a:srgbClr val="000000"/>
                </a:solidFill>
                <a:latin typeface="Scotia"/>
              </a:rPr>
              <a:t>and explore </a:t>
            </a:r>
            <a:r>
              <a:rPr lang="en-CA" sz="1050" b="1">
                <a:solidFill>
                  <a:srgbClr val="000000"/>
                </a:solidFill>
                <a:latin typeface="Scotia"/>
              </a:rPr>
              <a:t>archetypes</a:t>
            </a:r>
            <a:r>
              <a:rPr lang="en-CA" sz="1050">
                <a:solidFill>
                  <a:srgbClr val="000000"/>
                </a:solidFill>
                <a:latin typeface="Scotia"/>
              </a:rPr>
              <a:t> </a:t>
            </a:r>
            <a:r>
              <a:rPr lang="en-CA" sz="1050" b="1">
                <a:solidFill>
                  <a:srgbClr val="000000"/>
                </a:solidFill>
                <a:latin typeface="Scotia"/>
              </a:rPr>
              <a:t>to</a:t>
            </a:r>
            <a:r>
              <a:rPr lang="en-CA" sz="1050">
                <a:solidFill>
                  <a:srgbClr val="000000"/>
                </a:solidFill>
                <a:latin typeface="Scotia"/>
              </a:rPr>
              <a:t> </a:t>
            </a:r>
            <a:r>
              <a:rPr lang="en-CA" sz="1050" b="1">
                <a:solidFill>
                  <a:srgbClr val="000000"/>
                </a:solidFill>
                <a:latin typeface="Scotia"/>
              </a:rPr>
              <a:t>redesign assignment </a:t>
            </a:r>
            <a:r>
              <a:rPr lang="en-CA" sz="1050">
                <a:solidFill>
                  <a:srgbClr val="000000"/>
                </a:solidFill>
                <a:latin typeface="Scotia"/>
              </a:rPr>
              <a:t>model</a:t>
            </a:r>
            <a:endParaRPr kumimoji="0" lang="en-CA" sz="1050" b="1" i="0" u="none" strike="noStrike" kern="1200" cap="none" normalizeH="0" baseline="0" noProof="0">
              <a:ln>
                <a:noFill/>
              </a:ln>
              <a:solidFill>
                <a:srgbClr val="000000"/>
              </a:solidFill>
              <a:effectLst/>
              <a:uLnTx/>
              <a:uFillTx/>
              <a:latin typeface="Scotia"/>
              <a:ea typeface="+mn-ea"/>
              <a:cs typeface="+mn-cs"/>
            </a:endParaRPr>
          </a:p>
        </p:txBody>
      </p:sp>
      <p:sp>
        <p:nvSpPr>
          <p:cNvPr id="28" name="Rectangle: Rounded Corners 27">
            <a:extLst>
              <a:ext uri="{FF2B5EF4-FFF2-40B4-BE49-F238E27FC236}">
                <a16:creationId xmlns:a16="http://schemas.microsoft.com/office/drawing/2014/main" id="{BD07B524-3A6F-32B6-9B36-9F06008A7D7D}"/>
              </a:ext>
            </a:extLst>
          </p:cNvPr>
          <p:cNvSpPr/>
          <p:nvPr/>
        </p:nvSpPr>
        <p:spPr>
          <a:xfrm>
            <a:off x="9561326" y="2920903"/>
            <a:ext cx="2007335" cy="1207025"/>
          </a:xfrm>
          <a:prstGeom prst="roundRect">
            <a:avLst>
              <a:gd name="adj" fmla="val 0"/>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Scotia Light"/>
              <a:ea typeface="+mn-ea"/>
              <a:cs typeface="+mn-cs"/>
            </a:endParaRPr>
          </a:p>
        </p:txBody>
      </p:sp>
      <p:sp>
        <p:nvSpPr>
          <p:cNvPr id="30" name="TextBox 29">
            <a:extLst>
              <a:ext uri="{FF2B5EF4-FFF2-40B4-BE49-F238E27FC236}">
                <a16:creationId xmlns:a16="http://schemas.microsoft.com/office/drawing/2014/main" id="{1F872B74-28C2-B036-EC17-D18E524015C6}"/>
              </a:ext>
            </a:extLst>
          </p:cNvPr>
          <p:cNvSpPr txBox="1"/>
          <p:nvPr/>
        </p:nvSpPr>
        <p:spPr>
          <a:xfrm>
            <a:off x="2858049" y="2176704"/>
            <a:ext cx="2007640" cy="4572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91440" bIns="0" rtlCol="0" anchor="ctr"/>
          <a:lstStyle>
            <a:defPPr>
              <a:defRPr lang="en-US"/>
            </a:defPPr>
            <a:lvl1pPr marL="91440" indent="0" algn="ctr">
              <a:spcBef>
                <a:spcPts val="600"/>
              </a:spcBef>
              <a:buFont typeface="Arial" panose="020B0604020202020204" pitchFamily="34" charset="0"/>
              <a:buNone/>
              <a:defRPr sz="900" b="0" spc="300">
                <a:solidFill>
                  <a:srgbClr val="C00000"/>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a:r>
              <a:rPr lang="en-CA" sz="1050">
                <a:solidFill>
                  <a:schemeClr val="tx1"/>
                </a:solidFill>
              </a:rPr>
              <a:t>WORKSHOP 2</a:t>
            </a:r>
            <a:br>
              <a:rPr lang="en-CA" sz="1050">
                <a:solidFill>
                  <a:schemeClr val="tx1"/>
                </a:solidFill>
              </a:rPr>
            </a:br>
            <a:br>
              <a:rPr lang="en-CA" sz="1050">
                <a:solidFill>
                  <a:schemeClr val="tx1"/>
                </a:solidFill>
              </a:rPr>
            </a:br>
            <a:r>
              <a:rPr lang="en-CA" sz="1050" spc="0"/>
              <a:t> (7</a:t>
            </a:r>
            <a:r>
              <a:rPr lang="en-CA" sz="1050" spc="0" baseline="30000"/>
              <a:t>th</a:t>
            </a:r>
            <a:r>
              <a:rPr lang="en-CA" sz="1050" spc="0"/>
              <a:t> Feb) </a:t>
            </a:r>
            <a:r>
              <a:rPr lang="en-CA" sz="1050"/>
              <a:t>~</a:t>
            </a:r>
            <a:r>
              <a:rPr lang="en-CA" sz="1000" i="1" spc="0"/>
              <a:t>2.5 hours</a:t>
            </a:r>
            <a:endParaRPr lang="en-CA" sz="1050" i="1" spc="0"/>
          </a:p>
        </p:txBody>
      </p:sp>
      <p:sp>
        <p:nvSpPr>
          <p:cNvPr id="31" name="TextBox 30">
            <a:extLst>
              <a:ext uri="{FF2B5EF4-FFF2-40B4-BE49-F238E27FC236}">
                <a16:creationId xmlns:a16="http://schemas.microsoft.com/office/drawing/2014/main" id="{DED6680A-4CB8-7D05-A8E6-D33026D3CB00}"/>
              </a:ext>
            </a:extLst>
          </p:cNvPr>
          <p:cNvSpPr txBox="1"/>
          <p:nvPr/>
        </p:nvSpPr>
        <p:spPr>
          <a:xfrm>
            <a:off x="5076893" y="2176704"/>
            <a:ext cx="2007640" cy="4572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91440" bIns="0" rtlCol="0" anchor="ctr"/>
          <a:lstStyle>
            <a:defPPr>
              <a:defRPr lang="en-US"/>
            </a:defPPr>
            <a:lvl1pPr marL="91440" indent="0" algn="ctr">
              <a:spcBef>
                <a:spcPts val="600"/>
              </a:spcBef>
              <a:buFont typeface="Arial" panose="020B0604020202020204" pitchFamily="34" charset="0"/>
              <a:buNone/>
              <a:defRPr sz="900" b="0" spc="300">
                <a:solidFill>
                  <a:srgbClr val="C00000"/>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a:r>
              <a:rPr lang="en-CA" sz="1050">
                <a:solidFill>
                  <a:schemeClr val="tx1"/>
                </a:solidFill>
              </a:rPr>
              <a:t>WORKSHOP 3</a:t>
            </a:r>
            <a:br>
              <a:rPr lang="en-CA" sz="1050">
                <a:solidFill>
                  <a:schemeClr val="tx1"/>
                </a:solidFill>
              </a:rPr>
            </a:br>
            <a:br>
              <a:rPr lang="en-CA" sz="1050">
                <a:solidFill>
                  <a:schemeClr val="tx1"/>
                </a:solidFill>
              </a:rPr>
            </a:br>
            <a:r>
              <a:rPr lang="en-CA" sz="1050" spc="0"/>
              <a:t> (13</a:t>
            </a:r>
            <a:r>
              <a:rPr lang="en-CA" sz="1050" spc="0" baseline="30000"/>
              <a:t>th</a:t>
            </a:r>
            <a:r>
              <a:rPr lang="en-CA" sz="1050" spc="0"/>
              <a:t> Feb) </a:t>
            </a:r>
            <a:r>
              <a:rPr lang="en-CA" sz="1050"/>
              <a:t>~</a:t>
            </a:r>
            <a:r>
              <a:rPr lang="en-CA" sz="1000" i="1" spc="0"/>
              <a:t>3 hours</a:t>
            </a:r>
            <a:endParaRPr lang="en-CA" sz="1050" i="1" spc="0"/>
          </a:p>
        </p:txBody>
      </p:sp>
      <p:sp>
        <p:nvSpPr>
          <p:cNvPr id="32" name="TextBox 31">
            <a:extLst>
              <a:ext uri="{FF2B5EF4-FFF2-40B4-BE49-F238E27FC236}">
                <a16:creationId xmlns:a16="http://schemas.microsoft.com/office/drawing/2014/main" id="{A72A0EA6-2D29-5CD5-3249-CAFD4F5A84F6}"/>
              </a:ext>
            </a:extLst>
          </p:cNvPr>
          <p:cNvSpPr txBox="1"/>
          <p:nvPr/>
        </p:nvSpPr>
        <p:spPr>
          <a:xfrm>
            <a:off x="7321133" y="2176704"/>
            <a:ext cx="2007640" cy="4572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91440" bIns="0" rtlCol="0" anchor="ctr"/>
          <a:lstStyle>
            <a:defPPr>
              <a:defRPr lang="en-US"/>
            </a:defPPr>
            <a:lvl1pPr marL="91440" indent="0" algn="ctr">
              <a:spcBef>
                <a:spcPts val="600"/>
              </a:spcBef>
              <a:buFont typeface="Arial" panose="020B0604020202020204" pitchFamily="34" charset="0"/>
              <a:buNone/>
              <a:defRPr sz="900" b="0" spc="300">
                <a:solidFill>
                  <a:srgbClr val="C00000"/>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a:r>
              <a:rPr lang="en-CA" sz="1050">
                <a:solidFill>
                  <a:schemeClr val="tx1"/>
                </a:solidFill>
              </a:rPr>
              <a:t>WORKSHOP 4</a:t>
            </a:r>
            <a:br>
              <a:rPr lang="en-CA" sz="1050">
                <a:solidFill>
                  <a:schemeClr val="tx1"/>
                </a:solidFill>
              </a:rPr>
            </a:br>
            <a:br>
              <a:rPr lang="en-CA" sz="1050">
                <a:solidFill>
                  <a:schemeClr val="tx1"/>
                </a:solidFill>
              </a:rPr>
            </a:br>
            <a:r>
              <a:rPr lang="en-CA" sz="1050" spc="0"/>
              <a:t> (21</a:t>
            </a:r>
            <a:r>
              <a:rPr lang="en-CA" sz="1050" spc="0" baseline="30000"/>
              <a:t>st</a:t>
            </a:r>
            <a:r>
              <a:rPr lang="en-CA" sz="1050" spc="0"/>
              <a:t> Feb) </a:t>
            </a:r>
            <a:r>
              <a:rPr lang="en-CA" sz="1050"/>
              <a:t>~</a:t>
            </a:r>
            <a:r>
              <a:rPr lang="en-CA" sz="1000" i="1" spc="0"/>
              <a:t>2 hours</a:t>
            </a:r>
            <a:endParaRPr lang="en-CA" sz="1050" i="1" spc="0"/>
          </a:p>
        </p:txBody>
      </p:sp>
      <p:sp>
        <p:nvSpPr>
          <p:cNvPr id="33" name="TextBox 32">
            <a:extLst>
              <a:ext uri="{FF2B5EF4-FFF2-40B4-BE49-F238E27FC236}">
                <a16:creationId xmlns:a16="http://schemas.microsoft.com/office/drawing/2014/main" id="{8939EA35-ED14-CB00-524E-6779DBB76EA0}"/>
              </a:ext>
            </a:extLst>
          </p:cNvPr>
          <p:cNvSpPr txBox="1"/>
          <p:nvPr/>
        </p:nvSpPr>
        <p:spPr>
          <a:xfrm>
            <a:off x="9544748" y="2176704"/>
            <a:ext cx="2007640" cy="4572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91440" bIns="0" rtlCol="0" anchor="ctr"/>
          <a:lstStyle>
            <a:defPPr>
              <a:defRPr lang="en-US"/>
            </a:defPPr>
            <a:lvl1pPr marL="91440" indent="0" algn="ctr">
              <a:spcBef>
                <a:spcPts val="600"/>
              </a:spcBef>
              <a:buFont typeface="Arial" panose="020B0604020202020204" pitchFamily="34" charset="0"/>
              <a:buNone/>
              <a:defRPr sz="900" b="0" spc="300">
                <a:solidFill>
                  <a:srgbClr val="C00000"/>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a:r>
              <a:rPr lang="en-CA" sz="1050">
                <a:solidFill>
                  <a:schemeClr val="tx1"/>
                </a:solidFill>
              </a:rPr>
              <a:t>WORKSHOP 5</a:t>
            </a:r>
            <a:br>
              <a:rPr lang="en-CA" sz="1050">
                <a:solidFill>
                  <a:schemeClr val="tx1"/>
                </a:solidFill>
              </a:rPr>
            </a:br>
            <a:br>
              <a:rPr lang="en-CA" sz="1050">
                <a:solidFill>
                  <a:schemeClr val="tx1"/>
                </a:solidFill>
              </a:rPr>
            </a:br>
            <a:r>
              <a:rPr lang="en-CA" sz="1050" b="1" spc="0"/>
              <a:t>TODAY</a:t>
            </a:r>
            <a:r>
              <a:rPr lang="en-CA" sz="1050" spc="0"/>
              <a:t> </a:t>
            </a:r>
            <a:r>
              <a:rPr lang="en-CA" sz="1050"/>
              <a:t>~</a:t>
            </a:r>
            <a:r>
              <a:rPr lang="en-CA" sz="1000" i="1" spc="0"/>
              <a:t>2 hours</a:t>
            </a:r>
            <a:endParaRPr lang="en-CA" sz="1050" i="1" spc="0"/>
          </a:p>
        </p:txBody>
      </p:sp>
      <p:sp>
        <p:nvSpPr>
          <p:cNvPr id="34" name="Rectangle: Rounded Corners 33">
            <a:extLst>
              <a:ext uri="{FF2B5EF4-FFF2-40B4-BE49-F238E27FC236}">
                <a16:creationId xmlns:a16="http://schemas.microsoft.com/office/drawing/2014/main" id="{57BFCDB7-ABAD-E476-2A40-DB3D0F6D9217}"/>
              </a:ext>
            </a:extLst>
          </p:cNvPr>
          <p:cNvSpPr/>
          <p:nvPr/>
        </p:nvSpPr>
        <p:spPr>
          <a:xfrm>
            <a:off x="7321134" y="4485779"/>
            <a:ext cx="2007639" cy="1207148"/>
          </a:xfrm>
          <a:prstGeom prst="roundRect">
            <a:avLst>
              <a:gd name="adj" fmla="val 4795"/>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t"/>
          <a:lstStyle/>
          <a:p>
            <a:pPr marL="0" marR="0" lvl="0" indent="0" algn="ctr" defTabSz="914355" eaLnBrk="1" fontAlgn="auto" latinLnBrk="0" hangingPunct="1">
              <a:lnSpc>
                <a:spcPct val="100000"/>
              </a:lnSpc>
              <a:spcBef>
                <a:spcPts val="0"/>
              </a:spcBef>
              <a:spcAft>
                <a:spcPts val="0"/>
              </a:spcAft>
              <a:buClrTx/>
              <a:buSzTx/>
              <a:buFontTx/>
              <a:buNone/>
              <a:tabLst/>
              <a:defRPr/>
            </a:pPr>
            <a:r>
              <a:rPr lang="en-CA" sz="1050" b="1">
                <a:solidFill>
                  <a:srgbClr val="000000"/>
                </a:solidFill>
                <a:latin typeface="Scotia Headline" panose="020B0703020203020204" pitchFamily="34" charset="0"/>
                <a:ea typeface="Scotia Headline" panose="020B0703020203020204" pitchFamily="34" charset="0"/>
              </a:rPr>
              <a:t>Channel Connectivity</a:t>
            </a:r>
          </a:p>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050" i="0" u="none" strike="noStrike" kern="1200" cap="none" normalizeH="0" baseline="0" noProof="0">
              <a:ln>
                <a:noFill/>
              </a:ln>
              <a:solidFill>
                <a:srgbClr val="000000"/>
              </a:solidFill>
              <a:effectLst/>
              <a:uLnTx/>
              <a:uFillTx/>
              <a:latin typeface="Scotia"/>
              <a:ea typeface="+mn-ea"/>
              <a:cs typeface="+mn-cs"/>
            </a:endParaRPr>
          </a:p>
          <a:p>
            <a:pPr marL="0" marR="0" lvl="0" indent="0" algn="ctr" defTabSz="914355" eaLnBrk="1" fontAlgn="auto" latinLnBrk="0" hangingPunct="1">
              <a:lnSpc>
                <a:spcPct val="100000"/>
              </a:lnSpc>
              <a:spcBef>
                <a:spcPts val="0"/>
              </a:spcBef>
              <a:spcAft>
                <a:spcPts val="0"/>
              </a:spcAft>
              <a:buClrTx/>
              <a:buSzTx/>
              <a:buFontTx/>
              <a:buNone/>
              <a:tabLst/>
              <a:defRPr/>
            </a:pPr>
            <a:r>
              <a:rPr kumimoji="0" lang="en-CA" sz="1050" i="0" u="none" strike="noStrike" kern="1200" cap="none" normalizeH="0" baseline="0" noProof="0">
                <a:ln>
                  <a:noFill/>
                </a:ln>
                <a:solidFill>
                  <a:srgbClr val="000000"/>
                </a:solidFill>
                <a:effectLst/>
                <a:uLnTx/>
                <a:uFillTx/>
                <a:latin typeface="Scotia"/>
                <a:ea typeface="+mn-ea"/>
                <a:cs typeface="+mn-cs"/>
              </a:rPr>
              <a:t>Align on key points of </a:t>
            </a:r>
            <a:r>
              <a:rPr kumimoji="0" lang="en-CA" sz="1050" b="1" i="0" u="none" strike="noStrike" kern="1200" cap="none" normalizeH="0" baseline="0" noProof="0">
                <a:ln>
                  <a:noFill/>
                </a:ln>
                <a:solidFill>
                  <a:srgbClr val="000000"/>
                </a:solidFill>
                <a:effectLst/>
                <a:uLnTx/>
                <a:uFillTx/>
                <a:latin typeface="Scotia"/>
                <a:ea typeface="+mn-ea"/>
                <a:cs typeface="+mn-cs"/>
              </a:rPr>
              <a:t>connectivity </a:t>
            </a:r>
            <a:r>
              <a:rPr kumimoji="0" lang="en-CA" sz="1050" i="0" u="none" strike="noStrike" kern="1200" cap="none" normalizeH="0" baseline="0" noProof="0">
                <a:ln>
                  <a:noFill/>
                </a:ln>
                <a:solidFill>
                  <a:srgbClr val="000000"/>
                </a:solidFill>
                <a:effectLst/>
                <a:uLnTx/>
                <a:uFillTx/>
                <a:latin typeface="Scotia"/>
                <a:ea typeface="+mn-ea"/>
                <a:cs typeface="+mn-cs"/>
              </a:rPr>
              <a:t>and deep dive on </a:t>
            </a:r>
            <a:r>
              <a:rPr lang="en-CA" sz="1050">
                <a:solidFill>
                  <a:srgbClr val="000000"/>
                </a:solidFill>
                <a:latin typeface="Scotia"/>
              </a:rPr>
              <a:t>required </a:t>
            </a:r>
            <a:r>
              <a:rPr lang="en-CA" sz="1050" b="1">
                <a:solidFill>
                  <a:srgbClr val="000000"/>
                </a:solidFill>
                <a:latin typeface="Scotia"/>
              </a:rPr>
              <a:t>digital capabilities</a:t>
            </a:r>
            <a:endParaRPr kumimoji="0" lang="en-CA" sz="1050" b="1" i="0" u="none" strike="noStrike" kern="1200" cap="none" normalizeH="0" baseline="0" noProof="0">
              <a:ln>
                <a:noFill/>
              </a:ln>
              <a:solidFill>
                <a:srgbClr val="000000"/>
              </a:solidFill>
              <a:effectLst/>
              <a:uLnTx/>
              <a:uFillTx/>
              <a:latin typeface="Scotia"/>
              <a:ea typeface="+mn-ea"/>
              <a:cs typeface="+mn-cs"/>
            </a:endParaRPr>
          </a:p>
        </p:txBody>
      </p:sp>
      <p:sp>
        <p:nvSpPr>
          <p:cNvPr id="37" name="Rectangle: Rounded Corners 36">
            <a:extLst>
              <a:ext uri="{FF2B5EF4-FFF2-40B4-BE49-F238E27FC236}">
                <a16:creationId xmlns:a16="http://schemas.microsoft.com/office/drawing/2014/main" id="{787CD1F1-4F15-5026-A821-0BF45DB5ECE1}"/>
              </a:ext>
            </a:extLst>
          </p:cNvPr>
          <p:cNvSpPr/>
          <p:nvPr/>
        </p:nvSpPr>
        <p:spPr>
          <a:xfrm>
            <a:off x="9544474" y="4485779"/>
            <a:ext cx="2008188" cy="1206500"/>
          </a:xfrm>
          <a:prstGeom prst="roundRect">
            <a:avLst>
              <a:gd name="adj" fmla="val 4795"/>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t"/>
          <a:lstStyle/>
          <a:p>
            <a:pPr marL="0" marR="0" lvl="0" indent="0" algn="ctr" defTabSz="914355" eaLnBrk="1" fontAlgn="auto" latinLnBrk="0" hangingPunct="1">
              <a:lnSpc>
                <a:spcPct val="100000"/>
              </a:lnSpc>
              <a:spcBef>
                <a:spcPts val="0"/>
              </a:spcBef>
              <a:spcAft>
                <a:spcPts val="0"/>
              </a:spcAft>
              <a:buClrTx/>
              <a:buSzTx/>
              <a:buFontTx/>
              <a:buNone/>
              <a:tabLst/>
              <a:defRPr/>
            </a:pPr>
            <a:r>
              <a:rPr lang="en-CA" sz="1050" b="1">
                <a:solidFill>
                  <a:srgbClr val="000000"/>
                </a:solidFill>
                <a:latin typeface="Scotia Headline" panose="020B0703020203020204" pitchFamily="34" charset="0"/>
                <a:ea typeface="Scotia Headline" panose="020B0703020203020204" pitchFamily="34" charset="0"/>
              </a:rPr>
              <a:t>Team Structure</a:t>
            </a:r>
            <a:br>
              <a:rPr lang="en-CA" sz="1050">
                <a:solidFill>
                  <a:srgbClr val="000000"/>
                </a:solidFill>
                <a:latin typeface="Scotia"/>
              </a:rPr>
            </a:br>
            <a:br>
              <a:rPr lang="en-CA" sz="1050">
                <a:solidFill>
                  <a:srgbClr val="000000"/>
                </a:solidFill>
                <a:latin typeface="Scotia"/>
              </a:rPr>
            </a:br>
            <a:r>
              <a:rPr lang="en-CA" sz="1050">
                <a:solidFill>
                  <a:srgbClr val="000000"/>
                </a:solidFill>
                <a:latin typeface="Scotia"/>
              </a:rPr>
              <a:t>Architect </a:t>
            </a:r>
            <a:r>
              <a:rPr lang="en-CA" sz="1050" b="1">
                <a:solidFill>
                  <a:srgbClr val="000000"/>
                </a:solidFill>
                <a:latin typeface="Scotia"/>
              </a:rPr>
              <a:t>future state team structure</a:t>
            </a:r>
            <a:r>
              <a:rPr lang="en-CA" sz="1050">
                <a:solidFill>
                  <a:srgbClr val="000000"/>
                </a:solidFill>
                <a:latin typeface="Scotia"/>
              </a:rPr>
              <a:t> and assess impact on </a:t>
            </a:r>
            <a:r>
              <a:rPr lang="en-CA" sz="1050" b="1">
                <a:solidFill>
                  <a:srgbClr val="000000"/>
                </a:solidFill>
                <a:latin typeface="Scotia"/>
              </a:rPr>
              <a:t>roles and staffing</a:t>
            </a:r>
            <a:endParaRPr kumimoji="0" lang="en-CA" sz="1050" b="1" i="0" u="none" strike="noStrike" kern="1200" cap="none" normalizeH="0" baseline="0" noProof="0">
              <a:ln>
                <a:noFill/>
              </a:ln>
              <a:solidFill>
                <a:srgbClr val="000000"/>
              </a:solidFill>
              <a:effectLst/>
              <a:uLnTx/>
              <a:uFillTx/>
              <a:latin typeface="Scotia"/>
              <a:ea typeface="+mn-ea"/>
              <a:cs typeface="+mn-cs"/>
            </a:endParaRPr>
          </a:p>
        </p:txBody>
      </p:sp>
      <p:grpSp>
        <p:nvGrpSpPr>
          <p:cNvPr id="14" name="Group 13">
            <a:extLst>
              <a:ext uri="{FF2B5EF4-FFF2-40B4-BE49-F238E27FC236}">
                <a16:creationId xmlns:a16="http://schemas.microsoft.com/office/drawing/2014/main" id="{606BDF9B-E3E1-EC29-7D5E-FFEF878B053B}"/>
              </a:ext>
            </a:extLst>
          </p:cNvPr>
          <p:cNvGrpSpPr/>
          <p:nvPr/>
        </p:nvGrpSpPr>
        <p:grpSpPr>
          <a:xfrm>
            <a:off x="7321286" y="2920903"/>
            <a:ext cx="2007335" cy="1207025"/>
            <a:chOff x="7327042" y="2920903"/>
            <a:chExt cx="2007335" cy="1207025"/>
          </a:xfrm>
        </p:grpSpPr>
        <p:sp>
          <p:nvSpPr>
            <p:cNvPr id="25" name="Rectangle: Rounded Corners 24">
              <a:extLst>
                <a:ext uri="{FF2B5EF4-FFF2-40B4-BE49-F238E27FC236}">
                  <a16:creationId xmlns:a16="http://schemas.microsoft.com/office/drawing/2014/main" id="{D7B5BAA4-D32F-6805-6E53-97D8E70BFA68}"/>
                </a:ext>
              </a:extLst>
            </p:cNvPr>
            <p:cNvSpPr/>
            <p:nvPr/>
          </p:nvSpPr>
          <p:spPr>
            <a:xfrm>
              <a:off x="7327042" y="2920903"/>
              <a:ext cx="2007335" cy="1207025"/>
            </a:xfrm>
            <a:prstGeom prst="roundRect">
              <a:avLst>
                <a:gd name="adj" fmla="val 0"/>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Scotia Light"/>
                <a:ea typeface="+mn-ea"/>
                <a:cs typeface="+mn-cs"/>
              </a:endParaRPr>
            </a:p>
          </p:txBody>
        </p:sp>
        <p:pic>
          <p:nvPicPr>
            <p:cNvPr id="50" name="Picture 49">
              <a:extLst>
                <a:ext uri="{FF2B5EF4-FFF2-40B4-BE49-F238E27FC236}">
                  <a16:creationId xmlns:a16="http://schemas.microsoft.com/office/drawing/2014/main" id="{B73FD9B2-4DC9-A9C8-861D-541DE9DA395C}"/>
                </a:ext>
              </a:extLst>
            </p:cNvPr>
            <p:cNvPicPr>
              <a:picLocks noChangeAspect="1"/>
            </p:cNvPicPr>
            <p:nvPr/>
          </p:nvPicPr>
          <p:blipFill>
            <a:blip r:embed="rId9"/>
            <a:stretch>
              <a:fillRect/>
            </a:stretch>
          </p:blipFill>
          <p:spPr>
            <a:xfrm>
              <a:off x="7348836" y="2954170"/>
              <a:ext cx="1954970" cy="1140490"/>
            </a:xfrm>
            <a:prstGeom prst="rect">
              <a:avLst/>
            </a:prstGeom>
          </p:spPr>
        </p:pic>
      </p:grpSp>
      <p:cxnSp>
        <p:nvCxnSpPr>
          <p:cNvPr id="4" name="Straight Connector 3">
            <a:extLst>
              <a:ext uri="{FF2B5EF4-FFF2-40B4-BE49-F238E27FC236}">
                <a16:creationId xmlns:a16="http://schemas.microsoft.com/office/drawing/2014/main" id="{E7A66126-CB02-D6DC-4B88-99622FA0DA3C}"/>
              </a:ext>
            </a:extLst>
          </p:cNvPr>
          <p:cNvCxnSpPr>
            <a:cxnSpLocks/>
          </p:cNvCxnSpPr>
          <p:nvPr/>
        </p:nvCxnSpPr>
        <p:spPr>
          <a:xfrm>
            <a:off x="593724" y="5860704"/>
            <a:ext cx="6453829" cy="0"/>
          </a:xfrm>
          <a:prstGeom prst="line">
            <a:avLst/>
          </a:prstGeom>
          <a:ln w="15875" cap="rnd">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699478E2-FE80-BFFC-6D37-C9EE22F7D879}"/>
              </a:ext>
            </a:extLst>
          </p:cNvPr>
          <p:cNvSpPr/>
          <p:nvPr/>
        </p:nvSpPr>
        <p:spPr>
          <a:xfrm>
            <a:off x="2113434" y="5729473"/>
            <a:ext cx="3414408" cy="262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050">
                <a:solidFill>
                  <a:schemeClr val="tx1"/>
                </a:solidFill>
              </a:rPr>
              <a:t>Conducted with branch and virtual core working team</a:t>
            </a:r>
          </a:p>
        </p:txBody>
      </p:sp>
      <p:pic>
        <p:nvPicPr>
          <p:cNvPr id="16" name="Picture 15">
            <a:extLst>
              <a:ext uri="{FF2B5EF4-FFF2-40B4-BE49-F238E27FC236}">
                <a16:creationId xmlns:a16="http://schemas.microsoft.com/office/drawing/2014/main" id="{5E8D9203-AE19-44BD-733E-EF9AD2BAF76D}"/>
              </a:ext>
            </a:extLst>
          </p:cNvPr>
          <p:cNvPicPr>
            <a:picLocks noChangeAspect="1"/>
          </p:cNvPicPr>
          <p:nvPr/>
        </p:nvPicPr>
        <p:blipFill>
          <a:blip r:embed="rId10"/>
          <a:stretch>
            <a:fillRect/>
          </a:stretch>
        </p:blipFill>
        <p:spPr>
          <a:xfrm>
            <a:off x="9571387" y="2948888"/>
            <a:ext cx="1954363" cy="1145772"/>
          </a:xfrm>
          <a:prstGeom prst="rect">
            <a:avLst/>
          </a:prstGeom>
        </p:spPr>
      </p:pic>
    </p:spTree>
    <p:extLst>
      <p:ext uri="{BB962C8B-B14F-4D97-AF65-F5344CB8AC3E}">
        <p14:creationId xmlns:p14="http://schemas.microsoft.com/office/powerpoint/2010/main" val="236862539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think-cell data - do not delete" hidden="1">
            <a:extLst>
              <a:ext uri="{FF2B5EF4-FFF2-40B4-BE49-F238E27FC236}">
                <a16:creationId xmlns:a16="http://schemas.microsoft.com/office/drawing/2014/main" id="{16617E8C-47E0-9073-5D61-5C1C4FB23F1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26" name="think-cell data - do not delete" hidden="1">
                        <a:extLst>
                          <a:ext uri="{FF2B5EF4-FFF2-40B4-BE49-F238E27FC236}">
                            <a16:creationId xmlns:a16="http://schemas.microsoft.com/office/drawing/2014/main" id="{16617E8C-47E0-9073-5D61-5C1C4FB23F1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cxnSp>
        <p:nvCxnSpPr>
          <p:cNvPr id="17" name="Straight Connector 16">
            <a:extLst>
              <a:ext uri="{FF2B5EF4-FFF2-40B4-BE49-F238E27FC236}">
                <a16:creationId xmlns:a16="http://schemas.microsoft.com/office/drawing/2014/main" id="{71224A8B-C525-1161-6823-77B1EB934A2F}"/>
              </a:ext>
            </a:extLst>
          </p:cNvPr>
          <p:cNvCxnSpPr>
            <a:cxnSpLocks/>
            <a:endCxn id="75" idx="0"/>
          </p:cNvCxnSpPr>
          <p:nvPr/>
        </p:nvCxnSpPr>
        <p:spPr>
          <a:xfrm>
            <a:off x="4426680" y="2530096"/>
            <a:ext cx="0" cy="1670947"/>
          </a:xfrm>
          <a:prstGeom prst="line">
            <a:avLst/>
          </a:prstGeom>
          <a:ln w="19050">
            <a:solidFill>
              <a:srgbClr val="F2F2F2"/>
            </a:solidFill>
            <a:prstDash val="sysDot"/>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0DF4769B-C4AC-9B22-9D11-1F6F9883EDDE}"/>
              </a:ext>
            </a:extLst>
          </p:cNvPr>
          <p:cNvCxnSpPr>
            <a:cxnSpLocks/>
            <a:stCxn id="75" idx="4"/>
          </p:cNvCxnSpPr>
          <p:nvPr/>
        </p:nvCxnSpPr>
        <p:spPr>
          <a:xfrm>
            <a:off x="4426680" y="4475363"/>
            <a:ext cx="0" cy="1022524"/>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E1CA3F80-FCC2-7430-76D3-C1CB69318702}"/>
              </a:ext>
            </a:extLst>
          </p:cNvPr>
          <p:cNvSpPr>
            <a:spLocks noGrp="1"/>
          </p:cNvSpPr>
          <p:nvPr>
            <p:ph type="title"/>
          </p:nvPr>
        </p:nvSpPr>
        <p:spPr>
          <a:xfrm>
            <a:off x="515940" y="661850"/>
            <a:ext cx="11160124" cy="720000"/>
          </a:xfrm>
        </p:spPr>
        <p:txBody>
          <a:bodyPr vert="horz"/>
          <a:lstStyle/>
          <a:p>
            <a:r>
              <a:rPr lang="en-US">
                <a:solidFill>
                  <a:srgbClr val="EC111A"/>
                </a:solidFill>
              </a:rPr>
              <a:t>Workshop Pre-Read | </a:t>
            </a:r>
            <a:r>
              <a:rPr lang="en-US"/>
              <a:t>Since the last board session, we have continued to progress on the Bank’s Digital Assets Strategy</a:t>
            </a:r>
          </a:p>
        </p:txBody>
      </p:sp>
      <p:sp>
        <p:nvSpPr>
          <p:cNvPr id="3" name="Slide Number Placeholder 2">
            <a:extLst>
              <a:ext uri="{FF2B5EF4-FFF2-40B4-BE49-F238E27FC236}">
                <a16:creationId xmlns:a16="http://schemas.microsoft.com/office/drawing/2014/main" id="{2DBCACD6-3B66-67C1-34FD-6DE5CDC47D29}"/>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11" name="Rectangle 10">
            <a:extLst>
              <a:ext uri="{FF2B5EF4-FFF2-40B4-BE49-F238E27FC236}">
                <a16:creationId xmlns:a16="http://schemas.microsoft.com/office/drawing/2014/main" id="{53291DBD-DEA4-27F7-EDFE-467AD34A25E7}"/>
              </a:ext>
            </a:extLst>
          </p:cNvPr>
          <p:cNvSpPr/>
          <p:nvPr/>
        </p:nvSpPr>
        <p:spPr>
          <a:xfrm>
            <a:off x="468229" y="1807952"/>
            <a:ext cx="3304415" cy="4321386"/>
          </a:xfrm>
          <a:prstGeom prst="rect">
            <a:avLst/>
          </a:prstGeom>
          <a:no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55" name="TextBox 54">
            <a:extLst>
              <a:ext uri="{FF2B5EF4-FFF2-40B4-BE49-F238E27FC236}">
                <a16:creationId xmlns:a16="http://schemas.microsoft.com/office/drawing/2014/main" id="{121E86AB-AB82-BCE5-260A-7F1C772E9998}"/>
              </a:ext>
            </a:extLst>
          </p:cNvPr>
          <p:cNvSpPr txBox="1"/>
          <p:nvPr/>
        </p:nvSpPr>
        <p:spPr>
          <a:xfrm>
            <a:off x="515934" y="2075211"/>
            <a:ext cx="2929365" cy="292388"/>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50" b="0" i="0" u="none" strike="noStrike" kern="1200" cap="none" spc="0" normalizeH="0" baseline="0" noProof="0">
                <a:ln>
                  <a:noFill/>
                </a:ln>
                <a:solidFill>
                  <a:srgbClr val="000000"/>
                </a:solidFill>
                <a:effectLst/>
                <a:uLnTx/>
                <a:uFillTx/>
                <a:latin typeface="Scotia"/>
                <a:ea typeface="+mn-ea"/>
                <a:cs typeface="+mn-cs"/>
              </a:rPr>
              <a:t>At the December Board session, </a:t>
            </a:r>
            <a:r>
              <a:rPr kumimoji="0" lang="en-US" sz="950" b="1" i="0" u="none" strike="noStrike" kern="1200" cap="none" spc="0" normalizeH="0" baseline="0" noProof="0">
                <a:ln>
                  <a:noFill/>
                </a:ln>
                <a:solidFill>
                  <a:srgbClr val="000000"/>
                </a:solidFill>
                <a:effectLst/>
                <a:uLnTx/>
                <a:uFillTx/>
                <a:latin typeface="Scotia"/>
                <a:ea typeface="+mn-ea"/>
                <a:cs typeface="+mn-cs"/>
              </a:rPr>
              <a:t>digital assets were discussed as a strategic opportunity</a:t>
            </a:r>
            <a:endParaRPr kumimoji="0" lang="en-US" sz="950" b="0" i="0" u="none" strike="noStrike" kern="1200" cap="none" spc="0" normalizeH="0" baseline="0" noProof="0">
              <a:ln>
                <a:noFill/>
              </a:ln>
              <a:solidFill>
                <a:srgbClr val="000000"/>
              </a:solidFill>
              <a:effectLst/>
              <a:uLnTx/>
              <a:uFillTx/>
              <a:latin typeface="Scotia"/>
              <a:ea typeface="+mn-ea"/>
              <a:cs typeface="+mn-cs"/>
            </a:endParaRPr>
          </a:p>
        </p:txBody>
      </p:sp>
      <p:sp>
        <p:nvSpPr>
          <p:cNvPr id="4" name="Text Placeholder 4">
            <a:extLst>
              <a:ext uri="{FF2B5EF4-FFF2-40B4-BE49-F238E27FC236}">
                <a16:creationId xmlns:a16="http://schemas.microsoft.com/office/drawing/2014/main" id="{5E2D423C-1B84-4689-540F-D4C0382E1272}"/>
              </a:ext>
            </a:extLst>
          </p:cNvPr>
          <p:cNvSpPr>
            <a:spLocks noGrp="1"/>
          </p:cNvSpPr>
          <p:nvPr>
            <p:ph type="body" sz="quarter" idx="13"/>
          </p:nvPr>
        </p:nvSpPr>
        <p:spPr>
          <a:xfrm>
            <a:off x="515938" y="342857"/>
            <a:ext cx="5400000" cy="180000"/>
          </a:xfrm>
        </p:spPr>
        <p:txBody>
          <a:bodyPr/>
          <a:lstStyle/>
          <a:p>
            <a:r>
              <a:rPr lang="en-US"/>
              <a:t>WORKSHOP PRE-READ</a:t>
            </a:r>
          </a:p>
        </p:txBody>
      </p:sp>
      <p:sp>
        <p:nvSpPr>
          <p:cNvPr id="96" name="Text Placeholder 5">
            <a:extLst>
              <a:ext uri="{FF2B5EF4-FFF2-40B4-BE49-F238E27FC236}">
                <a16:creationId xmlns:a16="http://schemas.microsoft.com/office/drawing/2014/main" id="{6C8BCE6A-7FB9-54B3-2F73-8F8D7C34D325}"/>
              </a:ext>
            </a:extLst>
          </p:cNvPr>
          <p:cNvSpPr txBox="1">
            <a:spLocks/>
          </p:cNvSpPr>
          <p:nvPr/>
        </p:nvSpPr>
        <p:spPr>
          <a:xfrm>
            <a:off x="515937" y="1830072"/>
            <a:ext cx="963243" cy="278895"/>
          </a:xfrm>
          <a:prstGeom prst="rect">
            <a:avLst/>
          </a:prstGeom>
          <a:noFill/>
        </p:spPr>
        <p:txBody>
          <a:bodyPr lIns="0" anchor="ct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l" defTabSz="914411" rtl="0" eaLnBrk="1" fontAlgn="auto" latinLnBrk="0" hangingPunct="1">
              <a:lnSpc>
                <a:spcPct val="100000"/>
              </a:lnSpc>
              <a:spcBef>
                <a:spcPts val="0"/>
              </a:spcBef>
              <a:spcAft>
                <a:spcPts val="0"/>
              </a:spcAft>
              <a:buClr>
                <a:srgbClr val="000000"/>
              </a:buClr>
              <a:buSzTx/>
              <a:buFont typeface="Arial" panose="020B0604020202020204" pitchFamily="34" charset="0"/>
              <a:buNone/>
              <a:tabLst/>
              <a:defRPr/>
            </a:pPr>
            <a:r>
              <a:rPr kumimoji="0" lang="en-US" sz="1000" b="1" i="0" u="none" strike="noStrike" kern="1200" cap="all" spc="200" normalizeH="0" baseline="0" noProof="0">
                <a:ln>
                  <a:noFill/>
                </a:ln>
                <a:solidFill>
                  <a:srgbClr val="000000"/>
                </a:solidFill>
                <a:effectLst/>
                <a:uLnTx/>
                <a:uFillTx/>
                <a:latin typeface="Scotia"/>
                <a:ea typeface="+mn-ea"/>
                <a:cs typeface="+mn-cs"/>
              </a:rPr>
              <a:t>RECALL</a:t>
            </a:r>
            <a:endParaRPr kumimoji="0" lang="en-CA" sz="1000" b="1" i="0" u="none" strike="noStrike" kern="1200" cap="all" spc="200" normalizeH="0" baseline="0" noProof="0">
              <a:ln>
                <a:noFill/>
              </a:ln>
              <a:solidFill>
                <a:srgbClr val="000000"/>
              </a:solidFill>
              <a:effectLst/>
              <a:uLnTx/>
              <a:uFillTx/>
              <a:latin typeface="Scotia"/>
              <a:ea typeface="+mn-ea"/>
              <a:cs typeface="+mn-cs"/>
            </a:endParaRPr>
          </a:p>
        </p:txBody>
      </p:sp>
      <p:cxnSp>
        <p:nvCxnSpPr>
          <p:cNvPr id="13" name="Straight Connector 12">
            <a:extLst>
              <a:ext uri="{FF2B5EF4-FFF2-40B4-BE49-F238E27FC236}">
                <a16:creationId xmlns:a16="http://schemas.microsoft.com/office/drawing/2014/main" id="{3C58AF3D-FC9B-55C4-A7E8-1AD8107BECCA}"/>
              </a:ext>
            </a:extLst>
          </p:cNvPr>
          <p:cNvCxnSpPr>
            <a:cxnSpLocks/>
          </p:cNvCxnSpPr>
          <p:nvPr/>
        </p:nvCxnSpPr>
        <p:spPr>
          <a:xfrm flipV="1">
            <a:off x="3862149" y="1735061"/>
            <a:ext cx="0" cy="4212144"/>
          </a:xfrm>
          <a:prstGeom prst="line">
            <a:avLst/>
          </a:prstGeom>
          <a:ln w="190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DD46E00D-0F4C-C0BD-0A73-58F3BFB2E2D7}"/>
              </a:ext>
            </a:extLst>
          </p:cNvPr>
          <p:cNvGrpSpPr/>
          <p:nvPr/>
        </p:nvGrpSpPr>
        <p:grpSpPr>
          <a:xfrm>
            <a:off x="3718149" y="1874675"/>
            <a:ext cx="288000" cy="288000"/>
            <a:chOff x="3646707" y="1788260"/>
            <a:chExt cx="288000" cy="272104"/>
          </a:xfrm>
        </p:grpSpPr>
        <p:sp>
          <p:nvSpPr>
            <p:cNvPr id="14" name="Oval 13">
              <a:extLst>
                <a:ext uri="{FF2B5EF4-FFF2-40B4-BE49-F238E27FC236}">
                  <a16:creationId xmlns:a16="http://schemas.microsoft.com/office/drawing/2014/main" id="{774A5937-614C-AF5E-4BE7-176C4E790A91}"/>
                </a:ext>
              </a:extLst>
            </p:cNvPr>
            <p:cNvSpPr/>
            <p:nvPr/>
          </p:nvSpPr>
          <p:spPr>
            <a:xfrm>
              <a:off x="3646707" y="1788260"/>
              <a:ext cx="288000" cy="272104"/>
            </a:xfrm>
            <a:prstGeom prst="ellipse">
              <a:avLst/>
            </a:prstGeom>
            <a:solidFill>
              <a:schemeClr val="bg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15" name="Isosceles Triangle 14">
              <a:extLst>
                <a:ext uri="{FF2B5EF4-FFF2-40B4-BE49-F238E27FC236}">
                  <a16:creationId xmlns:a16="http://schemas.microsoft.com/office/drawing/2014/main" id="{756A65B8-932F-B2E0-C96D-756020454E9B}"/>
                </a:ext>
              </a:extLst>
            </p:cNvPr>
            <p:cNvSpPr/>
            <p:nvPr/>
          </p:nvSpPr>
          <p:spPr>
            <a:xfrm rot="5400000">
              <a:off x="3726705" y="1880938"/>
              <a:ext cx="156662" cy="86750"/>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grpSp>
      <p:sp>
        <p:nvSpPr>
          <p:cNvPr id="27" name="Text Placeholder 5">
            <a:extLst>
              <a:ext uri="{FF2B5EF4-FFF2-40B4-BE49-F238E27FC236}">
                <a16:creationId xmlns:a16="http://schemas.microsoft.com/office/drawing/2014/main" id="{08CD9DA9-F7F7-0075-EE0D-3254539E8600}"/>
              </a:ext>
            </a:extLst>
          </p:cNvPr>
          <p:cNvSpPr txBox="1">
            <a:spLocks/>
          </p:cNvSpPr>
          <p:nvPr/>
        </p:nvSpPr>
        <p:spPr>
          <a:xfrm>
            <a:off x="515936" y="2514264"/>
            <a:ext cx="1764000" cy="278895"/>
          </a:xfrm>
          <a:prstGeom prst="rect">
            <a:avLst/>
          </a:prstGeom>
          <a:noFill/>
        </p:spPr>
        <p:txBody>
          <a:bodyPr lIns="0" anchor="ct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l" defTabSz="914411" rtl="0" eaLnBrk="1" fontAlgn="auto" latinLnBrk="0" hangingPunct="1">
              <a:lnSpc>
                <a:spcPct val="100000"/>
              </a:lnSpc>
              <a:spcBef>
                <a:spcPts val="0"/>
              </a:spcBef>
              <a:spcAft>
                <a:spcPts val="0"/>
              </a:spcAft>
              <a:buClr>
                <a:srgbClr val="000000"/>
              </a:buClr>
              <a:buSzTx/>
              <a:buFont typeface="Arial" panose="020B0604020202020204" pitchFamily="34" charset="0"/>
              <a:buNone/>
              <a:tabLst/>
              <a:defRPr/>
            </a:pPr>
            <a:r>
              <a:rPr kumimoji="0" lang="en-US" sz="1000" b="1" i="0" u="none" strike="noStrike" kern="1200" cap="all" spc="200" normalizeH="0" baseline="0" noProof="0">
                <a:ln>
                  <a:noFill/>
                </a:ln>
                <a:solidFill>
                  <a:srgbClr val="000000"/>
                </a:solidFill>
                <a:effectLst/>
                <a:uLnTx/>
                <a:uFillTx/>
                <a:latin typeface="Scotia"/>
                <a:ea typeface="+mn-ea"/>
                <a:cs typeface="+mn-cs"/>
              </a:rPr>
              <a:t>UPDATES PROVIDED</a:t>
            </a:r>
            <a:endParaRPr kumimoji="0" lang="en-CA" sz="1000" b="1" i="0" u="none" strike="noStrike" kern="1200" cap="all" spc="200" normalizeH="0" baseline="0" noProof="0">
              <a:ln>
                <a:noFill/>
              </a:ln>
              <a:solidFill>
                <a:srgbClr val="000000"/>
              </a:solidFill>
              <a:effectLst/>
              <a:uLnTx/>
              <a:uFillTx/>
              <a:latin typeface="Scotia"/>
              <a:ea typeface="+mn-ea"/>
              <a:cs typeface="+mn-cs"/>
            </a:endParaRPr>
          </a:p>
        </p:txBody>
      </p:sp>
      <p:sp>
        <p:nvSpPr>
          <p:cNvPr id="22" name="TextBox 21">
            <a:extLst>
              <a:ext uri="{FF2B5EF4-FFF2-40B4-BE49-F238E27FC236}">
                <a16:creationId xmlns:a16="http://schemas.microsoft.com/office/drawing/2014/main" id="{26B0EA32-CAA3-B559-F598-6FDA1B268B18}"/>
              </a:ext>
            </a:extLst>
          </p:cNvPr>
          <p:cNvSpPr txBox="1"/>
          <p:nvPr/>
        </p:nvSpPr>
        <p:spPr>
          <a:xfrm>
            <a:off x="515936" y="2815874"/>
            <a:ext cx="2929359" cy="2621230"/>
          </a:xfrm>
          <a:prstGeom prst="rect">
            <a:avLst/>
          </a:prstGeom>
          <a:noFill/>
        </p:spPr>
        <p:txBody>
          <a:bodyPr wrap="square" lIns="0" tIns="0" rIns="0" bIns="0" rtlCol="0" anchor="t">
            <a:spAutoFit/>
          </a:bodyPr>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950" b="1" i="0" u="none" strike="noStrike" kern="1200" cap="none" spc="0" normalizeH="0" baseline="0" noProof="0">
                <a:ln>
                  <a:noFill/>
                </a:ln>
                <a:solidFill>
                  <a:srgbClr val="EC111A"/>
                </a:solidFill>
                <a:effectLst/>
                <a:uLnTx/>
                <a:uFillTx/>
                <a:latin typeface="Scotia"/>
                <a:ea typeface="+mn-ea"/>
                <a:cs typeface="+mn-cs"/>
              </a:rPr>
              <a:t>Industry landscape: </a:t>
            </a:r>
            <a:r>
              <a:rPr kumimoji="0" lang="en-US" sz="950" b="1" i="0" u="none" strike="noStrike" kern="1200" cap="none" spc="0" normalizeH="0" baseline="0" noProof="0">
                <a:ln>
                  <a:noFill/>
                </a:ln>
                <a:solidFill>
                  <a:srgbClr val="000000"/>
                </a:solidFill>
                <a:effectLst/>
                <a:uLnTx/>
                <a:uFillTx/>
                <a:latin typeface="Scotia"/>
                <a:ea typeface="+mn-ea"/>
                <a:cs typeface="+mn-cs"/>
              </a:rPr>
              <a:t>Players are pursuing a range of digital asset initiatives</a:t>
            </a:r>
            <a:r>
              <a:rPr kumimoji="0" lang="en-US" sz="950" b="0" i="0" u="none" strike="noStrike" kern="1200" cap="none" spc="0" normalizeH="0" baseline="0" noProof="0">
                <a:ln>
                  <a:noFill/>
                </a:ln>
                <a:solidFill>
                  <a:srgbClr val="000000"/>
                </a:solidFill>
                <a:effectLst/>
                <a:uLnTx/>
                <a:uFillTx/>
                <a:latin typeface="Scotia"/>
                <a:ea typeface="+mn-ea"/>
                <a:cs typeface="+mn-cs"/>
              </a:rPr>
              <a:t>, from tokenizing deposits to joining global consortiums</a:t>
            </a:r>
            <a:endParaRPr kumimoji="0" lang="en-US" sz="950" b="1"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950" b="1" i="0" u="none" strike="noStrike" kern="1200" cap="none" spc="0" normalizeH="0" baseline="0" noProof="0">
                <a:ln>
                  <a:noFill/>
                </a:ln>
                <a:solidFill>
                  <a:srgbClr val="EC111A"/>
                </a:solidFill>
                <a:effectLst/>
                <a:uLnTx/>
                <a:uFillTx/>
                <a:latin typeface="Scotia"/>
                <a:ea typeface="+mn-ea"/>
                <a:cs typeface="+mn-cs"/>
              </a:rPr>
              <a:t>Regulatory and industry developments:</a:t>
            </a:r>
            <a:r>
              <a:rPr kumimoji="0" lang="en-US" sz="950" b="0" i="0" u="none" strike="noStrike" kern="1200" cap="none" spc="0" normalizeH="0" baseline="0" noProof="0">
                <a:ln>
                  <a:noFill/>
                </a:ln>
                <a:solidFill>
                  <a:srgbClr val="EC111A"/>
                </a:solidFill>
                <a:effectLst/>
                <a:uLnTx/>
                <a:uFillTx/>
                <a:latin typeface="Scotia"/>
                <a:ea typeface="+mn-ea"/>
                <a:cs typeface="+mn-cs"/>
              </a:rPr>
              <a:t> </a:t>
            </a:r>
            <a:br>
              <a:rPr kumimoji="0" lang="en-US" sz="950" b="0" i="0" u="none" strike="noStrike" kern="1200" cap="none" spc="0" normalizeH="0" baseline="0" noProof="0">
                <a:ln>
                  <a:noFill/>
                </a:ln>
                <a:solidFill>
                  <a:srgbClr val="EC111A"/>
                </a:solidFill>
                <a:effectLst/>
                <a:uLnTx/>
                <a:uFillTx/>
                <a:latin typeface="Scotia"/>
                <a:ea typeface="+mn-ea"/>
                <a:cs typeface="+mn-cs"/>
              </a:rPr>
            </a:br>
            <a:r>
              <a:rPr kumimoji="0" lang="en-US" sz="950" b="0" i="0" u="none" strike="noStrike" kern="1200" cap="none" spc="0" normalizeH="0" baseline="0" noProof="0">
                <a:ln>
                  <a:noFill/>
                </a:ln>
                <a:solidFill>
                  <a:srgbClr val="000000"/>
                </a:solidFill>
                <a:effectLst/>
                <a:uLnTx/>
                <a:uFillTx/>
                <a:latin typeface="Scotia"/>
                <a:ea typeface="+mn-ea"/>
                <a:cs typeface="+mn-cs"/>
              </a:rPr>
              <a:t>The</a:t>
            </a:r>
            <a:r>
              <a:rPr kumimoji="0" lang="en-US" sz="950" b="0" i="0" u="none" strike="noStrike" kern="1200" cap="none" spc="0" normalizeH="0" baseline="0" noProof="0">
                <a:ln>
                  <a:noFill/>
                </a:ln>
                <a:solidFill>
                  <a:srgbClr val="EC111A"/>
                </a:solidFill>
                <a:effectLst/>
                <a:uLnTx/>
                <a:uFillTx/>
                <a:latin typeface="Scotia"/>
                <a:ea typeface="+mn-ea"/>
                <a:cs typeface="+mn-cs"/>
              </a:rPr>
              <a:t> </a:t>
            </a:r>
            <a:r>
              <a:rPr kumimoji="0" lang="en-US" sz="950" b="0" i="0" u="none" strike="noStrike" kern="1200" cap="none" spc="0" normalizeH="0" baseline="0" noProof="0">
                <a:ln>
                  <a:noFill/>
                </a:ln>
                <a:solidFill>
                  <a:srgbClr val="000000"/>
                </a:solidFill>
                <a:effectLst/>
                <a:uLnTx/>
                <a:uFillTx/>
                <a:latin typeface="Scotia"/>
                <a:ea typeface="+mn-ea"/>
                <a:cs typeface="+mn-cs"/>
              </a:rPr>
              <a:t>Canadian government recently</a:t>
            </a:r>
            <a:r>
              <a:rPr kumimoji="0" lang="en-US" sz="950" b="1" i="0" u="none" strike="noStrike" kern="1200" cap="none" spc="0" normalizeH="0" baseline="0" noProof="0">
                <a:ln>
                  <a:noFill/>
                </a:ln>
                <a:solidFill>
                  <a:srgbClr val="000000"/>
                </a:solidFill>
                <a:effectLst/>
                <a:uLnTx/>
                <a:uFillTx/>
                <a:latin typeface="Scotia"/>
                <a:ea typeface="+mn-ea"/>
                <a:cs typeface="+mn-cs"/>
              </a:rPr>
              <a:t> introduced legislation for non-OSFI regulated players</a:t>
            </a:r>
            <a:r>
              <a:rPr kumimoji="0" lang="en-US" sz="950" b="0" i="0" u="none" strike="noStrike" kern="1200" cap="none" spc="0" normalizeH="0" baseline="0" noProof="0">
                <a:ln>
                  <a:noFill/>
                </a:ln>
                <a:solidFill>
                  <a:srgbClr val="000000"/>
                </a:solidFill>
                <a:effectLst/>
                <a:uLnTx/>
                <a:uFillTx/>
                <a:latin typeface="Scotia"/>
                <a:ea typeface="+mn-ea"/>
                <a:cs typeface="+mn-cs"/>
              </a:rPr>
              <a:t>,</a:t>
            </a:r>
            <a:r>
              <a:rPr kumimoji="0" lang="en-US" sz="950" b="1" i="0" u="none" strike="noStrike" kern="1200" cap="none" spc="0" normalizeH="0" baseline="0" noProof="0">
                <a:ln>
                  <a:noFill/>
                </a:ln>
                <a:solidFill>
                  <a:srgbClr val="000000"/>
                </a:solidFill>
                <a:effectLst/>
                <a:uLnTx/>
                <a:uFillTx/>
                <a:latin typeface="Scotia"/>
                <a:ea typeface="+mn-ea"/>
                <a:cs typeface="+mn-cs"/>
              </a:rPr>
              <a:t> </a:t>
            </a:r>
            <a:r>
              <a:rPr kumimoji="0" lang="en-US" sz="950" b="0" i="0" u="none" strike="noStrike" kern="1200" cap="none" spc="0" normalizeH="0" baseline="0" noProof="0">
                <a:ln>
                  <a:noFill/>
                </a:ln>
                <a:solidFill>
                  <a:srgbClr val="000000"/>
                </a:solidFill>
                <a:effectLst/>
                <a:uLnTx/>
                <a:uFillTx/>
                <a:latin typeface="Scotia"/>
                <a:ea typeface="+mn-ea"/>
                <a:cs typeface="+mn-cs"/>
              </a:rPr>
              <a:t>while there are several developments in the industry influencing the digital assets space</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950" b="1" i="0" u="none" strike="noStrike" kern="1200" cap="none" spc="0" normalizeH="0" baseline="0" noProof="0">
                <a:ln>
                  <a:noFill/>
                </a:ln>
                <a:solidFill>
                  <a:srgbClr val="EC111A"/>
                </a:solidFill>
                <a:effectLst/>
                <a:uLnTx/>
                <a:uFillTx/>
                <a:latin typeface="Scotia"/>
                <a:ea typeface="+mn-ea"/>
                <a:cs typeface="+mn-cs"/>
              </a:rPr>
              <a:t>Collaboration between banks:</a:t>
            </a:r>
            <a:r>
              <a:rPr kumimoji="0" lang="en-US" sz="950" b="1" i="0" u="none" strike="noStrike" kern="1200" cap="none" spc="0" normalizeH="0" baseline="0" noProof="0">
                <a:ln>
                  <a:noFill/>
                </a:ln>
                <a:solidFill>
                  <a:srgbClr val="000000"/>
                </a:solidFill>
                <a:effectLst/>
                <a:uLnTx/>
                <a:uFillTx/>
                <a:latin typeface="Scotia"/>
                <a:ea typeface="+mn-ea"/>
                <a:cs typeface="+mn-cs"/>
              </a:rPr>
              <a:t> </a:t>
            </a:r>
            <a:r>
              <a:rPr kumimoji="0" lang="en-US" sz="950" b="0" i="0" u="none" strike="noStrike" kern="1200" cap="none" spc="0" normalizeH="0" baseline="0" noProof="0">
                <a:ln>
                  <a:noFill/>
                </a:ln>
                <a:solidFill>
                  <a:srgbClr val="000000"/>
                </a:solidFill>
                <a:effectLst/>
                <a:uLnTx/>
                <a:uFillTx/>
                <a:latin typeface="Scotia"/>
                <a:ea typeface="+mn-ea"/>
                <a:cs typeface="+mn-cs"/>
              </a:rPr>
              <a:t>In the absence of clear regulatory guidance for OSFI-regulated institutions, </a:t>
            </a:r>
            <a:r>
              <a:rPr kumimoji="0" lang="en-US" sz="950" b="1" i="0" u="none" strike="noStrike" kern="1200" cap="none" spc="0" normalizeH="0" baseline="0" noProof="0">
                <a:ln>
                  <a:noFill/>
                </a:ln>
                <a:solidFill>
                  <a:srgbClr val="000000"/>
                </a:solidFill>
                <a:effectLst/>
                <a:uLnTx/>
                <a:uFillTx/>
                <a:latin typeface="Scotia"/>
                <a:ea typeface="+mn-ea"/>
                <a:cs typeface="+mn-cs"/>
              </a:rPr>
              <a:t>banks are collaborating through the CBA to advocate for a comprehensive framework</a:t>
            </a:r>
          </a:p>
          <a:p>
            <a:pPr marL="177800" marR="0" lvl="0" indent="-177800" algn="l" defTabSz="914400" rtl="0" eaLnBrk="1" fontAlgn="auto" latinLnBrk="0" hangingPunct="1">
              <a:lnSpc>
                <a:spcPct val="100000"/>
              </a:lnSpc>
              <a:spcBef>
                <a:spcPts val="1000"/>
              </a:spcBef>
              <a:spcAft>
                <a:spcPts val="0"/>
              </a:spcAft>
              <a:buClr>
                <a:srgbClr val="FFFFFF"/>
              </a:buClr>
              <a:buSzTx/>
              <a:buFont typeface="Arial" panose="020B0604020202020204" pitchFamily="34" charset="0"/>
              <a:buChar char="•"/>
              <a:tabLst/>
              <a:defRPr/>
            </a:pPr>
            <a:r>
              <a:rPr kumimoji="0" lang="en-US" sz="950" b="1" i="0" u="none" strike="noStrike" kern="1200" cap="none" spc="0" normalizeH="0" baseline="0" noProof="0">
                <a:ln>
                  <a:noFill/>
                </a:ln>
                <a:solidFill>
                  <a:srgbClr val="EC111A"/>
                </a:solidFill>
                <a:effectLst/>
                <a:uLnTx/>
                <a:uFillTx/>
                <a:latin typeface="Scotia"/>
                <a:ea typeface="+mn-ea"/>
                <a:cs typeface="+mn-cs"/>
              </a:rPr>
              <a:t>Digital Assets Strategy approach:</a:t>
            </a:r>
            <a:r>
              <a:rPr kumimoji="0" lang="en-US" sz="950" b="1" i="0" u="none" strike="noStrike" kern="1200" cap="none" spc="0" normalizeH="0" baseline="0" noProof="0">
                <a:ln>
                  <a:noFill/>
                </a:ln>
                <a:solidFill>
                  <a:srgbClr val="000000"/>
                </a:solidFill>
                <a:effectLst/>
                <a:uLnTx/>
                <a:uFillTx/>
                <a:latin typeface="Scotia"/>
                <a:ea typeface="+mn-ea"/>
                <a:cs typeface="+mn-cs"/>
              </a:rPr>
              <a:t> </a:t>
            </a:r>
            <a:r>
              <a:rPr kumimoji="0" lang="en-US" sz="950" b="0" i="0" u="none" strike="noStrike" kern="1200" cap="none" spc="0" normalizeH="0" baseline="0" noProof="0">
                <a:ln>
                  <a:noFill/>
                </a:ln>
                <a:solidFill>
                  <a:srgbClr val="000000"/>
                </a:solidFill>
                <a:effectLst/>
                <a:uLnTx/>
                <a:uFillTx/>
                <a:latin typeface="Scotia"/>
                <a:ea typeface="+mn-ea"/>
                <a:cs typeface="+mn-cs"/>
              </a:rPr>
              <a:t>We have aligned on an enterprise approach to define the Digital Assets Strategy for the Bank with specific considerations by market (e.g., Canada, US, Latam)</a:t>
            </a:r>
          </a:p>
        </p:txBody>
      </p:sp>
      <p:sp>
        <p:nvSpPr>
          <p:cNvPr id="60" name="Rectangle 59">
            <a:extLst>
              <a:ext uri="{FF2B5EF4-FFF2-40B4-BE49-F238E27FC236}">
                <a16:creationId xmlns:a16="http://schemas.microsoft.com/office/drawing/2014/main" id="{A4B9923B-B77F-C5F1-A9E5-6652469C9DC4}"/>
              </a:ext>
            </a:extLst>
          </p:cNvPr>
          <p:cNvSpPr/>
          <p:nvPr/>
        </p:nvSpPr>
        <p:spPr>
          <a:xfrm>
            <a:off x="529167" y="4782801"/>
            <a:ext cx="3084890" cy="886480"/>
          </a:xfrm>
          <a:prstGeom prst="rect">
            <a:avLst/>
          </a:prstGeom>
          <a:noFill/>
          <a:ln>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1" name="TextBox 60">
            <a:extLst>
              <a:ext uri="{FF2B5EF4-FFF2-40B4-BE49-F238E27FC236}">
                <a16:creationId xmlns:a16="http://schemas.microsoft.com/office/drawing/2014/main" id="{B94EA7C7-F5E0-02B9-4B2D-2FD2CAB57FBF}"/>
              </a:ext>
            </a:extLst>
          </p:cNvPr>
          <p:cNvSpPr txBox="1"/>
          <p:nvPr/>
        </p:nvSpPr>
        <p:spPr>
          <a:xfrm>
            <a:off x="672543" y="5459819"/>
            <a:ext cx="2762236" cy="2308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EC111A"/>
                </a:solidFill>
                <a:effectLst/>
                <a:uLnTx/>
                <a:uFillTx/>
                <a:latin typeface="Scotia"/>
                <a:ea typeface="+mn-ea"/>
                <a:cs typeface="+mn-cs"/>
              </a:rPr>
              <a:t>Working session scheduled for Dec 11th</a:t>
            </a:r>
          </a:p>
        </p:txBody>
      </p:sp>
      <p:sp>
        <p:nvSpPr>
          <p:cNvPr id="33" name="Rectangle 32">
            <a:extLst>
              <a:ext uri="{FF2B5EF4-FFF2-40B4-BE49-F238E27FC236}">
                <a16:creationId xmlns:a16="http://schemas.microsoft.com/office/drawing/2014/main" id="{CC4F78AE-C20D-5E23-ED0B-7FD2E1F6654C}"/>
              </a:ext>
            </a:extLst>
          </p:cNvPr>
          <p:cNvSpPr/>
          <p:nvPr/>
        </p:nvSpPr>
        <p:spPr>
          <a:xfrm>
            <a:off x="4644651" y="2168489"/>
            <a:ext cx="1979525" cy="448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FFFFFF">
                    <a:lumMod val="50000"/>
                  </a:srgbClr>
                </a:solidFill>
                <a:effectLst/>
                <a:uLnTx/>
                <a:uFillTx/>
                <a:latin typeface="Scotia"/>
                <a:ea typeface="+mn-ea"/>
                <a:cs typeface="+mn-cs"/>
              </a:rPr>
              <a:t>September sessions</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FFFFFF">
                    <a:lumMod val="50000"/>
                  </a:srgbClr>
                </a:solidFill>
                <a:effectLst/>
                <a:uLnTx/>
                <a:uFillTx/>
                <a:latin typeface="Scotia"/>
                <a:ea typeface="+mn-ea"/>
                <a:cs typeface="+mn-cs"/>
              </a:rPr>
              <a:t>(OpCo &amp; Board)</a:t>
            </a:r>
          </a:p>
        </p:txBody>
      </p:sp>
      <p:sp>
        <p:nvSpPr>
          <p:cNvPr id="8" name="Oval 7">
            <a:extLst>
              <a:ext uri="{FF2B5EF4-FFF2-40B4-BE49-F238E27FC236}">
                <a16:creationId xmlns:a16="http://schemas.microsoft.com/office/drawing/2014/main" id="{CE30FBE5-22D9-3F48-295C-A47C841D2B8B}"/>
              </a:ext>
            </a:extLst>
          </p:cNvPr>
          <p:cNvSpPr/>
          <p:nvPr/>
        </p:nvSpPr>
        <p:spPr>
          <a:xfrm>
            <a:off x="4289520" y="2255774"/>
            <a:ext cx="274320" cy="27432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FFFFFF">
                  <a:lumMod val="50000"/>
                </a:srgbClr>
              </a:solidFill>
              <a:effectLst/>
              <a:uLnTx/>
              <a:uFillTx/>
              <a:latin typeface="Scotia"/>
              <a:ea typeface="+mn-ea"/>
              <a:cs typeface="+mn-cs"/>
            </a:endParaRPr>
          </a:p>
        </p:txBody>
      </p:sp>
      <p:pic>
        <p:nvPicPr>
          <p:cNvPr id="30" name="Graphic 29" descr="Daily calendar with solid fill">
            <a:extLst>
              <a:ext uri="{FF2B5EF4-FFF2-40B4-BE49-F238E27FC236}">
                <a16:creationId xmlns:a16="http://schemas.microsoft.com/office/drawing/2014/main" id="{F57F0C6D-3D03-C3D0-D5FF-7D5AEE5731D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324746" y="2291000"/>
            <a:ext cx="203867" cy="203867"/>
          </a:xfrm>
          <a:prstGeom prst="rect">
            <a:avLst/>
          </a:prstGeom>
        </p:spPr>
      </p:pic>
      <p:sp>
        <p:nvSpPr>
          <p:cNvPr id="52" name="Rectangle 51">
            <a:extLst>
              <a:ext uri="{FF2B5EF4-FFF2-40B4-BE49-F238E27FC236}">
                <a16:creationId xmlns:a16="http://schemas.microsoft.com/office/drawing/2014/main" id="{AA1A07A7-1FA9-107B-D44A-84539F581FED}"/>
              </a:ext>
            </a:extLst>
          </p:cNvPr>
          <p:cNvSpPr/>
          <p:nvPr/>
        </p:nvSpPr>
        <p:spPr>
          <a:xfrm>
            <a:off x="6629528" y="2161185"/>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CA" sz="1050" b="0" i="0" u="none" strike="noStrike" kern="1200" cap="none" spc="0" normalizeH="0" baseline="0" noProof="0">
                <a:ln>
                  <a:noFill/>
                </a:ln>
                <a:solidFill>
                  <a:srgbClr val="FFFFFF">
                    <a:lumMod val="50000"/>
                  </a:srgbClr>
                </a:solidFill>
                <a:effectLst/>
                <a:uLnTx/>
                <a:uFillTx/>
                <a:latin typeface="Scotia"/>
                <a:ea typeface="+mn-ea"/>
                <a:cs typeface="+mn-cs"/>
              </a:rPr>
              <a:t>Shared a primer on digital assets and ongoing U.S. developments</a:t>
            </a:r>
          </a:p>
        </p:txBody>
      </p:sp>
      <p:sp>
        <p:nvSpPr>
          <p:cNvPr id="57" name="Rectangle 56">
            <a:extLst>
              <a:ext uri="{FF2B5EF4-FFF2-40B4-BE49-F238E27FC236}">
                <a16:creationId xmlns:a16="http://schemas.microsoft.com/office/drawing/2014/main" id="{4AFA9A27-1402-C731-70DD-703CF3787442}"/>
              </a:ext>
            </a:extLst>
          </p:cNvPr>
          <p:cNvSpPr/>
          <p:nvPr/>
        </p:nvSpPr>
        <p:spPr>
          <a:xfrm>
            <a:off x="4644651" y="2816912"/>
            <a:ext cx="1979525" cy="448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FFFFFF">
                    <a:lumMod val="50000"/>
                  </a:srgbClr>
                </a:solidFill>
                <a:effectLst/>
                <a:uLnTx/>
                <a:uFillTx/>
                <a:latin typeface="Scotia"/>
                <a:ea typeface="+mn-ea"/>
                <a:cs typeface="+mn-cs"/>
              </a:rPr>
              <a:t>Kick-Off</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FFFFFF">
                    <a:lumMod val="50000"/>
                  </a:srgbClr>
                </a:solidFill>
                <a:effectLst/>
                <a:uLnTx/>
                <a:uFillTx/>
                <a:latin typeface="Scotia"/>
                <a:ea typeface="+mn-ea"/>
                <a:cs typeface="+mn-cs"/>
              </a:rPr>
              <a:t>(November 17</a:t>
            </a:r>
            <a:r>
              <a:rPr kumimoji="0" lang="en-CA" sz="1000" b="0" i="0" u="none" strike="noStrike" kern="1200" cap="none" spc="0" normalizeH="0" baseline="30000" noProof="0">
                <a:ln>
                  <a:noFill/>
                </a:ln>
                <a:solidFill>
                  <a:srgbClr val="FFFFFF">
                    <a:lumMod val="50000"/>
                  </a:srgbClr>
                </a:solidFill>
                <a:effectLst/>
                <a:uLnTx/>
                <a:uFillTx/>
                <a:latin typeface="Scotia"/>
                <a:ea typeface="+mn-ea"/>
                <a:cs typeface="+mn-cs"/>
              </a:rPr>
              <a:t>th</a:t>
            </a:r>
            <a:r>
              <a:rPr kumimoji="0" lang="en-CA" sz="1000" b="0" i="0" u="none" strike="noStrike" kern="1200" cap="none" spc="0" normalizeH="0" baseline="0" noProof="0">
                <a:ln>
                  <a:noFill/>
                </a:ln>
                <a:solidFill>
                  <a:srgbClr val="FFFFFF">
                    <a:lumMod val="50000"/>
                  </a:srgbClr>
                </a:solidFill>
                <a:effectLst/>
                <a:uLnTx/>
                <a:uFillTx/>
                <a:latin typeface="Scotia"/>
                <a:ea typeface="+mn-ea"/>
                <a:cs typeface="+mn-cs"/>
              </a:rPr>
              <a:t>)</a:t>
            </a:r>
          </a:p>
        </p:txBody>
      </p:sp>
      <p:sp>
        <p:nvSpPr>
          <p:cNvPr id="63" name="Oval 62">
            <a:extLst>
              <a:ext uri="{FF2B5EF4-FFF2-40B4-BE49-F238E27FC236}">
                <a16:creationId xmlns:a16="http://schemas.microsoft.com/office/drawing/2014/main" id="{37D1F307-D0E6-CF69-756F-DEF6B9E69821}"/>
              </a:ext>
            </a:extLst>
          </p:cNvPr>
          <p:cNvSpPr/>
          <p:nvPr/>
        </p:nvSpPr>
        <p:spPr>
          <a:xfrm>
            <a:off x="4289520" y="2904197"/>
            <a:ext cx="274320" cy="27432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FFFFFF">
                  <a:lumMod val="50000"/>
                </a:srgbClr>
              </a:solidFill>
              <a:effectLst/>
              <a:uLnTx/>
              <a:uFillTx/>
              <a:latin typeface="Scotia"/>
              <a:ea typeface="+mn-ea"/>
              <a:cs typeface="+mn-cs"/>
            </a:endParaRPr>
          </a:p>
        </p:txBody>
      </p:sp>
      <p:pic>
        <p:nvPicPr>
          <p:cNvPr id="64" name="Graphic 63" descr="Daily calendar with solid fill">
            <a:extLst>
              <a:ext uri="{FF2B5EF4-FFF2-40B4-BE49-F238E27FC236}">
                <a16:creationId xmlns:a16="http://schemas.microsoft.com/office/drawing/2014/main" id="{A962D9FC-0B57-8F4F-E7B5-5E5D3838DE8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324746" y="2939423"/>
            <a:ext cx="203867" cy="203867"/>
          </a:xfrm>
          <a:prstGeom prst="rect">
            <a:avLst/>
          </a:prstGeom>
        </p:spPr>
      </p:pic>
      <p:sp>
        <p:nvSpPr>
          <p:cNvPr id="59" name="Rectangle 58">
            <a:extLst>
              <a:ext uri="{FF2B5EF4-FFF2-40B4-BE49-F238E27FC236}">
                <a16:creationId xmlns:a16="http://schemas.microsoft.com/office/drawing/2014/main" id="{4A24085C-BFE2-34AF-E2E2-CE1F89E85DB3}"/>
              </a:ext>
            </a:extLst>
          </p:cNvPr>
          <p:cNvSpPr/>
          <p:nvPr/>
        </p:nvSpPr>
        <p:spPr>
          <a:xfrm>
            <a:off x="6629528" y="2809608"/>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CA" sz="1050" b="0" i="0" u="none" strike="noStrike" kern="1200" cap="none" spc="0" normalizeH="0" baseline="0" noProof="0">
                <a:ln>
                  <a:noFill/>
                </a:ln>
                <a:solidFill>
                  <a:srgbClr val="FFFFFF">
                    <a:lumMod val="50000"/>
                  </a:srgbClr>
                </a:solidFill>
                <a:effectLst/>
                <a:uLnTx/>
                <a:uFillTx/>
                <a:latin typeface="Scotia"/>
                <a:ea typeface="+mn-ea"/>
                <a:cs typeface="+mn-cs"/>
              </a:rPr>
              <a:t>Kicked off Digital Assets Strategy approach with broader group</a:t>
            </a:r>
          </a:p>
        </p:txBody>
      </p:sp>
      <p:sp>
        <p:nvSpPr>
          <p:cNvPr id="66" name="Rectangle 65">
            <a:extLst>
              <a:ext uri="{FF2B5EF4-FFF2-40B4-BE49-F238E27FC236}">
                <a16:creationId xmlns:a16="http://schemas.microsoft.com/office/drawing/2014/main" id="{30DE7BFF-814E-A08C-2584-2C5D0CFCEE7D}"/>
              </a:ext>
            </a:extLst>
          </p:cNvPr>
          <p:cNvSpPr/>
          <p:nvPr/>
        </p:nvSpPr>
        <p:spPr>
          <a:xfrm>
            <a:off x="4644651" y="3465335"/>
            <a:ext cx="1979525" cy="448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FFFFFF">
                    <a:lumMod val="50000"/>
                  </a:srgbClr>
                </a:solidFill>
                <a:effectLst/>
                <a:uLnTx/>
                <a:uFillTx/>
                <a:latin typeface="Scotia"/>
                <a:ea typeface="+mn-ea"/>
                <a:cs typeface="+mn-cs"/>
              </a:rPr>
              <a:t>Nov &amp; Dec Sessions</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FFFFFF">
                    <a:lumMod val="50000"/>
                  </a:srgbClr>
                </a:solidFill>
                <a:effectLst/>
                <a:uLnTx/>
                <a:uFillTx/>
                <a:latin typeface="Scotia"/>
                <a:ea typeface="+mn-ea"/>
                <a:cs typeface="+mn-cs"/>
              </a:rPr>
              <a:t>(Nov OpCo &amp; Dec BoD)</a:t>
            </a:r>
          </a:p>
        </p:txBody>
      </p:sp>
      <p:sp>
        <p:nvSpPr>
          <p:cNvPr id="69" name="Oval 68">
            <a:extLst>
              <a:ext uri="{FF2B5EF4-FFF2-40B4-BE49-F238E27FC236}">
                <a16:creationId xmlns:a16="http://schemas.microsoft.com/office/drawing/2014/main" id="{F3ED75D4-BF11-699A-2357-B34F94344828}"/>
              </a:ext>
            </a:extLst>
          </p:cNvPr>
          <p:cNvSpPr/>
          <p:nvPr/>
        </p:nvSpPr>
        <p:spPr>
          <a:xfrm>
            <a:off x="4289520" y="3552620"/>
            <a:ext cx="274320" cy="27432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FFFFFF">
                  <a:lumMod val="50000"/>
                </a:srgbClr>
              </a:solidFill>
              <a:effectLst/>
              <a:uLnTx/>
              <a:uFillTx/>
              <a:latin typeface="Scotia"/>
              <a:ea typeface="+mn-ea"/>
              <a:cs typeface="+mn-cs"/>
            </a:endParaRPr>
          </a:p>
        </p:txBody>
      </p:sp>
      <p:pic>
        <p:nvPicPr>
          <p:cNvPr id="70" name="Graphic 69" descr="Daily calendar with solid fill">
            <a:extLst>
              <a:ext uri="{FF2B5EF4-FFF2-40B4-BE49-F238E27FC236}">
                <a16:creationId xmlns:a16="http://schemas.microsoft.com/office/drawing/2014/main" id="{A38C50C7-65FC-152F-ABC2-7B1041C82C8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324746" y="3587846"/>
            <a:ext cx="203867" cy="203867"/>
          </a:xfrm>
          <a:prstGeom prst="rect">
            <a:avLst/>
          </a:prstGeom>
        </p:spPr>
      </p:pic>
      <p:sp>
        <p:nvSpPr>
          <p:cNvPr id="68" name="Rectangle 67">
            <a:extLst>
              <a:ext uri="{FF2B5EF4-FFF2-40B4-BE49-F238E27FC236}">
                <a16:creationId xmlns:a16="http://schemas.microsoft.com/office/drawing/2014/main" id="{C1AC1EAF-29B5-BEA7-13C5-6FF12AE4EC9F}"/>
              </a:ext>
            </a:extLst>
          </p:cNvPr>
          <p:cNvSpPr/>
          <p:nvPr/>
        </p:nvSpPr>
        <p:spPr>
          <a:xfrm>
            <a:off x="6629528" y="3458031"/>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CA" sz="1050" b="0" i="0" u="none" strike="noStrike" kern="1200" cap="none" spc="0" normalizeH="0" baseline="0" noProof="0">
                <a:ln>
                  <a:noFill/>
                </a:ln>
                <a:solidFill>
                  <a:srgbClr val="FFFFFF">
                    <a:lumMod val="50000"/>
                  </a:srgbClr>
                </a:solidFill>
                <a:effectLst/>
                <a:uLnTx/>
                <a:uFillTx/>
                <a:latin typeface="Scotia"/>
                <a:ea typeface="+mn-ea"/>
                <a:cs typeface="+mn-cs"/>
              </a:rPr>
              <a:t>Provided </a:t>
            </a:r>
            <a:r>
              <a:rPr kumimoji="0" lang="en-US" sz="1050" b="0" i="0" u="none" strike="noStrike" kern="1200" cap="none" spc="0" normalizeH="0" baseline="0" noProof="0">
                <a:ln>
                  <a:noFill/>
                </a:ln>
                <a:solidFill>
                  <a:srgbClr val="FFFFFF">
                    <a:lumMod val="50000"/>
                  </a:srgbClr>
                </a:solidFill>
                <a:effectLst/>
                <a:uLnTx/>
                <a:uFillTx/>
                <a:latin typeface="Scotia"/>
                <a:ea typeface="+mn-ea"/>
                <a:cs typeface="+mn-cs"/>
              </a:rPr>
              <a:t>an update on the market landscape, recent Canadian regulatory developments, the advocacy plan for Canada, and </a:t>
            </a:r>
            <a:r>
              <a:rPr kumimoji="0" lang="en-CA" sz="1050" b="0" i="0" u="none" strike="noStrike" kern="1200" cap="none" spc="0" normalizeH="0" baseline="0" noProof="0">
                <a:ln>
                  <a:noFill/>
                </a:ln>
                <a:solidFill>
                  <a:srgbClr val="FFFFFF">
                    <a:lumMod val="50000"/>
                  </a:srgbClr>
                </a:solidFill>
                <a:effectLst/>
                <a:uLnTx/>
                <a:uFillTx/>
                <a:latin typeface="Scotia"/>
                <a:ea typeface="+mn-ea"/>
                <a:cs typeface="+mn-cs"/>
              </a:rPr>
              <a:t>the digital assets strategy approach</a:t>
            </a:r>
          </a:p>
        </p:txBody>
      </p:sp>
      <p:sp>
        <p:nvSpPr>
          <p:cNvPr id="72" name="Rectangle 71">
            <a:extLst>
              <a:ext uri="{FF2B5EF4-FFF2-40B4-BE49-F238E27FC236}">
                <a16:creationId xmlns:a16="http://schemas.microsoft.com/office/drawing/2014/main" id="{FBDF8B8F-792B-0A01-A8C2-72353035CAFA}"/>
              </a:ext>
            </a:extLst>
          </p:cNvPr>
          <p:cNvSpPr/>
          <p:nvPr/>
        </p:nvSpPr>
        <p:spPr>
          <a:xfrm>
            <a:off x="4644651" y="4113758"/>
            <a:ext cx="1979525" cy="4488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FFFFFF"/>
                </a:solidFill>
                <a:effectLst/>
                <a:uLnTx/>
                <a:uFillTx/>
                <a:latin typeface="Scotia"/>
                <a:ea typeface="+mn-ea"/>
                <a:cs typeface="+mn-cs"/>
              </a:rPr>
              <a:t>Working Session</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FFFFFF"/>
                </a:solidFill>
                <a:effectLst/>
                <a:uLnTx/>
                <a:uFillTx/>
                <a:latin typeface="Scotia"/>
                <a:ea typeface="+mn-ea"/>
                <a:cs typeface="+mn-cs"/>
              </a:rPr>
              <a:t>December 11</a:t>
            </a:r>
            <a:r>
              <a:rPr kumimoji="0" lang="en-CA" sz="1000" b="0" i="0" u="none" strike="noStrike" kern="1200" cap="none" spc="0" normalizeH="0" baseline="30000" noProof="0">
                <a:ln>
                  <a:noFill/>
                </a:ln>
                <a:solidFill>
                  <a:srgbClr val="FFFFFF"/>
                </a:solidFill>
                <a:effectLst/>
                <a:uLnTx/>
                <a:uFillTx/>
                <a:latin typeface="Scotia"/>
                <a:ea typeface="+mn-ea"/>
                <a:cs typeface="+mn-cs"/>
              </a:rPr>
              <a:t>th</a:t>
            </a:r>
            <a:r>
              <a:rPr kumimoji="0" lang="en-CA" sz="1000" b="0" i="0" u="none" strike="noStrike" kern="1200" cap="none" spc="0" normalizeH="0" baseline="0" noProof="0">
                <a:ln>
                  <a:noFill/>
                </a:ln>
                <a:solidFill>
                  <a:srgbClr val="FFFFFF"/>
                </a:solidFill>
                <a:effectLst/>
                <a:uLnTx/>
                <a:uFillTx/>
                <a:latin typeface="Scotia"/>
                <a:ea typeface="+mn-ea"/>
                <a:cs typeface="+mn-cs"/>
              </a:rPr>
              <a:t> </a:t>
            </a:r>
          </a:p>
        </p:txBody>
      </p:sp>
      <p:grpSp>
        <p:nvGrpSpPr>
          <p:cNvPr id="73" name="Group 72">
            <a:extLst>
              <a:ext uri="{FF2B5EF4-FFF2-40B4-BE49-F238E27FC236}">
                <a16:creationId xmlns:a16="http://schemas.microsoft.com/office/drawing/2014/main" id="{F0BA61D5-E77E-94C6-CCDB-64617EDC41DB}"/>
              </a:ext>
            </a:extLst>
          </p:cNvPr>
          <p:cNvGrpSpPr/>
          <p:nvPr/>
        </p:nvGrpSpPr>
        <p:grpSpPr>
          <a:xfrm>
            <a:off x="4289520" y="4201043"/>
            <a:ext cx="274320" cy="274320"/>
            <a:chOff x="4613096" y="2393878"/>
            <a:chExt cx="356403" cy="356403"/>
          </a:xfrm>
        </p:grpSpPr>
        <p:sp>
          <p:nvSpPr>
            <p:cNvPr id="75" name="Oval 74">
              <a:extLst>
                <a:ext uri="{FF2B5EF4-FFF2-40B4-BE49-F238E27FC236}">
                  <a16:creationId xmlns:a16="http://schemas.microsoft.com/office/drawing/2014/main" id="{00DB8451-02C2-2799-95D2-12ACBB5B78CE}"/>
                </a:ext>
              </a:extLst>
            </p:cNvPr>
            <p:cNvSpPr/>
            <p:nvPr/>
          </p:nvSpPr>
          <p:spPr>
            <a:xfrm>
              <a:off x="4613096" y="2393878"/>
              <a:ext cx="356403" cy="3564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76" name="Graphic 75" descr="Daily calendar with solid fill">
              <a:extLst>
                <a:ext uri="{FF2B5EF4-FFF2-40B4-BE49-F238E27FC236}">
                  <a16:creationId xmlns:a16="http://schemas.microsoft.com/office/drawing/2014/main" id="{BB3D4A5F-6533-33CE-F6C5-EB258D50F25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658863" y="2439645"/>
              <a:ext cx="264869" cy="264869"/>
            </a:xfrm>
            <a:prstGeom prst="rect">
              <a:avLst/>
            </a:prstGeom>
          </p:spPr>
        </p:pic>
      </p:grpSp>
      <p:sp>
        <p:nvSpPr>
          <p:cNvPr id="74" name="Rectangle 73">
            <a:extLst>
              <a:ext uri="{FF2B5EF4-FFF2-40B4-BE49-F238E27FC236}">
                <a16:creationId xmlns:a16="http://schemas.microsoft.com/office/drawing/2014/main" id="{B2FE3DCC-346A-AAFD-142A-0088FE0BD643}"/>
              </a:ext>
            </a:extLst>
          </p:cNvPr>
          <p:cNvSpPr/>
          <p:nvPr/>
        </p:nvSpPr>
        <p:spPr>
          <a:xfrm>
            <a:off x="6629528" y="4106454"/>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Gain perspectives </a:t>
            </a:r>
            <a:r>
              <a:rPr kumimoji="0" lang="en-US" sz="1050" b="0" i="0" u="none" strike="noStrike" kern="1200" cap="none" spc="0" normalizeH="0" baseline="0" noProof="0">
                <a:ln>
                  <a:noFill/>
                </a:ln>
                <a:solidFill>
                  <a:srgbClr val="000000"/>
                </a:solidFill>
                <a:effectLst/>
                <a:uLnTx/>
                <a:uFillTx/>
                <a:latin typeface="Scotia"/>
                <a:ea typeface="+mn-ea"/>
                <a:cs typeface="+mn-cs"/>
              </a:rPr>
              <a:t>from across the Bank and </a:t>
            </a:r>
            <a:r>
              <a:rPr kumimoji="0" lang="en-US" sz="1050" b="1" i="0" u="none" strike="noStrike" kern="1200" cap="none" spc="0" normalizeH="0" baseline="0" noProof="0">
                <a:ln>
                  <a:noFill/>
                </a:ln>
                <a:solidFill>
                  <a:srgbClr val="000000"/>
                </a:solidFill>
                <a:effectLst/>
                <a:uLnTx/>
                <a:uFillTx/>
                <a:latin typeface="Scotia"/>
                <a:ea typeface="+mn-ea"/>
                <a:cs typeface="+mn-cs"/>
              </a:rPr>
              <a:t>identify</a:t>
            </a:r>
            <a:r>
              <a:rPr kumimoji="0" lang="en-US" sz="1050" b="0" i="0" u="none" strike="noStrike" kern="1200" cap="none" spc="0" normalizeH="0" baseline="0" noProof="0">
                <a:ln>
                  <a:noFill/>
                </a:ln>
                <a:solidFill>
                  <a:srgbClr val="000000"/>
                </a:solidFill>
                <a:effectLst/>
                <a:uLnTx/>
                <a:uFillTx/>
                <a:latin typeface="Scotia"/>
                <a:ea typeface="+mn-ea"/>
                <a:cs typeface="+mn-cs"/>
              </a:rPr>
              <a:t> </a:t>
            </a:r>
            <a:r>
              <a:rPr kumimoji="0" lang="en-US" sz="1050" b="1" i="0" u="none" strike="noStrike" kern="1200" cap="none" spc="0" normalizeH="0" baseline="0" noProof="0">
                <a:ln>
                  <a:noFill/>
                </a:ln>
                <a:solidFill>
                  <a:srgbClr val="000000"/>
                </a:solidFill>
                <a:effectLst/>
                <a:uLnTx/>
                <a:uFillTx/>
                <a:latin typeface="Scotia"/>
                <a:ea typeface="+mn-ea"/>
                <a:cs typeface="+mn-cs"/>
              </a:rPr>
              <a:t>priority</a:t>
            </a:r>
            <a:r>
              <a:rPr kumimoji="0" lang="en-US" sz="1050" b="0" i="0" u="none" strike="noStrike" kern="1200" cap="none" spc="0" normalizeH="0" baseline="0" noProof="0">
                <a:ln>
                  <a:noFill/>
                </a:ln>
                <a:solidFill>
                  <a:srgbClr val="000000"/>
                </a:solidFill>
                <a:effectLst/>
                <a:uLnTx/>
                <a:uFillTx/>
                <a:latin typeface="Scotia"/>
                <a:ea typeface="+mn-ea"/>
                <a:cs typeface="+mn-cs"/>
              </a:rPr>
              <a:t> </a:t>
            </a:r>
            <a:r>
              <a:rPr kumimoji="0" lang="en-US" sz="1050" b="1" i="0" u="none" strike="noStrike" kern="1200" cap="none" spc="0" normalizeH="0" baseline="0" noProof="0">
                <a:ln>
                  <a:noFill/>
                </a:ln>
                <a:solidFill>
                  <a:srgbClr val="000000"/>
                </a:solidFill>
                <a:effectLst/>
                <a:uLnTx/>
                <a:uFillTx/>
                <a:latin typeface="Scotia"/>
                <a:ea typeface="+mn-ea"/>
                <a:cs typeface="+mn-cs"/>
              </a:rPr>
              <a:t>digital asset use cases</a:t>
            </a:r>
            <a:r>
              <a:rPr kumimoji="0" lang="en-US" sz="1050" b="0" i="0" u="none" strike="noStrike" kern="1200" cap="none" spc="0" normalizeH="0" baseline="0" noProof="0">
                <a:ln>
                  <a:noFill/>
                </a:ln>
                <a:solidFill>
                  <a:srgbClr val="000000"/>
                </a:solidFill>
                <a:effectLst/>
                <a:uLnTx/>
                <a:uFillTx/>
                <a:latin typeface="Scotia"/>
                <a:ea typeface="+mn-ea"/>
                <a:cs typeface="+mn-cs"/>
              </a:rPr>
              <a:t> for BNS to outline next steps</a:t>
            </a:r>
          </a:p>
        </p:txBody>
      </p:sp>
      <p:sp>
        <p:nvSpPr>
          <p:cNvPr id="78" name="Rectangle 77">
            <a:extLst>
              <a:ext uri="{FF2B5EF4-FFF2-40B4-BE49-F238E27FC236}">
                <a16:creationId xmlns:a16="http://schemas.microsoft.com/office/drawing/2014/main" id="{73189108-217E-A01F-4206-C9728AEE5FC2}"/>
              </a:ext>
            </a:extLst>
          </p:cNvPr>
          <p:cNvSpPr/>
          <p:nvPr/>
        </p:nvSpPr>
        <p:spPr>
          <a:xfrm>
            <a:off x="4644651" y="4762181"/>
            <a:ext cx="1979525" cy="4488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EC111A"/>
                </a:solidFill>
                <a:effectLst/>
                <a:uLnTx/>
                <a:uFillTx/>
                <a:latin typeface="Scotia"/>
                <a:ea typeface="+mn-ea"/>
                <a:cs typeface="+mn-cs"/>
              </a:rPr>
              <a:t>SteerCo #2</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EC111A"/>
                </a:solidFill>
                <a:effectLst/>
                <a:uLnTx/>
                <a:uFillTx/>
                <a:latin typeface="Scotia"/>
                <a:ea typeface="+mn-ea"/>
                <a:cs typeface="+mn-cs"/>
              </a:rPr>
              <a:t>(Mid Jan)</a:t>
            </a:r>
          </a:p>
        </p:txBody>
      </p:sp>
      <p:grpSp>
        <p:nvGrpSpPr>
          <p:cNvPr id="79" name="Group 78">
            <a:extLst>
              <a:ext uri="{FF2B5EF4-FFF2-40B4-BE49-F238E27FC236}">
                <a16:creationId xmlns:a16="http://schemas.microsoft.com/office/drawing/2014/main" id="{8EF7C30D-3A3A-FF36-4155-484526530DD5}"/>
              </a:ext>
            </a:extLst>
          </p:cNvPr>
          <p:cNvGrpSpPr/>
          <p:nvPr/>
        </p:nvGrpSpPr>
        <p:grpSpPr>
          <a:xfrm>
            <a:off x="4289520" y="4849466"/>
            <a:ext cx="274320" cy="274320"/>
            <a:chOff x="4613096" y="2393878"/>
            <a:chExt cx="356403" cy="356403"/>
          </a:xfrm>
        </p:grpSpPr>
        <p:sp>
          <p:nvSpPr>
            <p:cNvPr id="81" name="Oval 80">
              <a:extLst>
                <a:ext uri="{FF2B5EF4-FFF2-40B4-BE49-F238E27FC236}">
                  <a16:creationId xmlns:a16="http://schemas.microsoft.com/office/drawing/2014/main" id="{9057091F-3A4E-0E82-CF2C-A81CD7762E74}"/>
                </a:ext>
              </a:extLst>
            </p:cNvPr>
            <p:cNvSpPr/>
            <p:nvPr/>
          </p:nvSpPr>
          <p:spPr>
            <a:xfrm>
              <a:off x="4613096" y="2393878"/>
              <a:ext cx="356403" cy="3564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82" name="Graphic 81" descr="Daily calendar with solid fill">
              <a:extLst>
                <a:ext uri="{FF2B5EF4-FFF2-40B4-BE49-F238E27FC236}">
                  <a16:creationId xmlns:a16="http://schemas.microsoft.com/office/drawing/2014/main" id="{9684F687-B7DB-E8E1-D1B6-32CA321EFF2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658863" y="2439645"/>
              <a:ext cx="264869" cy="264869"/>
            </a:xfrm>
            <a:prstGeom prst="rect">
              <a:avLst/>
            </a:prstGeom>
          </p:spPr>
        </p:pic>
      </p:grpSp>
      <p:sp>
        <p:nvSpPr>
          <p:cNvPr id="80" name="Rectangle 79">
            <a:extLst>
              <a:ext uri="{FF2B5EF4-FFF2-40B4-BE49-F238E27FC236}">
                <a16:creationId xmlns:a16="http://schemas.microsoft.com/office/drawing/2014/main" id="{3A172ADA-8961-2795-B524-B1B91A115A65}"/>
              </a:ext>
            </a:extLst>
          </p:cNvPr>
          <p:cNvSpPr/>
          <p:nvPr/>
        </p:nvSpPr>
        <p:spPr>
          <a:xfrm>
            <a:off x="6629528" y="4765149"/>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CA" sz="1050" b="0" i="0" u="none" strike="noStrike" kern="1200" cap="none" spc="0" normalizeH="0" baseline="0" noProof="0">
                <a:ln>
                  <a:noFill/>
                </a:ln>
                <a:solidFill>
                  <a:srgbClr val="000000"/>
                </a:solidFill>
                <a:effectLst/>
                <a:uLnTx/>
                <a:uFillTx/>
                <a:latin typeface="Scotia"/>
                <a:ea typeface="+mn-ea"/>
                <a:cs typeface="+mn-cs"/>
              </a:rPr>
              <a:t>Discuss plan for </a:t>
            </a:r>
            <a:r>
              <a:rPr kumimoji="0" lang="en-CA" sz="1050" b="1" i="0" u="none" strike="noStrike" kern="1200" cap="none" spc="0" normalizeH="0" baseline="0" noProof="0">
                <a:ln>
                  <a:noFill/>
                </a:ln>
                <a:solidFill>
                  <a:srgbClr val="000000"/>
                </a:solidFill>
                <a:effectLst/>
                <a:uLnTx/>
                <a:uFillTx/>
                <a:latin typeface="Scotia"/>
                <a:ea typeface="+mn-ea"/>
                <a:cs typeface="+mn-cs"/>
              </a:rPr>
              <a:t>developing proof-of-concept </a:t>
            </a:r>
            <a:r>
              <a:rPr kumimoji="0" lang="en-CA" sz="1050" b="0" i="0" u="none" strike="noStrike" kern="1200" cap="none" spc="0" normalizeH="0" baseline="0" noProof="0">
                <a:ln>
                  <a:noFill/>
                </a:ln>
                <a:solidFill>
                  <a:srgbClr val="000000"/>
                </a:solidFill>
                <a:effectLst/>
                <a:uLnTx/>
                <a:uFillTx/>
                <a:latin typeface="Scotia"/>
                <a:ea typeface="+mn-ea"/>
                <a:cs typeface="+mn-cs"/>
              </a:rPr>
              <a:t>for selected use case(s)</a:t>
            </a:r>
            <a:endParaRPr kumimoji="0" lang="en-CA" sz="1050" b="0" i="0" u="none" strike="noStrike" kern="1200" cap="none" spc="0" normalizeH="0" baseline="0" noProof="0">
              <a:ln>
                <a:noFill/>
              </a:ln>
              <a:solidFill>
                <a:srgbClr val="EC111A"/>
              </a:solidFill>
              <a:effectLst/>
              <a:uLnTx/>
              <a:uFillTx/>
              <a:latin typeface="Scotia"/>
              <a:ea typeface="+mn-ea"/>
              <a:cs typeface="+mn-cs"/>
            </a:endParaRPr>
          </a:p>
        </p:txBody>
      </p:sp>
      <p:sp>
        <p:nvSpPr>
          <p:cNvPr id="84" name="Rectangle 83">
            <a:extLst>
              <a:ext uri="{FF2B5EF4-FFF2-40B4-BE49-F238E27FC236}">
                <a16:creationId xmlns:a16="http://schemas.microsoft.com/office/drawing/2014/main" id="{E03F43AE-A2F1-C055-2721-F1A8400D9634}"/>
              </a:ext>
            </a:extLst>
          </p:cNvPr>
          <p:cNvSpPr/>
          <p:nvPr/>
        </p:nvSpPr>
        <p:spPr>
          <a:xfrm>
            <a:off x="4644651" y="5410602"/>
            <a:ext cx="1979525" cy="4488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300"/>
              </a:spcBef>
              <a:spcAft>
                <a:spcPts val="0"/>
              </a:spcAft>
              <a:buClrTx/>
              <a:buSzTx/>
              <a:buFontTx/>
              <a:buNone/>
              <a:tabLst/>
              <a:defRPr/>
            </a:pPr>
            <a:r>
              <a:rPr kumimoji="0" lang="en-CA" sz="1000" b="1" i="0" u="none" strike="noStrike" kern="1200" cap="none" spc="0" normalizeH="0" baseline="0" noProof="0">
                <a:ln>
                  <a:noFill/>
                </a:ln>
                <a:solidFill>
                  <a:srgbClr val="EC111A"/>
                </a:solidFill>
                <a:effectLst/>
                <a:uLnTx/>
                <a:uFillTx/>
                <a:latin typeface="Scotia"/>
                <a:ea typeface="+mn-ea"/>
                <a:cs typeface="+mn-cs"/>
              </a:rPr>
              <a:t>OpCo Subcommittee</a:t>
            </a:r>
          </a:p>
          <a:p>
            <a:pPr marL="0" marR="0" lvl="0" indent="0" algn="l" defTabSz="914400" rtl="0" eaLnBrk="1" fontAlgn="auto" latinLnBrk="0" hangingPunct="1">
              <a:lnSpc>
                <a:spcPct val="100000"/>
              </a:lnSpc>
              <a:spcBef>
                <a:spcPts val="100"/>
              </a:spcBef>
              <a:spcAft>
                <a:spcPts val="0"/>
              </a:spcAft>
              <a:buClrTx/>
              <a:buSzTx/>
              <a:buFontTx/>
              <a:buNone/>
              <a:tabLst/>
              <a:defRPr/>
            </a:pPr>
            <a:r>
              <a:rPr kumimoji="0" lang="en-CA" sz="1000" b="0" i="0" u="none" strike="noStrike" kern="1200" cap="none" spc="0" normalizeH="0" baseline="0" noProof="0">
                <a:ln>
                  <a:noFill/>
                </a:ln>
                <a:solidFill>
                  <a:srgbClr val="EC111A"/>
                </a:solidFill>
                <a:effectLst/>
                <a:uLnTx/>
                <a:uFillTx/>
                <a:latin typeface="Scotia"/>
                <a:ea typeface="+mn-ea"/>
                <a:cs typeface="+mn-cs"/>
              </a:rPr>
              <a:t>(End of Jan)</a:t>
            </a:r>
          </a:p>
        </p:txBody>
      </p:sp>
      <p:grpSp>
        <p:nvGrpSpPr>
          <p:cNvPr id="85" name="Group 84">
            <a:extLst>
              <a:ext uri="{FF2B5EF4-FFF2-40B4-BE49-F238E27FC236}">
                <a16:creationId xmlns:a16="http://schemas.microsoft.com/office/drawing/2014/main" id="{541A2983-97AC-1632-0E8E-DB06565041A8}"/>
              </a:ext>
            </a:extLst>
          </p:cNvPr>
          <p:cNvGrpSpPr/>
          <p:nvPr/>
        </p:nvGrpSpPr>
        <p:grpSpPr>
          <a:xfrm>
            <a:off x="4289520" y="5497887"/>
            <a:ext cx="274320" cy="274320"/>
            <a:chOff x="4613096" y="2393878"/>
            <a:chExt cx="356403" cy="356403"/>
          </a:xfrm>
        </p:grpSpPr>
        <p:sp>
          <p:nvSpPr>
            <p:cNvPr id="87" name="Oval 86">
              <a:extLst>
                <a:ext uri="{FF2B5EF4-FFF2-40B4-BE49-F238E27FC236}">
                  <a16:creationId xmlns:a16="http://schemas.microsoft.com/office/drawing/2014/main" id="{60507B7E-F668-82D0-AF4E-2877C6444110}"/>
                </a:ext>
              </a:extLst>
            </p:cNvPr>
            <p:cNvSpPr/>
            <p:nvPr/>
          </p:nvSpPr>
          <p:spPr>
            <a:xfrm>
              <a:off x="4613096" y="2393878"/>
              <a:ext cx="356403" cy="3564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88" name="Graphic 87" descr="Daily calendar with solid fill">
              <a:extLst>
                <a:ext uri="{FF2B5EF4-FFF2-40B4-BE49-F238E27FC236}">
                  <a16:creationId xmlns:a16="http://schemas.microsoft.com/office/drawing/2014/main" id="{D1722AFE-A7E5-10AB-4A6E-4514FDF3446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4658863" y="2439645"/>
              <a:ext cx="264869" cy="264869"/>
            </a:xfrm>
            <a:prstGeom prst="rect">
              <a:avLst/>
            </a:prstGeom>
          </p:spPr>
        </p:pic>
      </p:grpSp>
      <p:sp>
        <p:nvSpPr>
          <p:cNvPr id="86" name="Rectangle 85">
            <a:extLst>
              <a:ext uri="{FF2B5EF4-FFF2-40B4-BE49-F238E27FC236}">
                <a16:creationId xmlns:a16="http://schemas.microsoft.com/office/drawing/2014/main" id="{B21D1222-2598-E34E-D97B-946F628EA894}"/>
              </a:ext>
            </a:extLst>
          </p:cNvPr>
          <p:cNvSpPr/>
          <p:nvPr/>
        </p:nvSpPr>
        <p:spPr>
          <a:xfrm>
            <a:off x="6629528" y="5403298"/>
            <a:ext cx="5178342" cy="44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CA" sz="1050" b="1" i="0" u="none" strike="noStrike" kern="1200" cap="none" spc="0" normalizeH="0" baseline="0" noProof="0">
                <a:ln>
                  <a:noFill/>
                </a:ln>
                <a:solidFill>
                  <a:srgbClr val="000000"/>
                </a:solidFill>
                <a:effectLst/>
                <a:uLnTx/>
                <a:uFillTx/>
                <a:latin typeface="Scotia"/>
                <a:ea typeface="+mn-ea"/>
                <a:cs typeface="+mn-cs"/>
              </a:rPr>
              <a:t>Provide progress update </a:t>
            </a:r>
            <a:r>
              <a:rPr kumimoji="0" lang="en-CA" sz="1050" b="0" i="0" u="none" strike="noStrike" kern="1200" cap="none" spc="0" normalizeH="0" baseline="0" noProof="0">
                <a:ln>
                  <a:noFill/>
                </a:ln>
                <a:solidFill>
                  <a:srgbClr val="000000"/>
                </a:solidFill>
                <a:effectLst/>
                <a:uLnTx/>
                <a:uFillTx/>
                <a:latin typeface="Scotia"/>
                <a:ea typeface="+mn-ea"/>
                <a:cs typeface="+mn-cs"/>
              </a:rPr>
              <a:t>and</a:t>
            </a:r>
            <a:r>
              <a:rPr kumimoji="0" lang="en-CA" sz="1050" b="1" i="0" u="none" strike="noStrike" kern="1200" cap="none" spc="0" normalizeH="0" baseline="0" noProof="0">
                <a:ln>
                  <a:noFill/>
                </a:ln>
                <a:solidFill>
                  <a:srgbClr val="000000"/>
                </a:solidFill>
                <a:effectLst/>
                <a:uLnTx/>
                <a:uFillTx/>
                <a:latin typeface="Scotia"/>
                <a:ea typeface="+mn-ea"/>
                <a:cs typeface="+mn-cs"/>
              </a:rPr>
              <a:t> review go-forward Digital Assets Strategy</a:t>
            </a:r>
            <a:endParaRPr kumimoji="0" lang="en-CA" sz="1050" b="1" i="0" u="none" strike="noStrike" kern="1200" cap="none" spc="0" normalizeH="0" baseline="0" noProof="0">
              <a:ln>
                <a:noFill/>
              </a:ln>
              <a:solidFill>
                <a:srgbClr val="EC111A"/>
              </a:solidFill>
              <a:effectLst/>
              <a:uLnTx/>
              <a:uFillTx/>
              <a:latin typeface="Scotia"/>
              <a:ea typeface="+mn-ea"/>
              <a:cs typeface="+mn-cs"/>
            </a:endParaRPr>
          </a:p>
        </p:txBody>
      </p:sp>
      <p:sp>
        <p:nvSpPr>
          <p:cNvPr id="98" name="Text Placeholder 5">
            <a:extLst>
              <a:ext uri="{FF2B5EF4-FFF2-40B4-BE49-F238E27FC236}">
                <a16:creationId xmlns:a16="http://schemas.microsoft.com/office/drawing/2014/main" id="{52A91FAE-458F-94C5-2B3A-D1BBD109AB47}"/>
              </a:ext>
            </a:extLst>
          </p:cNvPr>
          <p:cNvSpPr txBox="1">
            <a:spLocks/>
          </p:cNvSpPr>
          <p:nvPr/>
        </p:nvSpPr>
        <p:spPr>
          <a:xfrm>
            <a:off x="4289520" y="1830072"/>
            <a:ext cx="2241909" cy="278895"/>
          </a:xfrm>
          <a:prstGeom prst="rect">
            <a:avLst/>
          </a:prstGeom>
          <a:noFill/>
        </p:spPr>
        <p:txBody>
          <a:bodyPr lIns="0" anchor="ct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l" defTabSz="914411" rtl="0" eaLnBrk="1" fontAlgn="auto" latinLnBrk="0" hangingPunct="1">
              <a:lnSpc>
                <a:spcPct val="100000"/>
              </a:lnSpc>
              <a:spcBef>
                <a:spcPts val="0"/>
              </a:spcBef>
              <a:spcAft>
                <a:spcPts val="0"/>
              </a:spcAft>
              <a:buClr>
                <a:srgbClr val="000000"/>
              </a:buClr>
              <a:buSzTx/>
              <a:buFont typeface="Arial" panose="020B0604020202020204" pitchFamily="34" charset="0"/>
              <a:buNone/>
              <a:tabLst/>
              <a:defRPr/>
            </a:pPr>
            <a:r>
              <a:rPr kumimoji="0" lang="en-US" sz="900" b="1" i="0" u="none" strike="noStrike" kern="1200" cap="all" spc="200" normalizeH="0" baseline="0" noProof="0">
                <a:ln>
                  <a:noFill/>
                </a:ln>
                <a:solidFill>
                  <a:srgbClr val="000000"/>
                </a:solidFill>
                <a:effectLst/>
                <a:uLnTx/>
                <a:uFillTx/>
                <a:latin typeface="Scotia"/>
                <a:ea typeface="+mn-ea"/>
                <a:cs typeface="+mn-cs"/>
              </a:rPr>
              <a:t>Digital assets TIMELINE</a:t>
            </a:r>
            <a:endParaRPr kumimoji="0" lang="en-CA" sz="900" b="1" i="0" u="none" strike="noStrike" kern="1200" cap="all" spc="200" normalizeH="0" baseline="0" noProof="0">
              <a:ln>
                <a:noFill/>
              </a:ln>
              <a:solidFill>
                <a:srgbClr val="000000"/>
              </a:solidFill>
              <a:effectLst/>
              <a:uLnTx/>
              <a:uFillTx/>
              <a:latin typeface="Scotia"/>
              <a:ea typeface="+mn-ea"/>
              <a:cs typeface="+mn-cs"/>
            </a:endParaRPr>
          </a:p>
        </p:txBody>
      </p:sp>
      <p:sp>
        <p:nvSpPr>
          <p:cNvPr id="7" name="Text Placeholder 5">
            <a:extLst>
              <a:ext uri="{FF2B5EF4-FFF2-40B4-BE49-F238E27FC236}">
                <a16:creationId xmlns:a16="http://schemas.microsoft.com/office/drawing/2014/main" id="{7DE63BA0-DA66-AF3B-E16F-D48C88EB1D42}"/>
              </a:ext>
            </a:extLst>
          </p:cNvPr>
          <p:cNvSpPr txBox="1">
            <a:spLocks/>
          </p:cNvSpPr>
          <p:nvPr/>
        </p:nvSpPr>
        <p:spPr>
          <a:xfrm>
            <a:off x="6833937" y="1830072"/>
            <a:ext cx="1514933" cy="278895"/>
          </a:xfrm>
          <a:prstGeom prst="rect">
            <a:avLst/>
          </a:prstGeom>
          <a:noFill/>
        </p:spPr>
        <p:txBody>
          <a:bodyPr lIns="0" anchor="ct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l" defTabSz="914411" rtl="0" eaLnBrk="1" fontAlgn="auto" latinLnBrk="0" hangingPunct="1">
              <a:lnSpc>
                <a:spcPct val="100000"/>
              </a:lnSpc>
              <a:spcBef>
                <a:spcPts val="0"/>
              </a:spcBef>
              <a:spcAft>
                <a:spcPts val="0"/>
              </a:spcAft>
              <a:buClr>
                <a:srgbClr val="000000"/>
              </a:buClr>
              <a:buSzTx/>
              <a:buFont typeface="Arial" panose="020B0604020202020204" pitchFamily="34" charset="0"/>
              <a:buNone/>
              <a:tabLst/>
              <a:defRPr/>
            </a:pPr>
            <a:r>
              <a:rPr kumimoji="0" lang="en-US" sz="900" b="0" i="0" u="none" strike="noStrike" kern="1200" cap="all" spc="200" normalizeH="0" baseline="0" noProof="0">
                <a:ln>
                  <a:noFill/>
                </a:ln>
                <a:solidFill>
                  <a:srgbClr val="000000"/>
                </a:solidFill>
                <a:effectLst/>
                <a:uLnTx/>
                <a:uFillTx/>
                <a:latin typeface="Scotia"/>
                <a:ea typeface="+mn-ea"/>
                <a:cs typeface="+mn-cs"/>
              </a:rPr>
              <a:t>TOPICS</a:t>
            </a:r>
            <a:endParaRPr kumimoji="0" lang="en-CA" sz="900" b="0" i="0" u="none" strike="noStrike" kern="1200" cap="all" spc="200" normalizeH="0" baseline="0" noProof="0">
              <a:ln>
                <a:noFill/>
              </a:ln>
              <a:solidFill>
                <a:srgbClr val="000000"/>
              </a:solidFill>
              <a:effectLst/>
              <a:uLnTx/>
              <a:uFillTx/>
              <a:latin typeface="Scotia"/>
              <a:ea typeface="+mn-ea"/>
              <a:cs typeface="+mn-cs"/>
            </a:endParaRPr>
          </a:p>
        </p:txBody>
      </p:sp>
    </p:spTree>
    <p:extLst>
      <p:ext uri="{BB962C8B-B14F-4D97-AF65-F5344CB8AC3E}">
        <p14:creationId xmlns:p14="http://schemas.microsoft.com/office/powerpoint/2010/main" val="34238545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think-cell data - do not delete" hidden="1">
            <a:extLst>
              <a:ext uri="{FF2B5EF4-FFF2-40B4-BE49-F238E27FC236}">
                <a16:creationId xmlns:a16="http://schemas.microsoft.com/office/drawing/2014/main" id="{3F075947-DA50-F9AB-2534-CA81C428DA4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139" imgH="139" progId="TCLayout.ActiveDocument.1">
                  <p:embed/>
                </p:oleObj>
              </mc:Choice>
              <mc:Fallback>
                <p:oleObj name="think-cell Slide" r:id="rId4" imgW="139" imgH="139" progId="TCLayout.ActiveDocument.1">
                  <p:embed/>
                  <p:pic>
                    <p:nvPicPr>
                      <p:cNvPr id="32" name="think-cell data - do not delete" hidden="1">
                        <a:extLst>
                          <a:ext uri="{FF2B5EF4-FFF2-40B4-BE49-F238E27FC236}">
                            <a16:creationId xmlns:a16="http://schemas.microsoft.com/office/drawing/2014/main" id="{3F075947-DA50-F9AB-2534-CA81C428DA4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a:extLst>
              <a:ext uri="{FF2B5EF4-FFF2-40B4-BE49-F238E27FC236}">
                <a16:creationId xmlns:a16="http://schemas.microsoft.com/office/drawing/2014/main" id="{76357CBF-7D03-6A97-85EA-88D76EA88EC6}"/>
              </a:ext>
            </a:extLst>
          </p:cNvPr>
          <p:cNvSpPr/>
          <p:nvPr/>
        </p:nvSpPr>
        <p:spPr>
          <a:xfrm>
            <a:off x="524923" y="2265180"/>
            <a:ext cx="11142151" cy="704087"/>
          </a:xfrm>
          <a:prstGeom prst="rect">
            <a:avLst/>
          </a:prstGeom>
          <a:no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graphicFrame>
        <p:nvGraphicFramePr>
          <p:cNvPr id="7" name="Table 6">
            <a:extLst>
              <a:ext uri="{FF2B5EF4-FFF2-40B4-BE49-F238E27FC236}">
                <a16:creationId xmlns:a16="http://schemas.microsoft.com/office/drawing/2014/main" id="{E844C425-7579-BF78-9715-57E8836D5919}"/>
              </a:ext>
            </a:extLst>
          </p:cNvPr>
          <p:cNvGraphicFramePr>
            <a:graphicFrameLocks noGrp="1"/>
          </p:cNvGraphicFramePr>
          <p:nvPr/>
        </p:nvGraphicFramePr>
        <p:xfrm>
          <a:off x="515937" y="2231280"/>
          <a:ext cx="11151139" cy="3898060"/>
        </p:xfrm>
        <a:graphic>
          <a:graphicData uri="http://schemas.openxmlformats.org/drawingml/2006/table">
            <a:tbl>
              <a:tblPr firstRow="1" bandRow="1">
                <a:tableStyleId>{5C22544A-7EE6-4342-B048-85BDC9FD1C3A}</a:tableStyleId>
              </a:tblPr>
              <a:tblGrid>
                <a:gridCol w="2443227">
                  <a:extLst>
                    <a:ext uri="{9D8B030D-6E8A-4147-A177-3AD203B41FA5}">
                      <a16:colId xmlns:a16="http://schemas.microsoft.com/office/drawing/2014/main" val="3345075022"/>
                    </a:ext>
                  </a:extLst>
                </a:gridCol>
                <a:gridCol w="2886465">
                  <a:extLst>
                    <a:ext uri="{9D8B030D-6E8A-4147-A177-3AD203B41FA5}">
                      <a16:colId xmlns:a16="http://schemas.microsoft.com/office/drawing/2014/main" val="3842778485"/>
                    </a:ext>
                  </a:extLst>
                </a:gridCol>
                <a:gridCol w="5821447">
                  <a:extLst>
                    <a:ext uri="{9D8B030D-6E8A-4147-A177-3AD203B41FA5}">
                      <a16:colId xmlns:a16="http://schemas.microsoft.com/office/drawing/2014/main" val="2817505973"/>
                    </a:ext>
                  </a:extLst>
                </a:gridCol>
              </a:tblGrid>
              <a:tr h="779612">
                <a:tc>
                  <a:txBody>
                    <a:bodyPr/>
                    <a:lstStyle/>
                    <a:p>
                      <a:pPr rtl="0"/>
                      <a:endParaRPr lang="en-CA">
                        <a:solidFill>
                          <a:schemeClr val="tx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rtl="0">
                        <a:buFont typeface="Arial" panose="020B0604020202020204" pitchFamily="34" charset="0"/>
                        <a:buChar char="•"/>
                      </a:pPr>
                      <a:endParaRPr lang="en-CA" sz="900" b="0">
                        <a:solidFill>
                          <a:schemeClr val="tx1"/>
                        </a:solidFill>
                      </a:endParaRP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rtl="0">
                        <a:spcBef>
                          <a:spcPts val="600"/>
                        </a:spcBef>
                        <a:buClrTx/>
                        <a:buSzPct val="100000"/>
                        <a:buFont typeface="Arial" panose="020B0604020202020204" pitchFamily="34" charset="0"/>
                        <a:buChar char="•"/>
                      </a:pPr>
                      <a:r>
                        <a:rPr lang="en-CA" sz="1000" b="1">
                          <a:solidFill>
                            <a:schemeClr val="tx1"/>
                          </a:solidFill>
                        </a:rPr>
                        <a:t>Establish inbound virtual channel </a:t>
                      </a:r>
                      <a:r>
                        <a:rPr lang="en-CA" sz="1000" b="0">
                          <a:solidFill>
                            <a:schemeClr val="tx1"/>
                          </a:solidFill>
                        </a:rPr>
                        <a:t>with on-demand service and appointment booking as a viable alternative to branch walk-ins </a:t>
                      </a: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4366969"/>
                  </a:ext>
                </a:extLst>
              </a:tr>
              <a:tr h="779612">
                <a:tc>
                  <a:txBody>
                    <a:bodyPr/>
                    <a:lstStyle/>
                    <a:p>
                      <a:pPr rtl="0"/>
                      <a:endParaRPr lang="en-CA"/>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Arial" panose="020B0604020202020204" pitchFamily="34" charset="0"/>
                        <a:buChar char="•"/>
                      </a:pPr>
                      <a:endParaRPr lang="en-CA" sz="900" b="0" kern="1200">
                        <a:solidFill>
                          <a:schemeClr val="tx1"/>
                        </a:solidFill>
                        <a:latin typeface="+mn-lt"/>
                        <a:ea typeface="+mn-ea"/>
                        <a:cs typeface="+mn-cs"/>
                      </a:endParaRP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spcBef>
                          <a:spcPts val="600"/>
                        </a:spcBef>
                        <a:buClrTx/>
                        <a:buSzPct val="100000"/>
                        <a:buFont typeface="Arial" panose="020B0604020202020204" pitchFamily="34" charset="0"/>
                        <a:buChar char="•"/>
                      </a:pPr>
                      <a:r>
                        <a:rPr lang="en-CA" sz="1000" b="1" kern="1200">
                          <a:solidFill>
                            <a:schemeClr val="tx1"/>
                          </a:solidFill>
                          <a:latin typeface="+mn-lt"/>
                          <a:ea typeface="+mn-ea"/>
                          <a:cs typeface="+mn-cs"/>
                        </a:rPr>
                        <a:t>Reduce branch sales headcount </a:t>
                      </a:r>
                      <a:r>
                        <a:rPr lang="en-CA" sz="1000" b="0" kern="1200">
                          <a:solidFill>
                            <a:schemeClr val="tx1"/>
                          </a:solidFill>
                          <a:latin typeface="+mn-lt"/>
                          <a:ea typeface="+mn-ea"/>
                          <a:cs typeface="+mn-cs"/>
                        </a:rPr>
                        <a:t>progressively, proportional to revenue contribution </a:t>
                      </a:r>
                      <a:br>
                        <a:rPr lang="en-CA" sz="1000" b="0" kern="1200">
                          <a:solidFill>
                            <a:schemeClr val="tx1"/>
                          </a:solidFill>
                          <a:latin typeface="+mn-lt"/>
                          <a:ea typeface="+mn-ea"/>
                          <a:cs typeface="+mn-cs"/>
                        </a:rPr>
                      </a:br>
                      <a:r>
                        <a:rPr lang="en-CA" sz="1000" b="0" kern="1200">
                          <a:solidFill>
                            <a:schemeClr val="tx1"/>
                          </a:solidFill>
                          <a:latin typeface="+mn-lt"/>
                          <a:ea typeface="+mn-ea"/>
                          <a:cs typeface="+mn-cs"/>
                        </a:rPr>
                        <a:t>(i.e., FAs &amp; SFAs reduced &gt;20%)</a:t>
                      </a: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1516351"/>
                  </a:ext>
                </a:extLst>
              </a:tr>
              <a:tr h="779612">
                <a:tc>
                  <a:txBody>
                    <a:bodyPr/>
                    <a:lstStyle/>
                    <a:p>
                      <a:pPr rtl="0"/>
                      <a:endParaRPr lang="en-CA"/>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Arial" panose="020B0604020202020204" pitchFamily="34" charset="0"/>
                        <a:buChar char="•"/>
                      </a:pPr>
                      <a:endParaRPr lang="en-CA" sz="900" b="1" kern="1200">
                        <a:solidFill>
                          <a:schemeClr val="tx1"/>
                        </a:solidFill>
                        <a:latin typeface="+mn-lt"/>
                        <a:ea typeface="+mn-ea"/>
                        <a:cs typeface="+mn-cs"/>
                      </a:endParaRP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spcBef>
                          <a:spcPts val="600"/>
                        </a:spcBef>
                        <a:buClrTx/>
                        <a:buSzPct val="100000"/>
                        <a:buFont typeface="Arial" panose="020B0604020202020204" pitchFamily="34" charset="0"/>
                        <a:buChar char="•"/>
                      </a:pPr>
                      <a:r>
                        <a:rPr lang="en-CA" sz="1000" b="1" kern="1200">
                          <a:solidFill>
                            <a:schemeClr val="tx1"/>
                          </a:solidFill>
                          <a:latin typeface="+mn-lt"/>
                          <a:ea typeface="+mn-ea"/>
                          <a:cs typeface="+mn-cs"/>
                        </a:rPr>
                        <a:t>Increase access to specialists </a:t>
                      </a:r>
                      <a:r>
                        <a:rPr lang="en-CA" sz="1000" b="0" kern="1200">
                          <a:solidFill>
                            <a:schemeClr val="tx1"/>
                          </a:solidFill>
                          <a:latin typeface="+mn-lt"/>
                          <a:ea typeface="+mn-ea"/>
                          <a:cs typeface="+mn-cs"/>
                        </a:rPr>
                        <a:t>with virtual capabilities to meet clients in preferred channel</a:t>
                      </a:r>
                    </a:p>
                    <a:p>
                      <a:pPr marL="171450" indent="-171450" algn="l" defTabSz="914411" rtl="0" eaLnBrk="1" latinLnBrk="0" hangingPunct="1">
                        <a:spcBef>
                          <a:spcPts val="600"/>
                        </a:spcBef>
                        <a:buClrTx/>
                        <a:buSzPct val="100000"/>
                        <a:buFont typeface="Arial" panose="020B0604020202020204" pitchFamily="34" charset="0"/>
                        <a:buChar char="•"/>
                      </a:pPr>
                      <a:r>
                        <a:rPr lang="en-CA" sz="1000" b="1" kern="1200">
                          <a:solidFill>
                            <a:schemeClr val="tx1"/>
                          </a:solidFill>
                          <a:latin typeface="+mn-lt"/>
                          <a:ea typeface="+mn-ea"/>
                          <a:cs typeface="+mn-cs"/>
                        </a:rPr>
                        <a:t>Grow specialist teams </a:t>
                      </a:r>
                      <a:r>
                        <a:rPr lang="en-CA" sz="1000" b="0" kern="1200">
                          <a:solidFill>
                            <a:schemeClr val="tx1"/>
                          </a:solidFill>
                          <a:latin typeface="+mn-lt"/>
                          <a:ea typeface="+mn-ea"/>
                          <a:cs typeface="+mn-cs"/>
                        </a:rPr>
                        <a:t>dedicated to complex products (e.g., ~1-2x for mortgage, investments)</a:t>
                      </a: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7059424"/>
                  </a:ext>
                </a:extLst>
              </a:tr>
              <a:tr h="779612">
                <a:tc>
                  <a:txBody>
                    <a:bodyPr/>
                    <a:lstStyle/>
                    <a:p>
                      <a:pPr rtl="0"/>
                      <a:endParaRPr lang="en-CA"/>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Arial" panose="020B0604020202020204" pitchFamily="34" charset="0"/>
                        <a:buChar char="•"/>
                      </a:pPr>
                      <a:endParaRPr lang="en-CA" sz="900" b="1" kern="1200">
                        <a:solidFill>
                          <a:schemeClr val="tx1"/>
                        </a:solidFill>
                        <a:latin typeface="+mn-lt"/>
                        <a:ea typeface="+mn-ea"/>
                        <a:cs typeface="+mn-cs"/>
                      </a:endParaRP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spcBef>
                          <a:spcPts val="600"/>
                        </a:spcBef>
                        <a:buClrTx/>
                        <a:buSzPct val="100000"/>
                        <a:buFont typeface="Arial" panose="020B0604020202020204" pitchFamily="34" charset="0"/>
                        <a:buChar char="•"/>
                      </a:pPr>
                      <a:r>
                        <a:rPr lang="en-CA" sz="1000" b="1" kern="1200">
                          <a:solidFill>
                            <a:schemeClr val="tx1"/>
                          </a:solidFill>
                          <a:latin typeface="+mn-lt"/>
                          <a:ea typeface="+mn-ea"/>
                          <a:cs typeface="+mn-cs"/>
                        </a:rPr>
                        <a:t>Reduce assigned books </a:t>
                      </a:r>
                      <a:r>
                        <a:rPr lang="en-CA" sz="1000" b="0" kern="1200">
                          <a:solidFill>
                            <a:schemeClr val="tx1"/>
                          </a:solidFill>
                          <a:latin typeface="+mn-lt"/>
                          <a:ea typeface="+mn-ea"/>
                          <a:cs typeface="+mn-cs"/>
                        </a:rPr>
                        <a:t>from 600+ to ~100-200 to enable experienced advisors to focus on high-value relationships, and </a:t>
                      </a:r>
                      <a:r>
                        <a:rPr lang="en-CA" sz="1000" b="1" kern="1200">
                          <a:solidFill>
                            <a:schemeClr val="tx1"/>
                          </a:solidFill>
                          <a:latin typeface="+mn-lt"/>
                          <a:ea typeface="+mn-ea"/>
                          <a:cs typeface="+mn-cs"/>
                        </a:rPr>
                        <a:t>no assigned book for junior FAs</a:t>
                      </a:r>
                      <a:endParaRPr lang="en-CA" sz="1000" b="0" kern="1200">
                        <a:solidFill>
                          <a:schemeClr val="tx1"/>
                        </a:solidFill>
                        <a:latin typeface="+mn-lt"/>
                        <a:ea typeface="+mn-ea"/>
                        <a:cs typeface="+mn-cs"/>
                      </a:endParaRPr>
                    </a:p>
                    <a:p>
                      <a:pPr marL="171450" marR="0" lvl="0" indent="-171450" algn="l" defTabSz="914411"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lang="en-CA" sz="1000" b="1" kern="1200">
                          <a:solidFill>
                            <a:schemeClr val="tx1"/>
                          </a:solidFill>
                          <a:latin typeface="+mn-lt"/>
                          <a:ea typeface="+mn-ea"/>
                          <a:cs typeface="+mn-cs"/>
                        </a:rPr>
                        <a:t>Leverage LOE to manage leads </a:t>
                      </a:r>
                      <a:r>
                        <a:rPr lang="en-CA" sz="1000" b="0" kern="1200">
                          <a:solidFill>
                            <a:schemeClr val="tx1"/>
                          </a:solidFill>
                          <a:latin typeface="+mn-lt"/>
                          <a:ea typeface="+mn-ea"/>
                          <a:cs typeface="+mn-cs"/>
                        </a:rPr>
                        <a:t>rather than rely on advisor outreach via client assignment </a:t>
                      </a: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9702338"/>
                  </a:ext>
                </a:extLst>
              </a:tr>
              <a:tr h="779612">
                <a:tc>
                  <a:txBody>
                    <a:bodyPr/>
                    <a:lstStyle/>
                    <a:p>
                      <a:pPr rtl="0"/>
                      <a:endParaRPr lang="en-CA"/>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Arial" panose="020B0604020202020204" pitchFamily="34" charset="0"/>
                        <a:buChar char="•"/>
                      </a:pPr>
                      <a:endParaRPr lang="en-CA" sz="900" b="1" kern="1200">
                        <a:solidFill>
                          <a:schemeClr val="tx1"/>
                        </a:solidFill>
                        <a:latin typeface="+mn-lt"/>
                        <a:ea typeface="+mn-ea"/>
                        <a:cs typeface="+mn-cs"/>
                      </a:endParaRP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CA" sz="1000" b="1" i="0" u="none" strike="noStrike" kern="1200" cap="none" spc="0" normalizeH="0" baseline="0" noProof="0">
                          <a:ln>
                            <a:noFill/>
                          </a:ln>
                          <a:solidFill>
                            <a:srgbClr val="000000"/>
                          </a:solidFill>
                          <a:effectLst/>
                          <a:uLnTx/>
                          <a:uFillTx/>
                          <a:latin typeface="+mn-lt"/>
                          <a:ea typeface="+mn-ea"/>
                          <a:cs typeface="+mn-cs"/>
                        </a:rPr>
                        <a:t>Leverage </a:t>
                      </a:r>
                      <a:r>
                        <a:rPr kumimoji="0" lang="en-CA" sz="1000" b="1" i="0" u="none" strike="noStrike" kern="1200" cap="none" spc="0" normalizeH="0" baseline="0" noProof="0" err="1">
                          <a:ln>
                            <a:noFill/>
                          </a:ln>
                          <a:solidFill>
                            <a:srgbClr val="000000"/>
                          </a:solidFill>
                          <a:effectLst/>
                          <a:uLnTx/>
                          <a:uFillTx/>
                          <a:latin typeface="+mn-lt"/>
                          <a:ea typeface="+mn-ea"/>
                          <a:cs typeface="+mn-cs"/>
                        </a:rPr>
                        <a:t>LiveBank</a:t>
                      </a:r>
                      <a:r>
                        <a:rPr kumimoji="0" lang="en-CA" sz="1000" b="1" i="0" u="none" strike="noStrike" kern="1200" cap="none" spc="0" normalizeH="0" baseline="0" noProof="0">
                          <a:ln>
                            <a:noFill/>
                          </a:ln>
                          <a:solidFill>
                            <a:srgbClr val="000000"/>
                          </a:solidFill>
                          <a:effectLst/>
                          <a:uLnTx/>
                          <a:uFillTx/>
                          <a:latin typeface="+mn-lt"/>
                          <a:ea typeface="+mn-ea"/>
                          <a:cs typeface="+mn-cs"/>
                        </a:rPr>
                        <a:t> </a:t>
                      </a:r>
                      <a:r>
                        <a:rPr kumimoji="0" lang="en-CA" sz="1000" b="0" i="0" u="none" strike="noStrike" kern="1200" cap="none" spc="0" normalizeH="0" baseline="0" noProof="0">
                          <a:ln>
                            <a:noFill/>
                          </a:ln>
                          <a:solidFill>
                            <a:srgbClr val="000000"/>
                          </a:solidFill>
                          <a:effectLst/>
                          <a:uLnTx/>
                          <a:uFillTx/>
                          <a:latin typeface="+mn-lt"/>
                          <a:ea typeface="+mn-ea"/>
                          <a:cs typeface="+mn-cs"/>
                        </a:rPr>
                        <a:t>as a proof of concept to support retail Smart Investor use case, leveraging lessons learned from Small Business</a:t>
                      </a:r>
                    </a:p>
                  </a:txBody>
                  <a:tcPr marL="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446992"/>
                  </a:ext>
                </a:extLst>
              </a:tr>
            </a:tbl>
          </a:graphicData>
        </a:graphic>
      </p:graphicFrame>
      <p:sp>
        <p:nvSpPr>
          <p:cNvPr id="2" name="Title 1">
            <a:extLst>
              <a:ext uri="{FF2B5EF4-FFF2-40B4-BE49-F238E27FC236}">
                <a16:creationId xmlns:a16="http://schemas.microsoft.com/office/drawing/2014/main" id="{DB0D977A-2153-6160-8284-0D7FE523CD73}"/>
              </a:ext>
            </a:extLst>
          </p:cNvPr>
          <p:cNvSpPr>
            <a:spLocks noGrp="1"/>
          </p:cNvSpPr>
          <p:nvPr>
            <p:ph type="title"/>
          </p:nvPr>
        </p:nvSpPr>
        <p:spPr/>
        <p:txBody>
          <a:bodyPr vert="horz"/>
          <a:lstStyle/>
          <a:p>
            <a:r>
              <a:rPr lang="en-CA">
                <a:solidFill>
                  <a:schemeClr val="accent1"/>
                </a:solidFill>
              </a:rPr>
              <a:t>Recall | </a:t>
            </a:r>
            <a:r>
              <a:rPr lang="en-CA"/>
              <a:t>Consensus was established on key themes that will inform future state team structure, enabling cost effective, scalable growth</a:t>
            </a:r>
          </a:p>
        </p:txBody>
      </p:sp>
      <p:sp>
        <p:nvSpPr>
          <p:cNvPr id="9" name="Slide Number Placeholder 2">
            <a:extLst>
              <a:ext uri="{FF2B5EF4-FFF2-40B4-BE49-F238E27FC236}">
                <a16:creationId xmlns:a16="http://schemas.microsoft.com/office/drawing/2014/main" id="{78586217-F59F-389C-CD5B-CCD4B747CF58}"/>
              </a:ext>
            </a:extLst>
          </p:cNvPr>
          <p:cNvSpPr>
            <a:spLocks noGrp="1"/>
          </p:cNvSpPr>
          <p:nvPr>
            <p:ph type="sldNum" sz="quarter" idx="10"/>
          </p:nvPr>
        </p:nvSpPr>
        <p:spPr/>
        <p:txBody>
          <a:bodyPr/>
          <a:lstStyle/>
          <a:p>
            <a:fld id="{95D835A7-12B2-4074-8DA2-469A8808C237}" type="slidenum">
              <a:rPr lang="en-CA" smtClean="0"/>
              <a:pPr/>
              <a:t>17</a:t>
            </a:fld>
            <a:endParaRPr lang="en-CA"/>
          </a:p>
        </p:txBody>
      </p:sp>
      <p:sp>
        <p:nvSpPr>
          <p:cNvPr id="3" name="Text Placeholder 2">
            <a:extLst>
              <a:ext uri="{FF2B5EF4-FFF2-40B4-BE49-F238E27FC236}">
                <a16:creationId xmlns:a16="http://schemas.microsoft.com/office/drawing/2014/main" id="{92FD3E5C-DD7B-2F64-83E9-442008892745}"/>
              </a:ext>
            </a:extLst>
          </p:cNvPr>
          <p:cNvSpPr>
            <a:spLocks noGrp="1"/>
          </p:cNvSpPr>
          <p:nvPr>
            <p:ph type="body" sz="quarter" idx="11"/>
          </p:nvPr>
        </p:nvSpPr>
        <p:spPr/>
        <p:txBody>
          <a:bodyPr/>
          <a:lstStyle/>
          <a:p>
            <a:endParaRPr lang="en-CA"/>
          </a:p>
        </p:txBody>
      </p:sp>
      <p:sp>
        <p:nvSpPr>
          <p:cNvPr id="6" name="Text Placeholder 5">
            <a:extLst>
              <a:ext uri="{FF2B5EF4-FFF2-40B4-BE49-F238E27FC236}">
                <a16:creationId xmlns:a16="http://schemas.microsoft.com/office/drawing/2014/main" id="{AF26CFBB-FED8-F304-BD03-D6E3789B50A0}"/>
              </a:ext>
            </a:extLst>
          </p:cNvPr>
          <p:cNvSpPr>
            <a:spLocks noGrp="1"/>
          </p:cNvSpPr>
          <p:nvPr>
            <p:ph type="body" sz="quarter" idx="14"/>
          </p:nvPr>
        </p:nvSpPr>
        <p:spPr/>
        <p:txBody>
          <a:bodyPr/>
          <a:lstStyle/>
          <a:p>
            <a:r>
              <a:rPr lang="en-CA"/>
              <a:t>KEY THEMES INFORMING TEAM STRUCTURE</a:t>
            </a:r>
          </a:p>
        </p:txBody>
      </p:sp>
      <p:sp>
        <p:nvSpPr>
          <p:cNvPr id="109" name="Rectangle 108">
            <a:extLst>
              <a:ext uri="{FF2B5EF4-FFF2-40B4-BE49-F238E27FC236}">
                <a16:creationId xmlns:a16="http://schemas.microsoft.com/office/drawing/2014/main" id="{84596227-C53D-8B1B-5AB8-C19787405C68}"/>
              </a:ext>
            </a:extLst>
          </p:cNvPr>
          <p:cNvSpPr/>
          <p:nvPr/>
        </p:nvSpPr>
        <p:spPr>
          <a:xfrm>
            <a:off x="515937" y="1998016"/>
            <a:ext cx="2463249" cy="2300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spc="300">
                <a:solidFill>
                  <a:schemeClr val="tx1"/>
                </a:solidFill>
              </a:rPr>
              <a:t>THEMES</a:t>
            </a:r>
          </a:p>
        </p:txBody>
      </p:sp>
      <p:sp>
        <p:nvSpPr>
          <p:cNvPr id="97" name="Arrow: Pentagon 96">
            <a:extLst>
              <a:ext uri="{FF2B5EF4-FFF2-40B4-BE49-F238E27FC236}">
                <a16:creationId xmlns:a16="http://schemas.microsoft.com/office/drawing/2014/main" id="{338E4430-745A-D133-7164-22DD04761F1C}"/>
              </a:ext>
            </a:extLst>
          </p:cNvPr>
          <p:cNvSpPr/>
          <p:nvPr/>
        </p:nvSpPr>
        <p:spPr>
          <a:xfrm>
            <a:off x="515938" y="5386533"/>
            <a:ext cx="5391014" cy="704088"/>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45720" rIns="182880" rtlCol="0" anchor="ctr"/>
          <a:lstStyle/>
          <a:p>
            <a:r>
              <a:rPr lang="en-CA" sz="1100" b="1">
                <a:solidFill>
                  <a:srgbClr val="EC111A"/>
                </a:solidFill>
                <a:latin typeface="Scotia Headline" panose="020B0703020203020204" pitchFamily="34" charset="0"/>
                <a:ea typeface="Scotia Headline" panose="020B0703020203020204" pitchFamily="34" charset="0"/>
              </a:rPr>
              <a:t>Leverage Technological Enablers</a:t>
            </a:r>
            <a:br>
              <a:rPr lang="en-CA" sz="1100" b="1">
                <a:solidFill>
                  <a:schemeClr val="tx1"/>
                </a:solidFill>
                <a:latin typeface="Scotia Headline" panose="020B0703020203020204" pitchFamily="34" charset="0"/>
                <a:ea typeface="Scotia Headline" panose="020B0703020203020204" pitchFamily="34" charset="0"/>
              </a:rPr>
            </a:br>
            <a:r>
              <a:rPr lang="en-CA" sz="1000" kern="1200">
                <a:solidFill>
                  <a:schemeClr val="tx1"/>
                </a:solidFill>
                <a:latin typeface="+mn-lt"/>
                <a:ea typeface="+mn-ea"/>
                <a:cs typeface="+mn-cs"/>
              </a:rPr>
              <a:t>Deploy industry-leading technological solutions to improve client outcomes</a:t>
            </a:r>
          </a:p>
        </p:txBody>
      </p:sp>
      <p:sp>
        <p:nvSpPr>
          <p:cNvPr id="105" name="Rectangle 104">
            <a:extLst>
              <a:ext uri="{FF2B5EF4-FFF2-40B4-BE49-F238E27FC236}">
                <a16:creationId xmlns:a16="http://schemas.microsoft.com/office/drawing/2014/main" id="{E7C58AB1-B86F-0023-4380-A57F38BF826E}"/>
              </a:ext>
            </a:extLst>
          </p:cNvPr>
          <p:cNvSpPr>
            <a:spLocks noChangeAspect="1"/>
          </p:cNvSpPr>
          <p:nvPr/>
        </p:nvSpPr>
        <p:spPr>
          <a:xfrm>
            <a:off x="621381" y="5516284"/>
            <a:ext cx="432000" cy="436319"/>
          </a:xfrm>
          <a:prstGeom prst="rect">
            <a:avLst/>
          </a:prstGeom>
          <a:solidFill>
            <a:srgbClr val="EC111A"/>
          </a:solidFill>
          <a:ln w="9525" cap="flat">
            <a:noFill/>
            <a:prstDash val="solid"/>
            <a:miter/>
          </a:ln>
        </p:spPr>
        <p:txBody>
          <a:bodyPr rIns="182880" rtlCol="0" anchor="ctr"/>
          <a:lstStyle/>
          <a:p>
            <a:pPr marL="0" marR="0" lvl="0" indent="0" algn="l"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21" name="Shape 2848">
            <a:extLst>
              <a:ext uri="{FF2B5EF4-FFF2-40B4-BE49-F238E27FC236}">
                <a16:creationId xmlns:a16="http://schemas.microsoft.com/office/drawing/2014/main" id="{4CCBEAB2-4911-D8C9-568B-73FAF0736535}"/>
              </a:ext>
            </a:extLst>
          </p:cNvPr>
          <p:cNvSpPr>
            <a:spLocks noChangeAspect="1"/>
          </p:cNvSpPr>
          <p:nvPr/>
        </p:nvSpPr>
        <p:spPr>
          <a:xfrm>
            <a:off x="709164" y="5606331"/>
            <a:ext cx="264496" cy="264493"/>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chemeClr val="bg1"/>
          </a:solidFill>
          <a:ln w="8060" cap="flat">
            <a:noFill/>
            <a:prstDash val="solid"/>
            <a:miter/>
          </a:ln>
        </p:spPr>
        <p:txBody>
          <a:bodyPr lIns="38091" tIns="38091" rIns="38091" bIns="38091" anchor="ctr"/>
          <a:lstStyle/>
          <a:p>
            <a:pPr defTabSz="457056"/>
            <a:endParaRPr lang="en-CA" sz="1100">
              <a:solidFill>
                <a:srgbClr val="FFFFFF"/>
              </a:solidFill>
              <a:effectLst>
                <a:outerShdw blurRad="38100" dist="12700" dir="5400000" rotWithShape="0">
                  <a:srgbClr val="000000">
                    <a:alpha val="50000"/>
                  </a:srgbClr>
                </a:outerShdw>
              </a:effectLst>
              <a:latin typeface="Gill Sans"/>
            </a:endParaRPr>
          </a:p>
        </p:txBody>
      </p:sp>
      <p:sp>
        <p:nvSpPr>
          <p:cNvPr id="98" name="Arrow: Pentagon 97">
            <a:extLst>
              <a:ext uri="{FF2B5EF4-FFF2-40B4-BE49-F238E27FC236}">
                <a16:creationId xmlns:a16="http://schemas.microsoft.com/office/drawing/2014/main" id="{DE5A15FA-1179-04BD-E47D-653DED554C1D}"/>
              </a:ext>
            </a:extLst>
          </p:cNvPr>
          <p:cNvSpPr/>
          <p:nvPr/>
        </p:nvSpPr>
        <p:spPr>
          <a:xfrm>
            <a:off x="515937" y="4606194"/>
            <a:ext cx="5391014" cy="704088"/>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45720" rIns="182880" rtlCol="0" anchor="ctr"/>
          <a:lstStyle/>
          <a:p>
            <a:r>
              <a:rPr lang="en-CA" sz="1100" b="1">
                <a:solidFill>
                  <a:srgbClr val="EC111A"/>
                </a:solidFill>
                <a:latin typeface="Scotia Headline" panose="020B0703020203020204" pitchFamily="34" charset="0"/>
                <a:ea typeface="Scotia Headline" panose="020B0703020203020204" pitchFamily="34" charset="0"/>
              </a:rPr>
              <a:t>Transition from Legacy Client Assignment</a:t>
            </a:r>
            <a:br>
              <a:rPr lang="en-CA" sz="1100" b="1">
                <a:solidFill>
                  <a:schemeClr val="tx1"/>
                </a:solidFill>
                <a:latin typeface="Scotia Headline" panose="020B0703020203020204" pitchFamily="34" charset="0"/>
                <a:ea typeface="Scotia Headline" panose="020B0703020203020204" pitchFamily="34" charset="0"/>
              </a:rPr>
            </a:br>
            <a:r>
              <a:rPr lang="en-CA" sz="1000" kern="1200">
                <a:solidFill>
                  <a:schemeClr val="tx1"/>
                </a:solidFill>
                <a:latin typeface="+mn-lt"/>
                <a:ea typeface="+mn-ea"/>
                <a:cs typeface="+mn-cs"/>
              </a:rPr>
              <a:t>Prioritize client segmentation &amp; strategic client-to-advisor matching</a:t>
            </a:r>
          </a:p>
        </p:txBody>
      </p:sp>
      <p:sp>
        <p:nvSpPr>
          <p:cNvPr id="107" name="Rectangle 106">
            <a:extLst>
              <a:ext uri="{FF2B5EF4-FFF2-40B4-BE49-F238E27FC236}">
                <a16:creationId xmlns:a16="http://schemas.microsoft.com/office/drawing/2014/main" id="{0BCA8D78-EA1E-4ACE-FE0C-F380998D9CEB}"/>
              </a:ext>
            </a:extLst>
          </p:cNvPr>
          <p:cNvSpPr>
            <a:spLocks noChangeAspect="1"/>
          </p:cNvSpPr>
          <p:nvPr/>
        </p:nvSpPr>
        <p:spPr>
          <a:xfrm>
            <a:off x="624333" y="4735945"/>
            <a:ext cx="432000" cy="436319"/>
          </a:xfrm>
          <a:prstGeom prst="rect">
            <a:avLst/>
          </a:prstGeom>
          <a:solidFill>
            <a:srgbClr val="EC111A"/>
          </a:solidFill>
          <a:ln w="9525" cap="flat">
            <a:noFill/>
            <a:prstDash val="solid"/>
            <a:miter/>
          </a:ln>
        </p:spPr>
        <p:txBody>
          <a:bodyPr rIns="182880" rtlCol="0" anchor="ctr"/>
          <a:lstStyle/>
          <a:p>
            <a:pPr marL="0" marR="0" lvl="0" indent="0" algn="l"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22" name="Shape 2615">
            <a:extLst>
              <a:ext uri="{FF2B5EF4-FFF2-40B4-BE49-F238E27FC236}">
                <a16:creationId xmlns:a16="http://schemas.microsoft.com/office/drawing/2014/main" id="{EC5275E8-DB76-2E06-C7A5-CE9EED8047B3}"/>
              </a:ext>
            </a:extLst>
          </p:cNvPr>
          <p:cNvSpPr>
            <a:spLocks noChangeAspect="1"/>
          </p:cNvSpPr>
          <p:nvPr/>
        </p:nvSpPr>
        <p:spPr>
          <a:xfrm>
            <a:off x="718725" y="4832599"/>
            <a:ext cx="251280" cy="251279"/>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chemeClr val="bg1"/>
          </a:solidFill>
          <a:ln w="8060" cap="flat">
            <a:noFill/>
            <a:prstDash val="solid"/>
            <a:miter/>
          </a:ln>
        </p:spPr>
        <p:txBody>
          <a:bodyPr lIns="38091" tIns="38091" rIns="38091" bIns="38091" anchor="ctr"/>
          <a:lstStyle/>
          <a:p>
            <a:pPr defTabSz="457056"/>
            <a:endParaRPr lang="en-CA" sz="1100">
              <a:solidFill>
                <a:srgbClr val="FFFFFF"/>
              </a:solidFill>
              <a:effectLst>
                <a:outerShdw blurRad="38100" dist="12700" dir="5400000" rotWithShape="0">
                  <a:srgbClr val="000000">
                    <a:alpha val="50000"/>
                  </a:srgbClr>
                </a:outerShdw>
              </a:effectLst>
              <a:latin typeface="Gill Sans"/>
            </a:endParaRPr>
          </a:p>
        </p:txBody>
      </p:sp>
      <p:sp>
        <p:nvSpPr>
          <p:cNvPr id="96" name="Arrow: Pentagon 95">
            <a:extLst>
              <a:ext uri="{FF2B5EF4-FFF2-40B4-BE49-F238E27FC236}">
                <a16:creationId xmlns:a16="http://schemas.microsoft.com/office/drawing/2014/main" id="{A3F74FCD-D51B-6482-588D-DEBC7A363CC3}"/>
              </a:ext>
            </a:extLst>
          </p:cNvPr>
          <p:cNvSpPr/>
          <p:nvPr/>
        </p:nvSpPr>
        <p:spPr>
          <a:xfrm>
            <a:off x="518890" y="3825856"/>
            <a:ext cx="5391014" cy="704088"/>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45720" rIns="182880" rtlCol="0" anchor="ctr"/>
          <a:lstStyle/>
          <a:p>
            <a:r>
              <a:rPr lang="en-CA" sz="1100" b="1">
                <a:solidFill>
                  <a:srgbClr val="EC111A"/>
                </a:solidFill>
                <a:latin typeface="Scotia Headline" panose="020B0703020203020204" pitchFamily="34" charset="0"/>
                <a:ea typeface="Scotia Headline" panose="020B0703020203020204" pitchFamily="34" charset="0"/>
              </a:rPr>
              <a:t>Shift to Specialist-Driven Model</a:t>
            </a:r>
            <a:br>
              <a:rPr lang="en-CA" sz="1100" b="1">
                <a:solidFill>
                  <a:schemeClr val="tx1"/>
                </a:solidFill>
                <a:latin typeface="Scotia Headline" panose="020B0703020203020204" pitchFamily="34" charset="0"/>
                <a:ea typeface="Scotia Headline" panose="020B0703020203020204" pitchFamily="34" charset="0"/>
              </a:rPr>
            </a:br>
            <a:r>
              <a:rPr lang="en-CA" sz="1000" kern="1200">
                <a:solidFill>
                  <a:schemeClr val="tx1"/>
                </a:solidFill>
                <a:latin typeface="+mn-lt"/>
                <a:ea typeface="+mn-ea"/>
                <a:cs typeface="+mn-cs"/>
              </a:rPr>
              <a:t>Improve role clarity </a:t>
            </a:r>
            <a:r>
              <a:rPr lang="en-CA" sz="1000">
                <a:solidFill>
                  <a:schemeClr val="tx1"/>
                </a:solidFill>
              </a:rPr>
              <a:t>for advisors</a:t>
            </a:r>
            <a:r>
              <a:rPr lang="en-CA" sz="1000" kern="1200">
                <a:solidFill>
                  <a:schemeClr val="tx1"/>
                </a:solidFill>
                <a:latin typeface="+mn-lt"/>
                <a:ea typeface="+mn-ea"/>
                <a:cs typeface="+mn-cs"/>
              </a:rPr>
              <a:t> &amp; standardize referral protocols to specialists</a:t>
            </a:r>
          </a:p>
        </p:txBody>
      </p:sp>
      <p:sp>
        <p:nvSpPr>
          <p:cNvPr id="103" name="Rectangle 102">
            <a:extLst>
              <a:ext uri="{FF2B5EF4-FFF2-40B4-BE49-F238E27FC236}">
                <a16:creationId xmlns:a16="http://schemas.microsoft.com/office/drawing/2014/main" id="{5BF9169F-DC41-BCDC-6E4A-3AA277F2B0BA}"/>
              </a:ext>
            </a:extLst>
          </p:cNvPr>
          <p:cNvSpPr>
            <a:spLocks noChangeAspect="1"/>
          </p:cNvSpPr>
          <p:nvPr/>
        </p:nvSpPr>
        <p:spPr>
          <a:xfrm>
            <a:off x="624333" y="3955607"/>
            <a:ext cx="432000" cy="436319"/>
          </a:xfrm>
          <a:prstGeom prst="rect">
            <a:avLst/>
          </a:prstGeom>
          <a:solidFill>
            <a:srgbClr val="EC111A"/>
          </a:solidFill>
          <a:ln w="9525" cap="flat">
            <a:noFill/>
            <a:prstDash val="solid"/>
            <a:miter/>
          </a:ln>
        </p:spPr>
        <p:txBody>
          <a:bodyPr rIns="182880" rtlCol="0" anchor="ctr"/>
          <a:lstStyle/>
          <a:p>
            <a:pPr marL="0" marR="0" lvl="0" indent="0" algn="l"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23" name="Shape 2619">
            <a:extLst>
              <a:ext uri="{FF2B5EF4-FFF2-40B4-BE49-F238E27FC236}">
                <a16:creationId xmlns:a16="http://schemas.microsoft.com/office/drawing/2014/main" id="{A221C679-DF09-39C1-0135-537E2F2F2F9F}"/>
              </a:ext>
            </a:extLst>
          </p:cNvPr>
          <p:cNvSpPr>
            <a:spLocks noChangeAspect="1"/>
          </p:cNvSpPr>
          <p:nvPr/>
        </p:nvSpPr>
        <p:spPr>
          <a:xfrm>
            <a:off x="731009" y="4073333"/>
            <a:ext cx="226711" cy="22671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chemeClr val="bg1"/>
          </a:solidFill>
          <a:ln w="8060" cap="flat">
            <a:noFill/>
            <a:prstDash val="solid"/>
            <a:miter/>
          </a:ln>
        </p:spPr>
        <p:txBody>
          <a:bodyPr lIns="38091" tIns="38091" rIns="38091" bIns="38091" anchor="ctr"/>
          <a:lstStyle/>
          <a:p>
            <a:pPr defTabSz="457056"/>
            <a:endParaRPr lang="en-CA" sz="1100">
              <a:solidFill>
                <a:srgbClr val="FFFFFF"/>
              </a:solidFill>
              <a:effectLst>
                <a:outerShdw blurRad="38100" dist="12700" dir="5400000" rotWithShape="0">
                  <a:srgbClr val="000000">
                    <a:alpha val="50000"/>
                  </a:srgbClr>
                </a:outerShdw>
              </a:effectLst>
              <a:latin typeface="Gill Sans"/>
            </a:endParaRPr>
          </a:p>
        </p:txBody>
      </p:sp>
      <p:sp>
        <p:nvSpPr>
          <p:cNvPr id="94" name="Arrow: Pentagon 93">
            <a:extLst>
              <a:ext uri="{FF2B5EF4-FFF2-40B4-BE49-F238E27FC236}">
                <a16:creationId xmlns:a16="http://schemas.microsoft.com/office/drawing/2014/main" id="{9BB37E01-AB2E-996A-413E-C077272B02AB}"/>
              </a:ext>
            </a:extLst>
          </p:cNvPr>
          <p:cNvSpPr/>
          <p:nvPr/>
        </p:nvSpPr>
        <p:spPr>
          <a:xfrm>
            <a:off x="524925" y="2265180"/>
            <a:ext cx="5391014" cy="704088"/>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45720" rIns="182880" rtlCol="0" anchor="ctr"/>
          <a:lstStyle/>
          <a:p>
            <a:r>
              <a:rPr lang="en-CA" sz="1100" b="1">
                <a:solidFill>
                  <a:srgbClr val="EC111A"/>
                </a:solidFill>
                <a:latin typeface="Scotia Headline" panose="020B0703020203020204" pitchFamily="34" charset="0"/>
                <a:ea typeface="Scotia Headline" panose="020B0703020203020204" pitchFamily="34" charset="0"/>
              </a:rPr>
              <a:t>Establish Virtual Capability</a:t>
            </a:r>
            <a:br>
              <a:rPr lang="en-CA" sz="1100" b="1">
                <a:solidFill>
                  <a:srgbClr val="A6000E"/>
                </a:solidFill>
                <a:latin typeface="Scotia Headline" panose="020B0703020203020204" pitchFamily="34" charset="0"/>
                <a:ea typeface="Scotia Headline" panose="020B0703020203020204" pitchFamily="34" charset="0"/>
              </a:rPr>
            </a:br>
            <a:r>
              <a:rPr lang="en-CA" sz="1000">
                <a:solidFill>
                  <a:schemeClr val="tx1"/>
                </a:solidFill>
              </a:rPr>
              <a:t>Increase client usage of self-serve channels, assisted by virtual capabilities </a:t>
            </a:r>
          </a:p>
        </p:txBody>
      </p:sp>
      <p:sp>
        <p:nvSpPr>
          <p:cNvPr id="99" name="Rectangle 98">
            <a:extLst>
              <a:ext uri="{FF2B5EF4-FFF2-40B4-BE49-F238E27FC236}">
                <a16:creationId xmlns:a16="http://schemas.microsoft.com/office/drawing/2014/main" id="{2E45C80A-E90E-7FA2-3444-9C6C0DF2FDF2}"/>
              </a:ext>
            </a:extLst>
          </p:cNvPr>
          <p:cNvSpPr>
            <a:spLocks noChangeAspect="1"/>
          </p:cNvSpPr>
          <p:nvPr/>
        </p:nvSpPr>
        <p:spPr>
          <a:xfrm>
            <a:off x="630368" y="2394931"/>
            <a:ext cx="432000" cy="436319"/>
          </a:xfrm>
          <a:prstGeom prst="rect">
            <a:avLst/>
          </a:prstGeom>
          <a:solidFill>
            <a:srgbClr val="EC111A"/>
          </a:solidFill>
          <a:ln w="9525" cap="flat">
            <a:noFill/>
            <a:prstDash val="solid"/>
            <a:miter/>
          </a:ln>
        </p:spPr>
        <p:txBody>
          <a:bodyPr rIns="182880" rtlCol="0" anchor="ctr"/>
          <a:lstStyle/>
          <a:p>
            <a:pPr marL="0" marR="0" lvl="0" indent="0" algn="l"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24" name="Shape 2643">
            <a:extLst>
              <a:ext uri="{FF2B5EF4-FFF2-40B4-BE49-F238E27FC236}">
                <a16:creationId xmlns:a16="http://schemas.microsoft.com/office/drawing/2014/main" id="{F081F072-537D-C037-1363-371E9B443D69}"/>
              </a:ext>
            </a:extLst>
          </p:cNvPr>
          <p:cNvSpPr>
            <a:spLocks noChangeAspect="1"/>
          </p:cNvSpPr>
          <p:nvPr/>
        </p:nvSpPr>
        <p:spPr>
          <a:xfrm>
            <a:off x="774829" y="2478679"/>
            <a:ext cx="151141" cy="277092"/>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bg1"/>
          </a:solidFill>
          <a:ln w="8060" cap="flat">
            <a:noFill/>
            <a:prstDash val="solid"/>
            <a:miter/>
          </a:ln>
        </p:spPr>
        <p:txBody>
          <a:bodyPr lIns="38091" tIns="38091" rIns="38091" bIns="38091" anchor="ctr"/>
          <a:lstStyle/>
          <a:p>
            <a:pPr defTabSz="457056"/>
            <a:endParaRPr lang="en-CA" sz="1100">
              <a:solidFill>
                <a:srgbClr val="FFFFFF"/>
              </a:solidFill>
              <a:effectLst>
                <a:outerShdw blurRad="38100" dist="12700" dir="5400000" rotWithShape="0">
                  <a:srgbClr val="000000">
                    <a:alpha val="50000"/>
                  </a:srgbClr>
                </a:outerShdw>
              </a:effectLst>
              <a:latin typeface="Gill Sans"/>
            </a:endParaRPr>
          </a:p>
        </p:txBody>
      </p:sp>
      <p:sp>
        <p:nvSpPr>
          <p:cNvPr id="95" name="Arrow: Pentagon 94">
            <a:extLst>
              <a:ext uri="{FF2B5EF4-FFF2-40B4-BE49-F238E27FC236}">
                <a16:creationId xmlns:a16="http://schemas.microsoft.com/office/drawing/2014/main" id="{49424FAA-E178-7B76-3149-D579CB8DB98D}"/>
              </a:ext>
            </a:extLst>
          </p:cNvPr>
          <p:cNvSpPr/>
          <p:nvPr/>
        </p:nvSpPr>
        <p:spPr>
          <a:xfrm>
            <a:off x="524924" y="3045518"/>
            <a:ext cx="5391014" cy="704088"/>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45720" rIns="182880" rtlCol="0" anchor="ctr"/>
          <a:lstStyle/>
          <a:p>
            <a:r>
              <a:rPr lang="en-CA" sz="1100" b="1">
                <a:solidFill>
                  <a:srgbClr val="EC111A"/>
                </a:solidFill>
                <a:latin typeface="Scotia Headline" panose="020B0703020203020204" pitchFamily="34" charset="0"/>
                <a:ea typeface="Scotia Headline" panose="020B0703020203020204" pitchFamily="34" charset="0"/>
              </a:rPr>
              <a:t>Reduce Branch Staff</a:t>
            </a:r>
            <a:br>
              <a:rPr lang="en-CA" sz="1100" b="1">
                <a:solidFill>
                  <a:srgbClr val="A6000E"/>
                </a:solidFill>
                <a:latin typeface="Scotia Headline" panose="020B0703020203020204" pitchFamily="34" charset="0"/>
                <a:ea typeface="Scotia Headline" panose="020B0703020203020204" pitchFamily="34" charset="0"/>
              </a:rPr>
            </a:br>
            <a:r>
              <a:rPr lang="en-CA" sz="1000" kern="1200">
                <a:solidFill>
                  <a:schemeClr val="tx1"/>
                </a:solidFill>
                <a:latin typeface="+mn-lt"/>
                <a:ea typeface="+mn-ea"/>
                <a:cs typeface="+mn-cs"/>
              </a:rPr>
              <a:t>Incentivize adoption of virtual channels to reduce client reliance on branch</a:t>
            </a:r>
          </a:p>
        </p:txBody>
      </p:sp>
      <p:sp>
        <p:nvSpPr>
          <p:cNvPr id="101" name="Rectangle 100">
            <a:extLst>
              <a:ext uri="{FF2B5EF4-FFF2-40B4-BE49-F238E27FC236}">
                <a16:creationId xmlns:a16="http://schemas.microsoft.com/office/drawing/2014/main" id="{3B5CBAFE-FBC9-FDB4-61C7-E56FF7ECDD9A}"/>
              </a:ext>
            </a:extLst>
          </p:cNvPr>
          <p:cNvSpPr>
            <a:spLocks noChangeAspect="1"/>
          </p:cNvSpPr>
          <p:nvPr/>
        </p:nvSpPr>
        <p:spPr>
          <a:xfrm>
            <a:off x="630367" y="3175269"/>
            <a:ext cx="432000" cy="436319"/>
          </a:xfrm>
          <a:prstGeom prst="rect">
            <a:avLst/>
          </a:prstGeom>
          <a:solidFill>
            <a:srgbClr val="EC111A"/>
          </a:solidFill>
          <a:ln w="9525" cap="flat">
            <a:noFill/>
            <a:prstDash val="solid"/>
            <a:miter/>
          </a:ln>
        </p:spPr>
        <p:txBody>
          <a:bodyPr rIns="182880" rtlCol="0" anchor="ctr"/>
          <a:lstStyle/>
          <a:p>
            <a:pPr marL="0" marR="0" lvl="0" indent="0" algn="l" defTabSz="914355"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25" name="Shape 2647">
            <a:extLst>
              <a:ext uri="{FF2B5EF4-FFF2-40B4-BE49-F238E27FC236}">
                <a16:creationId xmlns:a16="http://schemas.microsoft.com/office/drawing/2014/main" id="{AA84F6B9-0CA7-33F1-EB67-F59D1DEE7F99}"/>
              </a:ext>
            </a:extLst>
          </p:cNvPr>
          <p:cNvSpPr>
            <a:spLocks noChangeAspect="1"/>
          </p:cNvSpPr>
          <p:nvPr/>
        </p:nvSpPr>
        <p:spPr>
          <a:xfrm>
            <a:off x="737043" y="3284207"/>
            <a:ext cx="226711" cy="226711"/>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chemeClr val="bg1"/>
          </a:solidFill>
          <a:ln w="8060" cap="flat">
            <a:noFill/>
            <a:prstDash val="solid"/>
            <a:miter/>
          </a:ln>
        </p:spPr>
        <p:txBody>
          <a:bodyPr lIns="38091" tIns="38091" rIns="38091" bIns="38091" anchor="ctr"/>
          <a:lstStyle/>
          <a:p>
            <a:pPr defTabSz="457056"/>
            <a:endParaRPr lang="en-CA" sz="1100">
              <a:solidFill>
                <a:srgbClr val="FFFFFF"/>
              </a:solidFill>
              <a:effectLst>
                <a:outerShdw blurRad="38100" dist="12700" dir="5400000" rotWithShape="0">
                  <a:srgbClr val="000000">
                    <a:alpha val="50000"/>
                  </a:srgbClr>
                </a:outerShdw>
              </a:effectLst>
              <a:latin typeface="Gill Sans"/>
            </a:endParaRPr>
          </a:p>
        </p:txBody>
      </p:sp>
      <p:sp>
        <p:nvSpPr>
          <p:cNvPr id="15" name="Rectangle 14">
            <a:extLst>
              <a:ext uri="{FF2B5EF4-FFF2-40B4-BE49-F238E27FC236}">
                <a16:creationId xmlns:a16="http://schemas.microsoft.com/office/drawing/2014/main" id="{69D2D22B-B39A-8FC0-2F5B-9F11ED139CC4}"/>
              </a:ext>
            </a:extLst>
          </p:cNvPr>
          <p:cNvSpPr/>
          <p:nvPr/>
        </p:nvSpPr>
        <p:spPr>
          <a:xfrm>
            <a:off x="6008915" y="1963050"/>
            <a:ext cx="5658160" cy="3000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spc="300">
                <a:solidFill>
                  <a:schemeClr val="tx1"/>
                </a:solidFill>
              </a:rPr>
              <a:t>INITIAL IMPLICATIONS</a:t>
            </a:r>
          </a:p>
        </p:txBody>
      </p:sp>
      <p:sp>
        <p:nvSpPr>
          <p:cNvPr id="11" name="Rectangle 10">
            <a:extLst>
              <a:ext uri="{FF2B5EF4-FFF2-40B4-BE49-F238E27FC236}">
                <a16:creationId xmlns:a16="http://schemas.microsoft.com/office/drawing/2014/main" id="{D75A6DDF-5240-5F41-4C03-631CB8F02C4E}"/>
              </a:ext>
            </a:extLst>
          </p:cNvPr>
          <p:cNvSpPr/>
          <p:nvPr/>
        </p:nvSpPr>
        <p:spPr>
          <a:xfrm>
            <a:off x="524923" y="3038788"/>
            <a:ext cx="11142151" cy="704087"/>
          </a:xfrm>
          <a:prstGeom prst="rect">
            <a:avLst/>
          </a:prstGeom>
          <a:no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12" name="Rectangle 11">
            <a:extLst>
              <a:ext uri="{FF2B5EF4-FFF2-40B4-BE49-F238E27FC236}">
                <a16:creationId xmlns:a16="http://schemas.microsoft.com/office/drawing/2014/main" id="{B6CD257C-BB8B-55A6-5DCE-B16DB016287D}"/>
              </a:ext>
            </a:extLst>
          </p:cNvPr>
          <p:cNvSpPr/>
          <p:nvPr/>
        </p:nvSpPr>
        <p:spPr>
          <a:xfrm>
            <a:off x="524923" y="3832586"/>
            <a:ext cx="11142151" cy="704087"/>
          </a:xfrm>
          <a:prstGeom prst="rect">
            <a:avLst/>
          </a:prstGeom>
          <a:no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13" name="Rectangle 12">
            <a:extLst>
              <a:ext uri="{FF2B5EF4-FFF2-40B4-BE49-F238E27FC236}">
                <a16:creationId xmlns:a16="http://schemas.microsoft.com/office/drawing/2014/main" id="{4ADC3C04-D987-28E9-D5B3-C2859D8BD24F}"/>
              </a:ext>
            </a:extLst>
          </p:cNvPr>
          <p:cNvSpPr/>
          <p:nvPr/>
        </p:nvSpPr>
        <p:spPr>
          <a:xfrm>
            <a:off x="524923" y="4605065"/>
            <a:ext cx="11142151" cy="704087"/>
          </a:xfrm>
          <a:prstGeom prst="rect">
            <a:avLst/>
          </a:prstGeom>
          <a:no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14" name="Rectangle 13">
            <a:extLst>
              <a:ext uri="{FF2B5EF4-FFF2-40B4-BE49-F238E27FC236}">
                <a16:creationId xmlns:a16="http://schemas.microsoft.com/office/drawing/2014/main" id="{79C93DB4-D8F7-27CE-2507-7B48134276C2}"/>
              </a:ext>
            </a:extLst>
          </p:cNvPr>
          <p:cNvSpPr/>
          <p:nvPr/>
        </p:nvSpPr>
        <p:spPr>
          <a:xfrm>
            <a:off x="524923" y="5392058"/>
            <a:ext cx="11142151" cy="704087"/>
          </a:xfrm>
          <a:prstGeom prst="rect">
            <a:avLst/>
          </a:prstGeom>
          <a:no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Tree>
    <p:extLst>
      <p:ext uri="{BB962C8B-B14F-4D97-AF65-F5344CB8AC3E}">
        <p14:creationId xmlns:p14="http://schemas.microsoft.com/office/powerpoint/2010/main" val="182510758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345205-D62B-67B9-0807-9C9C8032D702}"/>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54282C5-B09A-12C9-4C06-B0300591BDB9}"/>
              </a:ext>
            </a:extLst>
          </p:cNvPr>
          <p:cNvSpPr>
            <a:spLocks noGrp="1"/>
          </p:cNvSpPr>
          <p:nvPr>
            <p:ph type="body" sz="quarter" idx="11"/>
          </p:nvPr>
        </p:nvSpPr>
        <p:spPr/>
        <p:txBody>
          <a:bodyPr/>
          <a:lstStyle/>
          <a:p>
            <a:r>
              <a:rPr lang="en-CA"/>
              <a:t>Project Scopes</a:t>
            </a:r>
          </a:p>
        </p:txBody>
      </p:sp>
      <p:sp>
        <p:nvSpPr>
          <p:cNvPr id="3" name="Text Placeholder 2">
            <a:extLst>
              <a:ext uri="{FF2B5EF4-FFF2-40B4-BE49-F238E27FC236}">
                <a16:creationId xmlns:a16="http://schemas.microsoft.com/office/drawing/2014/main" id="{BCA40D25-187C-EA62-D5BC-ED9EF1970E62}"/>
              </a:ext>
            </a:extLst>
          </p:cNvPr>
          <p:cNvSpPr>
            <a:spLocks noGrp="1"/>
          </p:cNvSpPr>
          <p:nvPr>
            <p:ph type="body" sz="quarter" idx="12"/>
          </p:nvPr>
        </p:nvSpPr>
        <p:spPr/>
        <p:txBody>
          <a:bodyPr/>
          <a:lstStyle/>
          <a:p>
            <a:r>
              <a:rPr lang="en-CA"/>
              <a:t>04</a:t>
            </a:r>
          </a:p>
        </p:txBody>
      </p:sp>
    </p:spTree>
    <p:extLst>
      <p:ext uri="{BB962C8B-B14F-4D97-AF65-F5344CB8AC3E}">
        <p14:creationId xmlns:p14="http://schemas.microsoft.com/office/powerpoint/2010/main" val="208045573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DDB9D-D0B6-E83C-DCED-E9FA3DFA14A7}"/>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FEC53C4B-D50F-CB24-D2B2-50FB6D32B38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6" progId="TCLayout.ActiveDocument.1">
                  <p:embed/>
                </p:oleObj>
              </mc:Choice>
              <mc:Fallback>
                <p:oleObj name="think-cell Slide" r:id="rId4" imgW="473" imgH="476" progId="TCLayout.ActiveDocument.1">
                  <p:embed/>
                  <p:pic>
                    <p:nvPicPr>
                      <p:cNvPr id="8" name="think-cell data - do not delete" hidden="1">
                        <a:extLst>
                          <a:ext uri="{FF2B5EF4-FFF2-40B4-BE49-F238E27FC236}">
                            <a16:creationId xmlns:a16="http://schemas.microsoft.com/office/drawing/2014/main" id="{FEC53C4B-D50F-CB24-D2B2-50FB6D32B38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AA19F5B-6007-C2DB-5248-19EE406D5A35}"/>
              </a:ext>
            </a:extLst>
          </p:cNvPr>
          <p:cNvSpPr>
            <a:spLocks noGrp="1"/>
          </p:cNvSpPr>
          <p:nvPr>
            <p:ph type="title"/>
          </p:nvPr>
        </p:nvSpPr>
        <p:spPr/>
        <p:txBody>
          <a:bodyPr vert="horz" rIns="0"/>
          <a:lstStyle/>
          <a:p>
            <a:r>
              <a:rPr lang="en-US">
                <a:solidFill>
                  <a:schemeClr val="accent1"/>
                </a:solidFill>
              </a:rPr>
              <a:t>Outline | </a:t>
            </a:r>
            <a:r>
              <a:rPr lang="en-US"/>
              <a:t>The BL and Technology Strategic and Financial Updates at the September Board Strategy Session follow a standard format</a:t>
            </a:r>
          </a:p>
        </p:txBody>
      </p:sp>
      <p:sp>
        <p:nvSpPr>
          <p:cNvPr id="5" name="Text Placeholder 4">
            <a:extLst>
              <a:ext uri="{FF2B5EF4-FFF2-40B4-BE49-F238E27FC236}">
                <a16:creationId xmlns:a16="http://schemas.microsoft.com/office/drawing/2014/main" id="{20E36455-3778-1ED3-F289-7393A5452687}"/>
              </a:ext>
            </a:extLst>
          </p:cNvPr>
          <p:cNvSpPr>
            <a:spLocks noGrp="1"/>
          </p:cNvSpPr>
          <p:nvPr>
            <p:ph type="body" sz="quarter" idx="13"/>
          </p:nvPr>
        </p:nvSpPr>
        <p:spPr>
          <a:xfrm>
            <a:off x="515938" y="342857"/>
            <a:ext cx="5616000" cy="180000"/>
          </a:xfrm>
        </p:spPr>
        <p:txBody>
          <a:bodyPr/>
          <a:lstStyle/>
          <a:p>
            <a:r>
              <a:rPr lang="en-US"/>
              <a:t>High-level overview of September board</a:t>
            </a:r>
          </a:p>
        </p:txBody>
      </p:sp>
      <p:sp>
        <p:nvSpPr>
          <p:cNvPr id="7" name="Slide Number Placeholder 6">
            <a:extLst>
              <a:ext uri="{FF2B5EF4-FFF2-40B4-BE49-F238E27FC236}">
                <a16:creationId xmlns:a16="http://schemas.microsoft.com/office/drawing/2014/main" id="{CA9DBBB1-C203-89DF-800C-4323C943C61E}"/>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graphicFrame>
        <p:nvGraphicFramePr>
          <p:cNvPr id="9" name="Table 8">
            <a:extLst>
              <a:ext uri="{FF2B5EF4-FFF2-40B4-BE49-F238E27FC236}">
                <a16:creationId xmlns:a16="http://schemas.microsoft.com/office/drawing/2014/main" id="{D9E28969-282E-6066-6ACD-F87F7F83D289}"/>
              </a:ext>
            </a:extLst>
          </p:cNvPr>
          <p:cNvGraphicFramePr>
            <a:graphicFrameLocks noGrp="1"/>
          </p:cNvGraphicFramePr>
          <p:nvPr/>
        </p:nvGraphicFramePr>
        <p:xfrm>
          <a:off x="515936" y="1479204"/>
          <a:ext cx="11170758" cy="5109777"/>
        </p:xfrm>
        <a:graphic>
          <a:graphicData uri="http://schemas.openxmlformats.org/drawingml/2006/table">
            <a:tbl>
              <a:tblPr firstRow="1" bandRow="1">
                <a:tableStyleId>{5C22544A-7EE6-4342-B048-85BDC9FD1C3A}</a:tableStyleId>
              </a:tblPr>
              <a:tblGrid>
                <a:gridCol w="817564">
                  <a:extLst>
                    <a:ext uri="{9D8B030D-6E8A-4147-A177-3AD203B41FA5}">
                      <a16:colId xmlns:a16="http://schemas.microsoft.com/office/drawing/2014/main" val="265015727"/>
                    </a:ext>
                  </a:extLst>
                </a:gridCol>
                <a:gridCol w="809065">
                  <a:extLst>
                    <a:ext uri="{9D8B030D-6E8A-4147-A177-3AD203B41FA5}">
                      <a16:colId xmlns:a16="http://schemas.microsoft.com/office/drawing/2014/main" val="3270373000"/>
                    </a:ext>
                  </a:extLst>
                </a:gridCol>
                <a:gridCol w="2294964">
                  <a:extLst>
                    <a:ext uri="{9D8B030D-6E8A-4147-A177-3AD203B41FA5}">
                      <a16:colId xmlns:a16="http://schemas.microsoft.com/office/drawing/2014/main" val="3961663497"/>
                    </a:ext>
                  </a:extLst>
                </a:gridCol>
                <a:gridCol w="6042212">
                  <a:extLst>
                    <a:ext uri="{9D8B030D-6E8A-4147-A177-3AD203B41FA5}">
                      <a16:colId xmlns:a16="http://schemas.microsoft.com/office/drawing/2014/main" val="19334876"/>
                    </a:ext>
                  </a:extLst>
                </a:gridCol>
                <a:gridCol w="1206953">
                  <a:extLst>
                    <a:ext uri="{9D8B030D-6E8A-4147-A177-3AD203B41FA5}">
                      <a16:colId xmlns:a16="http://schemas.microsoft.com/office/drawing/2014/main" val="881775404"/>
                    </a:ext>
                  </a:extLst>
                </a:gridCol>
              </a:tblGrid>
              <a:tr h="384206">
                <a:tc gridSpan="2">
                  <a:txBody>
                    <a:bodyPr/>
                    <a:lstStyle/>
                    <a:p>
                      <a:r>
                        <a:rPr lang="en-CA" sz="1200"/>
                        <a:t>Section</a:t>
                      </a:r>
                    </a:p>
                  </a:txBody>
                  <a:tcPr marL="108000" marR="108000" anchor="ctr">
                    <a:lnR w="57150" cap="flat" cmpd="sng" algn="ctr">
                      <a:solidFill>
                        <a:schemeClr val="bg1"/>
                      </a:solidFill>
                      <a:prstDash val="solid"/>
                      <a:round/>
                      <a:headEnd type="none" w="med" len="med"/>
                      <a:tailEnd type="none" w="med" len="med"/>
                    </a:lnR>
                  </a:tcPr>
                </a:tc>
                <a:tc hMerge="1">
                  <a:txBody>
                    <a:bodyPr/>
                    <a:lstStyle/>
                    <a:p>
                      <a:endParaRPr lang="en-US"/>
                    </a:p>
                  </a:txBody>
                  <a:tcPr/>
                </a:tc>
                <a:tc>
                  <a:txBody>
                    <a:bodyPr/>
                    <a:lstStyle/>
                    <a:p>
                      <a:r>
                        <a:rPr lang="en-CA" sz="1200"/>
                        <a:t>Standard Outline</a:t>
                      </a:r>
                    </a:p>
                  </a:txBody>
                  <a:tcPr marL="108000" marR="10800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tcPr>
                </a:tc>
                <a:tc>
                  <a:txBody>
                    <a:bodyPr/>
                    <a:lstStyle/>
                    <a:p>
                      <a:r>
                        <a:rPr lang="en-CA" sz="1200"/>
                        <a:t>Proposed Technology Content</a:t>
                      </a:r>
                    </a:p>
                  </a:txBody>
                  <a:tcPr marL="108000" marR="10800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tcPr>
                </a:tc>
                <a:tc>
                  <a:txBody>
                    <a:bodyPr/>
                    <a:lstStyle/>
                    <a:p>
                      <a:r>
                        <a:rPr lang="en-CA" sz="1200"/>
                        <a:t>Workstream</a:t>
                      </a:r>
                    </a:p>
                  </a:txBody>
                  <a:tcPr marL="108000" marR="10800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B w="38100" cmpd="sng">
                      <a:noFill/>
                    </a:lnB>
                  </a:tcPr>
                </a:tc>
                <a:extLst>
                  <a:ext uri="{0D108BD9-81ED-4DB2-BD59-A6C34878D82A}">
                    <a16:rowId xmlns:a16="http://schemas.microsoft.com/office/drawing/2014/main" val="3700887362"/>
                  </a:ext>
                </a:extLst>
              </a:tr>
              <a:tr h="506882">
                <a:tc rowSpan="3" gridSpan="2">
                  <a:txBody>
                    <a:bodyPr/>
                    <a:lstStyle/>
                    <a:p>
                      <a:endParaRPr lang="en-CA" sz="1000" b="1" kern="1200">
                        <a:solidFill>
                          <a:schemeClr val="tx1"/>
                        </a:solidFill>
                        <a:latin typeface="+mn-lt"/>
                        <a:ea typeface="+mn-ea"/>
                        <a:cs typeface="+mn-cs"/>
                      </a:endParaRPr>
                    </a:p>
                  </a:txBody>
                  <a:tcPr marL="18288" marR="18288">
                    <a:lnB w="12700" cap="flat" cmpd="sng" algn="ctr">
                      <a:solidFill>
                        <a:schemeClr val="tx1"/>
                      </a:solidFill>
                      <a:prstDash val="solid"/>
                      <a:round/>
                      <a:headEnd type="none" w="med" len="med"/>
                      <a:tailEnd type="none" w="med" len="med"/>
                    </a:lnB>
                    <a:solidFill>
                      <a:schemeClr val="bg1"/>
                    </a:solidFill>
                  </a:tcPr>
                </a:tc>
                <a:tc rowSpan="3" hMerge="1">
                  <a:txBody>
                    <a:bodyPr/>
                    <a:lstStyle/>
                    <a:p>
                      <a:endParaRPr lang="en-US"/>
                    </a:p>
                  </a:txBody>
                  <a:tcPr/>
                </a:tc>
                <a:tc>
                  <a:txBody>
                    <a:bodyPr/>
                    <a:lstStyle/>
                    <a:p>
                      <a:r>
                        <a:rPr lang="en-CA" sz="1200" b="1"/>
                        <a:t>Execution Progress – Key Highlights</a:t>
                      </a:r>
                    </a:p>
                  </a:txBody>
                  <a:tcPr marL="72000" marR="36000" anchor="ctr">
                    <a:lnB w="12700" cap="flat" cmpd="sng" algn="ctr">
                      <a:solidFill>
                        <a:schemeClr val="bg1">
                          <a:lumMod val="50000"/>
                        </a:schemeClr>
                      </a:solidFill>
                      <a:prstDash val="sysDot"/>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n-CA" sz="1200"/>
                        <a:t>Key achievements against All-Bank Technology Strategy and BNS Strategy (i.e., Marquee Programs)</a:t>
                      </a:r>
                    </a:p>
                  </a:txBody>
                  <a:tcPr marL="72000" marR="36000" anchor="ctr">
                    <a:lnR w="12700" cmpd="sng">
                      <a:noFill/>
                    </a:lnR>
                    <a:lnB w="12700" cap="flat" cmpd="sng" algn="ctr">
                      <a:solidFill>
                        <a:schemeClr val="bg1">
                          <a:lumMod val="50000"/>
                        </a:schemeClr>
                      </a:solidFill>
                      <a:prstDash val="sysDot"/>
                      <a:round/>
                      <a:headEnd type="none" w="med" len="med"/>
                      <a:tailEnd type="none" w="med" len="med"/>
                    </a:lnB>
                    <a:solidFill>
                      <a:schemeClr val="bg1"/>
                    </a:solidFill>
                  </a:tcPr>
                </a:tc>
                <a:tc>
                  <a:txBody>
                    <a:bodyPr/>
                    <a:lstStyle/>
                    <a:p>
                      <a:pPr marL="0" indent="0" algn="ctr">
                        <a:buFont typeface="Arial" panose="020B0604020202020204" pitchFamily="34" charset="0"/>
                        <a:buNone/>
                      </a:pPr>
                      <a:r>
                        <a:rPr lang="en-CA" sz="1200" b="1"/>
                        <a:t>WS1</a:t>
                      </a:r>
                    </a:p>
                  </a:txBody>
                  <a:tcPr marL="72000" marR="36000" anchor="ctr">
                    <a:lnL w="12700" cmpd="sng">
                      <a:noFill/>
                    </a:lnL>
                    <a:lnR w="12700" cmpd="sng">
                      <a:noFill/>
                    </a:lnR>
                    <a:lnT w="38100" cmpd="sng">
                      <a:noFill/>
                    </a:lnT>
                    <a:lnB w="12700" cap="flat" cmpd="sng" algn="ctr">
                      <a:solidFill>
                        <a:schemeClr val="bg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99047937"/>
                  </a:ext>
                </a:extLst>
              </a:tr>
              <a:tr h="414324">
                <a:tc gridSpan="2" vMerge="1">
                  <a:txBody>
                    <a:bodyPr/>
                    <a:lstStyle/>
                    <a:p>
                      <a:endParaRPr lang="en-CA" sz="1200"/>
                    </a:p>
                  </a:txBody>
                  <a:tcPr marL="18288" marR="18288">
                    <a:lnT w="12700" cap="flat" cmpd="sng" algn="ctr">
                      <a:solidFill>
                        <a:schemeClr val="tx1"/>
                      </a:solidFill>
                      <a:prstDash val="solid"/>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hMerge="1" vMerge="1">
                  <a:txBody>
                    <a:bodyPr/>
                    <a:lstStyle/>
                    <a:p>
                      <a:endParaRPr lang="en-US"/>
                    </a:p>
                  </a:txBody>
                  <a:tcPr/>
                </a:tc>
                <a:tc>
                  <a:txBody>
                    <a:bodyPr/>
                    <a:lstStyle/>
                    <a:p>
                      <a:r>
                        <a:rPr lang="en-CA" sz="1200" b="1"/>
                        <a:t>F26 Financial Results</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n-CA" sz="1200"/>
                        <a:t>Tech Spend vs. Plan, with drivers of variance </a:t>
                      </a:r>
                      <a:r>
                        <a:rPr lang="en-CA" sz="1200" i="1"/>
                        <a:t>(standard Tech waterfall w/ commentary)</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chemeClr val="bg1"/>
                    </a:solidFill>
                  </a:tcPr>
                </a:tc>
                <a:tc rowSpan="2">
                  <a:txBody>
                    <a:bodyPr/>
                    <a:lstStyle/>
                    <a:p>
                      <a:pPr marL="0" indent="0" algn="ctr">
                        <a:buFont typeface="Arial" panose="020B0604020202020204" pitchFamily="34" charset="0"/>
                        <a:buNone/>
                      </a:pPr>
                      <a:r>
                        <a:rPr lang="en-CA" sz="1200" b="1"/>
                        <a:t>WS3</a:t>
                      </a:r>
                      <a:endParaRPr lang="en-CA" sz="1200" i="1"/>
                    </a:p>
                  </a:txBody>
                  <a:tcPr marL="72000" marR="36000" anchor="ctr">
                    <a:lnT w="12700" cap="flat" cmpd="sng" algn="ctr">
                      <a:solidFill>
                        <a:schemeClr val="bg2">
                          <a:lumMod val="40000"/>
                          <a:lumOff val="6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0110459"/>
                  </a:ext>
                </a:extLst>
              </a:tr>
              <a:tr h="392886">
                <a:tc gridSpan="2" vMerge="1">
                  <a:txBody>
                    <a:bodyPr/>
                    <a:lstStyle/>
                    <a:p>
                      <a:endParaRPr lang="en-CA" sz="1200"/>
                    </a:p>
                  </a:txBody>
                  <a:tcPr marL="18288" marR="18288">
                    <a:lnT w="12700" cap="flat" cmpd="sng" algn="ctr">
                      <a:solidFill>
                        <a:schemeClr val="tx1"/>
                      </a:solidFill>
                      <a:prstDash val="solid"/>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hMerge="1" vMerge="1">
                  <a:txBody>
                    <a:bodyPr/>
                    <a:lstStyle/>
                    <a:p>
                      <a:endParaRPr lang="en-US"/>
                    </a:p>
                  </a:txBody>
                  <a:tcPr/>
                </a:tc>
                <a:tc>
                  <a:txBody>
                    <a:bodyPr/>
                    <a:lstStyle/>
                    <a:p>
                      <a:r>
                        <a:rPr lang="en-CA" sz="1200" b="1"/>
                        <a:t>F26 KPI Results</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n-CA" sz="1200"/>
                        <a:t>Performance against F26 Board-Level KPIs and KRIs </a:t>
                      </a:r>
                      <a:r>
                        <a:rPr lang="en-CA" sz="1200" i="1"/>
                        <a:t>(standard Sept Board format)</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171450" indent="-171450">
                        <a:buFont typeface="Arial" panose="020B0604020202020204" pitchFamily="34" charset="0"/>
                        <a:buChar char="•"/>
                      </a:pPr>
                      <a:endParaRPr lang="en-CA" sz="1200" i="1"/>
                    </a:p>
                  </a:txBody>
                  <a:tcPr marL="72000" marR="3600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00810670"/>
                  </a:ext>
                </a:extLst>
              </a:tr>
              <a:tr h="442523">
                <a:tc rowSpan="7">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endParaRPr lang="en-CA" sz="1200"/>
                    </a:p>
                  </a:txBody>
                  <a:tcPr marL="18288" marR="18288" marT="9144" marB="9144">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bg1"/>
                    </a:solidFill>
                  </a:tcPr>
                </a:tc>
                <a:tc rowSpan="3">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endParaRPr lang="en-CA" sz="1200"/>
                    </a:p>
                  </a:txBody>
                  <a:tcPr marL="18288" marR="18288" marT="9144" marB="9144">
                    <a:lnL w="12700" cap="flat" cmpd="sng" algn="ctr">
                      <a:solidFill>
                        <a:schemeClr val="bg1">
                          <a:lumMod val="75000"/>
                        </a:schemeClr>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200" b="1"/>
                        <a:t>Key shifts impacting Strategy</a:t>
                      </a:r>
                      <a:endParaRPr lang="en-CA" sz="1200" b="1"/>
                    </a:p>
                  </a:txBody>
                  <a:tcPr marL="72000" marR="36000" anchor="ct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sz="1200" u="none"/>
                        <a:t>Headwinds creating cost pressures (e.g., </a:t>
                      </a:r>
                      <a:r>
                        <a:rPr lang="en-CA" sz="1200" u="none" err="1"/>
                        <a:t>tokenomics</a:t>
                      </a:r>
                      <a:r>
                        <a:rPr lang="en-CA" sz="1200" u="none"/>
                        <a:t>, cost of compute – chips, AI race)</a:t>
                      </a:r>
                      <a:endParaRPr lang="en-CA" sz="1200" i="1" u="none"/>
                    </a:p>
                  </a:txBody>
                  <a:tcPr marL="72000" marR="36000" anchor="ct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rowSpan="3">
                  <a:txBody>
                    <a:bodyPr/>
                    <a:lstStyle/>
                    <a:p>
                      <a:pPr marL="0" marR="0" lvl="0" indent="0" algn="ctr" defTabSz="914411"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200" b="1" i="0"/>
                        <a:t>WS2</a:t>
                      </a:r>
                    </a:p>
                  </a:txBody>
                  <a:tcPr marL="72000" marR="3600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EECED"/>
                    </a:solidFill>
                  </a:tcPr>
                </a:tc>
                <a:extLst>
                  <a:ext uri="{0D108BD9-81ED-4DB2-BD59-A6C34878D82A}">
                    <a16:rowId xmlns:a16="http://schemas.microsoft.com/office/drawing/2014/main" val="1162417478"/>
                  </a:ext>
                </a:extLst>
              </a:tr>
              <a:tr h="442523">
                <a:tc vMerge="1">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endParaRPr lang="en-CA" sz="1200"/>
                    </a:p>
                  </a:txBody>
                  <a:tcPr marL="18288" marR="18288" marT="9144" marB="9144">
                    <a:lnT w="12700" cap="flat" cmpd="sng" algn="ctr">
                      <a:noFill/>
                      <a:prstDash val="sysDot"/>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vMerge="1">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endParaRPr lang="en-CA" sz="1200"/>
                    </a:p>
                  </a:txBody>
                  <a:tcPr marL="18288" marR="18288" marT="9144" marB="9144">
                    <a:lnT w="12700" cap="flat" cmpd="sng" algn="ctr">
                      <a:noFill/>
                      <a:prstDash val="sysDot"/>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a:txBody>
                    <a:bodyPr/>
                    <a:lstStyle/>
                    <a:p>
                      <a:pPr marL="0" marR="0" lvl="0" indent="0" algn="l" defTabSz="914411"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200" b="1" kern="1200">
                          <a:solidFill>
                            <a:schemeClr val="dk1"/>
                          </a:solidFill>
                          <a:latin typeface="+mn-lt"/>
                          <a:ea typeface="+mn-ea"/>
                          <a:cs typeface="+mn-cs"/>
                        </a:rPr>
                        <a:t>Competitive Benchmarks</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171450" indent="-171450">
                        <a:buFont typeface="Arial" panose="020B0604020202020204" pitchFamily="34" charset="0"/>
                        <a:buChar char="•"/>
                      </a:pPr>
                      <a:r>
                        <a:rPr lang="en-CA" sz="1200" u="none"/>
                        <a:t>High level benchmarks (e.g., spend level / profile, </a:t>
                      </a:r>
                      <a:r>
                        <a:rPr lang="en-US" sz="1200" u="none"/>
                        <a:t>workforce, performance, complexity / legacy debt, “big bets”) and implications that point to F27+ strategic priorities</a:t>
                      </a:r>
                      <a:endParaRPr lang="en-CA" sz="1200" i="1" u="none"/>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vMerge="1">
                  <a:txBody>
                    <a:bodyPr/>
                    <a:lstStyle/>
                    <a:p>
                      <a:pPr marL="171450" indent="-171450">
                        <a:buFont typeface="Arial" panose="020B0604020202020204" pitchFamily="34" charset="0"/>
                        <a:buChar char="•"/>
                      </a:pPr>
                      <a:endParaRPr lang="en-CA" sz="1200" i="1"/>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extLst>
                  <a:ext uri="{0D108BD9-81ED-4DB2-BD59-A6C34878D82A}">
                    <a16:rowId xmlns:a16="http://schemas.microsoft.com/office/drawing/2014/main" val="1478604372"/>
                  </a:ext>
                </a:extLst>
              </a:tr>
              <a:tr h="605235">
                <a:tc vMerge="1">
                  <a:txBody>
                    <a:bodyPr/>
                    <a:lstStyle/>
                    <a:p>
                      <a:endParaRPr lang="en-CA"/>
                    </a:p>
                  </a:txBody>
                  <a:tcPr/>
                </a:tc>
                <a:tc vMerge="1">
                  <a:txBody>
                    <a:bodyPr/>
                    <a:lstStyle/>
                    <a:p>
                      <a:endParaRPr lang="en-US"/>
                    </a:p>
                  </a:txBody>
                  <a:tcPr>
                    <a:lnT w="12700" cap="flat" cmpd="sng" algn="ctr">
                      <a:solidFill>
                        <a:schemeClr val="tx1"/>
                      </a:solidFill>
                      <a:prstDash val="solid"/>
                      <a:round/>
                      <a:headEnd type="none" w="med" len="med"/>
                      <a:tailEnd type="none" w="med" len="med"/>
                    </a:lnT>
                  </a:tcPr>
                </a:tc>
                <a:tc>
                  <a:txBody>
                    <a:bodyPr/>
                    <a:lstStyle/>
                    <a:p>
                      <a:pPr marL="0" indent="0" algn="l" defTabSz="914411" rtl="0" eaLnBrk="1" latinLnBrk="0" hangingPunct="1">
                        <a:buFont typeface="Arial" panose="020B0604020202020204" pitchFamily="34" charset="0"/>
                        <a:buNone/>
                      </a:pPr>
                      <a:r>
                        <a:rPr lang="en-CA" sz="1200" b="1" kern="1200">
                          <a:solidFill>
                            <a:schemeClr val="dk1"/>
                          </a:solidFill>
                          <a:latin typeface="+mn-lt"/>
                          <a:ea typeface="+mn-ea"/>
                          <a:cs typeface="+mn-cs"/>
                        </a:rPr>
                        <a:t>Strategic Deep-Dives</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FEECED"/>
                    </a:solid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sz="1200" u="none"/>
                        <a:t>“Deep Dive” on Project Falcon, including objectives, path to F28 savings, overview of “big rocks” (build vs. buy, legacy infrastructure modernization, app rationalization, strategic workforce planning), and major modernization investments.</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FEECED"/>
                    </a:solidFill>
                  </a:tcPr>
                </a:tc>
                <a:tc vMerge="1">
                  <a:txBody>
                    <a:bodyPr/>
                    <a:lstStyle/>
                    <a:p>
                      <a:endParaRP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FEECED"/>
                    </a:solidFill>
                  </a:tcPr>
                </a:tc>
                <a:extLst>
                  <a:ext uri="{0D108BD9-81ED-4DB2-BD59-A6C34878D82A}">
                    <a16:rowId xmlns:a16="http://schemas.microsoft.com/office/drawing/2014/main" val="3543081903"/>
                  </a:ext>
                </a:extLst>
              </a:tr>
              <a:tr h="432311">
                <a:tc vMerge="1">
                  <a:txBody>
                    <a:bodyPr/>
                    <a:lstStyle/>
                    <a:p>
                      <a:endParaRPr lang="en-CA"/>
                    </a:p>
                  </a:txBody>
                  <a:tcPr/>
                </a:tc>
                <a:tc>
                  <a:txBody>
                    <a:bodyPr/>
                    <a:lstStyle/>
                    <a:p>
                      <a:endParaRPr lang="en-CA" sz="1200"/>
                    </a:p>
                  </a:txBody>
                  <a:tcPr marL="18288" marR="18288">
                    <a:lnL w="12700" cap="flat" cmpd="sng" algn="ctr">
                      <a:solidFill>
                        <a:schemeClr val="bg1">
                          <a:lumMod val="75000"/>
                        </a:schemeClr>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bg1"/>
                      </a:solidFill>
                      <a:prstDash val="sysDot"/>
                      <a:round/>
                      <a:headEnd type="none" w="med" len="med"/>
                      <a:tailEnd type="none" w="med" len="med"/>
                    </a:lnB>
                    <a:solidFill>
                      <a:schemeClr val="bg1"/>
                    </a:solidFill>
                  </a:tcPr>
                </a:tc>
                <a:tc>
                  <a:txBody>
                    <a:bodyPr/>
                    <a:lstStyle/>
                    <a:p>
                      <a:pPr marL="0" indent="0" algn="l" defTabSz="914411" rtl="0" eaLnBrk="1" latinLnBrk="0" hangingPunct="1">
                        <a:buFont typeface="Arial" panose="020B0604020202020204" pitchFamily="34" charset="0"/>
                        <a:buNone/>
                      </a:pPr>
                      <a:r>
                        <a:rPr lang="en-CA" sz="1200" b="1" kern="1200">
                          <a:solidFill>
                            <a:schemeClr val="dk1"/>
                          </a:solidFill>
                          <a:latin typeface="+mn-lt"/>
                          <a:ea typeface="+mn-ea"/>
                          <a:cs typeface="+mn-cs"/>
                        </a:rPr>
                        <a:t>Main F27+ strategic priorities </a:t>
                      </a:r>
                    </a:p>
                  </a:txBody>
                  <a:tcPr marL="72000" marR="360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solidFill>
                      <a:srgbClr val="FEECED"/>
                    </a:solid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sz="1200" u="none"/>
                        <a:t>Evolved S</a:t>
                      </a:r>
                      <a:r>
                        <a:rPr lang="en-CA" sz="1200"/>
                        <a:t>trategy Execution Placemat (highlighting key areas of focus for F27) and Marquee Programs</a:t>
                      </a:r>
                    </a:p>
                  </a:txBody>
                  <a:tcPr marL="72000" marR="360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solidFill>
                      <a:srgbClr val="FEECED"/>
                    </a:solidFill>
                  </a:tcPr>
                </a:tc>
                <a:tc>
                  <a:txBody>
                    <a:bodyPr/>
                    <a:lstStyle/>
                    <a:p>
                      <a:pPr marL="0" marR="0" lvl="0" indent="0" algn="ctr" defTabSz="914411"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200" b="1"/>
                        <a:t>WS 1</a:t>
                      </a:r>
                    </a:p>
                  </a:txBody>
                  <a:tcPr marL="72000" marR="360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solidFill>
                      <a:srgbClr val="FEECED"/>
                    </a:solidFill>
                  </a:tcPr>
                </a:tc>
                <a:extLst>
                  <a:ext uri="{0D108BD9-81ED-4DB2-BD59-A6C34878D82A}">
                    <a16:rowId xmlns:a16="http://schemas.microsoft.com/office/drawing/2014/main" val="1900793431"/>
                  </a:ext>
                </a:extLst>
              </a:tr>
              <a:tr h="432311">
                <a:tc vMerge="1">
                  <a:txBody>
                    <a:bodyPr/>
                    <a:lstStyle/>
                    <a:p>
                      <a:endParaRPr lang="en-CA" sz="1200"/>
                    </a:p>
                  </a:txBody>
                  <a:tcPr marL="18288" marR="18288">
                    <a:lnT w="12700" cap="flat" cmpd="sng" algn="ctr">
                      <a:noFill/>
                      <a:prstDash val="sysDot"/>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rowSpan="3">
                  <a:txBody>
                    <a:bodyPr/>
                    <a:lstStyle/>
                    <a:p>
                      <a:endParaRPr lang="en-CA" sz="1200"/>
                    </a:p>
                  </a:txBody>
                  <a:tcPr marL="18288" marR="18288">
                    <a:lnL w="12700" cap="flat" cmpd="sng" algn="ctr">
                      <a:solidFill>
                        <a:schemeClr val="bg1">
                          <a:lumMod val="75000"/>
                        </a:schemeClr>
                      </a:solidFill>
                      <a:prstDash val="solid"/>
                      <a:round/>
                      <a:headEnd type="none" w="med" len="med"/>
                      <a:tailEnd type="none" w="med" len="med"/>
                    </a:lnL>
                    <a:lnT w="12700" cap="flat" cmpd="sng" algn="ctr">
                      <a:solidFill>
                        <a:schemeClr val="bg1"/>
                      </a:solidFill>
                      <a:prstDash val="sysDot"/>
                      <a:round/>
                      <a:headEnd type="none" w="med" len="med"/>
                      <a:tailEnd type="none" w="med" len="med"/>
                    </a:lnT>
                    <a:solidFill>
                      <a:schemeClr val="bg1"/>
                    </a:solidFill>
                  </a:tcPr>
                </a:tc>
                <a:tc>
                  <a:txBody>
                    <a:bodyPr/>
                    <a:lstStyle/>
                    <a:p>
                      <a:r>
                        <a:rPr lang="en-CA" sz="1200" b="1"/>
                        <a:t>Five-year outlook (financials, for Oct. only)</a:t>
                      </a:r>
                    </a:p>
                  </a:txBody>
                  <a:tcPr marL="72000" marR="36000" anchor="ctr">
                    <a:lnT w="12700" cap="flat" cmpd="sng" algn="ctr">
                      <a:solidFill>
                        <a:schemeClr val="tx1"/>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171450" indent="-171450">
                        <a:buFont typeface="Arial" panose="020B0604020202020204" pitchFamily="34" charset="0"/>
                        <a:buChar char="•"/>
                      </a:pPr>
                      <a:r>
                        <a:rPr lang="en-CA" sz="1200"/>
                        <a:t>F27 Financial Plan showing build of RTB and CTB spend, key drivers, and anticipated impact on spend level / mix (s</a:t>
                      </a:r>
                      <a:r>
                        <a:rPr lang="en-CA" sz="1200" i="1"/>
                        <a:t>tandard Tech waterfall w/ commentary)</a:t>
                      </a:r>
                    </a:p>
                  </a:txBody>
                  <a:tcPr marL="72000" marR="36000" anchor="ctr">
                    <a:lnT w="12700" cap="flat" cmpd="sng" algn="ctr">
                      <a:solidFill>
                        <a:schemeClr val="tx1"/>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0" indent="0" algn="ctr">
                        <a:buFont typeface="Arial" panose="020B0604020202020204" pitchFamily="34" charset="0"/>
                        <a:buNone/>
                      </a:pPr>
                      <a:r>
                        <a:rPr lang="en-CA" sz="1200" b="1" i="0"/>
                        <a:t>WS3</a:t>
                      </a:r>
                    </a:p>
                  </a:txBody>
                  <a:tcPr marL="72000" marR="36000" anchor="ctr">
                    <a:lnT w="12700" cap="flat" cmpd="sng" algn="ctr">
                      <a:solidFill>
                        <a:schemeClr val="tx1"/>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chemeClr val="bg1"/>
                    </a:solidFill>
                  </a:tcPr>
                </a:tc>
                <a:extLst>
                  <a:ext uri="{0D108BD9-81ED-4DB2-BD59-A6C34878D82A}">
                    <a16:rowId xmlns:a16="http://schemas.microsoft.com/office/drawing/2014/main" val="1035893831"/>
                  </a:ext>
                </a:extLst>
              </a:tr>
              <a:tr h="432311">
                <a:tc vMerge="1">
                  <a:txBody>
                    <a:bodyPr/>
                    <a:lstStyle/>
                    <a:p>
                      <a:endParaRPr lang="en-CA" sz="1200"/>
                    </a:p>
                  </a:txBody>
                  <a:tcPr marL="18288" marR="18288">
                    <a:lnT w="12700" cap="flat" cmpd="sng" algn="ctr">
                      <a:noFill/>
                      <a:prstDash val="sysDot"/>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vMerge="1">
                  <a:txBody>
                    <a:bodyPr/>
                    <a:lstStyle/>
                    <a:p>
                      <a:endParaRPr lang="en-CA" sz="1200"/>
                    </a:p>
                  </a:txBody>
                  <a:tcPr marL="18288" marR="18288">
                    <a:lnT w="12700" cap="flat" cmpd="sng" algn="ctr">
                      <a:noFill/>
                      <a:prstDash val="sysDot"/>
                      <a:round/>
                      <a:headEnd type="none" w="med" len="med"/>
                      <a:tailEnd type="none" w="med" len="med"/>
                    </a:lnT>
                    <a:lnB w="12700" cap="flat" cmpd="sng" algn="ctr">
                      <a:noFill/>
                      <a:prstDash val="sysDot"/>
                      <a:round/>
                      <a:headEnd type="none" w="med" len="med"/>
                      <a:tailEnd type="none" w="med" len="med"/>
                    </a:lnB>
                    <a:solidFill>
                      <a:schemeClr val="accent5">
                        <a:lumMod val="20000"/>
                        <a:lumOff val="80000"/>
                      </a:schemeClr>
                    </a:solidFill>
                  </a:tcPr>
                </a:tc>
                <a:tc>
                  <a:txBody>
                    <a:bodyPr/>
                    <a:lstStyle/>
                    <a:p>
                      <a:r>
                        <a:rPr lang="en-CA" sz="1200" b="1"/>
                        <a:t>KPIs (F26F and Proposed Changes) </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171450" indent="-171450">
                        <a:buFont typeface="Arial" panose="020B0604020202020204" pitchFamily="34" charset="0"/>
                        <a:buChar char="•"/>
                      </a:pPr>
                      <a:r>
                        <a:rPr lang="en-CA" sz="1200"/>
                        <a:t>Proposed changes to Board-level KPIs and KRIs (</a:t>
                      </a:r>
                      <a:r>
                        <a:rPr lang="en-CA" sz="1200" i="1"/>
                        <a:t>using standard Sept Board template</a:t>
                      </a:r>
                      <a:r>
                        <a:rPr lang="en-CA" sz="1200"/>
                        <a:t>)</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tc>
                  <a:txBody>
                    <a:bodyPr/>
                    <a:lstStyle/>
                    <a:p>
                      <a:pPr marL="0" indent="0" algn="ctr">
                        <a:buFont typeface="Arial" panose="020B0604020202020204" pitchFamily="34" charset="0"/>
                        <a:buNone/>
                      </a:pPr>
                      <a:r>
                        <a:rPr lang="en-CA" sz="1200" b="1"/>
                        <a:t>WS 1</a:t>
                      </a:r>
                    </a:p>
                  </a:txBody>
                  <a:tcPr marL="72000" marR="36000" anchor="ctr">
                    <a:lnT w="12700" cap="flat" cmpd="sng" algn="ctr">
                      <a:solidFill>
                        <a:schemeClr val="bg1">
                          <a:lumMod val="50000"/>
                        </a:schemeClr>
                      </a:solidFill>
                      <a:prstDash val="sysDot"/>
                      <a:round/>
                      <a:headEnd type="none" w="med" len="med"/>
                      <a:tailEnd type="none" w="med" len="med"/>
                    </a:lnT>
                    <a:lnB w="12700" cap="flat" cmpd="sng" algn="ctr">
                      <a:solidFill>
                        <a:schemeClr val="bg1">
                          <a:lumMod val="50000"/>
                        </a:schemeClr>
                      </a:solidFill>
                      <a:prstDash val="sysDot"/>
                      <a:round/>
                      <a:headEnd type="none" w="med" len="med"/>
                      <a:tailEnd type="none" w="med" len="med"/>
                    </a:lnB>
                    <a:solidFill>
                      <a:srgbClr val="FEECED"/>
                    </a:solidFill>
                  </a:tcPr>
                </a:tc>
                <a:extLst>
                  <a:ext uri="{0D108BD9-81ED-4DB2-BD59-A6C34878D82A}">
                    <a16:rowId xmlns:a16="http://schemas.microsoft.com/office/drawing/2014/main" val="2773893331"/>
                  </a:ext>
                </a:extLst>
              </a:tr>
              <a:tr h="432311">
                <a:tc vMerge="1">
                  <a:txBody>
                    <a:bodyPr/>
                    <a:lstStyle/>
                    <a:p>
                      <a:endParaRPr lang="en-CA" sz="1200"/>
                    </a:p>
                  </a:txBody>
                  <a:tcPr marL="18288" marR="18288">
                    <a:lnT w="12700" cap="flat" cmpd="sng" algn="ctr">
                      <a:noFill/>
                      <a:prstDash val="sysDot"/>
                      <a:round/>
                      <a:headEnd type="none" w="med" len="med"/>
                      <a:tailEnd type="none" w="med" len="med"/>
                    </a:lnT>
                    <a:solidFill>
                      <a:schemeClr val="accent5">
                        <a:lumMod val="20000"/>
                        <a:lumOff val="80000"/>
                      </a:schemeClr>
                    </a:solidFill>
                  </a:tcPr>
                </a:tc>
                <a:tc vMerge="1">
                  <a:txBody>
                    <a:bodyPr/>
                    <a:lstStyle/>
                    <a:p>
                      <a:endParaRPr lang="en-CA" sz="1200"/>
                    </a:p>
                  </a:txBody>
                  <a:tcPr marL="18288" marR="18288">
                    <a:lnT w="12700" cap="flat" cmpd="sng" algn="ctr">
                      <a:noFill/>
                      <a:prstDash val="sysDot"/>
                      <a:round/>
                      <a:headEnd type="none" w="med" len="med"/>
                      <a:tailEnd type="none" w="med" len="med"/>
                    </a:lnT>
                    <a:solidFill>
                      <a:schemeClr val="accent5">
                        <a:lumMod val="20000"/>
                        <a:lumOff val="80000"/>
                      </a:schemeClr>
                    </a:solidFill>
                  </a:tcPr>
                </a:tc>
                <a:tc>
                  <a:txBody>
                    <a:bodyPr/>
                    <a:lstStyle/>
                    <a:p>
                      <a:r>
                        <a:rPr lang="en-CA" sz="1200" b="1"/>
                        <a:t>Risk Considerations</a:t>
                      </a:r>
                    </a:p>
                  </a:txBody>
                  <a:tcPr marL="72000" marR="36000" anchor="ctr">
                    <a:lnT w="12700" cap="flat" cmpd="sng" algn="ctr">
                      <a:solidFill>
                        <a:schemeClr val="bg1">
                          <a:lumMod val="50000"/>
                        </a:schemeClr>
                      </a:solidFill>
                      <a:prstDash val="sysDot"/>
                      <a:round/>
                      <a:headEnd type="none" w="med" len="med"/>
                      <a:tailEnd type="none" w="med" len="med"/>
                    </a:lnT>
                    <a:solidFill>
                      <a:schemeClr val="bg1"/>
                    </a:solidFill>
                  </a:tcPr>
                </a:tc>
                <a:tc>
                  <a:txBody>
                    <a:bodyPr/>
                    <a:lstStyle/>
                    <a:p>
                      <a:pPr marL="171450" indent="-171450">
                        <a:buFont typeface="Arial" panose="020B0604020202020204" pitchFamily="34" charset="0"/>
                        <a:buChar char="•"/>
                      </a:pPr>
                      <a:r>
                        <a:rPr lang="en-CA" sz="1200"/>
                        <a:t>Technology-specific risks using non-financial risk categories </a:t>
                      </a:r>
                      <a:r>
                        <a:rPr lang="en-CA" sz="1200" i="1"/>
                        <a:t>(driven by 1B and GRM, using standard Sept Board template)</a:t>
                      </a:r>
                    </a:p>
                  </a:txBody>
                  <a:tcPr marL="72000" marR="36000" anchor="ctr">
                    <a:lnT w="12700" cap="flat" cmpd="sng" algn="ctr">
                      <a:solidFill>
                        <a:schemeClr val="bg1">
                          <a:lumMod val="50000"/>
                        </a:schemeClr>
                      </a:solidFill>
                      <a:prstDash val="sysDot"/>
                      <a:round/>
                      <a:headEnd type="none" w="med" len="med"/>
                      <a:tailEnd type="none" w="med" len="med"/>
                    </a:lnT>
                    <a:solidFill>
                      <a:schemeClr val="bg1"/>
                    </a:solidFill>
                  </a:tcPr>
                </a:tc>
                <a:tc>
                  <a:txBody>
                    <a:bodyPr/>
                    <a:lstStyle/>
                    <a:p>
                      <a:pPr marL="0" indent="0" algn="ctr">
                        <a:buFont typeface="Arial" panose="020B0604020202020204" pitchFamily="34" charset="0"/>
                        <a:buNone/>
                      </a:pPr>
                      <a:r>
                        <a:rPr lang="en-CA" sz="1200" b="1" i="1"/>
                        <a:t>Other</a:t>
                      </a:r>
                    </a:p>
                  </a:txBody>
                  <a:tcPr marL="72000" marR="36000" anchor="ctr">
                    <a:lnT w="12700" cap="flat" cmpd="sng" algn="ctr">
                      <a:solidFill>
                        <a:schemeClr val="bg1">
                          <a:lumMod val="50000"/>
                        </a:schemeClr>
                      </a:solidFill>
                      <a:prstDash val="sysDot"/>
                      <a:round/>
                      <a:headEnd type="none" w="med" len="med"/>
                      <a:tailEnd type="none" w="med" len="med"/>
                    </a:lnT>
                    <a:solidFill>
                      <a:schemeClr val="bg1"/>
                    </a:solidFill>
                  </a:tcPr>
                </a:tc>
                <a:extLst>
                  <a:ext uri="{0D108BD9-81ED-4DB2-BD59-A6C34878D82A}">
                    <a16:rowId xmlns:a16="http://schemas.microsoft.com/office/drawing/2014/main" val="2726025860"/>
                  </a:ext>
                </a:extLst>
              </a:tr>
            </a:tbl>
          </a:graphicData>
        </a:graphic>
      </p:graphicFrame>
      <p:sp>
        <p:nvSpPr>
          <p:cNvPr id="10" name="Rectangle 9">
            <a:extLst>
              <a:ext uri="{FF2B5EF4-FFF2-40B4-BE49-F238E27FC236}">
                <a16:creationId xmlns:a16="http://schemas.microsoft.com/office/drawing/2014/main" id="{E57AD9D4-7E61-1684-DA60-37DF2EBB8D41}"/>
              </a:ext>
            </a:extLst>
          </p:cNvPr>
          <p:cNvSpPr/>
          <p:nvPr/>
        </p:nvSpPr>
        <p:spPr>
          <a:xfrm>
            <a:off x="515938" y="1892109"/>
            <a:ext cx="1585239" cy="124139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 rIns="1828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Progress to Date</a:t>
            </a:r>
          </a:p>
        </p:txBody>
      </p:sp>
      <p:sp>
        <p:nvSpPr>
          <p:cNvPr id="11" name="Rectangle 10">
            <a:extLst>
              <a:ext uri="{FF2B5EF4-FFF2-40B4-BE49-F238E27FC236}">
                <a16:creationId xmlns:a16="http://schemas.microsoft.com/office/drawing/2014/main" id="{1569ED9F-1EF5-892E-5CA9-1D693A42D72E}"/>
              </a:ext>
            </a:extLst>
          </p:cNvPr>
          <p:cNvSpPr/>
          <p:nvPr/>
        </p:nvSpPr>
        <p:spPr>
          <a:xfrm>
            <a:off x="1376654" y="3271120"/>
            <a:ext cx="724523" cy="145266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 rIns="1828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Deep Dive(s)</a:t>
            </a:r>
          </a:p>
        </p:txBody>
      </p:sp>
      <p:sp>
        <p:nvSpPr>
          <p:cNvPr id="12" name="Rectangle 11">
            <a:extLst>
              <a:ext uri="{FF2B5EF4-FFF2-40B4-BE49-F238E27FC236}">
                <a16:creationId xmlns:a16="http://schemas.microsoft.com/office/drawing/2014/main" id="{5DECF70E-F28C-05EC-02D7-652144B9B3F5}"/>
              </a:ext>
            </a:extLst>
          </p:cNvPr>
          <p:cNvSpPr/>
          <p:nvPr/>
        </p:nvSpPr>
        <p:spPr>
          <a:xfrm>
            <a:off x="1376654" y="4750940"/>
            <a:ext cx="724523" cy="1788359"/>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 rIns="1828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Path Forward</a:t>
            </a:r>
          </a:p>
        </p:txBody>
      </p:sp>
      <p:sp>
        <p:nvSpPr>
          <p:cNvPr id="13" name="Rectangle 12">
            <a:extLst>
              <a:ext uri="{FF2B5EF4-FFF2-40B4-BE49-F238E27FC236}">
                <a16:creationId xmlns:a16="http://schemas.microsoft.com/office/drawing/2014/main" id="{030F66BA-B51C-77B2-427C-9A0E65A3D21B}"/>
              </a:ext>
            </a:extLst>
          </p:cNvPr>
          <p:cNvSpPr/>
          <p:nvPr/>
        </p:nvSpPr>
        <p:spPr>
          <a:xfrm>
            <a:off x="515938" y="3213970"/>
            <a:ext cx="756000" cy="3328592"/>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 rIns="1828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Go Forward Strategy</a:t>
            </a:r>
          </a:p>
        </p:txBody>
      </p:sp>
      <p:sp>
        <p:nvSpPr>
          <p:cNvPr id="15" name="Rectangle 14">
            <a:extLst>
              <a:ext uri="{FF2B5EF4-FFF2-40B4-BE49-F238E27FC236}">
                <a16:creationId xmlns:a16="http://schemas.microsoft.com/office/drawing/2014/main" id="{94F167BC-DD86-95ED-E48A-9EE6D2819EEB}"/>
              </a:ext>
            </a:extLst>
          </p:cNvPr>
          <p:cNvSpPr/>
          <p:nvPr/>
        </p:nvSpPr>
        <p:spPr>
          <a:xfrm>
            <a:off x="10069449" y="1181626"/>
            <a:ext cx="210233" cy="21262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16" name="TextBox 15">
            <a:extLst>
              <a:ext uri="{FF2B5EF4-FFF2-40B4-BE49-F238E27FC236}">
                <a16:creationId xmlns:a16="http://schemas.microsoft.com/office/drawing/2014/main" id="{FB8CA3F3-6B3F-9811-1A56-D2F8D2206CD3}"/>
              </a:ext>
            </a:extLst>
          </p:cNvPr>
          <p:cNvSpPr txBox="1"/>
          <p:nvPr/>
        </p:nvSpPr>
        <p:spPr>
          <a:xfrm>
            <a:off x="10279682" y="1157134"/>
            <a:ext cx="1481059"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Major work drivers</a:t>
            </a:r>
          </a:p>
        </p:txBody>
      </p:sp>
    </p:spTree>
    <p:extLst>
      <p:ext uri="{BB962C8B-B14F-4D97-AF65-F5344CB8AC3E}">
        <p14:creationId xmlns:p14="http://schemas.microsoft.com/office/powerpoint/2010/main" val="314838975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2E3E8-A235-A206-0C28-60655E4DCBC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2AE2E492-9B0E-F980-481D-300F69838D29}"/>
              </a:ext>
            </a:extLst>
          </p:cNvPr>
          <p:cNvSpPr>
            <a:spLocks noGrp="1"/>
          </p:cNvSpPr>
          <p:nvPr>
            <p:ph type="body" sz="quarter" idx="11"/>
          </p:nvPr>
        </p:nvSpPr>
        <p:spPr>
          <a:xfrm>
            <a:off x="704308" y="2227734"/>
            <a:ext cx="10776325" cy="1109308"/>
          </a:xfrm>
        </p:spPr>
        <p:txBody>
          <a:bodyPr/>
          <a:lstStyle/>
          <a:p>
            <a:r>
              <a:rPr lang="en-CA"/>
              <a:t>Project Milestones &amp; Planning</a:t>
            </a:r>
          </a:p>
        </p:txBody>
      </p:sp>
      <p:sp>
        <p:nvSpPr>
          <p:cNvPr id="3" name="Text Placeholder 2">
            <a:extLst>
              <a:ext uri="{FF2B5EF4-FFF2-40B4-BE49-F238E27FC236}">
                <a16:creationId xmlns:a16="http://schemas.microsoft.com/office/drawing/2014/main" id="{9464AC40-6622-4163-E758-2D45DFE714E2}"/>
              </a:ext>
            </a:extLst>
          </p:cNvPr>
          <p:cNvSpPr>
            <a:spLocks noGrp="1"/>
          </p:cNvSpPr>
          <p:nvPr>
            <p:ph type="body" sz="quarter" idx="12"/>
          </p:nvPr>
        </p:nvSpPr>
        <p:spPr/>
        <p:txBody>
          <a:bodyPr/>
          <a:lstStyle/>
          <a:p>
            <a:r>
              <a:rPr lang="en-CA"/>
              <a:t>05</a:t>
            </a:r>
          </a:p>
        </p:txBody>
      </p:sp>
    </p:spTree>
    <p:extLst>
      <p:ext uri="{BB962C8B-B14F-4D97-AF65-F5344CB8AC3E}">
        <p14:creationId xmlns:p14="http://schemas.microsoft.com/office/powerpoint/2010/main" val="18232933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75676B-0F77-43BB-5806-E3134BBB2728}"/>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9E646D44-24F2-2AED-B448-A84584C908F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473" imgH="476" progId="TCLayout.ActiveDocument.1">
                  <p:embed/>
                </p:oleObj>
              </mc:Choice>
              <mc:Fallback>
                <p:oleObj name="think-cell Slide" r:id="rId27" imgW="473" imgH="476" progId="TCLayout.ActiveDocument.1">
                  <p:embed/>
                  <p:pic>
                    <p:nvPicPr>
                      <p:cNvPr id="4" name="think-cell data - do not delete" hidden="1">
                        <a:extLst>
                          <a:ext uri="{FF2B5EF4-FFF2-40B4-BE49-F238E27FC236}">
                            <a16:creationId xmlns:a16="http://schemas.microsoft.com/office/drawing/2014/main" id="{9E646D44-24F2-2AED-B448-A84584C908F7}"/>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6748FAE-8AA1-859E-643D-946D11256EE6}"/>
              </a:ext>
            </a:extLst>
          </p:cNvPr>
          <p:cNvSpPr>
            <a:spLocks noGrp="1"/>
          </p:cNvSpPr>
          <p:nvPr>
            <p:ph type="title"/>
          </p:nvPr>
        </p:nvSpPr>
        <p:spPr/>
        <p:txBody>
          <a:bodyPr vert="horz" rIns="0"/>
          <a:lstStyle/>
          <a:p>
            <a:r>
              <a:rPr lang="en-US">
                <a:solidFill>
                  <a:schemeClr val="accent1"/>
                </a:solidFill>
              </a:rPr>
              <a:t>Timeline | </a:t>
            </a:r>
            <a:r>
              <a:rPr lang="en-US"/>
              <a:t>We are building out a more detailed schedule aligned to Board</a:t>
            </a:r>
            <a:r>
              <a:rPr lang="en-US" baseline="30000"/>
              <a:t>1</a:t>
            </a:r>
            <a:r>
              <a:rPr lang="en-US"/>
              <a:t>, OpCo, and Finance calendars</a:t>
            </a:r>
            <a:r>
              <a:rPr lang="en-US" baseline="30000"/>
              <a:t>2</a:t>
            </a:r>
            <a:r>
              <a:rPr lang="en-US"/>
              <a:t> we propose 5 </a:t>
            </a:r>
            <a:r>
              <a:rPr lang="en-US" err="1"/>
              <a:t>SteerCo</a:t>
            </a:r>
            <a:r>
              <a:rPr lang="en-US"/>
              <a:t> dates to manage and review progress</a:t>
            </a:r>
          </a:p>
        </p:txBody>
      </p:sp>
      <p:sp>
        <p:nvSpPr>
          <p:cNvPr id="7" name="Slide Number Placeholder 6">
            <a:extLst>
              <a:ext uri="{FF2B5EF4-FFF2-40B4-BE49-F238E27FC236}">
                <a16:creationId xmlns:a16="http://schemas.microsoft.com/office/drawing/2014/main" id="{9E7BA03C-6C71-A04F-C125-D10BC6722665}"/>
              </a:ext>
            </a:extLst>
          </p:cNvPr>
          <p:cNvSpPr>
            <a:spLocks noGrp="1"/>
          </p:cNvSpPr>
          <p:nvPr>
            <p:ph type="sldNum" sz="quarter" idx="10"/>
          </p:nvPr>
        </p:nvSpPr>
        <p:spPr/>
        <p:txBody>
          <a:bodyPr/>
          <a:lstStyle/>
          <a:p>
            <a:fld id="{95D835A7-12B2-4074-8DA2-469A8808C237}" type="slidenum">
              <a:rPr lang="en-CA" smtClean="0"/>
              <a:pPr/>
              <a:t>21</a:t>
            </a:fld>
            <a:endParaRPr lang="en-CA"/>
          </a:p>
        </p:txBody>
      </p:sp>
      <p:sp>
        <p:nvSpPr>
          <p:cNvPr id="11" name="Text Placeholder 2">
            <a:extLst>
              <a:ext uri="{FF2B5EF4-FFF2-40B4-BE49-F238E27FC236}">
                <a16:creationId xmlns:a16="http://schemas.microsoft.com/office/drawing/2014/main" id="{73060D61-29E6-C071-D66F-E6989E3599C1}"/>
              </a:ext>
            </a:extLst>
          </p:cNvPr>
          <p:cNvSpPr>
            <a:spLocks/>
          </p:cNvSpPr>
          <p:nvPr>
            <p:custDataLst>
              <p:tags r:id="rId2"/>
            </p:custDataLst>
          </p:nvPr>
        </p:nvSpPr>
        <p:spPr bwMode="auto">
          <a:xfrm>
            <a:off x="2054225" y="1471613"/>
            <a:ext cx="1538288"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6D864A0B-6F31-4A4E-9BE0-91585EAE9016}" type="datetime'''''''''''''Jun'''''">
              <a:rPr lang="en-US" altLang="en-US" sz="1100" b="1" smtClean="0">
                <a:solidFill>
                  <a:srgbClr val="000000"/>
                </a:solidFill>
              </a:rPr>
              <a:pPr marL="0" lvl="0" indent="0" algn="ctr">
                <a:spcBef>
                  <a:spcPct val="0"/>
                </a:spcBef>
                <a:spcAft>
                  <a:spcPct val="0"/>
                </a:spcAft>
                <a:buClr>
                  <a:srgbClr val="000000"/>
                </a:buClr>
                <a:buNone/>
                <a:defRPr/>
              </a:pPr>
              <a:t>Jun</a:t>
            </a:fld>
            <a:endParaRPr kumimoji="0" lang="en-US" sz="1100" b="1" i="0" strike="noStrike" kern="1200" cap="none" spc="0" normalizeH="0" baseline="0" noProof="0">
              <a:ln>
                <a:noFill/>
              </a:ln>
              <a:solidFill>
                <a:srgbClr val="000000"/>
              </a:solidFill>
              <a:effectLst/>
              <a:uLnTx/>
              <a:uFillTx/>
            </a:endParaRPr>
          </a:p>
        </p:txBody>
      </p:sp>
      <p:sp>
        <p:nvSpPr>
          <p:cNvPr id="12" name="Text Placeholder 2">
            <a:extLst>
              <a:ext uri="{FF2B5EF4-FFF2-40B4-BE49-F238E27FC236}">
                <a16:creationId xmlns:a16="http://schemas.microsoft.com/office/drawing/2014/main" id="{9C22FEC2-C7BB-D2FB-AAB5-7E92435DEA1A}"/>
              </a:ext>
            </a:extLst>
          </p:cNvPr>
          <p:cNvSpPr>
            <a:spLocks/>
          </p:cNvSpPr>
          <p:nvPr>
            <p:custDataLst>
              <p:tags r:id="rId3"/>
            </p:custDataLst>
          </p:nvPr>
        </p:nvSpPr>
        <p:spPr bwMode="auto">
          <a:xfrm>
            <a:off x="3592513" y="1471613"/>
            <a:ext cx="2947988"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62A5BB4E-9ED9-4CA2-B0EB-144AB67BA8D6}" type="datetime'''''''''''''''''''''J''u''''''''''''''''''l'''''''''''">
              <a:rPr lang="en-US" altLang="en-US" sz="1100" b="1" smtClean="0">
                <a:solidFill>
                  <a:srgbClr val="000000"/>
                </a:solidFill>
              </a:rPr>
              <a:pPr marL="0" lvl="0" indent="0" algn="ctr">
                <a:spcBef>
                  <a:spcPct val="0"/>
                </a:spcBef>
                <a:spcAft>
                  <a:spcPct val="0"/>
                </a:spcAft>
                <a:buClr>
                  <a:srgbClr val="000000"/>
                </a:buClr>
                <a:buNone/>
                <a:defRPr/>
              </a:pPr>
              <a:t>Jul</a:t>
            </a:fld>
            <a:endParaRPr kumimoji="0" lang="en-US" sz="1100" b="1" i="0" strike="noStrike" kern="1200" cap="none" spc="0" normalizeH="0" baseline="0" noProof="0">
              <a:ln>
                <a:noFill/>
              </a:ln>
              <a:solidFill>
                <a:srgbClr val="000000"/>
              </a:solidFill>
              <a:effectLst/>
              <a:uLnTx/>
              <a:uFillTx/>
            </a:endParaRPr>
          </a:p>
        </p:txBody>
      </p:sp>
      <p:sp>
        <p:nvSpPr>
          <p:cNvPr id="13" name="Text Placeholder 2">
            <a:extLst>
              <a:ext uri="{FF2B5EF4-FFF2-40B4-BE49-F238E27FC236}">
                <a16:creationId xmlns:a16="http://schemas.microsoft.com/office/drawing/2014/main" id="{6C2C4590-7250-15CD-F739-92F967951775}"/>
              </a:ext>
            </a:extLst>
          </p:cNvPr>
          <p:cNvSpPr>
            <a:spLocks/>
          </p:cNvSpPr>
          <p:nvPr>
            <p:custDataLst>
              <p:tags r:id="rId4"/>
            </p:custDataLst>
          </p:nvPr>
        </p:nvSpPr>
        <p:spPr bwMode="auto">
          <a:xfrm>
            <a:off x="6540500" y="1471613"/>
            <a:ext cx="269240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186FF044-05BF-4E9A-8C09-B2E7078CF075}" type="datetime'''''''A''''''u''''''''''''''''''''''''''''''g'">
              <a:rPr lang="en-US" altLang="en-US" sz="1100" b="1" smtClean="0">
                <a:solidFill>
                  <a:srgbClr val="000000"/>
                </a:solidFill>
              </a:rPr>
              <a:pPr marL="0" lvl="0" indent="0" algn="ctr">
                <a:spcBef>
                  <a:spcPct val="0"/>
                </a:spcBef>
                <a:spcAft>
                  <a:spcPct val="0"/>
                </a:spcAft>
                <a:buClr>
                  <a:srgbClr val="000000"/>
                </a:buClr>
                <a:buNone/>
                <a:defRPr/>
              </a:pPr>
              <a:t>Aug</a:t>
            </a:fld>
            <a:endParaRPr kumimoji="0" lang="en-US" sz="1100" b="1" i="0" strike="noStrike" kern="1200" cap="none" spc="0" normalizeH="0" baseline="0" noProof="0">
              <a:ln>
                <a:noFill/>
              </a:ln>
              <a:solidFill>
                <a:srgbClr val="000000"/>
              </a:solidFill>
              <a:effectLst/>
              <a:uLnTx/>
              <a:uFillTx/>
            </a:endParaRPr>
          </a:p>
        </p:txBody>
      </p:sp>
      <p:sp>
        <p:nvSpPr>
          <p:cNvPr id="157" name="Text Placeholder 2">
            <a:extLst>
              <a:ext uri="{FF2B5EF4-FFF2-40B4-BE49-F238E27FC236}">
                <a16:creationId xmlns:a16="http://schemas.microsoft.com/office/drawing/2014/main" id="{93DBA457-35A9-154A-8EBA-C325A86A35B3}"/>
              </a:ext>
            </a:extLst>
          </p:cNvPr>
          <p:cNvSpPr>
            <a:spLocks/>
          </p:cNvSpPr>
          <p:nvPr>
            <p:custDataLst>
              <p:tags r:id="rId5"/>
            </p:custDataLst>
          </p:nvPr>
        </p:nvSpPr>
        <p:spPr bwMode="auto">
          <a:xfrm>
            <a:off x="9232900" y="1471613"/>
            <a:ext cx="2435225"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F09D5114-6BD5-4194-B824-8C5996CD511F}" type="datetime'''''''''''S''''''e''''''''''''''''''''''''''''''''''''''p'''''">
              <a:rPr lang="en-US" altLang="en-US" sz="1100" b="1" smtClean="0">
                <a:solidFill>
                  <a:srgbClr val="000000"/>
                </a:solidFill>
              </a:rPr>
              <a:pPr marL="0" lvl="0" indent="0" algn="ctr">
                <a:spcBef>
                  <a:spcPct val="0"/>
                </a:spcBef>
                <a:spcAft>
                  <a:spcPct val="0"/>
                </a:spcAft>
                <a:buClr>
                  <a:srgbClr val="000000"/>
                </a:buClr>
                <a:buNone/>
                <a:defRPr/>
              </a:pPr>
              <a:t>Sep</a:t>
            </a:fld>
            <a:endParaRPr kumimoji="0" lang="en-US" sz="1100" b="1" i="0" strike="noStrike" kern="1200" cap="none" spc="0" normalizeH="0" baseline="0" noProof="0">
              <a:ln>
                <a:noFill/>
              </a:ln>
              <a:solidFill>
                <a:srgbClr val="000000"/>
              </a:solidFill>
              <a:effectLst/>
              <a:uLnTx/>
              <a:uFillTx/>
            </a:endParaRPr>
          </a:p>
        </p:txBody>
      </p:sp>
      <p:sp>
        <p:nvSpPr>
          <p:cNvPr id="23" name="Text Placeholder 2">
            <a:extLst>
              <a:ext uri="{FF2B5EF4-FFF2-40B4-BE49-F238E27FC236}">
                <a16:creationId xmlns:a16="http://schemas.microsoft.com/office/drawing/2014/main" id="{DA4EA616-C90E-2293-88E9-D2F353A4C72A}"/>
              </a:ext>
            </a:extLst>
          </p:cNvPr>
          <p:cNvSpPr>
            <a:spLocks/>
          </p:cNvSpPr>
          <p:nvPr>
            <p:custDataLst>
              <p:tags r:id="rId6"/>
            </p:custDataLst>
          </p:nvPr>
        </p:nvSpPr>
        <p:spPr bwMode="auto">
          <a:xfrm>
            <a:off x="2054225"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DCFD55C5-B3E3-4B5E-928C-76A6133F683C}" type="datetime'''''''''1''''''5''''.'''''''''''''''">
              <a:rPr lang="en-US" altLang="en-US" sz="1100" b="1" smtClean="0">
                <a:solidFill>
                  <a:srgbClr val="000000"/>
                </a:solidFill>
              </a:rPr>
              <a:pPr marL="0" lvl="0" indent="0" algn="ctr">
                <a:spcBef>
                  <a:spcPct val="0"/>
                </a:spcBef>
                <a:spcAft>
                  <a:spcPct val="0"/>
                </a:spcAft>
                <a:buClr>
                  <a:srgbClr val="000000"/>
                </a:buClr>
                <a:buNone/>
                <a:defRPr/>
              </a:pPr>
              <a:t>15.</a:t>
            </a:fld>
            <a:endParaRPr kumimoji="0" lang="en-US" sz="1100" b="1" i="0" strike="noStrike" kern="1200" cap="none" spc="0" normalizeH="0" baseline="0" noProof="0">
              <a:ln>
                <a:noFill/>
              </a:ln>
              <a:solidFill>
                <a:srgbClr val="000000"/>
              </a:solidFill>
              <a:effectLst/>
              <a:uLnTx/>
              <a:uFillTx/>
            </a:endParaRPr>
          </a:p>
        </p:txBody>
      </p:sp>
      <p:sp>
        <p:nvSpPr>
          <p:cNvPr id="24" name="Text Placeholder 2">
            <a:extLst>
              <a:ext uri="{FF2B5EF4-FFF2-40B4-BE49-F238E27FC236}">
                <a16:creationId xmlns:a16="http://schemas.microsoft.com/office/drawing/2014/main" id="{4A71A629-F494-9F05-870E-43CA74A2FC00}"/>
              </a:ext>
            </a:extLst>
          </p:cNvPr>
          <p:cNvSpPr>
            <a:spLocks/>
          </p:cNvSpPr>
          <p:nvPr>
            <p:custDataLst>
              <p:tags r:id="rId7"/>
            </p:custDataLst>
          </p:nvPr>
        </p:nvSpPr>
        <p:spPr bwMode="auto">
          <a:xfrm>
            <a:off x="2695575" y="1677988"/>
            <a:ext cx="639763"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7125BE15-5A0A-4F43-B6CF-EE84F812E19E}" type="datetime'''''''''''''''''2''''''''2''''''''''.'''''''''''''''''''''''">
              <a:rPr lang="en-US" altLang="en-US" sz="1100" b="1" smtClean="0">
                <a:solidFill>
                  <a:srgbClr val="000000"/>
                </a:solidFill>
              </a:rPr>
              <a:pPr marL="0" lvl="0" indent="0" algn="ctr">
                <a:spcBef>
                  <a:spcPct val="0"/>
                </a:spcBef>
                <a:spcAft>
                  <a:spcPct val="0"/>
                </a:spcAft>
                <a:buClr>
                  <a:srgbClr val="000000"/>
                </a:buClr>
                <a:buNone/>
                <a:defRPr/>
              </a:pPr>
              <a:t>22.</a:t>
            </a:fld>
            <a:endParaRPr kumimoji="0" lang="en-US" sz="1100" b="1" i="0" strike="noStrike" kern="1200" cap="none" spc="0" normalizeH="0" baseline="0" noProof="0">
              <a:ln>
                <a:noFill/>
              </a:ln>
              <a:solidFill>
                <a:srgbClr val="000000"/>
              </a:solidFill>
              <a:effectLst/>
              <a:uLnTx/>
              <a:uFillTx/>
            </a:endParaRPr>
          </a:p>
        </p:txBody>
      </p:sp>
      <p:sp>
        <p:nvSpPr>
          <p:cNvPr id="36" name="Text Placeholder 2">
            <a:extLst>
              <a:ext uri="{FF2B5EF4-FFF2-40B4-BE49-F238E27FC236}">
                <a16:creationId xmlns:a16="http://schemas.microsoft.com/office/drawing/2014/main" id="{AD948916-EFD9-D264-2613-9A6D00F579B9}"/>
              </a:ext>
            </a:extLst>
          </p:cNvPr>
          <p:cNvSpPr>
            <a:spLocks/>
          </p:cNvSpPr>
          <p:nvPr>
            <p:custDataLst>
              <p:tags r:id="rId8"/>
            </p:custDataLst>
          </p:nvPr>
        </p:nvSpPr>
        <p:spPr bwMode="auto">
          <a:xfrm>
            <a:off x="3335338"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B6F4C2AB-04F4-474E-A844-D894E024F176}" type="datetime'''''''''''''''''''''''''''''''''''2''''9.'''''''''">
              <a:rPr lang="en-US" altLang="en-US" sz="1100" b="1" smtClean="0">
                <a:solidFill>
                  <a:srgbClr val="000000"/>
                </a:solidFill>
              </a:rPr>
              <a:pPr marL="0" lvl="0" indent="0" algn="ctr">
                <a:spcBef>
                  <a:spcPct val="0"/>
                </a:spcBef>
                <a:spcAft>
                  <a:spcPct val="0"/>
                </a:spcAft>
                <a:buClr>
                  <a:srgbClr val="000000"/>
                </a:buClr>
                <a:buNone/>
                <a:defRPr/>
              </a:pPr>
              <a:t>29.</a:t>
            </a:fld>
            <a:endParaRPr kumimoji="0" lang="en-US" sz="1100" b="1" i="0" strike="noStrike" kern="1200" cap="none" spc="0" normalizeH="0" baseline="0" noProof="0">
              <a:ln>
                <a:noFill/>
              </a:ln>
              <a:solidFill>
                <a:srgbClr val="000000"/>
              </a:solidFill>
              <a:effectLst/>
              <a:uLnTx/>
              <a:uFillTx/>
            </a:endParaRPr>
          </a:p>
        </p:txBody>
      </p:sp>
      <p:sp>
        <p:nvSpPr>
          <p:cNvPr id="43" name="Text Placeholder 2">
            <a:extLst>
              <a:ext uri="{FF2B5EF4-FFF2-40B4-BE49-F238E27FC236}">
                <a16:creationId xmlns:a16="http://schemas.microsoft.com/office/drawing/2014/main" id="{F69BB380-277F-AB94-B2EF-3B6F0EC66838}"/>
              </a:ext>
            </a:extLst>
          </p:cNvPr>
          <p:cNvSpPr>
            <a:spLocks/>
          </p:cNvSpPr>
          <p:nvPr>
            <p:custDataLst>
              <p:tags r:id="rId9"/>
            </p:custDataLst>
          </p:nvPr>
        </p:nvSpPr>
        <p:spPr bwMode="auto">
          <a:xfrm>
            <a:off x="3976688"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32A70F20-052B-4CB7-A9DD-2B607ABA15F6}" type="datetime'''''''''''06''''''''''''.'''''">
              <a:rPr lang="en-US" altLang="en-US" sz="1100" b="1" smtClean="0">
                <a:solidFill>
                  <a:srgbClr val="000000"/>
                </a:solidFill>
              </a:rPr>
              <a:pPr marL="0" lvl="0" indent="0" algn="ctr">
                <a:spcBef>
                  <a:spcPct val="0"/>
                </a:spcBef>
                <a:spcAft>
                  <a:spcPct val="0"/>
                </a:spcAft>
                <a:buClr>
                  <a:srgbClr val="000000"/>
                </a:buClr>
                <a:buNone/>
                <a:defRPr/>
              </a:pPr>
              <a:t>06.</a:t>
            </a:fld>
            <a:endParaRPr kumimoji="0" lang="en-US" sz="1100" b="1" i="0" strike="noStrike" kern="1200" cap="none" spc="0" normalizeH="0" baseline="0" noProof="0">
              <a:ln>
                <a:noFill/>
              </a:ln>
              <a:solidFill>
                <a:srgbClr val="000000"/>
              </a:solidFill>
              <a:effectLst/>
              <a:uLnTx/>
              <a:uFillTx/>
            </a:endParaRPr>
          </a:p>
        </p:txBody>
      </p:sp>
      <p:sp>
        <p:nvSpPr>
          <p:cNvPr id="47" name="Text Placeholder 2">
            <a:extLst>
              <a:ext uri="{FF2B5EF4-FFF2-40B4-BE49-F238E27FC236}">
                <a16:creationId xmlns:a16="http://schemas.microsoft.com/office/drawing/2014/main" id="{A66848C9-A953-2B94-DF6D-24671CD4873B}"/>
              </a:ext>
            </a:extLst>
          </p:cNvPr>
          <p:cNvSpPr>
            <a:spLocks/>
          </p:cNvSpPr>
          <p:nvPr>
            <p:custDataLst>
              <p:tags r:id="rId10"/>
            </p:custDataLst>
          </p:nvPr>
        </p:nvSpPr>
        <p:spPr bwMode="auto">
          <a:xfrm>
            <a:off x="4618038"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142979CD-E545-48A8-995E-4354006A6C3B}" type="datetime'''''''''1''3''''''''.'''''''''''''''''''''''''''''''''''''">
              <a:rPr lang="en-US" altLang="en-US" sz="1100" b="1" smtClean="0">
                <a:solidFill>
                  <a:srgbClr val="000000"/>
                </a:solidFill>
              </a:rPr>
              <a:pPr marL="0" lvl="0" indent="0" algn="ctr">
                <a:spcBef>
                  <a:spcPct val="0"/>
                </a:spcBef>
                <a:spcAft>
                  <a:spcPct val="0"/>
                </a:spcAft>
                <a:buClr>
                  <a:srgbClr val="000000"/>
                </a:buClr>
                <a:buNone/>
                <a:defRPr/>
              </a:pPr>
              <a:t>13.</a:t>
            </a:fld>
            <a:endParaRPr kumimoji="0" lang="en-US" sz="1100" b="1" i="0" strike="noStrike" kern="1200" cap="none" spc="0" normalizeH="0" baseline="0" noProof="0">
              <a:ln>
                <a:noFill/>
              </a:ln>
              <a:solidFill>
                <a:srgbClr val="000000"/>
              </a:solidFill>
              <a:effectLst/>
              <a:uLnTx/>
              <a:uFillTx/>
            </a:endParaRPr>
          </a:p>
        </p:txBody>
      </p:sp>
      <p:sp>
        <p:nvSpPr>
          <p:cNvPr id="66" name="Text Placeholder 2">
            <a:extLst>
              <a:ext uri="{FF2B5EF4-FFF2-40B4-BE49-F238E27FC236}">
                <a16:creationId xmlns:a16="http://schemas.microsoft.com/office/drawing/2014/main" id="{9F078468-AB5C-4101-D1ED-5C3E749891F2}"/>
              </a:ext>
            </a:extLst>
          </p:cNvPr>
          <p:cNvSpPr>
            <a:spLocks/>
          </p:cNvSpPr>
          <p:nvPr>
            <p:custDataLst>
              <p:tags r:id="rId11"/>
            </p:custDataLst>
          </p:nvPr>
        </p:nvSpPr>
        <p:spPr bwMode="auto">
          <a:xfrm>
            <a:off x="5259388" y="1677988"/>
            <a:ext cx="639763"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AF6B6D70-15FB-437C-80CC-253147EE4F19}" type="datetime'2''''''''''''''''''''''''''''''''''''''''''''0''''''''.'''''">
              <a:rPr lang="en-US" altLang="en-US" sz="1100" b="1" smtClean="0">
                <a:solidFill>
                  <a:srgbClr val="000000"/>
                </a:solidFill>
              </a:rPr>
              <a:pPr marL="0" lvl="0" indent="0" algn="ctr">
                <a:spcBef>
                  <a:spcPct val="0"/>
                </a:spcBef>
                <a:spcAft>
                  <a:spcPct val="0"/>
                </a:spcAft>
                <a:buClr>
                  <a:srgbClr val="000000"/>
                </a:buClr>
                <a:buNone/>
                <a:defRPr/>
              </a:pPr>
              <a:t>20.</a:t>
            </a:fld>
            <a:endParaRPr kumimoji="0" lang="en-US" sz="1100" b="1" i="0" strike="noStrike" kern="1200" cap="none" spc="0" normalizeH="0" baseline="0" noProof="0">
              <a:ln>
                <a:noFill/>
              </a:ln>
              <a:solidFill>
                <a:srgbClr val="000000"/>
              </a:solidFill>
              <a:effectLst/>
              <a:uLnTx/>
              <a:uFillTx/>
            </a:endParaRPr>
          </a:p>
        </p:txBody>
      </p:sp>
      <p:sp>
        <p:nvSpPr>
          <p:cNvPr id="70" name="Text Placeholder 2">
            <a:extLst>
              <a:ext uri="{FF2B5EF4-FFF2-40B4-BE49-F238E27FC236}">
                <a16:creationId xmlns:a16="http://schemas.microsoft.com/office/drawing/2014/main" id="{CFEDB636-05A2-DA05-959B-9E8D37C13E57}"/>
              </a:ext>
            </a:extLst>
          </p:cNvPr>
          <p:cNvSpPr>
            <a:spLocks/>
          </p:cNvSpPr>
          <p:nvPr>
            <p:custDataLst>
              <p:tags r:id="rId12"/>
            </p:custDataLst>
          </p:nvPr>
        </p:nvSpPr>
        <p:spPr bwMode="auto">
          <a:xfrm>
            <a:off x="5899150"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14AD1123-FE1E-419C-A20A-3E966F6323CD}" type="datetime'''''''''''''''''''''''''''2''''''''''''''''''''7''''''''''.'">
              <a:rPr lang="en-US" altLang="en-US" sz="1100" b="1" smtClean="0">
                <a:solidFill>
                  <a:srgbClr val="000000"/>
                </a:solidFill>
              </a:rPr>
              <a:pPr marL="0" lvl="0" indent="0" algn="ctr">
                <a:spcBef>
                  <a:spcPct val="0"/>
                </a:spcBef>
                <a:spcAft>
                  <a:spcPct val="0"/>
                </a:spcAft>
                <a:buClr>
                  <a:srgbClr val="000000"/>
                </a:buClr>
                <a:buNone/>
                <a:defRPr/>
              </a:pPr>
              <a:t>27.</a:t>
            </a:fld>
            <a:endParaRPr kumimoji="0" lang="en-US" sz="1100" b="1" i="0" strike="noStrike" kern="1200" cap="none" spc="0" normalizeH="0" baseline="0" noProof="0">
              <a:ln>
                <a:noFill/>
              </a:ln>
              <a:solidFill>
                <a:srgbClr val="000000"/>
              </a:solidFill>
              <a:effectLst/>
              <a:uLnTx/>
              <a:uFillTx/>
            </a:endParaRPr>
          </a:p>
        </p:txBody>
      </p:sp>
      <p:sp>
        <p:nvSpPr>
          <p:cNvPr id="72" name="Text Placeholder 2">
            <a:extLst>
              <a:ext uri="{FF2B5EF4-FFF2-40B4-BE49-F238E27FC236}">
                <a16:creationId xmlns:a16="http://schemas.microsoft.com/office/drawing/2014/main" id="{855F40D8-A5A9-0E90-0B14-426F39689B2D}"/>
              </a:ext>
            </a:extLst>
          </p:cNvPr>
          <p:cNvSpPr>
            <a:spLocks/>
          </p:cNvSpPr>
          <p:nvPr>
            <p:custDataLst>
              <p:tags r:id="rId13"/>
            </p:custDataLst>
          </p:nvPr>
        </p:nvSpPr>
        <p:spPr bwMode="auto">
          <a:xfrm>
            <a:off x="6540500"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B27C6EFE-E65E-4082-99CA-5880D0F4A2D7}" type="datetime'''''''''''''''0''''''''''''3''''''''''.'''''''''''''''''''">
              <a:rPr lang="en-US" altLang="en-US" sz="1100" b="1" smtClean="0">
                <a:solidFill>
                  <a:srgbClr val="000000"/>
                </a:solidFill>
              </a:rPr>
              <a:pPr marL="0" lvl="0" indent="0" algn="ctr">
                <a:spcBef>
                  <a:spcPct val="0"/>
                </a:spcBef>
                <a:spcAft>
                  <a:spcPct val="0"/>
                </a:spcAft>
                <a:buClr>
                  <a:srgbClr val="000000"/>
                </a:buClr>
                <a:buNone/>
                <a:defRPr/>
              </a:pPr>
              <a:t>03.</a:t>
            </a:fld>
            <a:endParaRPr kumimoji="0" lang="en-US" sz="1100" b="1" i="0" strike="noStrike" kern="1200" cap="none" spc="0" normalizeH="0" baseline="0" noProof="0">
              <a:ln>
                <a:noFill/>
              </a:ln>
              <a:solidFill>
                <a:srgbClr val="000000"/>
              </a:solidFill>
              <a:effectLst/>
              <a:uLnTx/>
              <a:uFillTx/>
            </a:endParaRPr>
          </a:p>
        </p:txBody>
      </p:sp>
      <p:sp>
        <p:nvSpPr>
          <p:cNvPr id="76" name="Text Placeholder 2">
            <a:extLst>
              <a:ext uri="{FF2B5EF4-FFF2-40B4-BE49-F238E27FC236}">
                <a16:creationId xmlns:a16="http://schemas.microsoft.com/office/drawing/2014/main" id="{FA9ACC38-A5A7-C1AE-C92C-49705644160B}"/>
              </a:ext>
            </a:extLst>
          </p:cNvPr>
          <p:cNvSpPr>
            <a:spLocks/>
          </p:cNvSpPr>
          <p:nvPr>
            <p:custDataLst>
              <p:tags r:id="rId14"/>
            </p:custDataLst>
          </p:nvPr>
        </p:nvSpPr>
        <p:spPr bwMode="auto">
          <a:xfrm>
            <a:off x="7181850"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75B1F130-E2D5-4D15-A403-2C28DD88B237}" type="datetime'''''''''''''''''''''1''''''''''''''''''''''''''''''''''0.'''''">
              <a:rPr lang="en-US" altLang="en-US" sz="1100" b="1" smtClean="0">
                <a:solidFill>
                  <a:srgbClr val="000000"/>
                </a:solidFill>
              </a:rPr>
              <a:pPr marL="0" lvl="0" indent="0" algn="ctr">
                <a:spcBef>
                  <a:spcPct val="0"/>
                </a:spcBef>
                <a:spcAft>
                  <a:spcPct val="0"/>
                </a:spcAft>
                <a:buClr>
                  <a:srgbClr val="000000"/>
                </a:buClr>
                <a:buNone/>
                <a:defRPr/>
              </a:pPr>
              <a:t>10.</a:t>
            </a:fld>
            <a:endParaRPr kumimoji="0" lang="en-US" sz="1100" b="1" i="0" strike="noStrike" kern="1200" cap="none" spc="0" normalizeH="0" baseline="0" noProof="0">
              <a:ln>
                <a:noFill/>
              </a:ln>
              <a:solidFill>
                <a:srgbClr val="000000"/>
              </a:solidFill>
              <a:effectLst/>
              <a:uLnTx/>
              <a:uFillTx/>
            </a:endParaRPr>
          </a:p>
        </p:txBody>
      </p:sp>
      <p:sp>
        <p:nvSpPr>
          <p:cNvPr id="151" name="Text Placeholder 2">
            <a:extLst>
              <a:ext uri="{FF2B5EF4-FFF2-40B4-BE49-F238E27FC236}">
                <a16:creationId xmlns:a16="http://schemas.microsoft.com/office/drawing/2014/main" id="{A27D9ADE-2CB0-440D-F97D-D2B3D9FCC365}"/>
              </a:ext>
            </a:extLst>
          </p:cNvPr>
          <p:cNvSpPr>
            <a:spLocks/>
          </p:cNvSpPr>
          <p:nvPr>
            <p:custDataLst>
              <p:tags r:id="rId15"/>
            </p:custDataLst>
          </p:nvPr>
        </p:nvSpPr>
        <p:spPr bwMode="auto">
          <a:xfrm>
            <a:off x="7823200" y="1677988"/>
            <a:ext cx="639763"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6DC984CF-32E8-45C0-A0EA-CF37CE42486F}" type="datetime'''''1''''''''''''''''''''7''.'''''''''''''''''''''''''''''''">
              <a:rPr lang="en-US" altLang="en-US" sz="1100" b="1" smtClean="0">
                <a:solidFill>
                  <a:srgbClr val="000000"/>
                </a:solidFill>
              </a:rPr>
              <a:pPr marL="0" lvl="0" indent="0" algn="ctr">
                <a:spcBef>
                  <a:spcPct val="0"/>
                </a:spcBef>
                <a:spcAft>
                  <a:spcPct val="0"/>
                </a:spcAft>
                <a:buClr>
                  <a:srgbClr val="000000"/>
                </a:buClr>
                <a:buNone/>
                <a:defRPr/>
              </a:pPr>
              <a:t>17.</a:t>
            </a:fld>
            <a:endParaRPr kumimoji="0" lang="en-US" sz="1100" b="1" i="0" strike="noStrike" kern="1200" cap="none" spc="0" normalizeH="0" baseline="0" noProof="0">
              <a:ln>
                <a:noFill/>
              </a:ln>
              <a:solidFill>
                <a:srgbClr val="000000"/>
              </a:solidFill>
              <a:effectLst/>
              <a:uLnTx/>
              <a:uFillTx/>
            </a:endParaRPr>
          </a:p>
        </p:txBody>
      </p:sp>
      <p:sp>
        <p:nvSpPr>
          <p:cNvPr id="153" name="Text Placeholder 2">
            <a:extLst>
              <a:ext uri="{FF2B5EF4-FFF2-40B4-BE49-F238E27FC236}">
                <a16:creationId xmlns:a16="http://schemas.microsoft.com/office/drawing/2014/main" id="{EF49B8C0-7E27-0A73-933F-0868444C00F8}"/>
              </a:ext>
            </a:extLst>
          </p:cNvPr>
          <p:cNvSpPr>
            <a:spLocks/>
          </p:cNvSpPr>
          <p:nvPr>
            <p:custDataLst>
              <p:tags r:id="rId16"/>
            </p:custDataLst>
          </p:nvPr>
        </p:nvSpPr>
        <p:spPr bwMode="auto">
          <a:xfrm>
            <a:off x="8462963"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994AE8BE-50FE-46A9-952D-703B47DC7D3C}" type="datetime'2''''''''''4''.'''''">
              <a:rPr lang="en-US" altLang="en-US" sz="1100" b="1" smtClean="0">
                <a:solidFill>
                  <a:srgbClr val="000000"/>
                </a:solidFill>
              </a:rPr>
              <a:pPr marL="0" lvl="0" indent="0" algn="ctr">
                <a:spcBef>
                  <a:spcPct val="0"/>
                </a:spcBef>
                <a:spcAft>
                  <a:spcPct val="0"/>
                </a:spcAft>
                <a:buClr>
                  <a:srgbClr val="000000"/>
                </a:buClr>
                <a:buNone/>
                <a:defRPr/>
              </a:pPr>
              <a:t>24.</a:t>
            </a:fld>
            <a:endParaRPr kumimoji="0" lang="en-US" sz="1100" b="1" i="0" strike="noStrike" kern="1200" cap="none" spc="0" normalizeH="0" baseline="0" noProof="0">
              <a:ln>
                <a:noFill/>
              </a:ln>
              <a:solidFill>
                <a:srgbClr val="000000"/>
              </a:solidFill>
              <a:effectLst/>
              <a:uLnTx/>
              <a:uFillTx/>
            </a:endParaRPr>
          </a:p>
        </p:txBody>
      </p:sp>
      <p:sp>
        <p:nvSpPr>
          <p:cNvPr id="154" name="Text Placeholder 2">
            <a:extLst>
              <a:ext uri="{FF2B5EF4-FFF2-40B4-BE49-F238E27FC236}">
                <a16:creationId xmlns:a16="http://schemas.microsoft.com/office/drawing/2014/main" id="{96B64D2F-F661-EED1-A4AE-6D94C9B16178}"/>
              </a:ext>
            </a:extLst>
          </p:cNvPr>
          <p:cNvSpPr>
            <a:spLocks/>
          </p:cNvSpPr>
          <p:nvPr>
            <p:custDataLst>
              <p:tags r:id="rId17"/>
            </p:custDataLst>
          </p:nvPr>
        </p:nvSpPr>
        <p:spPr bwMode="auto">
          <a:xfrm>
            <a:off x="9104313"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82AF9177-63CE-4A1D-8793-6560F67B23DE}" type="datetime'''3''''''''''1''''''''''''''''''''''''''''''''''''.'''''''">
              <a:rPr lang="en-US" altLang="en-US" sz="1100" b="1" smtClean="0">
                <a:solidFill>
                  <a:srgbClr val="000000"/>
                </a:solidFill>
              </a:rPr>
              <a:pPr marL="0" lvl="0" indent="0" algn="ctr">
                <a:spcBef>
                  <a:spcPct val="0"/>
                </a:spcBef>
                <a:spcAft>
                  <a:spcPct val="0"/>
                </a:spcAft>
                <a:buClr>
                  <a:srgbClr val="000000"/>
                </a:buClr>
                <a:buNone/>
                <a:defRPr/>
              </a:pPr>
              <a:t>31.</a:t>
            </a:fld>
            <a:endParaRPr kumimoji="0" lang="en-US" sz="1100" b="1" i="0" strike="noStrike" kern="1200" cap="none" spc="0" normalizeH="0" baseline="0" noProof="0">
              <a:ln>
                <a:noFill/>
              </a:ln>
              <a:solidFill>
                <a:srgbClr val="000000"/>
              </a:solidFill>
              <a:effectLst/>
              <a:uLnTx/>
              <a:uFillTx/>
            </a:endParaRPr>
          </a:p>
        </p:txBody>
      </p:sp>
      <p:sp>
        <p:nvSpPr>
          <p:cNvPr id="155" name="Text Placeholder 2">
            <a:extLst>
              <a:ext uri="{FF2B5EF4-FFF2-40B4-BE49-F238E27FC236}">
                <a16:creationId xmlns:a16="http://schemas.microsoft.com/office/drawing/2014/main" id="{36696AD4-F924-5930-141A-1A70F4190697}"/>
              </a:ext>
            </a:extLst>
          </p:cNvPr>
          <p:cNvSpPr>
            <a:spLocks/>
          </p:cNvSpPr>
          <p:nvPr>
            <p:custDataLst>
              <p:tags r:id="rId18"/>
            </p:custDataLst>
          </p:nvPr>
        </p:nvSpPr>
        <p:spPr bwMode="auto">
          <a:xfrm>
            <a:off x="9745663"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00732F90-FC24-41A4-96D2-3EF85FA8423F}" type="datetime'''''''''''''''''''''''''''0''''''7''''''''''''''.'''''''">
              <a:rPr lang="en-US" altLang="en-US" sz="1100" b="1" smtClean="0">
                <a:solidFill>
                  <a:srgbClr val="000000"/>
                </a:solidFill>
              </a:rPr>
              <a:pPr marL="0" lvl="0" indent="0" algn="ctr">
                <a:spcBef>
                  <a:spcPct val="0"/>
                </a:spcBef>
                <a:spcAft>
                  <a:spcPct val="0"/>
                </a:spcAft>
                <a:buClr>
                  <a:srgbClr val="000000"/>
                </a:buClr>
                <a:buNone/>
                <a:defRPr/>
              </a:pPr>
              <a:t>07.</a:t>
            </a:fld>
            <a:endParaRPr kumimoji="0" lang="en-US" sz="1100" b="1" i="0" strike="noStrike" kern="1200" cap="none" spc="0" normalizeH="0" baseline="0" noProof="0">
              <a:ln>
                <a:noFill/>
              </a:ln>
              <a:solidFill>
                <a:srgbClr val="000000"/>
              </a:solidFill>
              <a:effectLst/>
              <a:uLnTx/>
              <a:uFillTx/>
            </a:endParaRPr>
          </a:p>
        </p:txBody>
      </p:sp>
      <p:sp>
        <p:nvSpPr>
          <p:cNvPr id="156" name="Text Placeholder 2">
            <a:extLst>
              <a:ext uri="{FF2B5EF4-FFF2-40B4-BE49-F238E27FC236}">
                <a16:creationId xmlns:a16="http://schemas.microsoft.com/office/drawing/2014/main" id="{6BB44E3E-22F9-6E1E-6B5F-9D3D41986713}"/>
              </a:ext>
            </a:extLst>
          </p:cNvPr>
          <p:cNvSpPr>
            <a:spLocks/>
          </p:cNvSpPr>
          <p:nvPr>
            <p:custDataLst>
              <p:tags r:id="rId19"/>
            </p:custDataLst>
          </p:nvPr>
        </p:nvSpPr>
        <p:spPr bwMode="auto">
          <a:xfrm>
            <a:off x="10387013" y="1677988"/>
            <a:ext cx="639763"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DC40A3CD-28FB-4A6B-AC36-C14D31D454D6}" type="datetime'''''''''''''''''''''''''''''''''1''''''4''.'''''''''">
              <a:rPr lang="en-US" altLang="en-US" sz="1100" b="1" smtClean="0">
                <a:solidFill>
                  <a:srgbClr val="000000"/>
                </a:solidFill>
              </a:rPr>
              <a:pPr marL="0" lvl="0" indent="0" algn="ctr">
                <a:spcBef>
                  <a:spcPct val="0"/>
                </a:spcBef>
                <a:spcAft>
                  <a:spcPct val="0"/>
                </a:spcAft>
                <a:buClr>
                  <a:srgbClr val="000000"/>
                </a:buClr>
                <a:buNone/>
                <a:defRPr/>
              </a:pPr>
              <a:t>14.</a:t>
            </a:fld>
            <a:endParaRPr kumimoji="0" lang="en-US" sz="1100" b="1" i="0" strike="noStrike" kern="1200" cap="none" spc="0" normalizeH="0" baseline="0" noProof="0">
              <a:ln>
                <a:noFill/>
              </a:ln>
              <a:solidFill>
                <a:srgbClr val="000000"/>
              </a:solidFill>
              <a:effectLst/>
              <a:uLnTx/>
              <a:uFillTx/>
            </a:endParaRPr>
          </a:p>
        </p:txBody>
      </p:sp>
      <p:sp>
        <p:nvSpPr>
          <p:cNvPr id="167" name="Text Placeholder 2">
            <a:extLst>
              <a:ext uri="{FF2B5EF4-FFF2-40B4-BE49-F238E27FC236}">
                <a16:creationId xmlns:a16="http://schemas.microsoft.com/office/drawing/2014/main" id="{C859C46B-7C09-18D4-0F96-C9E0D3C4F588}"/>
              </a:ext>
            </a:extLst>
          </p:cNvPr>
          <p:cNvSpPr>
            <a:spLocks/>
          </p:cNvSpPr>
          <p:nvPr>
            <p:custDataLst>
              <p:tags r:id="rId20"/>
            </p:custDataLst>
          </p:nvPr>
        </p:nvSpPr>
        <p:spPr bwMode="auto">
          <a:xfrm>
            <a:off x="11026775" y="1677988"/>
            <a:ext cx="641350" cy="206375"/>
          </a:xfrm>
          <a:prstGeom prst="rect">
            <a:avLst/>
          </a:prstGeom>
          <a:noFill/>
          <a:ln w="9525" cmpd="sng" algn="ctr">
            <a:solidFill>
              <a:schemeClr val="tx1"/>
            </a:solidFill>
          </a:ln>
          <a:effectLst/>
          <a:extLst>
            <a:ext uri="{909E8E84-426E-40DD-AFC4-6F175D3DCCD1}">
              <a14:hiddenFill xmlns:a14="http://schemas.microsoft.com/office/drawing/2010/main">
                <a:solidFill>
                  <a:schemeClr val="accent1"/>
                </a:solidFill>
              </a14:hiddenFill>
            </a:ext>
          </a:extLst>
        </p:spPr>
        <p:txBody>
          <a:bodyPr vert="horz" wrap="none" lIns="0" tIns="19050" rIns="0" bIns="1905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BBB63ED7-A934-4FFF-BFF1-C53AB7C5F556}" type="datetime'''''''''''''''''21''''''''''''''''''.'''''''''''''''">
              <a:rPr lang="en-US" altLang="en-US" sz="1100" b="1" smtClean="0">
                <a:solidFill>
                  <a:srgbClr val="000000"/>
                </a:solidFill>
              </a:rPr>
              <a:pPr marL="0" lvl="0" indent="0" algn="ctr">
                <a:spcBef>
                  <a:spcPct val="0"/>
                </a:spcBef>
                <a:spcAft>
                  <a:spcPct val="0"/>
                </a:spcAft>
                <a:buClr>
                  <a:srgbClr val="000000"/>
                </a:buClr>
                <a:buNone/>
                <a:defRPr/>
              </a:pPr>
              <a:t>21.</a:t>
            </a:fld>
            <a:endParaRPr kumimoji="0" lang="en-US" sz="1100" b="1" i="0" strike="noStrike" kern="1200" cap="none" spc="0" normalizeH="0" baseline="0" noProof="0">
              <a:ln>
                <a:noFill/>
              </a:ln>
              <a:solidFill>
                <a:srgbClr val="000000"/>
              </a:solidFill>
              <a:effectLst/>
              <a:uLnTx/>
              <a:uFillTx/>
            </a:endParaRPr>
          </a:p>
        </p:txBody>
      </p:sp>
      <p:cxnSp>
        <p:nvCxnSpPr>
          <p:cNvPr id="88" name="Straight Connector 87">
            <a:extLst>
              <a:ext uri="{FF2B5EF4-FFF2-40B4-BE49-F238E27FC236}">
                <a16:creationId xmlns:a16="http://schemas.microsoft.com/office/drawing/2014/main" id="{34794E13-B176-3B02-0BF0-9F036C30D7C2}"/>
              </a:ext>
            </a:extLst>
          </p:cNvPr>
          <p:cNvCxnSpPr/>
          <p:nvPr>
            <p:custDataLst>
              <p:tags r:id="rId21"/>
            </p:custDataLst>
          </p:nvPr>
        </p:nvCxnSpPr>
        <p:spPr bwMode="auto">
          <a:xfrm>
            <a:off x="2054225" y="1884363"/>
            <a:ext cx="0" cy="4344988"/>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9" name="Straight Connector 88">
            <a:extLst>
              <a:ext uri="{FF2B5EF4-FFF2-40B4-BE49-F238E27FC236}">
                <a16:creationId xmlns:a16="http://schemas.microsoft.com/office/drawing/2014/main" id="{67E45862-8689-EBC9-8625-E450408E0432}"/>
              </a:ext>
            </a:extLst>
          </p:cNvPr>
          <p:cNvCxnSpPr/>
          <p:nvPr>
            <p:custDataLst>
              <p:tags r:id="rId22"/>
            </p:custDataLst>
          </p:nvPr>
        </p:nvCxnSpPr>
        <p:spPr bwMode="auto">
          <a:xfrm>
            <a:off x="11668125" y="1884363"/>
            <a:ext cx="0" cy="4344988"/>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8" name="Straight Connector 97">
            <a:extLst>
              <a:ext uri="{FF2B5EF4-FFF2-40B4-BE49-F238E27FC236}">
                <a16:creationId xmlns:a16="http://schemas.microsoft.com/office/drawing/2014/main" id="{129DDF31-A684-D9A1-F0A2-9ECB8EA78069}"/>
              </a:ext>
            </a:extLst>
          </p:cNvPr>
          <p:cNvCxnSpPr/>
          <p:nvPr>
            <p:custDataLst>
              <p:tags r:id="rId23"/>
            </p:custDataLst>
          </p:nvPr>
        </p:nvCxnSpPr>
        <p:spPr bwMode="auto">
          <a:xfrm>
            <a:off x="2054225" y="6229350"/>
            <a:ext cx="9613900"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01" name="Straight Connector 100">
            <a:extLst>
              <a:ext uri="{FF2B5EF4-FFF2-40B4-BE49-F238E27FC236}">
                <a16:creationId xmlns:a16="http://schemas.microsoft.com/office/drawing/2014/main" id="{6E323D91-00A4-652E-F1D8-CE8467009D26}"/>
              </a:ext>
            </a:extLst>
          </p:cNvPr>
          <p:cNvCxnSpPr/>
          <p:nvPr>
            <p:custDataLst>
              <p:tags r:id="rId24"/>
            </p:custDataLst>
          </p:nvPr>
        </p:nvCxnSpPr>
        <p:spPr bwMode="auto">
          <a:xfrm>
            <a:off x="2054225" y="1884363"/>
            <a:ext cx="9613900"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8" name="Rectangle 77">
            <a:extLst>
              <a:ext uri="{FF2B5EF4-FFF2-40B4-BE49-F238E27FC236}">
                <a16:creationId xmlns:a16="http://schemas.microsoft.com/office/drawing/2014/main" id="{CBED7F11-8A65-64AE-272A-00222DEA6D89}"/>
              </a:ext>
            </a:extLst>
          </p:cNvPr>
          <p:cNvSpPr/>
          <p:nvPr/>
        </p:nvSpPr>
        <p:spPr>
          <a:xfrm>
            <a:off x="9617853" y="1692275"/>
            <a:ext cx="128586" cy="1821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14" name="Rectangle 13">
            <a:extLst>
              <a:ext uri="{FF2B5EF4-FFF2-40B4-BE49-F238E27FC236}">
                <a16:creationId xmlns:a16="http://schemas.microsoft.com/office/drawing/2014/main" id="{DFCF31C6-3FD0-6732-C8AE-87037B414432}"/>
              </a:ext>
            </a:extLst>
          </p:cNvPr>
          <p:cNvSpPr/>
          <p:nvPr/>
        </p:nvSpPr>
        <p:spPr>
          <a:xfrm>
            <a:off x="2024769" y="3011488"/>
            <a:ext cx="9769298" cy="32716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graphicFrame>
        <p:nvGraphicFramePr>
          <p:cNvPr id="17" name="Table 16">
            <a:extLst>
              <a:ext uri="{FF2B5EF4-FFF2-40B4-BE49-F238E27FC236}">
                <a16:creationId xmlns:a16="http://schemas.microsoft.com/office/drawing/2014/main" id="{A4068C19-5834-24E4-5191-4DC530337927}"/>
              </a:ext>
            </a:extLst>
          </p:cNvPr>
          <p:cNvGraphicFramePr>
            <a:graphicFrameLocks noGrp="1"/>
          </p:cNvGraphicFramePr>
          <p:nvPr/>
        </p:nvGraphicFramePr>
        <p:xfrm>
          <a:off x="523874" y="1905000"/>
          <a:ext cx="11160124" cy="1928623"/>
        </p:xfrm>
        <a:graphic>
          <a:graphicData uri="http://schemas.openxmlformats.org/drawingml/2006/table">
            <a:tbl>
              <a:tblPr firstRow="1" bandRow="1">
                <a:tableStyleId>{5C22544A-7EE6-4342-B048-85BDC9FD1C3A}</a:tableStyleId>
              </a:tblPr>
              <a:tblGrid>
                <a:gridCol w="1524001">
                  <a:extLst>
                    <a:ext uri="{9D8B030D-6E8A-4147-A177-3AD203B41FA5}">
                      <a16:colId xmlns:a16="http://schemas.microsoft.com/office/drawing/2014/main" val="4126742357"/>
                    </a:ext>
                  </a:extLst>
                </a:gridCol>
                <a:gridCol w="9636123">
                  <a:extLst>
                    <a:ext uri="{9D8B030D-6E8A-4147-A177-3AD203B41FA5}">
                      <a16:colId xmlns:a16="http://schemas.microsoft.com/office/drawing/2014/main" val="509651036"/>
                    </a:ext>
                  </a:extLst>
                </a:gridCol>
              </a:tblGrid>
              <a:tr h="1064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a:ln>
                            <a:noFill/>
                          </a:ln>
                          <a:solidFill>
                            <a:schemeClr val="accent1"/>
                          </a:solidFill>
                          <a:effectLst/>
                          <a:uLnTx/>
                          <a:uFillTx/>
                          <a:latin typeface="Scotia"/>
                          <a:ea typeface="+mn-ea"/>
                          <a:cs typeface="+mn-cs"/>
                        </a:rPr>
                        <a:t>Key milestones</a:t>
                      </a:r>
                    </a:p>
                  </a:txBody>
                  <a:tcPr anchor="ctr">
                    <a:lnB w="12700" cap="flat" cmpd="sng" algn="ctr">
                      <a:solidFill>
                        <a:schemeClr val="tx1">
                          <a:lumMod val="50000"/>
                          <a:lumOff val="50000"/>
                        </a:schemeClr>
                      </a:solidFill>
                      <a:prstDash val="sysDot"/>
                      <a:round/>
                      <a:headEnd type="none" w="med" len="med"/>
                      <a:tailEnd type="none" w="med" len="med"/>
                    </a:lnB>
                    <a:solidFill>
                      <a:schemeClr val="bg1"/>
                    </a:solidFill>
                  </a:tcPr>
                </a:tc>
                <a:tc>
                  <a:txBody>
                    <a:bodyPr/>
                    <a:lstStyle/>
                    <a:p>
                      <a:pPr algn="l">
                        <a:spcBef>
                          <a:spcPts val="600"/>
                        </a:spcBef>
                      </a:pPr>
                      <a:endParaRPr lang="en-CA" sz="1200">
                        <a:solidFill>
                          <a:schemeClr val="tx1"/>
                        </a:solidFill>
                        <a:latin typeface="Scotia Light" panose="020B0403020203020204" pitchFamily="34" charset="0"/>
                        <a:ea typeface="Scotia Light" panose="020B0403020203020204" pitchFamily="34" charset="0"/>
                      </a:endParaRPr>
                    </a:p>
                  </a:txBody>
                  <a:tcPr anchor="ctr">
                    <a:lnB w="12700" cap="flat" cmpd="sng" algn="ctr">
                      <a:solidFill>
                        <a:schemeClr val="tx1">
                          <a:lumMod val="50000"/>
                          <a:lumOff val="50000"/>
                        </a:schemeClr>
                      </a:solidFill>
                      <a:prstDash val="sysDot"/>
                      <a:round/>
                      <a:headEnd type="none" w="med" len="med"/>
                      <a:tailEnd type="none" w="med" len="med"/>
                    </a:lnB>
                    <a:solidFill>
                      <a:schemeClr val="bg1">
                        <a:lumMod val="95000"/>
                      </a:schemeClr>
                    </a:solidFill>
                  </a:tcPr>
                </a:tc>
                <a:extLst>
                  <a:ext uri="{0D108BD9-81ED-4DB2-BD59-A6C34878D82A}">
                    <a16:rowId xmlns:a16="http://schemas.microsoft.com/office/drawing/2014/main" val="221541282"/>
                  </a:ext>
                </a:extLst>
              </a:tr>
              <a:tr h="86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a:ln>
                            <a:noFill/>
                          </a:ln>
                          <a:solidFill>
                            <a:schemeClr val="accent1"/>
                          </a:solidFill>
                          <a:effectLst/>
                          <a:uLnTx/>
                          <a:uFillTx/>
                          <a:latin typeface="Scotia"/>
                          <a:ea typeface="+mn-ea"/>
                          <a:cs typeface="+mn-cs"/>
                        </a:rPr>
                        <a:t>Content availability</a:t>
                      </a:r>
                      <a:endParaRPr kumimoji="0" lang="en-US" sz="1200" b="1" i="0" u="none" strike="noStrike" kern="1200" cap="none" spc="0" normalizeH="0" baseline="0">
                        <a:ln>
                          <a:noFill/>
                        </a:ln>
                        <a:solidFill>
                          <a:schemeClr val="accent1"/>
                        </a:solidFill>
                        <a:effectLst/>
                        <a:uLnTx/>
                        <a:uFillTx/>
                        <a:latin typeface="Scotia"/>
                        <a:ea typeface="+mn-ea"/>
                        <a:cs typeface="+mn-cs"/>
                      </a:endParaRPr>
                    </a:p>
                  </a:txBody>
                  <a:tcPr anchor="ctr">
                    <a:lnT w="12700" cap="flat" cmpd="sng" algn="ctr">
                      <a:solidFill>
                        <a:schemeClr val="tx1">
                          <a:lumMod val="50000"/>
                          <a:lumOff val="50000"/>
                        </a:schemeClr>
                      </a:solidFill>
                      <a:prstDash val="sysDot"/>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endParaRPr lang="en-US"/>
                    </a:p>
                  </a:txBody>
                  <a:tcPr anchor="ctr">
                    <a:lnT w="12700" cap="flat" cmpd="sng" algn="ctr">
                      <a:solidFill>
                        <a:schemeClr val="tx1">
                          <a:lumMod val="50000"/>
                          <a:lumOff val="50000"/>
                        </a:schemeClr>
                      </a:solidFill>
                      <a:prstDash val="sysDot"/>
                      <a:round/>
                      <a:headEnd type="none" w="med" len="med"/>
                      <a:tailEnd type="none" w="med" len="med"/>
                    </a:lnT>
                    <a:lnB w="12700" cap="flat" cmpd="sng" algn="ctr">
                      <a:no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58483966"/>
                  </a:ext>
                </a:extLst>
              </a:tr>
            </a:tbl>
          </a:graphicData>
        </a:graphic>
      </p:graphicFrame>
      <p:sp>
        <p:nvSpPr>
          <p:cNvPr id="25" name="TextBox 24">
            <a:extLst>
              <a:ext uri="{FF2B5EF4-FFF2-40B4-BE49-F238E27FC236}">
                <a16:creationId xmlns:a16="http://schemas.microsoft.com/office/drawing/2014/main" id="{83ADDEEB-417B-5C87-93A9-88E87F622FE8}"/>
              </a:ext>
            </a:extLst>
          </p:cNvPr>
          <p:cNvSpPr txBox="1"/>
          <p:nvPr/>
        </p:nvSpPr>
        <p:spPr>
          <a:xfrm>
            <a:off x="7633285" y="2088857"/>
            <a:ext cx="567343"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8/18 </a:t>
            </a:r>
            <a:br>
              <a:rPr lang="en-US" altLang="en-US" sz="1000"/>
            </a:br>
            <a:r>
              <a:rPr lang="en-US" altLang="en-US" sz="1000" err="1"/>
              <a:t>BoD</a:t>
            </a:r>
            <a:r>
              <a:rPr lang="en-US" altLang="en-US" sz="1000"/>
              <a:t>  Sub.</a:t>
            </a:r>
            <a:endParaRPr lang="en-US" sz="1000"/>
          </a:p>
        </p:txBody>
      </p:sp>
      <p:sp>
        <p:nvSpPr>
          <p:cNvPr id="26" name="TextBox 25">
            <a:extLst>
              <a:ext uri="{FF2B5EF4-FFF2-40B4-BE49-F238E27FC236}">
                <a16:creationId xmlns:a16="http://schemas.microsoft.com/office/drawing/2014/main" id="{2F73F677-375B-11DB-0B50-AFD94D38CF7F}"/>
              </a:ext>
            </a:extLst>
          </p:cNvPr>
          <p:cNvSpPr txBox="1"/>
          <p:nvPr/>
        </p:nvSpPr>
        <p:spPr>
          <a:xfrm>
            <a:off x="8242057" y="2088857"/>
            <a:ext cx="1255195"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pPr algn="l"/>
            <a:r>
              <a:rPr lang="en-US" altLang="en-US" sz="1000"/>
              <a:t>        8/24 </a:t>
            </a:r>
            <a:br>
              <a:rPr lang="en-US" altLang="en-US" sz="1000"/>
            </a:br>
            <a:r>
              <a:rPr lang="en-US" altLang="en-US" sz="1000" err="1"/>
              <a:t>TCoB</a:t>
            </a:r>
            <a:r>
              <a:rPr lang="en-US" altLang="en-US" sz="1000"/>
              <a:t> &amp; OpCo Posting</a:t>
            </a:r>
            <a:endParaRPr lang="en-US" sz="1000"/>
          </a:p>
        </p:txBody>
      </p:sp>
      <p:sp>
        <p:nvSpPr>
          <p:cNvPr id="27" name="Rectangle: Rounded Corners 26">
            <a:extLst>
              <a:ext uri="{FF2B5EF4-FFF2-40B4-BE49-F238E27FC236}">
                <a16:creationId xmlns:a16="http://schemas.microsoft.com/office/drawing/2014/main" id="{51F4470F-6131-2B20-4B76-3DC43C511830}"/>
              </a:ext>
            </a:extLst>
          </p:cNvPr>
          <p:cNvSpPr/>
          <p:nvPr/>
        </p:nvSpPr>
        <p:spPr>
          <a:xfrm>
            <a:off x="9957318" y="1960562"/>
            <a:ext cx="1505650" cy="144000"/>
          </a:xfrm>
          <a:prstGeom prst="roundRect">
            <a:avLst>
              <a:gd name="adj" fmla="val 50000"/>
            </a:avLst>
          </a:prstGeom>
          <a:solidFill>
            <a:srgbClr val="D7C0A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8" name="Isosceles Triangle 27">
            <a:extLst>
              <a:ext uri="{FF2B5EF4-FFF2-40B4-BE49-F238E27FC236}">
                <a16:creationId xmlns:a16="http://schemas.microsoft.com/office/drawing/2014/main" id="{6BDE5A58-95B7-1B36-8F72-F48067B6F247}"/>
              </a:ext>
            </a:extLst>
          </p:cNvPr>
          <p:cNvSpPr/>
          <p:nvPr/>
        </p:nvSpPr>
        <p:spPr>
          <a:xfrm>
            <a:off x="10667557"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9" name="Isosceles Triangle 28">
            <a:extLst>
              <a:ext uri="{FF2B5EF4-FFF2-40B4-BE49-F238E27FC236}">
                <a16:creationId xmlns:a16="http://schemas.microsoft.com/office/drawing/2014/main" id="{79E7967C-3CA5-D178-9E7E-6EF9996A51F1}"/>
              </a:ext>
            </a:extLst>
          </p:cNvPr>
          <p:cNvSpPr/>
          <p:nvPr/>
        </p:nvSpPr>
        <p:spPr>
          <a:xfrm>
            <a:off x="11271713"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30" name="TextBox 29">
            <a:extLst>
              <a:ext uri="{FF2B5EF4-FFF2-40B4-BE49-F238E27FC236}">
                <a16:creationId xmlns:a16="http://schemas.microsoft.com/office/drawing/2014/main" id="{F5820BC9-11C2-B9CA-FCE3-CE55EA310169}"/>
              </a:ext>
            </a:extLst>
          </p:cNvPr>
          <p:cNvSpPr txBox="1"/>
          <p:nvPr/>
        </p:nvSpPr>
        <p:spPr>
          <a:xfrm>
            <a:off x="10443882" y="2088857"/>
            <a:ext cx="647018"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1000">
                <a:solidFill>
                  <a:srgbClr val="000000"/>
                </a:solidFill>
                <a:effectLst/>
              </a:defRPr>
            </a:lvl1pPr>
          </a:lstStyle>
          <a:p>
            <a:r>
              <a:rPr lang="en-US" altLang="en-US"/>
              <a:t>9/14 </a:t>
            </a:r>
            <a:br>
              <a:rPr lang="en-US" altLang="en-US"/>
            </a:br>
            <a:r>
              <a:rPr lang="en-US" altLang="en-US" err="1"/>
              <a:t>BoD</a:t>
            </a:r>
            <a:r>
              <a:rPr lang="en-US" altLang="en-US"/>
              <a:t>  Sub.</a:t>
            </a:r>
            <a:endParaRPr lang="en-US"/>
          </a:p>
        </p:txBody>
      </p:sp>
      <p:sp>
        <p:nvSpPr>
          <p:cNvPr id="31" name="TextBox 30">
            <a:extLst>
              <a:ext uri="{FF2B5EF4-FFF2-40B4-BE49-F238E27FC236}">
                <a16:creationId xmlns:a16="http://schemas.microsoft.com/office/drawing/2014/main" id="{48674FB3-4117-BCE1-B4C5-C69C9E9B7B77}"/>
              </a:ext>
            </a:extLst>
          </p:cNvPr>
          <p:cNvSpPr txBox="1"/>
          <p:nvPr/>
        </p:nvSpPr>
        <p:spPr>
          <a:xfrm>
            <a:off x="11130283" y="2088857"/>
            <a:ext cx="528196"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9/22 </a:t>
            </a:r>
            <a:br>
              <a:rPr lang="en-US" altLang="en-US" sz="1000"/>
            </a:br>
            <a:r>
              <a:rPr lang="en-US" altLang="en-US" sz="1000" err="1"/>
              <a:t>BoD</a:t>
            </a:r>
            <a:endParaRPr lang="en-US" sz="1000"/>
          </a:p>
        </p:txBody>
      </p:sp>
      <p:sp>
        <p:nvSpPr>
          <p:cNvPr id="225" name="Isosceles Triangle 224">
            <a:extLst>
              <a:ext uri="{FF2B5EF4-FFF2-40B4-BE49-F238E27FC236}">
                <a16:creationId xmlns:a16="http://schemas.microsoft.com/office/drawing/2014/main" id="{372B2AC3-9D4C-B658-58E6-1BEF33AAF964}"/>
              </a:ext>
            </a:extLst>
          </p:cNvPr>
          <p:cNvSpPr/>
          <p:nvPr/>
        </p:nvSpPr>
        <p:spPr>
          <a:xfrm>
            <a:off x="10009167"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27" name="TextBox 226">
            <a:extLst>
              <a:ext uri="{FF2B5EF4-FFF2-40B4-BE49-F238E27FC236}">
                <a16:creationId xmlns:a16="http://schemas.microsoft.com/office/drawing/2014/main" id="{8CE4E3D8-5A8A-6EFE-B9DD-F155BBBB84DA}"/>
              </a:ext>
            </a:extLst>
          </p:cNvPr>
          <p:cNvSpPr txBox="1"/>
          <p:nvPr/>
        </p:nvSpPr>
        <p:spPr>
          <a:xfrm>
            <a:off x="9677836" y="2088857"/>
            <a:ext cx="811891"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9/8 </a:t>
            </a:r>
            <a:br>
              <a:rPr lang="en-US" altLang="en-US" sz="1000"/>
            </a:br>
            <a:r>
              <a:rPr lang="en-US" altLang="en-US" sz="1000"/>
              <a:t>OpCo Sub.</a:t>
            </a:r>
            <a:endParaRPr lang="en-US" sz="1000"/>
          </a:p>
        </p:txBody>
      </p:sp>
      <p:sp>
        <p:nvSpPr>
          <p:cNvPr id="229" name="Rectangle: Rounded Corners 228">
            <a:extLst>
              <a:ext uri="{FF2B5EF4-FFF2-40B4-BE49-F238E27FC236}">
                <a16:creationId xmlns:a16="http://schemas.microsoft.com/office/drawing/2014/main" id="{4442A6A0-70D2-C0FD-4B88-0E0942AA490A}"/>
              </a:ext>
            </a:extLst>
          </p:cNvPr>
          <p:cNvSpPr/>
          <p:nvPr/>
        </p:nvSpPr>
        <p:spPr>
          <a:xfrm>
            <a:off x="6665603" y="2474015"/>
            <a:ext cx="551159"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3" name="Rectangle: Rounded Corners 232">
            <a:extLst>
              <a:ext uri="{FF2B5EF4-FFF2-40B4-BE49-F238E27FC236}">
                <a16:creationId xmlns:a16="http://schemas.microsoft.com/office/drawing/2014/main" id="{A15D69C2-E578-0B95-7392-9D12480AB5DC}"/>
              </a:ext>
            </a:extLst>
          </p:cNvPr>
          <p:cNvSpPr/>
          <p:nvPr/>
        </p:nvSpPr>
        <p:spPr>
          <a:xfrm>
            <a:off x="9379439" y="2474015"/>
            <a:ext cx="327747"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6" name="TextBox 235">
            <a:extLst>
              <a:ext uri="{FF2B5EF4-FFF2-40B4-BE49-F238E27FC236}">
                <a16:creationId xmlns:a16="http://schemas.microsoft.com/office/drawing/2014/main" id="{A8B1840D-CDB9-D847-57B7-4352F0E5CA18}"/>
              </a:ext>
            </a:extLst>
          </p:cNvPr>
          <p:cNvSpPr txBox="1"/>
          <p:nvPr/>
        </p:nvSpPr>
        <p:spPr>
          <a:xfrm>
            <a:off x="9208769" y="2571085"/>
            <a:ext cx="669087" cy="381643"/>
          </a:xfrm>
          <a:prstGeom prst="rect">
            <a:avLst/>
          </a:prstGeom>
          <a:noFill/>
          <a:ln>
            <a:noFill/>
          </a:ln>
        </p:spPr>
        <p:txBody>
          <a:bodyPr wrap="square" lIns="0" tIns="36576" rIns="0" bIns="36576"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effectLst/>
              </a:rPr>
              <a:t>9/2-9/4  </a:t>
            </a:r>
            <a:br>
              <a:rPr lang="en-US" altLang="en-US" sz="1000">
                <a:solidFill>
                  <a:srgbClr val="000000"/>
                </a:solidFill>
                <a:effectLst/>
              </a:rPr>
            </a:br>
            <a:r>
              <a:rPr lang="en-US" altLang="en-US" sz="1000">
                <a:solidFill>
                  <a:srgbClr val="000000"/>
                </a:solidFill>
                <a:effectLst/>
              </a:rPr>
              <a:t>GH Review</a:t>
            </a:r>
          </a:p>
        </p:txBody>
      </p:sp>
      <p:sp>
        <p:nvSpPr>
          <p:cNvPr id="238" name="Isosceles Triangle 237">
            <a:extLst>
              <a:ext uri="{FF2B5EF4-FFF2-40B4-BE49-F238E27FC236}">
                <a16:creationId xmlns:a16="http://schemas.microsoft.com/office/drawing/2014/main" id="{507EDCE7-94D8-70AF-BF3B-6CB3498229BF}"/>
              </a:ext>
            </a:extLst>
          </p:cNvPr>
          <p:cNvSpPr/>
          <p:nvPr/>
        </p:nvSpPr>
        <p:spPr>
          <a:xfrm>
            <a:off x="5401282" y="1978562"/>
            <a:ext cx="109133" cy="108000"/>
          </a:xfrm>
          <a:prstGeom prst="triangl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9" name="TextBox 238">
            <a:extLst>
              <a:ext uri="{FF2B5EF4-FFF2-40B4-BE49-F238E27FC236}">
                <a16:creationId xmlns:a16="http://schemas.microsoft.com/office/drawing/2014/main" id="{B5B67675-65C5-FE1B-A752-043AE1E0D908}"/>
              </a:ext>
            </a:extLst>
          </p:cNvPr>
          <p:cNvSpPr txBox="1"/>
          <p:nvPr/>
        </p:nvSpPr>
        <p:spPr>
          <a:xfrm>
            <a:off x="5094369" y="2088857"/>
            <a:ext cx="738349"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7/20 </a:t>
            </a:r>
            <a:br>
              <a:rPr lang="en-US" altLang="en-US" sz="1000"/>
            </a:br>
            <a:r>
              <a:rPr lang="en-US" altLang="en-US" sz="1000"/>
              <a:t>Tech Offsite</a:t>
            </a:r>
          </a:p>
        </p:txBody>
      </p:sp>
      <p:sp>
        <p:nvSpPr>
          <p:cNvPr id="240" name="Isosceles Triangle 239">
            <a:extLst>
              <a:ext uri="{FF2B5EF4-FFF2-40B4-BE49-F238E27FC236}">
                <a16:creationId xmlns:a16="http://schemas.microsoft.com/office/drawing/2014/main" id="{72F6A66E-0FE7-82CF-C1EC-649988DA7803}"/>
              </a:ext>
            </a:extLst>
          </p:cNvPr>
          <p:cNvSpPr/>
          <p:nvPr/>
        </p:nvSpPr>
        <p:spPr>
          <a:xfrm>
            <a:off x="4859924"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48" name="Isosceles Triangle 247">
            <a:extLst>
              <a:ext uri="{FF2B5EF4-FFF2-40B4-BE49-F238E27FC236}">
                <a16:creationId xmlns:a16="http://schemas.microsoft.com/office/drawing/2014/main" id="{D5E1D914-37A1-DE03-8CC0-F76DF7ACE35F}"/>
              </a:ext>
            </a:extLst>
          </p:cNvPr>
          <p:cNvSpPr/>
          <p:nvPr/>
        </p:nvSpPr>
        <p:spPr>
          <a:xfrm>
            <a:off x="7582796"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49" name="TextBox 248">
            <a:extLst>
              <a:ext uri="{FF2B5EF4-FFF2-40B4-BE49-F238E27FC236}">
                <a16:creationId xmlns:a16="http://schemas.microsoft.com/office/drawing/2014/main" id="{5557D17B-1B8C-0AE7-8068-545F6DB61B94}"/>
              </a:ext>
            </a:extLst>
          </p:cNvPr>
          <p:cNvSpPr txBox="1"/>
          <p:nvPr/>
        </p:nvSpPr>
        <p:spPr>
          <a:xfrm>
            <a:off x="7305083" y="3235694"/>
            <a:ext cx="684000" cy="307777"/>
          </a:xfrm>
          <a:prstGeom prst="rect">
            <a:avLst/>
          </a:prstGeom>
          <a:noFill/>
          <a:ln>
            <a:noFill/>
          </a:ln>
        </p:spPr>
        <p:txBody>
          <a:bodyPr wrap="square" lIns="36000" tIns="0" rIns="36000" bIns="0"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b="1">
                <a:solidFill>
                  <a:srgbClr val="000000"/>
                </a:solidFill>
                <a:effectLst/>
              </a:rPr>
              <a:t>8/14 </a:t>
            </a:r>
            <a:br>
              <a:rPr lang="en-US" altLang="en-US" sz="1000" b="1">
                <a:solidFill>
                  <a:srgbClr val="000000"/>
                </a:solidFill>
                <a:effectLst/>
              </a:rPr>
            </a:br>
            <a:r>
              <a:rPr lang="en-US" altLang="en-US" sz="1000" b="1">
                <a:solidFill>
                  <a:srgbClr val="000000"/>
                </a:solidFill>
                <a:effectLst/>
              </a:rPr>
              <a:t>QMR</a:t>
            </a:r>
          </a:p>
        </p:txBody>
      </p:sp>
      <p:sp>
        <p:nvSpPr>
          <p:cNvPr id="250" name="Isosceles Triangle 249">
            <a:extLst>
              <a:ext uri="{FF2B5EF4-FFF2-40B4-BE49-F238E27FC236}">
                <a16:creationId xmlns:a16="http://schemas.microsoft.com/office/drawing/2014/main" id="{1572F0CE-A8D0-B1AA-C0B1-705F242A8084}"/>
              </a:ext>
            </a:extLst>
          </p:cNvPr>
          <p:cNvSpPr/>
          <p:nvPr/>
        </p:nvSpPr>
        <p:spPr>
          <a:xfrm>
            <a:off x="8022152"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51" name="TextBox 250">
            <a:extLst>
              <a:ext uri="{FF2B5EF4-FFF2-40B4-BE49-F238E27FC236}">
                <a16:creationId xmlns:a16="http://schemas.microsoft.com/office/drawing/2014/main" id="{27BC4CE9-AD49-10D1-BAFC-ED3B952B1996}"/>
              </a:ext>
            </a:extLst>
          </p:cNvPr>
          <p:cNvSpPr txBox="1"/>
          <p:nvPr/>
        </p:nvSpPr>
        <p:spPr>
          <a:xfrm>
            <a:off x="7737796" y="3235694"/>
            <a:ext cx="684000" cy="307777"/>
          </a:xfrm>
          <a:prstGeom prst="rect">
            <a:avLst/>
          </a:prstGeom>
          <a:noFill/>
          <a:ln>
            <a:noFill/>
          </a:ln>
        </p:spPr>
        <p:txBody>
          <a:bodyPr wrap="square" lIns="36000" tIns="0" rIns="36000" bIns="0"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b="1">
                <a:solidFill>
                  <a:srgbClr val="000000"/>
                </a:solidFill>
                <a:effectLst/>
              </a:rPr>
              <a:t>8/18 </a:t>
            </a:r>
            <a:br>
              <a:rPr lang="en-US" altLang="en-US" sz="1000" b="1">
                <a:solidFill>
                  <a:srgbClr val="000000"/>
                </a:solidFill>
                <a:effectLst/>
              </a:rPr>
            </a:br>
            <a:r>
              <a:rPr lang="en-US" altLang="en-US" sz="1000" b="1">
                <a:solidFill>
                  <a:srgbClr val="000000"/>
                </a:solidFill>
                <a:effectLst/>
              </a:rPr>
              <a:t>QBR</a:t>
            </a:r>
          </a:p>
        </p:txBody>
      </p:sp>
      <p:sp>
        <p:nvSpPr>
          <p:cNvPr id="252" name="Isosceles Triangle 251">
            <a:extLst>
              <a:ext uri="{FF2B5EF4-FFF2-40B4-BE49-F238E27FC236}">
                <a16:creationId xmlns:a16="http://schemas.microsoft.com/office/drawing/2014/main" id="{DD481876-F099-B008-EEEE-275776AB190C}"/>
              </a:ext>
            </a:extLst>
          </p:cNvPr>
          <p:cNvSpPr/>
          <p:nvPr/>
        </p:nvSpPr>
        <p:spPr>
          <a:xfrm>
            <a:off x="10656572"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53" name="TextBox 252">
            <a:extLst>
              <a:ext uri="{FF2B5EF4-FFF2-40B4-BE49-F238E27FC236}">
                <a16:creationId xmlns:a16="http://schemas.microsoft.com/office/drawing/2014/main" id="{F6D6DD3D-533B-53D7-3094-1C4004C07341}"/>
              </a:ext>
            </a:extLst>
          </p:cNvPr>
          <p:cNvSpPr txBox="1"/>
          <p:nvPr/>
        </p:nvSpPr>
        <p:spPr>
          <a:xfrm>
            <a:off x="10169499" y="3244902"/>
            <a:ext cx="1080000" cy="307777"/>
          </a:xfrm>
          <a:prstGeom prst="rect">
            <a:avLst/>
          </a:prstGeom>
          <a:noFill/>
          <a:ln>
            <a:noFill/>
          </a:ln>
        </p:spPr>
        <p:txBody>
          <a:bodyPr wrap="square" lIns="36000" tIns="0" rIns="36000" bIns="0"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rPr>
              <a:t>9</a:t>
            </a:r>
            <a:r>
              <a:rPr lang="en-US" altLang="en-US" sz="1000">
                <a:solidFill>
                  <a:srgbClr val="000000"/>
                </a:solidFill>
                <a:effectLst/>
              </a:rPr>
              <a:t>/16 </a:t>
            </a:r>
            <a:br>
              <a:rPr lang="en-US" altLang="en-US" sz="1000">
                <a:solidFill>
                  <a:srgbClr val="000000"/>
                </a:solidFill>
                <a:effectLst/>
              </a:rPr>
            </a:br>
            <a:r>
              <a:rPr lang="en-US" altLang="en-US" sz="1000">
                <a:solidFill>
                  <a:srgbClr val="000000"/>
                </a:solidFill>
                <a:effectLst/>
              </a:rPr>
              <a:t>Aug MMR </a:t>
            </a:r>
          </a:p>
        </p:txBody>
      </p:sp>
      <p:sp>
        <p:nvSpPr>
          <p:cNvPr id="230" name="TextBox 229">
            <a:extLst>
              <a:ext uri="{FF2B5EF4-FFF2-40B4-BE49-F238E27FC236}">
                <a16:creationId xmlns:a16="http://schemas.microsoft.com/office/drawing/2014/main" id="{E1A33A32-4005-EE66-74E3-1ED92703609A}"/>
              </a:ext>
            </a:extLst>
          </p:cNvPr>
          <p:cNvSpPr txBox="1"/>
          <p:nvPr/>
        </p:nvSpPr>
        <p:spPr>
          <a:xfrm>
            <a:off x="6307573" y="2571085"/>
            <a:ext cx="1267218" cy="534368"/>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8/4-8/7 </a:t>
            </a:r>
            <a:br>
              <a:rPr lang="en-US" altLang="en-US" sz="1000"/>
            </a:br>
            <a:r>
              <a:rPr lang="en-US" altLang="en-US" sz="1000"/>
              <a:t>GH &amp; </a:t>
            </a:r>
            <a:r>
              <a:rPr lang="en-US" altLang="en-US" sz="1000" err="1"/>
              <a:t>TCoB</a:t>
            </a:r>
            <a:r>
              <a:rPr lang="en-US" altLang="en-US" sz="1000"/>
              <a:t> Chair Review</a:t>
            </a:r>
          </a:p>
        </p:txBody>
      </p:sp>
      <p:sp>
        <p:nvSpPr>
          <p:cNvPr id="52" name="TextBox 51">
            <a:extLst>
              <a:ext uri="{FF2B5EF4-FFF2-40B4-BE49-F238E27FC236}">
                <a16:creationId xmlns:a16="http://schemas.microsoft.com/office/drawing/2014/main" id="{3A750F05-E5B3-F057-5CEB-9FB9D3A0D128}"/>
              </a:ext>
            </a:extLst>
          </p:cNvPr>
          <p:cNvSpPr txBox="1"/>
          <p:nvPr/>
        </p:nvSpPr>
        <p:spPr>
          <a:xfrm>
            <a:off x="7020874" y="2088857"/>
            <a:ext cx="627615" cy="380480"/>
          </a:xfrm>
          <a:prstGeom prst="rect">
            <a:avLst/>
          </a:prstGeom>
          <a:noFill/>
          <a:ln>
            <a:noFill/>
          </a:ln>
        </p:spPr>
        <p:txBody>
          <a:bodyPr wrap="square" lIns="0" tIns="36000" rIns="0" bIns="3600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800">
                <a:solidFill>
                  <a:srgbClr val="000000"/>
                </a:solidFill>
                <a:effectLst/>
              </a:defRPr>
            </a:lvl1pPr>
          </a:lstStyle>
          <a:p>
            <a:r>
              <a:rPr lang="en-US" altLang="en-US" sz="1000"/>
              <a:t>8/12 </a:t>
            </a:r>
            <a:br>
              <a:rPr lang="en-US" altLang="en-US" sz="1000"/>
            </a:br>
            <a:r>
              <a:rPr lang="en-US" altLang="en-US" sz="1000"/>
              <a:t>CEO Sub.</a:t>
            </a:r>
            <a:endParaRPr lang="en-US" sz="1000"/>
          </a:p>
        </p:txBody>
      </p:sp>
      <p:sp>
        <p:nvSpPr>
          <p:cNvPr id="254" name="Isosceles Triangle 253">
            <a:extLst>
              <a:ext uri="{FF2B5EF4-FFF2-40B4-BE49-F238E27FC236}">
                <a16:creationId xmlns:a16="http://schemas.microsoft.com/office/drawing/2014/main" id="{6AF5D0D7-736E-1B45-3F92-A259272E5C70}"/>
              </a:ext>
            </a:extLst>
          </p:cNvPr>
          <p:cNvSpPr/>
          <p:nvPr/>
        </p:nvSpPr>
        <p:spPr>
          <a:xfrm>
            <a:off x="2591721"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spcBef>
                <a:spcPts val="600"/>
              </a:spcBef>
            </a:pPr>
            <a:endParaRPr lang="en-US" sz="1000">
              <a:solidFill>
                <a:schemeClr val="tx1"/>
              </a:solidFill>
            </a:endParaRPr>
          </a:p>
        </p:txBody>
      </p:sp>
      <p:sp>
        <p:nvSpPr>
          <p:cNvPr id="34" name="Rectangle 33">
            <a:extLst>
              <a:ext uri="{FF2B5EF4-FFF2-40B4-BE49-F238E27FC236}">
                <a16:creationId xmlns:a16="http://schemas.microsoft.com/office/drawing/2014/main" id="{A20C8AB7-D24F-D694-A395-6734A10F9CE4}"/>
              </a:ext>
            </a:extLst>
          </p:cNvPr>
          <p:cNvSpPr/>
          <p:nvPr/>
        </p:nvSpPr>
        <p:spPr>
          <a:xfrm>
            <a:off x="2036092" y="3914319"/>
            <a:ext cx="1800000" cy="2097011"/>
          </a:xfrm>
          <a:prstGeom prst="rect">
            <a:avLst/>
          </a:prstGeom>
          <a:solidFill>
            <a:srgbClr val="F5EFE8"/>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algn="ctr">
              <a:spcBef>
                <a:spcPts val="300"/>
              </a:spcBef>
            </a:pPr>
            <a:r>
              <a:rPr lang="en-CA" sz="1100" i="1" err="1">
                <a:solidFill>
                  <a:srgbClr val="EC111A"/>
                </a:solidFill>
              </a:rPr>
              <a:t>SteerCo</a:t>
            </a:r>
            <a:r>
              <a:rPr lang="en-CA" sz="1100" i="1">
                <a:solidFill>
                  <a:srgbClr val="EC111A"/>
                </a:solidFill>
              </a:rPr>
              <a:t>. #1:</a:t>
            </a:r>
            <a:r>
              <a:rPr lang="en-CA" sz="1100" b="1" i="1">
                <a:solidFill>
                  <a:srgbClr val="EC111A"/>
                </a:solidFill>
              </a:rPr>
              <a:t> July 6</a:t>
            </a:r>
            <a:r>
              <a:rPr lang="en-CA" sz="1100" b="1" i="1" baseline="30000">
                <a:solidFill>
                  <a:srgbClr val="EC111A"/>
                </a:solidFill>
              </a:rPr>
              <a:t>th</a:t>
            </a:r>
            <a:r>
              <a:rPr lang="en-CA" sz="1100" b="1" i="1">
                <a:solidFill>
                  <a:srgbClr val="EC111A"/>
                </a:solidFill>
              </a:rPr>
              <a:t> </a:t>
            </a:r>
            <a:r>
              <a:rPr lang="en-CA" sz="1100" b="1" i="1">
                <a:solidFill>
                  <a:schemeClr val="tx1"/>
                </a:solidFill>
              </a:rPr>
              <a:t> </a:t>
            </a:r>
          </a:p>
          <a:p>
            <a:pPr algn="ctr">
              <a:spcBef>
                <a:spcPts val="300"/>
              </a:spcBef>
            </a:pPr>
            <a:r>
              <a:rPr lang="en-CA" sz="1100" b="1">
                <a:solidFill>
                  <a:schemeClr val="tx1"/>
                </a:solidFill>
              </a:rPr>
              <a:t>Setup and Early Answers</a:t>
            </a:r>
          </a:p>
          <a:p>
            <a:pPr marL="117475" indent="-117475">
              <a:spcBef>
                <a:spcPts val="300"/>
              </a:spcBef>
              <a:buFont typeface="Arial" panose="020B0604020202020204" pitchFamily="34" charset="0"/>
              <a:buChar char="•"/>
            </a:pPr>
            <a:r>
              <a:rPr lang="en-CA" sz="1100">
                <a:solidFill>
                  <a:schemeClr val="tx1"/>
                </a:solidFill>
              </a:rPr>
              <a:t>Review early answers: </a:t>
            </a:r>
          </a:p>
          <a:p>
            <a:pPr marL="344488" lvl="1" indent="-169863">
              <a:spcBef>
                <a:spcPts val="300"/>
              </a:spcBef>
              <a:buFont typeface="Arial" panose="020B0604020202020204" pitchFamily="34" charset="0"/>
              <a:buChar char="•"/>
            </a:pPr>
            <a:r>
              <a:rPr lang="en-CA" sz="1100">
                <a:solidFill>
                  <a:schemeClr val="tx1"/>
                </a:solidFill>
              </a:rPr>
              <a:t>Progress-to-date (WS1)</a:t>
            </a:r>
          </a:p>
          <a:p>
            <a:pPr marL="344488" lvl="1" indent="-169863">
              <a:spcBef>
                <a:spcPts val="300"/>
              </a:spcBef>
              <a:buFont typeface="Arial" panose="020B0604020202020204" pitchFamily="34" charset="0"/>
              <a:buChar char="•"/>
            </a:pPr>
            <a:r>
              <a:rPr lang="en-CA" sz="1100">
                <a:solidFill>
                  <a:schemeClr val="tx1"/>
                </a:solidFill>
              </a:rPr>
              <a:t>Headwinds &amp; Benchmarks (WS2)</a:t>
            </a:r>
          </a:p>
          <a:p>
            <a:pPr marL="117475" lvl="1" indent="-117475">
              <a:spcBef>
                <a:spcPts val="300"/>
              </a:spcBef>
              <a:buFont typeface="Arial" panose="020B0604020202020204" pitchFamily="34" charset="0"/>
              <a:buChar char="•"/>
            </a:pPr>
            <a:r>
              <a:rPr lang="en-CA" sz="1100">
                <a:solidFill>
                  <a:schemeClr val="tx1"/>
                </a:solidFill>
              </a:rPr>
              <a:t>Share update on potential Placemat and KPI updates (WS3)</a:t>
            </a:r>
          </a:p>
        </p:txBody>
      </p:sp>
      <p:sp>
        <p:nvSpPr>
          <p:cNvPr id="37" name="Rectangle 36">
            <a:extLst>
              <a:ext uri="{FF2B5EF4-FFF2-40B4-BE49-F238E27FC236}">
                <a16:creationId xmlns:a16="http://schemas.microsoft.com/office/drawing/2014/main" id="{D9EE4FD8-684D-03F5-5563-95B57B425155}"/>
              </a:ext>
            </a:extLst>
          </p:cNvPr>
          <p:cNvSpPr/>
          <p:nvPr/>
        </p:nvSpPr>
        <p:spPr>
          <a:xfrm>
            <a:off x="5953464" y="3914319"/>
            <a:ext cx="1800000" cy="2097005"/>
          </a:xfrm>
          <a:prstGeom prst="rect">
            <a:avLst/>
          </a:prstGeom>
          <a:solidFill>
            <a:srgbClr val="F5EFE8"/>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algn="ctr">
              <a:spcBef>
                <a:spcPts val="300"/>
              </a:spcBef>
            </a:pPr>
            <a:r>
              <a:rPr lang="en-CA" sz="1100" i="1" err="1">
                <a:solidFill>
                  <a:srgbClr val="EC111A"/>
                </a:solidFill>
              </a:rPr>
              <a:t>SteerCo</a:t>
            </a:r>
            <a:r>
              <a:rPr lang="en-CA" sz="1100" i="1">
                <a:solidFill>
                  <a:srgbClr val="EC111A"/>
                </a:solidFill>
              </a:rPr>
              <a:t>. #3:</a:t>
            </a:r>
            <a:r>
              <a:rPr lang="en-CA" sz="1100" b="1" i="1">
                <a:solidFill>
                  <a:srgbClr val="EC111A"/>
                </a:solidFill>
              </a:rPr>
              <a:t> July 27</a:t>
            </a:r>
            <a:r>
              <a:rPr lang="en-CA" sz="1100" b="1" i="1" baseline="30000">
                <a:solidFill>
                  <a:srgbClr val="EC111A"/>
                </a:solidFill>
              </a:rPr>
              <a:t>th</a:t>
            </a:r>
            <a:endParaRPr lang="en-CA" sz="1100" b="1" i="1">
              <a:solidFill>
                <a:srgbClr val="EC111A"/>
              </a:solidFill>
            </a:endParaRPr>
          </a:p>
          <a:p>
            <a:pPr algn="ctr">
              <a:spcBef>
                <a:spcPts val="300"/>
              </a:spcBef>
            </a:pPr>
            <a:r>
              <a:rPr lang="en-CA" sz="1100" b="1">
                <a:solidFill>
                  <a:schemeClr val="tx1"/>
                </a:solidFill>
              </a:rPr>
              <a:t>August Board Review</a:t>
            </a:r>
          </a:p>
          <a:p>
            <a:pPr marL="117475" indent="-117475">
              <a:spcBef>
                <a:spcPts val="300"/>
              </a:spcBef>
              <a:buFont typeface="Arial" panose="020B0604020202020204" pitchFamily="34" charset="0"/>
              <a:buChar char="•"/>
            </a:pPr>
            <a:r>
              <a:rPr lang="en-CA" sz="1100">
                <a:solidFill>
                  <a:schemeClr val="tx1"/>
                </a:solidFill>
              </a:rPr>
              <a:t>Review proposed draft for August </a:t>
            </a:r>
            <a:r>
              <a:rPr lang="en-CA" sz="1100" err="1">
                <a:solidFill>
                  <a:schemeClr val="tx1"/>
                </a:solidFill>
              </a:rPr>
              <a:t>TCoB</a:t>
            </a:r>
            <a:endParaRPr lang="en-CA" sz="1100">
              <a:solidFill>
                <a:schemeClr val="tx1"/>
              </a:solidFill>
            </a:endParaRPr>
          </a:p>
          <a:p>
            <a:pPr marL="341313" lvl="1" indent="-166688">
              <a:spcBef>
                <a:spcPts val="300"/>
              </a:spcBef>
              <a:buFont typeface="Arial" panose="020B0604020202020204" pitchFamily="34" charset="0"/>
              <a:buChar char="•"/>
            </a:pPr>
            <a:r>
              <a:rPr lang="en-CA" sz="1100">
                <a:solidFill>
                  <a:schemeClr val="tx1"/>
                </a:solidFill>
              </a:rPr>
              <a:t>Complete draft of Progress-to-Date and Deep Dive sections</a:t>
            </a:r>
          </a:p>
          <a:p>
            <a:pPr marL="341313" lvl="1" indent="-166688">
              <a:spcBef>
                <a:spcPts val="300"/>
              </a:spcBef>
              <a:buFont typeface="Arial" panose="020B0604020202020204" pitchFamily="34" charset="0"/>
              <a:buChar char="•"/>
            </a:pPr>
            <a:r>
              <a:rPr lang="en-CA" sz="1100">
                <a:solidFill>
                  <a:schemeClr val="tx1"/>
                </a:solidFill>
              </a:rPr>
              <a:t>Partial draft of Path Forward (excluding F27 Plan)</a:t>
            </a:r>
          </a:p>
          <a:p>
            <a:pPr marL="341313" lvl="1" indent="-107950">
              <a:spcBef>
                <a:spcPts val="300"/>
              </a:spcBef>
              <a:buFont typeface="Arial" panose="020B0604020202020204" pitchFamily="34" charset="0"/>
              <a:buChar char="•"/>
            </a:pPr>
            <a:endParaRPr lang="en-US" sz="1100">
              <a:solidFill>
                <a:schemeClr val="tx1"/>
              </a:solidFill>
            </a:endParaRPr>
          </a:p>
        </p:txBody>
      </p:sp>
      <p:sp>
        <p:nvSpPr>
          <p:cNvPr id="48" name="Rectangle 47">
            <a:extLst>
              <a:ext uri="{FF2B5EF4-FFF2-40B4-BE49-F238E27FC236}">
                <a16:creationId xmlns:a16="http://schemas.microsoft.com/office/drawing/2014/main" id="{411E6D48-994E-82DB-CB3A-26BD1494063E}"/>
              </a:ext>
            </a:extLst>
          </p:cNvPr>
          <p:cNvSpPr/>
          <p:nvPr/>
        </p:nvSpPr>
        <p:spPr>
          <a:xfrm>
            <a:off x="9870836" y="3914319"/>
            <a:ext cx="1813161" cy="2097000"/>
          </a:xfrm>
          <a:prstGeom prst="rect">
            <a:avLst/>
          </a:prstGeom>
          <a:solidFill>
            <a:srgbClr val="F5EFE8"/>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algn="ctr">
              <a:spcBef>
                <a:spcPts val="300"/>
              </a:spcBef>
            </a:pPr>
            <a:r>
              <a:rPr lang="en-CA" sz="1100" i="1" err="1">
                <a:solidFill>
                  <a:srgbClr val="EC111A"/>
                </a:solidFill>
              </a:rPr>
              <a:t>SteerCo</a:t>
            </a:r>
            <a:r>
              <a:rPr lang="en-CA" sz="1100" i="1">
                <a:solidFill>
                  <a:srgbClr val="EC111A"/>
                </a:solidFill>
              </a:rPr>
              <a:t>. #4: </a:t>
            </a:r>
            <a:r>
              <a:rPr lang="en-CA" sz="1100" b="1" i="1">
                <a:solidFill>
                  <a:srgbClr val="EC111A"/>
                </a:solidFill>
              </a:rPr>
              <a:t>Sep 4</a:t>
            </a:r>
            <a:r>
              <a:rPr lang="en-CA" sz="1100" b="1" i="1" baseline="30000">
                <a:solidFill>
                  <a:srgbClr val="EC111A"/>
                </a:solidFill>
              </a:rPr>
              <a:t>th</a:t>
            </a:r>
            <a:r>
              <a:rPr lang="en-CA" sz="1100" b="1" i="1">
                <a:solidFill>
                  <a:srgbClr val="EC111A"/>
                </a:solidFill>
              </a:rPr>
              <a:t> </a:t>
            </a:r>
          </a:p>
          <a:p>
            <a:pPr algn="ctr">
              <a:spcBef>
                <a:spcPts val="300"/>
              </a:spcBef>
            </a:pPr>
            <a:r>
              <a:rPr lang="en-CA" sz="1100" b="1">
                <a:solidFill>
                  <a:schemeClr val="tx1"/>
                </a:solidFill>
              </a:rPr>
              <a:t>Final review</a:t>
            </a:r>
          </a:p>
          <a:p>
            <a:pPr marL="117475" indent="-117475">
              <a:spcBef>
                <a:spcPts val="300"/>
              </a:spcBef>
              <a:buFont typeface="Arial" panose="020B0604020202020204" pitchFamily="34" charset="0"/>
              <a:buChar char="•"/>
            </a:pPr>
            <a:r>
              <a:rPr lang="en-US" sz="1100">
                <a:solidFill>
                  <a:schemeClr val="tx1"/>
                </a:solidFill>
              </a:rPr>
              <a:t>Review proposed September Board Material prior to submission for final OpCo review on September 10</a:t>
            </a:r>
            <a:r>
              <a:rPr lang="en-US" sz="1100" baseline="30000">
                <a:solidFill>
                  <a:schemeClr val="tx1"/>
                </a:solidFill>
              </a:rPr>
              <a:t>th</a:t>
            </a:r>
            <a:r>
              <a:rPr lang="en-US" sz="1100">
                <a:solidFill>
                  <a:schemeClr val="tx1"/>
                </a:solidFill>
              </a:rPr>
              <a:t> </a:t>
            </a:r>
          </a:p>
          <a:p>
            <a:pPr>
              <a:spcBef>
                <a:spcPts val="300"/>
              </a:spcBef>
            </a:pPr>
            <a:endParaRPr lang="en-US" sz="1100">
              <a:solidFill>
                <a:schemeClr val="tx1"/>
              </a:solidFill>
            </a:endParaRPr>
          </a:p>
        </p:txBody>
      </p:sp>
      <p:sp>
        <p:nvSpPr>
          <p:cNvPr id="255" name="TextBox 254">
            <a:extLst>
              <a:ext uri="{FF2B5EF4-FFF2-40B4-BE49-F238E27FC236}">
                <a16:creationId xmlns:a16="http://schemas.microsoft.com/office/drawing/2014/main" id="{1E38F83E-75B5-DB33-1430-257313690AF1}"/>
              </a:ext>
            </a:extLst>
          </p:cNvPr>
          <p:cNvSpPr txBox="1"/>
          <p:nvPr/>
        </p:nvSpPr>
        <p:spPr>
          <a:xfrm>
            <a:off x="1763806" y="3235694"/>
            <a:ext cx="1046871" cy="615553"/>
          </a:xfrm>
          <a:prstGeom prst="rect">
            <a:avLst/>
          </a:prstGeom>
          <a:noFill/>
          <a:ln>
            <a:noFill/>
          </a:ln>
        </p:spPr>
        <p:txBody>
          <a:bodyPr wrap="square" lIns="36000" tIns="0" rIns="36000" bIns="0" anchor="ctr">
            <a:spAutoFit/>
          </a:bodyPr>
          <a:lstStyle/>
          <a:p>
            <a:pPr marL="0" marR="0" lvl="0" indent="0" algn="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rPr>
              <a:t>6</a:t>
            </a:r>
            <a:r>
              <a:rPr lang="en-US" altLang="en-US" sz="1000">
                <a:solidFill>
                  <a:srgbClr val="000000"/>
                </a:solidFill>
                <a:effectLst/>
              </a:rPr>
              <a:t>/19 </a:t>
            </a:r>
            <a:br>
              <a:rPr lang="en-US" altLang="en-US" sz="1000">
                <a:solidFill>
                  <a:srgbClr val="000000"/>
                </a:solidFill>
                <a:effectLst/>
              </a:rPr>
            </a:br>
            <a:r>
              <a:rPr lang="en-US" altLang="en-US" sz="1000" err="1">
                <a:solidFill>
                  <a:srgbClr val="000000"/>
                </a:solidFill>
                <a:effectLst/>
              </a:rPr>
              <a:t>Proj</a:t>
            </a:r>
            <a:r>
              <a:rPr lang="en-US" altLang="en-US" sz="1000">
                <a:solidFill>
                  <a:srgbClr val="000000"/>
                </a:solidFill>
                <a:effectLst/>
              </a:rPr>
              <a:t>. Falcon: </a:t>
            </a:r>
            <a:r>
              <a:rPr lang="en-US" altLang="en-US" sz="1000">
                <a:solidFill>
                  <a:srgbClr val="000000"/>
                </a:solidFill>
              </a:rPr>
              <a:t> </a:t>
            </a:r>
            <a:r>
              <a:rPr lang="en-US" altLang="en-US" sz="1000">
                <a:solidFill>
                  <a:srgbClr val="000000"/>
                </a:solidFill>
                <a:effectLst/>
              </a:rPr>
              <a:t>Business</a:t>
            </a:r>
            <a:br>
              <a:rPr lang="en-US" altLang="en-US" sz="1000">
                <a:solidFill>
                  <a:srgbClr val="000000"/>
                </a:solidFill>
                <a:effectLst/>
              </a:rPr>
            </a:br>
            <a:r>
              <a:rPr lang="en-US" altLang="en-US" sz="1000">
                <a:solidFill>
                  <a:srgbClr val="000000"/>
                </a:solidFill>
                <a:effectLst/>
              </a:rPr>
              <a:t>Cases</a:t>
            </a:r>
          </a:p>
        </p:txBody>
      </p:sp>
      <p:sp>
        <p:nvSpPr>
          <p:cNvPr id="35" name="Rectangle 34">
            <a:extLst>
              <a:ext uri="{FF2B5EF4-FFF2-40B4-BE49-F238E27FC236}">
                <a16:creationId xmlns:a16="http://schemas.microsoft.com/office/drawing/2014/main" id="{078E6E74-A791-FA5B-9926-6BD72D1FA5A4}"/>
              </a:ext>
            </a:extLst>
          </p:cNvPr>
          <p:cNvSpPr/>
          <p:nvPr/>
        </p:nvSpPr>
        <p:spPr>
          <a:xfrm>
            <a:off x="3994778" y="3914319"/>
            <a:ext cx="1800000" cy="2097007"/>
          </a:xfrm>
          <a:prstGeom prst="rect">
            <a:avLst/>
          </a:prstGeom>
          <a:solidFill>
            <a:srgbClr val="F5EFE8"/>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algn="ctr">
              <a:spcBef>
                <a:spcPts val="300"/>
              </a:spcBef>
            </a:pPr>
            <a:r>
              <a:rPr lang="en-CA" sz="1100" i="1" err="1">
                <a:solidFill>
                  <a:srgbClr val="EC111A"/>
                </a:solidFill>
              </a:rPr>
              <a:t>SteerCo</a:t>
            </a:r>
            <a:r>
              <a:rPr lang="en-CA" sz="1100" i="1">
                <a:solidFill>
                  <a:srgbClr val="EC111A"/>
                </a:solidFill>
              </a:rPr>
              <a:t>. #2:</a:t>
            </a:r>
            <a:r>
              <a:rPr lang="en-CA" sz="1100" b="1" i="1">
                <a:solidFill>
                  <a:srgbClr val="EC111A"/>
                </a:solidFill>
              </a:rPr>
              <a:t> July 15</a:t>
            </a:r>
            <a:r>
              <a:rPr lang="en-CA" sz="1100" b="1" i="1" baseline="30000">
                <a:solidFill>
                  <a:srgbClr val="EC111A"/>
                </a:solidFill>
              </a:rPr>
              <a:t>th</a:t>
            </a:r>
            <a:endParaRPr lang="en-CA" sz="1100" b="1" i="1">
              <a:solidFill>
                <a:srgbClr val="EC111A"/>
              </a:solidFill>
            </a:endParaRPr>
          </a:p>
          <a:p>
            <a:pPr algn="ctr">
              <a:spcBef>
                <a:spcPts val="300"/>
              </a:spcBef>
            </a:pPr>
            <a:r>
              <a:rPr lang="en-US" sz="1100" b="1">
                <a:solidFill>
                  <a:schemeClr val="tx1"/>
                </a:solidFill>
              </a:rPr>
              <a:t>Progress Update </a:t>
            </a:r>
            <a:endParaRPr lang="en-CA" sz="1100" b="1">
              <a:solidFill>
                <a:schemeClr val="tx1"/>
              </a:solidFill>
            </a:endParaRPr>
          </a:p>
          <a:p>
            <a:pPr marL="171450" indent="-171450">
              <a:spcBef>
                <a:spcPts val="300"/>
              </a:spcBef>
              <a:buFont typeface="Arial" panose="020B0604020202020204" pitchFamily="34" charset="0"/>
              <a:buChar char="•"/>
            </a:pPr>
            <a:r>
              <a:rPr lang="en-US" sz="1100">
                <a:solidFill>
                  <a:schemeClr val="tx1"/>
                </a:solidFill>
              </a:rPr>
              <a:t>Review material for July 20</a:t>
            </a:r>
            <a:r>
              <a:rPr lang="en-US" sz="1100" baseline="30000">
                <a:solidFill>
                  <a:schemeClr val="tx1"/>
                </a:solidFill>
              </a:rPr>
              <a:t>th</a:t>
            </a:r>
            <a:r>
              <a:rPr lang="en-US" sz="1100">
                <a:solidFill>
                  <a:schemeClr val="tx1"/>
                </a:solidFill>
              </a:rPr>
              <a:t> Offsite:</a:t>
            </a:r>
          </a:p>
          <a:p>
            <a:pPr marL="341313" lvl="1" indent="-166688">
              <a:spcBef>
                <a:spcPts val="300"/>
              </a:spcBef>
              <a:buFont typeface="Arial" panose="020B0604020202020204" pitchFamily="34" charset="0"/>
              <a:buChar char="•"/>
            </a:pPr>
            <a:r>
              <a:rPr lang="en-US" sz="1100">
                <a:solidFill>
                  <a:schemeClr val="tx1"/>
                </a:solidFill>
              </a:rPr>
              <a:t>Recommended Placemat &amp; KPI updates (WS3)</a:t>
            </a:r>
          </a:p>
          <a:p>
            <a:pPr marL="171450" indent="-171450">
              <a:spcBef>
                <a:spcPts val="300"/>
              </a:spcBef>
              <a:buFont typeface="Arial" panose="020B0604020202020204" pitchFamily="34" charset="0"/>
              <a:buChar char="•"/>
            </a:pPr>
            <a:r>
              <a:rPr lang="en-US" sz="1100">
                <a:solidFill>
                  <a:schemeClr val="tx1"/>
                </a:solidFill>
              </a:rPr>
              <a:t>Share first draft of “Deep Dive” on Project Falcon</a:t>
            </a:r>
          </a:p>
          <a:p>
            <a:pPr algn="ctr">
              <a:spcBef>
                <a:spcPts val="300"/>
              </a:spcBef>
            </a:pPr>
            <a:endParaRPr lang="en-US" sz="1100">
              <a:solidFill>
                <a:schemeClr val="tx1"/>
              </a:solidFill>
            </a:endParaRPr>
          </a:p>
        </p:txBody>
      </p:sp>
      <p:sp>
        <p:nvSpPr>
          <p:cNvPr id="38" name="Rectangle 37">
            <a:extLst>
              <a:ext uri="{FF2B5EF4-FFF2-40B4-BE49-F238E27FC236}">
                <a16:creationId xmlns:a16="http://schemas.microsoft.com/office/drawing/2014/main" id="{77D46440-61E9-FA9D-58FE-31224B7E0603}"/>
              </a:ext>
            </a:extLst>
          </p:cNvPr>
          <p:cNvSpPr/>
          <p:nvPr/>
        </p:nvSpPr>
        <p:spPr>
          <a:xfrm>
            <a:off x="7912150" y="3914319"/>
            <a:ext cx="1800000" cy="2097003"/>
          </a:xfrm>
          <a:prstGeom prst="rect">
            <a:avLst/>
          </a:prstGeom>
          <a:solidFill>
            <a:srgbClr val="F5EFE8"/>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algn="ctr">
              <a:spcBef>
                <a:spcPts val="300"/>
              </a:spcBef>
            </a:pPr>
            <a:r>
              <a:rPr lang="en-CA" sz="1100" i="1" err="1">
                <a:solidFill>
                  <a:srgbClr val="EC111A"/>
                </a:solidFill>
              </a:rPr>
              <a:t>SteerCo</a:t>
            </a:r>
            <a:r>
              <a:rPr lang="en-CA" sz="1100" i="1">
                <a:solidFill>
                  <a:srgbClr val="EC111A"/>
                </a:solidFill>
              </a:rPr>
              <a:t>. #4 : </a:t>
            </a:r>
            <a:r>
              <a:rPr lang="en-CA" sz="1100" b="1" i="1">
                <a:solidFill>
                  <a:srgbClr val="EC111A"/>
                </a:solidFill>
              </a:rPr>
              <a:t>Aug 25</a:t>
            </a:r>
            <a:r>
              <a:rPr lang="en-CA" sz="1100" b="1" i="1" baseline="30000">
                <a:solidFill>
                  <a:srgbClr val="EC111A"/>
                </a:solidFill>
              </a:rPr>
              <a:t>th</a:t>
            </a:r>
            <a:r>
              <a:rPr lang="en-CA" sz="1100" b="1" i="1">
                <a:solidFill>
                  <a:srgbClr val="EC111A"/>
                </a:solidFill>
              </a:rPr>
              <a:t> </a:t>
            </a:r>
          </a:p>
          <a:p>
            <a:pPr algn="ctr">
              <a:spcBef>
                <a:spcPts val="300"/>
              </a:spcBef>
            </a:pPr>
            <a:r>
              <a:rPr lang="en-CA" sz="1100" b="1" err="1">
                <a:solidFill>
                  <a:schemeClr val="tx1"/>
                </a:solidFill>
              </a:rPr>
              <a:t>TCoB</a:t>
            </a:r>
            <a:r>
              <a:rPr lang="en-CA" sz="1100" b="1">
                <a:solidFill>
                  <a:schemeClr val="tx1"/>
                </a:solidFill>
              </a:rPr>
              <a:t> – Readout</a:t>
            </a:r>
          </a:p>
          <a:p>
            <a:pPr marL="117475" indent="-117475">
              <a:spcBef>
                <a:spcPts val="300"/>
              </a:spcBef>
              <a:buFont typeface="Arial" panose="020B0604020202020204" pitchFamily="34" charset="0"/>
              <a:buChar char="•"/>
            </a:pPr>
            <a:r>
              <a:rPr lang="en-CA" sz="1100">
                <a:solidFill>
                  <a:schemeClr val="tx1"/>
                </a:solidFill>
              </a:rPr>
              <a:t>Share feedback from </a:t>
            </a:r>
            <a:r>
              <a:rPr lang="en-CA" sz="1100" err="1">
                <a:solidFill>
                  <a:schemeClr val="tx1"/>
                </a:solidFill>
              </a:rPr>
              <a:t>TCoB</a:t>
            </a:r>
            <a:r>
              <a:rPr lang="en-CA" sz="1100">
                <a:solidFill>
                  <a:schemeClr val="tx1"/>
                </a:solidFill>
              </a:rPr>
              <a:t> and align on next steps</a:t>
            </a:r>
            <a:endParaRPr lang="en-US" sz="1100">
              <a:solidFill>
                <a:schemeClr val="tx1"/>
              </a:solidFill>
            </a:endParaRPr>
          </a:p>
        </p:txBody>
      </p:sp>
      <p:sp>
        <p:nvSpPr>
          <p:cNvPr id="62" name="Rectangle 61">
            <a:extLst>
              <a:ext uri="{FF2B5EF4-FFF2-40B4-BE49-F238E27FC236}">
                <a16:creationId xmlns:a16="http://schemas.microsoft.com/office/drawing/2014/main" id="{9EAAD827-1D05-F45C-741D-3EE71C972D11}"/>
              </a:ext>
            </a:extLst>
          </p:cNvPr>
          <p:cNvSpPr/>
          <p:nvPr/>
        </p:nvSpPr>
        <p:spPr>
          <a:xfrm>
            <a:off x="8727380" y="1689100"/>
            <a:ext cx="128586" cy="1821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40" name="TextBox 39">
            <a:extLst>
              <a:ext uri="{FF2B5EF4-FFF2-40B4-BE49-F238E27FC236}">
                <a16:creationId xmlns:a16="http://schemas.microsoft.com/office/drawing/2014/main" id="{99259FE4-1DEB-8740-53B4-A7EEF04ADBE3}"/>
              </a:ext>
            </a:extLst>
          </p:cNvPr>
          <p:cNvSpPr txBox="1"/>
          <p:nvPr/>
        </p:nvSpPr>
        <p:spPr>
          <a:xfrm>
            <a:off x="8131276" y="3235694"/>
            <a:ext cx="1342544" cy="769441"/>
          </a:xfrm>
          <a:prstGeom prst="rect">
            <a:avLst/>
          </a:prstGeom>
          <a:noFill/>
          <a:ln>
            <a:noFill/>
          </a:ln>
        </p:spPr>
        <p:txBody>
          <a:bodyPr wrap="square" lIns="36000" tIns="0" rIns="36000" bIns="0" anchor="ctr">
            <a:spAutoFit/>
          </a:bodyPr>
          <a:lstStyle>
            <a:defPPr>
              <a:defRPr lang="en-US"/>
            </a:defPPr>
            <a:lvl1pPr marR="0" lvl="0" indent="0" algn="ctr" defTabSz="914411" fontAlgn="auto">
              <a:lnSpc>
                <a:spcPct val="100000"/>
              </a:lnSpc>
              <a:spcBef>
                <a:spcPct val="0"/>
              </a:spcBef>
              <a:spcAft>
                <a:spcPct val="0"/>
              </a:spcAft>
              <a:buClr>
                <a:srgbClr val="000000"/>
              </a:buClr>
              <a:buSzTx/>
              <a:buNone/>
              <a:tabLst/>
              <a:defRPr sz="1000">
                <a:solidFill>
                  <a:srgbClr val="000000"/>
                </a:solidFill>
              </a:defRPr>
            </a:lvl1pPr>
          </a:lstStyle>
          <a:p>
            <a:r>
              <a:rPr lang="en-US" altLang="en-US" b="1"/>
              <a:t>8/26-27 </a:t>
            </a:r>
            <a:br>
              <a:rPr lang="en-US" altLang="en-US" b="1"/>
            </a:br>
            <a:r>
              <a:rPr lang="en-US" altLang="en-US" b="1"/>
              <a:t>Full Bank</a:t>
            </a:r>
            <a:br>
              <a:rPr lang="en-US" altLang="en-US" b="1"/>
            </a:br>
            <a:r>
              <a:rPr lang="en-US" altLang="en-US" b="1"/>
              <a:t>&amp; Final SIP</a:t>
            </a:r>
            <a:br>
              <a:rPr lang="en-US" altLang="zh-CN" b="1"/>
            </a:br>
            <a:r>
              <a:rPr lang="en-US" altLang="zh-CN" b="1"/>
              <a:t>Envelope</a:t>
            </a:r>
            <a:br>
              <a:rPr lang="en-US" altLang="en-US" b="1"/>
            </a:br>
            <a:endParaRPr lang="en-US" altLang="en-US" b="1"/>
          </a:p>
        </p:txBody>
      </p:sp>
      <p:sp>
        <p:nvSpPr>
          <p:cNvPr id="39" name="Isosceles Triangle 38">
            <a:extLst>
              <a:ext uri="{FF2B5EF4-FFF2-40B4-BE49-F238E27FC236}">
                <a16:creationId xmlns:a16="http://schemas.microsoft.com/office/drawing/2014/main" id="{696A26FF-C646-D4BC-A065-8E55B30A66F7}"/>
              </a:ext>
            </a:extLst>
          </p:cNvPr>
          <p:cNvSpPr/>
          <p:nvPr/>
        </p:nvSpPr>
        <p:spPr>
          <a:xfrm>
            <a:off x="8741838"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18" name="Rectangle: Rounded Corners 17">
            <a:extLst>
              <a:ext uri="{FF2B5EF4-FFF2-40B4-BE49-F238E27FC236}">
                <a16:creationId xmlns:a16="http://schemas.microsoft.com/office/drawing/2014/main" id="{198A79D9-0181-968F-7FC9-E86F96C9C4D6}"/>
              </a:ext>
            </a:extLst>
          </p:cNvPr>
          <p:cNvSpPr/>
          <p:nvPr/>
        </p:nvSpPr>
        <p:spPr>
          <a:xfrm>
            <a:off x="7425674" y="1960562"/>
            <a:ext cx="1293946" cy="144000"/>
          </a:xfrm>
          <a:prstGeom prst="roundRect">
            <a:avLst>
              <a:gd name="adj" fmla="val 50000"/>
            </a:avLst>
          </a:prstGeom>
          <a:solidFill>
            <a:srgbClr val="D7C0A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6" name="TextBox 5">
            <a:extLst>
              <a:ext uri="{FF2B5EF4-FFF2-40B4-BE49-F238E27FC236}">
                <a16:creationId xmlns:a16="http://schemas.microsoft.com/office/drawing/2014/main" id="{C523B163-2089-9F9D-7807-9D89053E9721}"/>
              </a:ext>
            </a:extLst>
          </p:cNvPr>
          <p:cNvSpPr txBox="1"/>
          <p:nvPr/>
        </p:nvSpPr>
        <p:spPr>
          <a:xfrm>
            <a:off x="4718847" y="2571085"/>
            <a:ext cx="694114" cy="400110"/>
          </a:xfrm>
          <a:prstGeom prst="rect">
            <a:avLst/>
          </a:prstGeom>
          <a:noFill/>
        </p:spPr>
        <p:txBody>
          <a:bodyPr wrap="square" rtlCol="0">
            <a:spAutoFit/>
          </a:bodyPr>
          <a:lstStyle/>
          <a:p>
            <a:pPr algn="ctr"/>
            <a:r>
              <a:rPr lang="en-US" sz="1000"/>
              <a:t>GH</a:t>
            </a:r>
            <a:br>
              <a:rPr lang="en-US" sz="1000"/>
            </a:br>
            <a:r>
              <a:rPr lang="en-US" sz="1000"/>
              <a:t>Review</a:t>
            </a:r>
          </a:p>
        </p:txBody>
      </p:sp>
      <p:sp>
        <p:nvSpPr>
          <p:cNvPr id="19" name="Isosceles Triangle 18">
            <a:extLst>
              <a:ext uri="{FF2B5EF4-FFF2-40B4-BE49-F238E27FC236}">
                <a16:creationId xmlns:a16="http://schemas.microsoft.com/office/drawing/2014/main" id="{79F25965-76EE-AA90-84F5-679BAE7046FA}"/>
              </a:ext>
            </a:extLst>
          </p:cNvPr>
          <p:cNvSpPr/>
          <p:nvPr/>
        </p:nvSpPr>
        <p:spPr>
          <a:xfrm>
            <a:off x="7918400"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0" name="Isosceles Triangle 19">
            <a:extLst>
              <a:ext uri="{FF2B5EF4-FFF2-40B4-BE49-F238E27FC236}">
                <a16:creationId xmlns:a16="http://schemas.microsoft.com/office/drawing/2014/main" id="{79B2B10A-A006-4A1E-8A01-C9CC961F562B}"/>
              </a:ext>
            </a:extLst>
          </p:cNvPr>
          <p:cNvSpPr/>
          <p:nvPr/>
        </p:nvSpPr>
        <p:spPr>
          <a:xfrm>
            <a:off x="8534256"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51" name="Isosceles Triangle 50">
            <a:extLst>
              <a:ext uri="{FF2B5EF4-FFF2-40B4-BE49-F238E27FC236}">
                <a16:creationId xmlns:a16="http://schemas.microsoft.com/office/drawing/2014/main" id="{22D870A2-6FDD-A487-8F3B-4A6C4EB4093B}"/>
              </a:ext>
            </a:extLst>
          </p:cNvPr>
          <p:cNvSpPr/>
          <p:nvPr/>
        </p:nvSpPr>
        <p:spPr>
          <a:xfrm>
            <a:off x="7478871" y="1978562"/>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9" name="Oval 8">
            <a:extLst>
              <a:ext uri="{FF2B5EF4-FFF2-40B4-BE49-F238E27FC236}">
                <a16:creationId xmlns:a16="http://schemas.microsoft.com/office/drawing/2014/main" id="{4564C2EA-39E3-B00C-2E3D-802F52F476D0}"/>
              </a:ext>
            </a:extLst>
          </p:cNvPr>
          <p:cNvSpPr/>
          <p:nvPr/>
        </p:nvSpPr>
        <p:spPr>
          <a:xfrm>
            <a:off x="3771925" y="1979093"/>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49" name="Rectangle: Rounded Corners 48">
            <a:extLst>
              <a:ext uri="{FF2B5EF4-FFF2-40B4-BE49-F238E27FC236}">
                <a16:creationId xmlns:a16="http://schemas.microsoft.com/office/drawing/2014/main" id="{28B8DE14-C756-ADF8-63D3-AC21A2D8CEEB}"/>
              </a:ext>
            </a:extLst>
          </p:cNvPr>
          <p:cNvSpPr/>
          <p:nvPr/>
        </p:nvSpPr>
        <p:spPr>
          <a:xfrm>
            <a:off x="4891133" y="2474015"/>
            <a:ext cx="349543"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53" name="Oval 52">
            <a:extLst>
              <a:ext uri="{FF2B5EF4-FFF2-40B4-BE49-F238E27FC236}">
                <a16:creationId xmlns:a16="http://schemas.microsoft.com/office/drawing/2014/main" id="{A16565AA-A696-1DB8-34EA-DB98D4C571BF}"/>
              </a:ext>
            </a:extLst>
          </p:cNvPr>
          <p:cNvSpPr/>
          <p:nvPr/>
        </p:nvSpPr>
        <p:spPr>
          <a:xfrm>
            <a:off x="4858362" y="1979093"/>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59" name="Oval 58">
            <a:extLst>
              <a:ext uri="{FF2B5EF4-FFF2-40B4-BE49-F238E27FC236}">
                <a16:creationId xmlns:a16="http://schemas.microsoft.com/office/drawing/2014/main" id="{A8D14FDE-B63D-5E4E-AB7A-B1607F9B886F}"/>
              </a:ext>
            </a:extLst>
          </p:cNvPr>
          <p:cNvSpPr/>
          <p:nvPr/>
        </p:nvSpPr>
        <p:spPr>
          <a:xfrm>
            <a:off x="6353472" y="1979093"/>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64" name="Oval 63">
            <a:extLst>
              <a:ext uri="{FF2B5EF4-FFF2-40B4-BE49-F238E27FC236}">
                <a16:creationId xmlns:a16="http://schemas.microsoft.com/office/drawing/2014/main" id="{C144213B-7AA3-AB02-DB8C-B998D3789667}"/>
              </a:ext>
            </a:extLst>
          </p:cNvPr>
          <p:cNvSpPr/>
          <p:nvPr/>
        </p:nvSpPr>
        <p:spPr>
          <a:xfrm>
            <a:off x="8821558" y="1979093"/>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68" name="Oval 67">
            <a:extLst>
              <a:ext uri="{FF2B5EF4-FFF2-40B4-BE49-F238E27FC236}">
                <a16:creationId xmlns:a16="http://schemas.microsoft.com/office/drawing/2014/main" id="{27AA82A6-9FCA-7B1F-6663-49824D3C7291}"/>
              </a:ext>
            </a:extLst>
          </p:cNvPr>
          <p:cNvSpPr/>
          <p:nvPr/>
        </p:nvSpPr>
        <p:spPr>
          <a:xfrm>
            <a:off x="9636417" y="1979093"/>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84" name="TextBox 83">
            <a:extLst>
              <a:ext uri="{FF2B5EF4-FFF2-40B4-BE49-F238E27FC236}">
                <a16:creationId xmlns:a16="http://schemas.microsoft.com/office/drawing/2014/main" id="{316D1F2B-7801-77F4-F8BE-0FC7D3DC455C}"/>
              </a:ext>
            </a:extLst>
          </p:cNvPr>
          <p:cNvSpPr txBox="1"/>
          <p:nvPr/>
        </p:nvSpPr>
        <p:spPr>
          <a:xfrm>
            <a:off x="523874" y="4547326"/>
            <a:ext cx="1473136" cy="830997"/>
          </a:xfrm>
          <a:prstGeom prst="rect">
            <a:avLst/>
          </a:prstGeom>
          <a:noFill/>
        </p:spPr>
        <p:txBody>
          <a:bodyPr wrap="square" rtlCol="0">
            <a:spAutoFit/>
          </a:bodyPr>
          <a:lstStyle/>
          <a:p>
            <a:r>
              <a:rPr lang="en-US" sz="1200">
                <a:solidFill>
                  <a:schemeClr val="accent1"/>
                </a:solidFill>
                <a:latin typeface="+mj-lt"/>
                <a:ea typeface="Scotia Light" panose="020B0403020203020204" pitchFamily="34" charset="0"/>
              </a:rPr>
              <a:t>Proposed Steering Committee Dates &amp; Topics</a:t>
            </a:r>
          </a:p>
        </p:txBody>
      </p:sp>
      <p:cxnSp>
        <p:nvCxnSpPr>
          <p:cNvPr id="87" name="Straight Connector 86">
            <a:extLst>
              <a:ext uri="{FF2B5EF4-FFF2-40B4-BE49-F238E27FC236}">
                <a16:creationId xmlns:a16="http://schemas.microsoft.com/office/drawing/2014/main" id="{C3F6B40A-B420-C8C7-2B0E-FB63C970DA69}"/>
              </a:ext>
            </a:extLst>
          </p:cNvPr>
          <p:cNvCxnSpPr/>
          <p:nvPr/>
        </p:nvCxnSpPr>
        <p:spPr>
          <a:xfrm>
            <a:off x="523874" y="3857879"/>
            <a:ext cx="11143202"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91" name="Rectangle 90">
            <a:extLst>
              <a:ext uri="{FF2B5EF4-FFF2-40B4-BE49-F238E27FC236}">
                <a16:creationId xmlns:a16="http://schemas.microsoft.com/office/drawing/2014/main" id="{92D40881-4B88-0698-DFA1-AA69ACA8A60E}"/>
              </a:ext>
            </a:extLst>
          </p:cNvPr>
          <p:cNvSpPr/>
          <p:nvPr/>
        </p:nvSpPr>
        <p:spPr>
          <a:xfrm>
            <a:off x="8643389" y="74476"/>
            <a:ext cx="2819579" cy="39212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ctr">
              <a:spcBef>
                <a:spcPts val="600"/>
              </a:spcBef>
            </a:pPr>
            <a:r>
              <a:rPr lang="en-US" sz="1000" i="1">
                <a:solidFill>
                  <a:schemeClr val="accent1"/>
                </a:solidFill>
              </a:rPr>
              <a:t>Preliminary – to be refined with key stakeholders</a:t>
            </a:r>
          </a:p>
        </p:txBody>
      </p:sp>
      <p:cxnSp>
        <p:nvCxnSpPr>
          <p:cNvPr id="228" name="Straight Connector 227">
            <a:extLst>
              <a:ext uri="{FF2B5EF4-FFF2-40B4-BE49-F238E27FC236}">
                <a16:creationId xmlns:a16="http://schemas.microsoft.com/office/drawing/2014/main" id="{6649B281-792F-0FAB-F3AC-004F7C63BB5D}"/>
              </a:ext>
            </a:extLst>
          </p:cNvPr>
          <p:cNvCxnSpPr>
            <a:cxnSpLocks/>
          </p:cNvCxnSpPr>
          <p:nvPr/>
        </p:nvCxnSpPr>
        <p:spPr>
          <a:xfrm flipH="1" flipV="1">
            <a:off x="6408095" y="2056308"/>
            <a:ext cx="0" cy="18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 name="Connector: Elbow 7">
            <a:extLst>
              <a:ext uri="{FF2B5EF4-FFF2-40B4-BE49-F238E27FC236}">
                <a16:creationId xmlns:a16="http://schemas.microsoft.com/office/drawing/2014/main" id="{6D8854AA-3575-EED5-98D3-1E6E4A2096EB}"/>
              </a:ext>
            </a:extLst>
          </p:cNvPr>
          <p:cNvCxnSpPr>
            <a:cxnSpLocks/>
            <a:endCxn id="64" idx="4"/>
          </p:cNvCxnSpPr>
          <p:nvPr/>
        </p:nvCxnSpPr>
        <p:spPr>
          <a:xfrm rot="16200000" flipV="1">
            <a:off x="8145476" y="2816736"/>
            <a:ext cx="1828288" cy="366877"/>
          </a:xfrm>
          <a:prstGeom prst="bentConnector3">
            <a:avLst>
              <a:gd name="adj1" fmla="val 50000"/>
            </a:avLst>
          </a:prstGeom>
          <a:ln w="12700"/>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6D2A8390-AE2B-BA9A-E2EB-F8B275970FF0}"/>
              </a:ext>
            </a:extLst>
          </p:cNvPr>
          <p:cNvCxnSpPr>
            <a:cxnSpLocks/>
          </p:cNvCxnSpPr>
          <p:nvPr/>
        </p:nvCxnSpPr>
        <p:spPr>
          <a:xfrm rot="16200000" flipV="1">
            <a:off x="8952555" y="2811467"/>
            <a:ext cx="1838828" cy="366876"/>
          </a:xfrm>
          <a:prstGeom prst="bentConnector3">
            <a:avLst>
              <a:gd name="adj1" fmla="val 75324"/>
            </a:avLst>
          </a:prstGeom>
          <a:ln w="12700"/>
        </p:spPr>
        <p:style>
          <a:lnRef idx="1">
            <a:schemeClr val="accent1"/>
          </a:lnRef>
          <a:fillRef idx="0">
            <a:schemeClr val="accent1"/>
          </a:fillRef>
          <a:effectRef idx="0">
            <a:schemeClr val="accent1"/>
          </a:effectRef>
          <a:fontRef idx="minor">
            <a:schemeClr val="tx1"/>
          </a:fontRef>
        </p:style>
      </p:cxnSp>
      <p:grpSp>
        <p:nvGrpSpPr>
          <p:cNvPr id="241" name="Group 240">
            <a:extLst>
              <a:ext uri="{FF2B5EF4-FFF2-40B4-BE49-F238E27FC236}">
                <a16:creationId xmlns:a16="http://schemas.microsoft.com/office/drawing/2014/main" id="{33580B40-5DB8-1F34-61BD-20AFB52A53E6}"/>
              </a:ext>
            </a:extLst>
          </p:cNvPr>
          <p:cNvGrpSpPr/>
          <p:nvPr/>
        </p:nvGrpSpPr>
        <p:grpSpPr>
          <a:xfrm>
            <a:off x="2161991" y="6129229"/>
            <a:ext cx="540000" cy="144000"/>
            <a:chOff x="1341514" y="6389143"/>
            <a:chExt cx="540000" cy="144000"/>
          </a:xfrm>
        </p:grpSpPr>
        <p:sp>
          <p:nvSpPr>
            <p:cNvPr id="232" name="Rectangle: Rounded Corners 231">
              <a:extLst>
                <a:ext uri="{FF2B5EF4-FFF2-40B4-BE49-F238E27FC236}">
                  <a16:creationId xmlns:a16="http://schemas.microsoft.com/office/drawing/2014/main" id="{98CAE13D-81DC-2A57-5170-D690A3A24CED}"/>
                </a:ext>
              </a:extLst>
            </p:cNvPr>
            <p:cNvSpPr/>
            <p:nvPr/>
          </p:nvSpPr>
          <p:spPr>
            <a:xfrm>
              <a:off x="1341514" y="6389143"/>
              <a:ext cx="540000" cy="144000"/>
            </a:xfrm>
            <a:prstGeom prst="roundRect">
              <a:avLst>
                <a:gd name="adj" fmla="val 50000"/>
              </a:avLst>
            </a:prstGeom>
            <a:solidFill>
              <a:srgbClr val="D7C0A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5" name="Isosceles Triangle 234">
              <a:extLst>
                <a:ext uri="{FF2B5EF4-FFF2-40B4-BE49-F238E27FC236}">
                  <a16:creationId xmlns:a16="http://schemas.microsoft.com/office/drawing/2014/main" id="{D64AC18D-5AF8-1E22-3E35-D43E244AC3D8}"/>
                </a:ext>
              </a:extLst>
            </p:cNvPr>
            <p:cNvSpPr/>
            <p:nvPr/>
          </p:nvSpPr>
          <p:spPr>
            <a:xfrm>
              <a:off x="1676306" y="6407143"/>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7" name="Isosceles Triangle 236">
              <a:extLst>
                <a:ext uri="{FF2B5EF4-FFF2-40B4-BE49-F238E27FC236}">
                  <a16:creationId xmlns:a16="http://schemas.microsoft.com/office/drawing/2014/main" id="{CA0E3434-6812-D3A3-8DD7-E36C8F897C4C}"/>
                </a:ext>
              </a:extLst>
            </p:cNvPr>
            <p:cNvSpPr/>
            <p:nvPr/>
          </p:nvSpPr>
          <p:spPr>
            <a:xfrm>
              <a:off x="1465791" y="6407143"/>
              <a:ext cx="109133" cy="108000"/>
            </a:xfrm>
            <a:prstGeom prst="triangle">
              <a:avLst/>
            </a:prstGeom>
            <a:solidFill>
              <a:srgbClr val="805F38"/>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grpSp>
      <p:sp>
        <p:nvSpPr>
          <p:cNvPr id="242" name="TextBox 241">
            <a:extLst>
              <a:ext uri="{FF2B5EF4-FFF2-40B4-BE49-F238E27FC236}">
                <a16:creationId xmlns:a16="http://schemas.microsoft.com/office/drawing/2014/main" id="{B9AA67DB-E088-564A-D601-B29D0CF6487D}"/>
              </a:ext>
            </a:extLst>
          </p:cNvPr>
          <p:cNvSpPr txBox="1"/>
          <p:nvPr/>
        </p:nvSpPr>
        <p:spPr>
          <a:xfrm>
            <a:off x="2749353" y="6078119"/>
            <a:ext cx="1273105" cy="246221"/>
          </a:xfrm>
          <a:prstGeom prst="rect">
            <a:avLst/>
          </a:prstGeom>
          <a:noFill/>
        </p:spPr>
        <p:txBody>
          <a:bodyPr wrap="none" rtlCol="0">
            <a:spAutoFit/>
          </a:bodyPr>
          <a:lstStyle/>
          <a:p>
            <a:r>
              <a:rPr lang="en-US" sz="1000"/>
              <a:t>Board Submissions</a:t>
            </a:r>
          </a:p>
        </p:txBody>
      </p:sp>
      <p:sp>
        <p:nvSpPr>
          <p:cNvPr id="244" name="Rectangle: Rounded Corners 243">
            <a:extLst>
              <a:ext uri="{FF2B5EF4-FFF2-40B4-BE49-F238E27FC236}">
                <a16:creationId xmlns:a16="http://schemas.microsoft.com/office/drawing/2014/main" id="{634CFF36-B172-B3CF-2ED5-E43972FBC56B}"/>
              </a:ext>
            </a:extLst>
          </p:cNvPr>
          <p:cNvSpPr/>
          <p:nvPr/>
        </p:nvSpPr>
        <p:spPr>
          <a:xfrm>
            <a:off x="4298181" y="6129229"/>
            <a:ext cx="540000"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32" name="TextBox 31">
            <a:extLst>
              <a:ext uri="{FF2B5EF4-FFF2-40B4-BE49-F238E27FC236}">
                <a16:creationId xmlns:a16="http://schemas.microsoft.com/office/drawing/2014/main" id="{63DAFB08-676C-1EF8-3F66-9D2E7CBC1DA3}"/>
              </a:ext>
            </a:extLst>
          </p:cNvPr>
          <p:cNvSpPr txBox="1"/>
          <p:nvPr/>
        </p:nvSpPr>
        <p:spPr>
          <a:xfrm>
            <a:off x="4885543" y="6078119"/>
            <a:ext cx="1306768" cy="246221"/>
          </a:xfrm>
          <a:prstGeom prst="rect">
            <a:avLst/>
          </a:prstGeom>
          <a:noFill/>
        </p:spPr>
        <p:txBody>
          <a:bodyPr wrap="none" rtlCol="0">
            <a:spAutoFit/>
          </a:bodyPr>
          <a:lstStyle/>
          <a:p>
            <a:r>
              <a:rPr lang="en-US" sz="1000"/>
              <a:t>Group Head Review</a:t>
            </a:r>
          </a:p>
        </p:txBody>
      </p:sp>
      <p:sp>
        <p:nvSpPr>
          <p:cNvPr id="33" name="Isosceles Triangle 32">
            <a:extLst>
              <a:ext uri="{FF2B5EF4-FFF2-40B4-BE49-F238E27FC236}">
                <a16:creationId xmlns:a16="http://schemas.microsoft.com/office/drawing/2014/main" id="{41548DE8-2ECC-D45B-3F11-414379254F95}"/>
              </a:ext>
            </a:extLst>
          </p:cNvPr>
          <p:cNvSpPr/>
          <p:nvPr/>
        </p:nvSpPr>
        <p:spPr>
          <a:xfrm>
            <a:off x="8309718" y="616522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spcBef>
                <a:spcPts val="600"/>
              </a:spcBef>
            </a:pPr>
            <a:endParaRPr lang="en-US" sz="1000">
              <a:solidFill>
                <a:schemeClr val="tx1"/>
              </a:solidFill>
            </a:endParaRPr>
          </a:p>
        </p:txBody>
      </p:sp>
      <p:sp>
        <p:nvSpPr>
          <p:cNvPr id="41" name="TextBox 40">
            <a:extLst>
              <a:ext uri="{FF2B5EF4-FFF2-40B4-BE49-F238E27FC236}">
                <a16:creationId xmlns:a16="http://schemas.microsoft.com/office/drawing/2014/main" id="{A18D38AD-78D4-899B-78B8-2A78E45E72DA}"/>
              </a:ext>
            </a:extLst>
          </p:cNvPr>
          <p:cNvSpPr txBox="1"/>
          <p:nvPr/>
        </p:nvSpPr>
        <p:spPr>
          <a:xfrm>
            <a:off x="8441275" y="6078119"/>
            <a:ext cx="1253869" cy="246221"/>
          </a:xfrm>
          <a:prstGeom prst="rect">
            <a:avLst/>
          </a:prstGeom>
          <a:noFill/>
        </p:spPr>
        <p:txBody>
          <a:bodyPr wrap="none" rtlCol="0">
            <a:spAutoFit/>
          </a:bodyPr>
          <a:lstStyle/>
          <a:p>
            <a:r>
              <a:rPr lang="en-US" sz="1000"/>
              <a:t>Key Content Dates</a:t>
            </a:r>
          </a:p>
        </p:txBody>
      </p:sp>
      <p:sp>
        <p:nvSpPr>
          <p:cNvPr id="42" name="Oval 41">
            <a:extLst>
              <a:ext uri="{FF2B5EF4-FFF2-40B4-BE49-F238E27FC236}">
                <a16:creationId xmlns:a16="http://schemas.microsoft.com/office/drawing/2014/main" id="{107978CA-6E26-FD9E-3D6E-396F7EA5803C}"/>
              </a:ext>
            </a:extLst>
          </p:cNvPr>
          <p:cNvSpPr/>
          <p:nvPr/>
        </p:nvSpPr>
        <p:spPr>
          <a:xfrm>
            <a:off x="6348035" y="6147760"/>
            <a:ext cx="109246" cy="106938"/>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44" name="TextBox 43">
            <a:extLst>
              <a:ext uri="{FF2B5EF4-FFF2-40B4-BE49-F238E27FC236}">
                <a16:creationId xmlns:a16="http://schemas.microsoft.com/office/drawing/2014/main" id="{28F3E9B9-B65E-9741-2A3F-A4CB82F8D8B8}"/>
              </a:ext>
            </a:extLst>
          </p:cNvPr>
          <p:cNvSpPr txBox="1"/>
          <p:nvPr/>
        </p:nvSpPr>
        <p:spPr>
          <a:xfrm>
            <a:off x="6462718" y="6078119"/>
            <a:ext cx="1882247" cy="246221"/>
          </a:xfrm>
          <a:prstGeom prst="rect">
            <a:avLst/>
          </a:prstGeom>
          <a:noFill/>
        </p:spPr>
        <p:txBody>
          <a:bodyPr wrap="none" rtlCol="0">
            <a:spAutoFit/>
          </a:bodyPr>
          <a:lstStyle/>
          <a:p>
            <a:r>
              <a:rPr lang="en-US" sz="1000"/>
              <a:t>Steering Committee Meetings</a:t>
            </a:r>
          </a:p>
        </p:txBody>
      </p:sp>
      <p:sp>
        <p:nvSpPr>
          <p:cNvPr id="21" name="Isosceles Triangle 20">
            <a:extLst>
              <a:ext uri="{FF2B5EF4-FFF2-40B4-BE49-F238E27FC236}">
                <a16:creationId xmlns:a16="http://schemas.microsoft.com/office/drawing/2014/main" id="{4D4E4FA1-2F40-C262-54DE-BC27593B0CBB}"/>
              </a:ext>
            </a:extLst>
          </p:cNvPr>
          <p:cNvSpPr/>
          <p:nvPr/>
        </p:nvSpPr>
        <p:spPr>
          <a:xfrm>
            <a:off x="5850438"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1" name="TextBox 230">
            <a:extLst>
              <a:ext uri="{FF2B5EF4-FFF2-40B4-BE49-F238E27FC236}">
                <a16:creationId xmlns:a16="http://schemas.microsoft.com/office/drawing/2014/main" id="{7EBAFF91-29DE-6D2C-7766-63BF23046A61}"/>
              </a:ext>
            </a:extLst>
          </p:cNvPr>
          <p:cNvSpPr txBox="1"/>
          <p:nvPr/>
        </p:nvSpPr>
        <p:spPr>
          <a:xfrm>
            <a:off x="5215108" y="3235694"/>
            <a:ext cx="1384004" cy="461665"/>
          </a:xfrm>
          <a:prstGeom prst="rect">
            <a:avLst/>
          </a:prstGeom>
          <a:noFill/>
          <a:ln>
            <a:noFill/>
          </a:ln>
        </p:spPr>
        <p:txBody>
          <a:bodyPr wrap="square" lIns="36000" tIns="0" rIns="36000" bIns="0"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effectLst/>
              </a:rPr>
              <a:t>7/22 </a:t>
            </a:r>
            <a:br>
              <a:rPr lang="en-US" altLang="en-US" sz="1000">
                <a:solidFill>
                  <a:srgbClr val="000000"/>
                </a:solidFill>
                <a:effectLst/>
              </a:rPr>
            </a:br>
            <a:r>
              <a:rPr lang="en-US" altLang="en-US" sz="1000">
                <a:solidFill>
                  <a:srgbClr val="000000"/>
                </a:solidFill>
                <a:effectLst/>
              </a:rPr>
              <a:t>SIP Envelope Prioritization</a:t>
            </a:r>
          </a:p>
        </p:txBody>
      </p:sp>
      <p:sp>
        <p:nvSpPr>
          <p:cNvPr id="16" name="Text Placeholder 2">
            <a:extLst>
              <a:ext uri="{FF2B5EF4-FFF2-40B4-BE49-F238E27FC236}">
                <a16:creationId xmlns:a16="http://schemas.microsoft.com/office/drawing/2014/main" id="{7962546C-6BBA-4228-3898-B564B3B77BF2}"/>
              </a:ext>
            </a:extLst>
          </p:cNvPr>
          <p:cNvSpPr>
            <a:spLocks noGrp="1"/>
          </p:cNvSpPr>
          <p:nvPr>
            <p:ph type="body" sz="quarter" idx="11"/>
          </p:nvPr>
        </p:nvSpPr>
        <p:spPr>
          <a:xfrm>
            <a:off x="515939" y="6329054"/>
            <a:ext cx="10791333" cy="144000"/>
          </a:xfrm>
        </p:spPr>
        <p:txBody>
          <a:bodyPr/>
          <a:lstStyle/>
          <a:p>
            <a:r>
              <a:rPr lang="en-US"/>
              <a:t>1. Corporate Secretary Schedule; 2. FP&amp;A Calendar, F27 Planning Guide; </a:t>
            </a:r>
          </a:p>
        </p:txBody>
      </p:sp>
      <p:cxnSp>
        <p:nvCxnSpPr>
          <p:cNvPr id="55" name="Connector: Elbow 54">
            <a:extLst>
              <a:ext uri="{FF2B5EF4-FFF2-40B4-BE49-F238E27FC236}">
                <a16:creationId xmlns:a16="http://schemas.microsoft.com/office/drawing/2014/main" id="{2DDB4630-6282-F97F-0D12-CD504DE5167E}"/>
              </a:ext>
            </a:extLst>
          </p:cNvPr>
          <p:cNvCxnSpPr>
            <a:cxnSpLocks/>
            <a:stCxn id="34" idx="0"/>
            <a:endCxn id="9" idx="4"/>
          </p:cNvCxnSpPr>
          <p:nvPr/>
        </p:nvCxnSpPr>
        <p:spPr>
          <a:xfrm rot="5400000" flipH="1" flipV="1">
            <a:off x="2467176" y="2554947"/>
            <a:ext cx="1828288" cy="890456"/>
          </a:xfrm>
          <a:prstGeom prst="bentConnector3">
            <a:avLst/>
          </a:prstGeom>
          <a:ln w="12700"/>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B0E27E0D-0CD6-B66C-5E81-3C7D93DF9717}"/>
              </a:ext>
            </a:extLst>
          </p:cNvPr>
          <p:cNvCxnSpPr>
            <a:cxnSpLocks/>
          </p:cNvCxnSpPr>
          <p:nvPr/>
        </p:nvCxnSpPr>
        <p:spPr>
          <a:xfrm rot="5400000" flipH="1" flipV="1">
            <a:off x="3724985" y="2734031"/>
            <a:ext cx="1836000" cy="540000"/>
          </a:xfrm>
          <a:prstGeom prst="bentConnector3">
            <a:avLst>
              <a:gd name="adj1" fmla="val 84967"/>
            </a:avLst>
          </a:prstGeom>
          <a:ln w="12700"/>
        </p:spPr>
        <p:style>
          <a:lnRef idx="1">
            <a:schemeClr val="accent1"/>
          </a:lnRef>
          <a:fillRef idx="0">
            <a:schemeClr val="accent1"/>
          </a:fillRef>
          <a:effectRef idx="0">
            <a:schemeClr val="accent1"/>
          </a:effectRef>
          <a:fontRef idx="minor">
            <a:schemeClr val="tx1"/>
          </a:fontRef>
        </p:style>
      </p:cxnSp>
      <p:sp>
        <p:nvSpPr>
          <p:cNvPr id="247" name="TextBox 246">
            <a:extLst>
              <a:ext uri="{FF2B5EF4-FFF2-40B4-BE49-F238E27FC236}">
                <a16:creationId xmlns:a16="http://schemas.microsoft.com/office/drawing/2014/main" id="{83538876-E2A9-AD6C-AA2B-7B03C9FD0614}"/>
              </a:ext>
            </a:extLst>
          </p:cNvPr>
          <p:cNvSpPr txBox="1"/>
          <p:nvPr/>
        </p:nvSpPr>
        <p:spPr>
          <a:xfrm>
            <a:off x="4450091" y="3235694"/>
            <a:ext cx="938320" cy="307777"/>
          </a:xfrm>
          <a:prstGeom prst="rect">
            <a:avLst/>
          </a:prstGeom>
          <a:solidFill>
            <a:schemeClr val="bg1">
              <a:lumMod val="95000"/>
            </a:schemeClr>
          </a:solidFill>
          <a:ln>
            <a:noFill/>
          </a:ln>
        </p:spPr>
        <p:txBody>
          <a:bodyPr wrap="square" lIns="36000" tIns="0" rIns="36000" bIns="0"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effectLst/>
              </a:rPr>
              <a:t>7/17 </a:t>
            </a:r>
            <a:br>
              <a:rPr lang="en-US" altLang="en-US" sz="1000">
                <a:solidFill>
                  <a:srgbClr val="000000"/>
                </a:solidFill>
                <a:effectLst/>
              </a:rPr>
            </a:br>
            <a:r>
              <a:rPr lang="en-US" altLang="en-US" sz="1000">
                <a:solidFill>
                  <a:srgbClr val="000000"/>
                </a:solidFill>
                <a:effectLst/>
              </a:rPr>
              <a:t>June MMR </a:t>
            </a:r>
          </a:p>
        </p:txBody>
      </p:sp>
      <p:sp>
        <p:nvSpPr>
          <p:cNvPr id="10" name="Isosceles Triangle 9">
            <a:extLst>
              <a:ext uri="{FF2B5EF4-FFF2-40B4-BE49-F238E27FC236}">
                <a16:creationId xmlns:a16="http://schemas.microsoft.com/office/drawing/2014/main" id="{900BAD2C-A7F8-E6D2-51BE-F1D196D14219}"/>
              </a:ext>
            </a:extLst>
          </p:cNvPr>
          <p:cNvSpPr/>
          <p:nvPr/>
        </p:nvSpPr>
        <p:spPr>
          <a:xfrm>
            <a:off x="3170962" y="3115889"/>
            <a:ext cx="108000" cy="72000"/>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spcBef>
                <a:spcPts val="600"/>
              </a:spcBef>
            </a:pPr>
            <a:endParaRPr lang="en-US" sz="1000">
              <a:solidFill>
                <a:schemeClr val="tx1"/>
              </a:solidFill>
            </a:endParaRPr>
          </a:p>
        </p:txBody>
      </p:sp>
      <p:sp>
        <p:nvSpPr>
          <p:cNvPr id="15" name="TextBox 14">
            <a:extLst>
              <a:ext uri="{FF2B5EF4-FFF2-40B4-BE49-F238E27FC236}">
                <a16:creationId xmlns:a16="http://schemas.microsoft.com/office/drawing/2014/main" id="{10599CF9-BD2C-1543-C1F2-EE6E9656DC93}"/>
              </a:ext>
            </a:extLst>
          </p:cNvPr>
          <p:cNvSpPr txBox="1"/>
          <p:nvPr/>
        </p:nvSpPr>
        <p:spPr>
          <a:xfrm>
            <a:off x="3097296" y="3235694"/>
            <a:ext cx="1158267" cy="461665"/>
          </a:xfrm>
          <a:prstGeom prst="rect">
            <a:avLst/>
          </a:prstGeom>
          <a:solidFill>
            <a:schemeClr val="bg1">
              <a:lumMod val="95000"/>
            </a:schemeClr>
          </a:solidFill>
          <a:ln>
            <a:noFill/>
          </a:ln>
        </p:spPr>
        <p:txBody>
          <a:bodyPr wrap="square" lIns="36000" tIns="0" rIns="36000" bIns="0" anchor="ctr">
            <a:spAutoFit/>
          </a:bodyPr>
          <a:lstStyle/>
          <a:p>
            <a:pPr marL="0" marR="0" lvl="0" indent="0"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rPr>
              <a:t>6</a:t>
            </a:r>
            <a:r>
              <a:rPr lang="en-US" altLang="en-US" sz="1000">
                <a:solidFill>
                  <a:srgbClr val="000000"/>
                </a:solidFill>
                <a:effectLst/>
              </a:rPr>
              <a:t>/25</a:t>
            </a:r>
            <a:br>
              <a:rPr lang="en-US" altLang="en-US" sz="1000">
                <a:solidFill>
                  <a:srgbClr val="000000"/>
                </a:solidFill>
                <a:effectLst/>
              </a:rPr>
            </a:br>
            <a:r>
              <a:rPr lang="en-US" altLang="en-US" sz="1000">
                <a:solidFill>
                  <a:srgbClr val="000000"/>
                </a:solidFill>
                <a:effectLst/>
              </a:rPr>
              <a:t>SIP </a:t>
            </a:r>
            <a:r>
              <a:rPr lang="en-US" altLang="zh-CN" sz="1000">
                <a:solidFill>
                  <a:srgbClr val="000000"/>
                </a:solidFill>
              </a:rPr>
              <a:t>Overview &amp; 1</a:t>
            </a:r>
            <a:r>
              <a:rPr lang="en-US" altLang="zh-CN" sz="1000" baseline="30000">
                <a:solidFill>
                  <a:srgbClr val="000000"/>
                </a:solidFill>
              </a:rPr>
              <a:t>st</a:t>
            </a:r>
            <a:r>
              <a:rPr lang="en-US" altLang="zh-CN" sz="1000">
                <a:solidFill>
                  <a:srgbClr val="000000"/>
                </a:solidFill>
              </a:rPr>
              <a:t> Envelope Preview</a:t>
            </a:r>
            <a:endParaRPr lang="en-US" altLang="en-US" sz="1000">
              <a:solidFill>
                <a:srgbClr val="000000"/>
              </a:solidFill>
              <a:effectLst/>
            </a:endParaRPr>
          </a:p>
        </p:txBody>
      </p:sp>
      <p:sp>
        <p:nvSpPr>
          <p:cNvPr id="50" name="Text Placeholder 4">
            <a:extLst>
              <a:ext uri="{FF2B5EF4-FFF2-40B4-BE49-F238E27FC236}">
                <a16:creationId xmlns:a16="http://schemas.microsoft.com/office/drawing/2014/main" id="{81661E89-1888-9F49-07F1-89DAA134DD99}"/>
              </a:ext>
            </a:extLst>
          </p:cNvPr>
          <p:cNvSpPr>
            <a:spLocks noGrp="1"/>
          </p:cNvSpPr>
          <p:nvPr>
            <p:ph type="body" sz="quarter" idx="13"/>
          </p:nvPr>
        </p:nvSpPr>
        <p:spPr>
          <a:xfrm>
            <a:off x="515938" y="342857"/>
            <a:ext cx="5616000" cy="180000"/>
          </a:xfrm>
        </p:spPr>
        <p:txBody>
          <a:bodyPr/>
          <a:lstStyle/>
          <a:p>
            <a:r>
              <a:rPr lang="en-US"/>
              <a:t>High-level overview of September board</a:t>
            </a:r>
          </a:p>
        </p:txBody>
      </p:sp>
      <p:sp>
        <p:nvSpPr>
          <p:cNvPr id="5" name="Rectangle: Rounded Corners 4">
            <a:extLst>
              <a:ext uri="{FF2B5EF4-FFF2-40B4-BE49-F238E27FC236}">
                <a16:creationId xmlns:a16="http://schemas.microsoft.com/office/drawing/2014/main" id="{8084098B-EE2E-FB03-A545-B2DA1F779632}"/>
              </a:ext>
            </a:extLst>
          </p:cNvPr>
          <p:cNvSpPr/>
          <p:nvPr/>
        </p:nvSpPr>
        <p:spPr>
          <a:xfrm>
            <a:off x="10208808" y="2474015"/>
            <a:ext cx="327747"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24" name="TextBox 223">
            <a:extLst>
              <a:ext uri="{FF2B5EF4-FFF2-40B4-BE49-F238E27FC236}">
                <a16:creationId xmlns:a16="http://schemas.microsoft.com/office/drawing/2014/main" id="{3E657F05-18C5-7EB1-5C13-FDE3A3A2D2B7}"/>
              </a:ext>
            </a:extLst>
          </p:cNvPr>
          <p:cNvSpPr txBox="1"/>
          <p:nvPr/>
        </p:nvSpPr>
        <p:spPr>
          <a:xfrm>
            <a:off x="9961938" y="2571085"/>
            <a:ext cx="800027" cy="381643"/>
          </a:xfrm>
          <a:prstGeom prst="rect">
            <a:avLst/>
          </a:prstGeom>
          <a:noFill/>
          <a:ln>
            <a:noFill/>
          </a:ln>
        </p:spPr>
        <p:txBody>
          <a:bodyPr wrap="square" lIns="0" tIns="36576" rIns="0" bIns="36576"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effectLst/>
              </a:rPr>
              <a:t>9/10  </a:t>
            </a:r>
            <a:br>
              <a:rPr lang="en-US" altLang="en-US" sz="1000">
                <a:solidFill>
                  <a:srgbClr val="000000"/>
                </a:solidFill>
                <a:effectLst/>
              </a:rPr>
            </a:br>
            <a:r>
              <a:rPr lang="en-US" altLang="en-US" sz="1000">
                <a:solidFill>
                  <a:srgbClr val="000000"/>
                </a:solidFill>
              </a:rPr>
              <a:t>OpCo.</a:t>
            </a:r>
            <a:r>
              <a:rPr lang="en-US" altLang="en-US" sz="1000">
                <a:solidFill>
                  <a:srgbClr val="000000"/>
                </a:solidFill>
                <a:effectLst/>
              </a:rPr>
              <a:t> Review</a:t>
            </a:r>
          </a:p>
        </p:txBody>
      </p:sp>
      <p:sp>
        <p:nvSpPr>
          <p:cNvPr id="226" name="Rectangle: Rounded Corners 225">
            <a:extLst>
              <a:ext uri="{FF2B5EF4-FFF2-40B4-BE49-F238E27FC236}">
                <a16:creationId xmlns:a16="http://schemas.microsoft.com/office/drawing/2014/main" id="{9EF54B37-CE53-0873-B6A0-5FEBF382519D}"/>
              </a:ext>
            </a:extLst>
          </p:cNvPr>
          <p:cNvSpPr/>
          <p:nvPr/>
        </p:nvSpPr>
        <p:spPr>
          <a:xfrm>
            <a:off x="8637097" y="2474015"/>
            <a:ext cx="327747" cy="144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l">
              <a:spcBef>
                <a:spcPts val="600"/>
              </a:spcBef>
            </a:pPr>
            <a:endParaRPr lang="en-US" sz="1000">
              <a:solidFill>
                <a:schemeClr val="tx1"/>
              </a:solidFill>
            </a:endParaRPr>
          </a:p>
        </p:txBody>
      </p:sp>
      <p:sp>
        <p:nvSpPr>
          <p:cNvPr id="234" name="TextBox 233">
            <a:extLst>
              <a:ext uri="{FF2B5EF4-FFF2-40B4-BE49-F238E27FC236}">
                <a16:creationId xmlns:a16="http://schemas.microsoft.com/office/drawing/2014/main" id="{FCAB72BB-321F-35BD-F044-472587407CF8}"/>
              </a:ext>
            </a:extLst>
          </p:cNvPr>
          <p:cNvSpPr txBox="1"/>
          <p:nvPr/>
        </p:nvSpPr>
        <p:spPr>
          <a:xfrm>
            <a:off x="8390227" y="2571085"/>
            <a:ext cx="800027" cy="381643"/>
          </a:xfrm>
          <a:prstGeom prst="rect">
            <a:avLst/>
          </a:prstGeom>
          <a:noFill/>
          <a:ln>
            <a:noFill/>
          </a:ln>
        </p:spPr>
        <p:txBody>
          <a:bodyPr wrap="square" lIns="0" tIns="36576" rIns="0" bIns="36576" anchor="ctr">
            <a:spAutoFit/>
          </a:body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000">
                <a:solidFill>
                  <a:srgbClr val="000000"/>
                </a:solidFill>
                <a:effectLst/>
              </a:rPr>
              <a:t>8/</a:t>
            </a:r>
            <a:r>
              <a:rPr lang="en-US" altLang="en-US" sz="1000">
                <a:solidFill>
                  <a:srgbClr val="000000"/>
                </a:solidFill>
              </a:rPr>
              <a:t>26</a:t>
            </a:r>
            <a:r>
              <a:rPr lang="en-US" altLang="en-US" sz="1000">
                <a:solidFill>
                  <a:srgbClr val="000000"/>
                </a:solidFill>
                <a:effectLst/>
              </a:rPr>
              <a:t>  </a:t>
            </a:r>
            <a:br>
              <a:rPr lang="en-US" altLang="en-US" sz="1000">
                <a:solidFill>
                  <a:srgbClr val="000000"/>
                </a:solidFill>
                <a:effectLst/>
              </a:rPr>
            </a:br>
            <a:r>
              <a:rPr lang="en-US" altLang="en-US" sz="1000">
                <a:solidFill>
                  <a:srgbClr val="000000"/>
                </a:solidFill>
              </a:rPr>
              <a:t>OpCo.</a:t>
            </a:r>
            <a:r>
              <a:rPr lang="en-US" altLang="en-US" sz="1000">
                <a:solidFill>
                  <a:srgbClr val="000000"/>
                </a:solidFill>
                <a:effectLst/>
              </a:rPr>
              <a:t> Review</a:t>
            </a:r>
          </a:p>
        </p:txBody>
      </p:sp>
    </p:spTree>
    <p:extLst>
      <p:ext uri="{BB962C8B-B14F-4D97-AF65-F5344CB8AC3E}">
        <p14:creationId xmlns:p14="http://schemas.microsoft.com/office/powerpoint/2010/main" val="43570020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hink-cell data - do not delete" hidden="1">
            <a:extLst>
              <a:ext uri="{FF2B5EF4-FFF2-40B4-BE49-F238E27FC236}">
                <a16:creationId xmlns:a16="http://schemas.microsoft.com/office/drawing/2014/main" id="{AA950F6C-2BBC-875A-15BE-E67C07497B7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33" name="think-cell data - do not delete" hidden="1">
                        <a:extLst>
                          <a:ext uri="{FF2B5EF4-FFF2-40B4-BE49-F238E27FC236}">
                            <a16:creationId xmlns:a16="http://schemas.microsoft.com/office/drawing/2014/main" id="{AA950F6C-2BBC-875A-15BE-E67C07497B7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8" name="Rectangle 27">
            <a:extLst>
              <a:ext uri="{FF2B5EF4-FFF2-40B4-BE49-F238E27FC236}">
                <a16:creationId xmlns:a16="http://schemas.microsoft.com/office/drawing/2014/main" id="{62ABEF28-623C-F517-DCC6-96016C8324E3}"/>
              </a:ext>
            </a:extLst>
          </p:cNvPr>
          <p:cNvSpPr/>
          <p:nvPr/>
        </p:nvSpPr>
        <p:spPr>
          <a:xfrm>
            <a:off x="3907188" y="6088445"/>
            <a:ext cx="825276" cy="2089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Today</a:t>
            </a:r>
          </a:p>
        </p:txBody>
      </p:sp>
      <p:sp>
        <p:nvSpPr>
          <p:cNvPr id="55" name="Rectangle 54">
            <a:extLst>
              <a:ext uri="{FF2B5EF4-FFF2-40B4-BE49-F238E27FC236}">
                <a16:creationId xmlns:a16="http://schemas.microsoft.com/office/drawing/2014/main" id="{68F9B82A-6577-4533-33E8-5A3C4930BA68}"/>
              </a:ext>
            </a:extLst>
          </p:cNvPr>
          <p:cNvSpPr/>
          <p:nvPr/>
        </p:nvSpPr>
        <p:spPr>
          <a:xfrm>
            <a:off x="3287165" y="2149270"/>
            <a:ext cx="976107" cy="3980067"/>
          </a:xfrm>
          <a:prstGeom prst="rect">
            <a:avLst/>
          </a:prstGeom>
          <a:pattFill prst="ltUpDiag">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b"/>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200" normalizeH="0" baseline="0" noProof="0">
                <a:ln>
                  <a:noFill/>
                </a:ln>
                <a:solidFill>
                  <a:srgbClr val="666666"/>
                </a:solidFill>
                <a:effectLst/>
                <a:uLnTx/>
                <a:uFillTx/>
                <a:latin typeface="Scotia"/>
                <a:ea typeface="+mn-ea"/>
                <a:cs typeface="+mn-cs"/>
              </a:rPr>
              <a:t>INTERVIEWS</a:t>
            </a:r>
          </a:p>
        </p:txBody>
      </p:sp>
      <p:sp>
        <p:nvSpPr>
          <p:cNvPr id="25" name="Rectangle 24">
            <a:extLst>
              <a:ext uri="{FF2B5EF4-FFF2-40B4-BE49-F238E27FC236}">
                <a16:creationId xmlns:a16="http://schemas.microsoft.com/office/drawing/2014/main" id="{3B940460-587B-4CF7-966C-C14417BC193C}"/>
              </a:ext>
            </a:extLst>
          </p:cNvPr>
          <p:cNvSpPr/>
          <p:nvPr/>
        </p:nvSpPr>
        <p:spPr>
          <a:xfrm>
            <a:off x="6741058" y="2149271"/>
            <a:ext cx="976107" cy="3980067"/>
          </a:xfrm>
          <a:prstGeom prst="rect">
            <a:avLst/>
          </a:prstGeom>
          <a:pattFill prst="ltUpDiag">
            <a:fgClr>
              <a:schemeClr val="bg1">
                <a:lumMod val="6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b"/>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200" normalizeH="0" baseline="0" noProof="0">
                <a:ln>
                  <a:noFill/>
                </a:ln>
                <a:solidFill>
                  <a:srgbClr val="666666"/>
                </a:solidFill>
                <a:effectLst/>
                <a:uLnTx/>
                <a:uFillTx/>
                <a:latin typeface="Scotia"/>
                <a:ea typeface="+mn-ea"/>
                <a:cs typeface="+mn-cs"/>
              </a:rPr>
              <a:t>HOLIDAYS</a:t>
            </a:r>
          </a:p>
        </p:txBody>
      </p:sp>
      <p:sp>
        <p:nvSpPr>
          <p:cNvPr id="2" name="Title 1">
            <a:extLst>
              <a:ext uri="{FF2B5EF4-FFF2-40B4-BE49-F238E27FC236}">
                <a16:creationId xmlns:a16="http://schemas.microsoft.com/office/drawing/2014/main" id="{18CD3CE5-5CFE-BDBB-1CAA-5E998276A05D}"/>
              </a:ext>
            </a:extLst>
          </p:cNvPr>
          <p:cNvSpPr>
            <a:spLocks noGrp="1"/>
          </p:cNvSpPr>
          <p:nvPr>
            <p:ph type="title"/>
          </p:nvPr>
        </p:nvSpPr>
        <p:spPr/>
        <p:txBody>
          <a:bodyPr vert="horz"/>
          <a:lstStyle/>
          <a:p>
            <a:r>
              <a:rPr lang="en-US">
                <a:solidFill>
                  <a:srgbClr val="EC111A"/>
                </a:solidFill>
              </a:rPr>
              <a:t>Timeline | </a:t>
            </a:r>
            <a:r>
              <a:rPr lang="en-US"/>
              <a:t>We will work collaboratively with the businesses over the next ~4 months to complete program design</a:t>
            </a:r>
            <a:endParaRPr lang="en-CA"/>
          </a:p>
        </p:txBody>
      </p:sp>
      <p:sp>
        <p:nvSpPr>
          <p:cNvPr id="3" name="Slide Number Placeholder 2">
            <a:extLst>
              <a:ext uri="{FF2B5EF4-FFF2-40B4-BE49-F238E27FC236}">
                <a16:creationId xmlns:a16="http://schemas.microsoft.com/office/drawing/2014/main" id="{CB2FD917-E9EF-6C7F-8894-3D0317C561A5}"/>
              </a:ext>
            </a:extLst>
          </p:cNvPr>
          <p:cNvSpPr>
            <a:spLocks noGrp="1"/>
          </p:cNvSpPr>
          <p:nvPr>
            <p:ph type="sldNum" sz="quarter" idx="10"/>
          </p:nvPr>
        </p:nvSpPr>
        <p:spPr/>
        <p:txBody>
          <a:bodyPr/>
          <a:lstStyle/>
          <a:p>
            <a:pPr marL="0" marR="0" lvl="0" indent="0" algn="r" defTabSz="914355"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05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355" rtl="0" eaLnBrk="1" fontAlgn="auto" latinLnBrk="0" hangingPunct="1">
                <a:lnSpc>
                  <a:spcPct val="100000"/>
                </a:lnSpc>
                <a:spcBef>
                  <a:spcPts val="0"/>
                </a:spcBef>
                <a:spcAft>
                  <a:spcPts val="0"/>
                </a:spcAft>
                <a:buClrTx/>
                <a:buSzTx/>
                <a:buFontTx/>
                <a:buNone/>
                <a:tabLst/>
                <a:defRPr/>
              </a:pPr>
              <a:t>22</a:t>
            </a:fld>
            <a:endParaRPr kumimoji="0" lang="en-CA" sz="105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cxnSp>
        <p:nvCxnSpPr>
          <p:cNvPr id="15" name="Straight Connector 14">
            <a:extLst>
              <a:ext uri="{FF2B5EF4-FFF2-40B4-BE49-F238E27FC236}">
                <a16:creationId xmlns:a16="http://schemas.microsoft.com/office/drawing/2014/main" id="{94E19383-C007-B95E-5989-37F0432B1094}"/>
              </a:ext>
            </a:extLst>
          </p:cNvPr>
          <p:cNvCxnSpPr>
            <a:cxnSpLocks/>
          </p:cNvCxnSpPr>
          <p:nvPr/>
        </p:nvCxnSpPr>
        <p:spPr>
          <a:xfrm>
            <a:off x="530053" y="3850716"/>
            <a:ext cx="11155680" cy="0"/>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266E51AC-433B-3FA6-1446-B0F817F2C72F}"/>
              </a:ext>
            </a:extLst>
          </p:cNvPr>
          <p:cNvSpPr/>
          <p:nvPr/>
        </p:nvSpPr>
        <p:spPr>
          <a:xfrm>
            <a:off x="515935" y="2863933"/>
            <a:ext cx="1164819" cy="891809"/>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Quick </a:t>
            </a:r>
            <a:br>
              <a:rPr kumimoji="0" lang="en-CA" sz="1200" b="1" i="0" u="none" strike="noStrike" kern="1200" cap="none" spc="0" normalizeH="0" baseline="0" noProof="0">
                <a:ln>
                  <a:noFill/>
                </a:ln>
                <a:solidFill>
                  <a:srgbClr val="FFFFFF"/>
                </a:solidFill>
                <a:effectLst/>
                <a:uLnTx/>
                <a:uFillTx/>
                <a:latin typeface="Scotia"/>
                <a:ea typeface="+mn-ea"/>
                <a:cs typeface="+mn-cs"/>
              </a:rPr>
            </a:br>
            <a:r>
              <a:rPr kumimoji="0" lang="en-CA" sz="1200" b="1" i="0" u="none" strike="noStrike" kern="1200" cap="none" spc="0" normalizeH="0" baseline="0" noProof="0">
                <a:ln>
                  <a:noFill/>
                </a:ln>
                <a:solidFill>
                  <a:srgbClr val="FFFFFF"/>
                </a:solidFill>
                <a:effectLst/>
                <a:uLnTx/>
                <a:uFillTx/>
                <a:latin typeface="Scotia"/>
                <a:ea typeface="+mn-ea"/>
                <a:cs typeface="+mn-cs"/>
              </a:rPr>
              <a:t>Wins</a:t>
            </a:r>
          </a:p>
        </p:txBody>
      </p:sp>
      <p:sp>
        <p:nvSpPr>
          <p:cNvPr id="21" name="Rectangle 20">
            <a:extLst>
              <a:ext uri="{FF2B5EF4-FFF2-40B4-BE49-F238E27FC236}">
                <a16:creationId xmlns:a16="http://schemas.microsoft.com/office/drawing/2014/main" id="{BDF75BC1-5BC7-2B6B-9C72-26907B71DA2D}"/>
              </a:ext>
            </a:extLst>
          </p:cNvPr>
          <p:cNvSpPr/>
          <p:nvPr/>
        </p:nvSpPr>
        <p:spPr>
          <a:xfrm>
            <a:off x="515935" y="3945690"/>
            <a:ext cx="1164819" cy="891809"/>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Design Operating Model</a:t>
            </a:r>
          </a:p>
        </p:txBody>
      </p:sp>
      <p:sp>
        <p:nvSpPr>
          <p:cNvPr id="22" name="Rectangle 21">
            <a:extLst>
              <a:ext uri="{FF2B5EF4-FFF2-40B4-BE49-F238E27FC236}">
                <a16:creationId xmlns:a16="http://schemas.microsoft.com/office/drawing/2014/main" id="{16985162-ADF0-F661-5623-3207EC16C221}"/>
              </a:ext>
            </a:extLst>
          </p:cNvPr>
          <p:cNvSpPr/>
          <p:nvPr/>
        </p:nvSpPr>
        <p:spPr>
          <a:xfrm>
            <a:off x="515935" y="5044636"/>
            <a:ext cx="1164819" cy="891809"/>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Design Governance Model</a:t>
            </a:r>
          </a:p>
        </p:txBody>
      </p:sp>
      <p:cxnSp>
        <p:nvCxnSpPr>
          <p:cNvPr id="23" name="Straight Connector 22">
            <a:extLst>
              <a:ext uri="{FF2B5EF4-FFF2-40B4-BE49-F238E27FC236}">
                <a16:creationId xmlns:a16="http://schemas.microsoft.com/office/drawing/2014/main" id="{256C6294-3433-EF21-E344-8F0E481C70B7}"/>
              </a:ext>
            </a:extLst>
          </p:cNvPr>
          <p:cNvCxnSpPr>
            <a:cxnSpLocks/>
          </p:cNvCxnSpPr>
          <p:nvPr/>
        </p:nvCxnSpPr>
        <p:spPr>
          <a:xfrm>
            <a:off x="515937" y="4941068"/>
            <a:ext cx="11155680" cy="0"/>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BC629974-7084-A5D1-7C48-465AB949C9A6}"/>
              </a:ext>
            </a:extLst>
          </p:cNvPr>
          <p:cNvSpPr/>
          <p:nvPr/>
        </p:nvSpPr>
        <p:spPr>
          <a:xfrm>
            <a:off x="5652472" y="3222661"/>
            <a:ext cx="1628717" cy="2781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Regional Managers onboarded</a:t>
            </a:r>
          </a:p>
        </p:txBody>
      </p:sp>
      <p:sp>
        <p:nvSpPr>
          <p:cNvPr id="14" name="Rectangle 13">
            <a:extLst>
              <a:ext uri="{FF2B5EF4-FFF2-40B4-BE49-F238E27FC236}">
                <a16:creationId xmlns:a16="http://schemas.microsoft.com/office/drawing/2014/main" id="{BF31103E-8225-2EAE-B6BA-87529B0C18E0}"/>
              </a:ext>
            </a:extLst>
          </p:cNvPr>
          <p:cNvSpPr/>
          <p:nvPr/>
        </p:nvSpPr>
        <p:spPr>
          <a:xfrm>
            <a:off x="515935" y="2181224"/>
            <a:ext cx="1164819" cy="503403"/>
          </a:xfrm>
          <a:prstGeom prst="rect">
            <a:avLst/>
          </a:prstGeom>
          <a:solidFill>
            <a:schemeClr val="bg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Program management</a:t>
            </a:r>
          </a:p>
        </p:txBody>
      </p:sp>
      <p:graphicFrame>
        <p:nvGraphicFramePr>
          <p:cNvPr id="30" name="Table 29">
            <a:extLst>
              <a:ext uri="{FF2B5EF4-FFF2-40B4-BE49-F238E27FC236}">
                <a16:creationId xmlns:a16="http://schemas.microsoft.com/office/drawing/2014/main" id="{387414B3-6FF8-B558-B704-49BAE6B11909}"/>
              </a:ext>
            </a:extLst>
          </p:cNvPr>
          <p:cNvGraphicFramePr>
            <a:graphicFrameLocks noGrp="1"/>
          </p:cNvGraphicFramePr>
          <p:nvPr/>
        </p:nvGraphicFramePr>
        <p:xfrm>
          <a:off x="1795894" y="1632612"/>
          <a:ext cx="9875720" cy="510540"/>
        </p:xfrm>
        <a:graphic>
          <a:graphicData uri="http://schemas.openxmlformats.org/drawingml/2006/table">
            <a:tbl>
              <a:tblPr firstRow="1" bandRow="1">
                <a:tableStyleId>{5C22544A-7EE6-4342-B048-85BDC9FD1C3A}</a:tableStyleId>
              </a:tblPr>
              <a:tblGrid>
                <a:gridCol w="493786">
                  <a:extLst>
                    <a:ext uri="{9D8B030D-6E8A-4147-A177-3AD203B41FA5}">
                      <a16:colId xmlns:a16="http://schemas.microsoft.com/office/drawing/2014/main" val="1866849843"/>
                    </a:ext>
                  </a:extLst>
                </a:gridCol>
                <a:gridCol w="493786">
                  <a:extLst>
                    <a:ext uri="{9D8B030D-6E8A-4147-A177-3AD203B41FA5}">
                      <a16:colId xmlns:a16="http://schemas.microsoft.com/office/drawing/2014/main" val="3532546623"/>
                    </a:ext>
                  </a:extLst>
                </a:gridCol>
                <a:gridCol w="493786">
                  <a:extLst>
                    <a:ext uri="{9D8B030D-6E8A-4147-A177-3AD203B41FA5}">
                      <a16:colId xmlns:a16="http://schemas.microsoft.com/office/drawing/2014/main" val="280315905"/>
                    </a:ext>
                  </a:extLst>
                </a:gridCol>
                <a:gridCol w="493786">
                  <a:extLst>
                    <a:ext uri="{9D8B030D-6E8A-4147-A177-3AD203B41FA5}">
                      <a16:colId xmlns:a16="http://schemas.microsoft.com/office/drawing/2014/main" val="3445920974"/>
                    </a:ext>
                  </a:extLst>
                </a:gridCol>
                <a:gridCol w="493786">
                  <a:extLst>
                    <a:ext uri="{9D8B030D-6E8A-4147-A177-3AD203B41FA5}">
                      <a16:colId xmlns:a16="http://schemas.microsoft.com/office/drawing/2014/main" val="97927578"/>
                    </a:ext>
                  </a:extLst>
                </a:gridCol>
                <a:gridCol w="493786">
                  <a:extLst>
                    <a:ext uri="{9D8B030D-6E8A-4147-A177-3AD203B41FA5}">
                      <a16:colId xmlns:a16="http://schemas.microsoft.com/office/drawing/2014/main" val="157021364"/>
                    </a:ext>
                  </a:extLst>
                </a:gridCol>
                <a:gridCol w="493786">
                  <a:extLst>
                    <a:ext uri="{9D8B030D-6E8A-4147-A177-3AD203B41FA5}">
                      <a16:colId xmlns:a16="http://schemas.microsoft.com/office/drawing/2014/main" val="3664079542"/>
                    </a:ext>
                  </a:extLst>
                </a:gridCol>
                <a:gridCol w="493786">
                  <a:extLst>
                    <a:ext uri="{9D8B030D-6E8A-4147-A177-3AD203B41FA5}">
                      <a16:colId xmlns:a16="http://schemas.microsoft.com/office/drawing/2014/main" val="3095911733"/>
                    </a:ext>
                  </a:extLst>
                </a:gridCol>
                <a:gridCol w="493786">
                  <a:extLst>
                    <a:ext uri="{9D8B030D-6E8A-4147-A177-3AD203B41FA5}">
                      <a16:colId xmlns:a16="http://schemas.microsoft.com/office/drawing/2014/main" val="3262229353"/>
                    </a:ext>
                  </a:extLst>
                </a:gridCol>
                <a:gridCol w="493786">
                  <a:extLst>
                    <a:ext uri="{9D8B030D-6E8A-4147-A177-3AD203B41FA5}">
                      <a16:colId xmlns:a16="http://schemas.microsoft.com/office/drawing/2014/main" val="3183851362"/>
                    </a:ext>
                  </a:extLst>
                </a:gridCol>
                <a:gridCol w="493786">
                  <a:extLst>
                    <a:ext uri="{9D8B030D-6E8A-4147-A177-3AD203B41FA5}">
                      <a16:colId xmlns:a16="http://schemas.microsoft.com/office/drawing/2014/main" val="3716920238"/>
                    </a:ext>
                  </a:extLst>
                </a:gridCol>
                <a:gridCol w="493786">
                  <a:extLst>
                    <a:ext uri="{9D8B030D-6E8A-4147-A177-3AD203B41FA5}">
                      <a16:colId xmlns:a16="http://schemas.microsoft.com/office/drawing/2014/main" val="648827509"/>
                    </a:ext>
                  </a:extLst>
                </a:gridCol>
                <a:gridCol w="493786">
                  <a:extLst>
                    <a:ext uri="{9D8B030D-6E8A-4147-A177-3AD203B41FA5}">
                      <a16:colId xmlns:a16="http://schemas.microsoft.com/office/drawing/2014/main" val="1026918723"/>
                    </a:ext>
                  </a:extLst>
                </a:gridCol>
                <a:gridCol w="493786">
                  <a:extLst>
                    <a:ext uri="{9D8B030D-6E8A-4147-A177-3AD203B41FA5}">
                      <a16:colId xmlns:a16="http://schemas.microsoft.com/office/drawing/2014/main" val="2066116935"/>
                    </a:ext>
                  </a:extLst>
                </a:gridCol>
                <a:gridCol w="493786">
                  <a:extLst>
                    <a:ext uri="{9D8B030D-6E8A-4147-A177-3AD203B41FA5}">
                      <a16:colId xmlns:a16="http://schemas.microsoft.com/office/drawing/2014/main" val="1403354611"/>
                    </a:ext>
                  </a:extLst>
                </a:gridCol>
                <a:gridCol w="493786">
                  <a:extLst>
                    <a:ext uri="{9D8B030D-6E8A-4147-A177-3AD203B41FA5}">
                      <a16:colId xmlns:a16="http://schemas.microsoft.com/office/drawing/2014/main" val="3929997999"/>
                    </a:ext>
                  </a:extLst>
                </a:gridCol>
                <a:gridCol w="493786">
                  <a:extLst>
                    <a:ext uri="{9D8B030D-6E8A-4147-A177-3AD203B41FA5}">
                      <a16:colId xmlns:a16="http://schemas.microsoft.com/office/drawing/2014/main" val="1048338560"/>
                    </a:ext>
                  </a:extLst>
                </a:gridCol>
                <a:gridCol w="493786">
                  <a:extLst>
                    <a:ext uri="{9D8B030D-6E8A-4147-A177-3AD203B41FA5}">
                      <a16:colId xmlns:a16="http://schemas.microsoft.com/office/drawing/2014/main" val="544442344"/>
                    </a:ext>
                  </a:extLst>
                </a:gridCol>
                <a:gridCol w="493786">
                  <a:extLst>
                    <a:ext uri="{9D8B030D-6E8A-4147-A177-3AD203B41FA5}">
                      <a16:colId xmlns:a16="http://schemas.microsoft.com/office/drawing/2014/main" val="3610213752"/>
                    </a:ext>
                  </a:extLst>
                </a:gridCol>
                <a:gridCol w="493786">
                  <a:extLst>
                    <a:ext uri="{9D8B030D-6E8A-4147-A177-3AD203B41FA5}">
                      <a16:colId xmlns:a16="http://schemas.microsoft.com/office/drawing/2014/main" val="3204453035"/>
                    </a:ext>
                  </a:extLst>
                </a:gridCol>
              </a:tblGrid>
              <a:tr h="204483">
                <a:tc gridSpan="3">
                  <a:txBody>
                    <a:bodyPr/>
                    <a:lstStyle/>
                    <a:p>
                      <a:pPr algn="ctr"/>
                      <a:r>
                        <a:rPr lang="en-CA" sz="1100">
                          <a:solidFill>
                            <a:schemeClr val="tx1"/>
                          </a:solidFill>
                        </a:rPr>
                        <a:t>October</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2F2F2"/>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4">
                  <a:txBody>
                    <a:bodyPr/>
                    <a:lstStyle/>
                    <a:p>
                      <a:pPr algn="ctr"/>
                      <a:r>
                        <a:rPr lang="en-CA" sz="1050">
                          <a:solidFill>
                            <a:schemeClr val="tx1"/>
                          </a:solidFill>
                        </a:rPr>
                        <a:t>November</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5">
                  <a:txBody>
                    <a:bodyPr/>
                    <a:lstStyle/>
                    <a:p>
                      <a:pPr algn="ctr"/>
                      <a:r>
                        <a:rPr lang="en-CA" sz="1050">
                          <a:solidFill>
                            <a:schemeClr val="tx1"/>
                          </a:solidFill>
                        </a:rPr>
                        <a:t>December</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05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4">
                  <a:txBody>
                    <a:bodyPr/>
                    <a:lstStyle/>
                    <a:p>
                      <a:pPr algn="ctr"/>
                      <a:r>
                        <a:rPr lang="en-CA" sz="1050">
                          <a:solidFill>
                            <a:schemeClr val="tx1"/>
                          </a:solidFill>
                        </a:rPr>
                        <a:t>January</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4">
                  <a:txBody>
                    <a:bodyPr/>
                    <a:lstStyle/>
                    <a:p>
                      <a:pPr algn="ctr"/>
                      <a:r>
                        <a:rPr lang="en-CA" sz="1050">
                          <a:solidFill>
                            <a:schemeClr val="tx1"/>
                          </a:solidFill>
                        </a:rPr>
                        <a:t>February</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pPr algn="ctr"/>
                      <a:endParaRPr lang="en-CA" sz="110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05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algn="ctr"/>
                      <a:endParaRPr lang="en-CA" sz="1050">
                        <a:solidFill>
                          <a:schemeClr val="tx1"/>
                        </a:solidFill>
                      </a:endParaRPr>
                    </a:p>
                  </a:txBody>
                  <a:tcPr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51563237"/>
                  </a:ext>
                </a:extLst>
              </a:tr>
              <a:tr h="204483">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14</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21</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28</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4</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11</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18</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25</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2</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9</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16</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23</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pattFill prst="ltUpDiag">
                      <a:fgClr>
                        <a:schemeClr val="bg1">
                          <a:lumMod val="75000"/>
                        </a:schemeClr>
                      </a:fgClr>
                      <a:bgClr>
                        <a:schemeClr val="bg1"/>
                      </a:bgClr>
                    </a:patt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30</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pattFill prst="ltUpDiag">
                      <a:fgClr>
                        <a:schemeClr val="bg1">
                          <a:lumMod val="75000"/>
                        </a:schemeClr>
                      </a:fgClr>
                      <a:bgClr>
                        <a:schemeClr val="bg1"/>
                      </a:bgClr>
                    </a:pattFill>
                  </a:tcPr>
                </a:tc>
                <a:tc>
                  <a:txBody>
                    <a:bodyPr/>
                    <a:lstStyle/>
                    <a:p>
                      <a:pPr algn="ctr"/>
                      <a:r>
                        <a:rPr lang="en-CA" sz="1050">
                          <a:solidFill>
                            <a:schemeClr val="tx1"/>
                          </a:solidFill>
                        </a:rPr>
                        <a:t>6</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13</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20</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050">
                          <a:solidFill>
                            <a:schemeClr val="tx1"/>
                          </a:solidFill>
                        </a:rPr>
                        <a:t>27</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3</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10</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17</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n-CA" sz="1050">
                          <a:solidFill>
                            <a:schemeClr val="tx1"/>
                          </a:solidFill>
                        </a:rPr>
                        <a:t>24</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498852422"/>
                  </a:ext>
                </a:extLst>
              </a:tr>
            </a:tbl>
          </a:graphicData>
        </a:graphic>
      </p:graphicFrame>
      <p:sp>
        <p:nvSpPr>
          <p:cNvPr id="31" name="Diamond 30">
            <a:extLst>
              <a:ext uri="{FF2B5EF4-FFF2-40B4-BE49-F238E27FC236}">
                <a16:creationId xmlns:a16="http://schemas.microsoft.com/office/drawing/2014/main" id="{88FC1E32-FC2F-98DD-D3FA-AB54AAF81A98}"/>
              </a:ext>
            </a:extLst>
          </p:cNvPr>
          <p:cNvSpPr/>
          <p:nvPr/>
        </p:nvSpPr>
        <p:spPr>
          <a:xfrm>
            <a:off x="1982375" y="2348626"/>
            <a:ext cx="164463" cy="164463"/>
          </a:xfrm>
          <a:prstGeom prst="diamond">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32" name="Arrow: Pentagon 31">
            <a:extLst>
              <a:ext uri="{FF2B5EF4-FFF2-40B4-BE49-F238E27FC236}">
                <a16:creationId xmlns:a16="http://schemas.microsoft.com/office/drawing/2014/main" id="{FDBD689F-A27D-CC7A-3071-65DD1BA122CA}"/>
              </a:ext>
            </a:extLst>
          </p:cNvPr>
          <p:cNvSpPr/>
          <p:nvPr/>
        </p:nvSpPr>
        <p:spPr>
          <a:xfrm>
            <a:off x="5353317" y="2870355"/>
            <a:ext cx="1476203" cy="305965"/>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Wealth training for Comm. bankers</a:t>
            </a:r>
          </a:p>
        </p:txBody>
      </p:sp>
      <p:sp>
        <p:nvSpPr>
          <p:cNvPr id="37" name="Arrow: Pentagon 36">
            <a:extLst>
              <a:ext uri="{FF2B5EF4-FFF2-40B4-BE49-F238E27FC236}">
                <a16:creationId xmlns:a16="http://schemas.microsoft.com/office/drawing/2014/main" id="{D2210B69-CBF3-BE6D-2E23-855B8594EFCE}"/>
              </a:ext>
            </a:extLst>
          </p:cNvPr>
          <p:cNvSpPr/>
          <p:nvPr/>
        </p:nvSpPr>
        <p:spPr>
          <a:xfrm>
            <a:off x="1803026" y="3298542"/>
            <a:ext cx="2929438" cy="457200"/>
          </a:xfrm>
          <a:prstGeom prst="homePlate">
            <a:avLst>
              <a:gd name="adj" fmla="val 31542"/>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000000"/>
                </a:solidFill>
                <a:effectLst/>
                <a:uLnTx/>
                <a:uFillTx/>
                <a:latin typeface="Scotia"/>
                <a:ea typeface="+mn-ea"/>
                <a:cs typeface="+mn-cs"/>
              </a:rPr>
              <a:t>     Leads Identification &amp; Analysis</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Data gathering for analysis </a:t>
            </a:r>
            <a:r>
              <a:rPr kumimoji="0" lang="en-CA" sz="900" b="0" i="1" u="none" strike="noStrike" kern="1200" cap="none" spc="0" normalizeH="0" baseline="0" noProof="0">
                <a:ln>
                  <a:noFill/>
                </a:ln>
                <a:solidFill>
                  <a:srgbClr val="000000"/>
                </a:solidFill>
                <a:effectLst/>
                <a:uLnTx/>
                <a:uFillTx/>
                <a:latin typeface="Scotia"/>
                <a:ea typeface="+mn-ea"/>
                <a:cs typeface="+mn-cs"/>
              </a:rPr>
              <a:t>(launched)</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Analysis for leads identification and opp. sizing </a:t>
            </a:r>
          </a:p>
        </p:txBody>
      </p:sp>
      <p:grpSp>
        <p:nvGrpSpPr>
          <p:cNvPr id="53" name="Group 52">
            <a:extLst>
              <a:ext uri="{FF2B5EF4-FFF2-40B4-BE49-F238E27FC236}">
                <a16:creationId xmlns:a16="http://schemas.microsoft.com/office/drawing/2014/main" id="{0E4FB365-EB4F-8F12-D2EE-2385482A4C8B}"/>
              </a:ext>
            </a:extLst>
          </p:cNvPr>
          <p:cNvGrpSpPr/>
          <p:nvPr/>
        </p:nvGrpSpPr>
        <p:grpSpPr>
          <a:xfrm>
            <a:off x="8969317" y="6132151"/>
            <a:ext cx="2701031" cy="185229"/>
            <a:chOff x="515935" y="6331664"/>
            <a:chExt cx="2701031" cy="185229"/>
          </a:xfrm>
        </p:grpSpPr>
        <p:sp>
          <p:nvSpPr>
            <p:cNvPr id="16" name="Diamond 15">
              <a:extLst>
                <a:ext uri="{FF2B5EF4-FFF2-40B4-BE49-F238E27FC236}">
                  <a16:creationId xmlns:a16="http://schemas.microsoft.com/office/drawing/2014/main" id="{A1E254F5-903C-1193-6BA2-7557F8253825}"/>
                </a:ext>
              </a:extLst>
            </p:cNvPr>
            <p:cNvSpPr/>
            <p:nvPr/>
          </p:nvSpPr>
          <p:spPr>
            <a:xfrm>
              <a:off x="515935" y="6342048"/>
              <a:ext cx="164463" cy="164463"/>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17" name="TextBox 16">
              <a:extLst>
                <a:ext uri="{FF2B5EF4-FFF2-40B4-BE49-F238E27FC236}">
                  <a16:creationId xmlns:a16="http://schemas.microsoft.com/office/drawing/2014/main" id="{C1F25752-2776-C609-CF23-8E21E2D357D5}"/>
                </a:ext>
              </a:extLst>
            </p:cNvPr>
            <p:cNvSpPr txBox="1"/>
            <p:nvPr/>
          </p:nvSpPr>
          <p:spPr>
            <a:xfrm>
              <a:off x="752688" y="6359834"/>
              <a:ext cx="1325511" cy="138499"/>
            </a:xfrm>
            <a:prstGeom prst="rect">
              <a:avLst/>
            </a:prstGeom>
            <a:noFill/>
          </p:spPr>
          <p:txBody>
            <a:bodyPr wrap="square" lIns="0" tIns="0" rIns="0" bIns="0" rtlCol="0">
              <a:spAutoFit/>
            </a:bodyP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Key meetings</a:t>
              </a:r>
              <a:endParaRPr kumimoji="0" lang="en-CA" sz="900" b="1" i="0" u="none" strike="noStrike" kern="1200" cap="none" spc="0" normalizeH="0" baseline="0" noProof="0">
                <a:ln>
                  <a:noFill/>
                </a:ln>
                <a:solidFill>
                  <a:srgbClr val="000000"/>
                </a:solidFill>
                <a:effectLst/>
                <a:uLnTx/>
                <a:uFillTx/>
                <a:latin typeface="Scotia"/>
                <a:ea typeface="+mn-ea"/>
                <a:cs typeface="+mn-cs"/>
              </a:endParaRPr>
            </a:p>
          </p:txBody>
        </p:sp>
        <p:sp>
          <p:nvSpPr>
            <p:cNvPr id="70" name="Star: 5 Points 69">
              <a:extLst>
                <a:ext uri="{FF2B5EF4-FFF2-40B4-BE49-F238E27FC236}">
                  <a16:creationId xmlns:a16="http://schemas.microsoft.com/office/drawing/2014/main" id="{04F6D7EC-8DA1-ACB7-20D6-0F0DD12457A6}"/>
                </a:ext>
              </a:extLst>
            </p:cNvPr>
            <p:cNvSpPr>
              <a:spLocks noChangeAspect="1"/>
            </p:cNvSpPr>
            <p:nvPr/>
          </p:nvSpPr>
          <p:spPr>
            <a:xfrm>
              <a:off x="1640543" y="6331664"/>
              <a:ext cx="185229" cy="185229"/>
            </a:xfrm>
            <a:prstGeom prst="star5">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39" name="TextBox 38">
              <a:extLst>
                <a:ext uri="{FF2B5EF4-FFF2-40B4-BE49-F238E27FC236}">
                  <a16:creationId xmlns:a16="http://schemas.microsoft.com/office/drawing/2014/main" id="{EEE434FB-64E3-6027-4293-94C0DC0DA596}"/>
                </a:ext>
              </a:extLst>
            </p:cNvPr>
            <p:cNvSpPr txBox="1"/>
            <p:nvPr/>
          </p:nvSpPr>
          <p:spPr>
            <a:xfrm>
              <a:off x="1891455" y="6359834"/>
              <a:ext cx="1325511" cy="138499"/>
            </a:xfrm>
            <a:prstGeom prst="rect">
              <a:avLst/>
            </a:prstGeom>
            <a:noFill/>
          </p:spPr>
          <p:txBody>
            <a:bodyPr wrap="square" lIns="0" tIns="0" rIns="0" bIns="0" rtlCol="0">
              <a:spAutoFit/>
            </a:bodyP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Already in progress</a:t>
              </a:r>
              <a:endParaRPr kumimoji="0" lang="en-CA" sz="900" b="1" i="0" u="none" strike="noStrike" kern="1200" cap="none" spc="0" normalizeH="0" baseline="0" noProof="0">
                <a:ln>
                  <a:noFill/>
                </a:ln>
                <a:solidFill>
                  <a:srgbClr val="000000"/>
                </a:solidFill>
                <a:effectLst/>
                <a:uLnTx/>
                <a:uFillTx/>
                <a:latin typeface="Scotia"/>
                <a:ea typeface="+mn-ea"/>
                <a:cs typeface="+mn-cs"/>
              </a:endParaRPr>
            </a:p>
          </p:txBody>
        </p:sp>
      </p:grpSp>
      <p:sp>
        <p:nvSpPr>
          <p:cNvPr id="40" name="Star: 5 Points 39">
            <a:extLst>
              <a:ext uri="{FF2B5EF4-FFF2-40B4-BE49-F238E27FC236}">
                <a16:creationId xmlns:a16="http://schemas.microsoft.com/office/drawing/2014/main" id="{7806B343-AC6B-F169-F6D9-E48640643462}"/>
              </a:ext>
            </a:extLst>
          </p:cNvPr>
          <p:cNvSpPr>
            <a:spLocks noChangeAspect="1"/>
          </p:cNvSpPr>
          <p:nvPr/>
        </p:nvSpPr>
        <p:spPr>
          <a:xfrm>
            <a:off x="5425010" y="3269122"/>
            <a:ext cx="185229" cy="185229"/>
          </a:xfrm>
          <a:prstGeom prst="star5">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41" name="Star: 5 Points 40">
            <a:extLst>
              <a:ext uri="{FF2B5EF4-FFF2-40B4-BE49-F238E27FC236}">
                <a16:creationId xmlns:a16="http://schemas.microsoft.com/office/drawing/2014/main" id="{B8EC9151-66ED-B2CC-8D5F-19C8337131AB}"/>
              </a:ext>
            </a:extLst>
          </p:cNvPr>
          <p:cNvSpPr>
            <a:spLocks noChangeAspect="1"/>
          </p:cNvSpPr>
          <p:nvPr/>
        </p:nvSpPr>
        <p:spPr>
          <a:xfrm>
            <a:off x="5421843" y="2930723"/>
            <a:ext cx="185229" cy="185229"/>
          </a:xfrm>
          <a:prstGeom prst="star5">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42" name="Rectangle 41">
            <a:extLst>
              <a:ext uri="{FF2B5EF4-FFF2-40B4-BE49-F238E27FC236}">
                <a16:creationId xmlns:a16="http://schemas.microsoft.com/office/drawing/2014/main" id="{95FBA7A5-6E76-F323-F645-0FC32AA63F0A}"/>
              </a:ext>
            </a:extLst>
          </p:cNvPr>
          <p:cNvSpPr/>
          <p:nvPr/>
        </p:nvSpPr>
        <p:spPr>
          <a:xfrm>
            <a:off x="2016622" y="2326368"/>
            <a:ext cx="825276" cy="2089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Program Kick-off</a:t>
            </a:r>
          </a:p>
        </p:txBody>
      </p:sp>
      <p:sp>
        <p:nvSpPr>
          <p:cNvPr id="45" name="Diamond 44">
            <a:extLst>
              <a:ext uri="{FF2B5EF4-FFF2-40B4-BE49-F238E27FC236}">
                <a16:creationId xmlns:a16="http://schemas.microsoft.com/office/drawing/2014/main" id="{3C67E2FE-0794-181E-1398-85E86AB32E91}"/>
              </a:ext>
            </a:extLst>
          </p:cNvPr>
          <p:cNvSpPr/>
          <p:nvPr/>
        </p:nvSpPr>
        <p:spPr>
          <a:xfrm>
            <a:off x="4944619" y="2348626"/>
            <a:ext cx="164463" cy="164463"/>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46" name="Rectangle 45">
            <a:extLst>
              <a:ext uri="{FF2B5EF4-FFF2-40B4-BE49-F238E27FC236}">
                <a16:creationId xmlns:a16="http://schemas.microsoft.com/office/drawing/2014/main" id="{2570573C-26B7-9B52-146D-085B90B18114}"/>
              </a:ext>
            </a:extLst>
          </p:cNvPr>
          <p:cNvSpPr/>
          <p:nvPr/>
        </p:nvSpPr>
        <p:spPr>
          <a:xfrm>
            <a:off x="3553370" y="2287947"/>
            <a:ext cx="1419021" cy="2858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err="1">
                <a:ln>
                  <a:noFill/>
                </a:ln>
                <a:solidFill>
                  <a:srgbClr val="000000"/>
                </a:solidFill>
                <a:effectLst/>
                <a:uLnTx/>
                <a:uFillTx/>
                <a:latin typeface="Scotia"/>
                <a:ea typeface="+mn-ea"/>
                <a:cs typeface="+mn-cs"/>
              </a:rPr>
              <a:t>SteerCo</a:t>
            </a:r>
            <a:r>
              <a:rPr kumimoji="0" lang="en-CA" sz="900" b="1" i="0" u="none" strike="noStrike" kern="1200" cap="none" spc="0" normalizeH="0" baseline="0" noProof="0">
                <a:ln>
                  <a:noFill/>
                </a:ln>
                <a:solidFill>
                  <a:srgbClr val="000000"/>
                </a:solidFill>
                <a:effectLst/>
                <a:uLnTx/>
                <a:uFillTx/>
                <a:latin typeface="Scotia"/>
                <a:ea typeface="+mn-ea"/>
                <a:cs typeface="+mn-cs"/>
              </a:rPr>
              <a:t> #1: </a:t>
            </a:r>
            <a:r>
              <a:rPr kumimoji="0" lang="en-CA" sz="900" b="0" i="0" u="none" strike="noStrike" kern="1200" cap="none" spc="0" normalizeH="0" baseline="0" noProof="0">
                <a:ln>
                  <a:noFill/>
                </a:ln>
                <a:solidFill>
                  <a:srgbClr val="000000"/>
                </a:solidFill>
                <a:effectLst/>
                <a:uLnTx/>
                <a:uFillTx/>
                <a:latin typeface="Scotia"/>
                <a:ea typeface="+mn-ea"/>
                <a:cs typeface="+mn-cs"/>
              </a:rPr>
              <a:t>Diagnostic </a:t>
            </a:r>
          </a:p>
          <a:p>
            <a:pPr marL="0" marR="0" lvl="0" indent="0" algn="r" defTabSz="914355"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and quick wins</a:t>
            </a:r>
          </a:p>
        </p:txBody>
      </p:sp>
      <p:sp>
        <p:nvSpPr>
          <p:cNvPr id="47" name="Diamond 46">
            <a:extLst>
              <a:ext uri="{FF2B5EF4-FFF2-40B4-BE49-F238E27FC236}">
                <a16:creationId xmlns:a16="http://schemas.microsoft.com/office/drawing/2014/main" id="{00B62FD9-EFFC-9469-0F90-279192C263A7}"/>
              </a:ext>
            </a:extLst>
          </p:cNvPr>
          <p:cNvSpPr/>
          <p:nvPr/>
        </p:nvSpPr>
        <p:spPr>
          <a:xfrm>
            <a:off x="9323388" y="2348626"/>
            <a:ext cx="164463" cy="164463"/>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4" name="Oval 3">
            <a:extLst>
              <a:ext uri="{FF2B5EF4-FFF2-40B4-BE49-F238E27FC236}">
                <a16:creationId xmlns:a16="http://schemas.microsoft.com/office/drawing/2014/main" id="{8E823653-F6B8-0566-1008-FFB378BC27A8}"/>
              </a:ext>
            </a:extLst>
          </p:cNvPr>
          <p:cNvSpPr>
            <a:spLocks noChangeAspect="1"/>
          </p:cNvSpPr>
          <p:nvPr/>
        </p:nvSpPr>
        <p:spPr>
          <a:xfrm>
            <a:off x="1803026" y="3314111"/>
            <a:ext cx="156136" cy="156136"/>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Scotia"/>
                <a:ea typeface="+mn-ea"/>
                <a:cs typeface="+mn-cs"/>
              </a:rPr>
              <a:t>1</a:t>
            </a:r>
          </a:p>
        </p:txBody>
      </p:sp>
      <p:sp>
        <p:nvSpPr>
          <p:cNvPr id="49" name="Diamond 48">
            <a:extLst>
              <a:ext uri="{FF2B5EF4-FFF2-40B4-BE49-F238E27FC236}">
                <a16:creationId xmlns:a16="http://schemas.microsoft.com/office/drawing/2014/main" id="{E0C54123-8A61-2164-790B-3D7368A689F2}"/>
              </a:ext>
            </a:extLst>
          </p:cNvPr>
          <p:cNvSpPr/>
          <p:nvPr/>
        </p:nvSpPr>
        <p:spPr>
          <a:xfrm>
            <a:off x="11386578" y="2348626"/>
            <a:ext cx="164463" cy="164463"/>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9" name="Arrow: Pentagon 8">
            <a:extLst>
              <a:ext uri="{FF2B5EF4-FFF2-40B4-BE49-F238E27FC236}">
                <a16:creationId xmlns:a16="http://schemas.microsoft.com/office/drawing/2014/main" id="{83797DDD-72F8-24CF-B00E-8275025E089D}"/>
              </a:ext>
            </a:extLst>
          </p:cNvPr>
          <p:cNvSpPr/>
          <p:nvPr/>
        </p:nvSpPr>
        <p:spPr>
          <a:xfrm>
            <a:off x="2325814" y="3938190"/>
            <a:ext cx="6288752" cy="438912"/>
          </a:xfrm>
          <a:prstGeom prst="homePlate">
            <a:avLst>
              <a:gd name="adj" fmla="val 31542"/>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000000"/>
                </a:solidFill>
                <a:effectLst/>
                <a:uLnTx/>
                <a:uFillTx/>
                <a:latin typeface="Scotia"/>
                <a:ea typeface="+mn-ea"/>
                <a:cs typeface="+mn-cs"/>
              </a:rPr>
              <a:t>      Joint Client Service Model</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Design joint engagement model </a:t>
            </a:r>
            <a:r>
              <a:rPr kumimoji="0" lang="en-US" sz="9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(pricing, co-location etc.) to serve common clients</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Define incentive model aligned with new engagement model</a:t>
            </a:r>
            <a:endParaRPr kumimoji="0" lang="en-CA" sz="900" b="0" i="0" u="none" strike="noStrike" kern="1200" cap="none" spc="0" normalizeH="0" baseline="0" noProof="0">
              <a:ln>
                <a:noFill/>
              </a:ln>
              <a:solidFill>
                <a:srgbClr val="000000"/>
              </a:solidFill>
              <a:effectLst/>
              <a:uLnTx/>
              <a:uFillTx/>
              <a:latin typeface="Scotia"/>
              <a:ea typeface="+mn-ea"/>
              <a:cs typeface="+mn-cs"/>
            </a:endParaRPr>
          </a:p>
        </p:txBody>
      </p:sp>
      <p:sp>
        <p:nvSpPr>
          <p:cNvPr id="10" name="Arrow: Pentagon 9">
            <a:extLst>
              <a:ext uri="{FF2B5EF4-FFF2-40B4-BE49-F238E27FC236}">
                <a16:creationId xmlns:a16="http://schemas.microsoft.com/office/drawing/2014/main" id="{026F2CA9-8D96-4825-6F64-8EA02C0AB253}"/>
              </a:ext>
            </a:extLst>
          </p:cNvPr>
          <p:cNvSpPr/>
          <p:nvPr/>
        </p:nvSpPr>
        <p:spPr>
          <a:xfrm>
            <a:off x="2325001" y="4418399"/>
            <a:ext cx="6288751" cy="438912"/>
          </a:xfrm>
          <a:prstGeom prst="homePlate">
            <a:avLst>
              <a:gd name="adj" fmla="val 31542"/>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000000"/>
                </a:solidFill>
                <a:effectLst/>
                <a:uLnTx/>
                <a:uFillTx/>
                <a:latin typeface="Scotia"/>
                <a:ea typeface="+mn-ea"/>
                <a:cs typeface="+mn-cs"/>
              </a:rPr>
              <a:t>    Technology &amp; Data Enablers</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Determine required tech tools and data needs</a:t>
            </a:r>
          </a:p>
        </p:txBody>
      </p:sp>
      <p:sp>
        <p:nvSpPr>
          <p:cNvPr id="11" name="Arrow: Pentagon 10">
            <a:extLst>
              <a:ext uri="{FF2B5EF4-FFF2-40B4-BE49-F238E27FC236}">
                <a16:creationId xmlns:a16="http://schemas.microsoft.com/office/drawing/2014/main" id="{E413AB4B-F2A8-00FB-0B75-2C5453BB9CA4}"/>
              </a:ext>
            </a:extLst>
          </p:cNvPr>
          <p:cNvSpPr/>
          <p:nvPr/>
        </p:nvSpPr>
        <p:spPr>
          <a:xfrm>
            <a:off x="8504709" y="5027446"/>
            <a:ext cx="3225330" cy="438912"/>
          </a:xfrm>
          <a:prstGeom prst="homePlate">
            <a:avLst>
              <a:gd name="adj" fmla="val 31542"/>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000000"/>
                </a:solidFill>
                <a:effectLst/>
                <a:uLnTx/>
                <a:uFillTx/>
                <a:latin typeface="Scotia"/>
                <a:ea typeface="+mn-ea"/>
                <a:cs typeface="+mn-cs"/>
              </a:rPr>
              <a:t>     Program Governance</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Set up reporting / performance tracking with KPIs</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Stand-up governance structure to implement program</a:t>
            </a:r>
          </a:p>
        </p:txBody>
      </p:sp>
      <p:sp>
        <p:nvSpPr>
          <p:cNvPr id="12" name="Arrow: Pentagon 11">
            <a:extLst>
              <a:ext uri="{FF2B5EF4-FFF2-40B4-BE49-F238E27FC236}">
                <a16:creationId xmlns:a16="http://schemas.microsoft.com/office/drawing/2014/main" id="{F6D81ADD-B8CE-59DB-AEB2-287AAA13BADF}"/>
              </a:ext>
            </a:extLst>
          </p:cNvPr>
          <p:cNvSpPr/>
          <p:nvPr/>
        </p:nvSpPr>
        <p:spPr>
          <a:xfrm>
            <a:off x="8504709" y="5497533"/>
            <a:ext cx="3225329" cy="438912"/>
          </a:xfrm>
          <a:prstGeom prst="homePlate">
            <a:avLst>
              <a:gd name="adj" fmla="val 31542"/>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000000"/>
                </a:solidFill>
                <a:effectLst/>
                <a:uLnTx/>
                <a:uFillTx/>
                <a:latin typeface="Scotia"/>
                <a:ea typeface="+mn-ea"/>
                <a:cs typeface="+mn-cs"/>
              </a:rPr>
              <a:t>     Change Management</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Develop training for Wealth &amp; Comm. RMs </a:t>
            </a:r>
          </a:p>
          <a:p>
            <a:pPr marL="171450" marR="0" lvl="0" indent="-111125" algn="l" defTabSz="9143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Establish clear communication strategy</a:t>
            </a:r>
          </a:p>
        </p:txBody>
      </p:sp>
      <p:cxnSp>
        <p:nvCxnSpPr>
          <p:cNvPr id="18" name="Straight Connector 17">
            <a:extLst>
              <a:ext uri="{FF2B5EF4-FFF2-40B4-BE49-F238E27FC236}">
                <a16:creationId xmlns:a16="http://schemas.microsoft.com/office/drawing/2014/main" id="{E51F16BE-64C1-1741-EE99-CAB65F585BDE}"/>
              </a:ext>
            </a:extLst>
          </p:cNvPr>
          <p:cNvCxnSpPr>
            <a:cxnSpLocks/>
          </p:cNvCxnSpPr>
          <p:nvPr/>
        </p:nvCxnSpPr>
        <p:spPr>
          <a:xfrm>
            <a:off x="530053" y="2768959"/>
            <a:ext cx="11155680" cy="0"/>
          </a:xfrm>
          <a:prstGeom prst="line">
            <a:avLst/>
          </a:prstGeom>
          <a:ln w="1270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2147E83D-078A-CF2C-528A-F006E4A9DB60}"/>
              </a:ext>
            </a:extLst>
          </p:cNvPr>
          <p:cNvSpPr>
            <a:spLocks noChangeAspect="1"/>
          </p:cNvSpPr>
          <p:nvPr/>
        </p:nvSpPr>
        <p:spPr>
          <a:xfrm>
            <a:off x="2324634" y="4413954"/>
            <a:ext cx="156136" cy="156136"/>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Scotia"/>
                <a:ea typeface="+mn-ea"/>
                <a:cs typeface="+mn-cs"/>
              </a:rPr>
              <a:t>3</a:t>
            </a:r>
          </a:p>
        </p:txBody>
      </p:sp>
      <p:sp>
        <p:nvSpPr>
          <p:cNvPr id="7" name="Oval 6">
            <a:extLst>
              <a:ext uri="{FF2B5EF4-FFF2-40B4-BE49-F238E27FC236}">
                <a16:creationId xmlns:a16="http://schemas.microsoft.com/office/drawing/2014/main" id="{3B384860-162B-78E0-AA43-8312916BD976}"/>
              </a:ext>
            </a:extLst>
          </p:cNvPr>
          <p:cNvSpPr>
            <a:spLocks noChangeAspect="1"/>
          </p:cNvSpPr>
          <p:nvPr/>
        </p:nvSpPr>
        <p:spPr>
          <a:xfrm>
            <a:off x="8513488" y="5509028"/>
            <a:ext cx="156136" cy="156136"/>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Scotia"/>
                <a:ea typeface="+mn-ea"/>
                <a:cs typeface="+mn-cs"/>
              </a:rPr>
              <a:t>5</a:t>
            </a:r>
          </a:p>
        </p:txBody>
      </p:sp>
      <p:sp>
        <p:nvSpPr>
          <p:cNvPr id="19" name="Oval 18">
            <a:extLst>
              <a:ext uri="{FF2B5EF4-FFF2-40B4-BE49-F238E27FC236}">
                <a16:creationId xmlns:a16="http://schemas.microsoft.com/office/drawing/2014/main" id="{03FCBC5D-4842-F683-7B02-596439193021}"/>
              </a:ext>
            </a:extLst>
          </p:cNvPr>
          <p:cNvSpPr>
            <a:spLocks noChangeAspect="1"/>
          </p:cNvSpPr>
          <p:nvPr/>
        </p:nvSpPr>
        <p:spPr>
          <a:xfrm>
            <a:off x="2324634" y="3942927"/>
            <a:ext cx="156136" cy="156136"/>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Scotia"/>
                <a:ea typeface="+mn-ea"/>
                <a:cs typeface="+mn-cs"/>
              </a:rPr>
              <a:t>2</a:t>
            </a:r>
          </a:p>
        </p:txBody>
      </p:sp>
      <p:sp>
        <p:nvSpPr>
          <p:cNvPr id="6" name="Oval 5">
            <a:extLst>
              <a:ext uri="{FF2B5EF4-FFF2-40B4-BE49-F238E27FC236}">
                <a16:creationId xmlns:a16="http://schemas.microsoft.com/office/drawing/2014/main" id="{BD202C9B-D1C5-3A2B-6CD9-B94BEA2369D8}"/>
              </a:ext>
            </a:extLst>
          </p:cNvPr>
          <p:cNvSpPr>
            <a:spLocks noChangeAspect="1"/>
          </p:cNvSpPr>
          <p:nvPr/>
        </p:nvSpPr>
        <p:spPr>
          <a:xfrm>
            <a:off x="8513488" y="5047209"/>
            <a:ext cx="156136" cy="156136"/>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Scotia"/>
                <a:ea typeface="+mn-ea"/>
                <a:cs typeface="+mn-cs"/>
              </a:rPr>
              <a:t>4</a:t>
            </a:r>
          </a:p>
        </p:txBody>
      </p:sp>
      <p:sp>
        <p:nvSpPr>
          <p:cNvPr id="8" name="Rectangle 7">
            <a:extLst>
              <a:ext uri="{FF2B5EF4-FFF2-40B4-BE49-F238E27FC236}">
                <a16:creationId xmlns:a16="http://schemas.microsoft.com/office/drawing/2014/main" id="{BE6C872F-DC3C-2068-601D-187066D092B8}"/>
              </a:ext>
            </a:extLst>
          </p:cNvPr>
          <p:cNvSpPr/>
          <p:nvPr/>
        </p:nvSpPr>
        <p:spPr>
          <a:xfrm>
            <a:off x="7930120" y="2287947"/>
            <a:ext cx="1419021" cy="2858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err="1">
                <a:ln>
                  <a:noFill/>
                </a:ln>
                <a:solidFill>
                  <a:srgbClr val="000000"/>
                </a:solidFill>
                <a:effectLst/>
                <a:uLnTx/>
                <a:uFillTx/>
                <a:latin typeface="Scotia"/>
                <a:ea typeface="+mn-ea"/>
                <a:cs typeface="+mn-cs"/>
              </a:rPr>
              <a:t>SteerCo</a:t>
            </a:r>
            <a:r>
              <a:rPr kumimoji="0" lang="en-CA" sz="900" b="1" i="0" u="none" strike="noStrike" kern="1200" cap="none" spc="0" normalizeH="0" baseline="0" noProof="0">
                <a:ln>
                  <a:noFill/>
                </a:ln>
                <a:solidFill>
                  <a:srgbClr val="000000"/>
                </a:solidFill>
                <a:effectLst/>
                <a:uLnTx/>
                <a:uFillTx/>
                <a:latin typeface="Scotia"/>
                <a:ea typeface="+mn-ea"/>
                <a:cs typeface="+mn-cs"/>
              </a:rPr>
              <a:t> #2: </a:t>
            </a:r>
            <a:r>
              <a:rPr kumimoji="0" lang="en-CA" sz="900" b="0" i="0" u="none" strike="noStrike" kern="1200" cap="none" spc="0" normalizeH="0" baseline="0" noProof="0">
                <a:ln>
                  <a:noFill/>
                </a:ln>
                <a:solidFill>
                  <a:srgbClr val="000000"/>
                </a:solidFill>
                <a:effectLst/>
                <a:uLnTx/>
                <a:uFillTx/>
                <a:latin typeface="Scotia"/>
                <a:ea typeface="+mn-ea"/>
                <a:cs typeface="+mn-cs"/>
              </a:rPr>
              <a:t>Operating Model Design</a:t>
            </a:r>
          </a:p>
        </p:txBody>
      </p:sp>
      <p:sp>
        <p:nvSpPr>
          <p:cNvPr id="13" name="Rectangle 12">
            <a:extLst>
              <a:ext uri="{FF2B5EF4-FFF2-40B4-BE49-F238E27FC236}">
                <a16:creationId xmlns:a16="http://schemas.microsoft.com/office/drawing/2014/main" id="{C16544B9-5C19-CE5D-242E-6235DB5C67E1}"/>
              </a:ext>
            </a:extLst>
          </p:cNvPr>
          <p:cNvSpPr/>
          <p:nvPr/>
        </p:nvSpPr>
        <p:spPr>
          <a:xfrm>
            <a:off x="10132020" y="2287947"/>
            <a:ext cx="1419021" cy="2858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err="1">
                <a:ln>
                  <a:noFill/>
                </a:ln>
                <a:solidFill>
                  <a:srgbClr val="000000"/>
                </a:solidFill>
                <a:effectLst/>
                <a:uLnTx/>
                <a:uFillTx/>
                <a:latin typeface="Scotia"/>
                <a:ea typeface="+mn-ea"/>
                <a:cs typeface="+mn-cs"/>
              </a:rPr>
              <a:t>SteerCo</a:t>
            </a:r>
            <a:r>
              <a:rPr kumimoji="0" lang="en-CA" sz="900" b="1" i="0" u="none" strike="noStrike" kern="1200" cap="none" spc="0" normalizeH="0" baseline="0" noProof="0">
                <a:ln>
                  <a:noFill/>
                </a:ln>
                <a:solidFill>
                  <a:srgbClr val="000000"/>
                </a:solidFill>
                <a:effectLst/>
                <a:uLnTx/>
                <a:uFillTx/>
                <a:latin typeface="Scotia"/>
                <a:ea typeface="+mn-ea"/>
                <a:cs typeface="+mn-cs"/>
              </a:rPr>
              <a:t> #3: </a:t>
            </a:r>
            <a:r>
              <a:rPr kumimoji="0" lang="en-CA" sz="900" b="0" i="0" u="none" strike="noStrike" kern="1200" cap="none" spc="0" normalizeH="0" baseline="0" noProof="0">
                <a:ln>
                  <a:noFill/>
                </a:ln>
                <a:solidFill>
                  <a:srgbClr val="000000"/>
                </a:solidFill>
                <a:effectLst/>
                <a:uLnTx/>
                <a:uFillTx/>
                <a:latin typeface="Scotia"/>
                <a:ea typeface="+mn-ea"/>
                <a:cs typeface="+mn-cs"/>
              </a:rPr>
              <a:t>KPIs and Change management</a:t>
            </a:r>
          </a:p>
        </p:txBody>
      </p:sp>
      <p:cxnSp>
        <p:nvCxnSpPr>
          <p:cNvPr id="26" name="Straight Connector 25">
            <a:extLst>
              <a:ext uri="{FF2B5EF4-FFF2-40B4-BE49-F238E27FC236}">
                <a16:creationId xmlns:a16="http://schemas.microsoft.com/office/drawing/2014/main" id="{66CE2ECF-36F0-0C36-A58A-E301086F284F}"/>
              </a:ext>
            </a:extLst>
          </p:cNvPr>
          <p:cNvCxnSpPr>
            <a:cxnSpLocks/>
          </p:cNvCxnSpPr>
          <p:nvPr/>
        </p:nvCxnSpPr>
        <p:spPr>
          <a:xfrm>
            <a:off x="4327174" y="2127256"/>
            <a:ext cx="0" cy="3931920"/>
          </a:xfrm>
          <a:prstGeom prst="line">
            <a:avLst/>
          </a:prstGeom>
        </p:spPr>
        <p:style>
          <a:lnRef idx="1">
            <a:schemeClr val="dk1"/>
          </a:lnRef>
          <a:fillRef idx="0">
            <a:schemeClr val="dk1"/>
          </a:fillRef>
          <a:effectRef idx="0">
            <a:schemeClr val="dk1"/>
          </a:effectRef>
          <a:fontRef idx="minor">
            <a:schemeClr val="tx1"/>
          </a:fontRef>
        </p:style>
      </p:cxnSp>
      <p:sp>
        <p:nvSpPr>
          <p:cNvPr id="29" name="Isosceles Triangle 28">
            <a:extLst>
              <a:ext uri="{FF2B5EF4-FFF2-40B4-BE49-F238E27FC236}">
                <a16:creationId xmlns:a16="http://schemas.microsoft.com/office/drawing/2014/main" id="{E0D81C59-5897-54E5-7B86-380372548D1E}"/>
              </a:ext>
            </a:extLst>
          </p:cNvPr>
          <p:cNvSpPr/>
          <p:nvPr/>
        </p:nvSpPr>
        <p:spPr>
          <a:xfrm>
            <a:off x="4246277" y="5878751"/>
            <a:ext cx="182880" cy="182880"/>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34" name="Text Placeholder 33">
            <a:extLst>
              <a:ext uri="{FF2B5EF4-FFF2-40B4-BE49-F238E27FC236}">
                <a16:creationId xmlns:a16="http://schemas.microsoft.com/office/drawing/2014/main" id="{B6A88A6F-E308-8343-D9C3-5A1B059D2091}"/>
              </a:ext>
            </a:extLst>
          </p:cNvPr>
          <p:cNvSpPr>
            <a:spLocks noGrp="1"/>
          </p:cNvSpPr>
          <p:nvPr>
            <p:ph type="body" sz="quarter" idx="11"/>
          </p:nvPr>
        </p:nvSpPr>
        <p:spPr/>
        <p:txBody>
          <a:bodyPr/>
          <a:lstStyle/>
          <a:p>
            <a:endParaRPr lang="en-CA"/>
          </a:p>
        </p:txBody>
      </p:sp>
    </p:spTree>
    <p:extLst>
      <p:ext uri="{BB962C8B-B14F-4D97-AF65-F5344CB8AC3E}">
        <p14:creationId xmlns:p14="http://schemas.microsoft.com/office/powerpoint/2010/main" val="276371864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349F43-9164-7605-7432-C347DF6B72B9}"/>
            </a:ext>
          </a:extLst>
        </p:cNvPr>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B980EB05-9998-FEBA-D604-1B382E153B6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12" name="think-cell data - do not delete" hidden="1">
                        <a:extLst>
                          <a:ext uri="{FF2B5EF4-FFF2-40B4-BE49-F238E27FC236}">
                            <a16:creationId xmlns:a16="http://schemas.microsoft.com/office/drawing/2014/main" id="{B980EB05-9998-FEBA-D604-1B382E153B6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Rectangle 7">
            <a:extLst>
              <a:ext uri="{FF2B5EF4-FFF2-40B4-BE49-F238E27FC236}">
                <a16:creationId xmlns:a16="http://schemas.microsoft.com/office/drawing/2014/main" id="{921E1342-2801-3EF3-D176-A07AD8D75E58}"/>
              </a:ext>
            </a:extLst>
          </p:cNvPr>
          <p:cNvSpPr/>
          <p:nvPr/>
        </p:nvSpPr>
        <p:spPr>
          <a:xfrm>
            <a:off x="515938" y="4579045"/>
            <a:ext cx="1380852" cy="104861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5" name="Rectangle 4">
            <a:extLst>
              <a:ext uri="{FF2B5EF4-FFF2-40B4-BE49-F238E27FC236}">
                <a16:creationId xmlns:a16="http://schemas.microsoft.com/office/drawing/2014/main" id="{5A31EE94-5CB4-3C25-92A6-68B1CDE8DEAA}"/>
              </a:ext>
            </a:extLst>
          </p:cNvPr>
          <p:cNvSpPr/>
          <p:nvPr/>
        </p:nvSpPr>
        <p:spPr>
          <a:xfrm>
            <a:off x="515938" y="3408073"/>
            <a:ext cx="1380852" cy="1046447"/>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 name="Title 1">
            <a:extLst>
              <a:ext uri="{FF2B5EF4-FFF2-40B4-BE49-F238E27FC236}">
                <a16:creationId xmlns:a16="http://schemas.microsoft.com/office/drawing/2014/main" id="{D7D057AA-2894-08ED-B5E7-8B6F763C3B4E}"/>
              </a:ext>
            </a:extLst>
          </p:cNvPr>
          <p:cNvSpPr>
            <a:spLocks noGrp="1"/>
          </p:cNvSpPr>
          <p:nvPr>
            <p:ph type="title"/>
          </p:nvPr>
        </p:nvSpPr>
        <p:spPr>
          <a:xfrm>
            <a:off x="540513" y="657225"/>
            <a:ext cx="11160124" cy="720000"/>
          </a:xfrm>
        </p:spPr>
        <p:txBody>
          <a:bodyPr vert="horz"/>
          <a:lstStyle/>
          <a:p>
            <a:r>
              <a:rPr lang="en-CA">
                <a:solidFill>
                  <a:schemeClr val="accent1"/>
                </a:solidFill>
              </a:rPr>
              <a:t>Timeline | </a:t>
            </a:r>
            <a:r>
              <a:rPr lang="en-CA"/>
              <a:t>This engagement will span 12–16-weeks with monthly executive SteerCo's and bi-weekly working sessions </a:t>
            </a:r>
          </a:p>
        </p:txBody>
      </p:sp>
      <p:sp>
        <p:nvSpPr>
          <p:cNvPr id="20" name="Slide Number Placeholder 2">
            <a:extLst>
              <a:ext uri="{FF2B5EF4-FFF2-40B4-BE49-F238E27FC236}">
                <a16:creationId xmlns:a16="http://schemas.microsoft.com/office/drawing/2014/main" id="{C51903F3-5763-3088-099E-CB0F5899B121}"/>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5" name="Rectangle 54">
            <a:extLst>
              <a:ext uri="{FF2B5EF4-FFF2-40B4-BE49-F238E27FC236}">
                <a16:creationId xmlns:a16="http://schemas.microsoft.com/office/drawing/2014/main" id="{36DBB499-6F5B-DABE-14DE-21C8052F2773}"/>
              </a:ext>
            </a:extLst>
          </p:cNvPr>
          <p:cNvSpPr/>
          <p:nvPr/>
        </p:nvSpPr>
        <p:spPr>
          <a:xfrm>
            <a:off x="515938" y="2214284"/>
            <a:ext cx="1380852" cy="109106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graphicFrame>
        <p:nvGraphicFramePr>
          <p:cNvPr id="57" name="Table 56">
            <a:extLst>
              <a:ext uri="{FF2B5EF4-FFF2-40B4-BE49-F238E27FC236}">
                <a16:creationId xmlns:a16="http://schemas.microsoft.com/office/drawing/2014/main" id="{1D2E12E6-14F5-30D0-E647-7A82EF3107BA}"/>
              </a:ext>
            </a:extLst>
          </p:cNvPr>
          <p:cNvGraphicFramePr>
            <a:graphicFrameLocks noGrp="1"/>
          </p:cNvGraphicFramePr>
          <p:nvPr/>
        </p:nvGraphicFramePr>
        <p:xfrm>
          <a:off x="515938" y="1890419"/>
          <a:ext cx="11184701" cy="3802981"/>
        </p:xfrm>
        <a:graphic>
          <a:graphicData uri="http://schemas.openxmlformats.org/drawingml/2006/table">
            <a:tbl>
              <a:tblPr firstRow="1" bandRow="1">
                <a:tableStyleId>{5C22544A-7EE6-4342-B048-85BDC9FD1C3A}</a:tableStyleId>
              </a:tblPr>
              <a:tblGrid>
                <a:gridCol w="859190">
                  <a:extLst>
                    <a:ext uri="{9D8B030D-6E8A-4147-A177-3AD203B41FA5}">
                      <a16:colId xmlns:a16="http://schemas.microsoft.com/office/drawing/2014/main" val="2558833550"/>
                    </a:ext>
                  </a:extLst>
                </a:gridCol>
                <a:gridCol w="690740">
                  <a:extLst>
                    <a:ext uri="{9D8B030D-6E8A-4147-A177-3AD203B41FA5}">
                      <a16:colId xmlns:a16="http://schemas.microsoft.com/office/drawing/2014/main" val="2746938740"/>
                    </a:ext>
                  </a:extLst>
                </a:gridCol>
                <a:gridCol w="168450">
                  <a:extLst>
                    <a:ext uri="{9D8B030D-6E8A-4147-A177-3AD203B41FA5}">
                      <a16:colId xmlns:a16="http://schemas.microsoft.com/office/drawing/2014/main" val="2715632339"/>
                    </a:ext>
                  </a:extLst>
                </a:gridCol>
                <a:gridCol w="3065521">
                  <a:extLst>
                    <a:ext uri="{9D8B030D-6E8A-4147-A177-3AD203B41FA5}">
                      <a16:colId xmlns:a16="http://schemas.microsoft.com/office/drawing/2014/main" val="1281355557"/>
                    </a:ext>
                  </a:extLst>
                </a:gridCol>
                <a:gridCol w="187200">
                  <a:extLst>
                    <a:ext uri="{9D8B030D-6E8A-4147-A177-3AD203B41FA5}">
                      <a16:colId xmlns:a16="http://schemas.microsoft.com/office/drawing/2014/main" val="3313807809"/>
                    </a:ext>
                  </a:extLst>
                </a:gridCol>
                <a:gridCol w="187200">
                  <a:extLst>
                    <a:ext uri="{9D8B030D-6E8A-4147-A177-3AD203B41FA5}">
                      <a16:colId xmlns:a16="http://schemas.microsoft.com/office/drawing/2014/main" val="1282670833"/>
                    </a:ext>
                  </a:extLst>
                </a:gridCol>
                <a:gridCol w="187200">
                  <a:extLst>
                    <a:ext uri="{9D8B030D-6E8A-4147-A177-3AD203B41FA5}">
                      <a16:colId xmlns:a16="http://schemas.microsoft.com/office/drawing/2014/main" val="1845461946"/>
                    </a:ext>
                  </a:extLst>
                </a:gridCol>
                <a:gridCol w="187200">
                  <a:extLst>
                    <a:ext uri="{9D8B030D-6E8A-4147-A177-3AD203B41FA5}">
                      <a16:colId xmlns:a16="http://schemas.microsoft.com/office/drawing/2014/main" val="1941344581"/>
                    </a:ext>
                  </a:extLst>
                </a:gridCol>
                <a:gridCol w="187200">
                  <a:extLst>
                    <a:ext uri="{9D8B030D-6E8A-4147-A177-3AD203B41FA5}">
                      <a16:colId xmlns:a16="http://schemas.microsoft.com/office/drawing/2014/main" val="160713229"/>
                    </a:ext>
                  </a:extLst>
                </a:gridCol>
                <a:gridCol w="187200">
                  <a:extLst>
                    <a:ext uri="{9D8B030D-6E8A-4147-A177-3AD203B41FA5}">
                      <a16:colId xmlns:a16="http://schemas.microsoft.com/office/drawing/2014/main" val="4241453632"/>
                    </a:ext>
                  </a:extLst>
                </a:gridCol>
                <a:gridCol w="187200">
                  <a:extLst>
                    <a:ext uri="{9D8B030D-6E8A-4147-A177-3AD203B41FA5}">
                      <a16:colId xmlns:a16="http://schemas.microsoft.com/office/drawing/2014/main" val="2624615805"/>
                    </a:ext>
                  </a:extLst>
                </a:gridCol>
                <a:gridCol w="187200">
                  <a:extLst>
                    <a:ext uri="{9D8B030D-6E8A-4147-A177-3AD203B41FA5}">
                      <a16:colId xmlns:a16="http://schemas.microsoft.com/office/drawing/2014/main" val="2539908918"/>
                    </a:ext>
                  </a:extLst>
                </a:gridCol>
                <a:gridCol w="187200">
                  <a:extLst>
                    <a:ext uri="{9D8B030D-6E8A-4147-A177-3AD203B41FA5}">
                      <a16:colId xmlns:a16="http://schemas.microsoft.com/office/drawing/2014/main" val="1382501594"/>
                    </a:ext>
                  </a:extLst>
                </a:gridCol>
                <a:gridCol w="187200">
                  <a:extLst>
                    <a:ext uri="{9D8B030D-6E8A-4147-A177-3AD203B41FA5}">
                      <a16:colId xmlns:a16="http://schemas.microsoft.com/office/drawing/2014/main" val="3756038504"/>
                    </a:ext>
                  </a:extLst>
                </a:gridCol>
                <a:gridCol w="187200">
                  <a:extLst>
                    <a:ext uri="{9D8B030D-6E8A-4147-A177-3AD203B41FA5}">
                      <a16:colId xmlns:a16="http://schemas.microsoft.com/office/drawing/2014/main" val="454165576"/>
                    </a:ext>
                  </a:extLst>
                </a:gridCol>
                <a:gridCol w="187200">
                  <a:extLst>
                    <a:ext uri="{9D8B030D-6E8A-4147-A177-3AD203B41FA5}">
                      <a16:colId xmlns:a16="http://schemas.microsoft.com/office/drawing/2014/main" val="851060109"/>
                    </a:ext>
                  </a:extLst>
                </a:gridCol>
                <a:gridCol w="187200">
                  <a:extLst>
                    <a:ext uri="{9D8B030D-6E8A-4147-A177-3AD203B41FA5}">
                      <a16:colId xmlns:a16="http://schemas.microsoft.com/office/drawing/2014/main" val="1057998936"/>
                    </a:ext>
                  </a:extLst>
                </a:gridCol>
                <a:gridCol w="187200">
                  <a:extLst>
                    <a:ext uri="{9D8B030D-6E8A-4147-A177-3AD203B41FA5}">
                      <a16:colId xmlns:a16="http://schemas.microsoft.com/office/drawing/2014/main" val="3765219091"/>
                    </a:ext>
                  </a:extLst>
                </a:gridCol>
                <a:gridCol w="187200">
                  <a:extLst>
                    <a:ext uri="{9D8B030D-6E8A-4147-A177-3AD203B41FA5}">
                      <a16:colId xmlns:a16="http://schemas.microsoft.com/office/drawing/2014/main" val="4251817777"/>
                    </a:ext>
                  </a:extLst>
                </a:gridCol>
                <a:gridCol w="187200">
                  <a:extLst>
                    <a:ext uri="{9D8B030D-6E8A-4147-A177-3AD203B41FA5}">
                      <a16:colId xmlns:a16="http://schemas.microsoft.com/office/drawing/2014/main" val="3197183060"/>
                    </a:ext>
                  </a:extLst>
                </a:gridCol>
                <a:gridCol w="187200">
                  <a:extLst>
                    <a:ext uri="{9D8B030D-6E8A-4147-A177-3AD203B41FA5}">
                      <a16:colId xmlns:a16="http://schemas.microsoft.com/office/drawing/2014/main" val="3443013264"/>
                    </a:ext>
                  </a:extLst>
                </a:gridCol>
                <a:gridCol w="187200">
                  <a:extLst>
                    <a:ext uri="{9D8B030D-6E8A-4147-A177-3AD203B41FA5}">
                      <a16:colId xmlns:a16="http://schemas.microsoft.com/office/drawing/2014/main" val="3707329664"/>
                    </a:ext>
                  </a:extLst>
                </a:gridCol>
                <a:gridCol w="187200">
                  <a:extLst>
                    <a:ext uri="{9D8B030D-6E8A-4147-A177-3AD203B41FA5}">
                      <a16:colId xmlns:a16="http://schemas.microsoft.com/office/drawing/2014/main" val="914760"/>
                    </a:ext>
                  </a:extLst>
                </a:gridCol>
                <a:gridCol w="187200">
                  <a:extLst>
                    <a:ext uri="{9D8B030D-6E8A-4147-A177-3AD203B41FA5}">
                      <a16:colId xmlns:a16="http://schemas.microsoft.com/office/drawing/2014/main" val="2414590344"/>
                    </a:ext>
                  </a:extLst>
                </a:gridCol>
                <a:gridCol w="187200">
                  <a:extLst>
                    <a:ext uri="{9D8B030D-6E8A-4147-A177-3AD203B41FA5}">
                      <a16:colId xmlns:a16="http://schemas.microsoft.com/office/drawing/2014/main" val="1670933313"/>
                    </a:ext>
                  </a:extLst>
                </a:gridCol>
                <a:gridCol w="187200">
                  <a:extLst>
                    <a:ext uri="{9D8B030D-6E8A-4147-A177-3AD203B41FA5}">
                      <a16:colId xmlns:a16="http://schemas.microsoft.com/office/drawing/2014/main" val="2017992696"/>
                    </a:ext>
                  </a:extLst>
                </a:gridCol>
                <a:gridCol w="187200">
                  <a:extLst>
                    <a:ext uri="{9D8B030D-6E8A-4147-A177-3AD203B41FA5}">
                      <a16:colId xmlns:a16="http://schemas.microsoft.com/office/drawing/2014/main" val="4258681185"/>
                    </a:ext>
                  </a:extLst>
                </a:gridCol>
                <a:gridCol w="187200">
                  <a:extLst>
                    <a:ext uri="{9D8B030D-6E8A-4147-A177-3AD203B41FA5}">
                      <a16:colId xmlns:a16="http://schemas.microsoft.com/office/drawing/2014/main" val="4180597874"/>
                    </a:ext>
                  </a:extLst>
                </a:gridCol>
                <a:gridCol w="1908000">
                  <a:extLst>
                    <a:ext uri="{9D8B030D-6E8A-4147-A177-3AD203B41FA5}">
                      <a16:colId xmlns:a16="http://schemas.microsoft.com/office/drawing/2014/main" val="4057039743"/>
                    </a:ext>
                  </a:extLst>
                </a:gridCol>
              </a:tblGrid>
              <a:tr h="319381">
                <a:tc>
                  <a:txBody>
                    <a:bodyPr/>
                    <a:lstStyle/>
                    <a:p>
                      <a:pPr algn="l"/>
                      <a:r>
                        <a:rPr lang="en-US" sz="1000" b="1">
                          <a:solidFill>
                            <a:schemeClr val="tx1"/>
                          </a:solidFill>
                        </a:rPr>
                        <a:t>Workstream</a:t>
                      </a:r>
                    </a:p>
                  </a:txBody>
                  <a:tcPr marL="0" marR="0" marT="0" marB="0" anchor="ctr">
                    <a:lnL w="12700" cmpd="sng">
                      <a:noFill/>
                    </a:lnL>
                    <a:lnT w="12700" cmpd="sng">
                      <a:noFill/>
                    </a:lnT>
                    <a:lnB w="38100" cmpd="sng">
                      <a:noFill/>
                    </a:lnB>
                    <a:lnTlToBr w="12700" cmpd="sng">
                      <a:noFill/>
                      <a:prstDash val="solid"/>
                    </a:lnTlToBr>
                    <a:lnBlToTr w="12700" cmpd="sng">
                      <a:noFill/>
                      <a:prstDash val="solid"/>
                    </a:lnBlToTr>
                    <a:noFill/>
                  </a:tcPr>
                </a:tc>
                <a:tc gridSpan="2">
                  <a:txBody>
                    <a:bodyPr/>
                    <a:lstStyle/>
                    <a:p>
                      <a:pPr algn="l"/>
                      <a:endParaRPr lang="en-US" sz="1000" b="1">
                        <a:solidFill>
                          <a:schemeClr val="tx1"/>
                        </a:solidFill>
                      </a:endParaRPr>
                    </a:p>
                  </a:txBody>
                  <a:tcPr marL="0" marR="0" marT="0" marB="0" anchor="ctr">
                    <a:lnT w="12700" cmpd="sng">
                      <a:noFill/>
                    </a:lnT>
                    <a:lnB w="38100" cmpd="sng">
                      <a:noFill/>
                    </a:lnB>
                    <a:lnTlToBr w="12700" cmpd="sng">
                      <a:noFill/>
                      <a:prstDash val="solid"/>
                    </a:lnTlToBr>
                    <a:lnBlToTr w="12700" cmpd="sng">
                      <a:noFill/>
                      <a:prstDash val="solid"/>
                    </a:lnBlToTr>
                    <a:noFill/>
                  </a:tcPr>
                </a:tc>
                <a:tc hMerge="1">
                  <a:txBody>
                    <a:bodyPr/>
                    <a:lstStyle/>
                    <a:p>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endParaRPr lang="en-US" sz="1000">
                        <a:solidFill>
                          <a:schemeClr val="tx1"/>
                        </a:solidFill>
                      </a:endParaRPr>
                    </a:p>
                  </a:txBody>
                  <a:tcPr marL="0" marR="0" marT="0" marB="0" anchor="ct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US" sz="1000" b="1">
                          <a:solidFill>
                            <a:schemeClr val="tx1"/>
                          </a:solidFill>
                        </a:rPr>
                        <a:t>Jan</a:t>
                      </a:r>
                    </a:p>
                  </a:txBody>
                  <a:tcPr marL="0" marR="0" marT="0" marB="0" anchor="ctr">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US" sz="1000" b="1">
                          <a:solidFill>
                            <a:schemeClr val="tx1"/>
                          </a:solidFill>
                        </a:rPr>
                        <a:t>Feb</a:t>
                      </a: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US" sz="1000" b="1">
                          <a:solidFill>
                            <a:schemeClr val="tx1"/>
                          </a:solidFill>
                        </a:rPr>
                        <a:t>Mar</a:t>
                      </a: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US" sz="1000" b="1">
                          <a:solidFill>
                            <a:schemeClr val="tx1"/>
                          </a:solidFill>
                        </a:rPr>
                        <a:t>Apr</a:t>
                      </a: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l"/>
                      <a:endParaRPr lang="en-US" sz="1000" b="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US"/>
                    </a:p>
                  </a:txBody>
                  <a:tcPr/>
                </a:tc>
                <a:tc gridSpan="4">
                  <a:txBody>
                    <a:bodyPr/>
                    <a:lstStyle/>
                    <a:p>
                      <a:pPr algn="ctr"/>
                      <a:r>
                        <a:rPr lang="en-US" sz="1000" b="1">
                          <a:solidFill>
                            <a:schemeClr val="tx1"/>
                          </a:solidFill>
                        </a:rPr>
                        <a:t>May</a:t>
                      </a: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US" sz="1000" b="1">
                          <a:solidFill>
                            <a:schemeClr val="tx1"/>
                          </a:solidFill>
                        </a:rPr>
                        <a:t>June </a:t>
                      </a:r>
                    </a:p>
                  </a:txBody>
                  <a:tcPr marL="0" marR="0" marT="0" marB="0" anchor="ctr">
                    <a:lnL w="12700" cap="flat" cmpd="sng" algn="ctr">
                      <a:solidFill>
                        <a:srgbClr val="F5EFE8"/>
                      </a:solidFill>
                      <a:prstDash val="solid"/>
                      <a:round/>
                      <a:headEnd type="none" w="med" len="med"/>
                      <a:tailEnd type="none" w="med" len="med"/>
                    </a:lnL>
                    <a:lnR w="12700" cap="flat" cmpd="sng" algn="ctr">
                      <a:noFill/>
                      <a:prstDash val="sysDot"/>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000" b="1">
                        <a:solidFill>
                          <a:schemeClr val="tx1"/>
                        </a:solidFill>
                      </a:endParaRPr>
                    </a:p>
                  </a:txBody>
                  <a:tcPr marL="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l"/>
                      <a:r>
                        <a:rPr lang="en-US" sz="1000" b="1">
                          <a:solidFill>
                            <a:schemeClr val="tx1"/>
                          </a:solidFill>
                        </a:rPr>
                        <a:t>Deliverables</a:t>
                      </a:r>
                    </a:p>
                  </a:txBody>
                  <a:tcPr marL="180000" marR="0" marT="0" marB="0" anchor="ctr">
                    <a:lnL w="12700" cap="flat" cmpd="sng" algn="ctr">
                      <a:noFill/>
                      <a:prstDash val="sysDot"/>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68673096"/>
                  </a:ext>
                </a:extLst>
              </a:tr>
              <a:tr h="290300">
                <a:tc rowSpan="4" gridSpan="2">
                  <a:txBody>
                    <a:bodyPr/>
                    <a:lstStyle/>
                    <a:p>
                      <a:pPr algn="l">
                        <a:spcBef>
                          <a:spcPts val="600"/>
                        </a:spcBef>
                        <a:spcAft>
                          <a:spcPts val="600"/>
                        </a:spcAft>
                      </a:pPr>
                      <a:r>
                        <a:rPr lang="en-US" sz="1000" b="1">
                          <a:solidFill>
                            <a:schemeClr val="tx1"/>
                          </a:solidFill>
                        </a:rPr>
                        <a:t>Overarching          Channel Strategy </a:t>
                      </a:r>
                    </a:p>
                  </a:txBody>
                  <a:tcPr marL="144000" marR="0" marT="0" marB="0" anchor="ctr">
                    <a:lnL w="12700" cmpd="sng">
                      <a:noFill/>
                    </a:lnL>
                    <a:lnR w="12700" cmpd="sng">
                      <a:noFill/>
                    </a:lnR>
                    <a:lnT w="12700" cap="flat" cmpd="sng" algn="ctr">
                      <a:noFill/>
                      <a:prstDash val="solid"/>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rowSpan="4" hMerge="1">
                  <a:txBody>
                    <a:bodyPr/>
                    <a:lstStyle/>
                    <a:p>
                      <a:endParaRPr lang="en-CA"/>
                    </a:p>
                  </a:txBody>
                  <a:tcPr/>
                </a:tc>
                <a:tc>
                  <a:txBody>
                    <a:bodyPr/>
                    <a:lstStyle/>
                    <a:p>
                      <a:pPr algn="l"/>
                      <a:r>
                        <a:rPr lang="en-US" sz="1000" b="1" strike="noStrike">
                          <a:solidFill>
                            <a:schemeClr val="tx1"/>
                          </a:solidFill>
                        </a:rPr>
                        <a:t>a.</a:t>
                      </a:r>
                    </a:p>
                  </a:txBody>
                  <a:tcPr marL="0" marR="0" marT="0" marB="0" anchor="ctr">
                    <a:lnL w="12700" cmpd="sng">
                      <a:noFill/>
                    </a:lnL>
                    <a:lnR w="12700" cmpd="sng">
                      <a:noFill/>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000" b="1"/>
                        <a:t>View of current capabilities &amp; performance</a:t>
                      </a:r>
                      <a:endParaRPr lang="en-US" sz="1000" b="1">
                        <a:solidFill>
                          <a:schemeClr val="tx1"/>
                        </a:solidFill>
                      </a:endParaRPr>
                    </a:p>
                  </a:txBody>
                  <a:tcPr marL="36000" marR="0" marT="0" marB="0" anchor="ctr">
                    <a:lnL w="12700" cmpd="sng">
                      <a:noFill/>
                    </a:lnL>
                    <a:lnR w="12700" cmpd="sng">
                      <a:noFill/>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900" b="0">
                          <a:solidFill>
                            <a:schemeClr val="tx1"/>
                          </a:solidFill>
                        </a:rPr>
                        <a:t>Fact base, overview of gaps &amp; performance dashboards</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1901909"/>
                  </a:ext>
                </a:extLst>
              </a:tr>
              <a:tr h="290300">
                <a:tc gridSpan="2" vMerge="1">
                  <a:txBody>
                    <a:bodyPr/>
                    <a:lstStyle/>
                    <a:p>
                      <a:endParaRPr lang="en-US"/>
                    </a:p>
                  </a:txBody>
                  <a:tcPr/>
                </a:tc>
                <a:tc hMerge="1" vMerge="1">
                  <a:txBody>
                    <a:bodyPr/>
                    <a:lstStyle/>
                    <a:p>
                      <a:endParaRPr lang="en-CA"/>
                    </a:p>
                  </a:txBody>
                  <a:tcPr/>
                </a:tc>
                <a:tc>
                  <a:txBody>
                    <a:bodyPr/>
                    <a:lstStyle/>
                    <a:p>
                      <a:pPr algn="l"/>
                      <a:r>
                        <a:rPr lang="en-US" sz="1000" b="1" strike="noStrike">
                          <a:solidFill>
                            <a:schemeClr val="tx1"/>
                          </a:solidFill>
                        </a:rPr>
                        <a:t>b.</a:t>
                      </a:r>
                    </a:p>
                  </a:txBody>
                  <a:tcPr marL="0" marR="0" marT="0" marB="0" anchor="ctr">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kern="1200">
                          <a:solidFill>
                            <a:schemeClr val="tx1"/>
                          </a:solidFill>
                          <a:latin typeface="+mn-lt"/>
                          <a:ea typeface="+mn-ea"/>
                          <a:cs typeface="+mn-cs"/>
                        </a:rPr>
                        <a:t>Deep-dive on channel end-state (incl. connectivity)</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Alignment on future state vision across channels </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832627"/>
                  </a:ext>
                </a:extLst>
              </a:tr>
              <a:tr h="290300">
                <a:tc gridSpan="2" vMerge="1">
                  <a:txBody>
                    <a:bodyPr/>
                    <a:lstStyle/>
                    <a:p>
                      <a:pPr algn="l"/>
                      <a:endParaRPr lang="en-US" sz="1000" b="1">
                        <a:solidFill>
                          <a:schemeClr val="tx1"/>
                        </a:solidFill>
                      </a:endParaRPr>
                    </a:p>
                  </a:txBody>
                  <a:tcPr marL="14400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c.</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Align on overarching F25+ roadmap</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Prioritized investment roadmaps </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6350" cap="flat" cmpd="sng" algn="ctr">
                      <a:solidFill>
                        <a:srgbClr val="E5D7C5"/>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7164874"/>
                  </a:ext>
                </a:extLst>
              </a:tr>
              <a:tr h="290300">
                <a:tc gridSpan="2" vMerge="1">
                  <a:txBody>
                    <a:bodyPr/>
                    <a:lstStyle/>
                    <a:p>
                      <a:pPr algn="l"/>
                      <a:endParaRPr lang="en-US" sz="1000" b="1">
                        <a:solidFill>
                          <a:schemeClr val="tx1"/>
                        </a:solidFill>
                      </a:endParaRPr>
                    </a:p>
                  </a:txBody>
                  <a:tcPr marL="144000" marR="0" marT="0" marB="0" anchor="ctr">
                    <a:lnL w="12700" cmpd="sng">
                      <a:noFill/>
                    </a:lnL>
                    <a:lnR w="12700" cmpd="sng">
                      <a:noFill/>
                    </a:lnR>
                    <a:lnT w="12700" cap="flat" cmpd="sng" algn="ctr">
                      <a:noFill/>
                      <a:prstDash val="solid"/>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d.</a:t>
                      </a:r>
                    </a:p>
                  </a:txBody>
                  <a:tcPr marL="0" marR="0" marT="0" marB="0" anchor="ctr">
                    <a:lnL w="12700" cmpd="sng">
                      <a:noFill/>
                    </a:lnL>
                    <a:lnR w="12700" cmpd="sng">
                      <a:noFill/>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Financial impact assessment </a:t>
                      </a:r>
                    </a:p>
                  </a:txBody>
                  <a:tcPr marL="36000" marR="0" marT="0" marB="0" anchor="ctr">
                    <a:lnL w="12700" cmpd="sng">
                      <a:noFill/>
                    </a:lnL>
                    <a:lnR w="12700" cmpd="sng">
                      <a:noFill/>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Financial impact as clients transition out of branch </a:t>
                      </a:r>
                    </a:p>
                  </a:txBody>
                  <a:tcPr marL="180000" marR="0" marT="0" marB="0" anchor="ctr">
                    <a:lnL w="12700" cap="flat" cmpd="sng" algn="ctr">
                      <a:solidFill>
                        <a:srgbClr val="F5EFE8"/>
                      </a:solidFill>
                      <a:prstDash val="sysDot"/>
                      <a:round/>
                      <a:headEnd type="none" w="med" len="med"/>
                      <a:tailEnd type="none" w="med" len="med"/>
                    </a:lnL>
                    <a:lnR w="6350" cap="flat" cmpd="sng" algn="ctr">
                      <a:solidFill>
                        <a:srgbClr val="E5D7C5"/>
                      </a:solidFill>
                      <a:prstDash val="sysDot"/>
                      <a:round/>
                      <a:headEnd type="none" w="med" len="med"/>
                      <a:tailEnd type="none" w="med" len="med"/>
                    </a:lnR>
                    <a:lnT w="6350" cap="flat" cmpd="sng" algn="ctr">
                      <a:solidFill>
                        <a:srgbClr val="E5D7C5"/>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5584182"/>
                  </a:ext>
                </a:extLst>
              </a:tr>
              <a:tr h="290300">
                <a:tc rowSpan="4" gridSpan="2">
                  <a:txBody>
                    <a:bodyPr/>
                    <a:lstStyle/>
                    <a:p>
                      <a:pPr algn="l"/>
                      <a:r>
                        <a:rPr lang="en-US" sz="1000" b="1">
                          <a:solidFill>
                            <a:schemeClr val="tx1"/>
                          </a:solidFill>
                        </a:rPr>
                        <a:t>Virtual Scale-Up </a:t>
                      </a:r>
                    </a:p>
                  </a:txBody>
                  <a:tcPr marL="144000" marR="0" marT="0" marB="0" anchor="ctr">
                    <a:lnL w="12700" cmpd="sng">
                      <a:noFill/>
                    </a:lnL>
                    <a:lnR w="12700" cmpd="sng">
                      <a:noFill/>
                    </a:lnR>
                    <a:lnT w="19050" cap="flat" cmpd="sng" algn="ctr">
                      <a:solidFill>
                        <a:srgbClr val="F5EFE8"/>
                      </a:solidFill>
                      <a:prstDash val="solid"/>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rowSpan="4" hMerge="1">
                  <a:txBody>
                    <a:bodyPr/>
                    <a:lstStyle/>
                    <a:p>
                      <a:endParaRPr lang="en-CA"/>
                    </a:p>
                  </a:txBody>
                  <a:tcPr/>
                </a:tc>
                <a:tc>
                  <a:txBody>
                    <a:bodyPr/>
                    <a:lstStyle/>
                    <a:p>
                      <a:pPr algn="l"/>
                      <a:r>
                        <a:rPr lang="en-US" sz="1000" b="1">
                          <a:solidFill>
                            <a:schemeClr val="tx1"/>
                          </a:solidFill>
                        </a:rPr>
                        <a:t>e.</a:t>
                      </a:r>
                    </a:p>
                  </a:txBody>
                  <a:tcPr marL="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Optimal salesforce mix &amp; structure </a:t>
                      </a:r>
                    </a:p>
                  </a:txBody>
                  <a:tcPr marL="3600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Salesforce mix (by role, by channel) and team design </a:t>
                      </a:r>
                    </a:p>
                  </a:txBody>
                  <a:tcPr marL="180000" marR="0" marT="0" marB="0" anchor="ctr">
                    <a:lnL w="12700" cap="flat" cmpd="sng" algn="ctr">
                      <a:solidFill>
                        <a:srgbClr val="F5EFE8"/>
                      </a:solidFill>
                      <a:prstDash val="sysDot"/>
                      <a:round/>
                      <a:headEnd type="none" w="med" len="med"/>
                      <a:tailEnd type="none" w="med" len="med"/>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1277995"/>
                  </a:ext>
                </a:extLst>
              </a:tr>
              <a:tr h="290300">
                <a:tc gridSpan="2" vMerge="1">
                  <a:txBody>
                    <a:bodyPr/>
                    <a:lstStyle/>
                    <a:p>
                      <a:pPr algn="l"/>
                      <a:endParaRPr lang="en-US" sz="1000" b="1">
                        <a:solidFill>
                          <a:schemeClr val="tx1"/>
                        </a:solidFill>
                      </a:endParaRPr>
                    </a:p>
                  </a:txBody>
                  <a:tcPr marL="0" marR="0" marT="0"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f.</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Client assignment</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Assignment framework and methodology </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741820"/>
                  </a:ext>
                </a:extLst>
              </a:tr>
              <a:tr h="290300">
                <a:tc gridSpan="2" vMerge="1">
                  <a:txBody>
                    <a:bodyPr/>
                    <a:lstStyle/>
                    <a:p>
                      <a:endParaRPr lang="en-CA"/>
                    </a:p>
                  </a:txBody>
                  <a:tcPr/>
                </a:tc>
                <a:tc hMerge="1" vMerge="1">
                  <a:txBody>
                    <a:bodyPr/>
                    <a:lstStyle/>
                    <a:p>
                      <a:endParaRPr lang="en-CA"/>
                    </a:p>
                  </a:txBody>
                  <a:tcPr/>
                </a:tc>
                <a:tc>
                  <a:txBody>
                    <a:bodyPr/>
                    <a:lstStyle/>
                    <a:p>
                      <a:pPr algn="l"/>
                      <a:r>
                        <a:rPr lang="en-US" sz="1000" b="1">
                          <a:solidFill>
                            <a:schemeClr val="tx1"/>
                          </a:solidFill>
                        </a:rPr>
                        <a:t>g.</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Capabilities required &amp; dependencies </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Capability roadmap and key dependencies</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4861112"/>
                  </a:ext>
                </a:extLst>
              </a:tr>
              <a:tr h="290300">
                <a:tc gridSpan="2" vMerge="1">
                  <a:txBody>
                    <a:bodyPr/>
                    <a:lstStyle/>
                    <a:p>
                      <a:pPr algn="l"/>
                      <a:endParaRPr lang="en-US" sz="1000" b="1">
                        <a:solidFill>
                          <a:schemeClr val="tx1"/>
                        </a:solidFill>
                      </a:endParaRPr>
                    </a:p>
                  </a:txBody>
                  <a:tcPr marL="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h.</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Governance and KPIs</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Governance structure and prioritized KPIs and targets</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7990964"/>
                  </a:ext>
                </a:extLst>
              </a:tr>
              <a:tr h="290300">
                <a:tc rowSpan="4" gridSpan="2">
                  <a:txBody>
                    <a:bodyPr/>
                    <a:lstStyle/>
                    <a:p>
                      <a:pPr algn="l"/>
                      <a:r>
                        <a:rPr lang="en-US" sz="1000" b="1">
                          <a:solidFill>
                            <a:schemeClr val="tx1"/>
                          </a:solidFill>
                        </a:rPr>
                        <a:t> </a:t>
                      </a:r>
                    </a:p>
                    <a:p>
                      <a:pPr algn="l"/>
                      <a:r>
                        <a:rPr lang="en-US" sz="1000" b="1">
                          <a:solidFill>
                            <a:schemeClr val="tx1"/>
                          </a:solidFill>
                        </a:rPr>
                        <a:t>Digital Growth </a:t>
                      </a:r>
                      <a:endParaRPr lang="en-US" sz="1000" b="1">
                        <a:solidFill>
                          <a:schemeClr val="tx1"/>
                        </a:solidFill>
                        <a:highlight>
                          <a:srgbClr val="FFFF00"/>
                        </a:highlight>
                      </a:endParaRPr>
                    </a:p>
                  </a:txBody>
                  <a:tcPr marL="144000" marR="0" marT="0" marB="0" anchor="ctr">
                    <a:lnL w="12700" cmpd="sng">
                      <a:noFill/>
                    </a:lnL>
                    <a:lnR w="12700" cmpd="sng">
                      <a:noFill/>
                    </a:lnR>
                    <a:lnT w="19050" cap="flat" cmpd="sng" algn="ctr">
                      <a:solidFill>
                        <a:srgbClr val="F5EFE8"/>
                      </a:solidFill>
                      <a:prstDash val="solid"/>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rowSpan="4" hMerge="1">
                  <a:txBody>
                    <a:bodyPr/>
                    <a:lstStyle/>
                    <a:p>
                      <a:endParaRPr lang="en-CA"/>
                    </a:p>
                  </a:txBody>
                  <a:tcPr/>
                </a:tc>
                <a:tc>
                  <a:txBody>
                    <a:bodyPr/>
                    <a:lstStyle/>
                    <a:p>
                      <a:pPr algn="l"/>
                      <a:r>
                        <a:rPr lang="en-US" sz="1000" b="1">
                          <a:solidFill>
                            <a:schemeClr val="tx1"/>
                          </a:solidFill>
                        </a:rPr>
                        <a:t>i.</a:t>
                      </a:r>
                    </a:p>
                  </a:txBody>
                  <a:tcPr marL="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Digital foundations journey for sales and servicing</a:t>
                      </a:r>
                    </a:p>
                  </a:txBody>
                  <a:tcPr marL="36000" marR="0" marT="0" marB="0" anchor="ctr">
                    <a:lnL w="12700" cmpd="sng">
                      <a:noFill/>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Digital enablement gaps and mapped roadblocks </a:t>
                      </a:r>
                    </a:p>
                  </a:txBody>
                  <a:tcPr marL="180000" marR="0" marT="0" marB="0" anchor="ctr">
                    <a:lnL w="12700" cap="flat" cmpd="sng" algn="ctr">
                      <a:solidFill>
                        <a:srgbClr val="F5EFE8"/>
                      </a:solidFill>
                      <a:prstDash val="sysDot"/>
                      <a:round/>
                      <a:headEnd type="none" w="med" len="med"/>
                      <a:tailEnd type="none" w="med" len="med"/>
                    </a:lnL>
                    <a:lnR w="12700" cmpd="sng">
                      <a:noFill/>
                    </a:lnR>
                    <a:lnT w="19050" cap="flat" cmpd="sng" algn="ctr">
                      <a:solidFill>
                        <a:srgbClr val="F5EFE8"/>
                      </a:solidFill>
                      <a:prstDash val="solid"/>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1164840"/>
                  </a:ext>
                </a:extLst>
              </a:tr>
              <a:tr h="290300">
                <a:tc gridSpan="2" vMerge="1">
                  <a:txBody>
                    <a:bodyPr/>
                    <a:lstStyle/>
                    <a:p>
                      <a:pPr algn="l"/>
                      <a:endParaRPr lang="en-US" sz="1000" b="1">
                        <a:solidFill>
                          <a:schemeClr val="tx1"/>
                        </a:solidFill>
                      </a:endParaRPr>
                    </a:p>
                  </a:txBody>
                  <a:tcPr marL="0" marR="0" marT="0"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j.</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Digital support for virtual model &amp; complex sales </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Role in discovery for complex serv. and VM support</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16673408"/>
                  </a:ext>
                </a:extLst>
              </a:tr>
              <a:tr h="290300">
                <a:tc gridSpan="2" vMerge="1">
                  <a:txBody>
                    <a:bodyPr/>
                    <a:lstStyle/>
                    <a:p>
                      <a:endParaRPr lang="en-CA"/>
                    </a:p>
                  </a:txBody>
                  <a:tcPr/>
                </a:tc>
                <a:tc hMerge="1" vMerge="1">
                  <a:txBody>
                    <a:bodyPr/>
                    <a:lstStyle/>
                    <a:p>
                      <a:endParaRPr lang="en-CA"/>
                    </a:p>
                  </a:txBody>
                  <a:tcPr/>
                </a:tc>
                <a:tc>
                  <a:txBody>
                    <a:bodyPr/>
                    <a:lstStyle/>
                    <a:p>
                      <a:pPr algn="l"/>
                      <a:r>
                        <a:rPr lang="en-US" sz="1000" b="1">
                          <a:solidFill>
                            <a:schemeClr val="tx1"/>
                          </a:solidFill>
                        </a:rPr>
                        <a:t>k.</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Capabilities required, dependencies, &amp; sequencing</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Roadmap prioritized across initiatives </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2700" cap="flat" cmpd="sng" algn="ctr">
                      <a:solidFill>
                        <a:srgbClr val="F5EFE8"/>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0495052"/>
                  </a:ext>
                </a:extLst>
              </a:tr>
              <a:tr h="290300">
                <a:tc gridSpan="2" vMerge="1">
                  <a:txBody>
                    <a:bodyPr/>
                    <a:lstStyle/>
                    <a:p>
                      <a:pPr algn="l"/>
                      <a:endParaRPr lang="en-US" sz="1000" b="1">
                        <a:solidFill>
                          <a:schemeClr val="tx1"/>
                        </a:solidFill>
                      </a:endParaRPr>
                    </a:p>
                  </a:txBody>
                  <a:tcPr marL="0" marR="0" marT="0"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endParaRPr lang="en-CA"/>
                    </a:p>
                  </a:txBody>
                  <a:tcPr/>
                </a:tc>
                <a:tc>
                  <a:txBody>
                    <a:bodyPr/>
                    <a:lstStyle/>
                    <a:p>
                      <a:pPr algn="l"/>
                      <a:r>
                        <a:rPr lang="en-US" sz="1000" b="1">
                          <a:solidFill>
                            <a:schemeClr val="tx1"/>
                          </a:solidFill>
                        </a:rPr>
                        <a:t>l.</a:t>
                      </a:r>
                    </a:p>
                  </a:txBody>
                  <a:tcPr marL="0" marR="0" marT="0" marB="0" anchor="ctr">
                    <a:lnL w="12700" cmpd="sng">
                      <a:noFill/>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11" rtl="0" eaLnBrk="1" fontAlgn="auto" latinLnBrk="0" hangingPunct="1">
                        <a:lnSpc>
                          <a:spcPct val="100000"/>
                        </a:lnSpc>
                        <a:spcBef>
                          <a:spcPts val="0"/>
                        </a:spcBef>
                        <a:spcAft>
                          <a:spcPts val="0"/>
                        </a:spcAft>
                        <a:buClrTx/>
                        <a:buSzTx/>
                        <a:buFontTx/>
                        <a:buNone/>
                        <a:tabLst/>
                        <a:defRPr/>
                      </a:pPr>
                      <a:r>
                        <a:rPr lang="en-US" sz="1000" b="1">
                          <a:solidFill>
                            <a:schemeClr val="tx1"/>
                          </a:solidFill>
                        </a:rPr>
                        <a:t>Critical channel KPIs</a:t>
                      </a:r>
                    </a:p>
                  </a:txBody>
                  <a:tcPr marL="36000" marR="0" marT="0" marB="0" anchor="ctr">
                    <a:lnL w="12700" cmpd="sng">
                      <a:noFill/>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no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olid"/>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olid"/>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a:solidFill>
                          <a:schemeClr val="tx1"/>
                        </a:solidFill>
                      </a:endParaRPr>
                    </a:p>
                  </a:txBody>
                  <a:tcPr marL="0" marR="0" marT="0" marB="0" anchor="ctr">
                    <a:lnL w="12700" cap="flat" cmpd="sng" algn="ctr">
                      <a:solidFill>
                        <a:srgbClr val="F5EFE8"/>
                      </a:solidFill>
                      <a:prstDash val="sysDot"/>
                      <a:round/>
                      <a:headEnd type="none" w="med" len="med"/>
                      <a:tailEnd type="none" w="med" len="med"/>
                    </a:lnL>
                    <a:lnR w="12700" cap="flat" cmpd="sng" algn="ctr">
                      <a:solidFill>
                        <a:srgbClr val="F5EFE8"/>
                      </a:solidFill>
                      <a:prstDash val="sysDot"/>
                      <a:round/>
                      <a:headEnd type="none" w="med" len="med"/>
                      <a:tailEnd type="none" w="med" len="med"/>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1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b="0">
                          <a:solidFill>
                            <a:schemeClr val="tx1"/>
                          </a:solidFill>
                        </a:rPr>
                        <a:t>Prioritized KPIs and targets</a:t>
                      </a:r>
                    </a:p>
                  </a:txBody>
                  <a:tcPr marL="180000" marR="0" marT="0" marB="0" anchor="ctr">
                    <a:lnL w="12700" cap="flat" cmpd="sng" algn="ctr">
                      <a:solidFill>
                        <a:srgbClr val="F5EFE8"/>
                      </a:solidFill>
                      <a:prstDash val="sysDot"/>
                      <a:round/>
                      <a:headEnd type="none" w="med" len="med"/>
                      <a:tailEnd type="none" w="med" len="med"/>
                    </a:lnL>
                    <a:lnR w="12700" cmpd="sng">
                      <a:noFill/>
                    </a:lnR>
                    <a:lnT w="12700" cap="flat" cmpd="sng" algn="ctr">
                      <a:solidFill>
                        <a:srgbClr val="F5EFE8"/>
                      </a:solidFill>
                      <a:prstDash val="sysDot"/>
                      <a:round/>
                      <a:headEnd type="none" w="med" len="med"/>
                      <a:tailEnd type="none" w="med" len="med"/>
                    </a:lnT>
                    <a:lnB w="19050" cap="flat" cmpd="sng" algn="ctr">
                      <a:solidFill>
                        <a:srgbClr val="F5EFE8"/>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138397"/>
                  </a:ext>
                </a:extLst>
              </a:tr>
            </a:tbl>
          </a:graphicData>
        </a:graphic>
      </p:graphicFrame>
      <p:sp>
        <p:nvSpPr>
          <p:cNvPr id="4" name="Oval 3">
            <a:extLst>
              <a:ext uri="{FF2B5EF4-FFF2-40B4-BE49-F238E27FC236}">
                <a16:creationId xmlns:a16="http://schemas.microsoft.com/office/drawing/2014/main" id="{BD86E39A-ED13-9AFA-6703-A8460A10B0C0}"/>
              </a:ext>
            </a:extLst>
          </p:cNvPr>
          <p:cNvSpPr/>
          <p:nvPr/>
        </p:nvSpPr>
        <p:spPr>
          <a:xfrm>
            <a:off x="598485" y="2283819"/>
            <a:ext cx="201168" cy="201168"/>
          </a:xfrm>
          <a:prstGeom prst="ellipse">
            <a:avLst/>
          </a:prstGeom>
          <a:solidFill>
            <a:schemeClr val="accent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1</a:t>
            </a:r>
          </a:p>
        </p:txBody>
      </p:sp>
      <p:sp>
        <p:nvSpPr>
          <p:cNvPr id="9" name="Oval 8">
            <a:extLst>
              <a:ext uri="{FF2B5EF4-FFF2-40B4-BE49-F238E27FC236}">
                <a16:creationId xmlns:a16="http://schemas.microsoft.com/office/drawing/2014/main" id="{945E0573-F5FA-D814-4CD9-3B06FB157EB2}"/>
              </a:ext>
            </a:extLst>
          </p:cNvPr>
          <p:cNvSpPr/>
          <p:nvPr/>
        </p:nvSpPr>
        <p:spPr>
          <a:xfrm>
            <a:off x="598485" y="3473601"/>
            <a:ext cx="201168" cy="201168"/>
          </a:xfrm>
          <a:prstGeom prst="ellipse">
            <a:avLst/>
          </a:prstGeom>
          <a:solidFill>
            <a:schemeClr val="accent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2</a:t>
            </a:r>
          </a:p>
        </p:txBody>
      </p:sp>
      <p:sp>
        <p:nvSpPr>
          <p:cNvPr id="10" name="Oval 9">
            <a:extLst>
              <a:ext uri="{FF2B5EF4-FFF2-40B4-BE49-F238E27FC236}">
                <a16:creationId xmlns:a16="http://schemas.microsoft.com/office/drawing/2014/main" id="{A3969A46-D65F-0FC9-0966-E960F25EA2B9}"/>
              </a:ext>
            </a:extLst>
          </p:cNvPr>
          <p:cNvSpPr/>
          <p:nvPr/>
        </p:nvSpPr>
        <p:spPr>
          <a:xfrm>
            <a:off x="598485" y="4663384"/>
            <a:ext cx="201168" cy="201168"/>
          </a:xfrm>
          <a:prstGeom prst="ellipse">
            <a:avLst/>
          </a:prstGeom>
          <a:solidFill>
            <a:schemeClr val="accent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3</a:t>
            </a:r>
          </a:p>
        </p:txBody>
      </p:sp>
      <p:sp>
        <p:nvSpPr>
          <p:cNvPr id="17" name="Rectangle: Rounded Corners 16">
            <a:extLst>
              <a:ext uri="{FF2B5EF4-FFF2-40B4-BE49-F238E27FC236}">
                <a16:creationId xmlns:a16="http://schemas.microsoft.com/office/drawing/2014/main" id="{87FA637D-C533-D8A1-0445-636E53B63D57}"/>
              </a:ext>
            </a:extLst>
          </p:cNvPr>
          <p:cNvSpPr/>
          <p:nvPr/>
        </p:nvSpPr>
        <p:spPr>
          <a:xfrm>
            <a:off x="5580185" y="2225654"/>
            <a:ext cx="173216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6" name="Rectangle: Rounded Corners 25">
            <a:extLst>
              <a:ext uri="{FF2B5EF4-FFF2-40B4-BE49-F238E27FC236}">
                <a16:creationId xmlns:a16="http://schemas.microsoft.com/office/drawing/2014/main" id="{4C597BA6-FF9A-F100-4FB8-B354CA274F60}"/>
              </a:ext>
            </a:extLst>
          </p:cNvPr>
          <p:cNvSpPr/>
          <p:nvPr/>
        </p:nvSpPr>
        <p:spPr>
          <a:xfrm>
            <a:off x="6631590" y="2822038"/>
            <a:ext cx="157898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7" name="Rectangle: Rounded Corners 26">
            <a:extLst>
              <a:ext uri="{FF2B5EF4-FFF2-40B4-BE49-F238E27FC236}">
                <a16:creationId xmlns:a16="http://schemas.microsoft.com/office/drawing/2014/main" id="{3A282FEB-6EA2-9A82-1D3B-13B469E338E6}"/>
              </a:ext>
            </a:extLst>
          </p:cNvPr>
          <p:cNvSpPr/>
          <p:nvPr/>
        </p:nvSpPr>
        <p:spPr>
          <a:xfrm>
            <a:off x="5497146" y="3420949"/>
            <a:ext cx="2248151"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8" name="Rectangle: Rounded Corners 27">
            <a:extLst>
              <a:ext uri="{FF2B5EF4-FFF2-40B4-BE49-F238E27FC236}">
                <a16:creationId xmlns:a16="http://schemas.microsoft.com/office/drawing/2014/main" id="{1317DCAF-7896-7DDC-8ECC-19F4190BF5A4}"/>
              </a:ext>
            </a:extLst>
          </p:cNvPr>
          <p:cNvSpPr/>
          <p:nvPr/>
        </p:nvSpPr>
        <p:spPr>
          <a:xfrm>
            <a:off x="6157971" y="3703408"/>
            <a:ext cx="1597513"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9" name="Rectangle: Rounded Corners 28">
            <a:extLst>
              <a:ext uri="{FF2B5EF4-FFF2-40B4-BE49-F238E27FC236}">
                <a16:creationId xmlns:a16="http://schemas.microsoft.com/office/drawing/2014/main" id="{6824DDE0-3FCB-7720-06A1-D5FD29477842}"/>
              </a:ext>
            </a:extLst>
          </p:cNvPr>
          <p:cNvSpPr/>
          <p:nvPr/>
        </p:nvSpPr>
        <p:spPr>
          <a:xfrm>
            <a:off x="6809635" y="3994023"/>
            <a:ext cx="118872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31" name="Rectangle: Rounded Corners 30">
            <a:extLst>
              <a:ext uri="{FF2B5EF4-FFF2-40B4-BE49-F238E27FC236}">
                <a16:creationId xmlns:a16="http://schemas.microsoft.com/office/drawing/2014/main" id="{BA26CB92-4F8C-CD17-57EB-B5D4D41DF919}"/>
              </a:ext>
            </a:extLst>
          </p:cNvPr>
          <p:cNvSpPr/>
          <p:nvPr/>
        </p:nvSpPr>
        <p:spPr>
          <a:xfrm>
            <a:off x="7087741" y="3106750"/>
            <a:ext cx="193925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32" name="Rectangle: Rounded Corners 31">
            <a:extLst>
              <a:ext uri="{FF2B5EF4-FFF2-40B4-BE49-F238E27FC236}">
                <a16:creationId xmlns:a16="http://schemas.microsoft.com/office/drawing/2014/main" id="{03DB393A-5B63-E3E7-556F-6950D41FF956}"/>
              </a:ext>
            </a:extLst>
          </p:cNvPr>
          <p:cNvSpPr/>
          <p:nvPr/>
        </p:nvSpPr>
        <p:spPr>
          <a:xfrm>
            <a:off x="6251486" y="4579045"/>
            <a:ext cx="1362421"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33" name="Rectangle: Rounded Corners 32">
            <a:extLst>
              <a:ext uri="{FF2B5EF4-FFF2-40B4-BE49-F238E27FC236}">
                <a16:creationId xmlns:a16="http://schemas.microsoft.com/office/drawing/2014/main" id="{60E370DF-6479-65D5-8FD6-F8E786924E99}"/>
              </a:ext>
            </a:extLst>
          </p:cNvPr>
          <p:cNvSpPr/>
          <p:nvPr/>
        </p:nvSpPr>
        <p:spPr>
          <a:xfrm>
            <a:off x="6631590" y="5142049"/>
            <a:ext cx="1366765"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35" name="Rectangle: Rounded Corners 34">
            <a:extLst>
              <a:ext uri="{FF2B5EF4-FFF2-40B4-BE49-F238E27FC236}">
                <a16:creationId xmlns:a16="http://schemas.microsoft.com/office/drawing/2014/main" id="{54E86C20-666B-9C3D-EAF9-1B2355654D4E}"/>
              </a:ext>
            </a:extLst>
          </p:cNvPr>
          <p:cNvSpPr/>
          <p:nvPr/>
        </p:nvSpPr>
        <p:spPr>
          <a:xfrm>
            <a:off x="7929701" y="5422247"/>
            <a:ext cx="118872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46" name="Rectangle 45">
            <a:extLst>
              <a:ext uri="{FF2B5EF4-FFF2-40B4-BE49-F238E27FC236}">
                <a16:creationId xmlns:a16="http://schemas.microsoft.com/office/drawing/2014/main" id="{CF2FF6B8-59B1-2B73-064C-FF5795FC1ADA}"/>
              </a:ext>
            </a:extLst>
          </p:cNvPr>
          <p:cNvSpPr/>
          <p:nvPr/>
        </p:nvSpPr>
        <p:spPr>
          <a:xfrm>
            <a:off x="515939" y="5816009"/>
            <a:ext cx="11151138" cy="341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8640" tIns="180000" rIns="18000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200" normalizeH="0" baseline="0" noProof="0">
                <a:ln>
                  <a:noFill/>
                </a:ln>
                <a:solidFill>
                  <a:srgbClr val="FFFFFF"/>
                </a:solidFill>
                <a:effectLst/>
                <a:uLnTx/>
                <a:uFillTx/>
                <a:latin typeface="Scotia"/>
                <a:ea typeface="+mn-ea"/>
                <a:cs typeface="+mn-cs"/>
              </a:rPr>
              <a:t>MEETING CADENCE   </a:t>
            </a:r>
            <a:r>
              <a:rPr kumimoji="0" lang="en-CA" sz="1100" b="1" i="0" u="none" strike="noStrike" kern="1200" cap="none" spc="0" normalizeH="0" baseline="0" noProof="0">
                <a:ln>
                  <a:noFill/>
                </a:ln>
                <a:solidFill>
                  <a:srgbClr val="FFFFFF"/>
                </a:solidFill>
                <a:effectLst/>
                <a:uLnTx/>
                <a:uFillTx/>
                <a:latin typeface="Scotia"/>
                <a:ea typeface="+mn-ea"/>
                <a:cs typeface="+mn-cs"/>
              </a:rPr>
              <a:t>Monthly </a:t>
            </a:r>
            <a:r>
              <a:rPr kumimoji="0" lang="en-CA" sz="1100" b="1" i="0" u="none" strike="noStrike" kern="1200" cap="none" spc="0" normalizeH="0" baseline="0" noProof="0" err="1">
                <a:ln>
                  <a:noFill/>
                </a:ln>
                <a:solidFill>
                  <a:srgbClr val="FFFFFF"/>
                </a:solidFill>
                <a:effectLst/>
                <a:uLnTx/>
                <a:uFillTx/>
                <a:latin typeface="Scotia"/>
                <a:ea typeface="+mn-ea"/>
                <a:cs typeface="+mn-cs"/>
              </a:rPr>
              <a:t>SteerCo</a:t>
            </a:r>
            <a:r>
              <a:rPr kumimoji="0" lang="en-CA" sz="1100" b="1" i="0" u="none" strike="noStrike" kern="1200" cap="none" spc="0" normalizeH="0" baseline="0" noProof="0">
                <a:ln>
                  <a:noFill/>
                </a:ln>
                <a:solidFill>
                  <a:srgbClr val="FFFFFF"/>
                </a:solidFill>
                <a:effectLst/>
                <a:uLnTx/>
                <a:uFillTx/>
                <a:latin typeface="Scotia"/>
                <a:ea typeface="+mn-ea"/>
                <a:cs typeface="+mn-cs"/>
              </a:rPr>
              <a:t> </a:t>
            </a:r>
            <a:r>
              <a:rPr kumimoji="0" lang="en-CA" sz="1100" b="0" i="0" u="none" strike="noStrike" kern="1200" cap="none" spc="0" normalizeH="0" baseline="0" noProof="0">
                <a:ln>
                  <a:noFill/>
                </a:ln>
                <a:solidFill>
                  <a:srgbClr val="FFFFFF"/>
                </a:solidFill>
                <a:effectLst/>
                <a:uLnTx/>
                <a:uFillTx/>
                <a:latin typeface="Scotia"/>
                <a:ea typeface="+mn-ea"/>
                <a:cs typeface="+mn-cs"/>
              </a:rPr>
              <a:t>with Group Head, </a:t>
            </a:r>
            <a:r>
              <a:rPr kumimoji="0" lang="en-CA" sz="1100" b="1" i="0" u="none" strike="noStrike" kern="1200" cap="none" spc="0" normalizeH="0" baseline="0" noProof="0">
                <a:ln>
                  <a:noFill/>
                </a:ln>
                <a:solidFill>
                  <a:srgbClr val="FFFFFF"/>
                </a:solidFill>
                <a:effectLst/>
                <a:uLnTx/>
                <a:uFillTx/>
                <a:latin typeface="Scotia"/>
                <a:ea typeface="+mn-ea"/>
                <a:cs typeface="+mn-cs"/>
              </a:rPr>
              <a:t>joint bi-weekly working group </a:t>
            </a:r>
            <a:r>
              <a:rPr kumimoji="0" lang="en-CA" sz="1100" b="0" i="0" u="none" strike="noStrike" kern="1200" cap="none" spc="0" normalizeH="0" baseline="0" noProof="0">
                <a:ln>
                  <a:noFill/>
                </a:ln>
                <a:solidFill>
                  <a:srgbClr val="FFFFFF"/>
                </a:solidFill>
                <a:effectLst/>
                <a:uLnTx/>
                <a:uFillTx/>
                <a:latin typeface="Scotia"/>
                <a:ea typeface="+mn-ea"/>
                <a:cs typeface="+mn-cs"/>
              </a:rPr>
              <a:t>sessions with core team, and smaller deep-dives as required </a:t>
            </a:r>
          </a:p>
        </p:txBody>
      </p:sp>
      <p:sp>
        <p:nvSpPr>
          <p:cNvPr id="47" name="Rectangle: Rounded Corners 46">
            <a:extLst>
              <a:ext uri="{FF2B5EF4-FFF2-40B4-BE49-F238E27FC236}">
                <a16:creationId xmlns:a16="http://schemas.microsoft.com/office/drawing/2014/main" id="{B45D8CD3-C5A4-EA88-C2EF-BAE818EB41FA}"/>
              </a:ext>
            </a:extLst>
          </p:cNvPr>
          <p:cNvSpPr/>
          <p:nvPr/>
        </p:nvSpPr>
        <p:spPr>
          <a:xfrm>
            <a:off x="6284827" y="2523679"/>
            <a:ext cx="1644874"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pic>
        <p:nvPicPr>
          <p:cNvPr id="49" name="Graphic 48">
            <a:extLst>
              <a:ext uri="{FF2B5EF4-FFF2-40B4-BE49-F238E27FC236}">
                <a16:creationId xmlns:a16="http://schemas.microsoft.com/office/drawing/2014/main" id="{E711CC8D-CE5A-C4A2-AD7D-216BB388BAD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0682" y="5849480"/>
            <a:ext cx="274320" cy="274320"/>
          </a:xfrm>
          <a:prstGeom prst="rect">
            <a:avLst/>
          </a:prstGeom>
        </p:spPr>
      </p:pic>
      <p:sp>
        <p:nvSpPr>
          <p:cNvPr id="3" name="Rectangle: Rounded Corners 2">
            <a:extLst>
              <a:ext uri="{FF2B5EF4-FFF2-40B4-BE49-F238E27FC236}">
                <a16:creationId xmlns:a16="http://schemas.microsoft.com/office/drawing/2014/main" id="{FDB7BFA9-ECD3-BCCE-2CB7-BEF1EA08C721}"/>
              </a:ext>
            </a:extLst>
          </p:cNvPr>
          <p:cNvSpPr/>
          <p:nvPr/>
        </p:nvSpPr>
        <p:spPr>
          <a:xfrm>
            <a:off x="8561860" y="4291902"/>
            <a:ext cx="1188720" cy="174567"/>
          </a:xfrm>
          <a:prstGeom prst="roundRect">
            <a:avLst>
              <a:gd name="adj" fmla="val 50000"/>
            </a:avLst>
          </a:prstGeom>
          <a:noFill/>
          <a:ln>
            <a:solidFill>
              <a:srgbClr val="A6A6A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30" name="Rectangle: Rounded Corners 29">
            <a:extLst>
              <a:ext uri="{FF2B5EF4-FFF2-40B4-BE49-F238E27FC236}">
                <a16:creationId xmlns:a16="http://schemas.microsoft.com/office/drawing/2014/main" id="{2A0E551F-FF70-B5D3-C825-CC80EC7423EF}"/>
              </a:ext>
            </a:extLst>
          </p:cNvPr>
          <p:cNvSpPr/>
          <p:nvPr/>
        </p:nvSpPr>
        <p:spPr>
          <a:xfrm>
            <a:off x="8255946" y="4284639"/>
            <a:ext cx="1188720"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13" name="Rectangle: Rounded Corners 12">
            <a:extLst>
              <a:ext uri="{FF2B5EF4-FFF2-40B4-BE49-F238E27FC236}">
                <a16:creationId xmlns:a16="http://schemas.microsoft.com/office/drawing/2014/main" id="{50013ADC-A0EE-55B0-6E9D-ECC1E84912BF}"/>
              </a:ext>
            </a:extLst>
          </p:cNvPr>
          <p:cNvSpPr/>
          <p:nvPr/>
        </p:nvSpPr>
        <p:spPr>
          <a:xfrm>
            <a:off x="7291585" y="4001280"/>
            <a:ext cx="1188720" cy="174567"/>
          </a:xfrm>
          <a:prstGeom prst="roundRect">
            <a:avLst>
              <a:gd name="adj" fmla="val 50000"/>
            </a:avLst>
          </a:prstGeom>
          <a:noFill/>
          <a:ln>
            <a:solidFill>
              <a:srgbClr val="A6A6A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11" name="Rectangle: Rounded Corners 10">
            <a:extLst>
              <a:ext uri="{FF2B5EF4-FFF2-40B4-BE49-F238E27FC236}">
                <a16:creationId xmlns:a16="http://schemas.microsoft.com/office/drawing/2014/main" id="{4CDE474B-D6ED-D2A8-F611-5FE3E56B7134}"/>
              </a:ext>
            </a:extLst>
          </p:cNvPr>
          <p:cNvSpPr/>
          <p:nvPr/>
        </p:nvSpPr>
        <p:spPr>
          <a:xfrm>
            <a:off x="7745298" y="3121332"/>
            <a:ext cx="1984490" cy="174567"/>
          </a:xfrm>
          <a:prstGeom prst="roundRect">
            <a:avLst>
              <a:gd name="adj" fmla="val 50000"/>
            </a:avLst>
          </a:prstGeom>
          <a:noFill/>
          <a:ln>
            <a:solidFill>
              <a:srgbClr val="A6A6A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14" name="Rectangle: Rounded Corners 13">
            <a:extLst>
              <a:ext uri="{FF2B5EF4-FFF2-40B4-BE49-F238E27FC236}">
                <a16:creationId xmlns:a16="http://schemas.microsoft.com/office/drawing/2014/main" id="{30C21A34-969A-108F-00AD-7D99DD9F7C57}"/>
              </a:ext>
            </a:extLst>
          </p:cNvPr>
          <p:cNvSpPr/>
          <p:nvPr/>
        </p:nvSpPr>
        <p:spPr>
          <a:xfrm>
            <a:off x="6459595" y="4853376"/>
            <a:ext cx="1362421" cy="198602"/>
          </a:xfrm>
          <a:prstGeom prst="roundRect">
            <a:avLst>
              <a:gd name="adj" fmla="val 5000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4" name="Rectangle: Rounded Corners 23">
            <a:extLst>
              <a:ext uri="{FF2B5EF4-FFF2-40B4-BE49-F238E27FC236}">
                <a16:creationId xmlns:a16="http://schemas.microsoft.com/office/drawing/2014/main" id="{43D83BD6-8FCE-A78A-49EC-0CD562F316AB}"/>
              </a:ext>
            </a:extLst>
          </p:cNvPr>
          <p:cNvSpPr/>
          <p:nvPr/>
        </p:nvSpPr>
        <p:spPr>
          <a:xfrm>
            <a:off x="8561860" y="5433041"/>
            <a:ext cx="1167928" cy="174567"/>
          </a:xfrm>
          <a:prstGeom prst="roundRect">
            <a:avLst>
              <a:gd name="adj" fmla="val 50000"/>
            </a:avLst>
          </a:prstGeom>
          <a:noFill/>
          <a:ln>
            <a:solidFill>
              <a:srgbClr val="A6A6A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22" name="Rectangle: Rounded Corners 21">
            <a:extLst>
              <a:ext uri="{FF2B5EF4-FFF2-40B4-BE49-F238E27FC236}">
                <a16:creationId xmlns:a16="http://schemas.microsoft.com/office/drawing/2014/main" id="{B0433776-7EA1-4856-420F-ACA6B69BC37D}"/>
              </a:ext>
            </a:extLst>
          </p:cNvPr>
          <p:cNvSpPr/>
          <p:nvPr/>
        </p:nvSpPr>
        <p:spPr>
          <a:xfrm>
            <a:off x="7811426" y="2837313"/>
            <a:ext cx="1249331" cy="174567"/>
          </a:xfrm>
          <a:prstGeom prst="roundRect">
            <a:avLst>
              <a:gd name="adj" fmla="val 50000"/>
            </a:avLst>
          </a:prstGeom>
          <a:noFill/>
          <a:ln>
            <a:solidFill>
              <a:srgbClr val="A6A6A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sp>
        <p:nvSpPr>
          <p:cNvPr id="40" name="TextBox 39">
            <a:extLst>
              <a:ext uri="{FF2B5EF4-FFF2-40B4-BE49-F238E27FC236}">
                <a16:creationId xmlns:a16="http://schemas.microsoft.com/office/drawing/2014/main" id="{862FEA31-3174-4DE8-5220-FC0989CB2A9B}"/>
              </a:ext>
            </a:extLst>
          </p:cNvPr>
          <p:cNvSpPr txBox="1"/>
          <p:nvPr/>
        </p:nvSpPr>
        <p:spPr>
          <a:xfrm>
            <a:off x="1961366" y="1929658"/>
            <a:ext cx="1712859"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Deliverables </a:t>
            </a:r>
          </a:p>
        </p:txBody>
      </p:sp>
      <p:grpSp>
        <p:nvGrpSpPr>
          <p:cNvPr id="15" name="Group 14">
            <a:extLst>
              <a:ext uri="{FF2B5EF4-FFF2-40B4-BE49-F238E27FC236}">
                <a16:creationId xmlns:a16="http://schemas.microsoft.com/office/drawing/2014/main" id="{D225BCC0-8003-1DC7-3B76-90BFB348740F}"/>
              </a:ext>
            </a:extLst>
          </p:cNvPr>
          <p:cNvGrpSpPr/>
          <p:nvPr/>
        </p:nvGrpSpPr>
        <p:grpSpPr>
          <a:xfrm>
            <a:off x="5831692" y="1745701"/>
            <a:ext cx="1162740" cy="970793"/>
            <a:chOff x="5560094" y="1745701"/>
            <a:chExt cx="1162740" cy="970793"/>
          </a:xfrm>
        </p:grpSpPr>
        <p:sp>
          <p:nvSpPr>
            <p:cNvPr id="43" name="TextBox 42">
              <a:extLst>
                <a:ext uri="{FF2B5EF4-FFF2-40B4-BE49-F238E27FC236}">
                  <a16:creationId xmlns:a16="http://schemas.microsoft.com/office/drawing/2014/main" id="{EED00C83-78ED-69E9-D527-EE5A23906576}"/>
                </a:ext>
              </a:extLst>
            </p:cNvPr>
            <p:cNvSpPr txBox="1"/>
            <p:nvPr/>
          </p:nvSpPr>
          <p:spPr>
            <a:xfrm>
              <a:off x="5560094" y="1745701"/>
              <a:ext cx="104009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1" u="none" strike="noStrike" kern="1200" cap="none" spc="0" normalizeH="0" baseline="0" noProof="0">
                  <a:ln>
                    <a:noFill/>
                  </a:ln>
                  <a:solidFill>
                    <a:srgbClr val="EC111A"/>
                  </a:solidFill>
                  <a:effectLst/>
                  <a:uLnTx/>
                  <a:uFillTx/>
                  <a:latin typeface="Scotia"/>
                  <a:ea typeface="+mn-ea"/>
                  <a:cs typeface="+mn-cs"/>
                </a:rPr>
                <a:t>We are here </a:t>
              </a:r>
            </a:p>
          </p:txBody>
        </p:sp>
        <p:sp>
          <p:nvSpPr>
            <p:cNvPr id="45" name="Arc 44">
              <a:extLst>
                <a:ext uri="{FF2B5EF4-FFF2-40B4-BE49-F238E27FC236}">
                  <a16:creationId xmlns:a16="http://schemas.microsoft.com/office/drawing/2014/main" id="{91041EF1-96C2-CF55-7D5E-5AED1763BD49}"/>
                </a:ext>
              </a:extLst>
            </p:cNvPr>
            <p:cNvSpPr/>
            <p:nvPr/>
          </p:nvSpPr>
          <p:spPr>
            <a:xfrm rot="4739509">
              <a:off x="5873806" y="1867466"/>
              <a:ext cx="831577" cy="866479"/>
            </a:xfrm>
            <a:prstGeom prst="arc">
              <a:avLst>
                <a:gd name="adj1" fmla="val 12066015"/>
                <a:gd name="adj2" fmla="val 15201159"/>
              </a:avLst>
            </a:prstGeom>
            <a:ln w="12700">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cotia"/>
                <a:ea typeface="+mn-ea"/>
                <a:cs typeface="+mn-cs"/>
              </a:endParaRPr>
            </a:p>
          </p:txBody>
        </p:sp>
      </p:grpSp>
      <p:sp>
        <p:nvSpPr>
          <p:cNvPr id="48" name="Rectangle 47">
            <a:extLst>
              <a:ext uri="{FF2B5EF4-FFF2-40B4-BE49-F238E27FC236}">
                <a16:creationId xmlns:a16="http://schemas.microsoft.com/office/drawing/2014/main" id="{2978DB6C-3E3A-B5AA-93CA-16CD3A69910D}"/>
              </a:ext>
            </a:extLst>
          </p:cNvPr>
          <p:cNvSpPr/>
          <p:nvPr/>
        </p:nvSpPr>
        <p:spPr>
          <a:xfrm>
            <a:off x="5497147" y="2221229"/>
            <a:ext cx="1488524" cy="3452323"/>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18" name="Text Placeholder 17">
            <a:extLst>
              <a:ext uri="{FF2B5EF4-FFF2-40B4-BE49-F238E27FC236}">
                <a16:creationId xmlns:a16="http://schemas.microsoft.com/office/drawing/2014/main" id="{15457CF2-903C-B258-6B0C-F3D0E44D74B5}"/>
              </a:ext>
            </a:extLst>
          </p:cNvPr>
          <p:cNvSpPr>
            <a:spLocks noGrp="1"/>
          </p:cNvSpPr>
          <p:nvPr>
            <p:ph type="body" sz="quarter" idx="11"/>
          </p:nvPr>
        </p:nvSpPr>
        <p:spPr/>
        <p:txBody>
          <a:bodyPr/>
          <a:lstStyle/>
          <a:p>
            <a:endParaRPr lang="en-CA"/>
          </a:p>
        </p:txBody>
      </p:sp>
    </p:spTree>
    <p:extLst>
      <p:ext uri="{BB962C8B-B14F-4D97-AF65-F5344CB8AC3E}">
        <p14:creationId xmlns:p14="http://schemas.microsoft.com/office/powerpoint/2010/main" val="191615174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54D6A3-F1BC-9B5A-CF83-C5B4FFFF86F1}"/>
            </a:ext>
          </a:extLst>
        </p:cNvPr>
        <p:cNvGrpSpPr/>
        <p:nvPr/>
      </p:nvGrpSpPr>
      <p:grpSpPr>
        <a:xfrm>
          <a:off x="0" y="0"/>
          <a:ext cx="0" cy="0"/>
          <a:chOff x="0" y="0"/>
          <a:chExt cx="0" cy="0"/>
        </a:xfrm>
      </p:grpSpPr>
      <p:graphicFrame>
        <p:nvGraphicFramePr>
          <p:cNvPr id="41" name="think-cell data - do not delete" hidden="1">
            <a:extLst>
              <a:ext uri="{FF2B5EF4-FFF2-40B4-BE49-F238E27FC236}">
                <a16:creationId xmlns:a16="http://schemas.microsoft.com/office/drawing/2014/main" id="{41A4029C-1E52-71A7-6C4F-BB051A8C0C69}"/>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41" name="think-cell data - do not delete" hidden="1">
                        <a:extLst>
                          <a:ext uri="{FF2B5EF4-FFF2-40B4-BE49-F238E27FC236}">
                            <a16:creationId xmlns:a16="http://schemas.microsoft.com/office/drawing/2014/main" id="{41A4029C-1E52-71A7-6C4F-BB051A8C0C69}"/>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05A742-45F8-A0C5-51ED-9BF06A903CC8}"/>
              </a:ext>
            </a:extLst>
          </p:cNvPr>
          <p:cNvSpPr>
            <a:spLocks noGrp="1"/>
          </p:cNvSpPr>
          <p:nvPr>
            <p:ph type="title"/>
          </p:nvPr>
        </p:nvSpPr>
        <p:spPr/>
        <p:txBody>
          <a:bodyPr vert="horz"/>
          <a:lstStyle/>
          <a:p>
            <a:r>
              <a:rPr lang="en-US">
                <a:solidFill>
                  <a:srgbClr val="EC111A"/>
                </a:solidFill>
              </a:rPr>
              <a:t>Commercial and Wealth Partnership History | </a:t>
            </a:r>
            <a:r>
              <a:rPr lang="en-US"/>
              <a:t>Since F16, key progress has been made to increase collaboration &amp; partnership between our businesses</a:t>
            </a:r>
            <a:endParaRPr lang="en-CA"/>
          </a:p>
        </p:txBody>
      </p:sp>
      <p:sp>
        <p:nvSpPr>
          <p:cNvPr id="3" name="Slide Number Placeholder 2">
            <a:extLst>
              <a:ext uri="{FF2B5EF4-FFF2-40B4-BE49-F238E27FC236}">
                <a16:creationId xmlns:a16="http://schemas.microsoft.com/office/drawing/2014/main" id="{978BA441-FD27-66CE-8208-CBB9867FD533}"/>
              </a:ext>
            </a:extLst>
          </p:cNvPr>
          <p:cNvSpPr>
            <a:spLocks noGrp="1"/>
          </p:cNvSpPr>
          <p:nvPr>
            <p:ph type="sldNum" sz="quarter" idx="10"/>
          </p:nvPr>
        </p:nvSpPr>
        <p:spPr/>
        <p:txBody>
          <a:bodyPr/>
          <a:lstStyle/>
          <a:p>
            <a:pPr marL="0" marR="0" lvl="0" indent="0" algn="l" defTabSz="914355"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05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l" defTabSz="914355" rtl="0" eaLnBrk="1" fontAlgn="auto" latinLnBrk="0" hangingPunct="1">
                <a:lnSpc>
                  <a:spcPct val="100000"/>
                </a:lnSpc>
                <a:spcBef>
                  <a:spcPts val="0"/>
                </a:spcBef>
                <a:spcAft>
                  <a:spcPts val="0"/>
                </a:spcAft>
                <a:buClrTx/>
                <a:buSzTx/>
                <a:buFontTx/>
                <a:buNone/>
                <a:tabLst/>
                <a:defRPr/>
              </a:pPr>
              <a:t>24</a:t>
            </a:fld>
            <a:endParaRPr kumimoji="0" lang="en-CA" sz="105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graphicFrame>
        <p:nvGraphicFramePr>
          <p:cNvPr id="9" name="Table 27">
            <a:extLst>
              <a:ext uri="{FF2B5EF4-FFF2-40B4-BE49-F238E27FC236}">
                <a16:creationId xmlns:a16="http://schemas.microsoft.com/office/drawing/2014/main" id="{EA27B3EA-5DEC-FBC2-910F-FEC674D62D33}"/>
              </a:ext>
            </a:extLst>
          </p:cNvPr>
          <p:cNvGraphicFramePr>
            <a:graphicFrameLocks/>
          </p:cNvGraphicFramePr>
          <p:nvPr/>
        </p:nvGraphicFramePr>
        <p:xfrm>
          <a:off x="364650" y="3441772"/>
          <a:ext cx="11160124" cy="720000"/>
        </p:xfrm>
        <a:graphic>
          <a:graphicData uri="http://schemas.openxmlformats.org/drawingml/2006/table">
            <a:tbl>
              <a:tblPr firstRow="1" bandRow="1">
                <a:tableStyleId>{5C22544A-7EE6-4342-B048-85BDC9FD1C3A}</a:tableStyleId>
              </a:tblPr>
              <a:tblGrid>
                <a:gridCol w="930824">
                  <a:extLst>
                    <a:ext uri="{9D8B030D-6E8A-4147-A177-3AD203B41FA5}">
                      <a16:colId xmlns:a16="http://schemas.microsoft.com/office/drawing/2014/main" val="2813024169"/>
                    </a:ext>
                  </a:extLst>
                </a:gridCol>
                <a:gridCol w="930824">
                  <a:extLst>
                    <a:ext uri="{9D8B030D-6E8A-4147-A177-3AD203B41FA5}">
                      <a16:colId xmlns:a16="http://schemas.microsoft.com/office/drawing/2014/main" val="2219166293"/>
                    </a:ext>
                  </a:extLst>
                </a:gridCol>
                <a:gridCol w="930824">
                  <a:extLst>
                    <a:ext uri="{9D8B030D-6E8A-4147-A177-3AD203B41FA5}">
                      <a16:colId xmlns:a16="http://schemas.microsoft.com/office/drawing/2014/main" val="1755416569"/>
                    </a:ext>
                  </a:extLst>
                </a:gridCol>
                <a:gridCol w="930824">
                  <a:extLst>
                    <a:ext uri="{9D8B030D-6E8A-4147-A177-3AD203B41FA5}">
                      <a16:colId xmlns:a16="http://schemas.microsoft.com/office/drawing/2014/main" val="3189178405"/>
                    </a:ext>
                  </a:extLst>
                </a:gridCol>
                <a:gridCol w="930824">
                  <a:extLst>
                    <a:ext uri="{9D8B030D-6E8A-4147-A177-3AD203B41FA5}">
                      <a16:colId xmlns:a16="http://schemas.microsoft.com/office/drawing/2014/main" val="3382774341"/>
                    </a:ext>
                  </a:extLst>
                </a:gridCol>
                <a:gridCol w="930824">
                  <a:extLst>
                    <a:ext uri="{9D8B030D-6E8A-4147-A177-3AD203B41FA5}">
                      <a16:colId xmlns:a16="http://schemas.microsoft.com/office/drawing/2014/main" val="3497811140"/>
                    </a:ext>
                  </a:extLst>
                </a:gridCol>
                <a:gridCol w="1393795">
                  <a:extLst>
                    <a:ext uri="{9D8B030D-6E8A-4147-A177-3AD203B41FA5}">
                      <a16:colId xmlns:a16="http://schemas.microsoft.com/office/drawing/2014/main" val="4185865309"/>
                    </a:ext>
                  </a:extLst>
                </a:gridCol>
                <a:gridCol w="1393795">
                  <a:extLst>
                    <a:ext uri="{9D8B030D-6E8A-4147-A177-3AD203B41FA5}">
                      <a16:colId xmlns:a16="http://schemas.microsoft.com/office/drawing/2014/main" val="2829201754"/>
                    </a:ext>
                  </a:extLst>
                </a:gridCol>
                <a:gridCol w="1393795">
                  <a:extLst>
                    <a:ext uri="{9D8B030D-6E8A-4147-A177-3AD203B41FA5}">
                      <a16:colId xmlns:a16="http://schemas.microsoft.com/office/drawing/2014/main" val="743593793"/>
                    </a:ext>
                  </a:extLst>
                </a:gridCol>
                <a:gridCol w="1393795">
                  <a:extLst>
                    <a:ext uri="{9D8B030D-6E8A-4147-A177-3AD203B41FA5}">
                      <a16:colId xmlns:a16="http://schemas.microsoft.com/office/drawing/2014/main" val="3866288041"/>
                    </a:ext>
                  </a:extLst>
                </a:gridCol>
              </a:tblGrid>
              <a:tr h="360000">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100" b="0" i="0">
                          <a:solidFill>
                            <a:schemeClr val="tx1"/>
                          </a:solidFill>
                          <a:latin typeface="+mn-lt"/>
                          <a:ea typeface="Scotia Light" panose="020B0403020203020204" pitchFamily="34" charset="0"/>
                        </a:rPr>
                        <a:t>F16</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100" b="0" i="0">
                          <a:solidFill>
                            <a:schemeClr val="tx1"/>
                          </a:solidFill>
                          <a:latin typeface="+mn-lt"/>
                          <a:ea typeface="Scotia Light" panose="020B0403020203020204" pitchFamily="34" charset="0"/>
                        </a:rPr>
                        <a:t>F17</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F18</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F19</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F20</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F21</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F22</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F23</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F24</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100" b="0" i="0">
                          <a:solidFill>
                            <a:schemeClr val="tx1"/>
                          </a:solidFill>
                          <a:latin typeface="+mn-lt"/>
                          <a:ea typeface="Scotia Light" panose="020B0403020203020204" pitchFamily="34" charset="0"/>
                        </a:rPr>
                        <a:t>F25</a:t>
                      </a:r>
                    </a:p>
                  </a:txBody>
                  <a:tcPr marL="0" marR="0" marT="0" marB="0" anchor="b">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7645919"/>
                  </a:ext>
                </a:extLst>
              </a:tr>
              <a:tr h="360000">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905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endParaRPr lang="en-CA" sz="1100" b="0" i="0">
                        <a:solidFill>
                          <a:schemeClr val="tx1"/>
                        </a:solidFill>
                        <a:latin typeface="+mn-lt"/>
                        <a:ea typeface="Scotia Light" panose="020B0403020203020204" pitchFamily="34" charset="0"/>
                      </a:endParaRPr>
                    </a:p>
                  </a:txBody>
                  <a:tcPr marL="0" marR="0" marT="0" marB="0">
                    <a:lnL w="12700"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35144738"/>
                  </a:ext>
                </a:extLst>
              </a:tr>
            </a:tbl>
          </a:graphicData>
        </a:graphic>
      </p:graphicFrame>
      <p:cxnSp>
        <p:nvCxnSpPr>
          <p:cNvPr id="11" name="Straight Arrow Connector 10">
            <a:extLst>
              <a:ext uri="{FF2B5EF4-FFF2-40B4-BE49-F238E27FC236}">
                <a16:creationId xmlns:a16="http://schemas.microsoft.com/office/drawing/2014/main" id="{95041644-BEED-14DF-5556-DEEDD0602EEF}"/>
              </a:ext>
            </a:extLst>
          </p:cNvPr>
          <p:cNvCxnSpPr>
            <a:cxnSpLocks/>
          </p:cNvCxnSpPr>
          <p:nvPr/>
        </p:nvCxnSpPr>
        <p:spPr>
          <a:xfrm>
            <a:off x="578718" y="3951587"/>
            <a:ext cx="11064240" cy="0"/>
          </a:xfrm>
          <a:prstGeom prst="straightConnector1">
            <a:avLst/>
          </a:prstGeom>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B0EA6A5-08D2-802D-FC97-374F30071A3C}"/>
              </a:ext>
            </a:extLst>
          </p:cNvPr>
          <p:cNvSpPr/>
          <p:nvPr/>
        </p:nvSpPr>
        <p:spPr>
          <a:xfrm>
            <a:off x="2325998" y="3900938"/>
            <a:ext cx="1737360" cy="129293"/>
          </a:xfrm>
          <a:prstGeom prst="roundRect">
            <a:avLst>
              <a:gd name="adj" fmla="val 50000"/>
            </a:avLst>
          </a:prstGeom>
          <a:pattFill prst="ltDnDiag">
            <a:fgClr>
              <a:schemeClr val="tx1">
                <a:lumMod val="65000"/>
                <a:lumOff val="35000"/>
              </a:schemeClr>
            </a:fgClr>
            <a:bgClr>
              <a:schemeClr val="bg1">
                <a:lumMod val="6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a:ea typeface="+mn-ea"/>
              <a:cs typeface="+mn-cs"/>
            </a:endParaRPr>
          </a:p>
        </p:txBody>
      </p:sp>
      <p:sp>
        <p:nvSpPr>
          <p:cNvPr id="14" name="Rectangle: Rounded Corners 13">
            <a:extLst>
              <a:ext uri="{FF2B5EF4-FFF2-40B4-BE49-F238E27FC236}">
                <a16:creationId xmlns:a16="http://schemas.microsoft.com/office/drawing/2014/main" id="{D5B349AF-FF7D-78A6-A550-D42AC9261AB2}"/>
              </a:ext>
            </a:extLst>
          </p:cNvPr>
          <p:cNvSpPr/>
          <p:nvPr/>
        </p:nvSpPr>
        <p:spPr>
          <a:xfrm>
            <a:off x="515938" y="2205397"/>
            <a:ext cx="1877338" cy="941172"/>
          </a:xfrm>
          <a:prstGeom prst="roundRect">
            <a:avLst>
              <a:gd name="adj" fmla="val 0"/>
            </a:avLst>
          </a:prstGeom>
          <a:solidFill>
            <a:schemeClr val="bg1">
              <a:lumMod val="8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200" normalizeH="0" baseline="0" noProof="0">
                <a:ln>
                  <a:noFill/>
                </a:ln>
                <a:solidFill>
                  <a:srgbClr val="000000"/>
                </a:solidFill>
                <a:effectLst/>
                <a:uLnTx/>
                <a:uFillTx/>
                <a:latin typeface="Scotia"/>
                <a:ea typeface="+mn-ea"/>
                <a:cs typeface="+mn-cs"/>
              </a:rPr>
              <a:t>PROCESS</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Established Wealth Management Consultants (WMCs) </a:t>
            </a:r>
            <a:r>
              <a:rPr kumimoji="0" lang="en-US" sz="1000" b="0" i="0" u="none" strike="noStrike" kern="1200" cap="none" spc="0" normalizeH="0" baseline="0" noProof="0">
                <a:ln>
                  <a:noFill/>
                </a:ln>
                <a:solidFill>
                  <a:srgbClr val="000000"/>
                </a:solidFill>
                <a:effectLst/>
                <a:uLnTx/>
                <a:uFillTx/>
                <a:latin typeface="Scotia"/>
                <a:ea typeface="+mn-ea"/>
                <a:cs typeface="+mn-cs"/>
              </a:rPr>
              <a:t>to serve Retail, Small Bus. &amp; Comm. clients</a:t>
            </a:r>
          </a:p>
        </p:txBody>
      </p:sp>
      <p:cxnSp>
        <p:nvCxnSpPr>
          <p:cNvPr id="15" name="Straight Connector 14">
            <a:extLst>
              <a:ext uri="{FF2B5EF4-FFF2-40B4-BE49-F238E27FC236}">
                <a16:creationId xmlns:a16="http://schemas.microsoft.com/office/drawing/2014/main" id="{CFB0C9BA-AD3D-D317-E5ED-C63C5BFFC811}"/>
              </a:ext>
            </a:extLst>
          </p:cNvPr>
          <p:cNvCxnSpPr>
            <a:cxnSpLocks/>
          </p:cNvCxnSpPr>
          <p:nvPr/>
        </p:nvCxnSpPr>
        <p:spPr>
          <a:xfrm>
            <a:off x="835025" y="3263042"/>
            <a:ext cx="1588" cy="261216"/>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Rectangle: Rounded Corners 15">
            <a:extLst>
              <a:ext uri="{FF2B5EF4-FFF2-40B4-BE49-F238E27FC236}">
                <a16:creationId xmlns:a16="http://schemas.microsoft.com/office/drawing/2014/main" id="{5E2012B2-CD4E-1BF2-B4DC-6D0FC6B763F5}"/>
              </a:ext>
            </a:extLst>
          </p:cNvPr>
          <p:cNvSpPr/>
          <p:nvPr/>
        </p:nvSpPr>
        <p:spPr>
          <a:xfrm>
            <a:off x="547818" y="3900497"/>
            <a:ext cx="1554480" cy="130175"/>
          </a:xfrm>
          <a:prstGeom prst="roundRect">
            <a:avLst>
              <a:gd name="adj" fmla="val 50000"/>
            </a:avLst>
          </a:prstGeom>
          <a:pattFill prst="ltDnDiag">
            <a:fgClr>
              <a:schemeClr val="bg1">
                <a:lumMod val="75000"/>
              </a:schemeClr>
            </a:fgClr>
            <a:bgClr>
              <a:schemeClr val="bg1">
                <a:lumMod val="8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a:ea typeface="+mn-ea"/>
              <a:cs typeface="+mn-cs"/>
            </a:endParaRPr>
          </a:p>
        </p:txBody>
      </p:sp>
      <p:sp>
        <p:nvSpPr>
          <p:cNvPr id="18" name="Oval 17">
            <a:extLst>
              <a:ext uri="{FF2B5EF4-FFF2-40B4-BE49-F238E27FC236}">
                <a16:creationId xmlns:a16="http://schemas.microsoft.com/office/drawing/2014/main" id="{DC37FA61-C3B1-2C5C-D529-5C999506508F}"/>
              </a:ext>
            </a:extLst>
          </p:cNvPr>
          <p:cNvSpPr/>
          <p:nvPr/>
        </p:nvSpPr>
        <p:spPr>
          <a:xfrm>
            <a:off x="2152781" y="3893584"/>
            <a:ext cx="144000" cy="144000"/>
          </a:xfrm>
          <a:prstGeom prst="ellipse">
            <a:avLst/>
          </a:prstGeom>
          <a:solidFill>
            <a:schemeClr val="bg1"/>
          </a:solidFill>
          <a:ln w="158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Light"/>
              <a:ea typeface="+mn-ea"/>
              <a:cs typeface="+mn-cs"/>
            </a:endParaRPr>
          </a:p>
        </p:txBody>
      </p:sp>
      <p:cxnSp>
        <p:nvCxnSpPr>
          <p:cNvPr id="20" name="Straight Connector 19">
            <a:extLst>
              <a:ext uri="{FF2B5EF4-FFF2-40B4-BE49-F238E27FC236}">
                <a16:creationId xmlns:a16="http://schemas.microsoft.com/office/drawing/2014/main" id="{01B9F578-DEE1-0BC7-B5FB-5A484E1D8C7A}"/>
              </a:ext>
            </a:extLst>
          </p:cNvPr>
          <p:cNvCxnSpPr>
            <a:cxnSpLocks/>
          </p:cNvCxnSpPr>
          <p:nvPr/>
        </p:nvCxnSpPr>
        <p:spPr>
          <a:xfrm>
            <a:off x="2223987" y="4356682"/>
            <a:ext cx="1588" cy="261818"/>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Rectangle: Rounded Corners 18">
            <a:extLst>
              <a:ext uri="{FF2B5EF4-FFF2-40B4-BE49-F238E27FC236}">
                <a16:creationId xmlns:a16="http://schemas.microsoft.com/office/drawing/2014/main" id="{BC7412D2-C944-A592-45E5-A1DC8D1CF13E}"/>
              </a:ext>
            </a:extLst>
          </p:cNvPr>
          <p:cNvSpPr/>
          <p:nvPr/>
        </p:nvSpPr>
        <p:spPr>
          <a:xfrm>
            <a:off x="699052" y="4736946"/>
            <a:ext cx="1877338" cy="978919"/>
          </a:xfrm>
          <a:prstGeom prst="roundRect">
            <a:avLst>
              <a:gd name="adj" fmla="val 0"/>
            </a:avLst>
          </a:prstGeom>
          <a:solidFill>
            <a:schemeClr val="bg1">
              <a:lumMod val="8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900" b="0" i="0" u="none" strike="noStrike" kern="1200" cap="none" spc="200" normalizeH="0" baseline="0" noProof="0">
                <a:ln>
                  <a:noFill/>
                </a:ln>
                <a:solidFill>
                  <a:srgbClr val="000000"/>
                </a:solidFill>
                <a:effectLst/>
                <a:uLnTx/>
                <a:uFillTx/>
                <a:latin typeface="Scotia"/>
                <a:ea typeface="+mn-ea"/>
                <a:cs typeface="+mn-cs"/>
              </a:rPr>
              <a:t>PROCESS</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Removed Commercial responsibility from WMCs </a:t>
            </a:r>
            <a:r>
              <a:rPr kumimoji="0" lang="en-US" sz="1000" b="0" i="0" u="none" strike="noStrike" kern="1200" cap="none" spc="0" normalizeH="0" baseline="0" noProof="0">
                <a:ln>
                  <a:noFill/>
                </a:ln>
                <a:solidFill>
                  <a:srgbClr val="000000"/>
                </a:solidFill>
                <a:effectLst/>
                <a:uLnTx/>
                <a:uFillTx/>
                <a:latin typeface="Scotia"/>
                <a:ea typeface="+mn-ea"/>
                <a:cs typeface="+mn-cs"/>
              </a:rPr>
              <a:t>– RM and Advisor to drive client relationships directly</a:t>
            </a:r>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21" name="Rectangle: Rounded Corners 20">
            <a:extLst>
              <a:ext uri="{FF2B5EF4-FFF2-40B4-BE49-F238E27FC236}">
                <a16:creationId xmlns:a16="http://schemas.microsoft.com/office/drawing/2014/main" id="{D57BBFE7-6914-81A4-6EEB-B77265D009E3}"/>
              </a:ext>
            </a:extLst>
          </p:cNvPr>
          <p:cNvSpPr/>
          <p:nvPr/>
        </p:nvSpPr>
        <p:spPr>
          <a:xfrm>
            <a:off x="2726053" y="2205397"/>
            <a:ext cx="1877338" cy="940290"/>
          </a:xfrm>
          <a:prstGeom prst="roundRect">
            <a:avLst>
              <a:gd name="adj" fmla="val 0"/>
            </a:avLst>
          </a:prstGeom>
          <a:solidFill>
            <a:schemeClr val="bg1">
              <a:lumMod val="5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100" normalizeH="0" baseline="0" noProof="0">
                <a:ln>
                  <a:noFill/>
                </a:ln>
                <a:solidFill>
                  <a:srgbClr val="FFFFFF"/>
                </a:solidFill>
                <a:effectLst/>
                <a:uLnTx/>
                <a:uFillTx/>
                <a:latin typeface="Scotia"/>
                <a:ea typeface="+mn-ea"/>
                <a:cs typeface="+mn-cs"/>
              </a:rPr>
              <a:t>PEOPLE &amp; CULTURE</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Scotia"/>
                <a:ea typeface="+mn-ea"/>
                <a:cs typeface="+mn-cs"/>
              </a:rPr>
              <a:t>Created regional “pods” </a:t>
            </a:r>
            <a:r>
              <a:rPr kumimoji="0" lang="en-US" sz="1000" b="0" i="0" u="none" strike="noStrike" kern="1200" cap="none" spc="0" normalizeH="0" baseline="0" noProof="0">
                <a:ln>
                  <a:noFill/>
                </a:ln>
                <a:solidFill>
                  <a:srgbClr val="FFFFFF"/>
                </a:solidFill>
                <a:effectLst/>
                <a:uLnTx/>
                <a:uFillTx/>
                <a:latin typeface="Scotia"/>
                <a:ea typeface="+mn-ea"/>
                <a:cs typeface="+mn-cs"/>
              </a:rPr>
              <a:t>to enhance relationship building and collaboration; ended in 2020 due to pandemic</a:t>
            </a:r>
          </a:p>
        </p:txBody>
      </p:sp>
      <p:cxnSp>
        <p:nvCxnSpPr>
          <p:cNvPr id="22" name="Straight Connector 21">
            <a:extLst>
              <a:ext uri="{FF2B5EF4-FFF2-40B4-BE49-F238E27FC236}">
                <a16:creationId xmlns:a16="http://schemas.microsoft.com/office/drawing/2014/main" id="{55FFB942-5906-6C4E-177B-34AAC9BEFEB9}"/>
              </a:ext>
            </a:extLst>
          </p:cNvPr>
          <p:cNvCxnSpPr>
            <a:cxnSpLocks/>
          </p:cNvCxnSpPr>
          <p:nvPr/>
        </p:nvCxnSpPr>
        <p:spPr>
          <a:xfrm>
            <a:off x="3653295" y="3240531"/>
            <a:ext cx="1588" cy="261216"/>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83E3E9F5-735D-4614-24DE-6F5B2E5DBF8D}"/>
              </a:ext>
            </a:extLst>
          </p:cNvPr>
          <p:cNvSpPr/>
          <p:nvPr/>
        </p:nvSpPr>
        <p:spPr>
          <a:xfrm>
            <a:off x="5869938" y="3893584"/>
            <a:ext cx="144000" cy="144000"/>
          </a:xfrm>
          <a:prstGeom prst="ellipse">
            <a:avLst/>
          </a:prstGeom>
          <a:solidFill>
            <a:schemeClr val="bg1"/>
          </a:solidFill>
          <a:ln w="158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Light"/>
              <a:ea typeface="+mn-ea"/>
              <a:cs typeface="+mn-cs"/>
            </a:endParaRPr>
          </a:p>
        </p:txBody>
      </p:sp>
      <p:cxnSp>
        <p:nvCxnSpPr>
          <p:cNvPr id="25" name="Straight Connector 24">
            <a:extLst>
              <a:ext uri="{FF2B5EF4-FFF2-40B4-BE49-F238E27FC236}">
                <a16:creationId xmlns:a16="http://schemas.microsoft.com/office/drawing/2014/main" id="{7A287AF2-3A88-B6E9-7BE0-81E59F25CDA1}"/>
              </a:ext>
            </a:extLst>
          </p:cNvPr>
          <p:cNvCxnSpPr>
            <a:cxnSpLocks/>
          </p:cNvCxnSpPr>
          <p:nvPr/>
        </p:nvCxnSpPr>
        <p:spPr>
          <a:xfrm>
            <a:off x="5943918" y="4356682"/>
            <a:ext cx="1588" cy="261818"/>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Rectangle: Rounded Corners 23">
            <a:extLst>
              <a:ext uri="{FF2B5EF4-FFF2-40B4-BE49-F238E27FC236}">
                <a16:creationId xmlns:a16="http://schemas.microsoft.com/office/drawing/2014/main" id="{87E0C457-EB5F-A454-F58C-C6D7A2448D5A}"/>
              </a:ext>
            </a:extLst>
          </p:cNvPr>
          <p:cNvSpPr/>
          <p:nvPr/>
        </p:nvSpPr>
        <p:spPr>
          <a:xfrm>
            <a:off x="5026515" y="4736946"/>
            <a:ext cx="1877338" cy="938694"/>
          </a:xfrm>
          <a:prstGeom prst="roundRect">
            <a:avLst>
              <a:gd name="adj" fmla="val 0"/>
            </a:avLst>
          </a:prstGeom>
          <a:solidFill>
            <a:schemeClr val="bg1">
              <a:lumMod val="9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100" normalizeH="0" baseline="0" noProof="0">
                <a:ln>
                  <a:noFill/>
                </a:ln>
                <a:solidFill>
                  <a:srgbClr val="000000"/>
                </a:solidFill>
                <a:effectLst/>
                <a:uLnTx/>
                <a:uFillTx/>
                <a:latin typeface="Scotia"/>
                <a:ea typeface="+mn-ea"/>
                <a:cs typeface="+mn-cs"/>
              </a:rPr>
              <a:t>TECH &amp; DATA</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Began </a:t>
            </a:r>
            <a:r>
              <a:rPr kumimoji="0" lang="en-US" sz="1000" b="1" i="0" u="none" strike="noStrike" kern="1200" cap="none" spc="0" normalizeH="0" baseline="0" noProof="0">
                <a:ln>
                  <a:noFill/>
                </a:ln>
                <a:solidFill>
                  <a:srgbClr val="000000"/>
                </a:solidFill>
                <a:effectLst/>
                <a:uLnTx/>
                <a:uFillTx/>
                <a:latin typeface="Scotia"/>
                <a:ea typeface="+mn-ea"/>
                <a:cs typeface="+mn-cs"/>
              </a:rPr>
              <a:t>tracking and reporting referrals at client level</a:t>
            </a:r>
            <a:r>
              <a:rPr kumimoji="0" lang="en-US" sz="1000" b="0" i="0" u="none" strike="noStrike" kern="1200" cap="none" spc="0" normalizeH="0" baseline="0" noProof="0">
                <a:ln>
                  <a:noFill/>
                </a:ln>
                <a:solidFill>
                  <a:srgbClr val="000000"/>
                </a:solidFill>
                <a:effectLst/>
                <a:uLnTx/>
                <a:uFillTx/>
                <a:latin typeface="Scotia"/>
                <a:ea typeface="+mn-ea"/>
                <a:cs typeface="+mn-cs"/>
              </a:rPr>
              <a:t>, in addition to product level</a:t>
            </a:r>
          </a:p>
        </p:txBody>
      </p:sp>
      <p:sp>
        <p:nvSpPr>
          <p:cNvPr id="27" name="Rectangle: Rounded Corners 26">
            <a:extLst>
              <a:ext uri="{FF2B5EF4-FFF2-40B4-BE49-F238E27FC236}">
                <a16:creationId xmlns:a16="http://schemas.microsoft.com/office/drawing/2014/main" id="{B9BB3508-44F9-548D-6A6B-947BE2F7068D}"/>
              </a:ext>
            </a:extLst>
          </p:cNvPr>
          <p:cNvSpPr/>
          <p:nvPr/>
        </p:nvSpPr>
        <p:spPr>
          <a:xfrm>
            <a:off x="5026515" y="2205397"/>
            <a:ext cx="1877338" cy="939600"/>
          </a:xfrm>
          <a:prstGeom prst="roundRect">
            <a:avLst>
              <a:gd name="adj" fmla="val 0"/>
            </a:avLst>
          </a:prstGeom>
          <a:solidFill>
            <a:schemeClr val="bg1">
              <a:lumMod val="9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100" normalizeH="0" baseline="0" noProof="0">
                <a:ln>
                  <a:noFill/>
                </a:ln>
                <a:solidFill>
                  <a:srgbClr val="000000"/>
                </a:solidFill>
                <a:effectLst/>
                <a:uLnTx/>
                <a:uFillTx/>
                <a:latin typeface="Scotia"/>
                <a:ea typeface="+mn-ea"/>
                <a:cs typeface="+mn-cs"/>
              </a:rPr>
              <a:t>TECH &amp; DATA</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Built feedback loop (connector) </a:t>
            </a:r>
            <a:r>
              <a:rPr kumimoji="0" lang="en-US" sz="1000" b="0" i="0" u="none" strike="noStrike" kern="1200" cap="none" spc="0" normalizeH="0" baseline="0" noProof="0">
                <a:ln>
                  <a:noFill/>
                </a:ln>
                <a:solidFill>
                  <a:srgbClr val="000000"/>
                </a:solidFill>
                <a:effectLst/>
                <a:uLnTx/>
                <a:uFillTx/>
                <a:latin typeface="Scotia"/>
                <a:ea typeface="+mn-ea"/>
                <a:cs typeface="+mn-cs"/>
              </a:rPr>
              <a:t>between Wealth and Commercial Salesforce platforms</a:t>
            </a:r>
          </a:p>
        </p:txBody>
      </p:sp>
      <p:sp>
        <p:nvSpPr>
          <p:cNvPr id="29" name="Rectangle: Rounded Corners 28">
            <a:extLst>
              <a:ext uri="{FF2B5EF4-FFF2-40B4-BE49-F238E27FC236}">
                <a16:creationId xmlns:a16="http://schemas.microsoft.com/office/drawing/2014/main" id="{AA53B7A8-729C-44CB-890C-065FCBFD6859}"/>
              </a:ext>
            </a:extLst>
          </p:cNvPr>
          <p:cNvSpPr/>
          <p:nvPr/>
        </p:nvSpPr>
        <p:spPr>
          <a:xfrm>
            <a:off x="7787305" y="4736946"/>
            <a:ext cx="1877338" cy="938694"/>
          </a:xfrm>
          <a:prstGeom prst="roundRect">
            <a:avLst>
              <a:gd name="adj" fmla="val 0"/>
            </a:avLst>
          </a:prstGeom>
          <a:solidFill>
            <a:schemeClr val="bg1">
              <a:lumMod val="8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900" b="0" i="0" u="none" strike="noStrike" kern="1200" cap="none" spc="200" normalizeH="0" baseline="0" noProof="0">
                <a:ln>
                  <a:noFill/>
                </a:ln>
                <a:solidFill>
                  <a:srgbClr val="000000"/>
                </a:solidFill>
                <a:effectLst/>
                <a:uLnTx/>
                <a:uFillTx/>
                <a:latin typeface="Scotia"/>
                <a:ea typeface="+mn-ea"/>
                <a:cs typeface="+mn-cs"/>
              </a:rPr>
              <a:t>PROCESS</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Established scorecard neutralization </a:t>
            </a:r>
            <a:r>
              <a:rPr kumimoji="0" lang="en-US" sz="1000" b="0" i="0" u="none" strike="noStrike" kern="1200" cap="none" spc="0" normalizeH="0" baseline="0" noProof="0">
                <a:ln>
                  <a:noFill/>
                </a:ln>
                <a:solidFill>
                  <a:srgbClr val="000000"/>
                </a:solidFill>
                <a:effectLst/>
                <a:uLnTx/>
                <a:uFillTx/>
                <a:latin typeface="Scotia"/>
                <a:ea typeface="+mn-ea"/>
                <a:cs typeface="+mn-cs"/>
              </a:rPr>
              <a:t>to eliminate negative incentives for referring business</a:t>
            </a:r>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30" name="Oval 29">
            <a:extLst>
              <a:ext uri="{FF2B5EF4-FFF2-40B4-BE49-F238E27FC236}">
                <a16:creationId xmlns:a16="http://schemas.microsoft.com/office/drawing/2014/main" id="{5D020CC3-5699-13F3-B1C6-11FFE36276C5}"/>
              </a:ext>
            </a:extLst>
          </p:cNvPr>
          <p:cNvSpPr/>
          <p:nvPr/>
        </p:nvSpPr>
        <p:spPr>
          <a:xfrm>
            <a:off x="7953018" y="3893584"/>
            <a:ext cx="144000" cy="144000"/>
          </a:xfrm>
          <a:prstGeom prst="ellipse">
            <a:avLst/>
          </a:prstGeom>
          <a:solidFill>
            <a:schemeClr val="bg1"/>
          </a:solidFill>
          <a:ln w="158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Light"/>
              <a:ea typeface="+mn-ea"/>
              <a:cs typeface="+mn-cs"/>
            </a:endParaRPr>
          </a:p>
        </p:txBody>
      </p:sp>
      <p:sp>
        <p:nvSpPr>
          <p:cNvPr id="35" name="TextBox 34">
            <a:extLst>
              <a:ext uri="{FF2B5EF4-FFF2-40B4-BE49-F238E27FC236}">
                <a16:creationId xmlns:a16="http://schemas.microsoft.com/office/drawing/2014/main" id="{4A24338F-9DB9-2DF0-EB4F-9797445F5C6A}"/>
              </a:ext>
            </a:extLst>
          </p:cNvPr>
          <p:cNvSpPr txBox="1"/>
          <p:nvPr>
            <p:custDataLst>
              <p:tags r:id="rId2"/>
            </p:custDataLst>
          </p:nvPr>
        </p:nvSpPr>
        <p:spPr>
          <a:xfrm>
            <a:off x="524904" y="1548432"/>
            <a:ext cx="6372000" cy="438582"/>
          </a:xfrm>
          <a:prstGeom prst="rect">
            <a:avLst/>
          </a:prstGeom>
          <a:noFill/>
        </p:spPr>
        <p:txBody>
          <a:bodyPr wrap="square" lIns="0" rIns="0" rtlCol="0">
            <a:spAutoFit/>
          </a:bodyPr>
          <a:lstStyle/>
          <a:p>
            <a:pPr marL="0" marR="0" lvl="0" indent="0" algn="l" defTabSz="914411" rtl="0" eaLnBrk="1" fontAlgn="auto" latinLnBrk="0" hangingPunct="1">
              <a:lnSpc>
                <a:spcPct val="100000"/>
              </a:lnSpc>
              <a:spcBef>
                <a:spcPts val="0"/>
              </a:spcBef>
              <a:spcAft>
                <a:spcPts val="0"/>
              </a:spcAft>
              <a:buClr>
                <a:srgbClr val="000000"/>
              </a:buClr>
              <a:buSzTx/>
              <a:buFont typeface="Arial" panose="020B0604020202020204" pitchFamily="34" charset="0"/>
              <a:buNone/>
              <a:tabLst/>
              <a:defRPr/>
            </a:pPr>
            <a:r>
              <a:rPr kumimoji="0" lang="en-US" sz="1000" b="0" i="0" u="none" strike="noStrike" kern="1200" cap="none" spc="300" normalizeH="0" baseline="0" noProof="0">
                <a:ln>
                  <a:noFill/>
                </a:ln>
                <a:solidFill>
                  <a:srgbClr val="000000"/>
                </a:solidFill>
                <a:effectLst/>
                <a:uLnTx/>
                <a:uFillTx/>
                <a:latin typeface="Scotia"/>
                <a:ea typeface="+mn-ea"/>
                <a:cs typeface="+mn-cs"/>
              </a:rPr>
              <a:t>KEY HIGHLIGHTS ACROSS COMMERCIAL AND WEALTH PARTNERSHIP</a:t>
            </a:r>
            <a:endParaRPr kumimoji="0" lang="en-US" sz="700" b="0" i="0" u="none" strike="noStrike" kern="1200" cap="none" spc="300" normalizeH="0" baseline="0" noProof="0">
              <a:ln>
                <a:noFill/>
              </a:ln>
              <a:solidFill>
                <a:srgbClr val="000000"/>
              </a:solidFill>
              <a:effectLst/>
              <a:uLnTx/>
              <a:uFillTx/>
              <a:latin typeface="Scotia"/>
              <a:ea typeface="+mn-ea"/>
              <a:cs typeface="+mn-cs"/>
            </a:endParaRPr>
          </a:p>
          <a:p>
            <a:pPr marL="0" marR="0" lvl="0" indent="0" algn="l" defTabSz="914411" rtl="0" eaLnBrk="1" fontAlgn="auto" latinLnBrk="0" hangingPunct="1">
              <a:lnSpc>
                <a:spcPct val="100000"/>
              </a:lnSpc>
              <a:spcBef>
                <a:spcPts val="300"/>
              </a:spcBef>
              <a:spcAft>
                <a:spcPts val="0"/>
              </a:spcAft>
              <a:buClr>
                <a:srgbClr val="000000"/>
              </a:buClr>
              <a:buSzTx/>
              <a:buFont typeface="Arial" panose="020B0604020202020204" pitchFamily="34" charset="0"/>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F16 – F25</a:t>
            </a:r>
          </a:p>
        </p:txBody>
      </p:sp>
      <p:sp>
        <p:nvSpPr>
          <p:cNvPr id="36" name="Rectangle: Rounded Corners 35">
            <a:extLst>
              <a:ext uri="{FF2B5EF4-FFF2-40B4-BE49-F238E27FC236}">
                <a16:creationId xmlns:a16="http://schemas.microsoft.com/office/drawing/2014/main" id="{0CA50C0A-45F7-3A21-5AAE-0532AA350F2F}"/>
              </a:ext>
            </a:extLst>
          </p:cNvPr>
          <p:cNvSpPr/>
          <p:nvPr/>
        </p:nvSpPr>
        <p:spPr>
          <a:xfrm>
            <a:off x="9054148" y="3879652"/>
            <a:ext cx="2396636" cy="171865"/>
          </a:xfrm>
          <a:prstGeom prst="roundRect">
            <a:avLst>
              <a:gd name="adj" fmla="val 50000"/>
            </a:avLst>
          </a:prstGeom>
          <a:pattFill prst="ltDnDiag">
            <a:fgClr>
              <a:schemeClr val="bg1">
                <a:lumMod val="75000"/>
              </a:schemeClr>
            </a:fgClr>
            <a:bgClr>
              <a:schemeClr val="bg1">
                <a:lumMod val="8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a:ea typeface="+mn-ea"/>
              <a:cs typeface="+mn-cs"/>
            </a:endParaRPr>
          </a:p>
        </p:txBody>
      </p:sp>
      <p:sp>
        <p:nvSpPr>
          <p:cNvPr id="37" name="Rectangle: Rounded Corners 36">
            <a:extLst>
              <a:ext uri="{FF2B5EF4-FFF2-40B4-BE49-F238E27FC236}">
                <a16:creationId xmlns:a16="http://schemas.microsoft.com/office/drawing/2014/main" id="{1782F957-B4F3-8DD0-1605-2152B555F0BC}"/>
              </a:ext>
            </a:extLst>
          </p:cNvPr>
          <p:cNvSpPr/>
          <p:nvPr/>
        </p:nvSpPr>
        <p:spPr>
          <a:xfrm>
            <a:off x="8461766" y="2205397"/>
            <a:ext cx="1877338" cy="939599"/>
          </a:xfrm>
          <a:prstGeom prst="roundRect">
            <a:avLst>
              <a:gd name="adj" fmla="val 0"/>
            </a:avLst>
          </a:prstGeom>
          <a:solidFill>
            <a:schemeClr val="bg1">
              <a:lumMod val="8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200" normalizeH="0" baseline="0" noProof="0">
                <a:ln>
                  <a:noFill/>
                </a:ln>
                <a:solidFill>
                  <a:srgbClr val="000000"/>
                </a:solidFill>
                <a:effectLst/>
                <a:uLnTx/>
                <a:uFillTx/>
                <a:latin typeface="Scotia"/>
                <a:ea typeface="+mn-ea"/>
                <a:cs typeface="+mn-cs"/>
              </a:rPr>
              <a:t>PROCESS</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Launched bonus incentive program </a:t>
            </a:r>
            <a:r>
              <a:rPr kumimoji="0" lang="en-US" sz="1000" b="0" i="0" u="none" strike="noStrike" kern="1200" cap="none" spc="0" normalizeH="0" baseline="0" noProof="0">
                <a:ln>
                  <a:noFill/>
                </a:ln>
                <a:solidFill>
                  <a:srgbClr val="000000"/>
                </a:solidFill>
                <a:effectLst/>
                <a:uLnTx/>
                <a:uFillTx/>
                <a:latin typeface="Scotia"/>
                <a:ea typeface="+mn-ea"/>
                <a:cs typeface="+mn-cs"/>
              </a:rPr>
              <a:t>(Partner to Win) for Commercial RMs to drive Wealth referrals</a:t>
            </a:r>
          </a:p>
        </p:txBody>
      </p:sp>
      <p:cxnSp>
        <p:nvCxnSpPr>
          <p:cNvPr id="39" name="Straight Connector 38">
            <a:extLst>
              <a:ext uri="{FF2B5EF4-FFF2-40B4-BE49-F238E27FC236}">
                <a16:creationId xmlns:a16="http://schemas.microsoft.com/office/drawing/2014/main" id="{E0E1EBF5-BD97-4B9C-8243-AC07CF921984}"/>
              </a:ext>
            </a:extLst>
          </p:cNvPr>
          <p:cNvCxnSpPr>
            <a:cxnSpLocks/>
          </p:cNvCxnSpPr>
          <p:nvPr/>
        </p:nvCxnSpPr>
        <p:spPr>
          <a:xfrm>
            <a:off x="9360058" y="3262266"/>
            <a:ext cx="1588" cy="261818"/>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45AFFC8C-00B0-A199-E339-A9C1B690A4CD}"/>
              </a:ext>
            </a:extLst>
          </p:cNvPr>
          <p:cNvSpPr/>
          <p:nvPr/>
        </p:nvSpPr>
        <p:spPr>
          <a:xfrm>
            <a:off x="9798050" y="4736946"/>
            <a:ext cx="1878013" cy="938213"/>
          </a:xfrm>
          <a:prstGeom prst="rect">
            <a:avLst/>
          </a:prstGeom>
          <a:solidFill>
            <a:srgbClr val="EC111A"/>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lstStyle/>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900" b="0" i="0" u="none" strike="noStrike" kern="1200" cap="none" spc="200" normalizeH="0" baseline="0" noProof="0">
                <a:ln>
                  <a:noFill/>
                </a:ln>
                <a:solidFill>
                  <a:srgbClr val="FFFFFF"/>
                </a:solidFill>
                <a:effectLst/>
                <a:uLnTx/>
                <a:uFillTx/>
                <a:latin typeface="Scotia"/>
                <a:ea typeface="+mn-ea"/>
                <a:cs typeface="+mn-cs"/>
              </a:rPr>
              <a:t>PROCESS</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0" i="0" u="none" strike="noStrike" kern="1200" cap="none" spc="0" normalizeH="0" baseline="0" noProof="0">
                <a:ln>
                  <a:noFill/>
                </a:ln>
                <a:solidFill>
                  <a:srgbClr val="FFFFFF"/>
                </a:solidFill>
                <a:effectLst/>
                <a:uLnTx/>
                <a:uFillTx/>
                <a:latin typeface="Scotia"/>
                <a:ea typeface="+mn-ea"/>
                <a:cs typeface="+mn-cs"/>
              </a:rPr>
              <a:t>Hired 5 </a:t>
            </a:r>
            <a:r>
              <a:rPr kumimoji="0" lang="en-US" sz="1000" b="1" i="0" u="none" strike="noStrike" kern="1200" cap="none" spc="0" normalizeH="0" baseline="0" noProof="0">
                <a:ln>
                  <a:noFill/>
                </a:ln>
                <a:solidFill>
                  <a:srgbClr val="FFFFFF"/>
                </a:solidFill>
                <a:effectLst/>
                <a:uLnTx/>
                <a:uFillTx/>
                <a:latin typeface="Scotia"/>
                <a:ea typeface="+mn-ea"/>
                <a:cs typeface="+mn-cs"/>
              </a:rPr>
              <a:t>Regional Managers </a:t>
            </a:r>
            <a:r>
              <a:rPr kumimoji="0" lang="en-US" sz="1000" b="0" i="0" u="none" strike="noStrike" kern="1200" cap="none" spc="0" normalizeH="0" baseline="0" noProof="0">
                <a:ln>
                  <a:noFill/>
                </a:ln>
                <a:solidFill>
                  <a:srgbClr val="FFFFFF"/>
                </a:solidFill>
                <a:effectLst/>
                <a:uLnTx/>
                <a:uFillTx/>
                <a:latin typeface="Scotia"/>
                <a:ea typeface="+mn-ea"/>
                <a:cs typeface="+mn-cs"/>
              </a:rPr>
              <a:t>to champion referrals and be the liaison between Wealth and Commercial Business</a:t>
            </a: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cxnSp>
        <p:nvCxnSpPr>
          <p:cNvPr id="45" name="Straight Connector 44">
            <a:extLst>
              <a:ext uri="{FF2B5EF4-FFF2-40B4-BE49-F238E27FC236}">
                <a16:creationId xmlns:a16="http://schemas.microsoft.com/office/drawing/2014/main" id="{D784C96A-4891-38FA-690D-DAE896254441}"/>
              </a:ext>
            </a:extLst>
          </p:cNvPr>
          <p:cNvCxnSpPr>
            <a:cxnSpLocks/>
          </p:cNvCxnSpPr>
          <p:nvPr/>
        </p:nvCxnSpPr>
        <p:spPr>
          <a:xfrm>
            <a:off x="10736039" y="4356682"/>
            <a:ext cx="1588" cy="261818"/>
          </a:xfrm>
          <a:prstGeom prst="line">
            <a:avLst/>
          </a:prstGeom>
          <a:ln w="19050" cap="rnd">
            <a:solidFill>
              <a:srgbClr val="EC111A"/>
            </a:solidFill>
            <a:prstDash val="sysDot"/>
          </a:ln>
        </p:spPr>
        <p:style>
          <a:lnRef idx="1">
            <a:schemeClr val="accent1"/>
          </a:lnRef>
          <a:fillRef idx="0">
            <a:schemeClr val="accent1"/>
          </a:fillRef>
          <a:effectRef idx="0">
            <a:schemeClr val="accent1"/>
          </a:effectRef>
          <a:fontRef idx="minor">
            <a:schemeClr val="tx1"/>
          </a:fontRef>
        </p:style>
      </p:cxnSp>
      <p:sp>
        <p:nvSpPr>
          <p:cNvPr id="46" name="Rectangle: Rounded Corners 45">
            <a:extLst>
              <a:ext uri="{FF2B5EF4-FFF2-40B4-BE49-F238E27FC236}">
                <a16:creationId xmlns:a16="http://schemas.microsoft.com/office/drawing/2014/main" id="{973B2341-5A9A-EE93-4183-A17ABCF21C10}"/>
              </a:ext>
            </a:extLst>
          </p:cNvPr>
          <p:cNvSpPr/>
          <p:nvPr/>
        </p:nvSpPr>
        <p:spPr>
          <a:xfrm>
            <a:off x="10014832" y="3900497"/>
            <a:ext cx="914400" cy="130175"/>
          </a:xfrm>
          <a:prstGeom prst="roundRect">
            <a:avLst>
              <a:gd name="adj" fmla="val 50000"/>
            </a:avLst>
          </a:prstGeom>
          <a:pattFill prst="ltDnDiag">
            <a:fgClr>
              <a:srgbClr val="EC111A"/>
            </a:fgClr>
            <a:bgClr>
              <a:schemeClr val="accent1">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a:ea typeface="+mn-ea"/>
              <a:cs typeface="+mn-cs"/>
            </a:endParaRPr>
          </a:p>
        </p:txBody>
      </p:sp>
      <p:cxnSp>
        <p:nvCxnSpPr>
          <p:cNvPr id="8" name="Straight Connector 7">
            <a:extLst>
              <a:ext uri="{FF2B5EF4-FFF2-40B4-BE49-F238E27FC236}">
                <a16:creationId xmlns:a16="http://schemas.microsoft.com/office/drawing/2014/main" id="{7A6B1519-16BB-D05C-05D5-4D1BC4523057}"/>
              </a:ext>
            </a:extLst>
          </p:cNvPr>
          <p:cNvCxnSpPr>
            <a:cxnSpLocks/>
          </p:cNvCxnSpPr>
          <p:nvPr/>
        </p:nvCxnSpPr>
        <p:spPr>
          <a:xfrm>
            <a:off x="5943918" y="3393175"/>
            <a:ext cx="1588" cy="261216"/>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98A83B3-A1F0-AA32-260F-EFD0A192DB02}"/>
              </a:ext>
            </a:extLst>
          </p:cNvPr>
          <p:cNvCxnSpPr>
            <a:cxnSpLocks/>
          </p:cNvCxnSpPr>
          <p:nvPr/>
        </p:nvCxnSpPr>
        <p:spPr>
          <a:xfrm>
            <a:off x="8735813" y="4356682"/>
            <a:ext cx="1588" cy="261818"/>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96FE6FA0-087E-F225-0BB3-9C5FDBA1F93F}"/>
              </a:ext>
            </a:extLst>
          </p:cNvPr>
          <p:cNvSpPr/>
          <p:nvPr/>
        </p:nvSpPr>
        <p:spPr>
          <a:xfrm>
            <a:off x="4196451" y="3896007"/>
            <a:ext cx="1645920" cy="123592"/>
          </a:xfrm>
          <a:prstGeom prst="roundRect">
            <a:avLst>
              <a:gd name="adj" fmla="val 50000"/>
            </a:avLst>
          </a:prstGeom>
          <a:pattFill prst="ltDnDiag">
            <a:fgClr>
              <a:schemeClr val="tx1">
                <a:lumMod val="65000"/>
                <a:lumOff val="35000"/>
              </a:schemeClr>
            </a:fgClr>
            <a:bgClr>
              <a:schemeClr val="bg1">
                <a:lumMod val="6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FFFFFF"/>
              </a:solidFill>
              <a:effectLst/>
              <a:uLnTx/>
              <a:uFillTx/>
              <a:latin typeface="Scotia"/>
              <a:ea typeface="+mn-ea"/>
              <a:cs typeface="+mn-cs"/>
            </a:endParaRPr>
          </a:p>
        </p:txBody>
      </p:sp>
      <p:cxnSp>
        <p:nvCxnSpPr>
          <p:cNvPr id="26" name="Straight Connector 25">
            <a:extLst>
              <a:ext uri="{FF2B5EF4-FFF2-40B4-BE49-F238E27FC236}">
                <a16:creationId xmlns:a16="http://schemas.microsoft.com/office/drawing/2014/main" id="{9AAEA9F9-7D89-6DAE-248F-D8331A1A736C}"/>
              </a:ext>
            </a:extLst>
          </p:cNvPr>
          <p:cNvCxnSpPr>
            <a:cxnSpLocks/>
          </p:cNvCxnSpPr>
          <p:nvPr/>
        </p:nvCxnSpPr>
        <p:spPr>
          <a:xfrm>
            <a:off x="4360351" y="4356682"/>
            <a:ext cx="1588" cy="261818"/>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Rectangle: Rounded Corners 27">
            <a:extLst>
              <a:ext uri="{FF2B5EF4-FFF2-40B4-BE49-F238E27FC236}">
                <a16:creationId xmlns:a16="http://schemas.microsoft.com/office/drawing/2014/main" id="{4BADF74C-8359-E8A7-C995-F8D11DF7DDC5}"/>
              </a:ext>
            </a:extLst>
          </p:cNvPr>
          <p:cNvSpPr/>
          <p:nvPr/>
        </p:nvSpPr>
        <p:spPr>
          <a:xfrm>
            <a:off x="2852548" y="4736946"/>
            <a:ext cx="1877338" cy="938694"/>
          </a:xfrm>
          <a:prstGeom prst="roundRect">
            <a:avLst>
              <a:gd name="adj" fmla="val 0"/>
            </a:avLst>
          </a:prstGeom>
          <a:solidFill>
            <a:schemeClr val="bg1">
              <a:lumMod val="5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576" tIns="90000" rIns="36576"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100" normalizeH="0" baseline="0" noProof="0">
                <a:ln>
                  <a:noFill/>
                </a:ln>
                <a:solidFill>
                  <a:srgbClr val="FFFFFF"/>
                </a:solidFill>
                <a:effectLst/>
                <a:uLnTx/>
                <a:uFillTx/>
                <a:latin typeface="Scotia"/>
                <a:ea typeface="+mn-ea"/>
                <a:cs typeface="+mn-cs"/>
              </a:rPr>
              <a:t>PEOPLE &amp; CULTURE</a:t>
            </a:r>
          </a:p>
          <a:p>
            <a:pPr marL="0" marR="0" lvl="0" indent="0" algn="ctr" defTabSz="914400" rtl="0" eaLnBrk="1" fontAlgn="auto" latinLnBrk="0" hangingPunct="1">
              <a:lnSpc>
                <a:spcPct val="100000"/>
              </a:lnSpc>
              <a:spcBef>
                <a:spcPts val="20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Scotia"/>
                <a:ea typeface="+mn-ea"/>
                <a:cs typeface="+mn-cs"/>
              </a:rPr>
              <a:t>Joint client engagements </a:t>
            </a:r>
            <a:r>
              <a:rPr kumimoji="0" lang="en-US" sz="1000" b="0" i="0" u="none" strike="noStrike" kern="1200" cap="none" spc="0" normalizeH="0" baseline="0" noProof="0">
                <a:ln>
                  <a:noFill/>
                </a:ln>
                <a:solidFill>
                  <a:srgbClr val="FFFFFF"/>
                </a:solidFill>
                <a:effectLst/>
                <a:uLnTx/>
                <a:uFillTx/>
                <a:latin typeface="Scotia"/>
                <a:ea typeface="+mn-ea"/>
                <a:cs typeface="+mn-cs"/>
              </a:rPr>
              <a:t>to re-engage partnership during &amp; post pandemic (e.g., Face Five, Auto &amp; BFAS Initiative, etc.)</a:t>
            </a:r>
          </a:p>
        </p:txBody>
      </p:sp>
      <p:sp>
        <p:nvSpPr>
          <p:cNvPr id="5" name="Text Placeholder 4">
            <a:extLst>
              <a:ext uri="{FF2B5EF4-FFF2-40B4-BE49-F238E27FC236}">
                <a16:creationId xmlns:a16="http://schemas.microsoft.com/office/drawing/2014/main" id="{5408D2E6-5F80-5404-6332-6B6DE6D12813}"/>
              </a:ext>
            </a:extLst>
          </p:cNvPr>
          <p:cNvSpPr>
            <a:spLocks noGrp="1"/>
          </p:cNvSpPr>
          <p:nvPr>
            <p:ph type="body" sz="quarter" idx="11"/>
          </p:nvPr>
        </p:nvSpPr>
        <p:spPr/>
        <p:txBody>
          <a:bodyPr/>
          <a:lstStyle/>
          <a:p>
            <a:endParaRPr lang="en-CA"/>
          </a:p>
        </p:txBody>
      </p:sp>
    </p:spTree>
    <p:extLst>
      <p:ext uri="{BB962C8B-B14F-4D97-AF65-F5344CB8AC3E}">
        <p14:creationId xmlns:p14="http://schemas.microsoft.com/office/powerpoint/2010/main" val="278792153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4" name="think-cell data - do not delete" hidden="1">
            <a:extLst>
              <a:ext uri="{FF2B5EF4-FFF2-40B4-BE49-F238E27FC236}">
                <a16:creationId xmlns:a16="http://schemas.microsoft.com/office/drawing/2014/main" id="{7EA03C8B-A258-AD01-2EFA-F82806FC0E1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224" name="think-cell data - do not delete" hidden="1">
                        <a:extLst>
                          <a:ext uri="{FF2B5EF4-FFF2-40B4-BE49-F238E27FC236}">
                            <a16:creationId xmlns:a16="http://schemas.microsoft.com/office/drawing/2014/main" id="{7EA03C8B-A258-AD01-2EFA-F82806FC0E1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114" name="Table 113">
            <a:extLst>
              <a:ext uri="{FF2B5EF4-FFF2-40B4-BE49-F238E27FC236}">
                <a16:creationId xmlns:a16="http://schemas.microsoft.com/office/drawing/2014/main" id="{5DA135DB-9852-A641-FBD9-D493180AB5CC}"/>
              </a:ext>
            </a:extLst>
          </p:cNvPr>
          <p:cNvGraphicFramePr>
            <a:graphicFrameLocks noGrp="1"/>
          </p:cNvGraphicFramePr>
          <p:nvPr/>
        </p:nvGraphicFramePr>
        <p:xfrm>
          <a:off x="515937" y="1859972"/>
          <a:ext cx="11160126" cy="4402418"/>
        </p:xfrm>
        <a:graphic>
          <a:graphicData uri="http://schemas.openxmlformats.org/drawingml/2006/table">
            <a:tbl>
              <a:tblPr firstRow="1" bandRow="1">
                <a:tableStyleId>{5C22544A-7EE6-4342-B048-85BDC9FD1C3A}</a:tableStyleId>
              </a:tblPr>
              <a:tblGrid>
                <a:gridCol w="2116427">
                  <a:extLst>
                    <a:ext uri="{9D8B030D-6E8A-4147-A177-3AD203B41FA5}">
                      <a16:colId xmlns:a16="http://schemas.microsoft.com/office/drawing/2014/main" val="2284141585"/>
                    </a:ext>
                  </a:extLst>
                </a:gridCol>
                <a:gridCol w="2806411">
                  <a:extLst>
                    <a:ext uri="{9D8B030D-6E8A-4147-A177-3AD203B41FA5}">
                      <a16:colId xmlns:a16="http://schemas.microsoft.com/office/drawing/2014/main" val="4148788928"/>
                    </a:ext>
                  </a:extLst>
                </a:gridCol>
                <a:gridCol w="1559322">
                  <a:extLst>
                    <a:ext uri="{9D8B030D-6E8A-4147-A177-3AD203B41FA5}">
                      <a16:colId xmlns:a16="http://schemas.microsoft.com/office/drawing/2014/main" val="1123113737"/>
                    </a:ext>
                  </a:extLst>
                </a:gridCol>
                <a:gridCol w="1559322">
                  <a:extLst>
                    <a:ext uri="{9D8B030D-6E8A-4147-A177-3AD203B41FA5}">
                      <a16:colId xmlns:a16="http://schemas.microsoft.com/office/drawing/2014/main" val="3758372169"/>
                    </a:ext>
                  </a:extLst>
                </a:gridCol>
                <a:gridCol w="1559322">
                  <a:extLst>
                    <a:ext uri="{9D8B030D-6E8A-4147-A177-3AD203B41FA5}">
                      <a16:colId xmlns:a16="http://schemas.microsoft.com/office/drawing/2014/main" val="758223238"/>
                    </a:ext>
                  </a:extLst>
                </a:gridCol>
                <a:gridCol w="1559322">
                  <a:extLst>
                    <a:ext uri="{9D8B030D-6E8A-4147-A177-3AD203B41FA5}">
                      <a16:colId xmlns:a16="http://schemas.microsoft.com/office/drawing/2014/main" val="1839879220"/>
                    </a:ext>
                  </a:extLst>
                </a:gridCol>
              </a:tblGrid>
              <a:tr h="287538">
                <a:tc>
                  <a:txBody>
                    <a:bodyPr/>
                    <a:lstStyle/>
                    <a:p>
                      <a:r>
                        <a:rPr lang="en-CA" sz="1100" b="1" spc="200" baseline="0">
                          <a:solidFill>
                            <a:schemeClr val="tx1"/>
                          </a:solidFill>
                          <a:latin typeface="+mn-lt"/>
                        </a:rPr>
                        <a:t>PRIORITIES</a:t>
                      </a:r>
                    </a:p>
                  </a:txBody>
                  <a:tcPr marL="0">
                    <a:lnR w="12700" cmpd="sng">
                      <a:noFill/>
                    </a:lnR>
                    <a:lnB w="38100" cmpd="sng">
                      <a:noFill/>
                    </a:lnB>
                    <a:noFill/>
                  </a:tcPr>
                </a:tc>
                <a:tc>
                  <a:txBody>
                    <a:bodyPr/>
                    <a:lstStyle/>
                    <a:p>
                      <a:r>
                        <a:rPr lang="en-CA" sz="1000" b="1" spc="200" baseline="0">
                          <a:solidFill>
                            <a:schemeClr val="tx1"/>
                          </a:solidFill>
                          <a:latin typeface="+mn-lt"/>
                          <a:ea typeface="Scotia Light" panose="020B0403020203020204" pitchFamily="34" charset="0"/>
                        </a:rPr>
                        <a:t>  KEY INITIATIVES</a:t>
                      </a:r>
                    </a:p>
                  </a:txBody>
                  <a:tcPr marL="0">
                    <a:lnL w="12700" cmpd="sng">
                      <a:noFill/>
                    </a:lnL>
                    <a:lnR w="12700" cap="flat" cmpd="sng" algn="ctr">
                      <a:noFill/>
                      <a:prstDash val="sysDot"/>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algn="ctr"/>
                      <a:r>
                        <a:rPr lang="en-CA" sz="1000" b="1" spc="200" baseline="0">
                          <a:solidFill>
                            <a:schemeClr val="tx1"/>
                          </a:solidFill>
                          <a:latin typeface="+mn-lt"/>
                          <a:ea typeface="Scotia Light" panose="020B0403020203020204" pitchFamily="34" charset="0"/>
                        </a:rPr>
                        <a:t>Q1</a:t>
                      </a:r>
                    </a:p>
                  </a:txBody>
                  <a:tcPr>
                    <a:lnL w="12700" cap="flat" cmpd="sng" algn="ctr">
                      <a:noFill/>
                      <a:prstDash val="sysDot"/>
                      <a:round/>
                      <a:headEnd type="none" w="med" len="med"/>
                      <a:tailEnd type="none" w="med" len="med"/>
                    </a:lnL>
                    <a:lnR w="12700" cmpd="sng">
                      <a:noFill/>
                    </a:lnR>
                    <a:lnT w="12700" cap="flat" cmpd="sng" algn="ctr">
                      <a:noFill/>
                      <a:prstDash val="sysDot"/>
                      <a:round/>
                      <a:headEnd type="none" w="med" len="med"/>
                      <a:tailEnd type="none" w="med" len="med"/>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000" b="1" spc="200" baseline="0">
                          <a:solidFill>
                            <a:schemeClr val="tx1"/>
                          </a:solidFill>
                          <a:latin typeface="+mn-lt"/>
                          <a:ea typeface="Scotia Light" panose="020B0403020203020204" pitchFamily="34" charset="0"/>
                        </a:rPr>
                        <a:t>Q2</a:t>
                      </a:r>
                    </a:p>
                  </a:txBody>
                  <a:tcPr>
                    <a:lnL w="12700" cmpd="sng">
                      <a:noFill/>
                    </a:lnL>
                    <a:lnR w="12700" cmpd="sng">
                      <a:noFill/>
                    </a:lnR>
                    <a:lnT w="12700" cap="flat" cmpd="sng" algn="ctr">
                      <a:noFill/>
                      <a:prstDash val="sysDot"/>
                      <a:round/>
                      <a:headEnd type="none" w="med" len="med"/>
                      <a:tailEnd type="none" w="med" len="med"/>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000" b="1" spc="200" baseline="0">
                          <a:solidFill>
                            <a:schemeClr val="tx1"/>
                          </a:solidFill>
                          <a:latin typeface="+mn-lt"/>
                          <a:ea typeface="Scotia Light" panose="020B0403020203020204" pitchFamily="34" charset="0"/>
                        </a:rPr>
                        <a:t>Q3</a:t>
                      </a:r>
                    </a:p>
                  </a:txBody>
                  <a:tcPr>
                    <a:lnL w="12700" cmpd="sng">
                      <a:noFill/>
                    </a:lnL>
                    <a:lnR w="12700" cmpd="sng">
                      <a:noFill/>
                    </a:lnR>
                    <a:lnT w="12700" cap="flat" cmpd="sng" algn="ctr">
                      <a:noFill/>
                      <a:prstDash val="sysDot"/>
                      <a:round/>
                      <a:headEnd type="none" w="med" len="med"/>
                      <a:tailEnd type="none" w="med" len="med"/>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000" b="1" spc="200" baseline="0">
                          <a:solidFill>
                            <a:schemeClr val="tx1"/>
                          </a:solidFill>
                          <a:latin typeface="+mn-lt"/>
                          <a:ea typeface="Scotia Light" panose="020B0403020203020204" pitchFamily="34" charset="0"/>
                        </a:rPr>
                        <a:t>Q4</a:t>
                      </a:r>
                    </a:p>
                  </a:txBody>
                  <a:tcPr>
                    <a:lnL w="12700" cmpd="sng">
                      <a:noFill/>
                    </a:lnL>
                    <a:lnR w="12700" cap="flat" cmpd="sng" algn="ctr">
                      <a:noFill/>
                      <a:prstDash val="sysDot"/>
                      <a:round/>
                      <a:headEnd type="none" w="med" len="med"/>
                      <a:tailEnd type="none" w="med" len="med"/>
                    </a:lnR>
                    <a:lnT w="12700" cap="flat" cmpd="sng" algn="ctr">
                      <a:noFill/>
                      <a:prstDash val="sysDot"/>
                      <a:round/>
                      <a:headEnd type="none" w="med" len="med"/>
                      <a:tailEnd type="none" w="med" len="med"/>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7615328"/>
                  </a:ext>
                </a:extLst>
              </a:tr>
              <a:tr h="374080">
                <a:tc>
                  <a:txBody>
                    <a:bodyPr/>
                    <a:lstStyle/>
                    <a:p>
                      <a:endParaRPr lang="en-CA" sz="1100">
                        <a:solidFill>
                          <a:schemeClr val="tx1"/>
                        </a:solidFill>
                      </a:endParaRPr>
                    </a:p>
                  </a:txBody>
                  <a:tcPr>
                    <a:lnL w="12700" cmpd="sng">
                      <a:noFill/>
                    </a:lnL>
                    <a:lnR w="12700" cap="flat" cmpd="sng" algn="ctr">
                      <a:noFill/>
                      <a:prstDash val="sysDot"/>
                      <a:round/>
                      <a:headEnd type="none" w="med" len="med"/>
                      <a:tailEnd type="none" w="med" len="med"/>
                    </a:lnR>
                    <a:lnT w="38100" cmpd="sng">
                      <a:noFill/>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CA" sz="1100" b="0">
                          <a:solidFill>
                            <a:schemeClr val="tx1"/>
                          </a:solidFill>
                        </a:rPr>
                        <a:t>RoRWA and Fee Growth Optimization</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38100" cmpd="sng">
                      <a:noFill/>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ysDot"/>
                      <a:round/>
                      <a:headEnd type="none" w="med" len="med"/>
                      <a:tailEnd type="none" w="med" len="med"/>
                    </a:lnT>
                    <a:lnB w="12700" cap="flat" cmpd="sng" algn="ctr">
                      <a:noFill/>
                      <a:prstDash val="sysDot"/>
                      <a:round/>
                      <a:headEnd type="none" w="med" len="med"/>
                      <a:tailEnd type="none" w="med" len="med"/>
                    </a:lnB>
                    <a:lnTlToBr w="12700" cmpd="sng">
                      <a:noFill/>
                      <a:prstDash val="solid"/>
                    </a:lnTlToBr>
                    <a:lnBlToTr w="12700" cmpd="sng">
                      <a:noFill/>
                      <a:prstDash val="solid"/>
                    </a:lnBlToTr>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998577599"/>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a:txBody>
                    <a:bodyPr/>
                    <a:lstStyle/>
                    <a:p>
                      <a:r>
                        <a:rPr lang="en-CA" sz="1100" b="0">
                          <a:solidFill>
                            <a:schemeClr val="tx1"/>
                          </a:solidFill>
                        </a:rPr>
                        <a:t>Financial Targets Delineated by Segment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4135732535"/>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r>
                        <a:rPr lang="en-CA" sz="1100">
                          <a:solidFill>
                            <a:schemeClr val="tx1"/>
                          </a:solidFill>
                        </a:rPr>
                        <a:t>Wealth Partnership Program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1213719308"/>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a:txBody>
                    <a:bodyPr/>
                    <a:lstStyle/>
                    <a:p>
                      <a:r>
                        <a:rPr lang="en-CA" sz="1100">
                          <a:solidFill>
                            <a:schemeClr val="tx1"/>
                          </a:solidFill>
                        </a:rPr>
                        <a:t>Mid-Market M&amp;A Advisory Practice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3550179096"/>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r>
                        <a:rPr lang="en-CA" sz="1100">
                          <a:solidFill>
                            <a:schemeClr val="tx1"/>
                          </a:solidFill>
                        </a:rPr>
                        <a:t>Head Office Roll-Out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1566403373"/>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100">
                          <a:solidFill>
                            <a:schemeClr val="tx1"/>
                          </a:solidFill>
                        </a:rPr>
                        <a:t>Sales force Operating Model Roll-Out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887825924"/>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r>
                        <a:rPr lang="en-CA" sz="1100">
                          <a:solidFill>
                            <a:schemeClr val="tx1"/>
                          </a:solidFill>
                        </a:rPr>
                        <a:t>Foundational Credit Redesign</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noFill/>
                  </a:tcPr>
                </a:tc>
                <a:tc hMerge="1">
                  <a:txBody>
                    <a:bodyPr/>
                    <a:lstStyle/>
                    <a:p>
                      <a:endParaRPr lang="en-CA" sz="1100">
                        <a:solidFill>
                          <a:schemeClr val="tx1"/>
                        </a:solidFill>
                      </a:endParaRPr>
                    </a:p>
                  </a:txBody>
                  <a:tcPr>
                    <a:lnL w="12700" cap="flat" cmpd="sng" algn="ctr">
                      <a:solidFill>
                        <a:schemeClr val="bg1">
                          <a:lumMod val="65000"/>
                        </a:schemeClr>
                      </a:solidFill>
                      <a:prstDash val="sysDot"/>
                      <a:round/>
                      <a:headEnd type="none" w="med" len="med"/>
                      <a:tailEnd type="none" w="med" len="med"/>
                    </a:lnL>
                    <a:lnR w="12700" cap="flat" cmpd="sng" algn="ctr">
                      <a:solidFill>
                        <a:schemeClr val="bg1">
                          <a:lumMod val="65000"/>
                        </a:schemeClr>
                      </a:solid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noFill/>
                  </a:tcPr>
                </a:tc>
                <a:extLst>
                  <a:ext uri="{0D108BD9-81ED-4DB2-BD59-A6C34878D82A}">
                    <a16:rowId xmlns:a16="http://schemas.microsoft.com/office/drawing/2014/main" val="1759869831"/>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n-CA" sz="1100">
                          <a:solidFill>
                            <a:schemeClr val="tx1"/>
                          </a:solidFill>
                        </a:rPr>
                        <a:t>Streamlining E2E Onboarding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hMerge="1">
                  <a:txBody>
                    <a:bodyPr/>
                    <a:lstStyle/>
                    <a:p>
                      <a:endParaRPr lang="en-CA"/>
                    </a:p>
                  </a:txBody>
                  <a:tcPr/>
                </a:tc>
                <a:tc hMerge="1">
                  <a:txBody>
                    <a:bodyPr/>
                    <a:lstStyle/>
                    <a:p>
                      <a:endParaRPr lang="en-CA"/>
                    </a:p>
                  </a:txBody>
                  <a:tcPr/>
                </a:tc>
                <a:tc hMerge="1">
                  <a:txBody>
                    <a:bodyPr/>
                    <a:lstStyle/>
                    <a:p>
                      <a:endParaRPr lang="en-CA"/>
                    </a:p>
                  </a:txBody>
                  <a:tcPr/>
                </a:tc>
                <a:extLst>
                  <a:ext uri="{0D108BD9-81ED-4DB2-BD59-A6C34878D82A}">
                    <a16:rowId xmlns:a16="http://schemas.microsoft.com/office/drawing/2014/main" val="2680433887"/>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a:txBody>
                    <a:bodyPr/>
                    <a:lstStyle/>
                    <a:p>
                      <a:r>
                        <a:rPr lang="en-CA" sz="1100">
                          <a:solidFill>
                            <a:schemeClr val="tx1"/>
                          </a:solidFill>
                        </a:rPr>
                        <a:t>Reimagining Service Delivery </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T w="12700" cap="flat" cmpd="sng" algn="ctr">
                      <a:noFill/>
                      <a:prstDash val="solid"/>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tc hMerge="1">
                  <a:txBody>
                    <a:bodyPr/>
                    <a:lstStyle/>
                    <a:p>
                      <a:endParaRPr lang="en-CA"/>
                    </a:p>
                  </a:txBody>
                  <a:tcPr/>
                </a:tc>
                <a:tc hMerge="1">
                  <a:txBody>
                    <a:bodyPr/>
                    <a:lstStyle/>
                    <a:p>
                      <a:endParaRPr lang="en-CA"/>
                    </a:p>
                  </a:txBody>
                  <a:tcPr/>
                </a:tc>
                <a:tc hMerge="1">
                  <a:txBody>
                    <a:bodyPr/>
                    <a:lstStyle/>
                    <a:p>
                      <a:endParaRPr lang="en-CA"/>
                    </a:p>
                  </a:txBody>
                  <a:tcPr/>
                </a:tc>
                <a:extLst>
                  <a:ext uri="{0D108BD9-81ED-4DB2-BD59-A6C34878D82A}">
                    <a16:rowId xmlns:a16="http://schemas.microsoft.com/office/drawing/2014/main" val="1871026330"/>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100">
                          <a:solidFill>
                            <a:schemeClr val="tx1"/>
                          </a:solidFill>
                        </a:rPr>
                        <a:t>Data Strategy &amp; Governance</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T w="12700"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hMerge="1">
                  <a:txBody>
                    <a:bodyPr/>
                    <a:lstStyle/>
                    <a:p>
                      <a:endParaRPr lang="en-CA"/>
                    </a:p>
                  </a:txBody>
                  <a:tcPr/>
                </a:tc>
                <a:tc hMerge="1">
                  <a:txBody>
                    <a:bodyPr/>
                    <a:lstStyle/>
                    <a:p>
                      <a:endParaRPr lang="en-CA"/>
                    </a:p>
                  </a:txBody>
                  <a:tcPr/>
                </a:tc>
                <a:tc hMerge="1">
                  <a:txBody>
                    <a:bodyPr/>
                    <a:lstStyle/>
                    <a:p>
                      <a:endParaRPr lang="en-CA"/>
                    </a:p>
                  </a:txBody>
                  <a:tcPr/>
                </a:tc>
                <a:extLst>
                  <a:ext uri="{0D108BD9-81ED-4DB2-BD59-A6C34878D82A}">
                    <a16:rowId xmlns:a16="http://schemas.microsoft.com/office/drawing/2014/main" val="2124884831"/>
                  </a:ext>
                </a:extLst>
              </a:tr>
              <a:tr h="374080">
                <a:tc>
                  <a:txBody>
                    <a:bodyPr/>
                    <a:lstStyle/>
                    <a:p>
                      <a:endParaRPr lang="en-CA" sz="1100">
                        <a:solidFill>
                          <a:schemeClr val="tx1"/>
                        </a:solidFill>
                      </a:endParaRPr>
                    </a:p>
                  </a:txBody>
                  <a:tcPr>
                    <a:lnR w="12700" cap="flat" cmpd="sng" algn="ctr">
                      <a:noFill/>
                      <a:prstDash val="sysDot"/>
                      <a:round/>
                      <a:headEnd type="none" w="med" len="med"/>
                      <a:tailEnd type="none" w="med" len="med"/>
                    </a:lnR>
                    <a:lnT w="12700" cap="flat" cmpd="sng" algn="ctr">
                      <a:noFill/>
                      <a:prstDash val="solid"/>
                      <a:round/>
                      <a:headEnd type="none" w="med" len="med"/>
                      <a:tailEnd type="none" w="med" len="med"/>
                    </a:lnT>
                    <a:noFill/>
                  </a:tcPr>
                </a:tc>
                <a:tc>
                  <a:txBody>
                    <a:bodyPr/>
                    <a:lstStyle/>
                    <a:p>
                      <a:r>
                        <a:rPr lang="en-CA" sz="1100">
                          <a:solidFill>
                            <a:schemeClr val="tx1"/>
                          </a:solidFill>
                        </a:rPr>
                        <a:t>Client 360</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noFill/>
                  </a:tcPr>
                </a:tc>
                <a:tc gridSpan="4">
                  <a:txBody>
                    <a:bodyPr/>
                    <a:lstStyle/>
                    <a:p>
                      <a:endParaRPr lang="en-CA" sz="1100">
                        <a:solidFill>
                          <a:schemeClr val="tx1"/>
                        </a:solidFill>
                      </a:endParaRPr>
                    </a:p>
                  </a:txBody>
                  <a:tcPr>
                    <a:lnL w="12700" cap="flat" cmpd="sng" algn="ctr">
                      <a:noFill/>
                      <a:prstDash val="sysDot"/>
                      <a:round/>
                      <a:headEnd type="none" w="med" len="med"/>
                      <a:tailEnd type="none" w="med" len="med"/>
                    </a:lnL>
                    <a:lnT w="12700" cap="flat" cmpd="sng" algn="ctr">
                      <a:noFill/>
                      <a:prstDash val="solid"/>
                      <a:round/>
                      <a:headEnd type="none" w="med" len="med"/>
                      <a:tailEnd type="none" w="med" len="med"/>
                    </a:lnT>
                    <a:noFill/>
                  </a:tcPr>
                </a:tc>
                <a:tc hMerge="1">
                  <a:txBody>
                    <a:bodyPr/>
                    <a:lstStyle/>
                    <a:p>
                      <a:endParaRPr lang="en-CA"/>
                    </a:p>
                  </a:txBody>
                  <a:tcPr/>
                </a:tc>
                <a:tc hMerge="1">
                  <a:txBody>
                    <a:bodyPr/>
                    <a:lstStyle/>
                    <a:p>
                      <a:endParaRPr lang="en-CA"/>
                    </a:p>
                  </a:txBody>
                  <a:tcPr/>
                </a:tc>
                <a:tc hMerge="1">
                  <a:txBody>
                    <a:bodyPr/>
                    <a:lstStyle/>
                    <a:p>
                      <a:endParaRPr lang="en-CA"/>
                    </a:p>
                  </a:txBody>
                  <a:tcPr/>
                </a:tc>
                <a:extLst>
                  <a:ext uri="{0D108BD9-81ED-4DB2-BD59-A6C34878D82A}">
                    <a16:rowId xmlns:a16="http://schemas.microsoft.com/office/drawing/2014/main" val="340227893"/>
                  </a:ext>
                </a:extLst>
              </a:tr>
            </a:tbl>
          </a:graphicData>
        </a:graphic>
      </p:graphicFrame>
      <p:sp>
        <p:nvSpPr>
          <p:cNvPr id="220" name="Title 219">
            <a:extLst>
              <a:ext uri="{FF2B5EF4-FFF2-40B4-BE49-F238E27FC236}">
                <a16:creationId xmlns:a16="http://schemas.microsoft.com/office/drawing/2014/main" id="{2BE36B38-D13B-54A7-1236-DFE508E86417}"/>
              </a:ext>
            </a:extLst>
          </p:cNvPr>
          <p:cNvSpPr>
            <a:spLocks noGrp="1"/>
          </p:cNvSpPr>
          <p:nvPr>
            <p:ph type="title"/>
          </p:nvPr>
        </p:nvSpPr>
        <p:spPr>
          <a:xfrm>
            <a:off x="515938" y="661850"/>
            <a:ext cx="11247461" cy="720000"/>
          </a:xfrm>
        </p:spPr>
        <p:txBody>
          <a:bodyPr vert="horz"/>
          <a:lstStyle/>
          <a:p>
            <a:r>
              <a:rPr lang="en-US">
                <a:solidFill>
                  <a:schemeClr val="accent1"/>
                </a:solidFill>
              </a:rPr>
              <a:t>Investment Roadmap |</a:t>
            </a:r>
            <a:r>
              <a:rPr lang="en-US"/>
              <a:t> </a:t>
            </a:r>
            <a:r>
              <a:rPr lang="en-US" sz="2400" b="0" i="0"/>
              <a:t>~$20MM in F25 is required to support in execution against our strategic priorities; majority of our initiatives are self funded</a:t>
            </a:r>
            <a:endParaRPr lang="en-US"/>
          </a:p>
        </p:txBody>
      </p:sp>
      <p:sp>
        <p:nvSpPr>
          <p:cNvPr id="3" name="Slide Number Placeholder 2">
            <a:extLst>
              <a:ext uri="{FF2B5EF4-FFF2-40B4-BE49-F238E27FC236}">
                <a16:creationId xmlns:a16="http://schemas.microsoft.com/office/drawing/2014/main" id="{73456E21-0E20-E024-FBE1-3460D969E3E9}"/>
              </a:ext>
            </a:extLst>
          </p:cNvPr>
          <p:cNvSpPr>
            <a:spLocks noGrp="1"/>
          </p:cNvSpPr>
          <p:nvPr>
            <p:ph type="sldNum" sz="quarter" idx="10"/>
          </p:nvPr>
        </p:nvSpPr>
        <p:spPr/>
        <p:txBody>
          <a:bodyPr/>
          <a:lstStyle/>
          <a:p>
            <a:fld id="{95D835A7-12B2-4074-8DA2-469A8808C237}" type="slidenum">
              <a:rPr lang="en-CA" smtClean="0"/>
              <a:pPr/>
              <a:t>25</a:t>
            </a:fld>
            <a:endParaRPr lang="en-CA"/>
          </a:p>
        </p:txBody>
      </p:sp>
      <p:sp>
        <p:nvSpPr>
          <p:cNvPr id="223" name="Text Placeholder 222">
            <a:extLst>
              <a:ext uri="{FF2B5EF4-FFF2-40B4-BE49-F238E27FC236}">
                <a16:creationId xmlns:a16="http://schemas.microsoft.com/office/drawing/2014/main" id="{4D2E678A-C177-EBB2-4C39-E2AF58283C70}"/>
              </a:ext>
            </a:extLst>
          </p:cNvPr>
          <p:cNvSpPr>
            <a:spLocks noGrp="1"/>
          </p:cNvSpPr>
          <p:nvPr>
            <p:ph type="body" sz="quarter" idx="11"/>
          </p:nvPr>
        </p:nvSpPr>
        <p:spPr/>
        <p:txBody>
          <a:bodyPr/>
          <a:lstStyle/>
          <a:p>
            <a:r>
              <a:rPr lang="en-US" sz="900">
                <a:solidFill>
                  <a:schemeClr val="accent1"/>
                </a:solidFill>
              </a:rPr>
              <a:t>ROADMAP EXAMPLE</a:t>
            </a:r>
          </a:p>
        </p:txBody>
      </p:sp>
      <p:sp>
        <p:nvSpPr>
          <p:cNvPr id="115" name="Rectangle 114">
            <a:extLst>
              <a:ext uri="{FF2B5EF4-FFF2-40B4-BE49-F238E27FC236}">
                <a16:creationId xmlns:a16="http://schemas.microsoft.com/office/drawing/2014/main" id="{9B6DF9CF-0B3A-EF23-1828-10480CE062C4}"/>
              </a:ext>
            </a:extLst>
          </p:cNvPr>
          <p:cNvSpPr/>
          <p:nvPr/>
        </p:nvSpPr>
        <p:spPr>
          <a:xfrm>
            <a:off x="515938" y="2215056"/>
            <a:ext cx="1968845" cy="58958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0" rtlCol="0" anchor="ctr"/>
          <a:lstStyle/>
          <a:p>
            <a:r>
              <a:rPr lang="en-CA" sz="1100" b="1"/>
              <a:t>FINANCIAL AMBITION </a:t>
            </a:r>
          </a:p>
        </p:txBody>
      </p:sp>
      <p:grpSp>
        <p:nvGrpSpPr>
          <p:cNvPr id="116" name="Group 115">
            <a:extLst>
              <a:ext uri="{FF2B5EF4-FFF2-40B4-BE49-F238E27FC236}">
                <a16:creationId xmlns:a16="http://schemas.microsoft.com/office/drawing/2014/main" id="{6D41B34B-7156-667F-02A8-34A8BA988D5D}"/>
              </a:ext>
            </a:extLst>
          </p:cNvPr>
          <p:cNvGrpSpPr/>
          <p:nvPr/>
        </p:nvGrpSpPr>
        <p:grpSpPr>
          <a:xfrm>
            <a:off x="527128" y="2951019"/>
            <a:ext cx="1968845" cy="621542"/>
            <a:chOff x="515938" y="2857262"/>
            <a:chExt cx="1968845" cy="621542"/>
          </a:xfrm>
        </p:grpSpPr>
        <p:sp>
          <p:nvSpPr>
            <p:cNvPr id="117" name="Rectangle 116">
              <a:extLst>
                <a:ext uri="{FF2B5EF4-FFF2-40B4-BE49-F238E27FC236}">
                  <a16:creationId xmlns:a16="http://schemas.microsoft.com/office/drawing/2014/main" id="{5FB88205-1081-E8E5-8BFD-2B1B9B6BA282}"/>
                </a:ext>
              </a:extLst>
            </p:cNvPr>
            <p:cNvSpPr/>
            <p:nvPr/>
          </p:nvSpPr>
          <p:spPr>
            <a:xfrm>
              <a:off x="515938" y="2857262"/>
              <a:ext cx="1968845" cy="6215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0" rtlCol="0" anchor="ctr"/>
            <a:lstStyle/>
            <a:p>
              <a:r>
                <a:rPr lang="en-CA" sz="1100" b="1"/>
                <a:t>DELIVER THE BANK </a:t>
              </a:r>
            </a:p>
          </p:txBody>
        </p:sp>
        <p:grpSp>
          <p:nvGrpSpPr>
            <p:cNvPr id="118" name="Group 117">
              <a:extLst>
                <a:ext uri="{FF2B5EF4-FFF2-40B4-BE49-F238E27FC236}">
                  <a16:creationId xmlns:a16="http://schemas.microsoft.com/office/drawing/2014/main" id="{AA928BFA-5901-2804-99D6-193EBBD4EFCF}"/>
                </a:ext>
              </a:extLst>
            </p:cNvPr>
            <p:cNvGrpSpPr/>
            <p:nvPr/>
          </p:nvGrpSpPr>
          <p:grpSpPr>
            <a:xfrm>
              <a:off x="578107" y="3030873"/>
              <a:ext cx="274321" cy="274320"/>
              <a:chOff x="600002" y="2783841"/>
              <a:chExt cx="292505" cy="274320"/>
            </a:xfrm>
          </p:grpSpPr>
          <p:sp>
            <p:nvSpPr>
              <p:cNvPr id="119" name="Oval 118">
                <a:extLst>
                  <a:ext uri="{FF2B5EF4-FFF2-40B4-BE49-F238E27FC236}">
                    <a16:creationId xmlns:a16="http://schemas.microsoft.com/office/drawing/2014/main" id="{0FE8AADC-1CA1-6A1D-D6EB-AC3CFE7224CF}"/>
                  </a:ext>
                </a:extLst>
              </p:cNvPr>
              <p:cNvSpPr/>
              <p:nvPr/>
            </p:nvSpPr>
            <p:spPr>
              <a:xfrm>
                <a:off x="600002" y="2783841"/>
                <a:ext cx="292505" cy="27432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200"/>
              </a:p>
            </p:txBody>
          </p:sp>
          <p:sp>
            <p:nvSpPr>
              <p:cNvPr id="120" name="Shape 2624">
                <a:extLst>
                  <a:ext uri="{FF2B5EF4-FFF2-40B4-BE49-F238E27FC236}">
                    <a16:creationId xmlns:a16="http://schemas.microsoft.com/office/drawing/2014/main" id="{886AD971-51F8-9998-FD68-39140F5868A9}"/>
                  </a:ext>
                </a:extLst>
              </p:cNvPr>
              <p:cNvSpPr>
                <a:spLocks noChangeAspect="1"/>
              </p:cNvSpPr>
              <p:nvPr/>
            </p:nvSpPr>
            <p:spPr>
              <a:xfrm>
                <a:off x="677675" y="2852421"/>
                <a:ext cx="137160" cy="137160"/>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chemeClr val="accent1"/>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grpSp>
      <p:grpSp>
        <p:nvGrpSpPr>
          <p:cNvPr id="121" name="Group 120">
            <a:extLst>
              <a:ext uri="{FF2B5EF4-FFF2-40B4-BE49-F238E27FC236}">
                <a16:creationId xmlns:a16="http://schemas.microsoft.com/office/drawing/2014/main" id="{C3584539-4640-8680-9BDC-AFDA2EE101B6}"/>
              </a:ext>
            </a:extLst>
          </p:cNvPr>
          <p:cNvGrpSpPr/>
          <p:nvPr/>
        </p:nvGrpSpPr>
        <p:grpSpPr>
          <a:xfrm>
            <a:off x="527126" y="3746172"/>
            <a:ext cx="1968845" cy="561784"/>
            <a:chOff x="515938" y="3557178"/>
            <a:chExt cx="1968845" cy="561784"/>
          </a:xfrm>
        </p:grpSpPr>
        <p:sp>
          <p:nvSpPr>
            <p:cNvPr id="122" name="Rectangle 121">
              <a:extLst>
                <a:ext uri="{FF2B5EF4-FFF2-40B4-BE49-F238E27FC236}">
                  <a16:creationId xmlns:a16="http://schemas.microsoft.com/office/drawing/2014/main" id="{7415ACFE-20B2-C47C-933F-EFE9917A4687}"/>
                </a:ext>
              </a:extLst>
            </p:cNvPr>
            <p:cNvSpPr/>
            <p:nvPr/>
          </p:nvSpPr>
          <p:spPr>
            <a:xfrm>
              <a:off x="515938" y="3557178"/>
              <a:ext cx="1968845" cy="5617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0" rtlCol="0" anchor="ctr"/>
            <a:lstStyle/>
            <a:p>
              <a:r>
                <a:rPr lang="en-CA" sz="1100" b="1"/>
                <a:t>ENHANCE DELIVERY MODEL </a:t>
              </a:r>
            </a:p>
          </p:txBody>
        </p:sp>
        <p:grpSp>
          <p:nvGrpSpPr>
            <p:cNvPr id="123" name="Group 122">
              <a:extLst>
                <a:ext uri="{FF2B5EF4-FFF2-40B4-BE49-F238E27FC236}">
                  <a16:creationId xmlns:a16="http://schemas.microsoft.com/office/drawing/2014/main" id="{5147C6BD-6682-C3A0-B61D-5EFE3128C3C6}"/>
                </a:ext>
              </a:extLst>
            </p:cNvPr>
            <p:cNvGrpSpPr/>
            <p:nvPr/>
          </p:nvGrpSpPr>
          <p:grpSpPr>
            <a:xfrm>
              <a:off x="578107" y="3700910"/>
              <a:ext cx="274321" cy="274320"/>
              <a:chOff x="578107" y="4246855"/>
              <a:chExt cx="274321" cy="274320"/>
            </a:xfrm>
          </p:grpSpPr>
          <p:sp>
            <p:nvSpPr>
              <p:cNvPr id="124" name="Oval 123">
                <a:extLst>
                  <a:ext uri="{FF2B5EF4-FFF2-40B4-BE49-F238E27FC236}">
                    <a16:creationId xmlns:a16="http://schemas.microsoft.com/office/drawing/2014/main" id="{9B1888B2-2DBE-EACC-55F8-EFC38B774638}"/>
                  </a:ext>
                </a:extLst>
              </p:cNvPr>
              <p:cNvSpPr/>
              <p:nvPr/>
            </p:nvSpPr>
            <p:spPr>
              <a:xfrm>
                <a:off x="578107" y="4246855"/>
                <a:ext cx="274321" cy="27432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200"/>
              </a:p>
            </p:txBody>
          </p:sp>
          <p:sp>
            <p:nvSpPr>
              <p:cNvPr id="125" name="Shape 2617">
                <a:extLst>
                  <a:ext uri="{FF2B5EF4-FFF2-40B4-BE49-F238E27FC236}">
                    <a16:creationId xmlns:a16="http://schemas.microsoft.com/office/drawing/2014/main" id="{C3B554E0-ADFF-1A23-07D2-1547952B9556}"/>
                  </a:ext>
                </a:extLst>
              </p:cNvPr>
              <p:cNvSpPr>
                <a:spLocks noChangeAspect="1"/>
              </p:cNvSpPr>
              <p:nvPr/>
            </p:nvSpPr>
            <p:spPr>
              <a:xfrm>
                <a:off x="636835" y="4319836"/>
                <a:ext cx="156865" cy="128358"/>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chemeClr val="accent1"/>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grpSp>
      <p:sp>
        <p:nvSpPr>
          <p:cNvPr id="126" name="Rectangle 125">
            <a:extLst>
              <a:ext uri="{FF2B5EF4-FFF2-40B4-BE49-F238E27FC236}">
                <a16:creationId xmlns:a16="http://schemas.microsoft.com/office/drawing/2014/main" id="{71468B1A-98E8-1DBC-ACA2-301FB56D1F3E}"/>
              </a:ext>
            </a:extLst>
          </p:cNvPr>
          <p:cNvSpPr/>
          <p:nvPr/>
        </p:nvSpPr>
        <p:spPr>
          <a:xfrm>
            <a:off x="515938" y="4478780"/>
            <a:ext cx="1968845" cy="9821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0" rtlCol="0" anchor="ctr"/>
          <a:lstStyle/>
          <a:p>
            <a:r>
              <a:rPr lang="en-CA" sz="1100" b="1"/>
              <a:t>DRIVE SERVICE EXCELLENCE </a:t>
            </a:r>
          </a:p>
        </p:txBody>
      </p:sp>
      <p:sp>
        <p:nvSpPr>
          <p:cNvPr id="128" name="Oval 127">
            <a:extLst>
              <a:ext uri="{FF2B5EF4-FFF2-40B4-BE49-F238E27FC236}">
                <a16:creationId xmlns:a16="http://schemas.microsoft.com/office/drawing/2014/main" id="{CF373F77-89A3-7874-BEBC-DEF5F67793AF}"/>
              </a:ext>
            </a:extLst>
          </p:cNvPr>
          <p:cNvSpPr/>
          <p:nvPr/>
        </p:nvSpPr>
        <p:spPr>
          <a:xfrm>
            <a:off x="587092" y="4832688"/>
            <a:ext cx="274321" cy="27432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200"/>
          </a:p>
        </p:txBody>
      </p:sp>
      <p:sp>
        <p:nvSpPr>
          <p:cNvPr id="130" name="Rectangle 129">
            <a:extLst>
              <a:ext uri="{FF2B5EF4-FFF2-40B4-BE49-F238E27FC236}">
                <a16:creationId xmlns:a16="http://schemas.microsoft.com/office/drawing/2014/main" id="{79C6AD6F-1452-FCE2-2137-62558125BDF6}"/>
              </a:ext>
            </a:extLst>
          </p:cNvPr>
          <p:cNvSpPr/>
          <p:nvPr/>
        </p:nvSpPr>
        <p:spPr>
          <a:xfrm>
            <a:off x="527126" y="5571546"/>
            <a:ext cx="1968845" cy="599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0" rtlCol="0" anchor="ctr"/>
          <a:lstStyle/>
          <a:p>
            <a:r>
              <a:rPr lang="en-CA" sz="1100" b="1"/>
              <a:t>IMPROVE DATA, TOOLS &amp; TECH </a:t>
            </a:r>
          </a:p>
        </p:txBody>
      </p:sp>
      <p:grpSp>
        <p:nvGrpSpPr>
          <p:cNvPr id="131" name="Group 130">
            <a:extLst>
              <a:ext uri="{FF2B5EF4-FFF2-40B4-BE49-F238E27FC236}">
                <a16:creationId xmlns:a16="http://schemas.microsoft.com/office/drawing/2014/main" id="{C16BE1AF-76B8-9FBD-9743-1BC54E552250}"/>
              </a:ext>
            </a:extLst>
          </p:cNvPr>
          <p:cNvGrpSpPr/>
          <p:nvPr/>
        </p:nvGrpSpPr>
        <p:grpSpPr>
          <a:xfrm>
            <a:off x="587092" y="5734318"/>
            <a:ext cx="274321" cy="274320"/>
            <a:chOff x="587092" y="5759099"/>
            <a:chExt cx="274321" cy="274320"/>
          </a:xfrm>
        </p:grpSpPr>
        <p:sp>
          <p:nvSpPr>
            <p:cNvPr id="132" name="Oval 131">
              <a:extLst>
                <a:ext uri="{FF2B5EF4-FFF2-40B4-BE49-F238E27FC236}">
                  <a16:creationId xmlns:a16="http://schemas.microsoft.com/office/drawing/2014/main" id="{AA83E061-5060-9272-7BEA-A1FCCAE266A7}"/>
                </a:ext>
              </a:extLst>
            </p:cNvPr>
            <p:cNvSpPr/>
            <p:nvPr/>
          </p:nvSpPr>
          <p:spPr>
            <a:xfrm>
              <a:off x="587092" y="5759099"/>
              <a:ext cx="274321" cy="27432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200"/>
            </a:p>
          </p:txBody>
        </p:sp>
        <p:sp>
          <p:nvSpPr>
            <p:cNvPr id="133" name="Shape 2591">
              <a:extLst>
                <a:ext uri="{FF2B5EF4-FFF2-40B4-BE49-F238E27FC236}">
                  <a16:creationId xmlns:a16="http://schemas.microsoft.com/office/drawing/2014/main" id="{34DEBBD3-47FC-46DA-BDAC-BBD49689BA6C}"/>
                </a:ext>
              </a:extLst>
            </p:cNvPr>
            <p:cNvSpPr/>
            <p:nvPr/>
          </p:nvSpPr>
          <p:spPr>
            <a:xfrm>
              <a:off x="634043" y="5809440"/>
              <a:ext cx="181721" cy="17363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accent1"/>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
        <p:nvSpPr>
          <p:cNvPr id="134" name="Shape 2902">
            <a:extLst>
              <a:ext uri="{FF2B5EF4-FFF2-40B4-BE49-F238E27FC236}">
                <a16:creationId xmlns:a16="http://schemas.microsoft.com/office/drawing/2014/main" id="{1080429F-8891-88A9-CB85-CF10A796181C}"/>
              </a:ext>
            </a:extLst>
          </p:cNvPr>
          <p:cNvSpPr/>
          <p:nvPr/>
        </p:nvSpPr>
        <p:spPr>
          <a:xfrm>
            <a:off x="10011815" y="3909319"/>
            <a:ext cx="91440" cy="182880"/>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chemeClr val="bg1"/>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nvGrpSpPr>
          <p:cNvPr id="135" name="Group 134">
            <a:extLst>
              <a:ext uri="{FF2B5EF4-FFF2-40B4-BE49-F238E27FC236}">
                <a16:creationId xmlns:a16="http://schemas.microsoft.com/office/drawing/2014/main" id="{51E755FD-8D25-6B1E-757D-60B960538CF0}"/>
              </a:ext>
            </a:extLst>
          </p:cNvPr>
          <p:cNvGrpSpPr/>
          <p:nvPr/>
        </p:nvGrpSpPr>
        <p:grpSpPr>
          <a:xfrm>
            <a:off x="5734323" y="2269123"/>
            <a:ext cx="5862077" cy="233262"/>
            <a:chOff x="5813986" y="2220399"/>
            <a:chExt cx="4053914" cy="233262"/>
          </a:xfrm>
        </p:grpSpPr>
        <p:sp>
          <p:nvSpPr>
            <p:cNvPr id="136" name="Rectangle: Rounded Corners 135">
              <a:extLst>
                <a:ext uri="{FF2B5EF4-FFF2-40B4-BE49-F238E27FC236}">
                  <a16:creationId xmlns:a16="http://schemas.microsoft.com/office/drawing/2014/main" id="{1368713C-E62D-4AC9-7935-AEE995538484}"/>
                </a:ext>
              </a:extLst>
            </p:cNvPr>
            <p:cNvSpPr/>
            <p:nvPr/>
          </p:nvSpPr>
          <p:spPr>
            <a:xfrm>
              <a:off x="5813986" y="2220399"/>
              <a:ext cx="4053914"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37" name="Rectangle 136">
              <a:extLst>
                <a:ext uri="{FF2B5EF4-FFF2-40B4-BE49-F238E27FC236}">
                  <a16:creationId xmlns:a16="http://schemas.microsoft.com/office/drawing/2014/main" id="{89294CF4-88A1-57B0-3231-9FE71D73E681}"/>
                </a:ext>
              </a:extLst>
            </p:cNvPr>
            <p:cNvSpPr/>
            <p:nvPr/>
          </p:nvSpPr>
          <p:spPr>
            <a:xfrm>
              <a:off x="5828949" y="2316501"/>
              <a:ext cx="380870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Drive fee growth &amp; reduce revenue leakage and optimizing portfolio for RWA reductions </a:t>
              </a:r>
            </a:p>
          </p:txBody>
        </p:sp>
      </p:grpSp>
      <p:grpSp>
        <p:nvGrpSpPr>
          <p:cNvPr id="138" name="Group 137">
            <a:extLst>
              <a:ext uri="{FF2B5EF4-FFF2-40B4-BE49-F238E27FC236}">
                <a16:creationId xmlns:a16="http://schemas.microsoft.com/office/drawing/2014/main" id="{5D85966A-D66B-DCC4-8FF2-98B02FF3A4AF}"/>
              </a:ext>
            </a:extLst>
          </p:cNvPr>
          <p:cNvGrpSpPr/>
          <p:nvPr/>
        </p:nvGrpSpPr>
        <p:grpSpPr>
          <a:xfrm>
            <a:off x="5734323" y="2634234"/>
            <a:ext cx="5862076" cy="236292"/>
            <a:chOff x="5813986" y="2613758"/>
            <a:chExt cx="4053913" cy="236292"/>
          </a:xfrm>
        </p:grpSpPr>
        <p:sp>
          <p:nvSpPr>
            <p:cNvPr id="139" name="Rectangle: Rounded Corners 138">
              <a:extLst>
                <a:ext uri="{FF2B5EF4-FFF2-40B4-BE49-F238E27FC236}">
                  <a16:creationId xmlns:a16="http://schemas.microsoft.com/office/drawing/2014/main" id="{BCB63111-1A01-B705-C441-4D7405A0F35D}"/>
                </a:ext>
              </a:extLst>
            </p:cNvPr>
            <p:cNvSpPr/>
            <p:nvPr/>
          </p:nvSpPr>
          <p:spPr>
            <a:xfrm>
              <a:off x="7034026" y="2613758"/>
              <a:ext cx="2833873"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40" name="Rectangle: Rounded Corners 139">
              <a:extLst>
                <a:ext uri="{FF2B5EF4-FFF2-40B4-BE49-F238E27FC236}">
                  <a16:creationId xmlns:a16="http://schemas.microsoft.com/office/drawing/2014/main" id="{8E78E131-0F6A-F764-3B64-1AB838251A58}"/>
                </a:ext>
              </a:extLst>
            </p:cNvPr>
            <p:cNvSpPr/>
            <p:nvPr/>
          </p:nvSpPr>
          <p:spPr>
            <a:xfrm>
              <a:off x="5813986" y="2615148"/>
              <a:ext cx="3162170" cy="89234"/>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41" name="Rectangle 140">
              <a:extLst>
                <a:ext uri="{FF2B5EF4-FFF2-40B4-BE49-F238E27FC236}">
                  <a16:creationId xmlns:a16="http://schemas.microsoft.com/office/drawing/2014/main" id="{1139530B-1DAB-4210-05D3-1960BF136430}"/>
                </a:ext>
              </a:extLst>
            </p:cNvPr>
            <p:cNvSpPr/>
            <p:nvPr/>
          </p:nvSpPr>
          <p:spPr>
            <a:xfrm>
              <a:off x="8132241" y="2712890"/>
              <a:ext cx="128016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lang="en-CA" sz="800" i="1">
                  <a:solidFill>
                    <a:schemeClr val="tx1"/>
                  </a:solidFill>
                </a:rPr>
                <a:t>P&amp;L broken out by segment </a:t>
              </a:r>
            </a:p>
          </p:txBody>
        </p:sp>
      </p:grpSp>
      <p:sp>
        <p:nvSpPr>
          <p:cNvPr id="142" name="Rectangle: Rounded Corners 141">
            <a:extLst>
              <a:ext uri="{FF2B5EF4-FFF2-40B4-BE49-F238E27FC236}">
                <a16:creationId xmlns:a16="http://schemas.microsoft.com/office/drawing/2014/main" id="{5A02D94C-5DB0-F3CC-CD0D-DDDFF4BC5C6A}"/>
              </a:ext>
            </a:extLst>
          </p:cNvPr>
          <p:cNvSpPr/>
          <p:nvPr/>
        </p:nvSpPr>
        <p:spPr>
          <a:xfrm>
            <a:off x="6977676" y="3002375"/>
            <a:ext cx="4607534"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43" name="Rectangle: Rounded Corners 142">
            <a:extLst>
              <a:ext uri="{FF2B5EF4-FFF2-40B4-BE49-F238E27FC236}">
                <a16:creationId xmlns:a16="http://schemas.microsoft.com/office/drawing/2014/main" id="{0FD766B1-5C9F-98F9-3C9B-B2597F914114}"/>
              </a:ext>
            </a:extLst>
          </p:cNvPr>
          <p:cNvSpPr/>
          <p:nvPr/>
        </p:nvSpPr>
        <p:spPr>
          <a:xfrm>
            <a:off x="5734323" y="3002375"/>
            <a:ext cx="3600725"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44" name="Oval 143">
            <a:extLst>
              <a:ext uri="{FF2B5EF4-FFF2-40B4-BE49-F238E27FC236}">
                <a16:creationId xmlns:a16="http://schemas.microsoft.com/office/drawing/2014/main" id="{09062219-9491-67ED-A581-57A34BB876CA}"/>
              </a:ext>
            </a:extLst>
          </p:cNvPr>
          <p:cNvSpPr>
            <a:spLocks noChangeArrowheads="1"/>
          </p:cNvSpPr>
          <p:nvPr/>
        </p:nvSpPr>
        <p:spPr bwMode="auto">
          <a:xfrm>
            <a:off x="5925048" y="2993550"/>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45" name="Rectangle 144">
            <a:extLst>
              <a:ext uri="{FF2B5EF4-FFF2-40B4-BE49-F238E27FC236}">
                <a16:creationId xmlns:a16="http://schemas.microsoft.com/office/drawing/2014/main" id="{3C511981-2ED2-3154-CE5C-21AC567CFD5E}"/>
              </a:ext>
            </a:extLst>
          </p:cNvPr>
          <p:cNvSpPr/>
          <p:nvPr/>
        </p:nvSpPr>
        <p:spPr>
          <a:xfrm>
            <a:off x="8166568" y="3096999"/>
            <a:ext cx="742852"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800" i="1">
                <a:solidFill>
                  <a:schemeClr val="accent1"/>
                </a:solidFill>
              </a:rPr>
              <a:t>Program launch </a:t>
            </a:r>
          </a:p>
        </p:txBody>
      </p:sp>
      <p:sp>
        <p:nvSpPr>
          <p:cNvPr id="146" name="Rectangle 145">
            <a:extLst>
              <a:ext uri="{FF2B5EF4-FFF2-40B4-BE49-F238E27FC236}">
                <a16:creationId xmlns:a16="http://schemas.microsoft.com/office/drawing/2014/main" id="{9996C4FC-27EE-BF19-15EB-77C7684E096D}"/>
              </a:ext>
            </a:extLst>
          </p:cNvPr>
          <p:cNvSpPr/>
          <p:nvPr/>
        </p:nvSpPr>
        <p:spPr>
          <a:xfrm>
            <a:off x="5787871" y="3090650"/>
            <a:ext cx="82296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lang="en-CA" sz="800" i="1">
                <a:solidFill>
                  <a:schemeClr val="tx1"/>
                </a:solidFill>
              </a:rPr>
              <a:t>Design kick-off</a:t>
            </a:r>
          </a:p>
        </p:txBody>
      </p:sp>
      <p:sp>
        <p:nvSpPr>
          <p:cNvPr id="147" name="Oval 146">
            <a:extLst>
              <a:ext uri="{FF2B5EF4-FFF2-40B4-BE49-F238E27FC236}">
                <a16:creationId xmlns:a16="http://schemas.microsoft.com/office/drawing/2014/main" id="{BB7A0731-9BEF-84F0-021B-D0ED293B3AE7}"/>
              </a:ext>
            </a:extLst>
          </p:cNvPr>
          <p:cNvSpPr>
            <a:spLocks noChangeArrowheads="1"/>
          </p:cNvSpPr>
          <p:nvPr/>
        </p:nvSpPr>
        <p:spPr bwMode="auto">
          <a:xfrm>
            <a:off x="8480899" y="2993550"/>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48" name="Oval 147">
            <a:extLst>
              <a:ext uri="{FF2B5EF4-FFF2-40B4-BE49-F238E27FC236}">
                <a16:creationId xmlns:a16="http://schemas.microsoft.com/office/drawing/2014/main" id="{C6E9187C-FE44-07DF-B2E2-8239308F39D8}"/>
              </a:ext>
            </a:extLst>
          </p:cNvPr>
          <p:cNvSpPr>
            <a:spLocks noChangeArrowheads="1"/>
          </p:cNvSpPr>
          <p:nvPr/>
        </p:nvSpPr>
        <p:spPr bwMode="auto">
          <a:xfrm>
            <a:off x="9723630" y="262334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grpSp>
        <p:nvGrpSpPr>
          <p:cNvPr id="149" name="Group 148">
            <a:extLst>
              <a:ext uri="{FF2B5EF4-FFF2-40B4-BE49-F238E27FC236}">
                <a16:creationId xmlns:a16="http://schemas.microsoft.com/office/drawing/2014/main" id="{5E316FEF-64F0-A8A4-90CA-2A11BB7EBD7D}"/>
              </a:ext>
            </a:extLst>
          </p:cNvPr>
          <p:cNvGrpSpPr/>
          <p:nvPr/>
        </p:nvGrpSpPr>
        <p:grpSpPr>
          <a:xfrm>
            <a:off x="5683524" y="4086006"/>
            <a:ext cx="5909830" cy="288429"/>
            <a:chOff x="5763186" y="4094831"/>
            <a:chExt cx="5909830" cy="288429"/>
          </a:xfrm>
        </p:grpSpPr>
        <p:sp>
          <p:nvSpPr>
            <p:cNvPr id="150" name="Rectangle: Rounded Corners 149">
              <a:extLst>
                <a:ext uri="{FF2B5EF4-FFF2-40B4-BE49-F238E27FC236}">
                  <a16:creationId xmlns:a16="http://schemas.microsoft.com/office/drawing/2014/main" id="{0E1951E6-95B3-3400-C793-75FAAB3C2222}"/>
                </a:ext>
              </a:extLst>
            </p:cNvPr>
            <p:cNvSpPr/>
            <p:nvPr/>
          </p:nvSpPr>
          <p:spPr>
            <a:xfrm>
              <a:off x="7065481" y="4103656"/>
              <a:ext cx="4607535"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51" name="Rectangle: Rounded Corners 150">
              <a:extLst>
                <a:ext uri="{FF2B5EF4-FFF2-40B4-BE49-F238E27FC236}">
                  <a16:creationId xmlns:a16="http://schemas.microsoft.com/office/drawing/2014/main" id="{1170A213-F9F0-B409-E16C-CD1726DD7D98}"/>
                </a:ext>
              </a:extLst>
            </p:cNvPr>
            <p:cNvSpPr/>
            <p:nvPr/>
          </p:nvSpPr>
          <p:spPr>
            <a:xfrm>
              <a:off x="5813985" y="4103656"/>
              <a:ext cx="4235177"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52" name="Oval 151">
              <a:extLst>
                <a:ext uri="{FF2B5EF4-FFF2-40B4-BE49-F238E27FC236}">
                  <a16:creationId xmlns:a16="http://schemas.microsoft.com/office/drawing/2014/main" id="{2B9BEC8F-7354-E48F-C3AB-84BCCD6EB023}"/>
                </a:ext>
              </a:extLst>
            </p:cNvPr>
            <p:cNvSpPr>
              <a:spLocks noChangeArrowheads="1"/>
            </p:cNvSpPr>
            <p:nvPr/>
          </p:nvSpPr>
          <p:spPr bwMode="auto">
            <a:xfrm>
              <a:off x="6202619" y="4094831"/>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53" name="Rectangle 152">
              <a:extLst>
                <a:ext uri="{FF2B5EF4-FFF2-40B4-BE49-F238E27FC236}">
                  <a16:creationId xmlns:a16="http://schemas.microsoft.com/office/drawing/2014/main" id="{37BCB98E-330F-E27B-884F-9E7A62D9383E}"/>
                </a:ext>
              </a:extLst>
            </p:cNvPr>
            <p:cNvSpPr/>
            <p:nvPr/>
          </p:nvSpPr>
          <p:spPr>
            <a:xfrm>
              <a:off x="5763186" y="4200807"/>
              <a:ext cx="164592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Mid-Market SF pilot completion</a:t>
              </a:r>
            </a:p>
          </p:txBody>
        </p:sp>
        <p:sp>
          <p:nvSpPr>
            <p:cNvPr id="154" name="Rectangle 153">
              <a:extLst>
                <a:ext uri="{FF2B5EF4-FFF2-40B4-BE49-F238E27FC236}">
                  <a16:creationId xmlns:a16="http://schemas.microsoft.com/office/drawing/2014/main" id="{9C7905F9-2D94-AE9F-1856-5DE3CEE9E56E}"/>
                </a:ext>
              </a:extLst>
            </p:cNvPr>
            <p:cNvSpPr/>
            <p:nvPr/>
          </p:nvSpPr>
          <p:spPr>
            <a:xfrm>
              <a:off x="9036665" y="4204211"/>
              <a:ext cx="1662467" cy="1790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National SF launch</a:t>
              </a:r>
            </a:p>
          </p:txBody>
        </p:sp>
        <p:sp>
          <p:nvSpPr>
            <p:cNvPr id="155" name="Oval 154">
              <a:extLst>
                <a:ext uri="{FF2B5EF4-FFF2-40B4-BE49-F238E27FC236}">
                  <a16:creationId xmlns:a16="http://schemas.microsoft.com/office/drawing/2014/main" id="{0C32E164-6B55-5175-AC4D-BC3522B6381E}"/>
                </a:ext>
              </a:extLst>
            </p:cNvPr>
            <p:cNvSpPr>
              <a:spLocks noChangeArrowheads="1"/>
            </p:cNvSpPr>
            <p:nvPr/>
          </p:nvSpPr>
          <p:spPr bwMode="auto">
            <a:xfrm>
              <a:off x="9813034" y="4094831"/>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gn="ctr">
                <a:lnSpc>
                  <a:spcPct val="80000"/>
                </a:lnSpc>
              </a:pPr>
              <a:r>
                <a:rPr lang="en-AU">
                  <a:latin typeface="+mn-lt"/>
                  <a:cs typeface="Gotham Medium" pitchFamily="2" charset="0"/>
                </a:rPr>
                <a:t>   </a:t>
              </a:r>
            </a:p>
          </p:txBody>
        </p:sp>
      </p:grpSp>
      <p:grpSp>
        <p:nvGrpSpPr>
          <p:cNvPr id="156" name="Group 155">
            <a:extLst>
              <a:ext uri="{FF2B5EF4-FFF2-40B4-BE49-F238E27FC236}">
                <a16:creationId xmlns:a16="http://schemas.microsoft.com/office/drawing/2014/main" id="{B6372BD7-C2D6-5234-381A-287F7916AC59}"/>
              </a:ext>
            </a:extLst>
          </p:cNvPr>
          <p:cNvGrpSpPr/>
          <p:nvPr/>
        </p:nvGrpSpPr>
        <p:grpSpPr>
          <a:xfrm>
            <a:off x="5734322" y="3357183"/>
            <a:ext cx="5859032" cy="243272"/>
            <a:chOff x="5813984" y="3379678"/>
            <a:chExt cx="5859032" cy="243272"/>
          </a:xfrm>
        </p:grpSpPr>
        <p:sp>
          <p:nvSpPr>
            <p:cNvPr id="157" name="Rectangle: Rounded Corners 156">
              <a:extLst>
                <a:ext uri="{FF2B5EF4-FFF2-40B4-BE49-F238E27FC236}">
                  <a16:creationId xmlns:a16="http://schemas.microsoft.com/office/drawing/2014/main" id="{7ACE7A73-177E-6358-0B56-9141C244F9ED}"/>
                </a:ext>
              </a:extLst>
            </p:cNvPr>
            <p:cNvSpPr/>
            <p:nvPr/>
          </p:nvSpPr>
          <p:spPr>
            <a:xfrm>
              <a:off x="7065482" y="3388503"/>
              <a:ext cx="4607534"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58" name="Rectangle 157">
              <a:extLst>
                <a:ext uri="{FF2B5EF4-FFF2-40B4-BE49-F238E27FC236}">
                  <a16:creationId xmlns:a16="http://schemas.microsoft.com/office/drawing/2014/main" id="{C6FFA54C-CEE6-8C68-4C00-7A254013ED9F}"/>
                </a:ext>
              </a:extLst>
            </p:cNvPr>
            <p:cNvSpPr/>
            <p:nvPr/>
          </p:nvSpPr>
          <p:spPr>
            <a:xfrm>
              <a:off x="6278879" y="3485790"/>
              <a:ext cx="219456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lang="en-CA" sz="800" i="1">
                  <a:solidFill>
                    <a:schemeClr val="tx1"/>
                  </a:solidFill>
                </a:rPr>
                <a:t>Establish partner </a:t>
              </a:r>
              <a:r>
                <a:rPr lang="en-CA" sz="800" i="1" err="1">
                  <a:solidFill>
                    <a:schemeClr val="tx1"/>
                  </a:solidFill>
                </a:rPr>
                <a:t>SteerCo</a:t>
              </a:r>
              <a:r>
                <a:rPr lang="en-CA" sz="800" i="1">
                  <a:solidFill>
                    <a:schemeClr val="tx1"/>
                  </a:solidFill>
                </a:rPr>
                <a:t> &amp; undergo hiring </a:t>
              </a:r>
            </a:p>
          </p:txBody>
        </p:sp>
        <p:sp>
          <p:nvSpPr>
            <p:cNvPr id="159" name="Rectangle 158">
              <a:extLst>
                <a:ext uri="{FF2B5EF4-FFF2-40B4-BE49-F238E27FC236}">
                  <a16:creationId xmlns:a16="http://schemas.microsoft.com/office/drawing/2014/main" id="{19DBB913-D618-303C-17AB-0766D3166CB5}"/>
                </a:ext>
              </a:extLst>
            </p:cNvPr>
            <p:cNvSpPr/>
            <p:nvPr/>
          </p:nvSpPr>
          <p:spPr>
            <a:xfrm>
              <a:off x="9227819" y="3485790"/>
              <a:ext cx="128016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Launch practice </a:t>
              </a:r>
            </a:p>
          </p:txBody>
        </p:sp>
        <p:sp>
          <p:nvSpPr>
            <p:cNvPr id="160" name="Rectangle: Rounded Corners 159">
              <a:extLst>
                <a:ext uri="{FF2B5EF4-FFF2-40B4-BE49-F238E27FC236}">
                  <a16:creationId xmlns:a16="http://schemas.microsoft.com/office/drawing/2014/main" id="{558289AF-B159-1ECE-6CF8-9BD8C26BD09C}"/>
                </a:ext>
              </a:extLst>
            </p:cNvPr>
            <p:cNvSpPr/>
            <p:nvPr/>
          </p:nvSpPr>
          <p:spPr>
            <a:xfrm>
              <a:off x="5813984" y="3388503"/>
              <a:ext cx="4844491" cy="91124"/>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61" name="Oval 160">
              <a:extLst>
                <a:ext uri="{FF2B5EF4-FFF2-40B4-BE49-F238E27FC236}">
                  <a16:creationId xmlns:a16="http://schemas.microsoft.com/office/drawing/2014/main" id="{4E4EAD48-1D58-4928-39B1-625E51FCB4FD}"/>
                </a:ext>
              </a:extLst>
            </p:cNvPr>
            <p:cNvSpPr>
              <a:spLocks noChangeArrowheads="1"/>
            </p:cNvSpPr>
            <p:nvPr/>
          </p:nvSpPr>
          <p:spPr bwMode="auto">
            <a:xfrm>
              <a:off x="9813035" y="3379678"/>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gn="ctr">
                <a:lnSpc>
                  <a:spcPct val="80000"/>
                </a:lnSpc>
              </a:pPr>
              <a:r>
                <a:rPr lang="en-AU">
                  <a:latin typeface="+mn-lt"/>
                  <a:cs typeface="Gotham Medium" pitchFamily="2" charset="0"/>
                </a:rPr>
                <a:t>   </a:t>
              </a:r>
            </a:p>
          </p:txBody>
        </p:sp>
        <p:sp>
          <p:nvSpPr>
            <p:cNvPr id="162" name="Oval 161">
              <a:extLst>
                <a:ext uri="{FF2B5EF4-FFF2-40B4-BE49-F238E27FC236}">
                  <a16:creationId xmlns:a16="http://schemas.microsoft.com/office/drawing/2014/main" id="{513F8507-9C5C-BBB1-3A03-5A7B29144460}"/>
                </a:ext>
              </a:extLst>
            </p:cNvPr>
            <p:cNvSpPr>
              <a:spLocks noChangeArrowheads="1"/>
            </p:cNvSpPr>
            <p:nvPr/>
          </p:nvSpPr>
          <p:spPr bwMode="auto">
            <a:xfrm>
              <a:off x="7001846" y="3379678"/>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grpSp>
      <p:grpSp>
        <p:nvGrpSpPr>
          <p:cNvPr id="163" name="Group 162">
            <a:extLst>
              <a:ext uri="{FF2B5EF4-FFF2-40B4-BE49-F238E27FC236}">
                <a16:creationId xmlns:a16="http://schemas.microsoft.com/office/drawing/2014/main" id="{8D6C4424-001F-7991-2CEF-B81462429CC7}"/>
              </a:ext>
            </a:extLst>
          </p:cNvPr>
          <p:cNvGrpSpPr/>
          <p:nvPr/>
        </p:nvGrpSpPr>
        <p:grpSpPr>
          <a:xfrm>
            <a:off x="5734324" y="3723479"/>
            <a:ext cx="5873266" cy="239503"/>
            <a:chOff x="5813986" y="3726602"/>
            <a:chExt cx="5873266" cy="239503"/>
          </a:xfrm>
        </p:grpSpPr>
        <p:sp>
          <p:nvSpPr>
            <p:cNvPr id="164" name="Rectangle: Rounded Corners 163">
              <a:extLst>
                <a:ext uri="{FF2B5EF4-FFF2-40B4-BE49-F238E27FC236}">
                  <a16:creationId xmlns:a16="http://schemas.microsoft.com/office/drawing/2014/main" id="{53468052-DD8F-4FCD-ACBB-04FF05D25985}"/>
                </a:ext>
              </a:extLst>
            </p:cNvPr>
            <p:cNvSpPr/>
            <p:nvPr/>
          </p:nvSpPr>
          <p:spPr>
            <a:xfrm>
              <a:off x="5943972" y="3735427"/>
              <a:ext cx="5743280"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65" name="Rectangle: Rounded Corners 164">
              <a:extLst>
                <a:ext uri="{FF2B5EF4-FFF2-40B4-BE49-F238E27FC236}">
                  <a16:creationId xmlns:a16="http://schemas.microsoft.com/office/drawing/2014/main" id="{2C148C0A-D7B1-F73B-7D8E-97F71539DAAE}"/>
                </a:ext>
              </a:extLst>
            </p:cNvPr>
            <p:cNvSpPr/>
            <p:nvPr/>
          </p:nvSpPr>
          <p:spPr>
            <a:xfrm>
              <a:off x="5813986" y="3735427"/>
              <a:ext cx="3685902"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66" name="Oval 165">
              <a:extLst>
                <a:ext uri="{FF2B5EF4-FFF2-40B4-BE49-F238E27FC236}">
                  <a16:creationId xmlns:a16="http://schemas.microsoft.com/office/drawing/2014/main" id="{DD503B27-39DD-F57C-AB2F-F47B980FD963}"/>
                </a:ext>
              </a:extLst>
            </p:cNvPr>
            <p:cNvSpPr>
              <a:spLocks noChangeArrowheads="1"/>
            </p:cNvSpPr>
            <p:nvPr/>
          </p:nvSpPr>
          <p:spPr bwMode="auto">
            <a:xfrm>
              <a:off x="6307423" y="372660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67" name="Rectangle 166">
              <a:extLst>
                <a:ext uri="{FF2B5EF4-FFF2-40B4-BE49-F238E27FC236}">
                  <a16:creationId xmlns:a16="http://schemas.microsoft.com/office/drawing/2014/main" id="{4D503642-DE17-63DB-810C-A213742882F6}"/>
                </a:ext>
              </a:extLst>
            </p:cNvPr>
            <p:cNvSpPr/>
            <p:nvPr/>
          </p:nvSpPr>
          <p:spPr>
            <a:xfrm>
              <a:off x="5813986" y="3828945"/>
              <a:ext cx="1103246"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Hire functional leads</a:t>
              </a:r>
            </a:p>
          </p:txBody>
        </p:sp>
        <p:sp>
          <p:nvSpPr>
            <p:cNvPr id="168" name="Oval 167">
              <a:extLst>
                <a:ext uri="{FF2B5EF4-FFF2-40B4-BE49-F238E27FC236}">
                  <a16:creationId xmlns:a16="http://schemas.microsoft.com/office/drawing/2014/main" id="{1FC9D801-1848-75EE-DD12-06E011B1CD95}"/>
                </a:ext>
              </a:extLst>
            </p:cNvPr>
            <p:cNvSpPr>
              <a:spLocks noChangeArrowheads="1"/>
            </p:cNvSpPr>
            <p:nvPr/>
          </p:nvSpPr>
          <p:spPr bwMode="auto">
            <a:xfrm>
              <a:off x="7769870" y="372660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69" name="Rectangle 168">
              <a:extLst>
                <a:ext uri="{FF2B5EF4-FFF2-40B4-BE49-F238E27FC236}">
                  <a16:creationId xmlns:a16="http://schemas.microsoft.com/office/drawing/2014/main" id="{2AC40D0C-93ED-F290-F8EB-4E2B3AFFB6B3}"/>
                </a:ext>
              </a:extLst>
            </p:cNvPr>
            <p:cNvSpPr/>
            <p:nvPr/>
          </p:nvSpPr>
          <p:spPr>
            <a:xfrm>
              <a:off x="7276433" y="3828945"/>
              <a:ext cx="1103246"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Skills assessment</a:t>
              </a:r>
            </a:p>
          </p:txBody>
        </p:sp>
        <p:sp>
          <p:nvSpPr>
            <p:cNvPr id="170" name="Rectangle 169">
              <a:extLst>
                <a:ext uri="{FF2B5EF4-FFF2-40B4-BE49-F238E27FC236}">
                  <a16:creationId xmlns:a16="http://schemas.microsoft.com/office/drawing/2014/main" id="{80C6A029-C953-85B8-7A1A-334134055D1C}"/>
                </a:ext>
              </a:extLst>
            </p:cNvPr>
            <p:cNvSpPr/>
            <p:nvPr/>
          </p:nvSpPr>
          <p:spPr>
            <a:xfrm>
              <a:off x="8826522" y="3828945"/>
              <a:ext cx="137160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Hire additional HO jr. roles</a:t>
              </a:r>
            </a:p>
          </p:txBody>
        </p:sp>
        <p:sp>
          <p:nvSpPr>
            <p:cNvPr id="171" name="Oval 170">
              <a:extLst>
                <a:ext uri="{FF2B5EF4-FFF2-40B4-BE49-F238E27FC236}">
                  <a16:creationId xmlns:a16="http://schemas.microsoft.com/office/drawing/2014/main" id="{76C5FCA3-4001-DD7E-5286-F4D550AC9C69}"/>
                </a:ext>
              </a:extLst>
            </p:cNvPr>
            <p:cNvSpPr>
              <a:spLocks noChangeArrowheads="1"/>
            </p:cNvSpPr>
            <p:nvPr/>
          </p:nvSpPr>
          <p:spPr bwMode="auto">
            <a:xfrm>
              <a:off x="9421908" y="372660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gn="ctr">
                <a:lnSpc>
                  <a:spcPct val="80000"/>
                </a:lnSpc>
              </a:pPr>
              <a:r>
                <a:rPr lang="en-AU">
                  <a:latin typeface="+mn-lt"/>
                  <a:cs typeface="Gotham Medium" pitchFamily="2" charset="0"/>
                </a:rPr>
                <a:t>   </a:t>
              </a:r>
            </a:p>
          </p:txBody>
        </p:sp>
      </p:grpSp>
      <p:sp>
        <p:nvSpPr>
          <p:cNvPr id="172" name="Rectangle: Rounded Corners 171">
            <a:extLst>
              <a:ext uri="{FF2B5EF4-FFF2-40B4-BE49-F238E27FC236}">
                <a16:creationId xmlns:a16="http://schemas.microsoft.com/office/drawing/2014/main" id="{F234DAE3-72C6-0A29-C1F1-B7565AE56662}"/>
              </a:ext>
            </a:extLst>
          </p:cNvPr>
          <p:cNvSpPr/>
          <p:nvPr/>
        </p:nvSpPr>
        <p:spPr>
          <a:xfrm>
            <a:off x="6954367" y="4880559"/>
            <a:ext cx="4653222"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73" name="Rectangle: Rounded Corners 172">
            <a:extLst>
              <a:ext uri="{FF2B5EF4-FFF2-40B4-BE49-F238E27FC236}">
                <a16:creationId xmlns:a16="http://schemas.microsoft.com/office/drawing/2014/main" id="{D2D8A9C1-32FC-0A19-8F0F-AB297CA52044}"/>
              </a:ext>
            </a:extLst>
          </p:cNvPr>
          <p:cNvSpPr/>
          <p:nvPr/>
        </p:nvSpPr>
        <p:spPr>
          <a:xfrm>
            <a:off x="5734324" y="4880559"/>
            <a:ext cx="4908276"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74" name="Rectangle 173">
            <a:extLst>
              <a:ext uri="{FF2B5EF4-FFF2-40B4-BE49-F238E27FC236}">
                <a16:creationId xmlns:a16="http://schemas.microsoft.com/office/drawing/2014/main" id="{F2829215-B116-E67F-575B-34FEAB6013DA}"/>
              </a:ext>
            </a:extLst>
          </p:cNvPr>
          <p:cNvSpPr/>
          <p:nvPr/>
        </p:nvSpPr>
        <p:spPr>
          <a:xfrm>
            <a:off x="6936070" y="4979874"/>
            <a:ext cx="128016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CIS KYC Automation </a:t>
            </a:r>
          </a:p>
        </p:txBody>
      </p:sp>
      <p:sp>
        <p:nvSpPr>
          <p:cNvPr id="175" name="Oval 174">
            <a:extLst>
              <a:ext uri="{FF2B5EF4-FFF2-40B4-BE49-F238E27FC236}">
                <a16:creationId xmlns:a16="http://schemas.microsoft.com/office/drawing/2014/main" id="{CFD5B54D-C0F5-A041-B823-120EC81F20AC}"/>
              </a:ext>
            </a:extLst>
          </p:cNvPr>
          <p:cNvSpPr>
            <a:spLocks noChangeArrowheads="1"/>
          </p:cNvSpPr>
          <p:nvPr/>
        </p:nvSpPr>
        <p:spPr bwMode="auto">
          <a:xfrm>
            <a:off x="7466422" y="4871734"/>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76" name="Oval 175">
            <a:extLst>
              <a:ext uri="{FF2B5EF4-FFF2-40B4-BE49-F238E27FC236}">
                <a16:creationId xmlns:a16="http://schemas.microsoft.com/office/drawing/2014/main" id="{5E89E160-821B-C049-0A9D-7BC5A480B95B}"/>
              </a:ext>
            </a:extLst>
          </p:cNvPr>
          <p:cNvSpPr>
            <a:spLocks noChangeArrowheads="1"/>
          </p:cNvSpPr>
          <p:nvPr/>
        </p:nvSpPr>
        <p:spPr bwMode="auto">
          <a:xfrm>
            <a:off x="10166518" y="4871734"/>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77" name="Rectangle 176">
            <a:extLst>
              <a:ext uri="{FF2B5EF4-FFF2-40B4-BE49-F238E27FC236}">
                <a16:creationId xmlns:a16="http://schemas.microsoft.com/office/drawing/2014/main" id="{3409F5ED-C771-4150-00DD-5F914B805C14}"/>
              </a:ext>
            </a:extLst>
          </p:cNvPr>
          <p:cNvSpPr/>
          <p:nvPr/>
        </p:nvSpPr>
        <p:spPr>
          <a:xfrm>
            <a:off x="9288754" y="4974197"/>
            <a:ext cx="1880921"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Client-led Onboarding Discovery</a:t>
            </a:r>
          </a:p>
        </p:txBody>
      </p:sp>
      <p:sp>
        <p:nvSpPr>
          <p:cNvPr id="178" name="Oval 177">
            <a:extLst>
              <a:ext uri="{FF2B5EF4-FFF2-40B4-BE49-F238E27FC236}">
                <a16:creationId xmlns:a16="http://schemas.microsoft.com/office/drawing/2014/main" id="{9F3655D0-9158-A76B-2298-17B58DC38AAB}"/>
              </a:ext>
            </a:extLst>
          </p:cNvPr>
          <p:cNvSpPr>
            <a:spLocks noChangeArrowheads="1"/>
          </p:cNvSpPr>
          <p:nvPr/>
        </p:nvSpPr>
        <p:spPr bwMode="auto">
          <a:xfrm>
            <a:off x="5858095" y="4871734"/>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79" name="Rectangle 178">
            <a:extLst>
              <a:ext uri="{FF2B5EF4-FFF2-40B4-BE49-F238E27FC236}">
                <a16:creationId xmlns:a16="http://schemas.microsoft.com/office/drawing/2014/main" id="{8B84DA2B-B400-AEFA-6B15-4F920BE2EBDC}"/>
              </a:ext>
            </a:extLst>
          </p:cNvPr>
          <p:cNvSpPr/>
          <p:nvPr/>
        </p:nvSpPr>
        <p:spPr>
          <a:xfrm>
            <a:off x="5787872" y="4979873"/>
            <a:ext cx="1190462" cy="1523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lang="en-CA" sz="800" i="1">
                <a:solidFill>
                  <a:schemeClr val="tx1"/>
                </a:solidFill>
              </a:rPr>
              <a:t>Launch Cash </a:t>
            </a:r>
            <a:r>
              <a:rPr lang="en-CA" sz="800" i="1" err="1">
                <a:solidFill>
                  <a:schemeClr val="tx1"/>
                </a:solidFill>
              </a:rPr>
              <a:t>Mgmt</a:t>
            </a:r>
            <a:r>
              <a:rPr lang="en-CA" sz="800" i="1">
                <a:solidFill>
                  <a:schemeClr val="tx1"/>
                </a:solidFill>
              </a:rPr>
              <a:t> Tool </a:t>
            </a:r>
          </a:p>
        </p:txBody>
      </p:sp>
      <p:grpSp>
        <p:nvGrpSpPr>
          <p:cNvPr id="180" name="Group 179">
            <a:extLst>
              <a:ext uri="{FF2B5EF4-FFF2-40B4-BE49-F238E27FC236}">
                <a16:creationId xmlns:a16="http://schemas.microsoft.com/office/drawing/2014/main" id="{568F0F26-9243-293B-FE48-4E35DF03A2B7}"/>
              </a:ext>
            </a:extLst>
          </p:cNvPr>
          <p:cNvGrpSpPr/>
          <p:nvPr/>
        </p:nvGrpSpPr>
        <p:grpSpPr>
          <a:xfrm>
            <a:off x="5695589" y="5255278"/>
            <a:ext cx="5911998" cy="232676"/>
            <a:chOff x="5775251" y="5207168"/>
            <a:chExt cx="5911998" cy="232676"/>
          </a:xfrm>
        </p:grpSpPr>
        <p:sp>
          <p:nvSpPr>
            <p:cNvPr id="181" name="Rectangle: Rounded Corners 180">
              <a:extLst>
                <a:ext uri="{FF2B5EF4-FFF2-40B4-BE49-F238E27FC236}">
                  <a16:creationId xmlns:a16="http://schemas.microsoft.com/office/drawing/2014/main" id="{92EAA246-E007-07E6-C2A7-3F99430B65DB}"/>
                </a:ext>
              </a:extLst>
            </p:cNvPr>
            <p:cNvSpPr/>
            <p:nvPr/>
          </p:nvSpPr>
          <p:spPr>
            <a:xfrm>
              <a:off x="7034028" y="5215993"/>
              <a:ext cx="4653221"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82" name="Rectangle: Rounded Corners 181">
              <a:extLst>
                <a:ext uri="{FF2B5EF4-FFF2-40B4-BE49-F238E27FC236}">
                  <a16:creationId xmlns:a16="http://schemas.microsoft.com/office/drawing/2014/main" id="{FF0A9D43-C751-B7E1-D47B-43D68F929FEB}"/>
                </a:ext>
              </a:extLst>
            </p:cNvPr>
            <p:cNvSpPr/>
            <p:nvPr/>
          </p:nvSpPr>
          <p:spPr>
            <a:xfrm>
              <a:off x="5813986" y="5215993"/>
              <a:ext cx="3662786"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83" name="Rectangle 182">
              <a:extLst>
                <a:ext uri="{FF2B5EF4-FFF2-40B4-BE49-F238E27FC236}">
                  <a16:creationId xmlns:a16="http://schemas.microsoft.com/office/drawing/2014/main" id="{6622E9B0-28AA-697A-FD8A-25E497C13F1B}"/>
                </a:ext>
              </a:extLst>
            </p:cNvPr>
            <p:cNvSpPr/>
            <p:nvPr/>
          </p:nvSpPr>
          <p:spPr>
            <a:xfrm>
              <a:off x="5775251" y="5302684"/>
              <a:ext cx="1571857"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Client Tiering / Segmentation</a:t>
              </a:r>
            </a:p>
          </p:txBody>
        </p:sp>
        <p:sp>
          <p:nvSpPr>
            <p:cNvPr id="184" name="Oval 183">
              <a:extLst>
                <a:ext uri="{FF2B5EF4-FFF2-40B4-BE49-F238E27FC236}">
                  <a16:creationId xmlns:a16="http://schemas.microsoft.com/office/drawing/2014/main" id="{05BC3BED-1D5A-1735-1F2E-7FD5C8EE9C18}"/>
                </a:ext>
              </a:extLst>
            </p:cNvPr>
            <p:cNvSpPr>
              <a:spLocks noChangeArrowheads="1"/>
            </p:cNvSpPr>
            <p:nvPr/>
          </p:nvSpPr>
          <p:spPr bwMode="auto">
            <a:xfrm>
              <a:off x="6502100" y="5207168"/>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85" name="Oval 184">
              <a:extLst>
                <a:ext uri="{FF2B5EF4-FFF2-40B4-BE49-F238E27FC236}">
                  <a16:creationId xmlns:a16="http://schemas.microsoft.com/office/drawing/2014/main" id="{B40D43C5-71C5-0C08-0D39-EA0BECDB958D}"/>
                </a:ext>
              </a:extLst>
            </p:cNvPr>
            <p:cNvSpPr>
              <a:spLocks noChangeArrowheads="1"/>
            </p:cNvSpPr>
            <p:nvPr/>
          </p:nvSpPr>
          <p:spPr bwMode="auto">
            <a:xfrm>
              <a:off x="9046735" y="5207168"/>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86" name="Rectangle 185">
              <a:extLst>
                <a:ext uri="{FF2B5EF4-FFF2-40B4-BE49-F238E27FC236}">
                  <a16:creationId xmlns:a16="http://schemas.microsoft.com/office/drawing/2014/main" id="{7B0A090C-76C6-081C-4F65-B2E33A3AD75D}"/>
                </a:ext>
              </a:extLst>
            </p:cNvPr>
            <p:cNvSpPr/>
            <p:nvPr/>
          </p:nvSpPr>
          <p:spPr>
            <a:xfrm>
              <a:off x="8291264" y="5302684"/>
              <a:ext cx="1635275"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Client Plan </a:t>
              </a:r>
            </a:p>
          </p:txBody>
        </p:sp>
      </p:grpSp>
      <p:sp>
        <p:nvSpPr>
          <p:cNvPr id="188" name="Rectangle: Rounded Corners 187">
            <a:extLst>
              <a:ext uri="{FF2B5EF4-FFF2-40B4-BE49-F238E27FC236}">
                <a16:creationId xmlns:a16="http://schemas.microsoft.com/office/drawing/2014/main" id="{4AE4463F-CFD9-6D96-ECFA-6F2CD7459311}"/>
              </a:ext>
            </a:extLst>
          </p:cNvPr>
          <p:cNvSpPr/>
          <p:nvPr/>
        </p:nvSpPr>
        <p:spPr>
          <a:xfrm>
            <a:off x="5748486" y="6033526"/>
            <a:ext cx="5847915"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89" name="Rectangle: Rounded Corners 188">
            <a:extLst>
              <a:ext uri="{FF2B5EF4-FFF2-40B4-BE49-F238E27FC236}">
                <a16:creationId xmlns:a16="http://schemas.microsoft.com/office/drawing/2014/main" id="{85B87860-813E-710C-17FD-29259BC13960}"/>
              </a:ext>
            </a:extLst>
          </p:cNvPr>
          <p:cNvSpPr/>
          <p:nvPr/>
        </p:nvSpPr>
        <p:spPr>
          <a:xfrm>
            <a:off x="5734323" y="6033526"/>
            <a:ext cx="4624555"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190" name="Oval 189">
            <a:extLst>
              <a:ext uri="{FF2B5EF4-FFF2-40B4-BE49-F238E27FC236}">
                <a16:creationId xmlns:a16="http://schemas.microsoft.com/office/drawing/2014/main" id="{85AE35E7-A505-E483-F31B-A94E3D9D687A}"/>
              </a:ext>
            </a:extLst>
          </p:cNvPr>
          <p:cNvSpPr>
            <a:spLocks noChangeArrowheads="1"/>
          </p:cNvSpPr>
          <p:nvPr/>
        </p:nvSpPr>
        <p:spPr bwMode="auto">
          <a:xfrm>
            <a:off x="6052501" y="601832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91" name="Rectangle 190">
            <a:extLst>
              <a:ext uri="{FF2B5EF4-FFF2-40B4-BE49-F238E27FC236}">
                <a16:creationId xmlns:a16="http://schemas.microsoft.com/office/drawing/2014/main" id="{8321113E-1411-EF0E-4BB6-75B4C17E3FAA}"/>
              </a:ext>
            </a:extLst>
          </p:cNvPr>
          <p:cNvSpPr/>
          <p:nvPr/>
        </p:nvSpPr>
        <p:spPr>
          <a:xfrm>
            <a:off x="5513344" y="6120852"/>
            <a:ext cx="1103246"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CRM Homepage </a:t>
            </a:r>
          </a:p>
        </p:txBody>
      </p:sp>
      <p:sp>
        <p:nvSpPr>
          <p:cNvPr id="192" name="Oval 191">
            <a:extLst>
              <a:ext uri="{FF2B5EF4-FFF2-40B4-BE49-F238E27FC236}">
                <a16:creationId xmlns:a16="http://schemas.microsoft.com/office/drawing/2014/main" id="{0E4D4DBA-A462-79AB-373D-F600E2E4A5C7}"/>
              </a:ext>
            </a:extLst>
          </p:cNvPr>
          <p:cNvSpPr>
            <a:spLocks noChangeArrowheads="1"/>
          </p:cNvSpPr>
          <p:nvPr/>
        </p:nvSpPr>
        <p:spPr bwMode="auto">
          <a:xfrm>
            <a:off x="7090348" y="601832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93" name="Rectangle 192">
            <a:extLst>
              <a:ext uri="{FF2B5EF4-FFF2-40B4-BE49-F238E27FC236}">
                <a16:creationId xmlns:a16="http://schemas.microsoft.com/office/drawing/2014/main" id="{8BC93FDE-118D-FDBD-8780-1C32037370D2}"/>
              </a:ext>
            </a:extLst>
          </p:cNvPr>
          <p:cNvSpPr/>
          <p:nvPr/>
        </p:nvSpPr>
        <p:spPr>
          <a:xfrm>
            <a:off x="6615292" y="6120852"/>
            <a:ext cx="118872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White Glove Program</a:t>
            </a:r>
          </a:p>
        </p:txBody>
      </p:sp>
      <p:sp>
        <p:nvSpPr>
          <p:cNvPr id="196" name="Oval 195">
            <a:extLst>
              <a:ext uri="{FF2B5EF4-FFF2-40B4-BE49-F238E27FC236}">
                <a16:creationId xmlns:a16="http://schemas.microsoft.com/office/drawing/2014/main" id="{A7B34CAB-9585-F587-F71F-0C2F61AFF6B0}"/>
              </a:ext>
            </a:extLst>
          </p:cNvPr>
          <p:cNvSpPr>
            <a:spLocks noChangeArrowheads="1"/>
          </p:cNvSpPr>
          <p:nvPr/>
        </p:nvSpPr>
        <p:spPr bwMode="auto">
          <a:xfrm>
            <a:off x="10145218" y="601832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97" name="Rectangle 196">
            <a:extLst>
              <a:ext uri="{FF2B5EF4-FFF2-40B4-BE49-F238E27FC236}">
                <a16:creationId xmlns:a16="http://schemas.microsoft.com/office/drawing/2014/main" id="{6C23149A-6F75-6958-EBC2-ACA05A561808}"/>
              </a:ext>
            </a:extLst>
          </p:cNvPr>
          <p:cNvSpPr/>
          <p:nvPr/>
        </p:nvSpPr>
        <p:spPr>
          <a:xfrm>
            <a:off x="9651781" y="6120852"/>
            <a:ext cx="1329912" cy="1450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LinkedIn Navigator Pilot</a:t>
            </a:r>
          </a:p>
        </p:txBody>
      </p:sp>
      <p:grpSp>
        <p:nvGrpSpPr>
          <p:cNvPr id="198" name="Group 197">
            <a:extLst>
              <a:ext uri="{FF2B5EF4-FFF2-40B4-BE49-F238E27FC236}">
                <a16:creationId xmlns:a16="http://schemas.microsoft.com/office/drawing/2014/main" id="{5E7344C3-AD56-28B9-82DE-CDF8F6C0DE0A}"/>
              </a:ext>
            </a:extLst>
          </p:cNvPr>
          <p:cNvGrpSpPr/>
          <p:nvPr/>
        </p:nvGrpSpPr>
        <p:grpSpPr>
          <a:xfrm>
            <a:off x="5734323" y="5610978"/>
            <a:ext cx="5873263" cy="284318"/>
            <a:chOff x="5813985" y="5559508"/>
            <a:chExt cx="5873263" cy="284318"/>
          </a:xfrm>
        </p:grpSpPr>
        <p:sp>
          <p:nvSpPr>
            <p:cNvPr id="199" name="Rectangle: Rounded Corners 198">
              <a:extLst>
                <a:ext uri="{FF2B5EF4-FFF2-40B4-BE49-F238E27FC236}">
                  <a16:creationId xmlns:a16="http://schemas.microsoft.com/office/drawing/2014/main" id="{13707E0F-9457-CBD2-FF95-C3205BDDC2E7}"/>
                </a:ext>
              </a:extLst>
            </p:cNvPr>
            <p:cNvSpPr/>
            <p:nvPr/>
          </p:nvSpPr>
          <p:spPr>
            <a:xfrm>
              <a:off x="5813986" y="5577158"/>
              <a:ext cx="4053913"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200" name="Rectangle: Rounded Corners 199">
              <a:extLst>
                <a:ext uri="{FF2B5EF4-FFF2-40B4-BE49-F238E27FC236}">
                  <a16:creationId xmlns:a16="http://schemas.microsoft.com/office/drawing/2014/main" id="{67540A13-11D1-AB20-0D19-70ECF8B6ADB0}"/>
                </a:ext>
              </a:extLst>
            </p:cNvPr>
            <p:cNvSpPr/>
            <p:nvPr/>
          </p:nvSpPr>
          <p:spPr>
            <a:xfrm>
              <a:off x="5813985" y="5577158"/>
              <a:ext cx="5873263"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201" name="Oval 200">
              <a:extLst>
                <a:ext uri="{FF2B5EF4-FFF2-40B4-BE49-F238E27FC236}">
                  <a16:creationId xmlns:a16="http://schemas.microsoft.com/office/drawing/2014/main" id="{6EBF9480-9242-37F4-F479-A943C3707538}"/>
                </a:ext>
              </a:extLst>
            </p:cNvPr>
            <p:cNvSpPr>
              <a:spLocks noChangeArrowheads="1"/>
            </p:cNvSpPr>
            <p:nvPr/>
          </p:nvSpPr>
          <p:spPr bwMode="auto">
            <a:xfrm>
              <a:off x="9928164" y="5560035"/>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02" name="Rectangle 201">
              <a:extLst>
                <a:ext uri="{FF2B5EF4-FFF2-40B4-BE49-F238E27FC236}">
                  <a16:creationId xmlns:a16="http://schemas.microsoft.com/office/drawing/2014/main" id="{EAD1A60E-065F-59F7-4324-1BFB3B167185}"/>
                </a:ext>
              </a:extLst>
            </p:cNvPr>
            <p:cNvSpPr/>
            <p:nvPr/>
          </p:nvSpPr>
          <p:spPr>
            <a:xfrm>
              <a:off x="9389007" y="5670919"/>
              <a:ext cx="118872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E2E Data Architecture</a:t>
              </a:r>
            </a:p>
          </p:txBody>
        </p:sp>
        <p:sp>
          <p:nvSpPr>
            <p:cNvPr id="203" name="Oval 202">
              <a:extLst>
                <a:ext uri="{FF2B5EF4-FFF2-40B4-BE49-F238E27FC236}">
                  <a16:creationId xmlns:a16="http://schemas.microsoft.com/office/drawing/2014/main" id="{C44C3EA1-96A7-3F19-6AE6-790ED0221D05}"/>
                </a:ext>
              </a:extLst>
            </p:cNvPr>
            <p:cNvSpPr>
              <a:spLocks noChangeArrowheads="1"/>
            </p:cNvSpPr>
            <p:nvPr/>
          </p:nvSpPr>
          <p:spPr bwMode="auto">
            <a:xfrm>
              <a:off x="10977697" y="5561334"/>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04" name="Rectangle 203">
              <a:extLst>
                <a:ext uri="{FF2B5EF4-FFF2-40B4-BE49-F238E27FC236}">
                  <a16:creationId xmlns:a16="http://schemas.microsoft.com/office/drawing/2014/main" id="{58AC53CD-DAA6-57CF-ECD0-FBF49456CE8C}"/>
                </a:ext>
              </a:extLst>
            </p:cNvPr>
            <p:cNvSpPr/>
            <p:nvPr/>
          </p:nvSpPr>
          <p:spPr>
            <a:xfrm>
              <a:off x="10438540" y="5670919"/>
              <a:ext cx="1103246"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Cloud Connections</a:t>
              </a:r>
            </a:p>
          </p:txBody>
        </p:sp>
        <p:sp>
          <p:nvSpPr>
            <p:cNvPr id="205" name="Oval 204">
              <a:extLst>
                <a:ext uri="{FF2B5EF4-FFF2-40B4-BE49-F238E27FC236}">
                  <a16:creationId xmlns:a16="http://schemas.microsoft.com/office/drawing/2014/main" id="{FBC95D5F-6B63-189A-42BF-CC4BA0491D77}"/>
                </a:ext>
              </a:extLst>
            </p:cNvPr>
            <p:cNvSpPr>
              <a:spLocks noChangeArrowheads="1"/>
            </p:cNvSpPr>
            <p:nvPr/>
          </p:nvSpPr>
          <p:spPr bwMode="auto">
            <a:xfrm>
              <a:off x="6654305" y="5559508"/>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06" name="Rectangle 205">
              <a:extLst>
                <a:ext uri="{FF2B5EF4-FFF2-40B4-BE49-F238E27FC236}">
                  <a16:creationId xmlns:a16="http://schemas.microsoft.com/office/drawing/2014/main" id="{D69D56B1-760D-021C-8D75-C5840FA83CAE}"/>
                </a:ext>
              </a:extLst>
            </p:cNvPr>
            <p:cNvSpPr/>
            <p:nvPr/>
          </p:nvSpPr>
          <p:spPr>
            <a:xfrm>
              <a:off x="5960268" y="5670919"/>
              <a:ext cx="1737360" cy="1729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Data Program Launch &amp; Roadmap</a:t>
              </a:r>
            </a:p>
          </p:txBody>
        </p:sp>
      </p:grpSp>
      <p:grpSp>
        <p:nvGrpSpPr>
          <p:cNvPr id="207" name="Group 206">
            <a:extLst>
              <a:ext uri="{FF2B5EF4-FFF2-40B4-BE49-F238E27FC236}">
                <a16:creationId xmlns:a16="http://schemas.microsoft.com/office/drawing/2014/main" id="{C78E8D3A-F09D-5CFF-1968-E5E6F184247C}"/>
              </a:ext>
            </a:extLst>
          </p:cNvPr>
          <p:cNvGrpSpPr/>
          <p:nvPr/>
        </p:nvGrpSpPr>
        <p:grpSpPr>
          <a:xfrm>
            <a:off x="5687601" y="4497459"/>
            <a:ext cx="6075798" cy="251251"/>
            <a:chOff x="5767263" y="4480499"/>
            <a:chExt cx="6075798" cy="251251"/>
          </a:xfrm>
        </p:grpSpPr>
        <p:sp>
          <p:nvSpPr>
            <p:cNvPr id="208" name="Rectangle: Rounded Corners 207">
              <a:extLst>
                <a:ext uri="{FF2B5EF4-FFF2-40B4-BE49-F238E27FC236}">
                  <a16:creationId xmlns:a16="http://schemas.microsoft.com/office/drawing/2014/main" id="{F8414815-1314-8456-40C0-7BC73C0B3DE3}"/>
                </a:ext>
              </a:extLst>
            </p:cNvPr>
            <p:cNvSpPr/>
            <p:nvPr/>
          </p:nvSpPr>
          <p:spPr>
            <a:xfrm>
              <a:off x="7034028" y="4489324"/>
              <a:ext cx="4653223" cy="90988"/>
            </a:xfrm>
            <a:prstGeom prst="roundRect">
              <a:avLst>
                <a:gd name="adj" fmla="val 45961"/>
              </a:avLst>
            </a:prstGeom>
            <a:pattFill prst="wdUpDiag">
              <a:fgClr>
                <a:srgbClr val="D9D9D9"/>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209" name="Rectangle: Rounded Corners 208">
              <a:extLst>
                <a:ext uri="{FF2B5EF4-FFF2-40B4-BE49-F238E27FC236}">
                  <a16:creationId xmlns:a16="http://schemas.microsoft.com/office/drawing/2014/main" id="{83DB49C9-F5E3-E4AC-0120-46BE538D7DFD}"/>
                </a:ext>
              </a:extLst>
            </p:cNvPr>
            <p:cNvSpPr/>
            <p:nvPr/>
          </p:nvSpPr>
          <p:spPr>
            <a:xfrm>
              <a:off x="5813984" y="4489324"/>
              <a:ext cx="5651227" cy="90988"/>
            </a:xfrm>
            <a:prstGeom prst="roundRect">
              <a:avLst>
                <a:gd name="adj" fmla="val 45961"/>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55" rtl="0" eaLnBrk="1" latinLnBrk="0" hangingPunct="1">
                <a:defRPr sz="1800" kern="1200">
                  <a:solidFill>
                    <a:schemeClr val="lt1"/>
                  </a:solidFill>
                  <a:latin typeface="+mn-lt"/>
                  <a:ea typeface="+mn-ea"/>
                  <a:cs typeface="+mn-cs"/>
                </a:defRPr>
              </a:lvl1pPr>
              <a:lvl2pPr marL="457177" algn="l" defTabSz="914355" rtl="0" eaLnBrk="1" latinLnBrk="0" hangingPunct="1">
                <a:defRPr sz="1800" kern="1200">
                  <a:solidFill>
                    <a:schemeClr val="lt1"/>
                  </a:solidFill>
                  <a:latin typeface="+mn-lt"/>
                  <a:ea typeface="+mn-ea"/>
                  <a:cs typeface="+mn-cs"/>
                </a:defRPr>
              </a:lvl2pPr>
              <a:lvl3pPr marL="914355" algn="l" defTabSz="914355" rtl="0" eaLnBrk="1" latinLnBrk="0" hangingPunct="1">
                <a:defRPr sz="1800" kern="1200">
                  <a:solidFill>
                    <a:schemeClr val="lt1"/>
                  </a:solidFill>
                  <a:latin typeface="+mn-lt"/>
                  <a:ea typeface="+mn-ea"/>
                  <a:cs typeface="+mn-cs"/>
                </a:defRPr>
              </a:lvl3pPr>
              <a:lvl4pPr marL="1371532" algn="l" defTabSz="914355" rtl="0" eaLnBrk="1" latinLnBrk="0" hangingPunct="1">
                <a:defRPr sz="1800" kern="1200">
                  <a:solidFill>
                    <a:schemeClr val="lt1"/>
                  </a:solidFill>
                  <a:latin typeface="+mn-lt"/>
                  <a:ea typeface="+mn-ea"/>
                  <a:cs typeface="+mn-cs"/>
                </a:defRPr>
              </a:lvl4pPr>
              <a:lvl5pPr marL="1828709" algn="l" defTabSz="914355" rtl="0" eaLnBrk="1" latinLnBrk="0" hangingPunct="1">
                <a:defRPr sz="1800" kern="1200">
                  <a:solidFill>
                    <a:schemeClr val="lt1"/>
                  </a:solidFill>
                  <a:latin typeface="+mn-lt"/>
                  <a:ea typeface="+mn-ea"/>
                  <a:cs typeface="+mn-cs"/>
                </a:defRPr>
              </a:lvl5pPr>
              <a:lvl6pPr marL="2285886" algn="l" defTabSz="914355" rtl="0" eaLnBrk="1" latinLnBrk="0" hangingPunct="1">
                <a:defRPr sz="1800" kern="1200">
                  <a:solidFill>
                    <a:schemeClr val="lt1"/>
                  </a:solidFill>
                  <a:latin typeface="+mn-lt"/>
                  <a:ea typeface="+mn-ea"/>
                  <a:cs typeface="+mn-cs"/>
                </a:defRPr>
              </a:lvl6pPr>
              <a:lvl7pPr marL="2743063" algn="l" defTabSz="914355" rtl="0" eaLnBrk="1" latinLnBrk="0" hangingPunct="1">
                <a:defRPr sz="1800" kern="1200">
                  <a:solidFill>
                    <a:schemeClr val="lt1"/>
                  </a:solidFill>
                  <a:latin typeface="+mn-lt"/>
                  <a:ea typeface="+mn-ea"/>
                  <a:cs typeface="+mn-cs"/>
                </a:defRPr>
              </a:lvl7pPr>
              <a:lvl8pPr marL="3200240" algn="l" defTabSz="914355" rtl="0" eaLnBrk="1" latinLnBrk="0" hangingPunct="1">
                <a:defRPr sz="1800" kern="1200">
                  <a:solidFill>
                    <a:schemeClr val="lt1"/>
                  </a:solidFill>
                  <a:latin typeface="+mn-lt"/>
                  <a:ea typeface="+mn-ea"/>
                  <a:cs typeface="+mn-cs"/>
                </a:defRPr>
              </a:lvl8pPr>
              <a:lvl9pPr marL="3657417" algn="l" defTabSz="914355" rtl="0" eaLnBrk="1" latinLnBrk="0" hangingPunct="1">
                <a:defRPr sz="1800" kern="1200">
                  <a:solidFill>
                    <a:schemeClr val="lt1"/>
                  </a:solidFill>
                  <a:latin typeface="+mn-lt"/>
                  <a:ea typeface="+mn-ea"/>
                  <a:cs typeface="+mn-cs"/>
                </a:defRPr>
              </a:lvl9pPr>
            </a:lstStyle>
            <a:p>
              <a:pPr algn="ctr"/>
              <a:endParaRPr lang="en-US" sz="1000">
                <a:latin typeface="Scotia Light" panose="020B0403020203020204" pitchFamily="34" charset="0"/>
                <a:ea typeface="Scotia Light" panose="020B0403020203020204" pitchFamily="34" charset="0"/>
              </a:endParaRPr>
            </a:p>
          </p:txBody>
        </p:sp>
        <p:sp>
          <p:nvSpPr>
            <p:cNvPr id="210" name="Oval 209">
              <a:extLst>
                <a:ext uri="{FF2B5EF4-FFF2-40B4-BE49-F238E27FC236}">
                  <a16:creationId xmlns:a16="http://schemas.microsoft.com/office/drawing/2014/main" id="{08EA7DF3-7F95-11B4-E070-EE59B9671108}"/>
                </a:ext>
              </a:extLst>
            </p:cNvPr>
            <p:cNvSpPr>
              <a:spLocks noChangeArrowheads="1"/>
            </p:cNvSpPr>
            <p:nvPr/>
          </p:nvSpPr>
          <p:spPr bwMode="auto">
            <a:xfrm>
              <a:off x="7538968" y="4480499"/>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11" name="Rectangle 210">
              <a:extLst>
                <a:ext uri="{FF2B5EF4-FFF2-40B4-BE49-F238E27FC236}">
                  <a16:creationId xmlns:a16="http://schemas.microsoft.com/office/drawing/2014/main" id="{19F9C40C-8C5D-9DD8-DFA6-5E97EDDC338D}"/>
                </a:ext>
              </a:extLst>
            </p:cNvPr>
            <p:cNvSpPr/>
            <p:nvPr/>
          </p:nvSpPr>
          <p:spPr>
            <a:xfrm>
              <a:off x="6906054" y="4588002"/>
              <a:ext cx="1375557" cy="1403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nCino Migration 2.0 </a:t>
              </a:r>
            </a:p>
          </p:txBody>
        </p:sp>
        <p:sp>
          <p:nvSpPr>
            <p:cNvPr id="212" name="Oval 211">
              <a:extLst>
                <a:ext uri="{FF2B5EF4-FFF2-40B4-BE49-F238E27FC236}">
                  <a16:creationId xmlns:a16="http://schemas.microsoft.com/office/drawing/2014/main" id="{C5C20A6A-1BFB-C119-65D7-2912503F17D5}"/>
                </a:ext>
              </a:extLst>
            </p:cNvPr>
            <p:cNvSpPr>
              <a:spLocks noChangeArrowheads="1"/>
            </p:cNvSpPr>
            <p:nvPr/>
          </p:nvSpPr>
          <p:spPr bwMode="auto">
            <a:xfrm>
              <a:off x="9942458" y="4480499"/>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13" name="Rectangle 212">
              <a:extLst>
                <a:ext uri="{FF2B5EF4-FFF2-40B4-BE49-F238E27FC236}">
                  <a16:creationId xmlns:a16="http://schemas.microsoft.com/office/drawing/2014/main" id="{6ACDBA39-BCE8-DF0A-EC16-99C07490EFCF}"/>
                </a:ext>
              </a:extLst>
            </p:cNvPr>
            <p:cNvSpPr/>
            <p:nvPr/>
          </p:nvSpPr>
          <p:spPr>
            <a:xfrm>
              <a:off x="9363051" y="4588002"/>
              <a:ext cx="1218029"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Credit Lens Integration</a:t>
              </a:r>
            </a:p>
          </p:txBody>
        </p:sp>
        <p:sp>
          <p:nvSpPr>
            <p:cNvPr id="214" name="Oval 213">
              <a:extLst>
                <a:ext uri="{FF2B5EF4-FFF2-40B4-BE49-F238E27FC236}">
                  <a16:creationId xmlns:a16="http://schemas.microsoft.com/office/drawing/2014/main" id="{55FC3699-56C3-A0A1-D031-E100D4D6589E}"/>
                </a:ext>
              </a:extLst>
            </p:cNvPr>
            <p:cNvSpPr>
              <a:spLocks noChangeArrowheads="1"/>
            </p:cNvSpPr>
            <p:nvPr/>
          </p:nvSpPr>
          <p:spPr bwMode="auto">
            <a:xfrm>
              <a:off x="11193032" y="4480499"/>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15" name="Rectangle 214">
              <a:extLst>
                <a:ext uri="{FF2B5EF4-FFF2-40B4-BE49-F238E27FC236}">
                  <a16:creationId xmlns:a16="http://schemas.microsoft.com/office/drawing/2014/main" id="{CBDDEAA4-1697-9B57-55FB-C829B3618C9D}"/>
                </a:ext>
              </a:extLst>
            </p:cNvPr>
            <p:cNvSpPr/>
            <p:nvPr/>
          </p:nvSpPr>
          <p:spPr>
            <a:xfrm>
              <a:off x="10511577" y="4588002"/>
              <a:ext cx="1331484" cy="1437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Credit Memo </a:t>
              </a:r>
              <a:r>
                <a:rPr lang="en-CA" sz="800" i="1" err="1">
                  <a:solidFill>
                    <a:schemeClr val="tx1"/>
                  </a:solidFill>
                </a:rPr>
                <a:t>Simp</a:t>
              </a:r>
              <a:r>
                <a:rPr lang="en-CA" sz="800" i="1">
                  <a:solidFill>
                    <a:schemeClr val="tx1"/>
                  </a:solidFill>
                </a:rPr>
                <a:t>.</a:t>
              </a:r>
            </a:p>
          </p:txBody>
        </p:sp>
        <p:sp>
          <p:nvSpPr>
            <p:cNvPr id="216" name="Oval 215">
              <a:extLst>
                <a:ext uri="{FF2B5EF4-FFF2-40B4-BE49-F238E27FC236}">
                  <a16:creationId xmlns:a16="http://schemas.microsoft.com/office/drawing/2014/main" id="{04547ED6-FD03-9338-FF37-81494D5ED9C1}"/>
                </a:ext>
              </a:extLst>
            </p:cNvPr>
            <p:cNvSpPr>
              <a:spLocks noChangeArrowheads="1"/>
            </p:cNvSpPr>
            <p:nvPr/>
          </p:nvSpPr>
          <p:spPr bwMode="auto">
            <a:xfrm>
              <a:off x="8691882" y="4480499"/>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17" name="Rectangle 216">
              <a:extLst>
                <a:ext uri="{FF2B5EF4-FFF2-40B4-BE49-F238E27FC236}">
                  <a16:creationId xmlns:a16="http://schemas.microsoft.com/office/drawing/2014/main" id="{F83FC268-42BB-4585-5B70-F216DC7E77EA}"/>
                </a:ext>
              </a:extLst>
            </p:cNvPr>
            <p:cNvSpPr/>
            <p:nvPr/>
          </p:nvSpPr>
          <p:spPr>
            <a:xfrm>
              <a:off x="8053097" y="4588002"/>
              <a:ext cx="1375557" cy="1403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Rates &amp; Payments </a:t>
              </a:r>
            </a:p>
          </p:txBody>
        </p:sp>
        <p:sp>
          <p:nvSpPr>
            <p:cNvPr id="218" name="Oval 217">
              <a:extLst>
                <a:ext uri="{FF2B5EF4-FFF2-40B4-BE49-F238E27FC236}">
                  <a16:creationId xmlns:a16="http://schemas.microsoft.com/office/drawing/2014/main" id="{D1C87CA2-CB3C-1C65-41C0-1F9610ACE3DC}"/>
                </a:ext>
              </a:extLst>
            </p:cNvPr>
            <p:cNvSpPr>
              <a:spLocks noChangeArrowheads="1"/>
            </p:cNvSpPr>
            <p:nvPr/>
          </p:nvSpPr>
          <p:spPr bwMode="auto">
            <a:xfrm>
              <a:off x="6190730" y="4487311"/>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219" name="Rectangle 218">
              <a:extLst>
                <a:ext uri="{FF2B5EF4-FFF2-40B4-BE49-F238E27FC236}">
                  <a16:creationId xmlns:a16="http://schemas.microsoft.com/office/drawing/2014/main" id="{05CB29F2-70C8-C7EB-D661-1085240B9DC7}"/>
                </a:ext>
              </a:extLst>
            </p:cNvPr>
            <p:cNvSpPr/>
            <p:nvPr/>
          </p:nvSpPr>
          <p:spPr>
            <a:xfrm>
              <a:off x="5767263" y="4588002"/>
              <a:ext cx="1375557" cy="1403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i="1">
                  <a:solidFill>
                    <a:schemeClr val="tx1"/>
                  </a:solidFill>
                </a:rPr>
                <a:t>Loan Maturity Remind. </a:t>
              </a:r>
            </a:p>
          </p:txBody>
        </p:sp>
      </p:grpSp>
      <p:grpSp>
        <p:nvGrpSpPr>
          <p:cNvPr id="2" name="Group 1">
            <a:extLst>
              <a:ext uri="{FF2B5EF4-FFF2-40B4-BE49-F238E27FC236}">
                <a16:creationId xmlns:a16="http://schemas.microsoft.com/office/drawing/2014/main" id="{D620CD2A-D922-4023-69E6-88D8A6217D37}"/>
              </a:ext>
            </a:extLst>
          </p:cNvPr>
          <p:cNvGrpSpPr/>
          <p:nvPr/>
        </p:nvGrpSpPr>
        <p:grpSpPr>
          <a:xfrm>
            <a:off x="588989" y="2362221"/>
            <a:ext cx="274321" cy="274320"/>
            <a:chOff x="578105" y="4377513"/>
            <a:chExt cx="274321" cy="274320"/>
          </a:xfrm>
        </p:grpSpPr>
        <p:sp>
          <p:nvSpPr>
            <p:cNvPr id="4" name="Oval 3">
              <a:extLst>
                <a:ext uri="{FF2B5EF4-FFF2-40B4-BE49-F238E27FC236}">
                  <a16:creationId xmlns:a16="http://schemas.microsoft.com/office/drawing/2014/main" id="{A80DB683-5A1E-A939-FC20-D0C2E8873107}"/>
                </a:ext>
              </a:extLst>
            </p:cNvPr>
            <p:cNvSpPr/>
            <p:nvPr/>
          </p:nvSpPr>
          <p:spPr>
            <a:xfrm>
              <a:off x="578105" y="4377513"/>
              <a:ext cx="274321" cy="2743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200"/>
            </a:p>
          </p:txBody>
        </p:sp>
        <p:sp>
          <p:nvSpPr>
            <p:cNvPr id="5" name="Shape 2581">
              <a:extLst>
                <a:ext uri="{FF2B5EF4-FFF2-40B4-BE49-F238E27FC236}">
                  <a16:creationId xmlns:a16="http://schemas.microsoft.com/office/drawing/2014/main" id="{141726E8-477D-629F-51A4-6F84F715D80E}"/>
                </a:ext>
              </a:extLst>
            </p:cNvPr>
            <p:cNvSpPr/>
            <p:nvPr/>
          </p:nvSpPr>
          <p:spPr>
            <a:xfrm>
              <a:off x="623753" y="4422622"/>
              <a:ext cx="183024" cy="184102"/>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
        <p:nvSpPr>
          <p:cNvPr id="6" name="Shape 2931">
            <a:extLst>
              <a:ext uri="{FF2B5EF4-FFF2-40B4-BE49-F238E27FC236}">
                <a16:creationId xmlns:a16="http://schemas.microsoft.com/office/drawing/2014/main" id="{4B5B634E-7662-0E74-2BA5-BCAD4494B7EA}"/>
              </a:ext>
            </a:extLst>
          </p:cNvPr>
          <p:cNvSpPr/>
          <p:nvPr/>
        </p:nvSpPr>
        <p:spPr>
          <a:xfrm>
            <a:off x="635935" y="4912494"/>
            <a:ext cx="173072" cy="125872"/>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EC111A"/>
          </a:solidFill>
          <a:ln w="12700">
            <a:miter lim="400000"/>
          </a:ln>
        </p:spPr>
        <p:txBody>
          <a:bodyPr lIns="38091" tIns="38091" rIns="38091" bIns="38091" anchor="ctr"/>
          <a:lstStyle/>
          <a:p>
            <a:pPr defTabSz="457051">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 name="Oval 8">
            <a:extLst>
              <a:ext uri="{FF2B5EF4-FFF2-40B4-BE49-F238E27FC236}">
                <a16:creationId xmlns:a16="http://schemas.microsoft.com/office/drawing/2014/main" id="{5E045B51-4544-FC44-34A3-7DF1F6E11BA9}"/>
              </a:ext>
            </a:extLst>
          </p:cNvPr>
          <p:cNvSpPr>
            <a:spLocks noChangeArrowheads="1"/>
          </p:cNvSpPr>
          <p:nvPr/>
        </p:nvSpPr>
        <p:spPr bwMode="auto">
          <a:xfrm>
            <a:off x="8469151" y="561372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0" name="Rectangle 9">
            <a:extLst>
              <a:ext uri="{FF2B5EF4-FFF2-40B4-BE49-F238E27FC236}">
                <a16:creationId xmlns:a16="http://schemas.microsoft.com/office/drawing/2014/main" id="{D4129572-E036-005C-6031-AC9FD2514433}"/>
              </a:ext>
            </a:extLst>
          </p:cNvPr>
          <p:cNvSpPr/>
          <p:nvPr/>
        </p:nvSpPr>
        <p:spPr>
          <a:xfrm>
            <a:off x="7982003" y="5716252"/>
            <a:ext cx="1103246"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D&amp;B Connect</a:t>
            </a:r>
          </a:p>
        </p:txBody>
      </p:sp>
      <p:sp>
        <p:nvSpPr>
          <p:cNvPr id="8" name="Oval 7">
            <a:extLst>
              <a:ext uri="{FF2B5EF4-FFF2-40B4-BE49-F238E27FC236}">
                <a16:creationId xmlns:a16="http://schemas.microsoft.com/office/drawing/2014/main" id="{D6F9AB36-F058-1BF7-A207-23B7735BC67C}"/>
              </a:ext>
            </a:extLst>
          </p:cNvPr>
          <p:cNvSpPr>
            <a:spLocks noChangeArrowheads="1"/>
          </p:cNvSpPr>
          <p:nvPr/>
        </p:nvSpPr>
        <p:spPr bwMode="auto">
          <a:xfrm>
            <a:off x="8135221" y="6024713"/>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2" name="Rectangle 11">
            <a:extLst>
              <a:ext uri="{FF2B5EF4-FFF2-40B4-BE49-F238E27FC236}">
                <a16:creationId xmlns:a16="http://schemas.microsoft.com/office/drawing/2014/main" id="{F3258542-C92B-DBFB-D0FE-F4030E2491E9}"/>
              </a:ext>
            </a:extLst>
          </p:cNvPr>
          <p:cNvSpPr/>
          <p:nvPr/>
        </p:nvSpPr>
        <p:spPr>
          <a:xfrm>
            <a:off x="7660165" y="6127243"/>
            <a:ext cx="118872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Leads &amp; Actions</a:t>
            </a:r>
          </a:p>
        </p:txBody>
      </p:sp>
      <p:sp>
        <p:nvSpPr>
          <p:cNvPr id="14" name="Oval 13">
            <a:extLst>
              <a:ext uri="{FF2B5EF4-FFF2-40B4-BE49-F238E27FC236}">
                <a16:creationId xmlns:a16="http://schemas.microsoft.com/office/drawing/2014/main" id="{E89D3FC9-6155-BE96-6241-CE3D0C2E94F6}"/>
              </a:ext>
            </a:extLst>
          </p:cNvPr>
          <p:cNvSpPr>
            <a:spLocks noChangeArrowheads="1"/>
          </p:cNvSpPr>
          <p:nvPr/>
        </p:nvSpPr>
        <p:spPr bwMode="auto">
          <a:xfrm>
            <a:off x="9058945" y="6018322"/>
            <a:ext cx="109728" cy="108638"/>
          </a:xfrm>
          <a:prstGeom prst="ellipse">
            <a:avLst/>
          </a:prstGeom>
          <a:solidFill>
            <a:schemeClr val="bg1"/>
          </a:solidFill>
          <a:ln w="19050" cap="rnd">
            <a:solidFill>
              <a:srgbClr val="FF0000"/>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marL="0" algn="l" defTabSz="914355" rtl="0" eaLnBrk="1" latinLnBrk="0" hangingPunct="1">
              <a:defRPr sz="1800" kern="1200">
                <a:solidFill>
                  <a:schemeClr val="tx1"/>
                </a:solidFill>
                <a:latin typeface="+mn-lt"/>
                <a:ea typeface="+mn-ea"/>
                <a:cs typeface="+mn-cs"/>
              </a:defRPr>
            </a:lvl1pPr>
            <a:lvl2pPr marL="457177" algn="l" defTabSz="914355" rtl="0" eaLnBrk="1" latinLnBrk="0" hangingPunct="1">
              <a:defRPr sz="1800" kern="1200">
                <a:solidFill>
                  <a:schemeClr val="tx1"/>
                </a:solidFill>
                <a:latin typeface="+mn-lt"/>
                <a:ea typeface="+mn-ea"/>
                <a:cs typeface="+mn-cs"/>
              </a:defRPr>
            </a:lvl2pPr>
            <a:lvl3pPr marL="914355" algn="l" defTabSz="914355" rtl="0" eaLnBrk="1" latinLnBrk="0" hangingPunct="1">
              <a:defRPr sz="1800" kern="1200">
                <a:solidFill>
                  <a:schemeClr val="tx1"/>
                </a:solidFill>
                <a:latin typeface="+mn-lt"/>
                <a:ea typeface="+mn-ea"/>
                <a:cs typeface="+mn-cs"/>
              </a:defRPr>
            </a:lvl3pPr>
            <a:lvl4pPr marL="1371532" algn="l" defTabSz="914355" rtl="0" eaLnBrk="1" latinLnBrk="0" hangingPunct="1">
              <a:defRPr sz="1800" kern="1200">
                <a:solidFill>
                  <a:schemeClr val="tx1"/>
                </a:solidFill>
                <a:latin typeface="+mn-lt"/>
                <a:ea typeface="+mn-ea"/>
                <a:cs typeface="+mn-cs"/>
              </a:defRPr>
            </a:lvl4pPr>
            <a:lvl5pPr marL="1828709" algn="l" defTabSz="914355" rtl="0" eaLnBrk="1" latinLnBrk="0" hangingPunct="1">
              <a:defRPr sz="1800" kern="1200">
                <a:solidFill>
                  <a:schemeClr val="tx1"/>
                </a:solidFill>
                <a:latin typeface="+mn-lt"/>
                <a:ea typeface="+mn-ea"/>
                <a:cs typeface="+mn-cs"/>
              </a:defRPr>
            </a:lvl5pPr>
            <a:lvl6pPr marL="2285886" algn="l" defTabSz="914355" rtl="0" eaLnBrk="1" latinLnBrk="0" hangingPunct="1">
              <a:defRPr sz="1800" kern="1200">
                <a:solidFill>
                  <a:schemeClr val="tx1"/>
                </a:solidFill>
                <a:latin typeface="+mn-lt"/>
                <a:ea typeface="+mn-ea"/>
                <a:cs typeface="+mn-cs"/>
              </a:defRPr>
            </a:lvl6pPr>
            <a:lvl7pPr marL="2743063" algn="l" defTabSz="914355" rtl="0" eaLnBrk="1" latinLnBrk="0" hangingPunct="1">
              <a:defRPr sz="1800" kern="1200">
                <a:solidFill>
                  <a:schemeClr val="tx1"/>
                </a:solidFill>
                <a:latin typeface="+mn-lt"/>
                <a:ea typeface="+mn-ea"/>
                <a:cs typeface="+mn-cs"/>
              </a:defRPr>
            </a:lvl7pPr>
            <a:lvl8pPr marL="3200240" algn="l" defTabSz="914355" rtl="0" eaLnBrk="1" latinLnBrk="0" hangingPunct="1">
              <a:defRPr sz="1800" kern="1200">
                <a:solidFill>
                  <a:schemeClr val="tx1"/>
                </a:solidFill>
                <a:latin typeface="+mn-lt"/>
                <a:ea typeface="+mn-ea"/>
                <a:cs typeface="+mn-cs"/>
              </a:defRPr>
            </a:lvl8pPr>
            <a:lvl9pPr marL="3657417" algn="l" defTabSz="914355" rtl="0" eaLnBrk="1" latinLnBrk="0" hangingPunct="1">
              <a:defRPr sz="1800" kern="1200">
                <a:solidFill>
                  <a:schemeClr val="tx1"/>
                </a:solidFill>
                <a:latin typeface="+mn-lt"/>
                <a:ea typeface="+mn-ea"/>
                <a:cs typeface="+mn-cs"/>
              </a:defRPr>
            </a:lvl9pPr>
          </a:lstStyle>
          <a:p>
            <a:pPr>
              <a:lnSpc>
                <a:spcPct val="80000"/>
              </a:lnSpc>
            </a:pPr>
            <a:r>
              <a:rPr lang="en-AU">
                <a:latin typeface="+mn-lt"/>
                <a:cs typeface="Gotham Medium" pitchFamily="2" charset="0"/>
              </a:rPr>
              <a:t>   </a:t>
            </a:r>
          </a:p>
        </p:txBody>
      </p:sp>
      <p:sp>
        <p:nvSpPr>
          <p:cNvPr id="15" name="Rectangle 14">
            <a:extLst>
              <a:ext uri="{FF2B5EF4-FFF2-40B4-BE49-F238E27FC236}">
                <a16:creationId xmlns:a16="http://schemas.microsoft.com/office/drawing/2014/main" id="{C745BAF0-9EEA-FF3B-D5DA-D40BC3CCFE11}"/>
              </a:ext>
            </a:extLst>
          </p:cNvPr>
          <p:cNvSpPr/>
          <p:nvPr/>
        </p:nvSpPr>
        <p:spPr>
          <a:xfrm>
            <a:off x="8583889" y="6120852"/>
            <a:ext cx="1188720" cy="13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800" i="1">
                <a:solidFill>
                  <a:schemeClr val="tx1"/>
                </a:solidFill>
              </a:rPr>
              <a:t>Client Lifetime Value</a:t>
            </a:r>
          </a:p>
        </p:txBody>
      </p:sp>
      <p:sp>
        <p:nvSpPr>
          <p:cNvPr id="13" name="Text Placeholder 12">
            <a:extLst>
              <a:ext uri="{FF2B5EF4-FFF2-40B4-BE49-F238E27FC236}">
                <a16:creationId xmlns:a16="http://schemas.microsoft.com/office/drawing/2014/main" id="{7F60433B-3292-EA16-E1ED-19756095C113}"/>
              </a:ext>
            </a:extLst>
          </p:cNvPr>
          <p:cNvSpPr>
            <a:spLocks noGrp="1"/>
          </p:cNvSpPr>
          <p:nvPr>
            <p:ph type="body" sz="quarter" idx="13"/>
          </p:nvPr>
        </p:nvSpPr>
        <p:spPr/>
        <p:txBody>
          <a:bodyPr/>
          <a:lstStyle/>
          <a:p>
            <a:endParaRPr lang="en-CA"/>
          </a:p>
        </p:txBody>
      </p:sp>
    </p:spTree>
    <p:extLst>
      <p:ext uri="{BB962C8B-B14F-4D97-AF65-F5344CB8AC3E}">
        <p14:creationId xmlns:p14="http://schemas.microsoft.com/office/powerpoint/2010/main" val="148374019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18FCDD-A813-4178-56BF-636D758F615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C7BC4C13-9AE8-64A2-870F-054D04E77723}"/>
              </a:ext>
            </a:extLst>
          </p:cNvPr>
          <p:cNvSpPr>
            <a:spLocks noGrp="1"/>
          </p:cNvSpPr>
          <p:nvPr>
            <p:ph type="body" sz="quarter" idx="11"/>
          </p:nvPr>
        </p:nvSpPr>
        <p:spPr/>
        <p:txBody>
          <a:bodyPr/>
          <a:lstStyle/>
          <a:p>
            <a:r>
              <a:rPr lang="en-CA"/>
              <a:t>Project Governance</a:t>
            </a:r>
          </a:p>
          <a:p>
            <a:endParaRPr lang="en-CA"/>
          </a:p>
        </p:txBody>
      </p:sp>
      <p:sp>
        <p:nvSpPr>
          <p:cNvPr id="3" name="Text Placeholder 2">
            <a:extLst>
              <a:ext uri="{FF2B5EF4-FFF2-40B4-BE49-F238E27FC236}">
                <a16:creationId xmlns:a16="http://schemas.microsoft.com/office/drawing/2014/main" id="{B7328608-E262-8434-580F-99A8661848BD}"/>
              </a:ext>
            </a:extLst>
          </p:cNvPr>
          <p:cNvSpPr>
            <a:spLocks noGrp="1"/>
          </p:cNvSpPr>
          <p:nvPr>
            <p:ph type="body" sz="quarter" idx="12"/>
          </p:nvPr>
        </p:nvSpPr>
        <p:spPr/>
        <p:txBody>
          <a:bodyPr/>
          <a:lstStyle/>
          <a:p>
            <a:r>
              <a:rPr lang="en-CA"/>
              <a:t>06</a:t>
            </a:r>
          </a:p>
        </p:txBody>
      </p:sp>
    </p:spTree>
    <p:extLst>
      <p:ext uri="{BB962C8B-B14F-4D97-AF65-F5344CB8AC3E}">
        <p14:creationId xmlns:p14="http://schemas.microsoft.com/office/powerpoint/2010/main" val="74855847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think-cell data - do not delete" hidden="1">
            <a:extLst>
              <a:ext uri="{FF2B5EF4-FFF2-40B4-BE49-F238E27FC236}">
                <a16:creationId xmlns:a16="http://schemas.microsoft.com/office/drawing/2014/main" id="{373DD4D1-0C97-01CA-C7D8-66B62D5F387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20" name="think-cell data - do not delete" hidden="1">
                        <a:extLst>
                          <a:ext uri="{FF2B5EF4-FFF2-40B4-BE49-F238E27FC236}">
                            <a16:creationId xmlns:a16="http://schemas.microsoft.com/office/drawing/2014/main" id="{373DD4D1-0C97-01CA-C7D8-66B62D5F387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D810ACE5-6664-52A6-1DF2-F1240E6E96DE}"/>
              </a:ext>
            </a:extLst>
          </p:cNvPr>
          <p:cNvSpPr>
            <a:spLocks noGrp="1"/>
          </p:cNvSpPr>
          <p:nvPr>
            <p:ph type="title"/>
          </p:nvPr>
        </p:nvSpPr>
        <p:spPr/>
        <p:txBody>
          <a:bodyPr vert="horz"/>
          <a:lstStyle/>
          <a:p>
            <a:r>
              <a:rPr lang="en-US">
                <a:solidFill>
                  <a:srgbClr val="EC111A"/>
                </a:solidFill>
              </a:rPr>
              <a:t>Program Team | </a:t>
            </a:r>
            <a:r>
              <a:rPr lang="en-US"/>
              <a:t>We will work collaboratively with the business teams and engage with the functional experts to design the program</a:t>
            </a:r>
          </a:p>
        </p:txBody>
      </p:sp>
      <p:sp>
        <p:nvSpPr>
          <p:cNvPr id="3" name="Slide Number Placeholder 2">
            <a:extLst>
              <a:ext uri="{FF2B5EF4-FFF2-40B4-BE49-F238E27FC236}">
                <a16:creationId xmlns:a16="http://schemas.microsoft.com/office/drawing/2014/main" id="{75A6F95D-566B-B389-A52F-78760F2DBE25}"/>
              </a:ext>
            </a:extLst>
          </p:cNvPr>
          <p:cNvSpPr>
            <a:spLocks noGrp="1"/>
          </p:cNvSpPr>
          <p:nvPr>
            <p:ph type="sldNum" sz="quarter" idx="10"/>
          </p:nvPr>
        </p:nvSpPr>
        <p:spPr/>
        <p:txBody>
          <a:bodyPr/>
          <a:lstStyle/>
          <a:p>
            <a:pPr marL="0" marR="0" lvl="0" indent="0" algn="r" defTabSz="914355"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355" rtl="0" eaLnBrk="1" fontAlgn="auto" latinLnBrk="0" hangingPunct="1">
                <a:lnSpc>
                  <a:spcPct val="100000"/>
                </a:lnSpc>
                <a:spcBef>
                  <a:spcPts val="0"/>
                </a:spcBef>
                <a:spcAft>
                  <a:spcPts val="0"/>
                </a:spcAft>
                <a:buClrTx/>
                <a:buSzTx/>
                <a:buFontTx/>
                <a:buNone/>
                <a:tabLst/>
                <a:defRPr/>
              </a:pPr>
              <a:t>27</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7" name="Rectangle 6">
            <a:extLst>
              <a:ext uri="{FF2B5EF4-FFF2-40B4-BE49-F238E27FC236}">
                <a16:creationId xmlns:a16="http://schemas.microsoft.com/office/drawing/2014/main" id="{4B46AB85-5F57-A9B9-9F77-225374162F05}"/>
              </a:ext>
            </a:extLst>
          </p:cNvPr>
          <p:cNvSpPr/>
          <p:nvPr/>
        </p:nvSpPr>
        <p:spPr>
          <a:xfrm>
            <a:off x="514513" y="1512385"/>
            <a:ext cx="11160124" cy="1352732"/>
          </a:xfrm>
          <a:prstGeom prst="rect">
            <a:avLst/>
          </a:prstGeom>
          <a:solidFill>
            <a:schemeClr val="bg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182880" rtlCol="0" anchor="t"/>
          <a:lstStyle/>
          <a:p>
            <a:pPr marL="0" marR="0" lvl="0" indent="0" algn="ctr" defTabSz="914355" rtl="0" eaLnBrk="1" fontAlgn="auto" latinLnBrk="0" hangingPunct="1">
              <a:lnSpc>
                <a:spcPct val="100000"/>
              </a:lnSpc>
              <a:spcBef>
                <a:spcPts val="600"/>
              </a:spcBef>
              <a:spcAft>
                <a:spcPts val="300"/>
              </a:spcAft>
              <a:buClrTx/>
              <a:buSzTx/>
              <a:buFontTx/>
              <a:buNone/>
              <a:tabLst/>
              <a:defRPr/>
            </a:pPr>
            <a:r>
              <a:rPr kumimoji="0" lang="en-CA" sz="1600" b="1" i="0" u="none" strike="noStrike" kern="1200" cap="none" spc="0" normalizeH="0" baseline="0" noProof="0">
                <a:ln>
                  <a:noFill/>
                </a:ln>
                <a:solidFill>
                  <a:srgbClr val="FFFFFF"/>
                </a:solidFill>
                <a:effectLst/>
                <a:uLnTx/>
                <a:uFillTx/>
                <a:latin typeface="Scotia"/>
                <a:ea typeface="+mn-ea"/>
                <a:cs typeface="+mn-cs"/>
              </a:rPr>
              <a:t>Steering Committee </a:t>
            </a:r>
            <a:r>
              <a:rPr kumimoji="0" lang="en-CA" sz="1600" b="0" i="0" u="none" strike="noStrike" kern="1200" cap="none" spc="0" normalizeH="0" baseline="0" noProof="0">
                <a:ln>
                  <a:noFill/>
                </a:ln>
                <a:solidFill>
                  <a:srgbClr val="FFFFFF"/>
                </a:solidFill>
                <a:effectLst/>
                <a:uLnTx/>
                <a:uFillTx/>
                <a:latin typeface="Scotia"/>
                <a:ea typeface="+mn-ea"/>
                <a:cs typeface="+mn-cs"/>
              </a:rPr>
              <a:t>(Meets Monthly)</a:t>
            </a:r>
            <a:endParaRPr kumimoji="0" lang="en-CA" sz="1600" b="1" i="0" u="none" strike="noStrike" kern="1200" cap="none" spc="0" normalizeH="0" baseline="0" noProof="0">
              <a:ln>
                <a:noFill/>
              </a:ln>
              <a:solidFill>
                <a:srgbClr val="FFFFFF"/>
              </a:solidFill>
              <a:effectLst/>
              <a:uLnTx/>
              <a:uFillTx/>
              <a:latin typeface="Scotia"/>
              <a:ea typeface="+mn-ea"/>
              <a:cs typeface="+mn-cs"/>
            </a:endParaRPr>
          </a:p>
          <a:p>
            <a:pPr marL="0" marR="0" lvl="0" indent="0" algn="ctr" defTabSz="914355" rtl="0" eaLnBrk="1" fontAlgn="auto" latinLnBrk="0" hangingPunct="1">
              <a:lnSpc>
                <a:spcPct val="100000"/>
              </a:lnSpc>
              <a:spcBef>
                <a:spcPts val="0"/>
              </a:spcBef>
              <a:spcAft>
                <a:spcPts val="300"/>
              </a:spcAft>
              <a:buClrTx/>
              <a:buSzTx/>
              <a:buFontTx/>
              <a:buNone/>
              <a:tabLst/>
              <a:defRPr/>
            </a:pPr>
            <a:r>
              <a:rPr kumimoji="0" lang="en-CA" sz="1050" b="0" i="1" u="none" strike="noStrike" kern="1200" cap="none" spc="0" normalizeH="0" baseline="0" noProof="0">
                <a:ln>
                  <a:noFill/>
                </a:ln>
                <a:solidFill>
                  <a:srgbClr val="FFFFFF"/>
                </a:solidFill>
                <a:effectLst/>
                <a:uLnTx/>
                <a:uFillTx/>
                <a:latin typeface="Scotia"/>
                <a:ea typeface="+mn-ea"/>
                <a:cs typeface="+mn-cs"/>
              </a:rPr>
              <a:t>Guide scope and strategic development; Prioritize and make decisions on key issues and recommendations; Review and approve project milestones and deliverables</a:t>
            </a:r>
          </a:p>
        </p:txBody>
      </p:sp>
      <p:sp>
        <p:nvSpPr>
          <p:cNvPr id="11" name="Rectangle 10">
            <a:extLst>
              <a:ext uri="{FF2B5EF4-FFF2-40B4-BE49-F238E27FC236}">
                <a16:creationId xmlns:a16="http://schemas.microsoft.com/office/drawing/2014/main" id="{A62E821B-D571-BDF9-35F1-DA0C66433AC7}"/>
              </a:ext>
            </a:extLst>
          </p:cNvPr>
          <p:cNvSpPr/>
          <p:nvPr/>
        </p:nvSpPr>
        <p:spPr>
          <a:xfrm>
            <a:off x="519220" y="2952202"/>
            <a:ext cx="4078044" cy="3368496"/>
          </a:xfrm>
          <a:prstGeom prst="rect">
            <a:avLst/>
          </a:prstGeom>
          <a:solidFill>
            <a:schemeClr val="bg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182880" rtlCol="0" anchor="t"/>
          <a:lstStyle/>
          <a:p>
            <a:pPr marL="0" marR="0" lvl="0" indent="0" algn="ctr" defTabSz="914355" rtl="0" eaLnBrk="1" fontAlgn="auto" latinLnBrk="0" hangingPunct="1">
              <a:lnSpc>
                <a:spcPct val="100000"/>
              </a:lnSpc>
              <a:spcBef>
                <a:spcPts val="400"/>
              </a:spcBef>
              <a:spcAft>
                <a:spcPts val="300"/>
              </a:spcAft>
              <a:buClrTx/>
              <a:buSzTx/>
              <a:buFontTx/>
              <a:buNone/>
              <a:tabLst/>
              <a:defRPr/>
            </a:pPr>
            <a:r>
              <a:rPr kumimoji="0" lang="en-CA" sz="1400" b="1" i="0" u="none" strike="noStrike" kern="1200" cap="none" spc="0" normalizeH="0" baseline="0" noProof="0">
                <a:ln>
                  <a:noFill/>
                </a:ln>
                <a:solidFill>
                  <a:srgbClr val="000000"/>
                </a:solidFill>
                <a:effectLst/>
                <a:uLnTx/>
                <a:uFillTx/>
                <a:latin typeface="Scotia"/>
                <a:ea typeface="+mn-ea"/>
                <a:cs typeface="+mn-cs"/>
              </a:rPr>
              <a:t>Core Project Team </a:t>
            </a:r>
            <a:r>
              <a:rPr kumimoji="0" lang="en-CA" sz="1400" b="0" i="0" u="none" strike="noStrike" kern="1200" cap="none" spc="0" normalizeH="0" baseline="0" noProof="0">
                <a:ln>
                  <a:noFill/>
                </a:ln>
                <a:solidFill>
                  <a:srgbClr val="000000"/>
                </a:solidFill>
                <a:effectLst/>
                <a:uLnTx/>
                <a:uFillTx/>
                <a:latin typeface="Scotia"/>
                <a:ea typeface="+mn-ea"/>
                <a:cs typeface="+mn-cs"/>
              </a:rPr>
              <a:t>(Meets Bi-Weekly)</a:t>
            </a:r>
          </a:p>
          <a:p>
            <a:pPr marL="0" marR="0" lvl="0" indent="0" algn="ctr" defTabSz="914355" rtl="0" eaLnBrk="1" fontAlgn="auto" latinLnBrk="0" hangingPunct="1">
              <a:lnSpc>
                <a:spcPct val="100000"/>
              </a:lnSpc>
              <a:spcBef>
                <a:spcPts val="400"/>
              </a:spcBef>
              <a:spcAft>
                <a:spcPts val="300"/>
              </a:spcAft>
              <a:buClrTx/>
              <a:buSzTx/>
              <a:buFontTx/>
              <a:buNone/>
              <a:tabLst/>
              <a:defRPr/>
            </a:pPr>
            <a:endParaRPr kumimoji="0" lang="en-CA" sz="1400" b="1" i="1" u="none" strike="noStrike" kern="1200" cap="none" spc="0" normalizeH="0" baseline="0" noProof="0">
              <a:ln>
                <a:noFill/>
              </a:ln>
              <a:solidFill>
                <a:srgbClr val="000000"/>
              </a:solidFill>
              <a:effectLst/>
              <a:uLnTx/>
              <a:uFillTx/>
              <a:latin typeface="Scotia"/>
              <a:ea typeface="+mn-ea"/>
              <a:cs typeface="+mn-cs"/>
            </a:endParaRPr>
          </a:p>
        </p:txBody>
      </p:sp>
      <p:sp>
        <p:nvSpPr>
          <p:cNvPr id="23" name="TextBox 22">
            <a:extLst>
              <a:ext uri="{FF2B5EF4-FFF2-40B4-BE49-F238E27FC236}">
                <a16:creationId xmlns:a16="http://schemas.microsoft.com/office/drawing/2014/main" id="{853DBAC6-A81B-5B4A-C07A-BA74C7A70DBD}"/>
              </a:ext>
            </a:extLst>
          </p:cNvPr>
          <p:cNvSpPr txBox="1"/>
          <p:nvPr/>
        </p:nvSpPr>
        <p:spPr>
          <a:xfrm>
            <a:off x="483485" y="3449090"/>
            <a:ext cx="4201769" cy="430887"/>
          </a:xfrm>
          <a:prstGeom prst="rect">
            <a:avLst/>
          </a:prstGeom>
          <a:noFill/>
        </p:spPr>
        <p:txBody>
          <a:bodyPr wrap="square">
            <a:spAutoFit/>
          </a:bodyP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a:ln>
                  <a:noFill/>
                </a:ln>
                <a:solidFill>
                  <a:srgbClr val="000000"/>
                </a:solidFill>
                <a:effectLst/>
                <a:uLnTx/>
                <a:uFillTx/>
                <a:latin typeface="Scotia"/>
                <a:ea typeface="+mn-ea"/>
                <a:cs typeface="+mn-cs"/>
              </a:rPr>
              <a:t>Drive analysis and prepare executive materials &amp; deliverables</a:t>
            </a:r>
            <a:endParaRPr kumimoji="0" lang="en-US" sz="1100" b="0" i="0" u="none" strike="noStrike" kern="1200" cap="none" spc="0" normalizeH="0" baseline="0" noProof="0">
              <a:ln>
                <a:noFill/>
              </a:ln>
              <a:solidFill>
                <a:srgbClr val="000000"/>
              </a:solidFill>
              <a:effectLst/>
              <a:uLnTx/>
              <a:uFillTx/>
              <a:latin typeface="Scotia"/>
              <a:ea typeface="+mn-ea"/>
              <a:cs typeface="+mn-cs"/>
            </a:endParaRPr>
          </a:p>
        </p:txBody>
      </p:sp>
      <p:sp>
        <p:nvSpPr>
          <p:cNvPr id="25" name="Rectangle 24">
            <a:extLst>
              <a:ext uri="{FF2B5EF4-FFF2-40B4-BE49-F238E27FC236}">
                <a16:creationId xmlns:a16="http://schemas.microsoft.com/office/drawing/2014/main" id="{D1E92D56-9870-59C7-A7E8-F7DB2B65FCFB}"/>
              </a:ext>
            </a:extLst>
          </p:cNvPr>
          <p:cNvSpPr/>
          <p:nvPr/>
        </p:nvSpPr>
        <p:spPr>
          <a:xfrm>
            <a:off x="2553454" y="3928860"/>
            <a:ext cx="1893276" cy="1754326"/>
          </a:xfrm>
          <a:prstGeom prst="rect">
            <a:avLst/>
          </a:prstGeom>
        </p:spPr>
        <p:txBody>
          <a:bodyPr wrap="square" lIns="91440" tIns="91440" rIns="91440" bIns="91440" anchor="t">
            <a:spAutoFit/>
          </a:bodyPr>
          <a:lstStyle/>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Jorden Davis</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VP, Commercial Banking, GTA</a:t>
            </a:r>
          </a:p>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Matt Regenstreif</a:t>
            </a:r>
            <a:br>
              <a:rPr kumimoji="0" lang="en-CA" sz="105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Dir. &amp; Head, Data Analytics, Commercial Banking</a:t>
            </a:r>
          </a:p>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CA" sz="1050" b="1" i="0" u="none" strike="noStrike" kern="1200" cap="none" spc="0" normalizeH="0" baseline="0" noProof="0">
                <a:ln>
                  <a:noFill/>
                </a:ln>
                <a:solidFill>
                  <a:srgbClr val="000000"/>
                </a:solidFill>
                <a:effectLst/>
                <a:uLnTx/>
                <a:uFillTx/>
                <a:latin typeface="Scotia"/>
                <a:ea typeface="+mn-ea"/>
                <a:cs typeface="+mn-cs"/>
              </a:rPr>
              <a:t>Helen He </a:t>
            </a:r>
            <a:br>
              <a:rPr kumimoji="0" lang="en-CA" sz="105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VP, Strategy</a:t>
            </a:r>
            <a:endParaRPr kumimoji="0" lang="en-CA" sz="1050" b="0" i="0" u="none" strike="noStrike" kern="1200" cap="none" spc="0" normalizeH="0" baseline="0" noProof="0">
              <a:ln>
                <a:noFill/>
              </a:ln>
              <a:solidFill>
                <a:srgbClr val="000000"/>
              </a:solidFill>
              <a:effectLst/>
              <a:uLnTx/>
              <a:uFillTx/>
              <a:latin typeface="Scotia"/>
              <a:ea typeface="+mn-ea"/>
              <a:cs typeface="+mn-cs"/>
            </a:endParaRPr>
          </a:p>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CA" sz="1050" b="1" i="0" u="none" strike="noStrike" kern="1200" cap="none" spc="0" normalizeH="0" baseline="0" noProof="0">
                <a:ln>
                  <a:noFill/>
                </a:ln>
                <a:solidFill>
                  <a:srgbClr val="000000"/>
                </a:solidFill>
                <a:effectLst/>
                <a:uLnTx/>
                <a:uFillTx/>
                <a:latin typeface="Scotia"/>
                <a:ea typeface="+mn-ea"/>
                <a:cs typeface="+mn-cs"/>
              </a:rPr>
              <a:t>Melanie Frisz</a:t>
            </a:r>
            <a:br>
              <a:rPr kumimoji="0" lang="en-CA" sz="105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Dir., Strategy</a:t>
            </a:r>
          </a:p>
        </p:txBody>
      </p:sp>
      <p:sp>
        <p:nvSpPr>
          <p:cNvPr id="53" name="Rectangle 52">
            <a:extLst>
              <a:ext uri="{FF2B5EF4-FFF2-40B4-BE49-F238E27FC236}">
                <a16:creationId xmlns:a16="http://schemas.microsoft.com/office/drawing/2014/main" id="{04313182-DFAD-F3A9-BD26-F8FE66854A77}"/>
              </a:ext>
            </a:extLst>
          </p:cNvPr>
          <p:cNvSpPr/>
          <p:nvPr/>
        </p:nvSpPr>
        <p:spPr>
          <a:xfrm>
            <a:off x="669755" y="3928860"/>
            <a:ext cx="1929384" cy="161974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Jennifer </a:t>
            </a:r>
            <a:r>
              <a:rPr kumimoji="0" lang="en-US" sz="1050" b="1" i="0" u="none" strike="noStrike" kern="1200" cap="none" spc="0" normalizeH="0" baseline="0" noProof="0" err="1">
                <a:ln>
                  <a:noFill/>
                </a:ln>
                <a:solidFill>
                  <a:srgbClr val="000000"/>
                </a:solidFill>
                <a:effectLst/>
                <a:uLnTx/>
                <a:uFillTx/>
                <a:latin typeface="Scotia"/>
                <a:ea typeface="+mn-ea"/>
                <a:cs typeface="+mn-cs"/>
              </a:rPr>
              <a:t>Quattrociocchi</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VP, Partnerships &amp; </a:t>
            </a:r>
            <a:br>
              <a:rPr kumimoji="0" lang="en-US" sz="900" b="0"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Priority Segments</a:t>
            </a:r>
          </a:p>
          <a:p>
            <a:pPr marL="180939" marR="0" lvl="0" indent="-180939"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Kimberly Pongo</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Dir., Business </a:t>
            </a:r>
            <a:br>
              <a:rPr kumimoji="0" lang="en-US" sz="900" b="0"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Banking Partnerships</a:t>
            </a:r>
          </a:p>
          <a:p>
            <a:pPr marL="171450" marR="0" lvl="0" indent="-171450"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Lisa </a:t>
            </a:r>
            <a:r>
              <a:rPr kumimoji="0" lang="en-US" sz="1050" b="1" i="0" u="none" strike="noStrike" kern="1200" cap="none" spc="0" normalizeH="0" baseline="0" noProof="0" err="1">
                <a:ln>
                  <a:noFill/>
                </a:ln>
                <a:solidFill>
                  <a:srgbClr val="000000"/>
                </a:solidFill>
                <a:effectLst/>
                <a:uLnTx/>
                <a:uFillTx/>
                <a:latin typeface="Scotia"/>
                <a:ea typeface="+mn-ea"/>
                <a:cs typeface="+mn-cs"/>
              </a:rPr>
              <a:t>Francks</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Dir. &amp; Head Strategy, </a:t>
            </a:r>
            <a:br>
              <a:rPr kumimoji="0" lang="en-US" sz="900" b="0"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Performance &amp; Client Value</a:t>
            </a:r>
          </a:p>
          <a:p>
            <a:pPr marL="171450" marR="0" lvl="0" indent="-171450" algn="l" defTabSz="914355"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1" i="0" u="none" strike="noStrike" kern="1200" cap="none" spc="0" normalizeH="0" baseline="0" noProof="0">
                <a:ln>
                  <a:noFill/>
                </a:ln>
                <a:solidFill>
                  <a:srgbClr val="000000"/>
                </a:solidFill>
                <a:effectLst/>
                <a:uLnTx/>
                <a:uFillTx/>
                <a:latin typeface="Scotia"/>
                <a:ea typeface="+mn-ea"/>
                <a:cs typeface="+mn-cs"/>
              </a:rPr>
              <a:t>Daphne Mark</a:t>
            </a:r>
            <a:br>
              <a:rPr kumimoji="0" lang="en-US" sz="100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National Director, CWM Partnerships</a:t>
            </a:r>
          </a:p>
          <a:p>
            <a:pPr marL="0" marR="0" lvl="0" indent="0" algn="l" defTabSz="914355" rtl="0" eaLnBrk="1" fontAlgn="auto" latinLnBrk="0" hangingPunct="1">
              <a:lnSpc>
                <a:spcPct val="100000"/>
              </a:lnSpc>
              <a:spcBef>
                <a:spcPts val="300"/>
              </a:spcBef>
              <a:spcAft>
                <a:spcPts val="300"/>
              </a:spcAft>
              <a:buClrTx/>
              <a:buSzTx/>
              <a:buFontTx/>
              <a:buNone/>
              <a:tabLst/>
              <a:defRPr/>
            </a:pPr>
            <a:endParaRPr kumimoji="0" lang="en-US" sz="900" b="0" i="0" u="none" strike="noStrike" kern="1200" cap="none" spc="0" normalizeH="0" baseline="0" noProof="0">
              <a:ln>
                <a:noFill/>
              </a:ln>
              <a:solidFill>
                <a:srgbClr val="000000"/>
              </a:solidFill>
              <a:effectLst/>
              <a:uLnTx/>
              <a:uFillTx/>
              <a:latin typeface="Scotia"/>
              <a:ea typeface="+mn-ea"/>
              <a:cs typeface="+mn-cs"/>
            </a:endParaRPr>
          </a:p>
          <a:p>
            <a:pPr marL="0" marR="0" lvl="0" indent="0" algn="ctr" defTabSz="914355" rtl="0" eaLnBrk="1" fontAlgn="auto" latinLnBrk="0" hangingPunct="1">
              <a:lnSpc>
                <a:spcPct val="100000"/>
              </a:lnSpc>
              <a:spcBef>
                <a:spcPts val="200"/>
              </a:spcBef>
              <a:spcAft>
                <a:spcPts val="200"/>
              </a:spcAft>
              <a:buClrTx/>
              <a:buSzTx/>
              <a:buFontTx/>
              <a:buNone/>
              <a:tabLst/>
              <a:defRPr/>
            </a:pPr>
            <a:endParaRPr kumimoji="0" lang="en-US" sz="900" b="0" i="0" u="none" strike="noStrike" kern="1200" cap="none" spc="0" normalizeH="0" baseline="0" noProof="0">
              <a:ln>
                <a:noFill/>
              </a:ln>
              <a:solidFill>
                <a:srgbClr val="000000"/>
              </a:solidFill>
              <a:effectLst/>
              <a:uLnTx/>
              <a:uFillTx/>
              <a:latin typeface="Scotia"/>
              <a:ea typeface="+mn-ea"/>
              <a:cs typeface="+mn-cs"/>
            </a:endParaRPr>
          </a:p>
        </p:txBody>
      </p:sp>
      <p:sp>
        <p:nvSpPr>
          <p:cNvPr id="44" name="Rectangle 43">
            <a:extLst>
              <a:ext uri="{FF2B5EF4-FFF2-40B4-BE49-F238E27FC236}">
                <a16:creationId xmlns:a16="http://schemas.microsoft.com/office/drawing/2014/main" id="{8EC2D6AD-8CC5-2E9C-9870-B811C4FD0370}"/>
              </a:ext>
            </a:extLst>
          </p:cNvPr>
          <p:cNvSpPr/>
          <p:nvPr/>
        </p:nvSpPr>
        <p:spPr>
          <a:xfrm>
            <a:off x="4755911" y="2952202"/>
            <a:ext cx="6918726" cy="3368496"/>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182880" rtlCol="0" anchor="t"/>
          <a:lstStyle/>
          <a:p>
            <a:pPr marL="0" marR="0" lvl="0" indent="0" algn="ctr" defTabSz="914355" rtl="0" eaLnBrk="1" fontAlgn="auto" latinLnBrk="0" hangingPunct="1">
              <a:lnSpc>
                <a:spcPct val="100000"/>
              </a:lnSpc>
              <a:spcBef>
                <a:spcPts val="1200"/>
              </a:spcBef>
              <a:spcAft>
                <a:spcPts val="200"/>
              </a:spcAft>
              <a:buClrTx/>
              <a:buSzTx/>
              <a:buFontTx/>
              <a:buNone/>
              <a:tabLst/>
              <a:defRPr/>
            </a:pPr>
            <a:r>
              <a:rPr kumimoji="0" lang="en-CA" sz="1400" b="1" i="0" u="none" strike="noStrike" kern="1200" cap="none" spc="0" normalizeH="0" baseline="0" noProof="0">
                <a:ln>
                  <a:noFill/>
                </a:ln>
                <a:solidFill>
                  <a:srgbClr val="000000"/>
                </a:solidFill>
                <a:effectLst/>
                <a:uLnTx/>
                <a:uFillTx/>
                <a:latin typeface="Scotia"/>
                <a:ea typeface="+mn-ea"/>
                <a:cs typeface="+mn-cs"/>
              </a:rPr>
              <a:t>SMEs to be engaged by workstream </a:t>
            </a:r>
            <a:r>
              <a:rPr kumimoji="0" lang="en-CA" sz="1400" b="0" i="0" u="none" strike="noStrike" kern="1200" cap="none" spc="0" normalizeH="0" baseline="0" noProof="0">
                <a:ln>
                  <a:noFill/>
                </a:ln>
                <a:solidFill>
                  <a:srgbClr val="000000"/>
                </a:solidFill>
                <a:effectLst/>
                <a:uLnTx/>
                <a:uFillTx/>
                <a:latin typeface="Scotia"/>
                <a:ea typeface="+mn-ea"/>
                <a:cs typeface="+mn-cs"/>
              </a:rPr>
              <a:t>(Meets as needed)</a:t>
            </a:r>
            <a:endParaRPr kumimoji="0" lang="en-CA" sz="1000" b="0" i="0" u="none" strike="noStrike" kern="1200" cap="none" spc="0" normalizeH="0" baseline="0" noProof="0">
              <a:ln>
                <a:noFill/>
              </a:ln>
              <a:solidFill>
                <a:srgbClr val="000000"/>
              </a:solidFill>
              <a:effectLst/>
              <a:uLnTx/>
              <a:uFillTx/>
              <a:latin typeface="Scotia"/>
              <a:ea typeface="+mn-ea"/>
              <a:cs typeface="+mn-cs"/>
            </a:endParaRPr>
          </a:p>
          <a:p>
            <a:pPr marL="0" marR="0" lvl="0" indent="0" algn="ctr" defTabSz="914355" rtl="0" eaLnBrk="1" fontAlgn="auto" latinLnBrk="0" hangingPunct="1">
              <a:lnSpc>
                <a:spcPct val="100000"/>
              </a:lnSpc>
              <a:spcBef>
                <a:spcPts val="400"/>
              </a:spcBef>
              <a:spcAft>
                <a:spcPts val="200"/>
              </a:spcAft>
              <a:buClrTx/>
              <a:buSzTx/>
              <a:buFontTx/>
              <a:buNone/>
              <a:tabLst/>
              <a:defRPr/>
            </a:pPr>
            <a:endParaRPr kumimoji="0" lang="en-CA" sz="1050" b="1" i="0" u="none" strike="noStrike" kern="1200" cap="none" spc="0" normalizeH="0" baseline="0" noProof="0">
              <a:ln>
                <a:noFill/>
              </a:ln>
              <a:solidFill>
                <a:srgbClr val="000000"/>
              </a:solidFill>
              <a:effectLst/>
              <a:uLnTx/>
              <a:uFillTx/>
              <a:latin typeface="Scotia"/>
              <a:ea typeface="+mn-ea"/>
              <a:cs typeface="+mn-cs"/>
            </a:endParaRPr>
          </a:p>
          <a:p>
            <a:pPr marL="285750" marR="0" lvl="0" indent="-285750" algn="l" defTabSz="914355" rtl="0" eaLnBrk="1" fontAlgn="auto" latinLnBrk="0" hangingPunct="1">
              <a:lnSpc>
                <a:spcPct val="100000"/>
              </a:lnSpc>
              <a:spcBef>
                <a:spcPts val="400"/>
              </a:spcBef>
              <a:spcAft>
                <a:spcPts val="200"/>
              </a:spcAft>
              <a:buClrTx/>
              <a:buSzTx/>
              <a:buFont typeface="Arial" panose="020B0604020202020204" pitchFamily="34" charset="0"/>
              <a:buChar char="•"/>
              <a:tabLst/>
              <a:defRPr/>
            </a:pPr>
            <a:endParaRPr kumimoji="0" lang="en-CA" sz="1400" b="1" i="0" u="none" strike="noStrike" kern="1200" cap="none" spc="0" normalizeH="0" baseline="0" noProof="0">
              <a:ln>
                <a:noFill/>
              </a:ln>
              <a:solidFill>
                <a:srgbClr val="000000"/>
              </a:solidFill>
              <a:effectLst/>
              <a:uLnTx/>
              <a:uFillTx/>
              <a:latin typeface="Scotia"/>
              <a:ea typeface="+mn-ea"/>
              <a:cs typeface="+mn-cs"/>
            </a:endParaRPr>
          </a:p>
        </p:txBody>
      </p:sp>
      <p:sp>
        <p:nvSpPr>
          <p:cNvPr id="5" name="TextBox 4">
            <a:extLst>
              <a:ext uri="{FF2B5EF4-FFF2-40B4-BE49-F238E27FC236}">
                <a16:creationId xmlns:a16="http://schemas.microsoft.com/office/drawing/2014/main" id="{4B2C78DC-8A09-2218-CFCF-8B9B4A6B955D}"/>
              </a:ext>
            </a:extLst>
          </p:cNvPr>
          <p:cNvSpPr txBox="1"/>
          <p:nvPr/>
        </p:nvSpPr>
        <p:spPr>
          <a:xfrm>
            <a:off x="4909009" y="3411843"/>
            <a:ext cx="6612531" cy="261610"/>
          </a:xfrm>
          <a:prstGeom prst="rect">
            <a:avLst/>
          </a:prstGeom>
          <a:noFill/>
        </p:spPr>
        <p:txBody>
          <a:bodyPr wrap="square">
            <a:spAutoFit/>
          </a:bodyP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a:ln>
                  <a:noFill/>
                </a:ln>
                <a:solidFill>
                  <a:srgbClr val="000000"/>
                </a:solidFill>
                <a:effectLst/>
                <a:uLnTx/>
                <a:uFillTx/>
                <a:latin typeface="Scotia"/>
                <a:ea typeface="+mn-ea"/>
                <a:cs typeface="+mn-cs"/>
              </a:rPr>
              <a:t>Provide support, guidance, and inputs for specific areas, as needed</a:t>
            </a:r>
            <a:endParaRPr kumimoji="0" lang="en-US" sz="1100" b="0" i="0" u="none" strike="noStrike" kern="1200" cap="none" spc="0" normalizeH="0" baseline="0" noProof="0">
              <a:ln>
                <a:noFill/>
              </a:ln>
              <a:solidFill>
                <a:srgbClr val="000000"/>
              </a:solidFill>
              <a:effectLst/>
              <a:uLnTx/>
              <a:uFillTx/>
              <a:latin typeface="Scotia"/>
              <a:ea typeface="+mn-ea"/>
              <a:cs typeface="+mn-cs"/>
            </a:endParaRPr>
          </a:p>
        </p:txBody>
      </p:sp>
      <p:sp>
        <p:nvSpPr>
          <p:cNvPr id="17" name="Rectangle 16">
            <a:extLst>
              <a:ext uri="{FF2B5EF4-FFF2-40B4-BE49-F238E27FC236}">
                <a16:creationId xmlns:a16="http://schemas.microsoft.com/office/drawing/2014/main" id="{4E0F2249-9B79-44FC-E2A0-EF92721C2014}"/>
              </a:ext>
            </a:extLst>
          </p:cNvPr>
          <p:cNvSpPr/>
          <p:nvPr/>
        </p:nvSpPr>
        <p:spPr>
          <a:xfrm>
            <a:off x="9368301" y="3722943"/>
            <a:ext cx="2092277" cy="2474157"/>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marL="0" marR="0" lvl="0" indent="0" algn="ctr" defTabSz="914355" rtl="0" eaLnBrk="1" fontAlgn="auto" latinLnBrk="0" hangingPunct="1">
              <a:lnSpc>
                <a:spcPct val="100000"/>
              </a:lnSpc>
              <a:spcBef>
                <a:spcPts val="200"/>
              </a:spcBef>
              <a:spcAft>
                <a:spcPts val="200"/>
              </a:spcAft>
              <a:buClrTx/>
              <a:buSzTx/>
              <a:buFontTx/>
              <a:buNone/>
              <a:tabLst/>
              <a:defRPr/>
            </a:pPr>
            <a:r>
              <a:rPr kumimoji="0" lang="en-US" sz="1050" b="1" i="0" u="none" strike="noStrike" kern="1200" cap="none" spc="0" normalizeH="0" baseline="0" noProof="0">
                <a:ln>
                  <a:noFill/>
                </a:ln>
                <a:solidFill>
                  <a:srgbClr val="E1111A"/>
                </a:solidFill>
                <a:effectLst/>
                <a:uLnTx/>
                <a:uFillTx/>
                <a:latin typeface="Scotia"/>
                <a:ea typeface="+mn-ea"/>
                <a:cs typeface="+mn-cs"/>
              </a:rPr>
              <a:t>Technology, Processes </a:t>
            </a:r>
            <a:br>
              <a:rPr kumimoji="0" lang="en-US" sz="1050" b="1" i="0" u="none" strike="noStrike" kern="1200" cap="none" spc="0" normalizeH="0" baseline="0" noProof="0">
                <a:ln>
                  <a:noFill/>
                </a:ln>
                <a:solidFill>
                  <a:srgbClr val="E1111A"/>
                </a:solidFill>
                <a:effectLst/>
                <a:uLnTx/>
                <a:uFillTx/>
                <a:latin typeface="Scotia"/>
                <a:ea typeface="+mn-ea"/>
                <a:cs typeface="+mn-cs"/>
              </a:rPr>
            </a:br>
            <a:r>
              <a:rPr kumimoji="0" lang="en-US" sz="1050" b="1" i="0" u="none" strike="noStrike" kern="1200" cap="none" spc="0" normalizeH="0" baseline="0" noProof="0">
                <a:ln>
                  <a:noFill/>
                </a:ln>
                <a:solidFill>
                  <a:srgbClr val="E1111A"/>
                </a:solidFill>
                <a:effectLst/>
                <a:uLnTx/>
                <a:uFillTx/>
                <a:latin typeface="Scotia"/>
                <a:ea typeface="+mn-ea"/>
                <a:cs typeface="+mn-cs"/>
              </a:rPr>
              <a:t>and Data</a:t>
            </a:r>
          </a:p>
          <a:p>
            <a:pPr marL="171450" marR="0" lvl="0" indent="-171450" algn="l" defTabSz="914355" rtl="0" eaLnBrk="1" fontAlgn="auto" latinLnBrk="0" hangingPunct="1">
              <a:lnSpc>
                <a:spcPct val="100000"/>
              </a:lnSpc>
              <a:spcBef>
                <a:spcPts val="200"/>
              </a:spcBef>
              <a:spcAft>
                <a:spcPts val="2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Scott Parsons</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VP &amp; Head of Product Strategy, Global Wealth Technology</a:t>
            </a:r>
          </a:p>
          <a:p>
            <a:pPr marL="171450" marR="0" lvl="0" indent="-171450" algn="l" defTabSz="914355" rtl="0" eaLnBrk="1" fontAlgn="auto" latinLnBrk="0" hangingPunct="1">
              <a:lnSpc>
                <a:spcPct val="100000"/>
              </a:lnSpc>
              <a:spcBef>
                <a:spcPts val="200"/>
              </a:spcBef>
              <a:spcAft>
                <a:spcPts val="2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Allison de Korte</a:t>
            </a:r>
            <a:br>
              <a:rPr kumimoji="0" lang="en-US" sz="900" b="0"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VP, Advisor &amp; Client Experience Technology</a:t>
            </a:r>
          </a:p>
          <a:p>
            <a:pPr marL="171450" marR="0" lvl="0" indent="-171450" algn="l" defTabSz="914355" rtl="0" eaLnBrk="1" fontAlgn="auto" latinLnBrk="0" hangingPunct="1">
              <a:lnSpc>
                <a:spcPct val="100000"/>
              </a:lnSpc>
              <a:spcBef>
                <a:spcPts val="200"/>
              </a:spcBef>
              <a:spcAft>
                <a:spcPts val="2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Business app owners </a:t>
            </a:r>
            <a:br>
              <a:rPr kumimoji="0" lang="en-US" sz="1050" b="1" i="0" u="none" strike="noStrike" kern="1200" cap="none" spc="0" normalizeH="0" baseline="0" noProof="0">
                <a:ln>
                  <a:noFill/>
                </a:ln>
                <a:solidFill>
                  <a:srgbClr val="000000"/>
                </a:solidFill>
                <a:effectLst/>
                <a:uLnTx/>
                <a:uFillTx/>
                <a:latin typeface="Scotia"/>
                <a:ea typeface="+mn-ea"/>
                <a:cs typeface="+mn-cs"/>
              </a:rPr>
            </a:br>
            <a:r>
              <a:rPr kumimoji="0" lang="en-US" sz="900" b="0" i="0" u="none" strike="noStrike" kern="1200" cap="none" spc="0" normalizeH="0" baseline="0" noProof="0">
                <a:ln>
                  <a:noFill/>
                </a:ln>
                <a:solidFill>
                  <a:srgbClr val="000000"/>
                </a:solidFill>
                <a:effectLst/>
                <a:uLnTx/>
                <a:uFillTx/>
                <a:latin typeface="Scotia"/>
                <a:ea typeface="+mn-ea"/>
                <a:cs typeface="+mn-cs"/>
              </a:rPr>
              <a:t>(incl. Julie Cowan, Amy Lee, etc.)</a:t>
            </a:r>
            <a:endParaRPr kumimoji="0" lang="en-US" sz="700" b="0" i="0" u="none" strike="noStrike" kern="1200" cap="none" spc="0" normalizeH="0" baseline="0" noProof="0">
              <a:ln>
                <a:noFill/>
              </a:ln>
              <a:solidFill>
                <a:srgbClr val="000000"/>
              </a:solidFill>
              <a:effectLst/>
              <a:uLnTx/>
              <a:uFillTx/>
              <a:latin typeface="Scotia"/>
              <a:ea typeface="+mn-ea"/>
              <a:cs typeface="+mn-cs"/>
            </a:endParaRPr>
          </a:p>
        </p:txBody>
      </p:sp>
      <p:sp>
        <p:nvSpPr>
          <p:cNvPr id="18" name="Rectangle 17">
            <a:extLst>
              <a:ext uri="{FF2B5EF4-FFF2-40B4-BE49-F238E27FC236}">
                <a16:creationId xmlns:a16="http://schemas.microsoft.com/office/drawing/2014/main" id="{10AF789E-38F1-2201-3878-B4AB3B8275A8}"/>
              </a:ext>
            </a:extLst>
          </p:cNvPr>
          <p:cNvSpPr/>
          <p:nvPr/>
        </p:nvSpPr>
        <p:spPr>
          <a:xfrm>
            <a:off x="7174641" y="4994723"/>
            <a:ext cx="2092277" cy="1202377"/>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marL="0" marR="0" lvl="0" indent="0" algn="ctr" defTabSz="914355" rtl="0" eaLnBrk="1" fontAlgn="auto" latinLnBrk="0" hangingPunct="1">
              <a:lnSpc>
                <a:spcPct val="100000"/>
              </a:lnSpc>
              <a:spcBef>
                <a:spcPts val="200"/>
              </a:spcBef>
              <a:spcAft>
                <a:spcPts val="200"/>
              </a:spcAft>
              <a:buClrTx/>
              <a:buSzTx/>
              <a:buFontTx/>
              <a:buNone/>
              <a:tabLst/>
              <a:defRPr/>
            </a:pPr>
            <a:r>
              <a:rPr kumimoji="0" lang="en-US" sz="1050" b="1" i="0" u="none" strike="noStrike" kern="1200" cap="none" spc="0" normalizeH="0" baseline="0" noProof="0">
                <a:ln>
                  <a:noFill/>
                </a:ln>
                <a:solidFill>
                  <a:srgbClr val="E1111A"/>
                </a:solidFill>
                <a:effectLst/>
                <a:uLnTx/>
                <a:uFillTx/>
                <a:latin typeface="Scotia"/>
                <a:ea typeface="+mn-ea"/>
                <a:cs typeface="+mn-cs"/>
              </a:rPr>
              <a:t>Change Management</a:t>
            </a:r>
          </a:p>
          <a:p>
            <a:pPr marL="171450" marR="0" lvl="0" indent="-171450" algn="l" defTabSz="914355" rtl="0" eaLnBrk="1" fontAlgn="auto" latinLnBrk="0" hangingPunct="1">
              <a:lnSpc>
                <a:spcPct val="100000"/>
              </a:lnSpc>
              <a:spcBef>
                <a:spcPts val="200"/>
              </a:spcBef>
              <a:spcAft>
                <a:spcPts val="2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Amy Lee</a:t>
            </a:r>
            <a:br>
              <a:rPr kumimoji="0" lang="en-CA" sz="105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VP, Practice Excellence</a:t>
            </a:r>
          </a:p>
          <a:p>
            <a:pPr marL="171450" marR="0" lvl="0" indent="-171450" algn="l" defTabSz="914355" rtl="0" eaLnBrk="1" fontAlgn="auto" latinLnBrk="0" hangingPunct="1">
              <a:lnSpc>
                <a:spcPct val="100000"/>
              </a:lnSpc>
              <a:spcBef>
                <a:spcPts val="200"/>
              </a:spcBef>
              <a:spcAft>
                <a:spcPts val="2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Jeannine Cooney </a:t>
            </a:r>
            <a:br>
              <a:rPr kumimoji="0" lang="en-CA" sz="105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Dir., Sales Effectiveness &amp; Sales </a:t>
            </a:r>
            <a:r>
              <a:rPr kumimoji="0" lang="en-CA" sz="900" b="0" i="0" u="none" strike="noStrike" kern="1200" cap="none" spc="0" normalizeH="0" baseline="0" noProof="0" err="1">
                <a:ln>
                  <a:noFill/>
                </a:ln>
                <a:solidFill>
                  <a:srgbClr val="000000"/>
                </a:solidFill>
                <a:effectLst/>
                <a:uLnTx/>
                <a:uFillTx/>
                <a:latin typeface="Scotia"/>
                <a:ea typeface="+mn-ea"/>
                <a:cs typeface="+mn-cs"/>
              </a:rPr>
              <a:t>Experienc</a:t>
            </a:r>
            <a:endParaRPr kumimoji="0" lang="en-CA" sz="900" b="0" i="0" u="none" strike="noStrike" kern="1200" cap="none" spc="0" normalizeH="0" baseline="0" noProof="0">
              <a:ln>
                <a:noFill/>
              </a:ln>
              <a:solidFill>
                <a:srgbClr val="000000"/>
              </a:solidFill>
              <a:effectLst/>
              <a:uLnTx/>
              <a:uFillTx/>
              <a:latin typeface="Scotia"/>
              <a:ea typeface="+mn-ea"/>
              <a:cs typeface="+mn-cs"/>
            </a:endParaRPr>
          </a:p>
        </p:txBody>
      </p:sp>
      <p:sp>
        <p:nvSpPr>
          <p:cNvPr id="6" name="Rectangle 5">
            <a:extLst>
              <a:ext uri="{FF2B5EF4-FFF2-40B4-BE49-F238E27FC236}">
                <a16:creationId xmlns:a16="http://schemas.microsoft.com/office/drawing/2014/main" id="{61F750B3-2DF0-16E2-C089-A0751E2F013E}"/>
              </a:ext>
            </a:extLst>
          </p:cNvPr>
          <p:cNvSpPr/>
          <p:nvPr/>
        </p:nvSpPr>
        <p:spPr>
          <a:xfrm>
            <a:off x="4969306" y="3722942"/>
            <a:ext cx="2092277" cy="2473207"/>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marL="0" marR="0" lvl="0" indent="0" algn="ctr" defTabSz="914355" rtl="0" eaLnBrk="1" fontAlgn="auto" latinLnBrk="0" hangingPunct="1">
              <a:lnSpc>
                <a:spcPct val="100000"/>
              </a:lnSpc>
              <a:spcBef>
                <a:spcPts val="200"/>
              </a:spcBef>
              <a:spcAft>
                <a:spcPts val="200"/>
              </a:spcAft>
              <a:buClrTx/>
              <a:buSzTx/>
              <a:buFontTx/>
              <a:buNone/>
              <a:tabLst/>
              <a:defRPr/>
            </a:pPr>
            <a:r>
              <a:rPr kumimoji="0" lang="en-US" sz="1050" b="1" i="0" u="none" strike="noStrike" kern="1200" cap="none" spc="0" normalizeH="0" baseline="0" noProof="0">
                <a:ln>
                  <a:noFill/>
                </a:ln>
                <a:solidFill>
                  <a:srgbClr val="E1111A"/>
                </a:solidFill>
                <a:effectLst/>
                <a:uLnTx/>
                <a:uFillTx/>
                <a:latin typeface="Scotia"/>
                <a:ea typeface="+mn-ea"/>
                <a:cs typeface="+mn-cs"/>
              </a:rPr>
              <a:t>Leads Identification &amp; Analytics</a:t>
            </a:r>
          </a:p>
          <a:p>
            <a:pPr marL="171450" marR="0" lvl="0" indent="-171450" algn="l" defTabSz="914355"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Eric Tao</a:t>
            </a:r>
            <a:br>
              <a:rPr kumimoji="0" lang="en-CA" sz="160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Dir., Analytics, GWM </a:t>
            </a:r>
            <a:endParaRPr kumimoji="0" lang="en-CA" sz="120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355"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Valentina Carvallo </a:t>
            </a:r>
            <a:r>
              <a:rPr kumimoji="0" lang="en-US" sz="1050" b="1" i="0" u="none" strike="noStrike" kern="1200" cap="none" spc="0" normalizeH="0" baseline="0" noProof="0" err="1">
                <a:ln>
                  <a:noFill/>
                </a:ln>
                <a:solidFill>
                  <a:srgbClr val="000000"/>
                </a:solidFill>
                <a:effectLst/>
                <a:uLnTx/>
                <a:uFillTx/>
                <a:latin typeface="Scotia"/>
                <a:ea typeface="+mn-ea"/>
                <a:cs typeface="+mn-cs"/>
              </a:rPr>
              <a:t>Aldanondo</a:t>
            </a:r>
            <a:endParaRPr kumimoji="0" lang="en-US" sz="1050" b="1" i="0" u="none" strike="noStrike" kern="1200" cap="none" spc="0" normalizeH="0" baseline="0" noProof="0">
              <a:ln>
                <a:noFill/>
              </a:ln>
              <a:solidFill>
                <a:srgbClr val="000000"/>
              </a:solidFill>
              <a:effectLst/>
              <a:uLnTx/>
              <a:uFillTx/>
              <a:latin typeface="Scotia"/>
              <a:ea typeface="+mn-ea"/>
              <a:cs typeface="+mn-cs"/>
            </a:endParaRPr>
          </a:p>
          <a:p>
            <a:pPr marL="172800" marR="0" lvl="0" indent="0" algn="l" defTabSz="914400" rtl="0" eaLnBrk="1" fontAlgn="auto" latinLnBrk="0" hangingPunct="1">
              <a:lnSpc>
                <a:spcPct val="100000"/>
              </a:lnSpc>
              <a:spcBef>
                <a:spcPts val="40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SM, Business Intelligence &amp; MIS</a:t>
            </a:r>
          </a:p>
          <a:p>
            <a:pPr marL="0" marR="0" lvl="0" indent="0" algn="l" defTabSz="914355" rtl="0" eaLnBrk="1" fontAlgn="auto" latinLnBrk="0" hangingPunct="1">
              <a:lnSpc>
                <a:spcPct val="100000"/>
              </a:lnSpc>
              <a:spcBef>
                <a:spcPts val="40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Scotia"/>
              <a:ea typeface="+mn-ea"/>
              <a:cs typeface="+mn-cs"/>
            </a:endParaRPr>
          </a:p>
        </p:txBody>
      </p:sp>
      <p:sp>
        <p:nvSpPr>
          <p:cNvPr id="12" name="Rectangle 11">
            <a:extLst>
              <a:ext uri="{FF2B5EF4-FFF2-40B4-BE49-F238E27FC236}">
                <a16:creationId xmlns:a16="http://schemas.microsoft.com/office/drawing/2014/main" id="{E3E7666F-BB73-E3F9-5471-BC708053B7A8}"/>
              </a:ext>
            </a:extLst>
          </p:cNvPr>
          <p:cNvSpPr/>
          <p:nvPr/>
        </p:nvSpPr>
        <p:spPr>
          <a:xfrm>
            <a:off x="7174641" y="3722943"/>
            <a:ext cx="2092277" cy="1202377"/>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marL="0" marR="0" lvl="0" indent="0" algn="ctr" defTabSz="914355" rtl="0" eaLnBrk="1" fontAlgn="auto" latinLnBrk="0" hangingPunct="1">
              <a:lnSpc>
                <a:spcPct val="100000"/>
              </a:lnSpc>
              <a:spcBef>
                <a:spcPts val="200"/>
              </a:spcBef>
              <a:spcAft>
                <a:spcPts val="200"/>
              </a:spcAft>
              <a:buClrTx/>
              <a:buSzTx/>
              <a:buFontTx/>
              <a:buNone/>
              <a:tabLst/>
              <a:defRPr/>
            </a:pPr>
            <a:r>
              <a:rPr kumimoji="0" lang="en-US" sz="1050" b="1" i="0" u="none" strike="noStrike" kern="1200" cap="none" spc="0" normalizeH="0" baseline="0" noProof="0">
                <a:ln>
                  <a:noFill/>
                </a:ln>
                <a:solidFill>
                  <a:srgbClr val="E1111A"/>
                </a:solidFill>
                <a:effectLst/>
                <a:uLnTx/>
                <a:uFillTx/>
                <a:latin typeface="Scotia"/>
                <a:ea typeface="+mn-ea"/>
                <a:cs typeface="+mn-cs"/>
              </a:rPr>
              <a:t>Joint Client Service Model</a:t>
            </a:r>
          </a:p>
          <a:p>
            <a:pPr marL="180939" marR="0" lvl="0" indent="-180939" algn="l" defTabSz="914355"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Scotia"/>
                <a:ea typeface="+mn-ea"/>
                <a:cs typeface="+mn-cs"/>
              </a:rPr>
              <a:t>Business leaders</a:t>
            </a:r>
            <a:br>
              <a:rPr kumimoji="0" lang="en-CA" sz="1600" b="1" i="0" u="none" strike="noStrike" kern="1200" cap="none" spc="0" normalizeH="0" baseline="0" noProof="0">
                <a:ln>
                  <a:noFill/>
                </a:ln>
                <a:solidFill>
                  <a:srgbClr val="000000"/>
                </a:solidFill>
                <a:effectLst/>
                <a:uLnTx/>
                <a:uFillTx/>
                <a:latin typeface="Scotia"/>
                <a:ea typeface="+mn-ea"/>
                <a:cs typeface="+mn-cs"/>
              </a:rPr>
            </a:br>
            <a:r>
              <a:rPr kumimoji="0" lang="en-CA" sz="900" b="0" i="0" u="none" strike="noStrike" kern="1200" cap="none" spc="0" normalizeH="0" baseline="0" noProof="0">
                <a:ln>
                  <a:noFill/>
                </a:ln>
                <a:solidFill>
                  <a:srgbClr val="000000"/>
                </a:solidFill>
                <a:effectLst/>
                <a:uLnTx/>
                <a:uFillTx/>
                <a:latin typeface="Scotia"/>
                <a:ea typeface="+mn-ea"/>
                <a:cs typeface="+mn-cs"/>
              </a:rPr>
              <a:t>e.g., Todd Barnes, Andrew Wright, Todd Flick, Daryl Dunn, Frank Ottavino, Ravina Bains, Tanya Eisener, Luzita Kennedy</a:t>
            </a:r>
            <a:endParaRPr kumimoji="0" lang="en-CA" sz="1200" b="0" i="0" u="none" strike="noStrike" kern="1200" cap="none" spc="0" normalizeH="0" baseline="0" noProof="0">
              <a:ln>
                <a:noFill/>
              </a:ln>
              <a:solidFill>
                <a:srgbClr val="000000"/>
              </a:solidFill>
              <a:effectLst/>
              <a:uLnTx/>
              <a:uFillTx/>
              <a:latin typeface="Scotia"/>
              <a:ea typeface="+mn-ea"/>
              <a:cs typeface="+mn-cs"/>
            </a:endParaRPr>
          </a:p>
        </p:txBody>
      </p:sp>
      <p:grpSp>
        <p:nvGrpSpPr>
          <p:cNvPr id="16" name="Group 15">
            <a:extLst>
              <a:ext uri="{FF2B5EF4-FFF2-40B4-BE49-F238E27FC236}">
                <a16:creationId xmlns:a16="http://schemas.microsoft.com/office/drawing/2014/main" id="{3DD46775-1827-037F-B84E-8EFC3AFFB055}"/>
              </a:ext>
            </a:extLst>
          </p:cNvPr>
          <p:cNvGrpSpPr/>
          <p:nvPr/>
        </p:nvGrpSpPr>
        <p:grpSpPr>
          <a:xfrm>
            <a:off x="988349" y="2191043"/>
            <a:ext cx="10212453" cy="552462"/>
            <a:chOff x="1097615" y="2191043"/>
            <a:chExt cx="10212453" cy="552462"/>
          </a:xfrm>
        </p:grpSpPr>
        <p:sp>
          <p:nvSpPr>
            <p:cNvPr id="8" name="Rectangle 7">
              <a:extLst>
                <a:ext uri="{FF2B5EF4-FFF2-40B4-BE49-F238E27FC236}">
                  <a16:creationId xmlns:a16="http://schemas.microsoft.com/office/drawing/2014/main" id="{9EBA4FEA-4B43-6D34-0A2F-2BB780F62655}"/>
                </a:ext>
              </a:extLst>
            </p:cNvPr>
            <p:cNvSpPr/>
            <p:nvPr/>
          </p:nvSpPr>
          <p:spPr>
            <a:xfrm>
              <a:off x="4998015" y="2191043"/>
              <a:ext cx="1703475" cy="55246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355" rtl="0" eaLnBrk="1" fontAlgn="auto" latinLnBrk="0" hangingPunct="1">
                <a:lnSpc>
                  <a:spcPct val="100000"/>
                </a:lnSpc>
                <a:spcBef>
                  <a:spcPts val="40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Scotia"/>
                  <a:ea typeface="+mn-ea"/>
                  <a:cs typeface="+mn-cs"/>
                </a:rPr>
                <a:t>Erin Griffiths</a:t>
              </a:r>
              <a:br>
                <a:rPr kumimoji="0" lang="en-CA" sz="1400" b="1" i="0" u="none" strike="noStrike" kern="1200" cap="none" spc="0" normalizeH="0" baseline="0" noProof="0">
                  <a:ln>
                    <a:noFill/>
                  </a:ln>
                  <a:solidFill>
                    <a:srgbClr val="FFFFFF"/>
                  </a:solidFill>
                  <a:effectLst/>
                  <a:uLnTx/>
                  <a:uFillTx/>
                  <a:latin typeface="Scotia"/>
                  <a:ea typeface="+mn-ea"/>
                  <a:cs typeface="+mn-cs"/>
                </a:rPr>
              </a:br>
              <a:r>
                <a:rPr kumimoji="0" lang="en-CA" sz="1100" b="0" i="0" u="none" strike="noStrike" kern="1200" cap="none" spc="0" normalizeH="0" baseline="0" noProof="0">
                  <a:ln>
                    <a:noFill/>
                  </a:ln>
                  <a:solidFill>
                    <a:srgbClr val="FFFFFF"/>
                  </a:solidFill>
                  <a:effectLst/>
                  <a:uLnTx/>
                  <a:uFillTx/>
                  <a:latin typeface="Scotia"/>
                  <a:ea typeface="+mn-ea"/>
                  <a:cs typeface="+mn-cs"/>
                </a:rPr>
                <a:t>SVP, Client Solutions</a:t>
              </a:r>
            </a:p>
          </p:txBody>
        </p:sp>
        <p:sp>
          <p:nvSpPr>
            <p:cNvPr id="9" name="Rectangle 8">
              <a:extLst>
                <a:ext uri="{FF2B5EF4-FFF2-40B4-BE49-F238E27FC236}">
                  <a16:creationId xmlns:a16="http://schemas.microsoft.com/office/drawing/2014/main" id="{6BBF711D-5082-C73E-9D86-2B5D0138DB8F}"/>
                </a:ext>
              </a:extLst>
            </p:cNvPr>
            <p:cNvSpPr/>
            <p:nvPr/>
          </p:nvSpPr>
          <p:spPr>
            <a:xfrm>
              <a:off x="1097615" y="2191043"/>
              <a:ext cx="1571581" cy="55246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355" rtl="0" eaLnBrk="1" fontAlgn="auto" latinLnBrk="0" hangingPunct="1">
                <a:lnSpc>
                  <a:spcPct val="100000"/>
                </a:lnSpc>
                <a:spcBef>
                  <a:spcPts val="40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Scotia"/>
                  <a:ea typeface="+mn-ea"/>
                  <a:cs typeface="+mn-cs"/>
                </a:rPr>
                <a:t>Alex </a:t>
              </a:r>
              <a:r>
                <a:rPr kumimoji="0" lang="en-CA" sz="1400" b="1" i="0" u="none" strike="noStrike" kern="1200" cap="none" spc="0" normalizeH="0" baseline="0" noProof="0" err="1">
                  <a:ln>
                    <a:noFill/>
                  </a:ln>
                  <a:solidFill>
                    <a:srgbClr val="FFFFFF"/>
                  </a:solidFill>
                  <a:effectLst/>
                  <a:uLnTx/>
                  <a:uFillTx/>
                  <a:latin typeface="Scotia"/>
                  <a:ea typeface="+mn-ea"/>
                  <a:cs typeface="+mn-cs"/>
                </a:rPr>
                <a:t>Besharat</a:t>
              </a:r>
              <a:r>
                <a:rPr kumimoji="0" lang="en-CA" sz="1400" b="1" i="0" u="none" strike="noStrike" kern="1200" cap="none" spc="0" normalizeH="0" baseline="0" noProof="0">
                  <a:ln>
                    <a:noFill/>
                  </a:ln>
                  <a:solidFill>
                    <a:srgbClr val="FFFFFF"/>
                  </a:solidFill>
                  <a:effectLst/>
                  <a:uLnTx/>
                  <a:uFillTx/>
                  <a:latin typeface="Scotia"/>
                  <a:ea typeface="+mn-ea"/>
                  <a:cs typeface="+mn-cs"/>
                </a:rPr>
                <a:t> </a:t>
              </a:r>
              <a:br>
                <a:rPr kumimoji="0" lang="en-CA" sz="1400" b="1" i="0" u="none" strike="noStrike" kern="1200" cap="none" spc="0" normalizeH="0" baseline="0" noProof="0">
                  <a:ln>
                    <a:noFill/>
                  </a:ln>
                  <a:solidFill>
                    <a:srgbClr val="FFFFFF"/>
                  </a:solidFill>
                  <a:effectLst/>
                  <a:uLnTx/>
                  <a:uFillTx/>
                  <a:latin typeface="Scotia"/>
                  <a:ea typeface="+mn-ea"/>
                  <a:cs typeface="+mn-cs"/>
                </a:rPr>
              </a:br>
              <a:r>
                <a:rPr kumimoji="0" lang="en-CA" sz="1100" b="0" i="0" u="none" strike="noStrike" kern="1200" cap="none" spc="0" normalizeH="0" baseline="0" noProof="0">
                  <a:ln>
                    <a:noFill/>
                  </a:ln>
                  <a:solidFill>
                    <a:srgbClr val="FFFFFF"/>
                  </a:solidFill>
                  <a:effectLst/>
                  <a:uLnTx/>
                  <a:uFillTx/>
                  <a:latin typeface="Scotia"/>
                  <a:ea typeface="+mn-ea"/>
                  <a:cs typeface="+mn-cs"/>
                </a:rPr>
                <a:t>EVP, CWM</a:t>
              </a:r>
              <a:endParaRPr kumimoji="0" lang="en-CA" sz="1400" b="0" i="0" u="none" strike="noStrike" kern="1200" cap="none" spc="0" normalizeH="0" baseline="0" noProof="0">
                <a:ln>
                  <a:noFill/>
                </a:ln>
                <a:solidFill>
                  <a:srgbClr val="FFFFFF"/>
                </a:solidFill>
                <a:effectLst/>
                <a:uLnTx/>
                <a:uFillTx/>
                <a:latin typeface="Scotia"/>
                <a:ea typeface="+mn-ea"/>
                <a:cs typeface="+mn-cs"/>
              </a:endParaRPr>
            </a:p>
          </p:txBody>
        </p:sp>
        <p:sp>
          <p:nvSpPr>
            <p:cNvPr id="10" name="Rectangle 9">
              <a:extLst>
                <a:ext uri="{FF2B5EF4-FFF2-40B4-BE49-F238E27FC236}">
                  <a16:creationId xmlns:a16="http://schemas.microsoft.com/office/drawing/2014/main" id="{2662B389-FFD6-C9BB-2980-2FCBC25A8D0C}"/>
                </a:ext>
              </a:extLst>
            </p:cNvPr>
            <p:cNvSpPr/>
            <p:nvPr/>
          </p:nvSpPr>
          <p:spPr>
            <a:xfrm>
              <a:off x="2841808" y="2191043"/>
              <a:ext cx="1983595" cy="55246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355" rtl="0" eaLnBrk="1" fontAlgn="auto" latinLnBrk="0" hangingPunct="1">
                <a:lnSpc>
                  <a:spcPct val="100000"/>
                </a:lnSpc>
                <a:spcBef>
                  <a:spcPts val="40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Scotia"/>
                  <a:ea typeface="+mn-ea"/>
                  <a:cs typeface="+mn-cs"/>
                </a:rPr>
                <a:t>Chris Manning </a:t>
              </a:r>
              <a:br>
                <a:rPr kumimoji="0" lang="en-CA" sz="1400" b="1" i="0" u="none" strike="noStrike" kern="1200" cap="none" spc="0" normalizeH="0" baseline="0" noProof="0">
                  <a:ln>
                    <a:noFill/>
                  </a:ln>
                  <a:solidFill>
                    <a:srgbClr val="FFFFFF"/>
                  </a:solidFill>
                  <a:effectLst/>
                  <a:uLnTx/>
                  <a:uFillTx/>
                  <a:latin typeface="Scotia"/>
                  <a:ea typeface="+mn-ea"/>
                  <a:cs typeface="+mn-cs"/>
                </a:rPr>
              </a:br>
              <a:r>
                <a:rPr kumimoji="0" lang="en-CA" sz="1100" b="0" i="0" u="none" strike="noStrike" kern="1200" cap="none" spc="0" normalizeH="0" baseline="0" noProof="0">
                  <a:ln>
                    <a:noFill/>
                  </a:ln>
                  <a:solidFill>
                    <a:srgbClr val="FFFFFF"/>
                  </a:solidFill>
                  <a:effectLst/>
                  <a:uLnTx/>
                  <a:uFillTx/>
                  <a:latin typeface="Scotia"/>
                  <a:ea typeface="+mn-ea"/>
                  <a:cs typeface="+mn-cs"/>
                </a:rPr>
                <a:t>EVP, Commercial Banking</a:t>
              </a:r>
            </a:p>
          </p:txBody>
        </p:sp>
        <p:sp>
          <p:nvSpPr>
            <p:cNvPr id="4" name="Rectangle 3">
              <a:extLst>
                <a:ext uri="{FF2B5EF4-FFF2-40B4-BE49-F238E27FC236}">
                  <a16:creationId xmlns:a16="http://schemas.microsoft.com/office/drawing/2014/main" id="{4DB90D40-2219-BD24-B51B-085376630C9A}"/>
                </a:ext>
              </a:extLst>
            </p:cNvPr>
            <p:cNvSpPr/>
            <p:nvPr/>
          </p:nvSpPr>
          <p:spPr>
            <a:xfrm>
              <a:off x="6874102" y="2191043"/>
              <a:ext cx="2131677" cy="55246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Scotia"/>
                  <a:ea typeface="+mn-ea"/>
                  <a:cs typeface="+mn-cs"/>
                </a:rPr>
                <a:t>Ravina Bains</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FFFFFF"/>
                  </a:solidFill>
                  <a:effectLst/>
                  <a:uLnTx/>
                  <a:uFillTx/>
                  <a:latin typeface="Scotia"/>
                  <a:ea typeface="+mn-ea"/>
                  <a:cs typeface="+mn-cs"/>
                </a:rPr>
                <a:t>SVP &amp; Head of Mid-Market</a:t>
              </a:r>
            </a:p>
          </p:txBody>
        </p:sp>
        <p:sp>
          <p:nvSpPr>
            <p:cNvPr id="27" name="Rectangle 26">
              <a:extLst>
                <a:ext uri="{FF2B5EF4-FFF2-40B4-BE49-F238E27FC236}">
                  <a16:creationId xmlns:a16="http://schemas.microsoft.com/office/drawing/2014/main" id="{3F6BB648-F7FD-ED0F-5CAA-944EA2407733}"/>
                </a:ext>
              </a:extLst>
            </p:cNvPr>
            <p:cNvSpPr/>
            <p:nvPr/>
          </p:nvSpPr>
          <p:spPr>
            <a:xfrm>
              <a:off x="9178391" y="2191043"/>
              <a:ext cx="2131677" cy="55246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Scotia"/>
                  <a:ea typeface="+mn-ea"/>
                  <a:cs typeface="+mn-cs"/>
                </a:rPr>
                <a:t>Frank </a:t>
              </a:r>
              <a:r>
                <a:rPr kumimoji="0" lang="en-CA" sz="1400" b="1" i="0" u="none" strike="noStrike" kern="1200" cap="none" spc="0" normalizeH="0" baseline="0" noProof="0" err="1">
                  <a:ln>
                    <a:noFill/>
                  </a:ln>
                  <a:solidFill>
                    <a:srgbClr val="FFFFFF"/>
                  </a:solidFill>
                  <a:effectLst/>
                  <a:uLnTx/>
                  <a:uFillTx/>
                  <a:latin typeface="Scotia"/>
                  <a:ea typeface="+mn-ea"/>
                  <a:cs typeface="+mn-cs"/>
                </a:rPr>
                <a:t>Ottavino</a:t>
              </a:r>
              <a:endParaRPr kumimoji="0" lang="en-CA" sz="1400" b="1" i="0" u="none" strike="noStrike" kern="1200" cap="none" spc="0" normalizeH="0" baseline="0" noProof="0">
                <a:ln>
                  <a:noFill/>
                </a:ln>
                <a:solidFill>
                  <a:srgbClr val="FFFFFF"/>
                </a:solidFill>
                <a:effectLst/>
                <a:uLnTx/>
                <a:uFillTx/>
                <a:latin typeface="Scotia"/>
                <a:ea typeface="+mn-ea"/>
                <a:cs typeface="+mn-cs"/>
              </a:endParaRP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FFFFFF"/>
                  </a:solidFill>
                  <a:effectLst/>
                  <a:uLnTx/>
                  <a:uFillTx/>
                  <a:latin typeface="Scotia"/>
                  <a:ea typeface="+mn-ea"/>
                  <a:cs typeface="+mn-cs"/>
                </a:rPr>
                <a:t>SVP, Real Estate Banking &amp; National Accounts</a:t>
              </a:r>
            </a:p>
          </p:txBody>
        </p:sp>
      </p:grpSp>
    </p:spTree>
    <p:extLst>
      <p:ext uri="{BB962C8B-B14F-4D97-AF65-F5344CB8AC3E}">
        <p14:creationId xmlns:p14="http://schemas.microsoft.com/office/powerpoint/2010/main" val="16682950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68FFA8FE-8B1A-C6E3-F17B-4B90245051A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3" progId="TCLayout.ActiveDocument.1">
                  <p:embed/>
                </p:oleObj>
              </mc:Choice>
              <mc:Fallback>
                <p:oleObj name="think-cell Slide" r:id="rId4" imgW="404" imgH="403" progId="TCLayout.ActiveDocument.1">
                  <p:embed/>
                  <p:pic>
                    <p:nvPicPr>
                      <p:cNvPr id="4" name="think-cell data - do not delete" hidden="1">
                        <a:extLst>
                          <a:ext uri="{FF2B5EF4-FFF2-40B4-BE49-F238E27FC236}">
                            <a16:creationId xmlns:a16="http://schemas.microsoft.com/office/drawing/2014/main" id="{68FFA8FE-8B1A-C6E3-F17B-4B90245051A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26068FAE-3D09-D73D-021C-1B8A9DEE73F3}"/>
              </a:ext>
            </a:extLst>
          </p:cNvPr>
          <p:cNvSpPr>
            <a:spLocks noGrp="1"/>
          </p:cNvSpPr>
          <p:nvPr>
            <p:ph type="title"/>
          </p:nvPr>
        </p:nvSpPr>
        <p:spPr/>
        <p:txBody>
          <a:bodyPr vert="horz"/>
          <a:lstStyle/>
          <a:p>
            <a:r>
              <a:rPr lang="en-CA"/>
              <a:t>Each session will include a core team of participants – with potential to invite domain and subject matter experts as needed</a:t>
            </a:r>
          </a:p>
        </p:txBody>
      </p:sp>
      <p:sp>
        <p:nvSpPr>
          <p:cNvPr id="14" name="Slide Number Placeholder 13">
            <a:extLst>
              <a:ext uri="{FF2B5EF4-FFF2-40B4-BE49-F238E27FC236}">
                <a16:creationId xmlns:a16="http://schemas.microsoft.com/office/drawing/2014/main" id="{83072698-3798-37AF-D4EF-12466307129C}"/>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8DA539-2EF0-469C-9CF6-7054C4A4E5D5}"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49" name="Right Bracket 48">
            <a:extLst>
              <a:ext uri="{FF2B5EF4-FFF2-40B4-BE49-F238E27FC236}">
                <a16:creationId xmlns:a16="http://schemas.microsoft.com/office/drawing/2014/main" id="{290A2D70-91CF-E079-70CD-E38482785529}"/>
              </a:ext>
            </a:extLst>
          </p:cNvPr>
          <p:cNvSpPr/>
          <p:nvPr/>
        </p:nvSpPr>
        <p:spPr>
          <a:xfrm rot="16200000">
            <a:off x="6060000" y="-3281283"/>
            <a:ext cx="72000" cy="11160000"/>
          </a:xfrm>
          <a:prstGeom prst="rightBracket">
            <a:avLst/>
          </a:prstGeom>
          <a:ln w="28575" cap="rnd">
            <a:solidFill>
              <a:srgbClr val="EC111A"/>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a:ea typeface="+mn-ea"/>
              <a:cs typeface="+mn-cs"/>
            </a:endParaRPr>
          </a:p>
        </p:txBody>
      </p:sp>
      <p:sp>
        <p:nvSpPr>
          <p:cNvPr id="50" name="TextBox 49">
            <a:extLst>
              <a:ext uri="{FF2B5EF4-FFF2-40B4-BE49-F238E27FC236}">
                <a16:creationId xmlns:a16="http://schemas.microsoft.com/office/drawing/2014/main" id="{098CAAC8-8625-D1D4-9000-B887CC928419}"/>
              </a:ext>
            </a:extLst>
          </p:cNvPr>
          <p:cNvSpPr txBox="1"/>
          <p:nvPr/>
        </p:nvSpPr>
        <p:spPr>
          <a:xfrm>
            <a:off x="4096249" y="2146474"/>
            <a:ext cx="4522799" cy="276999"/>
          </a:xfrm>
          <a:prstGeom prst="rect">
            <a:avLst/>
          </a:prstGeom>
          <a:solidFill>
            <a:schemeClr val="bg1"/>
          </a:solidFill>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Proposed core team </a:t>
            </a:r>
            <a:r>
              <a:rPr kumimoji="0" lang="en-CA" sz="1200" b="0" i="0" u="none" strike="noStrike" kern="1200" cap="none" spc="0" normalizeH="0" baseline="0" noProof="0">
                <a:ln>
                  <a:noFill/>
                </a:ln>
                <a:solidFill>
                  <a:srgbClr val="000000"/>
                </a:solidFill>
                <a:effectLst/>
                <a:uLnTx/>
                <a:uFillTx/>
                <a:latin typeface="Scotia"/>
                <a:ea typeface="+mn-ea"/>
                <a:cs typeface="+mn-cs"/>
              </a:rPr>
              <a:t>(included in each working session)</a:t>
            </a:r>
          </a:p>
        </p:txBody>
      </p:sp>
      <p:grpSp>
        <p:nvGrpSpPr>
          <p:cNvPr id="19" name="Group 18">
            <a:extLst>
              <a:ext uri="{FF2B5EF4-FFF2-40B4-BE49-F238E27FC236}">
                <a16:creationId xmlns:a16="http://schemas.microsoft.com/office/drawing/2014/main" id="{E3B54AAC-0A02-106E-2374-DD7FDDFD0D03}"/>
              </a:ext>
            </a:extLst>
          </p:cNvPr>
          <p:cNvGrpSpPr/>
          <p:nvPr/>
        </p:nvGrpSpPr>
        <p:grpSpPr>
          <a:xfrm>
            <a:off x="515938" y="2731952"/>
            <a:ext cx="11160000" cy="2560457"/>
            <a:chOff x="515940" y="2875788"/>
            <a:chExt cx="8893742" cy="2560457"/>
          </a:xfrm>
        </p:grpSpPr>
        <p:sp>
          <p:nvSpPr>
            <p:cNvPr id="21" name="Rectangle: Rounded Corners 20">
              <a:extLst>
                <a:ext uri="{FF2B5EF4-FFF2-40B4-BE49-F238E27FC236}">
                  <a16:creationId xmlns:a16="http://schemas.microsoft.com/office/drawing/2014/main" id="{71E0DD87-3806-87A9-DF07-BDDCF394BF62}"/>
                </a:ext>
              </a:extLst>
            </p:cNvPr>
            <p:cNvSpPr/>
            <p:nvPr/>
          </p:nvSpPr>
          <p:spPr>
            <a:xfrm>
              <a:off x="7335843" y="4213952"/>
              <a:ext cx="2073839" cy="553212"/>
            </a:xfrm>
            <a:prstGeom prst="round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err="1">
                  <a:ln>
                    <a:noFill/>
                  </a:ln>
                  <a:solidFill>
                    <a:srgbClr val="000000"/>
                  </a:solidFill>
                  <a:effectLst/>
                  <a:uLnTx/>
                  <a:uFillTx/>
                  <a:latin typeface="Scotia"/>
                  <a:ea typeface="+mn-ea"/>
                  <a:cs typeface="+mn-cs"/>
                </a:rPr>
                <a:t>Shradh</a:t>
              </a:r>
              <a:r>
                <a:rPr kumimoji="0" lang="en-CA" sz="1000" b="1" i="0" u="none" strike="noStrike" kern="1200" cap="none" spc="0" normalizeH="0" baseline="0" noProof="0">
                  <a:ln>
                    <a:noFill/>
                  </a:ln>
                  <a:solidFill>
                    <a:srgbClr val="000000"/>
                  </a:solidFill>
                  <a:effectLst/>
                  <a:uLnTx/>
                  <a:uFillTx/>
                  <a:latin typeface="Scotia"/>
                  <a:ea typeface="+mn-ea"/>
                  <a:cs typeface="+mn-cs"/>
                </a:rPr>
                <a:t>a Oberoi</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Manager, Enterprise Strategy</a:t>
              </a:r>
            </a:p>
          </p:txBody>
        </p:sp>
        <p:sp>
          <p:nvSpPr>
            <p:cNvPr id="24" name="Rectangle: Rounded Corners 23">
              <a:extLst>
                <a:ext uri="{FF2B5EF4-FFF2-40B4-BE49-F238E27FC236}">
                  <a16:creationId xmlns:a16="http://schemas.microsoft.com/office/drawing/2014/main" id="{3A691029-6771-1ECF-E3D4-D08A678B1C3F}"/>
                </a:ext>
              </a:extLst>
            </p:cNvPr>
            <p:cNvSpPr/>
            <p:nvPr/>
          </p:nvSpPr>
          <p:spPr>
            <a:xfrm>
              <a:off x="7335843" y="4883033"/>
              <a:ext cx="2073839" cy="553212"/>
            </a:xfrm>
            <a:prstGeom prst="round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Mehnaz Ahmed</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Analyst, Enterprise Strategy</a:t>
              </a:r>
            </a:p>
          </p:txBody>
        </p:sp>
        <p:sp>
          <p:nvSpPr>
            <p:cNvPr id="26" name="Rectangle: Rounded Corners 25">
              <a:extLst>
                <a:ext uri="{FF2B5EF4-FFF2-40B4-BE49-F238E27FC236}">
                  <a16:creationId xmlns:a16="http://schemas.microsoft.com/office/drawing/2014/main" id="{655738E9-ACBA-E9B8-BC8E-C44CE98E0012}"/>
                </a:ext>
              </a:extLst>
            </p:cNvPr>
            <p:cNvSpPr/>
            <p:nvPr/>
          </p:nvSpPr>
          <p:spPr>
            <a:xfrm>
              <a:off x="7335843" y="3544870"/>
              <a:ext cx="2073839" cy="553212"/>
            </a:xfrm>
            <a:prstGeom prst="round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Matija Rekalic</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Director, Enterprise Strategy</a:t>
              </a:r>
            </a:p>
          </p:txBody>
        </p:sp>
        <p:sp>
          <p:nvSpPr>
            <p:cNvPr id="23" name="Rectangle: Rounded Corners 22">
              <a:extLst>
                <a:ext uri="{FF2B5EF4-FFF2-40B4-BE49-F238E27FC236}">
                  <a16:creationId xmlns:a16="http://schemas.microsoft.com/office/drawing/2014/main" id="{EBBD27E8-9D9D-C043-1F4A-AE560C1D1E67}"/>
                </a:ext>
              </a:extLst>
            </p:cNvPr>
            <p:cNvSpPr/>
            <p:nvPr/>
          </p:nvSpPr>
          <p:spPr>
            <a:xfrm>
              <a:off x="7335844" y="2875788"/>
              <a:ext cx="2073837" cy="553212"/>
            </a:xfrm>
            <a:prstGeom prst="roundRect">
              <a:avLst>
                <a:gd name="adj" fmla="val 22712"/>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Stephan Trusevych</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VP, Enterprise Strategy</a:t>
              </a:r>
            </a:p>
          </p:txBody>
        </p:sp>
        <p:sp>
          <p:nvSpPr>
            <p:cNvPr id="8" name="Rectangle: Rounded Corners 7">
              <a:extLst>
                <a:ext uri="{FF2B5EF4-FFF2-40B4-BE49-F238E27FC236}">
                  <a16:creationId xmlns:a16="http://schemas.microsoft.com/office/drawing/2014/main" id="{98EE8D33-B4DB-2B6A-E720-FDBE0E64CBF8}"/>
                </a:ext>
              </a:extLst>
            </p:cNvPr>
            <p:cNvSpPr/>
            <p:nvPr/>
          </p:nvSpPr>
          <p:spPr>
            <a:xfrm>
              <a:off x="515940" y="4883033"/>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Sadaf Sajjad-Lopez</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Director, Strategic Initiatives</a:t>
              </a:r>
            </a:p>
          </p:txBody>
        </p:sp>
        <p:sp>
          <p:nvSpPr>
            <p:cNvPr id="28" name="Rectangle: Rounded Corners 27">
              <a:extLst>
                <a:ext uri="{FF2B5EF4-FFF2-40B4-BE49-F238E27FC236}">
                  <a16:creationId xmlns:a16="http://schemas.microsoft.com/office/drawing/2014/main" id="{1175190E-533A-8786-18EB-4CBDA89654FF}"/>
                </a:ext>
              </a:extLst>
            </p:cNvPr>
            <p:cNvSpPr/>
            <p:nvPr/>
          </p:nvSpPr>
          <p:spPr>
            <a:xfrm>
              <a:off x="4962811" y="4213952"/>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Matt Smit</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Director, Goal Planning and Measurement</a:t>
              </a:r>
            </a:p>
          </p:txBody>
        </p:sp>
        <p:sp>
          <p:nvSpPr>
            <p:cNvPr id="30" name="Rectangle: Rounded Corners 29">
              <a:extLst>
                <a:ext uri="{FF2B5EF4-FFF2-40B4-BE49-F238E27FC236}">
                  <a16:creationId xmlns:a16="http://schemas.microsoft.com/office/drawing/2014/main" id="{3ADD7F8C-6C1E-40F2-A7C9-72A71CACB6D0}"/>
                </a:ext>
              </a:extLst>
            </p:cNvPr>
            <p:cNvSpPr/>
            <p:nvPr/>
          </p:nvSpPr>
          <p:spPr>
            <a:xfrm>
              <a:off x="4962810" y="3544870"/>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James </a:t>
              </a:r>
              <a:r>
                <a:rPr kumimoji="0" lang="en-CA" sz="1000" b="1" i="0" u="none" strike="noStrike" kern="1200" cap="none" spc="0" normalizeH="0" baseline="0" noProof="0" err="1">
                  <a:ln>
                    <a:noFill/>
                  </a:ln>
                  <a:solidFill>
                    <a:srgbClr val="000000"/>
                  </a:solidFill>
                  <a:effectLst/>
                  <a:uLnTx/>
                  <a:uFillTx/>
                  <a:latin typeface="Scotia"/>
                  <a:ea typeface="+mn-ea"/>
                  <a:cs typeface="+mn-cs"/>
                </a:rPr>
                <a:t>Popalis</a:t>
              </a:r>
              <a:endParaRPr kumimoji="0" lang="en-CA" sz="1000" b="1" i="0" u="none" strike="noStrike" kern="1200" cap="none" spc="0" normalizeH="0" baseline="0" noProof="0">
                <a:ln>
                  <a:noFill/>
                </a:ln>
                <a:solidFill>
                  <a:srgbClr val="000000"/>
                </a:solidFill>
                <a:effectLst/>
                <a:uLnTx/>
                <a:uFillTx/>
                <a:latin typeface="Scotia"/>
                <a:ea typeface="+mn-ea"/>
                <a:cs typeface="+mn-cs"/>
              </a:endParaRP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VP, Omni Channel Development</a:t>
              </a:r>
            </a:p>
          </p:txBody>
        </p:sp>
        <p:sp>
          <p:nvSpPr>
            <p:cNvPr id="10" name="Rectangle: Rounded Corners 9">
              <a:extLst>
                <a:ext uri="{FF2B5EF4-FFF2-40B4-BE49-F238E27FC236}">
                  <a16:creationId xmlns:a16="http://schemas.microsoft.com/office/drawing/2014/main" id="{50255439-CB01-35BB-0FD0-AB8F4B55C4A0}"/>
                </a:ext>
              </a:extLst>
            </p:cNvPr>
            <p:cNvSpPr/>
            <p:nvPr/>
          </p:nvSpPr>
          <p:spPr>
            <a:xfrm>
              <a:off x="4962812" y="2875788"/>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Scott Gamble</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SVP, Retail Performance</a:t>
              </a:r>
            </a:p>
          </p:txBody>
        </p:sp>
        <p:sp>
          <p:nvSpPr>
            <p:cNvPr id="9" name="Rectangle: Rounded Corners 8">
              <a:extLst>
                <a:ext uri="{FF2B5EF4-FFF2-40B4-BE49-F238E27FC236}">
                  <a16:creationId xmlns:a16="http://schemas.microsoft.com/office/drawing/2014/main" id="{4517F2A7-0280-C297-65CD-BDA7581B6A81}"/>
                </a:ext>
              </a:extLst>
            </p:cNvPr>
            <p:cNvSpPr/>
            <p:nvPr/>
          </p:nvSpPr>
          <p:spPr>
            <a:xfrm>
              <a:off x="515940" y="3544870"/>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Francisco Martinek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VP, Centralized Operations </a:t>
              </a:r>
              <a:br>
                <a:rPr kumimoji="0" lang="en-CA" sz="900" b="0" i="1" u="none" strike="noStrike" kern="1200" cap="none" spc="0" normalizeH="0" baseline="0" noProof="0">
                  <a:ln>
                    <a:noFill/>
                  </a:ln>
                  <a:solidFill>
                    <a:srgbClr val="FFFFFF"/>
                  </a:solidFill>
                  <a:effectLst/>
                  <a:uLnTx/>
                  <a:uFillTx/>
                  <a:latin typeface="Scotia"/>
                  <a:ea typeface="+mn-ea"/>
                  <a:cs typeface="+mn-cs"/>
                </a:rPr>
              </a:br>
              <a:r>
                <a:rPr kumimoji="0" lang="en-CA" sz="900" b="0" i="1" u="none" strike="noStrike" kern="1200" cap="none" spc="0" normalizeH="0" baseline="0" noProof="0">
                  <a:ln>
                    <a:noFill/>
                  </a:ln>
                  <a:solidFill>
                    <a:srgbClr val="000000"/>
                  </a:solidFill>
                  <a:effectLst/>
                  <a:uLnTx/>
                  <a:uFillTx/>
                  <a:latin typeface="Scotia"/>
                  <a:ea typeface="+mn-ea"/>
                  <a:cs typeface="+mn-cs"/>
                </a:rPr>
                <a:t>&amp; Governance</a:t>
              </a:r>
            </a:p>
          </p:txBody>
        </p:sp>
        <p:sp>
          <p:nvSpPr>
            <p:cNvPr id="15" name="Rectangle: Rounded Corners 14">
              <a:extLst>
                <a:ext uri="{FF2B5EF4-FFF2-40B4-BE49-F238E27FC236}">
                  <a16:creationId xmlns:a16="http://schemas.microsoft.com/office/drawing/2014/main" id="{EC3F575A-4721-94E1-BC33-00EE459A2386}"/>
                </a:ext>
              </a:extLst>
            </p:cNvPr>
            <p:cNvSpPr/>
            <p:nvPr/>
          </p:nvSpPr>
          <p:spPr>
            <a:xfrm>
              <a:off x="515940" y="4213952"/>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Iker Brito</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Director, Salesforce Effectiveness</a:t>
              </a:r>
            </a:p>
          </p:txBody>
        </p:sp>
        <p:sp>
          <p:nvSpPr>
            <p:cNvPr id="51" name="Rectangle: Rounded Corners 50">
              <a:extLst>
                <a:ext uri="{FF2B5EF4-FFF2-40B4-BE49-F238E27FC236}">
                  <a16:creationId xmlns:a16="http://schemas.microsoft.com/office/drawing/2014/main" id="{98E16327-6B93-58B5-CB8F-34BDDA836854}"/>
                </a:ext>
              </a:extLst>
            </p:cNvPr>
            <p:cNvSpPr/>
            <p:nvPr/>
          </p:nvSpPr>
          <p:spPr>
            <a:xfrm>
              <a:off x="515940" y="2875788"/>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Eric Scipio Del Campo</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SVP, Global Contact Centre</a:t>
              </a:r>
            </a:p>
          </p:txBody>
        </p:sp>
        <p:sp>
          <p:nvSpPr>
            <p:cNvPr id="20" name="Rectangle: Rounded Corners 19">
              <a:extLst>
                <a:ext uri="{FF2B5EF4-FFF2-40B4-BE49-F238E27FC236}">
                  <a16:creationId xmlns:a16="http://schemas.microsoft.com/office/drawing/2014/main" id="{DB85ADC0-C858-9F08-F69E-0C085ED037B5}"/>
                </a:ext>
              </a:extLst>
            </p:cNvPr>
            <p:cNvSpPr/>
            <p:nvPr/>
          </p:nvSpPr>
          <p:spPr>
            <a:xfrm>
              <a:off x="2739375" y="3544870"/>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Brendan Paes</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Director, Sales Effectiveness Transformation</a:t>
              </a:r>
            </a:p>
          </p:txBody>
        </p:sp>
        <p:sp>
          <p:nvSpPr>
            <p:cNvPr id="52" name="Rectangle: Rounded Corners 51">
              <a:extLst>
                <a:ext uri="{FF2B5EF4-FFF2-40B4-BE49-F238E27FC236}">
                  <a16:creationId xmlns:a16="http://schemas.microsoft.com/office/drawing/2014/main" id="{DCFF3556-9DE1-99AB-60A4-E293FFCB2F4F}"/>
                </a:ext>
              </a:extLst>
            </p:cNvPr>
            <p:cNvSpPr/>
            <p:nvPr/>
          </p:nvSpPr>
          <p:spPr>
            <a:xfrm>
              <a:off x="2739376" y="2875788"/>
              <a:ext cx="2073837" cy="553212"/>
            </a:xfrm>
            <a:prstGeom prst="round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Jeff Snowden</a:t>
              </a:r>
            </a:p>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900" b="0" i="1" u="none" strike="noStrike" kern="1200" cap="none" spc="0" normalizeH="0" baseline="0" noProof="0">
                  <a:ln>
                    <a:noFill/>
                  </a:ln>
                  <a:solidFill>
                    <a:srgbClr val="000000"/>
                  </a:solidFill>
                  <a:effectLst/>
                  <a:uLnTx/>
                  <a:uFillTx/>
                  <a:latin typeface="Scotia"/>
                  <a:ea typeface="+mn-ea"/>
                  <a:cs typeface="+mn-cs"/>
                </a:rPr>
                <a:t>SVP, Special Projects Retail </a:t>
              </a:r>
              <a:br>
                <a:rPr kumimoji="0" lang="en-CA" sz="900" b="0" i="1" u="none" strike="noStrike" kern="1200" cap="none" spc="0" normalizeH="0" baseline="0" noProof="0">
                  <a:ln>
                    <a:noFill/>
                  </a:ln>
                  <a:solidFill>
                    <a:srgbClr val="000000"/>
                  </a:solidFill>
                  <a:effectLst/>
                  <a:uLnTx/>
                  <a:uFillTx/>
                  <a:latin typeface="Scotia"/>
                  <a:ea typeface="+mn-ea"/>
                  <a:cs typeface="+mn-cs"/>
                </a:rPr>
              </a:br>
              <a:r>
                <a:rPr kumimoji="0" lang="en-CA" sz="900" b="0" i="1" u="none" strike="noStrike" kern="1200" cap="none" spc="0" normalizeH="0" baseline="0" noProof="0">
                  <a:ln>
                    <a:noFill/>
                  </a:ln>
                  <a:solidFill>
                    <a:srgbClr val="000000"/>
                  </a:solidFill>
                  <a:effectLst/>
                  <a:uLnTx/>
                  <a:uFillTx/>
                  <a:latin typeface="Scotia"/>
                  <a:ea typeface="+mn-ea"/>
                  <a:cs typeface="+mn-cs"/>
                </a:rPr>
                <a:t>and Small Business</a:t>
              </a:r>
            </a:p>
          </p:txBody>
        </p:sp>
      </p:grpSp>
      <p:sp>
        <p:nvSpPr>
          <p:cNvPr id="53" name="Speech Bubble: Rectangle 52">
            <a:extLst>
              <a:ext uri="{FF2B5EF4-FFF2-40B4-BE49-F238E27FC236}">
                <a16:creationId xmlns:a16="http://schemas.microsoft.com/office/drawing/2014/main" id="{51F43AC5-A281-6F08-28D3-C064F373BF57}"/>
              </a:ext>
            </a:extLst>
          </p:cNvPr>
          <p:cNvSpPr/>
          <p:nvPr/>
        </p:nvSpPr>
        <p:spPr>
          <a:xfrm>
            <a:off x="3729218" y="4777318"/>
            <a:ext cx="3986032" cy="1280160"/>
          </a:xfrm>
          <a:prstGeom prst="wedgeRectCallout">
            <a:avLst>
              <a:gd name="adj1" fmla="val -61629"/>
              <a:gd name="adj2" fmla="val -43999"/>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tIns="274320" rIns="274320" bIns="27432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900" b="1" i="0" u="none" strike="noStrike" kern="1200" cap="none" spc="0" normalizeH="0" baseline="0" noProof="0">
                <a:ln>
                  <a:noFill/>
                </a:ln>
                <a:solidFill>
                  <a:srgbClr val="FFFFFF"/>
                </a:solidFill>
                <a:effectLst/>
                <a:uLnTx/>
                <a:uFillTx/>
                <a:latin typeface="Scotia"/>
                <a:ea typeface="+mn-ea"/>
                <a:cs typeface="+mn-cs"/>
              </a:rPr>
              <a:t>Considerations for participation</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CA" sz="900" b="1" i="0" u="none" strike="noStrike" kern="1200" cap="none" spc="0" normalizeH="0" baseline="0" noProof="0">
                <a:ln>
                  <a:noFill/>
                </a:ln>
                <a:solidFill>
                  <a:srgbClr val="FFFFFF"/>
                </a:solidFill>
                <a:effectLst/>
                <a:uLnTx/>
                <a:uFillTx/>
                <a:latin typeface="Scotia"/>
                <a:ea typeface="+mn-ea"/>
                <a:cs typeface="+mn-cs"/>
              </a:rPr>
              <a:t>Other participants </a:t>
            </a:r>
            <a:r>
              <a:rPr kumimoji="0" lang="en-CA" sz="900" b="0" i="0" u="none" strike="noStrike" kern="1200" cap="none" spc="0" normalizeH="0" baseline="0" noProof="0">
                <a:ln>
                  <a:noFill/>
                </a:ln>
                <a:solidFill>
                  <a:srgbClr val="FFFFFF"/>
                </a:solidFill>
                <a:effectLst/>
                <a:uLnTx/>
                <a:uFillTx/>
                <a:latin typeface="Scotia"/>
                <a:ea typeface="+mn-ea"/>
                <a:cs typeface="+mn-cs"/>
              </a:rPr>
              <a:t>may be added on a session-by-session basis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FFFFFF"/>
                </a:solidFill>
                <a:effectLst/>
                <a:uLnTx/>
                <a:uFillTx/>
                <a:latin typeface="Scotia"/>
                <a:ea typeface="+mn-ea"/>
                <a:cs typeface="+mn-cs"/>
              </a:rPr>
              <a:t>Consider adding </a:t>
            </a:r>
            <a:r>
              <a:rPr kumimoji="0" lang="en-CA" sz="900" b="1" i="0" u="none" strike="noStrike" kern="1200" cap="none" spc="0" normalizeH="0" baseline="0" noProof="0">
                <a:ln>
                  <a:noFill/>
                </a:ln>
                <a:solidFill>
                  <a:srgbClr val="FFFFFF"/>
                </a:solidFill>
                <a:effectLst/>
                <a:uLnTx/>
                <a:uFillTx/>
                <a:latin typeface="Scotia"/>
                <a:ea typeface="+mn-ea"/>
                <a:cs typeface="+mn-cs"/>
              </a:rPr>
              <a:t>Contact Center and Branch representation </a:t>
            </a:r>
            <a:endParaRPr kumimoji="0" lang="en-CA" sz="900" b="0" i="0" u="none" strike="noStrike" kern="1200" cap="none" spc="0" normalizeH="0" baseline="0" noProof="0">
              <a:ln>
                <a:noFill/>
              </a:ln>
              <a:solidFill>
                <a:srgbClr val="FFFFFF"/>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CA" sz="900" b="0" i="0" u="none" strike="noStrike" kern="1200" cap="none" spc="0" normalizeH="0" baseline="0" noProof="0">
                <a:ln>
                  <a:noFill/>
                </a:ln>
                <a:solidFill>
                  <a:srgbClr val="FFFFFF"/>
                </a:solidFill>
                <a:effectLst/>
                <a:uLnTx/>
                <a:uFillTx/>
                <a:latin typeface="Scotia"/>
                <a:ea typeface="+mn-ea"/>
                <a:cs typeface="+mn-cs"/>
              </a:rPr>
              <a:t>Is it valuable to invite stakeholders from </a:t>
            </a:r>
            <a:r>
              <a:rPr kumimoji="0" lang="en-CA" sz="900" b="1" i="0" u="none" strike="noStrike" kern="1200" cap="none" spc="0" normalizeH="0" baseline="0" noProof="0">
                <a:ln>
                  <a:noFill/>
                </a:ln>
                <a:solidFill>
                  <a:srgbClr val="FFFFFF"/>
                </a:solidFill>
                <a:effectLst/>
                <a:uLnTx/>
                <a:uFillTx/>
                <a:latin typeface="Scotia"/>
                <a:ea typeface="+mn-ea"/>
                <a:cs typeface="+mn-cs"/>
              </a:rPr>
              <a:t>other channels </a:t>
            </a:r>
            <a:br>
              <a:rPr kumimoji="0" lang="en-CA" sz="900" b="1" i="0" u="none" strike="noStrike" kern="1200" cap="none" spc="0" normalizeH="0" baseline="0" noProof="0">
                <a:ln>
                  <a:noFill/>
                </a:ln>
                <a:solidFill>
                  <a:srgbClr val="FFFFFF"/>
                </a:solidFill>
                <a:effectLst/>
                <a:uLnTx/>
                <a:uFillTx/>
                <a:latin typeface="Scotia"/>
                <a:ea typeface="+mn-ea"/>
                <a:cs typeface="+mn-cs"/>
              </a:rPr>
            </a:br>
            <a:r>
              <a:rPr kumimoji="0" lang="en-CA" sz="900" b="0" i="0" u="none" strike="noStrike" kern="1200" cap="none" spc="0" normalizeH="0" baseline="0" noProof="0">
                <a:ln>
                  <a:noFill/>
                </a:ln>
                <a:solidFill>
                  <a:srgbClr val="FFFFFF"/>
                </a:solidFill>
                <a:effectLst/>
                <a:uLnTx/>
                <a:uFillTx/>
                <a:latin typeface="Scotia"/>
                <a:ea typeface="+mn-ea"/>
                <a:cs typeface="+mn-cs"/>
              </a:rPr>
              <a:t>(e.g. digital) to provide visibility?</a:t>
            </a:r>
          </a:p>
        </p:txBody>
      </p:sp>
      <p:sp>
        <p:nvSpPr>
          <p:cNvPr id="7" name="Text Placeholder 6">
            <a:extLst>
              <a:ext uri="{FF2B5EF4-FFF2-40B4-BE49-F238E27FC236}">
                <a16:creationId xmlns:a16="http://schemas.microsoft.com/office/drawing/2014/main" id="{D964C52A-7690-DA06-6FBA-1C13767433BD}"/>
              </a:ext>
            </a:extLst>
          </p:cNvPr>
          <p:cNvSpPr>
            <a:spLocks noGrp="1"/>
          </p:cNvSpPr>
          <p:nvPr>
            <p:ph type="body" sz="quarter" idx="11"/>
          </p:nvPr>
        </p:nvSpPr>
        <p:spPr/>
        <p:txBody>
          <a:bodyPr/>
          <a:lstStyle/>
          <a:p>
            <a:endParaRPr lang="en-CA"/>
          </a:p>
        </p:txBody>
      </p:sp>
    </p:spTree>
    <p:extLst>
      <p:ext uri="{BB962C8B-B14F-4D97-AF65-F5344CB8AC3E}">
        <p14:creationId xmlns:p14="http://schemas.microsoft.com/office/powerpoint/2010/main" val="145718028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67455-B190-ED32-789F-FAF3450DE718}"/>
            </a:ext>
          </a:extLst>
        </p:cNvPr>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410DF4C1-577D-F391-919B-FBD1782E136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9" name="think-cell data - do not delete" hidden="1">
                        <a:extLst>
                          <a:ext uri="{FF2B5EF4-FFF2-40B4-BE49-F238E27FC236}">
                            <a16:creationId xmlns:a16="http://schemas.microsoft.com/office/drawing/2014/main" id="{410DF4C1-577D-F391-919B-FBD1782E136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Slide Number Placeholder 2">
            <a:extLst>
              <a:ext uri="{FF2B5EF4-FFF2-40B4-BE49-F238E27FC236}">
                <a16:creationId xmlns:a16="http://schemas.microsoft.com/office/drawing/2014/main" id="{BC1F8C45-6C95-C1F8-543E-763E38922285}"/>
              </a:ext>
            </a:extLst>
          </p:cNvPr>
          <p:cNvSpPr>
            <a:spLocks noGrp="1"/>
          </p:cNvSpPr>
          <p:nvPr>
            <p:ph type="sldNum" sz="quarter" idx="10"/>
          </p:nvPr>
        </p:nvSpPr>
        <p:spPr/>
        <p:txBody>
          <a:bodyPr/>
          <a:lstStyle/>
          <a:p>
            <a:fld id="{95D835A7-12B2-4074-8DA2-469A8808C237}" type="slidenum">
              <a:rPr lang="en-CA" smtClean="0"/>
              <a:pPr/>
              <a:t>29</a:t>
            </a:fld>
            <a:endParaRPr lang="en-CA"/>
          </a:p>
        </p:txBody>
      </p:sp>
      <p:sp>
        <p:nvSpPr>
          <p:cNvPr id="7" name="Title 1">
            <a:extLst>
              <a:ext uri="{FF2B5EF4-FFF2-40B4-BE49-F238E27FC236}">
                <a16:creationId xmlns:a16="http://schemas.microsoft.com/office/drawing/2014/main" id="{3243DE5C-01A3-DDE6-3297-A9D085688613}"/>
              </a:ext>
            </a:extLst>
          </p:cNvPr>
          <p:cNvSpPr>
            <a:spLocks noGrp="1"/>
          </p:cNvSpPr>
          <p:nvPr>
            <p:ph type="title"/>
          </p:nvPr>
        </p:nvSpPr>
        <p:spPr>
          <a:xfrm>
            <a:off x="515938" y="661850"/>
            <a:ext cx="11160124" cy="720000"/>
          </a:xfrm>
        </p:spPr>
        <p:txBody>
          <a:bodyPr vert="horz" rIns="0"/>
          <a:lstStyle/>
          <a:p>
            <a:r>
              <a:rPr lang="en-US">
                <a:solidFill>
                  <a:schemeClr val="accent1"/>
                </a:solidFill>
              </a:rPr>
              <a:t>Approach | </a:t>
            </a:r>
            <a:r>
              <a:rPr lang="en-US"/>
              <a:t>We are planning to run this with a more formal governance structure this year to ensure pace and appropriate leadership involvement</a:t>
            </a:r>
          </a:p>
        </p:txBody>
      </p:sp>
      <p:sp>
        <p:nvSpPr>
          <p:cNvPr id="29" name="Rectangle 28">
            <a:extLst>
              <a:ext uri="{FF2B5EF4-FFF2-40B4-BE49-F238E27FC236}">
                <a16:creationId xmlns:a16="http://schemas.microsoft.com/office/drawing/2014/main" id="{E8E4F485-B1CC-BC4C-35D6-31901F86D076}"/>
              </a:ext>
            </a:extLst>
          </p:cNvPr>
          <p:cNvSpPr/>
          <p:nvPr/>
        </p:nvSpPr>
        <p:spPr>
          <a:xfrm>
            <a:off x="561734" y="4791789"/>
            <a:ext cx="7697363" cy="1831175"/>
          </a:xfrm>
          <a:prstGeom prst="rect">
            <a:avLst/>
          </a:prstGeom>
          <a:solidFill>
            <a:srgbClr val="F5EFE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89979" tIns="71983" rIns="71983" rtlCol="0" anchor="t"/>
          <a:lstStyle/>
          <a:p>
            <a:pPr marL="0" marR="0" lvl="0" indent="0" algn="ctr" defTabSz="914355" rtl="0" eaLnBrk="1" fontAlgn="auto" latinLnBrk="0" hangingPunct="1">
              <a:lnSpc>
                <a:spcPct val="100000"/>
              </a:lnSpc>
              <a:spcBef>
                <a:spcPts val="0"/>
              </a:spcBef>
              <a:buClrTx/>
              <a:buSzTx/>
              <a:buFontTx/>
              <a:buNone/>
              <a:tabLst/>
              <a:defRPr/>
            </a:pPr>
            <a:r>
              <a:rPr kumimoji="0" lang="en-CA" sz="1200" b="1" i="0" u="none" strike="noStrike" kern="1200" cap="none" spc="0" normalizeH="0" baseline="0" noProof="0">
                <a:ln>
                  <a:noFill/>
                </a:ln>
                <a:solidFill>
                  <a:schemeClr val="tx1"/>
                </a:solidFill>
                <a:effectLst/>
                <a:uLnTx/>
                <a:uFillTx/>
                <a:latin typeface="Scotia"/>
                <a:ea typeface="+mn-ea"/>
                <a:cs typeface="+mn-cs"/>
              </a:rPr>
              <a:t>Workstream Teams</a:t>
            </a:r>
          </a:p>
        </p:txBody>
      </p:sp>
      <p:sp>
        <p:nvSpPr>
          <p:cNvPr id="30" name="Rectangle 29">
            <a:extLst>
              <a:ext uri="{FF2B5EF4-FFF2-40B4-BE49-F238E27FC236}">
                <a16:creationId xmlns:a16="http://schemas.microsoft.com/office/drawing/2014/main" id="{387F1745-6CD3-99A0-C397-34C05F7A9A6E}"/>
              </a:ext>
            </a:extLst>
          </p:cNvPr>
          <p:cNvSpPr/>
          <p:nvPr/>
        </p:nvSpPr>
        <p:spPr>
          <a:xfrm>
            <a:off x="561734" y="2177817"/>
            <a:ext cx="7697363" cy="1188000"/>
          </a:xfrm>
          <a:prstGeom prst="rect">
            <a:avLst/>
          </a:prstGeom>
          <a:solidFill>
            <a:schemeClr val="accent1">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71983" rtlCol="0" anchor="t"/>
          <a:lstStyle/>
          <a:p>
            <a:pPr marL="0" marR="0" lvl="0" indent="0" algn="ctr" defTabSz="914355" rtl="0" eaLnBrk="1" fontAlgn="auto" latinLnBrk="0" hangingPunct="1">
              <a:lnSpc>
                <a:spcPct val="100000"/>
              </a:lnSpc>
              <a:spcBef>
                <a:spcPts val="0"/>
              </a:spcBef>
              <a:buClrTx/>
              <a:buSzTx/>
              <a:buFontTx/>
              <a:buNone/>
              <a:tabLst/>
              <a:defRPr/>
            </a:pPr>
            <a:r>
              <a:rPr kumimoji="0" lang="en-CA" sz="1200" b="1" i="0" u="none" strike="noStrike" kern="1200" cap="none" spc="0" normalizeH="0" baseline="0" noProof="0">
                <a:ln>
                  <a:noFill/>
                </a:ln>
                <a:solidFill>
                  <a:schemeClr val="tx1"/>
                </a:solidFill>
                <a:effectLst/>
                <a:uLnTx/>
                <a:uFillTx/>
                <a:latin typeface="Scotia"/>
                <a:ea typeface="+mn-ea"/>
                <a:cs typeface="+mn-cs"/>
              </a:rPr>
              <a:t>Steering Committee</a:t>
            </a:r>
          </a:p>
        </p:txBody>
      </p:sp>
      <p:sp>
        <p:nvSpPr>
          <p:cNvPr id="41" name="TextBox 40">
            <a:extLst>
              <a:ext uri="{FF2B5EF4-FFF2-40B4-BE49-F238E27FC236}">
                <a16:creationId xmlns:a16="http://schemas.microsoft.com/office/drawing/2014/main" id="{5A28D642-3B98-2837-FAA0-8EDCAB575F5E}"/>
              </a:ext>
            </a:extLst>
          </p:cNvPr>
          <p:cNvSpPr txBox="1"/>
          <p:nvPr/>
        </p:nvSpPr>
        <p:spPr>
          <a:xfrm>
            <a:off x="561733" y="2413594"/>
            <a:ext cx="3762621" cy="933589"/>
          </a:xfrm>
          <a:prstGeom prst="rect">
            <a:avLst/>
          </a:prstGeom>
          <a:noFill/>
        </p:spPr>
        <p:txBody>
          <a:bodyPr wrap="square">
            <a:spAutoFit/>
          </a:bodyPr>
          <a:lstStyle/>
          <a:p>
            <a:pPr marL="171450" lvl="0" indent="-171450" defTabSz="914355">
              <a:spcBef>
                <a:spcPts val="400"/>
              </a:spcBef>
              <a:buFont typeface="Arial" panose="020B0604020202020204" pitchFamily="34" charset="0"/>
              <a:buChar char="•"/>
              <a:defRPr/>
            </a:pPr>
            <a:r>
              <a:rPr lang="en-US" sz="1200" b="1">
                <a:solidFill>
                  <a:srgbClr val="000000"/>
                </a:solidFill>
              </a:rPr>
              <a:t>Jonathan Echeverria </a:t>
            </a:r>
            <a:r>
              <a:rPr lang="en-US" sz="1200">
                <a:solidFill>
                  <a:srgbClr val="000000"/>
                </a:solidFill>
              </a:rPr>
              <a:t>– MD &amp; CIO, OCIO </a:t>
            </a:r>
            <a:r>
              <a:rPr lang="en-US" sz="1200" i="1">
                <a:solidFill>
                  <a:srgbClr val="000000"/>
                </a:solidFill>
              </a:rPr>
              <a:t>(P1,4,5) </a:t>
            </a:r>
          </a:p>
          <a:p>
            <a:pPr marL="171450" lvl="0" indent="-171450" defTabSz="914355">
              <a:spcBef>
                <a:spcPts val="400"/>
              </a:spcBef>
              <a:buFont typeface="Arial" panose="020B0604020202020204" pitchFamily="34" charset="0"/>
              <a:buChar char="•"/>
              <a:defRPr/>
            </a:pPr>
            <a:r>
              <a:rPr lang="en-US" sz="1200" b="1">
                <a:solidFill>
                  <a:srgbClr val="000000"/>
                </a:solidFill>
              </a:rPr>
              <a:t>Colleen Ward </a:t>
            </a:r>
            <a:r>
              <a:rPr lang="en-US" sz="1200">
                <a:solidFill>
                  <a:srgbClr val="000000"/>
                </a:solidFill>
              </a:rPr>
              <a:t>-  SVP, Enterprise Delivery Office </a:t>
            </a:r>
            <a:r>
              <a:rPr lang="en-US" sz="1200" i="1">
                <a:solidFill>
                  <a:srgbClr val="000000"/>
                </a:solidFill>
              </a:rPr>
              <a:t>(2)</a:t>
            </a:r>
          </a:p>
          <a:p>
            <a:pPr marL="171450" indent="-171450" defTabSz="914355">
              <a:spcBef>
                <a:spcPts val="400"/>
              </a:spcBef>
              <a:buFont typeface="Arial" panose="020B0604020202020204" pitchFamily="34" charset="0"/>
              <a:buChar char="•"/>
              <a:defRPr/>
            </a:pPr>
            <a:r>
              <a:rPr lang="en-US" sz="1200" b="1">
                <a:solidFill>
                  <a:srgbClr val="000000"/>
                </a:solidFill>
              </a:rPr>
              <a:t>Ty Panagoplos </a:t>
            </a:r>
            <a:r>
              <a:rPr lang="en-US" sz="1200">
                <a:solidFill>
                  <a:srgbClr val="000000"/>
                </a:solidFill>
              </a:rPr>
              <a:t>- EVP and Chief Technology Officer </a:t>
            </a:r>
            <a:r>
              <a:rPr lang="en-US" sz="1200" i="1">
                <a:solidFill>
                  <a:srgbClr val="000000"/>
                </a:solidFill>
              </a:rPr>
              <a:t>(2,3)</a:t>
            </a:r>
          </a:p>
        </p:txBody>
      </p:sp>
      <p:sp>
        <p:nvSpPr>
          <p:cNvPr id="42" name="TextBox 41">
            <a:extLst>
              <a:ext uri="{FF2B5EF4-FFF2-40B4-BE49-F238E27FC236}">
                <a16:creationId xmlns:a16="http://schemas.microsoft.com/office/drawing/2014/main" id="{18B34B21-135D-0C2C-1851-8B684270CAE1}"/>
              </a:ext>
            </a:extLst>
          </p:cNvPr>
          <p:cNvSpPr txBox="1"/>
          <p:nvPr/>
        </p:nvSpPr>
        <p:spPr>
          <a:xfrm>
            <a:off x="4496475" y="2413594"/>
            <a:ext cx="3762621" cy="933589"/>
          </a:xfrm>
          <a:prstGeom prst="rect">
            <a:avLst/>
          </a:prstGeom>
          <a:noFill/>
        </p:spPr>
        <p:txBody>
          <a:bodyPr wrap="square">
            <a:spAutoFit/>
          </a:bodyPr>
          <a:lstStyle/>
          <a:p>
            <a:pPr marL="171450" indent="-171450" defTabSz="914355">
              <a:spcBef>
                <a:spcPts val="400"/>
              </a:spcBef>
              <a:buFont typeface="Arial" panose="020B0604020202020204" pitchFamily="34" charset="0"/>
              <a:buChar char="•"/>
              <a:defRPr/>
            </a:pPr>
            <a:r>
              <a:rPr lang="en-US" sz="1200" b="1">
                <a:solidFill>
                  <a:srgbClr val="000000"/>
                </a:solidFill>
              </a:rPr>
              <a:t>Luis Alfredo </a:t>
            </a:r>
            <a:r>
              <a:rPr lang="en-US" sz="1200">
                <a:solidFill>
                  <a:srgbClr val="000000"/>
                </a:solidFill>
              </a:rPr>
              <a:t>- SVP &amp; CIO, IB </a:t>
            </a:r>
            <a:r>
              <a:rPr lang="en-US" sz="1200" i="1">
                <a:solidFill>
                  <a:srgbClr val="000000"/>
                </a:solidFill>
              </a:rPr>
              <a:t>(2,3)</a:t>
            </a:r>
          </a:p>
          <a:p>
            <a:pPr marL="171450" indent="-171450" defTabSz="914355">
              <a:spcBef>
                <a:spcPts val="400"/>
              </a:spcBef>
              <a:buFont typeface="Arial" panose="020B0604020202020204" pitchFamily="34" charset="0"/>
              <a:buChar char="•"/>
              <a:defRPr/>
            </a:pPr>
            <a:r>
              <a:rPr lang="en-US" sz="1200" b="1">
                <a:solidFill>
                  <a:srgbClr val="000000"/>
                </a:solidFill>
              </a:rPr>
              <a:t>Caren Morrison </a:t>
            </a:r>
            <a:r>
              <a:rPr lang="en-US" sz="1200">
                <a:solidFill>
                  <a:srgbClr val="000000"/>
                </a:solidFill>
              </a:rPr>
              <a:t>- SVP &amp; CIO, Global Tech. and Enterprise Platforms </a:t>
            </a:r>
            <a:r>
              <a:rPr lang="en-US" sz="1200" i="1">
                <a:solidFill>
                  <a:srgbClr val="000000"/>
                </a:solidFill>
              </a:rPr>
              <a:t>(3)</a:t>
            </a:r>
          </a:p>
          <a:p>
            <a:pPr marL="171450" lvl="0" indent="-171450" defTabSz="914355">
              <a:spcBef>
                <a:spcPts val="400"/>
              </a:spcBef>
              <a:buFont typeface="Arial" panose="020B0604020202020204" pitchFamily="34" charset="0"/>
              <a:buChar char="•"/>
              <a:defRPr/>
            </a:pPr>
            <a:r>
              <a:rPr lang="en-US" sz="1200" b="1">
                <a:solidFill>
                  <a:srgbClr val="000000"/>
                </a:solidFill>
              </a:rPr>
              <a:t>Joe Martinez </a:t>
            </a:r>
            <a:r>
              <a:rPr lang="en-US" sz="1200">
                <a:solidFill>
                  <a:srgbClr val="000000"/>
                </a:solidFill>
              </a:rPr>
              <a:t>-  EVP and Chief Security Officer </a:t>
            </a:r>
            <a:r>
              <a:rPr lang="en-US" sz="1200" i="1">
                <a:solidFill>
                  <a:srgbClr val="000000"/>
                </a:solidFill>
              </a:rPr>
              <a:t>(4)</a:t>
            </a:r>
          </a:p>
        </p:txBody>
      </p:sp>
      <p:sp>
        <p:nvSpPr>
          <p:cNvPr id="47" name="TextBox 46">
            <a:extLst>
              <a:ext uri="{FF2B5EF4-FFF2-40B4-BE49-F238E27FC236}">
                <a16:creationId xmlns:a16="http://schemas.microsoft.com/office/drawing/2014/main" id="{AFDF3930-311F-24F4-CE90-48DD4CD0B93E}"/>
              </a:ext>
            </a:extLst>
          </p:cNvPr>
          <p:cNvSpPr txBox="1"/>
          <p:nvPr/>
        </p:nvSpPr>
        <p:spPr>
          <a:xfrm>
            <a:off x="8359302" y="2164682"/>
            <a:ext cx="3316760" cy="1246753"/>
          </a:xfrm>
          <a:prstGeom prst="rect">
            <a:avLst/>
          </a:prstGeom>
          <a:noFill/>
        </p:spPr>
        <p:txBody>
          <a:bodyPr wrap="square" rtlCol="0" anchor="ctr" anchorCtr="0">
            <a:noAutofit/>
          </a:bodyPr>
          <a:lstStyle/>
          <a:p>
            <a:pPr marL="117475" lvl="0" indent="-117475">
              <a:buFont typeface="Arial" panose="020B0604020202020204" pitchFamily="34" charset="0"/>
              <a:buChar char="•"/>
              <a:defRPr/>
            </a:pPr>
            <a:r>
              <a:rPr lang="en-CA" sz="1200"/>
              <a:t>Guide scope, provide thought leadership, and shape content / recommendations across workstreams</a:t>
            </a:r>
          </a:p>
          <a:p>
            <a:pPr marL="117475" lvl="0" indent="-117475">
              <a:buFont typeface="Arial" panose="020B0604020202020204" pitchFamily="34" charset="0"/>
              <a:buChar char="•"/>
              <a:defRPr/>
            </a:pPr>
            <a:r>
              <a:rPr lang="en-CA" sz="1200" b="1" i="1"/>
              <a:t>Proposed cadence:</a:t>
            </a:r>
            <a:r>
              <a:rPr lang="en-CA" sz="1200" i="1"/>
              <a:t> 4-5 meetings between July and September Board</a:t>
            </a:r>
          </a:p>
        </p:txBody>
      </p:sp>
      <p:sp>
        <p:nvSpPr>
          <p:cNvPr id="48" name="TextBox 47">
            <a:extLst>
              <a:ext uri="{FF2B5EF4-FFF2-40B4-BE49-F238E27FC236}">
                <a16:creationId xmlns:a16="http://schemas.microsoft.com/office/drawing/2014/main" id="{C7F64D0A-D4BD-08DA-C7AC-91A8BDB2E53C}"/>
              </a:ext>
            </a:extLst>
          </p:cNvPr>
          <p:cNvSpPr txBox="1"/>
          <p:nvPr/>
        </p:nvSpPr>
        <p:spPr>
          <a:xfrm>
            <a:off x="8359302" y="4791789"/>
            <a:ext cx="3316760" cy="1596255"/>
          </a:xfrm>
          <a:prstGeom prst="rect">
            <a:avLst/>
          </a:prstGeom>
          <a:noFill/>
        </p:spPr>
        <p:txBody>
          <a:bodyPr wrap="square" rtlCol="0" anchor="ctr" anchorCtr="0">
            <a:noAutofit/>
          </a:bodyPr>
          <a:lstStyle/>
          <a:p>
            <a:pPr marL="117475" lvl="0" indent="-117475" defTabSz="914411">
              <a:spcBef>
                <a:spcPts val="600"/>
              </a:spcBef>
              <a:buFont typeface="Arial" panose="020B0604020202020204" pitchFamily="34" charset="0"/>
              <a:buChar char="•"/>
              <a:defRPr/>
            </a:pPr>
            <a:r>
              <a:rPr lang="en-US" sz="1200">
                <a:ea typeface="Scotia Light" panose="020B0403020203020204" pitchFamily="34" charset="0"/>
              </a:rPr>
              <a:t>Provide core content and topic expertise, ensuring alignment with Pillar Sponsors and Steering Committee members</a:t>
            </a:r>
          </a:p>
          <a:p>
            <a:pPr marL="117475" lvl="0" indent="-117475" defTabSz="914411">
              <a:spcBef>
                <a:spcPts val="600"/>
              </a:spcBef>
              <a:buFont typeface="Arial" panose="020B0604020202020204" pitchFamily="34" charset="0"/>
              <a:buChar char="•"/>
              <a:defRPr/>
            </a:pPr>
            <a:r>
              <a:rPr lang="en-US" sz="1200" b="1" i="1">
                <a:ea typeface="Scotia Light" panose="020B0403020203020204" pitchFamily="34" charset="0"/>
              </a:rPr>
              <a:t>Proposed cadence: </a:t>
            </a:r>
            <a:r>
              <a:rPr lang="en-US" sz="1200" i="1">
                <a:ea typeface="Scotia Light" panose="020B0403020203020204" pitchFamily="34" charset="0"/>
              </a:rPr>
              <a:t>To be tailored to availability of content</a:t>
            </a:r>
          </a:p>
        </p:txBody>
      </p:sp>
      <p:sp>
        <p:nvSpPr>
          <p:cNvPr id="49" name="TextBox 48">
            <a:extLst>
              <a:ext uri="{FF2B5EF4-FFF2-40B4-BE49-F238E27FC236}">
                <a16:creationId xmlns:a16="http://schemas.microsoft.com/office/drawing/2014/main" id="{CABD6AA9-262E-B7ED-1982-72B429A5B532}"/>
              </a:ext>
            </a:extLst>
          </p:cNvPr>
          <p:cNvSpPr txBox="1"/>
          <p:nvPr/>
        </p:nvSpPr>
        <p:spPr>
          <a:xfrm>
            <a:off x="8359302" y="1509686"/>
            <a:ext cx="3316760" cy="578522"/>
          </a:xfrm>
          <a:prstGeom prst="rect">
            <a:avLst/>
          </a:prstGeom>
          <a:noFill/>
        </p:spPr>
        <p:txBody>
          <a:bodyPr wrap="square" rtlCol="0" anchor="ctr" anchorCtr="0">
            <a:noAutofit/>
          </a:bodyPr>
          <a:lstStyle/>
          <a:p>
            <a:pPr marL="117475" indent="-117475">
              <a:buFont typeface="Arial" panose="020B0604020202020204" pitchFamily="34" charset="0"/>
              <a:buChar char="•"/>
            </a:pPr>
            <a:r>
              <a:rPr lang="en-US" sz="1200"/>
              <a:t>Approve content and present at August </a:t>
            </a:r>
            <a:r>
              <a:rPr lang="en-US" sz="1200" err="1"/>
              <a:t>TCoB</a:t>
            </a:r>
            <a:r>
              <a:rPr lang="en-US" sz="1200"/>
              <a:t> and Sept Full  Board</a:t>
            </a:r>
          </a:p>
        </p:txBody>
      </p:sp>
      <p:sp>
        <p:nvSpPr>
          <p:cNvPr id="50" name="TextBox 49">
            <a:extLst>
              <a:ext uri="{FF2B5EF4-FFF2-40B4-BE49-F238E27FC236}">
                <a16:creationId xmlns:a16="http://schemas.microsoft.com/office/drawing/2014/main" id="{1D45A938-6C9C-9134-608D-8052265FFBAC}"/>
              </a:ext>
            </a:extLst>
          </p:cNvPr>
          <p:cNvSpPr txBox="1"/>
          <p:nvPr/>
        </p:nvSpPr>
        <p:spPr>
          <a:xfrm>
            <a:off x="3133725" y="5084081"/>
            <a:ext cx="2529167" cy="1169551"/>
          </a:xfrm>
          <a:prstGeom prst="rect">
            <a:avLst/>
          </a:prstGeom>
          <a:noFill/>
        </p:spPr>
        <p:txBody>
          <a:bodyPr wrap="square">
            <a:noAutofit/>
          </a:bodyPr>
          <a:lstStyle/>
          <a:p>
            <a:pPr algn="ctr" defTabSz="914355">
              <a:spcAft>
                <a:spcPts val="300"/>
              </a:spcAft>
              <a:defRPr/>
            </a:pPr>
            <a:r>
              <a:rPr lang="en-US" sz="1200" b="1">
                <a:solidFill>
                  <a:schemeClr val="accent1"/>
                </a:solidFill>
                <a:ea typeface="Scotia Light" panose="020B0403020203020204" pitchFamily="34" charset="0"/>
              </a:rPr>
              <a:t>WS2: Deep Dive on Falcon</a:t>
            </a:r>
          </a:p>
          <a:p>
            <a:pPr marL="174625" lvl="0" indent="-174625">
              <a:spcBef>
                <a:spcPts val="300"/>
              </a:spcBef>
              <a:buFont typeface="Arial" panose="020B0604020202020204" pitchFamily="34" charset="0"/>
              <a:buChar char="•"/>
              <a:defRPr/>
            </a:pPr>
            <a:r>
              <a:rPr lang="en-US" sz="1200" b="1">
                <a:solidFill>
                  <a:srgbClr val="000000"/>
                </a:solidFill>
              </a:rPr>
              <a:t>Kevin Blagrove </a:t>
            </a:r>
          </a:p>
          <a:p>
            <a:pPr marL="174625" lvl="0" indent="-174625">
              <a:spcBef>
                <a:spcPts val="300"/>
              </a:spcBef>
              <a:buFont typeface="Arial" panose="020B0604020202020204" pitchFamily="34" charset="0"/>
              <a:buChar char="•"/>
              <a:defRPr/>
            </a:pPr>
            <a:r>
              <a:rPr lang="en-US" sz="1200" b="1">
                <a:solidFill>
                  <a:srgbClr val="000000"/>
                </a:solidFill>
              </a:rPr>
              <a:t>George Adams </a:t>
            </a:r>
          </a:p>
          <a:p>
            <a:pPr marL="174625" lvl="0" indent="-174625">
              <a:spcBef>
                <a:spcPts val="300"/>
              </a:spcBef>
              <a:buFont typeface="Arial" panose="020B0604020202020204" pitchFamily="34" charset="0"/>
              <a:buChar char="•"/>
              <a:defRPr/>
            </a:pPr>
            <a:r>
              <a:rPr lang="en-US" sz="1200" i="1">
                <a:solidFill>
                  <a:srgbClr val="000000"/>
                </a:solidFill>
              </a:rPr>
              <a:t>“Big Rock” Sponsor Delegates as needed </a:t>
            </a:r>
          </a:p>
        </p:txBody>
      </p:sp>
      <p:sp>
        <p:nvSpPr>
          <p:cNvPr id="52" name="Rectangle 51">
            <a:extLst>
              <a:ext uri="{FF2B5EF4-FFF2-40B4-BE49-F238E27FC236}">
                <a16:creationId xmlns:a16="http://schemas.microsoft.com/office/drawing/2014/main" id="{72D3CEFF-ADA8-B691-DD91-5EAB44F7CB1A}"/>
              </a:ext>
            </a:extLst>
          </p:cNvPr>
          <p:cNvSpPr/>
          <p:nvPr/>
        </p:nvSpPr>
        <p:spPr>
          <a:xfrm>
            <a:off x="561734" y="1509686"/>
            <a:ext cx="7697363" cy="57852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71983" rtlCol="0" anchor="t"/>
          <a:lstStyle/>
          <a:p>
            <a:pPr marL="0" marR="0" lvl="0" indent="0" algn="ctr" defTabSz="914355" rtl="0" eaLnBrk="1" fontAlgn="auto" latinLnBrk="0" hangingPunct="1">
              <a:lnSpc>
                <a:spcPct val="100000"/>
              </a:lnSpc>
              <a:spcBef>
                <a:spcPts val="0"/>
              </a:spcBef>
              <a:buClrTx/>
              <a:buSzTx/>
              <a:buFontTx/>
              <a:buNone/>
              <a:tabLst/>
              <a:defRPr/>
            </a:pPr>
            <a:r>
              <a:rPr kumimoji="0" lang="en-CA" sz="1200" b="1" i="0" u="none" strike="noStrike" kern="1200" cap="none" spc="0" normalizeH="0" baseline="0" noProof="0">
                <a:ln>
                  <a:noFill/>
                </a:ln>
                <a:solidFill>
                  <a:schemeClr val="bg1"/>
                </a:solidFill>
                <a:effectLst/>
                <a:uLnTx/>
                <a:uFillTx/>
                <a:latin typeface="Scotia"/>
                <a:ea typeface="+mn-ea"/>
                <a:cs typeface="+mn-cs"/>
              </a:rPr>
              <a:t>Executive Sponsor(s)</a:t>
            </a:r>
          </a:p>
        </p:txBody>
      </p:sp>
      <p:sp>
        <p:nvSpPr>
          <p:cNvPr id="53" name="TextBox 52">
            <a:extLst>
              <a:ext uri="{FF2B5EF4-FFF2-40B4-BE49-F238E27FC236}">
                <a16:creationId xmlns:a16="http://schemas.microsoft.com/office/drawing/2014/main" id="{ECADCA35-D05E-9ACD-507D-50651909786D}"/>
              </a:ext>
            </a:extLst>
          </p:cNvPr>
          <p:cNvSpPr txBox="1"/>
          <p:nvPr/>
        </p:nvSpPr>
        <p:spPr>
          <a:xfrm>
            <a:off x="561733" y="1758598"/>
            <a:ext cx="3762621" cy="276999"/>
          </a:xfrm>
          <a:prstGeom prst="rect">
            <a:avLst/>
          </a:prstGeom>
          <a:noFill/>
        </p:spPr>
        <p:txBody>
          <a:bodyPr wrap="square">
            <a:spAutoFit/>
          </a:bodyPr>
          <a:lstStyle/>
          <a:p>
            <a:pPr marL="171450" lvl="0" indent="-171450" defTabSz="914355">
              <a:spcBef>
                <a:spcPts val="400"/>
              </a:spcBef>
              <a:buFont typeface="Arial" panose="020B0604020202020204" pitchFamily="34" charset="0"/>
              <a:buChar char="•"/>
              <a:defRPr/>
            </a:pPr>
            <a:r>
              <a:rPr lang="en-CA" sz="1200" b="1">
                <a:solidFill>
                  <a:schemeClr val="bg1"/>
                </a:solidFill>
              </a:rPr>
              <a:t>T</a:t>
            </a:r>
            <a:r>
              <a:rPr lang="en-US" altLang="zh-CN" sz="1200" b="1" err="1">
                <a:solidFill>
                  <a:schemeClr val="bg1"/>
                </a:solidFill>
              </a:rPr>
              <a:t>im</a:t>
            </a:r>
            <a:r>
              <a:rPr lang="en-US" altLang="zh-CN" sz="1200" b="1">
                <a:solidFill>
                  <a:schemeClr val="bg1"/>
                </a:solidFill>
              </a:rPr>
              <a:t> Clark </a:t>
            </a:r>
            <a:r>
              <a:rPr lang="en-CA" altLang="zh-CN" sz="1200" b="1">
                <a:solidFill>
                  <a:schemeClr val="bg1"/>
                </a:solidFill>
              </a:rPr>
              <a:t>- </a:t>
            </a:r>
            <a:r>
              <a:rPr lang="en-CA" sz="1200">
                <a:solidFill>
                  <a:schemeClr val="bg1"/>
                </a:solidFill>
              </a:rPr>
              <a:t>Group Head &amp; CIO</a:t>
            </a:r>
          </a:p>
        </p:txBody>
      </p:sp>
      <p:sp>
        <p:nvSpPr>
          <p:cNvPr id="54" name="TextBox 53">
            <a:extLst>
              <a:ext uri="{FF2B5EF4-FFF2-40B4-BE49-F238E27FC236}">
                <a16:creationId xmlns:a16="http://schemas.microsoft.com/office/drawing/2014/main" id="{172B97E3-B0FE-5216-A8D2-738D52401AA8}"/>
              </a:ext>
            </a:extLst>
          </p:cNvPr>
          <p:cNvSpPr txBox="1"/>
          <p:nvPr/>
        </p:nvSpPr>
        <p:spPr>
          <a:xfrm>
            <a:off x="4496475" y="1758598"/>
            <a:ext cx="3762621" cy="276999"/>
          </a:xfrm>
          <a:prstGeom prst="rect">
            <a:avLst/>
          </a:prstGeom>
          <a:noFill/>
        </p:spPr>
        <p:txBody>
          <a:bodyPr wrap="square">
            <a:spAutoFit/>
          </a:bodyPr>
          <a:lstStyle/>
          <a:p>
            <a:pPr marL="171450" lvl="0" indent="-171450" defTabSz="914355">
              <a:spcBef>
                <a:spcPts val="400"/>
              </a:spcBef>
              <a:buFont typeface="Arial" panose="020B0604020202020204" pitchFamily="34" charset="0"/>
              <a:buChar char="•"/>
              <a:defRPr/>
            </a:pPr>
            <a:r>
              <a:rPr lang="en-US" sz="1200" b="1">
                <a:solidFill>
                  <a:schemeClr val="bg1"/>
                </a:solidFill>
              </a:rPr>
              <a:t>Jonathan Echeverria </a:t>
            </a:r>
            <a:r>
              <a:rPr lang="en-US" sz="1200">
                <a:solidFill>
                  <a:schemeClr val="bg1"/>
                </a:solidFill>
              </a:rPr>
              <a:t>– MD &amp; CIO, OCIO</a:t>
            </a:r>
          </a:p>
        </p:txBody>
      </p:sp>
      <p:sp>
        <p:nvSpPr>
          <p:cNvPr id="55" name="Rectangle 54">
            <a:extLst>
              <a:ext uri="{FF2B5EF4-FFF2-40B4-BE49-F238E27FC236}">
                <a16:creationId xmlns:a16="http://schemas.microsoft.com/office/drawing/2014/main" id="{51184656-F510-EE03-83FA-A134760270DE}"/>
              </a:ext>
            </a:extLst>
          </p:cNvPr>
          <p:cNvSpPr/>
          <p:nvPr/>
        </p:nvSpPr>
        <p:spPr>
          <a:xfrm>
            <a:off x="561734" y="3455426"/>
            <a:ext cx="7697363" cy="1246753"/>
          </a:xfrm>
          <a:prstGeom prst="rect">
            <a:avLst/>
          </a:prstGeom>
          <a:solidFill>
            <a:srgbClr val="D8D6CA"/>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89979" tIns="71983" rIns="71983" rtlCol="0" anchor="t"/>
          <a:lstStyle/>
          <a:p>
            <a:pPr marL="0" marR="0" lvl="0" indent="0" algn="ctr" defTabSz="914355" rtl="0" eaLnBrk="1" fontAlgn="auto" latinLnBrk="0" hangingPunct="1">
              <a:lnSpc>
                <a:spcPct val="100000"/>
              </a:lnSpc>
              <a:spcBef>
                <a:spcPts val="0"/>
              </a:spcBef>
              <a:buClrTx/>
              <a:buSzTx/>
              <a:buFontTx/>
              <a:buNone/>
              <a:tabLst/>
              <a:defRPr/>
            </a:pPr>
            <a:r>
              <a:rPr kumimoji="0" lang="en-CA" sz="1200" b="1" i="0" u="none" strike="noStrike" kern="1200" cap="none" spc="0" normalizeH="0" baseline="0" noProof="0">
                <a:ln>
                  <a:noFill/>
                </a:ln>
                <a:solidFill>
                  <a:schemeClr val="tx1"/>
                </a:solidFill>
                <a:effectLst/>
                <a:uLnTx/>
                <a:uFillTx/>
                <a:latin typeface="Scotia"/>
                <a:ea typeface="+mn-ea"/>
                <a:cs typeface="+mn-cs"/>
              </a:rPr>
              <a:t>Core Team</a:t>
            </a:r>
          </a:p>
        </p:txBody>
      </p:sp>
      <p:sp>
        <p:nvSpPr>
          <p:cNvPr id="56" name="TextBox 55">
            <a:extLst>
              <a:ext uri="{FF2B5EF4-FFF2-40B4-BE49-F238E27FC236}">
                <a16:creationId xmlns:a16="http://schemas.microsoft.com/office/drawing/2014/main" id="{B2D121BD-8EB7-7B2B-477E-DEDC61DF5F5F}"/>
              </a:ext>
            </a:extLst>
          </p:cNvPr>
          <p:cNvSpPr txBox="1"/>
          <p:nvPr/>
        </p:nvSpPr>
        <p:spPr>
          <a:xfrm>
            <a:off x="561733" y="3695820"/>
            <a:ext cx="3762621" cy="946413"/>
          </a:xfrm>
          <a:prstGeom prst="rect">
            <a:avLst/>
          </a:prstGeom>
          <a:solidFill>
            <a:srgbClr val="D8D6CA"/>
          </a:solidFill>
        </p:spPr>
        <p:txBody>
          <a:bodyPr wrap="square">
            <a:spAutoFit/>
          </a:bodyPr>
          <a:lstStyle/>
          <a:p>
            <a:pPr marL="180975" marR="0" lvl="0" indent="-180975" algn="l" defTabSz="914355"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200" b="1">
                <a:solidFill>
                  <a:prstClr val="black"/>
                </a:solidFill>
                <a:ea typeface="Scotia Light" panose="020B0403020203020204" pitchFamily="34" charset="0"/>
              </a:rPr>
              <a:t>Kelly Duffin – </a:t>
            </a:r>
            <a:r>
              <a:rPr lang="en-US" sz="1200">
                <a:solidFill>
                  <a:prstClr val="black"/>
                </a:solidFill>
                <a:ea typeface="Scotia Light" panose="020B0403020203020204" pitchFamily="34" charset="0"/>
              </a:rPr>
              <a:t>VP, Enterprise Strategy</a:t>
            </a:r>
          </a:p>
          <a:p>
            <a:pPr marL="180975" indent="-180975">
              <a:spcAft>
                <a:spcPts val="300"/>
              </a:spcAft>
              <a:buFont typeface="Arial" panose="020B0604020202020204" pitchFamily="34" charset="0"/>
              <a:buChar char="•"/>
              <a:defRPr/>
            </a:pPr>
            <a:r>
              <a:rPr kumimoji="0" lang="en-US" sz="1200" b="1" i="0" u="none" strike="noStrike" kern="1200" cap="none" spc="0" normalizeH="0" baseline="0" noProof="0">
                <a:ln>
                  <a:noFill/>
                </a:ln>
                <a:solidFill>
                  <a:prstClr val="black"/>
                </a:solidFill>
                <a:effectLst/>
                <a:uLnTx/>
                <a:uFillTx/>
                <a:ea typeface="Scotia Light" panose="020B0403020203020204" pitchFamily="34" charset="0"/>
                <a:cs typeface="+mn-cs"/>
              </a:rPr>
              <a:t>Tom Deupmann – </a:t>
            </a:r>
            <a:r>
              <a:rPr lang="en-US" sz="1200">
                <a:solidFill>
                  <a:prstClr val="black"/>
                </a:solidFill>
                <a:ea typeface="Scotia Light" panose="020B0403020203020204" pitchFamily="34" charset="0"/>
              </a:rPr>
              <a:t>Director</a:t>
            </a:r>
            <a:r>
              <a:rPr kumimoji="0" lang="en-US" sz="1200" i="0" u="none" strike="noStrike" kern="1200" cap="none" spc="0" normalizeH="0" baseline="0" noProof="0">
                <a:ln>
                  <a:noFill/>
                </a:ln>
                <a:solidFill>
                  <a:prstClr val="black"/>
                </a:solidFill>
                <a:effectLst/>
                <a:uLnTx/>
                <a:uFillTx/>
                <a:ea typeface="Scotia Light" panose="020B0403020203020204" pitchFamily="34" charset="0"/>
                <a:cs typeface="+mn-cs"/>
              </a:rPr>
              <a:t>, Enterprise Strategy</a:t>
            </a:r>
          </a:p>
          <a:p>
            <a:pPr marL="180975" indent="-180975">
              <a:spcAft>
                <a:spcPts val="300"/>
              </a:spcAft>
              <a:buFont typeface="Arial" panose="020B0604020202020204" pitchFamily="34" charset="0"/>
              <a:buChar char="•"/>
              <a:defRPr/>
            </a:pPr>
            <a:r>
              <a:rPr lang="en-US" sz="1200" b="1">
                <a:solidFill>
                  <a:prstClr val="black"/>
                </a:solidFill>
                <a:ea typeface="Scotia Light" panose="020B0403020203020204" pitchFamily="34" charset="0"/>
              </a:rPr>
              <a:t>Dalin Wang </a:t>
            </a:r>
            <a:r>
              <a:rPr lang="en-US" sz="1200">
                <a:solidFill>
                  <a:prstClr val="black"/>
                </a:solidFill>
                <a:ea typeface="Scotia Light" panose="020B0403020203020204" pitchFamily="34" charset="0"/>
              </a:rPr>
              <a:t>– Senior Manager, Enterprise Strategy</a:t>
            </a:r>
          </a:p>
          <a:p>
            <a:pPr marL="180975" indent="-180975">
              <a:spcAft>
                <a:spcPts val="300"/>
              </a:spcAft>
              <a:buFont typeface="Arial" panose="020B0604020202020204" pitchFamily="34" charset="0"/>
              <a:buChar char="•"/>
              <a:defRPr/>
            </a:pPr>
            <a:r>
              <a:rPr kumimoji="0" lang="en-US" sz="1200" b="1" i="0" u="none" strike="noStrike" kern="1200" cap="none" spc="0" normalizeH="0" baseline="0" noProof="0">
                <a:ln>
                  <a:noFill/>
                </a:ln>
                <a:solidFill>
                  <a:prstClr val="black"/>
                </a:solidFill>
                <a:effectLst/>
                <a:uLnTx/>
                <a:uFillTx/>
                <a:ea typeface="Scotia Light" panose="020B0403020203020204" pitchFamily="34" charset="0"/>
                <a:cs typeface="+mn-cs"/>
              </a:rPr>
              <a:t>Darcy Yang </a:t>
            </a:r>
            <a:r>
              <a:rPr kumimoji="0" lang="en-US" sz="1200" i="0" u="none" strike="noStrike" kern="1200" cap="none" spc="0" normalizeH="0" baseline="0" noProof="0">
                <a:ln>
                  <a:noFill/>
                </a:ln>
                <a:solidFill>
                  <a:prstClr val="black"/>
                </a:solidFill>
                <a:effectLst/>
                <a:uLnTx/>
                <a:uFillTx/>
                <a:ea typeface="Scotia Light" panose="020B0403020203020204" pitchFamily="34" charset="0"/>
                <a:cs typeface="+mn-cs"/>
              </a:rPr>
              <a:t>– Manager, Enterprise Strategy </a:t>
            </a:r>
          </a:p>
        </p:txBody>
      </p:sp>
      <p:sp>
        <p:nvSpPr>
          <p:cNvPr id="57" name="TextBox 56">
            <a:extLst>
              <a:ext uri="{FF2B5EF4-FFF2-40B4-BE49-F238E27FC236}">
                <a16:creationId xmlns:a16="http://schemas.microsoft.com/office/drawing/2014/main" id="{B702F0C2-A5E2-377E-B0FF-4E9E379492BB}"/>
              </a:ext>
            </a:extLst>
          </p:cNvPr>
          <p:cNvSpPr txBox="1"/>
          <p:nvPr/>
        </p:nvSpPr>
        <p:spPr>
          <a:xfrm>
            <a:off x="4496475" y="3695820"/>
            <a:ext cx="3762621" cy="882293"/>
          </a:xfrm>
          <a:prstGeom prst="rect">
            <a:avLst/>
          </a:prstGeom>
          <a:solidFill>
            <a:srgbClr val="D8D6CA"/>
          </a:solidFill>
        </p:spPr>
        <p:txBody>
          <a:bodyPr wrap="square">
            <a:spAutoFit/>
          </a:bodyPr>
          <a:lstStyle/>
          <a:p>
            <a:pPr marL="180975" indent="-180975">
              <a:spcBef>
                <a:spcPts val="400"/>
              </a:spcBef>
              <a:buFont typeface="Arial" panose="020B0604020202020204" pitchFamily="34" charset="0"/>
              <a:buChar char="•"/>
            </a:pPr>
            <a:r>
              <a:rPr lang="en-US" sz="1200" b="1"/>
              <a:t>Brandon Taylor - </a:t>
            </a:r>
            <a:r>
              <a:rPr lang="en-US" sz="1200"/>
              <a:t>VP, Technology Strategy &amp; Business Operations</a:t>
            </a:r>
          </a:p>
          <a:p>
            <a:pPr marL="180975" indent="-180975">
              <a:spcBef>
                <a:spcPts val="400"/>
              </a:spcBef>
              <a:buFont typeface="Arial" panose="020B0604020202020204" pitchFamily="34" charset="0"/>
              <a:buChar char="•"/>
            </a:pPr>
            <a:r>
              <a:rPr lang="en-US" sz="1200" b="1"/>
              <a:t>Jeremy Pinto </a:t>
            </a:r>
            <a:r>
              <a:rPr lang="en-US" sz="1200"/>
              <a:t>- Director, Technology Strategy &amp; Business Operations</a:t>
            </a:r>
            <a:endParaRPr lang="en-CA" sz="1200">
              <a:solidFill>
                <a:prstClr val="black"/>
              </a:solidFill>
              <a:ea typeface="Scotia Light" panose="020B0403020203020204" pitchFamily="34" charset="0"/>
            </a:endParaRPr>
          </a:p>
        </p:txBody>
      </p:sp>
      <p:sp>
        <p:nvSpPr>
          <p:cNvPr id="58" name="TextBox 57">
            <a:extLst>
              <a:ext uri="{FF2B5EF4-FFF2-40B4-BE49-F238E27FC236}">
                <a16:creationId xmlns:a16="http://schemas.microsoft.com/office/drawing/2014/main" id="{D8CA1B88-6EE6-08DD-FB75-C263B0624243}"/>
              </a:ext>
            </a:extLst>
          </p:cNvPr>
          <p:cNvSpPr txBox="1"/>
          <p:nvPr/>
        </p:nvSpPr>
        <p:spPr>
          <a:xfrm>
            <a:off x="5705716" y="5084081"/>
            <a:ext cx="2529167" cy="920765"/>
          </a:xfrm>
          <a:prstGeom prst="rect">
            <a:avLst/>
          </a:prstGeom>
          <a:noFill/>
        </p:spPr>
        <p:txBody>
          <a:bodyPr wrap="square">
            <a:noAutofit/>
          </a:bodyPr>
          <a:lstStyle/>
          <a:p>
            <a:pPr marR="0" lvl="0" algn="ctr" defTabSz="914355" fontAlgn="auto">
              <a:lnSpc>
                <a:spcPct val="100000"/>
              </a:lnSpc>
              <a:spcBef>
                <a:spcPts val="0"/>
              </a:spcBef>
              <a:spcAft>
                <a:spcPts val="300"/>
              </a:spcAft>
              <a:buClrTx/>
              <a:buSzTx/>
              <a:tabLst/>
              <a:defRPr/>
            </a:pPr>
            <a:r>
              <a:rPr lang="en-US" sz="1200" b="1">
                <a:solidFill>
                  <a:schemeClr val="accent1"/>
                </a:solidFill>
                <a:ea typeface="Scotia Light" panose="020B0403020203020204" pitchFamily="34" charset="0"/>
              </a:rPr>
              <a:t>WS3: Financials, KPI Results, Risk</a:t>
            </a:r>
          </a:p>
          <a:p>
            <a:pPr marL="174625" indent="-174625">
              <a:spcBef>
                <a:spcPts val="400"/>
              </a:spcBef>
              <a:buFont typeface="Arial" panose="020B0604020202020204" pitchFamily="34" charset="0"/>
              <a:buChar char="•"/>
            </a:pPr>
            <a:r>
              <a:rPr lang="en-US" sz="1200" b="1"/>
              <a:t>Parul Gupta </a:t>
            </a:r>
            <a:r>
              <a:rPr lang="en-US" sz="1200"/>
              <a:t>– VP &amp; CFO Global Tech</a:t>
            </a:r>
          </a:p>
        </p:txBody>
      </p:sp>
      <p:sp>
        <p:nvSpPr>
          <p:cNvPr id="59" name="TextBox 58">
            <a:extLst>
              <a:ext uri="{FF2B5EF4-FFF2-40B4-BE49-F238E27FC236}">
                <a16:creationId xmlns:a16="http://schemas.microsoft.com/office/drawing/2014/main" id="{8C80ECD5-A061-E985-BD52-2DE0FB3142FD}"/>
              </a:ext>
            </a:extLst>
          </p:cNvPr>
          <p:cNvSpPr txBox="1"/>
          <p:nvPr/>
        </p:nvSpPr>
        <p:spPr>
          <a:xfrm>
            <a:off x="561734" y="5084081"/>
            <a:ext cx="2529167" cy="1538883"/>
          </a:xfrm>
          <a:prstGeom prst="rect">
            <a:avLst/>
          </a:prstGeom>
          <a:noFill/>
        </p:spPr>
        <p:txBody>
          <a:bodyPr wrap="square">
            <a:spAutoFit/>
          </a:bodyPr>
          <a:lstStyle/>
          <a:p>
            <a:pPr marR="0" lvl="0" algn="ctr" defTabSz="914355" rtl="0" eaLnBrk="1" fontAlgn="auto" latinLnBrk="0" hangingPunct="1">
              <a:lnSpc>
                <a:spcPct val="100000"/>
              </a:lnSpc>
              <a:spcBef>
                <a:spcPts val="0"/>
              </a:spcBef>
              <a:spcAft>
                <a:spcPts val="300"/>
              </a:spcAft>
              <a:buClrTx/>
              <a:buSzTx/>
              <a:tabLst/>
              <a:defRPr/>
            </a:pPr>
            <a:r>
              <a:rPr kumimoji="0" lang="en-US" sz="1200" b="1" i="0" u="none" strike="noStrike" kern="1200" cap="none" spc="0" normalizeH="0" baseline="0" noProof="0">
                <a:ln>
                  <a:noFill/>
                </a:ln>
                <a:solidFill>
                  <a:schemeClr val="accent1"/>
                </a:solidFill>
                <a:effectLst/>
                <a:uLnTx/>
                <a:uFillTx/>
                <a:ea typeface="Scotia Light" panose="020B0403020203020204" pitchFamily="34" charset="0"/>
                <a:cs typeface="+mn-cs"/>
              </a:rPr>
              <a:t>WS1: Pillar 2 - Accomplishments &amp; Updates</a:t>
            </a:r>
          </a:p>
          <a:p>
            <a:pPr marL="174625" lvl="0" indent="-174625" defTabSz="914411">
              <a:spcBef>
                <a:spcPts val="300"/>
              </a:spcBef>
              <a:buFont typeface="Arial" panose="020B0604020202020204" pitchFamily="34" charset="0"/>
              <a:buChar char="•"/>
              <a:defRPr/>
            </a:pPr>
            <a:r>
              <a:rPr lang="en-US" sz="1200" b="1"/>
              <a:t>Kaleigh Sainthill </a:t>
            </a:r>
            <a:r>
              <a:rPr lang="en-US" sz="1200"/>
              <a:t>– VP, EDO Governance</a:t>
            </a:r>
          </a:p>
          <a:p>
            <a:pPr marL="174625" indent="-174625" defTabSz="914411">
              <a:spcBef>
                <a:spcPts val="300"/>
              </a:spcBef>
              <a:buFont typeface="Arial" panose="020B0604020202020204" pitchFamily="34" charset="0"/>
              <a:buChar char="•"/>
              <a:defRPr/>
            </a:pPr>
            <a:r>
              <a:rPr lang="en-US" sz="1200" b="1"/>
              <a:t>Alina Nitcheva </a:t>
            </a:r>
            <a:r>
              <a:rPr lang="en-US" sz="1200"/>
              <a:t>– VP, Technology Governance &amp; Performance IB</a:t>
            </a:r>
          </a:p>
          <a:p>
            <a:pPr marL="174625" lvl="0" indent="-174625" defTabSz="914411">
              <a:spcBef>
                <a:spcPts val="300"/>
              </a:spcBef>
              <a:buFont typeface="Arial" panose="020B0604020202020204" pitchFamily="34" charset="0"/>
              <a:buChar char="•"/>
              <a:defRPr/>
            </a:pPr>
            <a:r>
              <a:rPr lang="en-US" sz="1200" b="1"/>
              <a:t>Tony Lau</a:t>
            </a:r>
          </a:p>
        </p:txBody>
      </p:sp>
      <p:sp>
        <p:nvSpPr>
          <p:cNvPr id="60" name="TextBox 59">
            <a:extLst>
              <a:ext uri="{FF2B5EF4-FFF2-40B4-BE49-F238E27FC236}">
                <a16:creationId xmlns:a16="http://schemas.microsoft.com/office/drawing/2014/main" id="{ACDF3F67-4175-13A2-8ABA-8ED2593119A6}"/>
              </a:ext>
            </a:extLst>
          </p:cNvPr>
          <p:cNvSpPr txBox="1"/>
          <p:nvPr/>
        </p:nvSpPr>
        <p:spPr>
          <a:xfrm>
            <a:off x="8359302" y="3448860"/>
            <a:ext cx="3316760" cy="1246752"/>
          </a:xfrm>
          <a:prstGeom prst="rect">
            <a:avLst/>
          </a:prstGeom>
          <a:noFill/>
        </p:spPr>
        <p:txBody>
          <a:bodyPr wrap="square" rtlCol="0" anchor="ctr" anchorCtr="0">
            <a:noAutofit/>
          </a:bodyPr>
          <a:lstStyle/>
          <a:p>
            <a:pPr marL="117475" indent="-117475">
              <a:buFont typeface="Arial" panose="020B0604020202020204" pitchFamily="34" charset="0"/>
              <a:buChar char="•"/>
              <a:defRPr/>
            </a:pPr>
            <a:r>
              <a:rPr lang="en-CA" sz="1200"/>
              <a:t>Drive process, problem-solving, and recommendations – in alignment with September Board Strategy standards</a:t>
            </a:r>
          </a:p>
          <a:p>
            <a:pPr marL="117475" indent="-117475">
              <a:buFont typeface="Arial" panose="020B0604020202020204" pitchFamily="34" charset="0"/>
              <a:buChar char="•"/>
              <a:defRPr/>
            </a:pPr>
            <a:r>
              <a:rPr lang="en-CA" sz="1200" b="1" i="1"/>
              <a:t>Proposed cadence:</a:t>
            </a:r>
            <a:r>
              <a:rPr lang="en-CA" sz="1200" i="1"/>
              <a:t> Every week through September Board</a:t>
            </a:r>
            <a:endParaRPr lang="en-CA" sz="1200">
              <a:solidFill>
                <a:schemeClr val="bg2">
                  <a:lumMod val="60000"/>
                  <a:lumOff val="40000"/>
                </a:schemeClr>
              </a:solidFill>
            </a:endParaRPr>
          </a:p>
        </p:txBody>
      </p:sp>
      <p:sp>
        <p:nvSpPr>
          <p:cNvPr id="6" name="Text Placeholder 4">
            <a:extLst>
              <a:ext uri="{FF2B5EF4-FFF2-40B4-BE49-F238E27FC236}">
                <a16:creationId xmlns:a16="http://schemas.microsoft.com/office/drawing/2014/main" id="{3930DED9-2B6F-9D90-589D-2E321EE2A7E1}"/>
              </a:ext>
            </a:extLst>
          </p:cNvPr>
          <p:cNvSpPr>
            <a:spLocks noGrp="1"/>
          </p:cNvSpPr>
          <p:nvPr>
            <p:ph type="body" sz="quarter" idx="13"/>
          </p:nvPr>
        </p:nvSpPr>
        <p:spPr>
          <a:xfrm>
            <a:off x="515938" y="342857"/>
            <a:ext cx="5616000" cy="180000"/>
          </a:xfrm>
        </p:spPr>
        <p:txBody>
          <a:bodyPr vert="horz" lIns="0" tIns="0" rIns="0" bIns="0" rtlCol="0" anchor="ctr">
            <a:noAutofit/>
          </a:bodyPr>
          <a:lstStyle/>
          <a:p>
            <a:r>
              <a:rPr lang="en-US" sz="1051"/>
              <a:t>High-level overview of September board</a:t>
            </a:r>
          </a:p>
        </p:txBody>
      </p:sp>
    </p:spTree>
    <p:extLst>
      <p:ext uri="{BB962C8B-B14F-4D97-AF65-F5344CB8AC3E}">
        <p14:creationId xmlns:p14="http://schemas.microsoft.com/office/powerpoint/2010/main" val="241971932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757BBB-E080-9C3B-A164-CA1B533F14C2}"/>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C5E2ED1-8A3C-A5C9-7B7D-B12B4EDD2D3B}"/>
              </a:ext>
            </a:extLst>
          </p:cNvPr>
          <p:cNvSpPr>
            <a:spLocks noGrp="1"/>
          </p:cNvSpPr>
          <p:nvPr>
            <p:ph type="body" sz="quarter" idx="11"/>
          </p:nvPr>
        </p:nvSpPr>
        <p:spPr/>
        <p:txBody>
          <a:bodyPr/>
          <a:lstStyle/>
          <a:p>
            <a:r>
              <a:rPr lang="en-CA"/>
              <a:t>Current State &amp; Context Setting</a:t>
            </a:r>
          </a:p>
        </p:txBody>
      </p:sp>
      <p:sp>
        <p:nvSpPr>
          <p:cNvPr id="3" name="Text Placeholder 2">
            <a:extLst>
              <a:ext uri="{FF2B5EF4-FFF2-40B4-BE49-F238E27FC236}">
                <a16:creationId xmlns:a16="http://schemas.microsoft.com/office/drawing/2014/main" id="{BEC87DA5-7356-656A-6A16-061CBEE87681}"/>
              </a:ext>
            </a:extLst>
          </p:cNvPr>
          <p:cNvSpPr>
            <a:spLocks noGrp="1"/>
          </p:cNvSpPr>
          <p:nvPr>
            <p:ph type="body" sz="quarter" idx="12"/>
          </p:nvPr>
        </p:nvSpPr>
        <p:spPr/>
        <p:txBody>
          <a:bodyPr/>
          <a:lstStyle/>
          <a:p>
            <a:r>
              <a:rPr lang="en-CA"/>
              <a:t>07</a:t>
            </a:r>
          </a:p>
        </p:txBody>
      </p:sp>
    </p:spTree>
    <p:extLst>
      <p:ext uri="{BB962C8B-B14F-4D97-AF65-F5344CB8AC3E}">
        <p14:creationId xmlns:p14="http://schemas.microsoft.com/office/powerpoint/2010/main" val="114847235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D6EDED-52A0-4287-B493-48C51073969F}"/>
            </a:ext>
          </a:extLst>
        </p:cNvPr>
        <p:cNvGrpSpPr/>
        <p:nvPr/>
      </p:nvGrpSpPr>
      <p:grpSpPr>
        <a:xfrm>
          <a:off x="0" y="0"/>
          <a:ext cx="0" cy="0"/>
          <a:chOff x="0" y="0"/>
          <a:chExt cx="0" cy="0"/>
        </a:xfrm>
      </p:grpSpPr>
      <p:sp>
        <p:nvSpPr>
          <p:cNvPr id="11" name="Title 10">
            <a:extLst>
              <a:ext uri="{FF2B5EF4-FFF2-40B4-BE49-F238E27FC236}">
                <a16:creationId xmlns:a16="http://schemas.microsoft.com/office/drawing/2014/main" id="{83A2DCAC-2763-8AE5-5CF9-AD61C85973CD}"/>
              </a:ext>
            </a:extLst>
          </p:cNvPr>
          <p:cNvSpPr>
            <a:spLocks noGrp="1"/>
          </p:cNvSpPr>
          <p:nvPr>
            <p:ph type="title"/>
          </p:nvPr>
        </p:nvSpPr>
        <p:spPr>
          <a:xfrm>
            <a:off x="515938" y="661850"/>
            <a:ext cx="11160124" cy="720000"/>
          </a:xfrm>
        </p:spPr>
        <p:txBody>
          <a:bodyPr vert="horz" lIns="0" tIns="0" rIns="0" bIns="0" rtlCol="0" anchor="t">
            <a:noAutofit/>
          </a:bodyPr>
          <a:lstStyle/>
          <a:p>
            <a:r>
              <a:rPr lang="en-US" noProof="0">
                <a:solidFill>
                  <a:srgbClr val="EC111A"/>
                </a:solidFill>
              </a:rPr>
              <a:t>First Impressions | </a:t>
            </a:r>
            <a:r>
              <a:rPr lang="en-US" noProof="0"/>
              <a:t>Recent growth driven by mortgages and auto, supported by cost efficiencies (-40% in commercial muscle) but with limited client and revenue growth</a:t>
            </a:r>
          </a:p>
        </p:txBody>
      </p:sp>
      <p:sp>
        <p:nvSpPr>
          <p:cNvPr id="3" name="Slide Number Placeholder 2">
            <a:extLst>
              <a:ext uri="{FF2B5EF4-FFF2-40B4-BE49-F238E27FC236}">
                <a16:creationId xmlns:a16="http://schemas.microsoft.com/office/drawing/2014/main" id="{79771682-8F5B-35FB-BB2C-8381BD5A02D3}"/>
              </a:ext>
            </a:extLst>
          </p:cNvPr>
          <p:cNvSpPr>
            <a:spLocks noGrp="1"/>
          </p:cNvSpPr>
          <p:nvPr>
            <p:ph type="sldNum" sz="quarter" idx="10"/>
          </p:nvPr>
        </p:nvSpPr>
        <p:spPr/>
        <p:txBody>
          <a:bodyPr/>
          <a:lstStyle/>
          <a:p>
            <a:pPr defTabSz="914411">
              <a:defRPr/>
            </a:pPr>
            <a:fld id="{95D835A7-12B2-4074-8DA2-469A8808C237}" type="slidenum">
              <a:rPr lang="en-US">
                <a:solidFill>
                  <a:srgbClr val="000000"/>
                </a:solidFill>
                <a:latin typeface="Scotia" panose="020B0503020203020204" pitchFamily="34" charset="0"/>
                <a:ea typeface="Scotia" panose="020B0503020203020204" pitchFamily="34" charset="0"/>
              </a:rPr>
              <a:pPr defTabSz="914411">
                <a:defRPr/>
              </a:pPr>
              <a:t>31</a:t>
            </a:fld>
            <a:endParaRPr lang="en-US">
              <a:solidFill>
                <a:srgbClr val="000000"/>
              </a:solidFill>
              <a:latin typeface="Scotia" panose="020B0503020203020204" pitchFamily="34" charset="0"/>
              <a:ea typeface="Scotia" panose="020B0503020203020204" pitchFamily="34" charset="0"/>
            </a:endParaRPr>
          </a:p>
        </p:txBody>
      </p:sp>
      <p:sp>
        <p:nvSpPr>
          <p:cNvPr id="13" name="Text Placeholder 12">
            <a:extLst>
              <a:ext uri="{FF2B5EF4-FFF2-40B4-BE49-F238E27FC236}">
                <a16:creationId xmlns:a16="http://schemas.microsoft.com/office/drawing/2014/main" id="{CB6DBC66-C6D8-7298-75A9-640D6B8692F5}"/>
              </a:ext>
            </a:extLst>
          </p:cNvPr>
          <p:cNvSpPr>
            <a:spLocks noGrp="1"/>
          </p:cNvSpPr>
          <p:nvPr>
            <p:ph type="body" sz="quarter" idx="11"/>
          </p:nvPr>
        </p:nvSpPr>
        <p:spPr/>
        <p:txBody>
          <a:bodyPr anchor="t"/>
          <a:lstStyle/>
          <a:p>
            <a:r>
              <a:rPr lang="en-US" noProof="0"/>
              <a:t>Source:  Banxico (2022-2025); Market Intelligence SB MX/CNBV (2021-2025); SB analytics (2022-2025); SB Market Performance (2021-2025); 1. Excludes social programs clean up representing 700K mass clients  2. Forecast 2025  3. Adjusted under a common TIIE basis</a:t>
            </a:r>
          </a:p>
        </p:txBody>
      </p:sp>
      <p:sp>
        <p:nvSpPr>
          <p:cNvPr id="7" name="Text Placeholder 6">
            <a:extLst>
              <a:ext uri="{FF2B5EF4-FFF2-40B4-BE49-F238E27FC236}">
                <a16:creationId xmlns:a16="http://schemas.microsoft.com/office/drawing/2014/main" id="{FC13353B-EC40-B535-8970-39F6E8F1B3F6}"/>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8" name="Text Placeholder 6">
            <a:extLst>
              <a:ext uri="{FF2B5EF4-FFF2-40B4-BE49-F238E27FC236}">
                <a16:creationId xmlns:a16="http://schemas.microsoft.com/office/drawing/2014/main" id="{01DF4544-EF31-2F7F-24AD-8C15B63A6771}"/>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000000"/>
                </a:solidFill>
                <a:latin typeface="Scotia"/>
              </a:rPr>
              <a:t>RETAIL</a:t>
            </a:r>
          </a:p>
        </p:txBody>
      </p:sp>
      <p:sp>
        <p:nvSpPr>
          <p:cNvPr id="237" name="Rectangle 236">
            <a:extLst>
              <a:ext uri="{FF2B5EF4-FFF2-40B4-BE49-F238E27FC236}">
                <a16:creationId xmlns:a16="http://schemas.microsoft.com/office/drawing/2014/main" id="{659B328C-9511-4F85-A224-956A765A5E4E}"/>
              </a:ext>
            </a:extLst>
          </p:cNvPr>
          <p:cNvSpPr/>
          <p:nvPr/>
        </p:nvSpPr>
        <p:spPr>
          <a:xfrm>
            <a:off x="515941" y="1525119"/>
            <a:ext cx="5339916" cy="401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0" rtlCol="0" anchor="t" anchorCtr="0"/>
          <a:lstStyle/>
          <a:p>
            <a:pPr>
              <a:spcAft>
                <a:spcPts val="601"/>
              </a:spcAft>
            </a:pPr>
            <a:r>
              <a:rPr lang="en-US" sz="1100" b="1" spc="201">
                <a:solidFill>
                  <a:schemeClr val="tx1"/>
                </a:solidFill>
              </a:rPr>
              <a:t>OPERATIONAL EFFICIENCY</a:t>
            </a:r>
          </a:p>
          <a:p>
            <a:r>
              <a:rPr lang="en-US" sz="1100">
                <a:solidFill>
                  <a:schemeClr val="tx1"/>
                </a:solidFill>
              </a:rPr>
              <a:t>Operational efficiency delivered through disciplined branch reduction and cost management…</a:t>
            </a:r>
          </a:p>
          <a:p>
            <a:endParaRPr lang="en-US" sz="1100" i="1">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spcAft>
                <a:spcPts val="300"/>
              </a:spcAft>
              <a:buFont typeface="Arial" panose="020B0604020202020204" pitchFamily="34" charset="0"/>
              <a:buChar char="•"/>
            </a:pPr>
            <a:r>
              <a:rPr lang="en-US" sz="1100">
                <a:solidFill>
                  <a:schemeClr val="tx1"/>
                </a:solidFill>
              </a:rPr>
              <a:t>Branch reductions outpaced market, generating meaningful structural savings</a:t>
            </a:r>
          </a:p>
          <a:p>
            <a:pPr marL="171453" indent="-171453">
              <a:spcAft>
                <a:spcPts val="300"/>
              </a:spcAft>
              <a:buFont typeface="Arial" panose="020B0604020202020204" pitchFamily="34" charset="0"/>
              <a:buChar char="•"/>
            </a:pPr>
            <a:r>
              <a:rPr lang="en-US" sz="1100">
                <a:solidFill>
                  <a:schemeClr val="tx1"/>
                </a:solidFill>
              </a:rPr>
              <a:t>Expenses kept below inflation, reflecting consistent cost discipline</a:t>
            </a:r>
          </a:p>
          <a:p>
            <a:pPr marL="171453" indent="-171453">
              <a:spcAft>
                <a:spcPts val="300"/>
              </a:spcAft>
              <a:buFont typeface="Arial" panose="020B0604020202020204" pitchFamily="34" charset="0"/>
              <a:buChar char="•"/>
            </a:pPr>
            <a:r>
              <a:rPr lang="en-US" sz="1100">
                <a:solidFill>
                  <a:schemeClr val="tx1"/>
                </a:solidFill>
              </a:rPr>
              <a:t>~1,500 frontline salesforce roles reduction over last 5 years (-40%) without process and digital automation</a:t>
            </a:r>
          </a:p>
        </p:txBody>
      </p:sp>
      <p:sp>
        <p:nvSpPr>
          <p:cNvPr id="246" name="Rectangle 245">
            <a:extLst>
              <a:ext uri="{FF2B5EF4-FFF2-40B4-BE49-F238E27FC236}">
                <a16:creationId xmlns:a16="http://schemas.microsoft.com/office/drawing/2014/main" id="{220648B4-6845-F8A6-8107-A3AB6BB26924}"/>
              </a:ext>
            </a:extLst>
          </p:cNvPr>
          <p:cNvSpPr/>
          <p:nvPr>
            <p:custDataLst>
              <p:tags r:id="rId1"/>
            </p:custDataLst>
          </p:nvPr>
        </p:nvSpPr>
        <p:spPr>
          <a:xfrm>
            <a:off x="581026" y="2365376"/>
            <a:ext cx="2533650" cy="236314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Branch Reductions</a:t>
            </a:r>
          </a:p>
        </p:txBody>
      </p:sp>
      <p:sp>
        <p:nvSpPr>
          <p:cNvPr id="247" name="Rectangle 246">
            <a:extLst>
              <a:ext uri="{FF2B5EF4-FFF2-40B4-BE49-F238E27FC236}">
                <a16:creationId xmlns:a16="http://schemas.microsoft.com/office/drawing/2014/main" id="{DA0E6520-98BF-6372-0C19-02B0A9B3935E}"/>
              </a:ext>
            </a:extLst>
          </p:cNvPr>
          <p:cNvSpPr/>
          <p:nvPr>
            <p:custDataLst>
              <p:tags r:id="rId2"/>
            </p:custDataLst>
          </p:nvPr>
        </p:nvSpPr>
        <p:spPr>
          <a:xfrm>
            <a:off x="3241677" y="2365376"/>
            <a:ext cx="2532062" cy="236314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Retail Expenses in CAD $MM</a:t>
            </a:r>
          </a:p>
        </p:txBody>
      </p:sp>
      <p:cxnSp>
        <p:nvCxnSpPr>
          <p:cNvPr id="2714" name="Conector recto 2713">
            <a:extLst>
              <a:ext uri="{FF2B5EF4-FFF2-40B4-BE49-F238E27FC236}">
                <a16:creationId xmlns:a16="http://schemas.microsoft.com/office/drawing/2014/main" id="{9581D0F0-B4E1-ECBA-4AD1-C6CA30EFF8E5}"/>
              </a:ext>
            </a:extLst>
          </p:cNvPr>
          <p:cNvCxnSpPr/>
          <p:nvPr>
            <p:custDataLst>
              <p:tags r:id="rId3"/>
            </p:custDataLst>
          </p:nvPr>
        </p:nvCxnSpPr>
        <p:spPr bwMode="auto">
          <a:xfrm>
            <a:off x="1612901" y="3338514"/>
            <a:ext cx="468313" cy="24765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0" name="Chart 19">
            <a:extLst>
              <a:ext uri="{FF2B5EF4-FFF2-40B4-BE49-F238E27FC236}">
                <a16:creationId xmlns:a16="http://schemas.microsoft.com/office/drawing/2014/main" id="{E9F97CF1-4484-62D4-69C4-E86BA753AF58}"/>
              </a:ext>
            </a:extLst>
          </p:cNvPr>
          <p:cNvGraphicFramePr/>
          <p:nvPr>
            <p:custDataLst>
              <p:tags r:id="rId4"/>
            </p:custDataLst>
          </p:nvPr>
        </p:nvGraphicFramePr>
        <p:xfrm>
          <a:off x="709615" y="2982916"/>
          <a:ext cx="2276475" cy="1690686"/>
        </p:xfrm>
        <a:graphic>
          <a:graphicData uri="http://schemas.openxmlformats.org/drawingml/2006/chart">
            <c:chart xmlns:c="http://schemas.openxmlformats.org/drawingml/2006/chart" xmlns:r="http://schemas.openxmlformats.org/officeDocument/2006/relationships" r:id="rId46"/>
          </a:graphicData>
        </a:graphic>
      </p:graphicFrame>
      <p:cxnSp>
        <p:nvCxnSpPr>
          <p:cNvPr id="33" name="Conector recto 196">
            <a:extLst>
              <a:ext uri="{FF2B5EF4-FFF2-40B4-BE49-F238E27FC236}">
                <a16:creationId xmlns:a16="http://schemas.microsoft.com/office/drawing/2014/main" id="{68204372-83F0-9C16-C698-EA7BAC7C3198}"/>
              </a:ext>
            </a:extLst>
          </p:cNvPr>
          <p:cNvCxnSpPr/>
          <p:nvPr>
            <p:custDataLst>
              <p:tags r:id="rId5"/>
            </p:custDataLst>
          </p:nvPr>
        </p:nvCxnSpPr>
        <p:spPr bwMode="auto">
          <a:xfrm flipV="1">
            <a:off x="1319212" y="3030539"/>
            <a:ext cx="0" cy="76201"/>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Conector recto 197">
            <a:extLst>
              <a:ext uri="{FF2B5EF4-FFF2-40B4-BE49-F238E27FC236}">
                <a16:creationId xmlns:a16="http://schemas.microsoft.com/office/drawing/2014/main" id="{B14218D5-6C2C-16A5-E534-6B41D1D13CDA}"/>
              </a:ext>
            </a:extLst>
          </p:cNvPr>
          <p:cNvCxnSpPr/>
          <p:nvPr>
            <p:custDataLst>
              <p:tags r:id="rId6"/>
            </p:custDataLst>
          </p:nvPr>
        </p:nvCxnSpPr>
        <p:spPr bwMode="auto">
          <a:xfrm>
            <a:off x="1319213" y="3030538"/>
            <a:ext cx="1055689"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 name="Conector recto 198">
            <a:extLst>
              <a:ext uri="{FF2B5EF4-FFF2-40B4-BE49-F238E27FC236}">
                <a16:creationId xmlns:a16="http://schemas.microsoft.com/office/drawing/2014/main" id="{FE01C834-ED0B-6E1F-8E09-5404A79B1ED0}"/>
              </a:ext>
            </a:extLst>
          </p:cNvPr>
          <p:cNvCxnSpPr/>
          <p:nvPr>
            <p:custDataLst>
              <p:tags r:id="rId7"/>
            </p:custDataLst>
          </p:nvPr>
        </p:nvCxnSpPr>
        <p:spPr bwMode="auto">
          <a:xfrm>
            <a:off x="2374900" y="3030538"/>
            <a:ext cx="0" cy="323851"/>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6" name="Text Placeholder 2">
            <a:extLst>
              <a:ext uri="{FF2B5EF4-FFF2-40B4-BE49-F238E27FC236}">
                <a16:creationId xmlns:a16="http://schemas.microsoft.com/office/drawing/2014/main" id="{18C44283-D39E-2081-D44F-976C1F9FE1AF}"/>
              </a:ext>
            </a:extLst>
          </p:cNvPr>
          <p:cNvSpPr>
            <a:spLocks/>
          </p:cNvSpPr>
          <p:nvPr>
            <p:custDataLst>
              <p:tags r:id="rId8"/>
            </p:custDataLst>
          </p:nvPr>
        </p:nvSpPr>
        <p:spPr bwMode="auto">
          <a:xfrm>
            <a:off x="1163637" y="4473577"/>
            <a:ext cx="3111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5366B2DC-CCBC-4AC9-B56A-C08089EA239B}" type="datetime'''''2''''0''''2''''''''''''''''1'''''''''''''">
              <a:rPr lang="en-US" sz="1100">
                <a:solidFill>
                  <a:srgbClr val="000000"/>
                </a:solidFill>
              </a:rPr>
              <a:pPr marL="0" indent="0" algn="ctr" defTabSz="914422">
                <a:spcBef>
                  <a:spcPct val="0"/>
                </a:spcBef>
                <a:spcAft>
                  <a:spcPct val="0"/>
                </a:spcAft>
                <a:buClr>
                  <a:srgbClr val="000000"/>
                </a:buClr>
                <a:buNone/>
                <a:defRPr/>
              </a:pPr>
              <a:t>2021</a:t>
            </a:fld>
            <a:endParaRPr lang="en-US" sz="1100">
              <a:solidFill>
                <a:srgbClr val="000000"/>
              </a:solidFill>
            </a:endParaRPr>
          </a:p>
        </p:txBody>
      </p:sp>
      <p:sp>
        <p:nvSpPr>
          <p:cNvPr id="37" name="Text Placeholder 2">
            <a:extLst>
              <a:ext uri="{FF2B5EF4-FFF2-40B4-BE49-F238E27FC236}">
                <a16:creationId xmlns:a16="http://schemas.microsoft.com/office/drawing/2014/main" id="{DB59AEF1-8A1F-D3C3-C756-1E815BA0EE6B}"/>
              </a:ext>
            </a:extLst>
          </p:cNvPr>
          <p:cNvSpPr>
            <a:spLocks/>
          </p:cNvSpPr>
          <p:nvPr>
            <p:custDataLst>
              <p:tags r:id="rId9"/>
            </p:custDataLst>
          </p:nvPr>
        </p:nvSpPr>
        <p:spPr bwMode="auto">
          <a:xfrm>
            <a:off x="2211390" y="4473577"/>
            <a:ext cx="3286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09A5FFE0-8A25-4EC2-84D5-B1BA62E3EBDA}" type="datetime'''''''''''''''2''''''''''0''''''''25'''''''">
              <a:rPr lang="en-US" sz="1100">
                <a:solidFill>
                  <a:srgbClr val="000000"/>
                </a:solidFill>
              </a:rPr>
              <a:pPr marL="0" indent="0" algn="ctr" defTabSz="914422">
                <a:spcBef>
                  <a:spcPct val="0"/>
                </a:spcBef>
                <a:spcAft>
                  <a:spcPct val="0"/>
                </a:spcAft>
                <a:buClr>
                  <a:srgbClr val="000000"/>
                </a:buClr>
                <a:buNone/>
                <a:defRPr/>
              </a:pPr>
              <a:t>2025</a:t>
            </a:fld>
            <a:endParaRPr lang="en-US" sz="1100">
              <a:solidFill>
                <a:srgbClr val="000000"/>
              </a:solidFill>
            </a:endParaRPr>
          </a:p>
        </p:txBody>
      </p:sp>
      <p:sp>
        <p:nvSpPr>
          <p:cNvPr id="38" name="Text Placeholder 2">
            <a:extLst>
              <a:ext uri="{FF2B5EF4-FFF2-40B4-BE49-F238E27FC236}">
                <a16:creationId xmlns:a16="http://schemas.microsoft.com/office/drawing/2014/main" id="{95FB4441-E052-6CCD-37B4-4D1428605F8D}"/>
              </a:ext>
            </a:extLst>
          </p:cNvPr>
          <p:cNvSpPr>
            <a:spLocks/>
          </p:cNvSpPr>
          <p:nvPr>
            <p:custDataLst>
              <p:tags r:id="rId10"/>
            </p:custDataLst>
          </p:nvPr>
        </p:nvSpPr>
        <p:spPr bwMode="auto">
          <a:xfrm>
            <a:off x="1641476" y="2911478"/>
            <a:ext cx="411163" cy="238124"/>
          </a:xfrm>
          <a:prstGeom prst="ellipse">
            <a:avLst/>
          </a:prstGeom>
          <a:solidFill>
            <a:srgbClr val="D8D6CA"/>
          </a:solidFill>
          <a:ln w="9525" cmpd="sng" algn="ctr">
            <a:noFill/>
          </a:ln>
          <a:effec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r>
              <a:rPr lang="en-US" sz="1100" b="1">
                <a:solidFill>
                  <a:srgbClr val="000000"/>
                </a:solidFill>
              </a:rPr>
              <a:t>-120</a:t>
            </a:r>
          </a:p>
        </p:txBody>
      </p:sp>
      <p:cxnSp>
        <p:nvCxnSpPr>
          <p:cNvPr id="224" name="Conector recto 223">
            <a:extLst>
              <a:ext uri="{FF2B5EF4-FFF2-40B4-BE49-F238E27FC236}">
                <a16:creationId xmlns:a16="http://schemas.microsoft.com/office/drawing/2014/main" id="{93881445-C97C-2D31-500B-F5657B4533F0}"/>
              </a:ext>
            </a:extLst>
          </p:cNvPr>
          <p:cNvCxnSpPr/>
          <p:nvPr>
            <p:custDataLst>
              <p:tags r:id="rId11"/>
            </p:custDataLst>
          </p:nvPr>
        </p:nvCxnSpPr>
        <p:spPr bwMode="auto">
          <a:xfrm flipV="1">
            <a:off x="3970338" y="3338514"/>
            <a:ext cx="371476" cy="4445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2" name="Chart 21">
            <a:extLst>
              <a:ext uri="{FF2B5EF4-FFF2-40B4-BE49-F238E27FC236}">
                <a16:creationId xmlns:a16="http://schemas.microsoft.com/office/drawing/2014/main" id="{A5726F16-A6E4-05B5-3003-B450221B3C81}"/>
              </a:ext>
            </a:extLst>
          </p:cNvPr>
          <p:cNvGraphicFramePr/>
          <p:nvPr>
            <p:custDataLst>
              <p:tags r:id="rId12"/>
            </p:custDataLst>
          </p:nvPr>
        </p:nvGraphicFramePr>
        <p:xfrm>
          <a:off x="2971802" y="2982916"/>
          <a:ext cx="2365374" cy="1690686"/>
        </p:xfrm>
        <a:graphic>
          <a:graphicData uri="http://schemas.openxmlformats.org/drawingml/2006/chart">
            <c:chart xmlns:c="http://schemas.openxmlformats.org/drawingml/2006/chart" xmlns:r="http://schemas.openxmlformats.org/officeDocument/2006/relationships" r:id="rId47"/>
          </a:graphicData>
        </a:graphic>
      </p:graphicFrame>
      <p:cxnSp>
        <p:nvCxnSpPr>
          <p:cNvPr id="259" name="Conector recto 196">
            <a:extLst>
              <a:ext uri="{FF2B5EF4-FFF2-40B4-BE49-F238E27FC236}">
                <a16:creationId xmlns:a16="http://schemas.microsoft.com/office/drawing/2014/main" id="{FED9695A-51B1-5DC2-C185-E324F2CB8C1A}"/>
              </a:ext>
            </a:extLst>
          </p:cNvPr>
          <p:cNvCxnSpPr/>
          <p:nvPr>
            <p:custDataLst>
              <p:tags r:id="rId13"/>
            </p:custDataLst>
          </p:nvPr>
        </p:nvCxnSpPr>
        <p:spPr bwMode="auto">
          <a:xfrm flipV="1">
            <a:off x="3736974" y="2954339"/>
            <a:ext cx="0" cy="19685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60" name="Conector recto 197">
            <a:extLst>
              <a:ext uri="{FF2B5EF4-FFF2-40B4-BE49-F238E27FC236}">
                <a16:creationId xmlns:a16="http://schemas.microsoft.com/office/drawing/2014/main" id="{B1F53C42-BE69-85F2-2468-CB6148C01D36}"/>
              </a:ext>
            </a:extLst>
          </p:cNvPr>
          <p:cNvCxnSpPr/>
          <p:nvPr>
            <p:custDataLst>
              <p:tags r:id="rId14"/>
            </p:custDataLst>
          </p:nvPr>
        </p:nvCxnSpPr>
        <p:spPr bwMode="auto">
          <a:xfrm>
            <a:off x="3736977" y="2954339"/>
            <a:ext cx="836613"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61" name="Conector recto 198">
            <a:extLst>
              <a:ext uri="{FF2B5EF4-FFF2-40B4-BE49-F238E27FC236}">
                <a16:creationId xmlns:a16="http://schemas.microsoft.com/office/drawing/2014/main" id="{71D38C7E-C91D-D4B9-C963-1BCAF509101F}"/>
              </a:ext>
            </a:extLst>
          </p:cNvPr>
          <p:cNvCxnSpPr/>
          <p:nvPr>
            <p:custDataLst>
              <p:tags r:id="rId15"/>
            </p:custDataLst>
          </p:nvPr>
        </p:nvCxnSpPr>
        <p:spPr bwMode="auto">
          <a:xfrm>
            <a:off x="4573588" y="2954340"/>
            <a:ext cx="0" cy="15240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62" name="Text Placeholder 2">
            <a:extLst>
              <a:ext uri="{FF2B5EF4-FFF2-40B4-BE49-F238E27FC236}">
                <a16:creationId xmlns:a16="http://schemas.microsoft.com/office/drawing/2014/main" id="{37DC2377-0F9E-FF45-BD0C-418526D458A2}"/>
              </a:ext>
            </a:extLst>
          </p:cNvPr>
          <p:cNvSpPr>
            <a:spLocks/>
          </p:cNvSpPr>
          <p:nvPr>
            <p:custDataLst>
              <p:tags r:id="rId16"/>
            </p:custDataLst>
          </p:nvPr>
        </p:nvSpPr>
        <p:spPr bwMode="auto">
          <a:xfrm>
            <a:off x="3571874" y="4473577"/>
            <a:ext cx="3302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666B54D5-D1B3-4114-B6C4-9EC5299DCDC1}" type="datetime'2''''0''''''''''''''''''''''''22'''''''''''">
              <a:rPr lang="en-US" sz="1100">
                <a:solidFill>
                  <a:srgbClr val="000000"/>
                </a:solidFill>
              </a:rPr>
              <a:pPr marL="0" indent="0" algn="ctr" defTabSz="914422">
                <a:spcBef>
                  <a:spcPct val="0"/>
                </a:spcBef>
                <a:spcAft>
                  <a:spcPct val="0"/>
                </a:spcAft>
                <a:buClr>
                  <a:srgbClr val="000000"/>
                </a:buClr>
                <a:buNone/>
                <a:defRPr/>
              </a:pPr>
              <a:t>2022</a:t>
            </a:fld>
            <a:endParaRPr lang="en-US" sz="1100">
              <a:solidFill>
                <a:srgbClr val="000000"/>
              </a:solidFill>
            </a:endParaRPr>
          </a:p>
        </p:txBody>
      </p:sp>
      <p:sp>
        <p:nvSpPr>
          <p:cNvPr id="263" name="Text Placeholder 2">
            <a:extLst>
              <a:ext uri="{FF2B5EF4-FFF2-40B4-BE49-F238E27FC236}">
                <a16:creationId xmlns:a16="http://schemas.microsoft.com/office/drawing/2014/main" id="{8BCE9D89-831E-6AA9-20B7-00A618C5AFC3}"/>
              </a:ext>
            </a:extLst>
          </p:cNvPr>
          <p:cNvSpPr>
            <a:spLocks/>
          </p:cNvSpPr>
          <p:nvPr>
            <p:custDataLst>
              <p:tags r:id="rId17"/>
            </p:custDataLst>
          </p:nvPr>
        </p:nvSpPr>
        <p:spPr bwMode="auto">
          <a:xfrm>
            <a:off x="4410076" y="4473577"/>
            <a:ext cx="3286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51D5AD5C-BDEF-4484-B71F-3D2704E63454}" type="datetime'''''''''''''''''''''''''20''''''2''''''5'''''''''''''">
              <a:rPr lang="en-US" sz="1100">
                <a:solidFill>
                  <a:srgbClr val="000000"/>
                </a:solidFill>
              </a:rPr>
              <a:pPr marL="0" indent="0" algn="ctr" defTabSz="914422">
                <a:spcBef>
                  <a:spcPct val="0"/>
                </a:spcBef>
                <a:spcAft>
                  <a:spcPct val="0"/>
                </a:spcAft>
                <a:buClr>
                  <a:srgbClr val="000000"/>
                </a:buClr>
                <a:buNone/>
                <a:defRPr/>
              </a:pPr>
              <a:t>2025</a:t>
            </a:fld>
            <a:endParaRPr lang="en-US" sz="1100">
              <a:solidFill>
                <a:srgbClr val="000000"/>
              </a:solidFill>
            </a:endParaRPr>
          </a:p>
        </p:txBody>
      </p:sp>
      <p:sp>
        <p:nvSpPr>
          <p:cNvPr id="264" name="Text Placeholder 2">
            <a:extLst>
              <a:ext uri="{FF2B5EF4-FFF2-40B4-BE49-F238E27FC236}">
                <a16:creationId xmlns:a16="http://schemas.microsoft.com/office/drawing/2014/main" id="{CF263900-64D6-ED38-7292-8EDFA5C0BB70}"/>
              </a:ext>
            </a:extLst>
          </p:cNvPr>
          <p:cNvSpPr>
            <a:spLocks/>
          </p:cNvSpPr>
          <p:nvPr>
            <p:custDataLst>
              <p:tags r:id="rId18"/>
            </p:custDataLst>
          </p:nvPr>
        </p:nvSpPr>
        <p:spPr bwMode="auto">
          <a:xfrm>
            <a:off x="3940177" y="2835277"/>
            <a:ext cx="430213" cy="238124"/>
          </a:xfrm>
          <a:prstGeom prst="ellipse">
            <a:avLst/>
          </a:prstGeom>
          <a:solidFill>
            <a:srgbClr val="D8D6CA"/>
          </a:solidFill>
          <a:ln w="9525" cmpd="sng" algn="ctr">
            <a:noFill/>
          </a:ln>
          <a:effec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r>
              <a:rPr lang="en-US" sz="1100" b="1">
                <a:solidFill>
                  <a:srgbClr val="000000"/>
                </a:solidFill>
              </a:rPr>
              <a:t>1.4%</a:t>
            </a:r>
          </a:p>
        </p:txBody>
      </p:sp>
      <p:sp>
        <p:nvSpPr>
          <p:cNvPr id="208" name="Speech Bubble: Rectangle 207">
            <a:extLst>
              <a:ext uri="{FF2B5EF4-FFF2-40B4-BE49-F238E27FC236}">
                <a16:creationId xmlns:a16="http://schemas.microsoft.com/office/drawing/2014/main" id="{4D8E4936-01FA-4D44-20E4-52C4B6D7593F}"/>
              </a:ext>
            </a:extLst>
          </p:cNvPr>
          <p:cNvSpPr/>
          <p:nvPr/>
        </p:nvSpPr>
        <p:spPr>
          <a:xfrm>
            <a:off x="4880286" y="2875196"/>
            <a:ext cx="936933" cy="600059"/>
          </a:xfrm>
          <a:prstGeom prst="wedgeRectCallout">
            <a:avLst>
              <a:gd name="adj1" fmla="val -58207"/>
              <a:gd name="adj2" fmla="val 8226"/>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i="1">
                <a:solidFill>
                  <a:srgbClr val="000000"/>
                </a:solidFill>
                <a:ea typeface="Scotia Light" panose="020B0403020203020204" pitchFamily="34" charset="0"/>
                <a:cs typeface="Arabic Typesetting" panose="020F0502020204030204" pitchFamily="66" charset="-78"/>
              </a:rPr>
              <a:t>Σ</a:t>
            </a:r>
            <a:r>
              <a:rPr lang="en-US" sz="1001" i="1" kern="0" spc="50">
                <a:solidFill>
                  <a:srgbClr val="000000"/>
                </a:solidFill>
                <a:ea typeface="Scotia Light" panose="020B0403020203020204" pitchFamily="34" charset="0"/>
                <a:cs typeface="Arabic Typesetting" panose="020F0502020204030204" pitchFamily="66" charset="-78"/>
              </a:rPr>
              <a:t>3</a:t>
            </a:r>
            <a:r>
              <a:rPr lang="en-US" sz="1001" i="1" kern="0" spc="50">
                <a:solidFill>
                  <a:srgbClr val="000000"/>
                </a:solidFill>
                <a:ea typeface="Scotia Light" panose="020B0403020203020204" pitchFamily="34" charset="0"/>
                <a:cs typeface="Scotia Headline"/>
              </a:rPr>
              <a:t>Y</a:t>
            </a:r>
          </a:p>
          <a:p>
            <a:pPr algn="ctr"/>
            <a:r>
              <a:rPr lang="en-US" sz="1001" i="1" kern="0" spc="50">
                <a:solidFill>
                  <a:srgbClr val="000000"/>
                </a:solidFill>
                <a:ea typeface="Scotia Light" panose="020B0403020203020204" pitchFamily="34" charset="0"/>
                <a:cs typeface="Scotia Headline"/>
              </a:rPr>
              <a:t>SBM: 4% Inflation: 14%</a:t>
            </a:r>
            <a:endParaRPr lang="en-US" sz="1001" i="1" kern="0" baseline="30000">
              <a:solidFill>
                <a:srgbClr val="000000"/>
              </a:solidFill>
              <a:ea typeface="Scotia Light" panose="020B0403020203020204" pitchFamily="34" charset="0"/>
              <a:cs typeface="Arial" panose="020B0604020202020204" pitchFamily="34" charset="0"/>
              <a:sym typeface="Arial"/>
            </a:endParaRPr>
          </a:p>
        </p:txBody>
      </p:sp>
      <p:sp>
        <p:nvSpPr>
          <p:cNvPr id="2593" name="Rectangle 2592">
            <a:extLst>
              <a:ext uri="{FF2B5EF4-FFF2-40B4-BE49-F238E27FC236}">
                <a16:creationId xmlns:a16="http://schemas.microsoft.com/office/drawing/2014/main" id="{51D291F3-4912-32FA-6DBA-DC20C9B4A7FE}"/>
              </a:ext>
            </a:extLst>
          </p:cNvPr>
          <p:cNvSpPr/>
          <p:nvPr/>
        </p:nvSpPr>
        <p:spPr>
          <a:xfrm>
            <a:off x="6370088" y="1525119"/>
            <a:ext cx="5533100" cy="401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0" rtlCol="0" anchor="t" anchorCtr="0"/>
          <a:lstStyle/>
          <a:p>
            <a:pPr>
              <a:spcAft>
                <a:spcPts val="601"/>
              </a:spcAft>
            </a:pPr>
            <a:r>
              <a:rPr lang="en-US" sz="1100" b="1" spc="201">
                <a:solidFill>
                  <a:schemeClr val="tx1"/>
                </a:solidFill>
              </a:rPr>
              <a:t>STAGNANT GROWTH</a:t>
            </a:r>
          </a:p>
          <a:p>
            <a:r>
              <a:rPr lang="en-US" sz="1100">
                <a:solidFill>
                  <a:schemeClr val="tx1"/>
                </a:solidFill>
              </a:rPr>
              <a:t>…but overall growth remains flat and below market limiting top-line growth potential</a:t>
            </a:r>
          </a:p>
          <a:p>
            <a:endParaRPr lang="en-US" sz="1100" i="1">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buFont typeface="Arial" panose="020B0604020202020204" pitchFamily="34" charset="0"/>
              <a:buChar char="•"/>
            </a:pPr>
            <a:endParaRPr lang="en-US" sz="1100">
              <a:solidFill>
                <a:schemeClr val="tx1"/>
              </a:solidFill>
            </a:endParaRPr>
          </a:p>
          <a:p>
            <a:pPr marL="171453" indent="-171453">
              <a:spcAft>
                <a:spcPts val="300"/>
              </a:spcAft>
              <a:buFont typeface="Arial" panose="020B0604020202020204" pitchFamily="34" charset="0"/>
              <a:buChar char="•"/>
            </a:pPr>
            <a:r>
              <a:rPr lang="en-US" sz="1100">
                <a:solidFill>
                  <a:schemeClr val="tx1"/>
                </a:solidFill>
              </a:rPr>
              <a:t>Client base flat, despite recent attrition improvements</a:t>
            </a:r>
          </a:p>
          <a:p>
            <a:pPr marL="171453" indent="-171453">
              <a:spcAft>
                <a:spcPts val="300"/>
              </a:spcAft>
              <a:buFont typeface="Arial" panose="020B0604020202020204" pitchFamily="34" charset="0"/>
              <a:buChar char="•"/>
            </a:pPr>
            <a:r>
              <a:rPr lang="en-US" sz="1100">
                <a:solidFill>
                  <a:schemeClr val="tx1"/>
                </a:solidFill>
              </a:rPr>
              <a:t>Revenue growth driven by Mortgage, auto lending and change of reference rate from 4.5% to 8%, net with cost discipline rather than underlying volume expansion, while market growth continued to outpace SBM</a:t>
            </a:r>
            <a:endParaRPr lang="en-US" sz="1801">
              <a:solidFill>
                <a:schemeClr val="tx1"/>
              </a:solidFill>
            </a:endParaRPr>
          </a:p>
          <a:p>
            <a:pPr marL="171453" indent="-171453">
              <a:buFont typeface="Arial" panose="020B0604020202020204" pitchFamily="34" charset="0"/>
              <a:buChar char="•"/>
            </a:pPr>
            <a:endParaRPr lang="en-US" sz="1100">
              <a:solidFill>
                <a:schemeClr val="tx1"/>
              </a:solidFill>
            </a:endParaRPr>
          </a:p>
        </p:txBody>
      </p:sp>
      <p:grpSp>
        <p:nvGrpSpPr>
          <p:cNvPr id="2691" name="Group 2690">
            <a:extLst>
              <a:ext uri="{FF2B5EF4-FFF2-40B4-BE49-F238E27FC236}">
                <a16:creationId xmlns:a16="http://schemas.microsoft.com/office/drawing/2014/main" id="{0E1F3F65-7BB6-5C85-FA27-0E51B40FB168}"/>
              </a:ext>
            </a:extLst>
          </p:cNvPr>
          <p:cNvGrpSpPr/>
          <p:nvPr/>
        </p:nvGrpSpPr>
        <p:grpSpPr>
          <a:xfrm>
            <a:off x="6392248" y="2365376"/>
            <a:ext cx="5192713" cy="2363145"/>
            <a:chOff x="6392246" y="2365375"/>
            <a:chExt cx="5192713" cy="1939925"/>
          </a:xfrm>
        </p:grpSpPr>
        <p:sp>
          <p:nvSpPr>
            <p:cNvPr id="2595" name="Rectangle 2594">
              <a:extLst>
                <a:ext uri="{FF2B5EF4-FFF2-40B4-BE49-F238E27FC236}">
                  <a16:creationId xmlns:a16="http://schemas.microsoft.com/office/drawing/2014/main" id="{8E39D112-5880-DA12-4F6D-DEE6E1149288}"/>
                </a:ext>
              </a:extLst>
            </p:cNvPr>
            <p:cNvSpPr/>
            <p:nvPr>
              <p:custDataLst>
                <p:tags r:id="rId42"/>
              </p:custDataLst>
            </p:nvPr>
          </p:nvSpPr>
          <p:spPr>
            <a:xfrm>
              <a:off x="6392246" y="2365375"/>
              <a:ext cx="2533650" cy="19399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Retail Clients in MM</a:t>
              </a:r>
            </a:p>
          </p:txBody>
        </p:sp>
        <p:sp>
          <p:nvSpPr>
            <p:cNvPr id="2596" name="Rectangle 2595">
              <a:extLst>
                <a:ext uri="{FF2B5EF4-FFF2-40B4-BE49-F238E27FC236}">
                  <a16:creationId xmlns:a16="http://schemas.microsoft.com/office/drawing/2014/main" id="{4563ECAE-0746-C5D0-E9F8-A42639706887}"/>
                </a:ext>
              </a:extLst>
            </p:cNvPr>
            <p:cNvSpPr/>
            <p:nvPr>
              <p:custDataLst>
                <p:tags r:id="rId43"/>
              </p:custDataLst>
            </p:nvPr>
          </p:nvSpPr>
          <p:spPr>
            <a:xfrm>
              <a:off x="9052896" y="2365375"/>
              <a:ext cx="2532063" cy="19399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Retail Revenue in CAD $MM</a:t>
              </a:r>
            </a:p>
          </p:txBody>
        </p:sp>
      </p:grpSp>
      <p:cxnSp>
        <p:nvCxnSpPr>
          <p:cNvPr id="2597" name="Straight Connector 2596">
            <a:extLst>
              <a:ext uri="{FF2B5EF4-FFF2-40B4-BE49-F238E27FC236}">
                <a16:creationId xmlns:a16="http://schemas.microsoft.com/office/drawing/2014/main" id="{25BF9451-B8A9-8990-055D-B82A3C6CD58C}"/>
              </a:ext>
            </a:extLst>
          </p:cNvPr>
          <p:cNvCxnSpPr>
            <a:cxnSpLocks/>
          </p:cNvCxnSpPr>
          <p:nvPr/>
        </p:nvCxnSpPr>
        <p:spPr>
          <a:xfrm>
            <a:off x="6068292" y="1525117"/>
            <a:ext cx="0" cy="401894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29" name="Conector recto 228">
            <a:extLst>
              <a:ext uri="{FF2B5EF4-FFF2-40B4-BE49-F238E27FC236}">
                <a16:creationId xmlns:a16="http://schemas.microsoft.com/office/drawing/2014/main" id="{98D52634-057C-F32B-D181-A1DCBF2D4851}"/>
              </a:ext>
            </a:extLst>
          </p:cNvPr>
          <p:cNvCxnSpPr/>
          <p:nvPr>
            <p:custDataLst>
              <p:tags r:id="rId19"/>
            </p:custDataLst>
          </p:nvPr>
        </p:nvCxnSpPr>
        <p:spPr bwMode="auto">
          <a:xfrm>
            <a:off x="7340601" y="3379788"/>
            <a:ext cx="354012" cy="4763"/>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0" name="Conector recto 229">
            <a:extLst>
              <a:ext uri="{FF2B5EF4-FFF2-40B4-BE49-F238E27FC236}">
                <a16:creationId xmlns:a16="http://schemas.microsoft.com/office/drawing/2014/main" id="{E9A434AB-43FE-7150-4AB9-DDF081D117AA}"/>
              </a:ext>
            </a:extLst>
          </p:cNvPr>
          <p:cNvCxnSpPr/>
          <p:nvPr>
            <p:custDataLst>
              <p:tags r:id="rId20"/>
            </p:custDataLst>
          </p:nvPr>
        </p:nvCxnSpPr>
        <p:spPr bwMode="auto">
          <a:xfrm flipV="1">
            <a:off x="7340601" y="3436938"/>
            <a:ext cx="354012" cy="1588"/>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4" name="Chart 23">
            <a:extLst>
              <a:ext uri="{FF2B5EF4-FFF2-40B4-BE49-F238E27FC236}">
                <a16:creationId xmlns:a16="http://schemas.microsoft.com/office/drawing/2014/main" id="{375EB8D2-4D5B-9BBA-5992-4D740F924CF4}"/>
              </a:ext>
            </a:extLst>
          </p:cNvPr>
          <p:cNvGraphicFramePr/>
          <p:nvPr>
            <p:custDataLst>
              <p:tags r:id="rId21"/>
            </p:custDataLst>
          </p:nvPr>
        </p:nvGraphicFramePr>
        <p:xfrm>
          <a:off x="6635750" y="3297238"/>
          <a:ext cx="1763714" cy="1212850"/>
        </p:xfrm>
        <a:graphic>
          <a:graphicData uri="http://schemas.openxmlformats.org/drawingml/2006/chart">
            <c:chart xmlns:c="http://schemas.openxmlformats.org/drawingml/2006/chart" xmlns:r="http://schemas.openxmlformats.org/officeDocument/2006/relationships" r:id="rId48"/>
          </a:graphicData>
        </a:graphic>
      </p:graphicFrame>
      <p:cxnSp>
        <p:nvCxnSpPr>
          <p:cNvPr id="2729" name="Straight Connector 2728">
            <a:extLst>
              <a:ext uri="{FF2B5EF4-FFF2-40B4-BE49-F238E27FC236}">
                <a16:creationId xmlns:a16="http://schemas.microsoft.com/office/drawing/2014/main" id="{93DF8088-3038-B587-53B0-17F519163A65}"/>
              </a:ext>
            </a:extLst>
          </p:cNvPr>
          <p:cNvCxnSpPr/>
          <p:nvPr>
            <p:custDataLst>
              <p:tags r:id="rId22"/>
            </p:custDataLst>
          </p:nvPr>
        </p:nvCxnSpPr>
        <p:spPr bwMode="auto">
          <a:xfrm flipV="1">
            <a:off x="7118350" y="2960689"/>
            <a:ext cx="0" cy="157163"/>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730" name="Straight Connector 2729">
            <a:extLst>
              <a:ext uri="{FF2B5EF4-FFF2-40B4-BE49-F238E27FC236}">
                <a16:creationId xmlns:a16="http://schemas.microsoft.com/office/drawing/2014/main" id="{1E9EAE36-76AD-DF00-BEB3-D6212562A18E}"/>
              </a:ext>
            </a:extLst>
          </p:cNvPr>
          <p:cNvCxnSpPr/>
          <p:nvPr>
            <p:custDataLst>
              <p:tags r:id="rId23"/>
            </p:custDataLst>
          </p:nvPr>
        </p:nvCxnSpPr>
        <p:spPr bwMode="auto">
          <a:xfrm>
            <a:off x="7118350" y="2960689"/>
            <a:ext cx="798514"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731" name="Straight Connector 2730">
            <a:extLst>
              <a:ext uri="{FF2B5EF4-FFF2-40B4-BE49-F238E27FC236}">
                <a16:creationId xmlns:a16="http://schemas.microsoft.com/office/drawing/2014/main" id="{149D5446-6E9C-9872-4037-9EBB640CA389}"/>
              </a:ext>
            </a:extLst>
          </p:cNvPr>
          <p:cNvCxnSpPr/>
          <p:nvPr>
            <p:custDataLst>
              <p:tags r:id="rId24"/>
            </p:custDataLst>
          </p:nvPr>
        </p:nvCxnSpPr>
        <p:spPr bwMode="auto">
          <a:xfrm>
            <a:off x="7916862" y="2960688"/>
            <a:ext cx="0" cy="15875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701" name="Text Placeholder 2">
            <a:extLst>
              <a:ext uri="{FF2B5EF4-FFF2-40B4-BE49-F238E27FC236}">
                <a16:creationId xmlns:a16="http://schemas.microsoft.com/office/drawing/2014/main" id="{45EF078D-4C4E-FD88-935D-2440A41C37E1}"/>
              </a:ext>
            </a:extLst>
          </p:cNvPr>
          <p:cNvSpPr>
            <a:spLocks/>
          </p:cNvSpPr>
          <p:nvPr>
            <p:custDataLst>
              <p:tags r:id="rId25"/>
            </p:custDataLst>
          </p:nvPr>
        </p:nvSpPr>
        <p:spPr bwMode="gray">
          <a:xfrm>
            <a:off x="6969126" y="3324226"/>
            <a:ext cx="300037" cy="168276"/>
          </a:xfrm>
          <a:prstGeom prst="rect">
            <a:avLst/>
          </a:prstGeom>
          <a:solidFill>
            <a:srgbClr val="B5B598"/>
          </a:solidFill>
          <a:ln>
            <a:noFill/>
          </a:ln>
          <a:effec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1455F842-6450-4BF5-944C-22C1CC821103}" type="datetime'''''''''''0''''''''''''.1''''''''''''''''''4'''''''''''''''''">
              <a:rPr lang="en-US" sz="1100">
                <a:solidFill>
                  <a:srgbClr val="000000"/>
                </a:solidFill>
              </a:rPr>
              <a:pPr marL="0" indent="0" algn="ctr" defTabSz="914422">
                <a:spcBef>
                  <a:spcPct val="0"/>
                </a:spcBef>
                <a:spcAft>
                  <a:spcPct val="0"/>
                </a:spcAft>
                <a:buClr>
                  <a:srgbClr val="000000"/>
                </a:buClr>
                <a:buNone/>
                <a:defRPr/>
              </a:pPr>
              <a:t>0.14</a:t>
            </a:fld>
            <a:endParaRPr lang="en-US" sz="1100">
              <a:solidFill>
                <a:srgbClr val="000000"/>
              </a:solidFill>
            </a:endParaRPr>
          </a:p>
        </p:txBody>
      </p:sp>
      <p:sp>
        <p:nvSpPr>
          <p:cNvPr id="2709" name="Text Placeholder 2">
            <a:extLst>
              <a:ext uri="{FF2B5EF4-FFF2-40B4-BE49-F238E27FC236}">
                <a16:creationId xmlns:a16="http://schemas.microsoft.com/office/drawing/2014/main" id="{9F58515B-5E5C-DC4F-FCE2-0D76C271539E}"/>
              </a:ext>
            </a:extLst>
          </p:cNvPr>
          <p:cNvSpPr>
            <a:spLocks/>
          </p:cNvSpPr>
          <p:nvPr>
            <p:custDataLst>
              <p:tags r:id="rId26"/>
            </p:custDataLst>
          </p:nvPr>
        </p:nvSpPr>
        <p:spPr bwMode="gray">
          <a:xfrm>
            <a:off x="6967538" y="3848101"/>
            <a:ext cx="301625"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E62504F-5845-45D7-BF5F-3B5F75A7E895}" type="datetime'''''2.3''''''''2'''''''">
              <a:rPr lang="en-US" sz="1100">
                <a:solidFill>
                  <a:srgbClr val="000000"/>
                </a:solidFill>
              </a:rPr>
              <a:pPr marL="0" indent="0" algn="ctr">
                <a:spcBef>
                  <a:spcPct val="0"/>
                </a:spcBef>
                <a:spcAft>
                  <a:spcPct val="0"/>
                </a:spcAft>
                <a:buClr>
                  <a:srgbClr val="000000"/>
                </a:buClr>
                <a:buNone/>
                <a:defRPr/>
              </a:pPr>
              <a:t>2.32</a:t>
            </a:fld>
            <a:endParaRPr lang="en-US" sz="1100">
              <a:solidFill>
                <a:srgbClr val="000000"/>
              </a:solidFill>
            </a:endParaRPr>
          </a:p>
        </p:txBody>
      </p:sp>
      <p:sp>
        <p:nvSpPr>
          <p:cNvPr id="2655" name="Text Placeholder 2">
            <a:extLst>
              <a:ext uri="{FF2B5EF4-FFF2-40B4-BE49-F238E27FC236}">
                <a16:creationId xmlns:a16="http://schemas.microsoft.com/office/drawing/2014/main" id="{C5C5B421-D58E-C130-8139-D0FEA918B926}"/>
              </a:ext>
            </a:extLst>
          </p:cNvPr>
          <p:cNvSpPr>
            <a:spLocks/>
          </p:cNvSpPr>
          <p:nvPr>
            <p:custDataLst>
              <p:tags r:id="rId27"/>
            </p:custDataLst>
          </p:nvPr>
        </p:nvSpPr>
        <p:spPr bwMode="auto">
          <a:xfrm>
            <a:off x="6953250" y="4473577"/>
            <a:ext cx="3302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88DEB296-C955-4D58-B3D4-23C5298B9F5D}" type="datetime'''''2''''''''02''''''''''''2'''''''''''''''">
              <a:rPr lang="en-US" sz="1100">
                <a:solidFill>
                  <a:srgbClr val="000000"/>
                </a:solidFill>
              </a:rPr>
              <a:pPr marL="0" indent="0" algn="ctr" defTabSz="914422">
                <a:spcBef>
                  <a:spcPct val="0"/>
                </a:spcBef>
                <a:spcAft>
                  <a:spcPct val="0"/>
                </a:spcAft>
                <a:buClr>
                  <a:srgbClr val="000000"/>
                </a:buClr>
                <a:buNone/>
                <a:defRPr/>
              </a:pPr>
              <a:t>2022</a:t>
            </a:fld>
            <a:endParaRPr lang="en-US" sz="1100">
              <a:solidFill>
                <a:srgbClr val="000000"/>
              </a:solidFill>
            </a:endParaRPr>
          </a:p>
        </p:txBody>
      </p:sp>
      <p:sp>
        <p:nvSpPr>
          <p:cNvPr id="2703" name="Text Placeholder 2">
            <a:extLst>
              <a:ext uri="{FF2B5EF4-FFF2-40B4-BE49-F238E27FC236}">
                <a16:creationId xmlns:a16="http://schemas.microsoft.com/office/drawing/2014/main" id="{A0610597-E36E-545C-CDF8-70EA9B5C1EDB}"/>
              </a:ext>
            </a:extLst>
          </p:cNvPr>
          <p:cNvSpPr>
            <a:spLocks/>
          </p:cNvSpPr>
          <p:nvPr>
            <p:custDataLst>
              <p:tags r:id="rId28"/>
            </p:custDataLst>
          </p:nvPr>
        </p:nvSpPr>
        <p:spPr bwMode="gray">
          <a:xfrm>
            <a:off x="7769228" y="3325813"/>
            <a:ext cx="296862" cy="168276"/>
          </a:xfrm>
          <a:prstGeom prst="rect">
            <a:avLst/>
          </a:prstGeom>
          <a:solidFill>
            <a:srgbClr val="B10D13"/>
          </a:solidFill>
          <a:ln>
            <a:noFill/>
          </a:ln>
          <a:effec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17751929-1155-420F-8742-5D976F4FA0B3}" type="datetime'0''''''''''''''''''''.''''''''''''''''''''1''''2'''''''''''">
              <a:rPr lang="en-US" sz="1100">
                <a:solidFill>
                  <a:schemeClr val="bg1"/>
                </a:solidFill>
              </a:rPr>
              <a:pPr marL="0" indent="0" algn="ctr" defTabSz="914422">
                <a:spcBef>
                  <a:spcPct val="0"/>
                </a:spcBef>
                <a:spcAft>
                  <a:spcPct val="0"/>
                </a:spcAft>
                <a:buClr>
                  <a:srgbClr val="000000"/>
                </a:buClr>
                <a:buNone/>
                <a:defRPr/>
              </a:pPr>
              <a:t>0.12</a:t>
            </a:fld>
            <a:endParaRPr lang="en-US" sz="1100">
              <a:solidFill>
                <a:schemeClr val="bg1"/>
              </a:solidFill>
            </a:endParaRPr>
          </a:p>
        </p:txBody>
      </p:sp>
      <p:sp>
        <p:nvSpPr>
          <p:cNvPr id="2710" name="Text Placeholder 2">
            <a:extLst>
              <a:ext uri="{FF2B5EF4-FFF2-40B4-BE49-F238E27FC236}">
                <a16:creationId xmlns:a16="http://schemas.microsoft.com/office/drawing/2014/main" id="{E543630E-D7B1-B50A-C81C-9AA94289E546}"/>
              </a:ext>
            </a:extLst>
          </p:cNvPr>
          <p:cNvSpPr>
            <a:spLocks/>
          </p:cNvSpPr>
          <p:nvPr>
            <p:custDataLst>
              <p:tags r:id="rId29"/>
            </p:custDataLst>
          </p:nvPr>
        </p:nvSpPr>
        <p:spPr bwMode="gray">
          <a:xfrm>
            <a:off x="7766050" y="3848101"/>
            <a:ext cx="301625"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4337CB9-8F64-4BE5-AEA9-AE30F254D8C6}" type="datetime'''2''''''''''''''''.''3''2'''''''''''">
              <a:rPr lang="en-US" sz="1100">
                <a:solidFill>
                  <a:schemeClr val="bg1"/>
                </a:solidFill>
              </a:rPr>
              <a:pPr marL="0" indent="0" algn="ctr">
                <a:spcBef>
                  <a:spcPct val="0"/>
                </a:spcBef>
                <a:spcAft>
                  <a:spcPct val="0"/>
                </a:spcAft>
                <a:buClr>
                  <a:srgbClr val="000000"/>
                </a:buClr>
                <a:buNone/>
                <a:defRPr/>
              </a:pPr>
              <a:t>2.32</a:t>
            </a:fld>
            <a:endParaRPr lang="en-US" sz="1100">
              <a:solidFill>
                <a:schemeClr val="bg1"/>
              </a:solidFill>
            </a:endParaRPr>
          </a:p>
        </p:txBody>
      </p:sp>
      <p:sp>
        <p:nvSpPr>
          <p:cNvPr id="2679" name="Text Placeholder 2">
            <a:extLst>
              <a:ext uri="{FF2B5EF4-FFF2-40B4-BE49-F238E27FC236}">
                <a16:creationId xmlns:a16="http://schemas.microsoft.com/office/drawing/2014/main" id="{5C4BF03D-5D3A-9FC9-AA2A-5CE177D679C0}"/>
              </a:ext>
            </a:extLst>
          </p:cNvPr>
          <p:cNvSpPr>
            <a:spLocks/>
          </p:cNvSpPr>
          <p:nvPr>
            <p:custDataLst>
              <p:tags r:id="rId30"/>
            </p:custDataLst>
          </p:nvPr>
        </p:nvSpPr>
        <p:spPr bwMode="auto">
          <a:xfrm>
            <a:off x="7753352" y="4473577"/>
            <a:ext cx="3286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7049CAB7-2F82-4983-94C0-69DFA168FD93}" type="datetime'''''''''''''''''2''''''''''''''''''''0''''2''5'''''''''">
              <a:rPr lang="en-US" sz="1100">
                <a:solidFill>
                  <a:srgbClr val="000000"/>
                </a:solidFill>
              </a:rPr>
              <a:pPr marL="0" indent="0" algn="ctr" defTabSz="914422">
                <a:spcBef>
                  <a:spcPct val="0"/>
                </a:spcBef>
                <a:spcAft>
                  <a:spcPct val="0"/>
                </a:spcAft>
                <a:buClr>
                  <a:srgbClr val="000000"/>
                </a:buClr>
                <a:buNone/>
                <a:defRPr/>
              </a:pPr>
              <a:t>2025</a:t>
            </a:fld>
            <a:endParaRPr lang="en-US" sz="1100">
              <a:solidFill>
                <a:srgbClr val="000000"/>
              </a:solidFill>
            </a:endParaRPr>
          </a:p>
        </p:txBody>
      </p:sp>
      <p:sp>
        <p:nvSpPr>
          <p:cNvPr id="2702" name="Text Placeholder 2">
            <a:extLst>
              <a:ext uri="{FF2B5EF4-FFF2-40B4-BE49-F238E27FC236}">
                <a16:creationId xmlns:a16="http://schemas.microsoft.com/office/drawing/2014/main" id="{89703B4C-9581-F767-30F2-D7DD84C7AA45}"/>
              </a:ext>
            </a:extLst>
          </p:cNvPr>
          <p:cNvSpPr>
            <a:spLocks/>
          </p:cNvSpPr>
          <p:nvPr>
            <p:custDataLst>
              <p:tags r:id="rId31"/>
            </p:custDataLst>
          </p:nvPr>
        </p:nvSpPr>
        <p:spPr bwMode="gray">
          <a:xfrm>
            <a:off x="6965950" y="3155952"/>
            <a:ext cx="3048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D8A622D0-0B00-450F-A7B1-C5372E8DE8EF}" type="datetime'''''''2.''''''''''''''''4''''''''''''''5'''''''''''">
              <a:rPr lang="en-US" sz="1100">
                <a:solidFill>
                  <a:srgbClr val="000000"/>
                </a:solidFill>
              </a:rPr>
              <a:pPr marL="0" indent="0" algn="ctr">
                <a:spcBef>
                  <a:spcPct val="0"/>
                </a:spcBef>
                <a:spcAft>
                  <a:spcPct val="0"/>
                </a:spcAft>
                <a:buClr>
                  <a:srgbClr val="000000"/>
                </a:buClr>
                <a:buNone/>
                <a:defRPr/>
              </a:pPr>
              <a:t>2.45</a:t>
            </a:fld>
            <a:endParaRPr lang="en-US" sz="1100">
              <a:solidFill>
                <a:srgbClr val="000000"/>
              </a:solidFill>
            </a:endParaRPr>
          </a:p>
        </p:txBody>
      </p:sp>
      <p:sp>
        <p:nvSpPr>
          <p:cNvPr id="2704" name="Text Placeholder 2">
            <a:extLst>
              <a:ext uri="{FF2B5EF4-FFF2-40B4-BE49-F238E27FC236}">
                <a16:creationId xmlns:a16="http://schemas.microsoft.com/office/drawing/2014/main" id="{2965628B-EAE1-D0DF-1E69-222149970A05}"/>
              </a:ext>
            </a:extLst>
          </p:cNvPr>
          <p:cNvSpPr>
            <a:spLocks/>
          </p:cNvSpPr>
          <p:nvPr>
            <p:custDataLst>
              <p:tags r:id="rId32"/>
            </p:custDataLst>
          </p:nvPr>
        </p:nvSpPr>
        <p:spPr bwMode="gray">
          <a:xfrm>
            <a:off x="7762877" y="3157539"/>
            <a:ext cx="30956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EE73B0DA-112D-4A71-A292-C230920A162D}" type="datetime'''''''''2''.''''''''''''''''4''''''''''''''''''''''4'''''''">
              <a:rPr lang="en-US" sz="1100">
                <a:solidFill>
                  <a:srgbClr val="000000"/>
                </a:solidFill>
              </a:rPr>
              <a:pPr marL="0" indent="0" algn="ctr">
                <a:spcBef>
                  <a:spcPct val="0"/>
                </a:spcBef>
                <a:spcAft>
                  <a:spcPct val="0"/>
                </a:spcAft>
                <a:buClr>
                  <a:srgbClr val="000000"/>
                </a:buClr>
                <a:buNone/>
                <a:defRPr/>
              </a:pPr>
              <a:t>2.44</a:t>
            </a:fld>
            <a:endParaRPr lang="en-US" sz="1100">
              <a:solidFill>
                <a:srgbClr val="000000"/>
              </a:solidFill>
            </a:endParaRPr>
          </a:p>
        </p:txBody>
      </p:sp>
      <p:sp>
        <p:nvSpPr>
          <p:cNvPr id="2727" name="Text Placeholder 2">
            <a:extLst>
              <a:ext uri="{FF2B5EF4-FFF2-40B4-BE49-F238E27FC236}">
                <a16:creationId xmlns:a16="http://schemas.microsoft.com/office/drawing/2014/main" id="{F0A44BBB-DDD5-C64C-98D2-AA9BB797B1A3}"/>
              </a:ext>
            </a:extLst>
          </p:cNvPr>
          <p:cNvSpPr>
            <a:spLocks/>
          </p:cNvSpPr>
          <p:nvPr>
            <p:custDataLst>
              <p:tags r:id="rId33"/>
            </p:custDataLst>
          </p:nvPr>
        </p:nvSpPr>
        <p:spPr bwMode="auto">
          <a:xfrm>
            <a:off x="7254876" y="2841627"/>
            <a:ext cx="523876" cy="238124"/>
          </a:xfrm>
          <a:prstGeom prst="ellipse">
            <a:avLst/>
          </a:prstGeom>
          <a:solidFill>
            <a:srgbClr val="D8D6CA"/>
          </a:solidFill>
          <a:ln w="9525" cmpd="sng" algn="ctr">
            <a:noFill/>
          </a:ln>
          <a:effec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r>
              <a:rPr lang="en-US" sz="1100" b="1">
                <a:solidFill>
                  <a:srgbClr val="000000"/>
                </a:solidFill>
              </a:rPr>
              <a:t>-0.1%</a:t>
            </a:r>
          </a:p>
        </p:txBody>
      </p:sp>
      <p:sp>
        <p:nvSpPr>
          <p:cNvPr id="2739" name="Rectangle 2738">
            <a:extLst>
              <a:ext uri="{FF2B5EF4-FFF2-40B4-BE49-F238E27FC236}">
                <a16:creationId xmlns:a16="http://schemas.microsoft.com/office/drawing/2014/main" id="{C08C077B-BB5F-D89A-370B-9AA0840ECD62}"/>
              </a:ext>
            </a:extLst>
          </p:cNvPr>
          <p:cNvSpPr/>
          <p:nvPr/>
        </p:nvSpPr>
        <p:spPr>
          <a:xfrm>
            <a:off x="8317429" y="3272723"/>
            <a:ext cx="468313" cy="240789"/>
          </a:xfrm>
          <a:prstGeom prst="rect">
            <a:avLst/>
          </a:prstGeom>
          <a:solidFill>
            <a:schemeClr val="bg1"/>
          </a:solidFill>
          <a:ln>
            <a:solidFill>
              <a:srgbClr val="B10D1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-3.3%</a:t>
            </a:r>
          </a:p>
        </p:txBody>
      </p:sp>
      <p:sp>
        <p:nvSpPr>
          <p:cNvPr id="2740" name="Rectangle 2739">
            <a:extLst>
              <a:ext uri="{FF2B5EF4-FFF2-40B4-BE49-F238E27FC236}">
                <a16:creationId xmlns:a16="http://schemas.microsoft.com/office/drawing/2014/main" id="{F6BD2F79-8EA8-D824-12B9-9569FF83879F}"/>
              </a:ext>
            </a:extLst>
          </p:cNvPr>
          <p:cNvSpPr/>
          <p:nvPr/>
        </p:nvSpPr>
        <p:spPr>
          <a:xfrm>
            <a:off x="8317429" y="3805454"/>
            <a:ext cx="468313" cy="240789"/>
          </a:xfrm>
          <a:prstGeom prst="rect">
            <a:avLst/>
          </a:prstGeom>
          <a:solidFill>
            <a:schemeClr val="bg1"/>
          </a:solidFill>
          <a:ln>
            <a:solidFill>
              <a:srgbClr val="E1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+0.3%</a:t>
            </a:r>
          </a:p>
        </p:txBody>
      </p:sp>
      <p:cxnSp>
        <p:nvCxnSpPr>
          <p:cNvPr id="234" name="Conector recto 233">
            <a:extLst>
              <a:ext uri="{FF2B5EF4-FFF2-40B4-BE49-F238E27FC236}">
                <a16:creationId xmlns:a16="http://schemas.microsoft.com/office/drawing/2014/main" id="{0CA39403-46D5-3D35-B5C9-EBE13F4062A5}"/>
              </a:ext>
            </a:extLst>
          </p:cNvPr>
          <p:cNvCxnSpPr/>
          <p:nvPr>
            <p:custDataLst>
              <p:tags r:id="rId34"/>
            </p:custDataLst>
          </p:nvPr>
        </p:nvCxnSpPr>
        <p:spPr bwMode="auto">
          <a:xfrm flipV="1">
            <a:off x="9774239" y="3338513"/>
            <a:ext cx="369886" cy="160338"/>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5" name="Chart 24">
            <a:extLst>
              <a:ext uri="{FF2B5EF4-FFF2-40B4-BE49-F238E27FC236}">
                <a16:creationId xmlns:a16="http://schemas.microsoft.com/office/drawing/2014/main" id="{A4175BD5-9B80-F5F7-BA0B-12614C73B64B}"/>
              </a:ext>
            </a:extLst>
          </p:cNvPr>
          <p:cNvGraphicFramePr/>
          <p:nvPr>
            <p:custDataLst>
              <p:tags r:id="rId35"/>
            </p:custDataLst>
          </p:nvPr>
        </p:nvGraphicFramePr>
        <p:xfrm>
          <a:off x="8558213" y="2982916"/>
          <a:ext cx="2801938" cy="1690686"/>
        </p:xfrm>
        <a:graphic>
          <a:graphicData uri="http://schemas.openxmlformats.org/drawingml/2006/chart">
            <c:chart xmlns:c="http://schemas.openxmlformats.org/drawingml/2006/chart" xmlns:r="http://schemas.openxmlformats.org/officeDocument/2006/relationships" r:id="rId49"/>
          </a:graphicData>
        </a:graphic>
      </p:graphicFrame>
      <p:cxnSp>
        <p:nvCxnSpPr>
          <p:cNvPr id="10" name="Conector recto 196">
            <a:extLst>
              <a:ext uri="{FF2B5EF4-FFF2-40B4-BE49-F238E27FC236}">
                <a16:creationId xmlns:a16="http://schemas.microsoft.com/office/drawing/2014/main" id="{14D77B64-99F1-46A8-E64E-759D75C44B14}"/>
              </a:ext>
            </a:extLst>
          </p:cNvPr>
          <p:cNvCxnSpPr/>
          <p:nvPr>
            <p:custDataLst>
              <p:tags r:id="rId36"/>
            </p:custDataLst>
          </p:nvPr>
        </p:nvCxnSpPr>
        <p:spPr bwMode="auto">
          <a:xfrm flipV="1">
            <a:off x="9540875" y="2949574"/>
            <a:ext cx="0" cy="31750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Conector recto 197">
            <a:extLst>
              <a:ext uri="{FF2B5EF4-FFF2-40B4-BE49-F238E27FC236}">
                <a16:creationId xmlns:a16="http://schemas.microsoft.com/office/drawing/2014/main" id="{E7690C74-3758-D74F-CC11-0E56CF612F92}"/>
              </a:ext>
            </a:extLst>
          </p:cNvPr>
          <p:cNvCxnSpPr/>
          <p:nvPr>
            <p:custDataLst>
              <p:tags r:id="rId37"/>
            </p:custDataLst>
          </p:nvPr>
        </p:nvCxnSpPr>
        <p:spPr bwMode="auto">
          <a:xfrm>
            <a:off x="9540875" y="2949574"/>
            <a:ext cx="835026"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Conector recto 198">
            <a:extLst>
              <a:ext uri="{FF2B5EF4-FFF2-40B4-BE49-F238E27FC236}">
                <a16:creationId xmlns:a16="http://schemas.microsoft.com/office/drawing/2014/main" id="{F61CEA36-1DAF-37AE-0692-1C227C3634D8}"/>
              </a:ext>
            </a:extLst>
          </p:cNvPr>
          <p:cNvCxnSpPr/>
          <p:nvPr>
            <p:custDataLst>
              <p:tags r:id="rId38"/>
            </p:custDataLst>
          </p:nvPr>
        </p:nvCxnSpPr>
        <p:spPr bwMode="auto">
          <a:xfrm>
            <a:off x="10375900" y="2949576"/>
            <a:ext cx="0" cy="157163"/>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6" name="Text Placeholder 2">
            <a:extLst>
              <a:ext uri="{FF2B5EF4-FFF2-40B4-BE49-F238E27FC236}">
                <a16:creationId xmlns:a16="http://schemas.microsoft.com/office/drawing/2014/main" id="{A7FEC70B-3B14-7CB9-8246-2435805EF3E5}"/>
              </a:ext>
            </a:extLst>
          </p:cNvPr>
          <p:cNvSpPr>
            <a:spLocks/>
          </p:cNvSpPr>
          <p:nvPr>
            <p:custDataLst>
              <p:tags r:id="rId39"/>
            </p:custDataLst>
          </p:nvPr>
        </p:nvSpPr>
        <p:spPr bwMode="auto">
          <a:xfrm>
            <a:off x="9375774" y="4473577"/>
            <a:ext cx="3302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3F7E54E6-7C7F-41B0-B82D-8B14E719C5AD}" type="datetime'2''''''0''''''''''''''''2''2'''''''''''''''''''''''">
              <a:rPr lang="en-US" sz="1100">
                <a:solidFill>
                  <a:srgbClr val="000000"/>
                </a:solidFill>
              </a:rPr>
              <a:pPr marL="0" indent="0" algn="ctr" defTabSz="914422">
                <a:spcBef>
                  <a:spcPct val="0"/>
                </a:spcBef>
                <a:spcAft>
                  <a:spcPct val="0"/>
                </a:spcAft>
                <a:buClr>
                  <a:srgbClr val="000000"/>
                </a:buClr>
                <a:buNone/>
                <a:defRPr/>
              </a:pPr>
              <a:t>2022</a:t>
            </a:fld>
            <a:endParaRPr lang="en-US" sz="1100">
              <a:solidFill>
                <a:srgbClr val="000000"/>
              </a:solidFill>
            </a:endParaRPr>
          </a:p>
        </p:txBody>
      </p:sp>
      <p:sp>
        <p:nvSpPr>
          <p:cNvPr id="17" name="Text Placeholder 2">
            <a:extLst>
              <a:ext uri="{FF2B5EF4-FFF2-40B4-BE49-F238E27FC236}">
                <a16:creationId xmlns:a16="http://schemas.microsoft.com/office/drawing/2014/main" id="{7BCCCF28-7044-2E9B-7604-9935B89682B9}"/>
              </a:ext>
            </a:extLst>
          </p:cNvPr>
          <p:cNvSpPr>
            <a:spLocks/>
          </p:cNvSpPr>
          <p:nvPr>
            <p:custDataLst>
              <p:tags r:id="rId40"/>
            </p:custDataLst>
          </p:nvPr>
        </p:nvSpPr>
        <p:spPr bwMode="auto">
          <a:xfrm>
            <a:off x="10212389" y="4473577"/>
            <a:ext cx="3286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9945B5A9-7513-45FE-A368-EB2834EAD937}" type="datetime'''''2''''''0''''''''''''''''''''''2''''5'''''''''">
              <a:rPr lang="en-US" sz="1100">
                <a:solidFill>
                  <a:srgbClr val="000000"/>
                </a:solidFill>
              </a:rPr>
              <a:pPr marL="0" indent="0" algn="ctr" defTabSz="914422">
                <a:spcBef>
                  <a:spcPct val="0"/>
                </a:spcBef>
                <a:spcAft>
                  <a:spcPct val="0"/>
                </a:spcAft>
                <a:buClr>
                  <a:srgbClr val="000000"/>
                </a:buClr>
                <a:buNone/>
                <a:defRPr/>
              </a:pPr>
              <a:t>2025</a:t>
            </a:fld>
            <a:endParaRPr lang="en-US" sz="1100">
              <a:solidFill>
                <a:srgbClr val="000000"/>
              </a:solidFill>
            </a:endParaRPr>
          </a:p>
        </p:txBody>
      </p:sp>
      <p:sp>
        <p:nvSpPr>
          <p:cNvPr id="18" name="Text Placeholder 2">
            <a:extLst>
              <a:ext uri="{FF2B5EF4-FFF2-40B4-BE49-F238E27FC236}">
                <a16:creationId xmlns:a16="http://schemas.microsoft.com/office/drawing/2014/main" id="{ABF7BDAF-6A90-1FC3-9A87-444437A98D1A}"/>
              </a:ext>
            </a:extLst>
          </p:cNvPr>
          <p:cNvSpPr>
            <a:spLocks/>
          </p:cNvSpPr>
          <p:nvPr>
            <p:custDataLst>
              <p:tags r:id="rId41"/>
            </p:custDataLst>
          </p:nvPr>
        </p:nvSpPr>
        <p:spPr bwMode="auto">
          <a:xfrm>
            <a:off x="9736138" y="2830516"/>
            <a:ext cx="446089" cy="238124"/>
          </a:xfrm>
          <a:prstGeom prst="ellipse">
            <a:avLst/>
          </a:prstGeom>
          <a:solidFill>
            <a:srgbClr val="D8D6CA"/>
          </a:solidFill>
          <a:ln w="9525" cmpd="sng" algn="ctr">
            <a:noFill/>
          </a:ln>
          <a:effec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r>
              <a:rPr lang="en-US" sz="1100" b="1">
                <a:solidFill>
                  <a:srgbClr val="000000"/>
                </a:solidFill>
              </a:rPr>
              <a:t>5.4%</a:t>
            </a:r>
          </a:p>
        </p:txBody>
      </p:sp>
      <p:sp>
        <p:nvSpPr>
          <p:cNvPr id="19" name="Speech Bubble: Rectangle 18">
            <a:extLst>
              <a:ext uri="{FF2B5EF4-FFF2-40B4-BE49-F238E27FC236}">
                <a16:creationId xmlns:a16="http://schemas.microsoft.com/office/drawing/2014/main" id="{BB8669B9-48F1-401D-2086-4B7925A3D254}"/>
              </a:ext>
            </a:extLst>
          </p:cNvPr>
          <p:cNvSpPr/>
          <p:nvPr/>
        </p:nvSpPr>
        <p:spPr>
          <a:xfrm>
            <a:off x="10696680" y="2865645"/>
            <a:ext cx="761890" cy="734290"/>
          </a:xfrm>
          <a:prstGeom prst="wedgeRectCallout">
            <a:avLst>
              <a:gd name="adj1" fmla="val -62979"/>
              <a:gd name="adj2" fmla="val -36054"/>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i="1">
                <a:solidFill>
                  <a:srgbClr val="000000"/>
                </a:solidFill>
                <a:ea typeface="Scotia Light" panose="020B0403020203020204" pitchFamily="34" charset="0"/>
                <a:cs typeface="Arabic Typesetting" panose="020F0502020204030204" pitchFamily="66" charset="-78"/>
              </a:rPr>
              <a:t>Est. 3Y Mkt growth: </a:t>
            </a:r>
          </a:p>
          <a:p>
            <a:pPr algn="ctr"/>
            <a:r>
              <a:rPr lang="en-US" sz="1001" i="1">
                <a:solidFill>
                  <a:srgbClr val="000000"/>
                </a:solidFill>
                <a:ea typeface="Scotia Light" panose="020B0403020203020204" pitchFamily="34" charset="0"/>
                <a:cs typeface="Arabic Typesetting" panose="020F0502020204030204" pitchFamily="66" charset="-78"/>
              </a:rPr>
              <a:t>+9.4%</a:t>
            </a:r>
            <a:endParaRPr lang="en-US" sz="1001" i="1" kern="0" baseline="30000">
              <a:solidFill>
                <a:srgbClr val="000000"/>
              </a:solidFill>
              <a:ea typeface="Scotia Light" panose="020B0403020203020204" pitchFamily="34" charset="0"/>
              <a:cs typeface="Arial" panose="020B0604020202020204" pitchFamily="34" charset="0"/>
              <a:sym typeface="Arial"/>
            </a:endParaRPr>
          </a:p>
        </p:txBody>
      </p:sp>
      <p:sp>
        <p:nvSpPr>
          <p:cNvPr id="2689" name="Rectangle 2688">
            <a:extLst>
              <a:ext uri="{FF2B5EF4-FFF2-40B4-BE49-F238E27FC236}">
                <a16:creationId xmlns:a16="http://schemas.microsoft.com/office/drawing/2014/main" id="{BEF17BC3-F087-2854-BBA9-7D86F2C1BBC2}"/>
              </a:ext>
            </a:extLst>
          </p:cNvPr>
          <p:cNvSpPr/>
          <p:nvPr/>
        </p:nvSpPr>
        <p:spPr>
          <a:xfrm>
            <a:off x="515938" y="5805462"/>
            <a:ext cx="11151140" cy="271104"/>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411">
              <a:defRPr/>
            </a:pPr>
            <a:r>
              <a:rPr lang="en-US" sz="1100" b="1">
                <a:solidFill>
                  <a:schemeClr val="bg1"/>
                </a:solidFill>
                <a:latin typeface="Scotia"/>
              </a:rPr>
              <a:t>Foundational enablers as growth culture, process improvement, digital end-to-end, and CRM, remain underdeveloped limiting SBM’s ability to unlock future uplift</a:t>
            </a:r>
          </a:p>
        </p:txBody>
      </p:sp>
      <p:sp>
        <p:nvSpPr>
          <p:cNvPr id="21" name="Rectangle 20">
            <a:extLst>
              <a:ext uri="{FF2B5EF4-FFF2-40B4-BE49-F238E27FC236}">
                <a16:creationId xmlns:a16="http://schemas.microsoft.com/office/drawing/2014/main" id="{2AFFA5C3-795E-47DA-98F3-DA747FA477B8}"/>
              </a:ext>
            </a:extLst>
          </p:cNvPr>
          <p:cNvSpPr/>
          <p:nvPr/>
        </p:nvSpPr>
        <p:spPr>
          <a:xfrm>
            <a:off x="6407718" y="3336660"/>
            <a:ext cx="446588" cy="1809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nchorCtr="0"/>
          <a:lstStyle/>
          <a:p>
            <a:pPr algn="l"/>
            <a:r>
              <a:rPr lang="en-US" sz="1001">
                <a:solidFill>
                  <a:schemeClr val="tx1"/>
                </a:solidFill>
              </a:rPr>
              <a:t>SME</a:t>
            </a:r>
          </a:p>
        </p:txBody>
      </p:sp>
      <p:sp>
        <p:nvSpPr>
          <p:cNvPr id="23" name="Rectangle 22">
            <a:extLst>
              <a:ext uri="{FF2B5EF4-FFF2-40B4-BE49-F238E27FC236}">
                <a16:creationId xmlns:a16="http://schemas.microsoft.com/office/drawing/2014/main" id="{A5E06B3D-B95F-027E-2B5D-0B343C3FA093}"/>
              </a:ext>
            </a:extLst>
          </p:cNvPr>
          <p:cNvSpPr/>
          <p:nvPr/>
        </p:nvSpPr>
        <p:spPr>
          <a:xfrm>
            <a:off x="6407718" y="3847767"/>
            <a:ext cx="446588" cy="1809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nchorCtr="0"/>
          <a:lstStyle/>
          <a:p>
            <a:pPr algn="l"/>
            <a:r>
              <a:rPr lang="en-US" sz="1001">
                <a:solidFill>
                  <a:schemeClr val="tx1"/>
                </a:solidFill>
              </a:rPr>
              <a:t>PB</a:t>
            </a:r>
          </a:p>
        </p:txBody>
      </p:sp>
    </p:spTree>
    <p:extLst>
      <p:ext uri="{BB962C8B-B14F-4D97-AF65-F5344CB8AC3E}">
        <p14:creationId xmlns:p14="http://schemas.microsoft.com/office/powerpoint/2010/main" val="65279807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94E48B-C068-E3BB-B774-64DD88053B02}"/>
            </a:ext>
          </a:extLst>
        </p:cNvPr>
        <p:cNvGrpSpPr/>
        <p:nvPr/>
      </p:nvGrpSpPr>
      <p:grpSpPr>
        <a:xfrm>
          <a:off x="0" y="0"/>
          <a:ext cx="0" cy="0"/>
          <a:chOff x="0" y="0"/>
          <a:chExt cx="0" cy="0"/>
        </a:xfrm>
      </p:grpSpPr>
      <p:graphicFrame>
        <p:nvGraphicFramePr>
          <p:cNvPr id="27" name="think-cell data - do not delete" hidden="1">
            <a:extLst>
              <a:ext uri="{FF2B5EF4-FFF2-40B4-BE49-F238E27FC236}">
                <a16:creationId xmlns:a16="http://schemas.microsoft.com/office/drawing/2014/main" id="{A3E3D9CD-4A8A-3908-F4BC-57528A72A68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1" imgW="404" imgH="405" progId="TCLayout.ActiveDocument.1">
                  <p:embed/>
                </p:oleObj>
              </mc:Choice>
              <mc:Fallback>
                <p:oleObj name="think-cell Slide" r:id="rId21" imgW="404" imgH="405" progId="TCLayout.ActiveDocument.1">
                  <p:embed/>
                  <p:pic>
                    <p:nvPicPr>
                      <p:cNvPr id="27" name="think-cell data - do not delete" hidden="1">
                        <a:extLst>
                          <a:ext uri="{FF2B5EF4-FFF2-40B4-BE49-F238E27FC236}">
                            <a16:creationId xmlns:a16="http://schemas.microsoft.com/office/drawing/2014/main" id="{A3E3D9CD-4A8A-3908-F4BC-57528A72A68D}"/>
                          </a:ext>
                        </a:extLst>
                      </p:cNvPr>
                      <p:cNvPicPr/>
                      <p:nvPr/>
                    </p:nvPicPr>
                    <p:blipFill>
                      <a:blip r:embed="rId22"/>
                      <a:stretch>
                        <a:fillRect/>
                      </a:stretch>
                    </p:blipFill>
                    <p:spPr>
                      <a:xfrm>
                        <a:off x="1588" y="1588"/>
                        <a:ext cx="1588" cy="1588"/>
                      </a:xfrm>
                      <a:prstGeom prst="rect">
                        <a:avLst/>
                      </a:prstGeom>
                    </p:spPr>
                  </p:pic>
                </p:oleObj>
              </mc:Fallback>
            </mc:AlternateContent>
          </a:graphicData>
        </a:graphic>
      </p:graphicFrame>
      <p:graphicFrame>
        <p:nvGraphicFramePr>
          <p:cNvPr id="244" name="Chart 243">
            <a:extLst>
              <a:ext uri="{FF2B5EF4-FFF2-40B4-BE49-F238E27FC236}">
                <a16:creationId xmlns:a16="http://schemas.microsoft.com/office/drawing/2014/main" id="{0CCB779E-AA7A-D0B1-8E54-64406EB28466}"/>
              </a:ext>
            </a:extLst>
          </p:cNvPr>
          <p:cNvGraphicFramePr/>
          <p:nvPr>
            <p:custDataLst>
              <p:tags r:id="rId2"/>
            </p:custDataLst>
          </p:nvPr>
        </p:nvGraphicFramePr>
        <p:xfrm>
          <a:off x="736600" y="3287713"/>
          <a:ext cx="3719513" cy="1301750"/>
        </p:xfrm>
        <a:graphic>
          <a:graphicData uri="http://schemas.openxmlformats.org/drawingml/2006/chart">
            <c:chart xmlns:c="http://schemas.openxmlformats.org/drawingml/2006/chart" xmlns:r="http://schemas.openxmlformats.org/officeDocument/2006/relationships" r:id="rId23"/>
          </a:graphicData>
        </a:graphic>
      </p:graphicFrame>
      <p:cxnSp>
        <p:nvCxnSpPr>
          <p:cNvPr id="40" name="Straight Connector 39">
            <a:extLst>
              <a:ext uri="{FF2B5EF4-FFF2-40B4-BE49-F238E27FC236}">
                <a16:creationId xmlns:a16="http://schemas.microsoft.com/office/drawing/2014/main" id="{F9AAC66C-B8AA-1A24-2A89-1E367C9EBEFA}"/>
              </a:ext>
            </a:extLst>
          </p:cNvPr>
          <p:cNvCxnSpPr/>
          <p:nvPr>
            <p:custDataLst>
              <p:tags r:id="rId3"/>
            </p:custDataLst>
          </p:nvPr>
        </p:nvCxnSpPr>
        <p:spPr bwMode="gray">
          <a:xfrm flipV="1">
            <a:off x="1263650" y="3001962"/>
            <a:ext cx="0" cy="382588"/>
          </a:xfrm>
          <a:prstGeom prst="line">
            <a:avLst/>
          </a:prstGeom>
          <a:ln w="12700" cap="flat" cmpd="sng" algn="ctr">
            <a:solidFill>
              <a:srgbClr val="BCB8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6BFA5C3A-DA56-CF30-5238-832791CAAD33}"/>
              </a:ext>
            </a:extLst>
          </p:cNvPr>
          <p:cNvCxnSpPr/>
          <p:nvPr>
            <p:custDataLst>
              <p:tags r:id="rId4"/>
            </p:custDataLst>
          </p:nvPr>
        </p:nvCxnSpPr>
        <p:spPr bwMode="gray">
          <a:xfrm>
            <a:off x="1263650" y="3001963"/>
            <a:ext cx="1738313" cy="0"/>
          </a:xfrm>
          <a:prstGeom prst="line">
            <a:avLst/>
          </a:prstGeom>
          <a:ln w="12700" cap="flat" cmpd="sng" algn="ctr">
            <a:solidFill>
              <a:srgbClr val="BCB8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881E8D7E-B359-1CA9-DD26-BF22E769FA24}"/>
              </a:ext>
            </a:extLst>
          </p:cNvPr>
          <p:cNvCxnSpPr/>
          <p:nvPr>
            <p:custDataLst>
              <p:tags r:id="rId5"/>
            </p:custDataLst>
          </p:nvPr>
        </p:nvCxnSpPr>
        <p:spPr bwMode="gray">
          <a:xfrm>
            <a:off x="3001963" y="3001963"/>
            <a:ext cx="0" cy="176213"/>
          </a:xfrm>
          <a:prstGeom prst="line">
            <a:avLst/>
          </a:prstGeom>
          <a:ln w="12700" cap="flat" cmpd="sng" algn="ctr">
            <a:solidFill>
              <a:srgbClr val="BCB8A4"/>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ED9F8051-10DC-3190-F796-E2E44A36E970}"/>
              </a:ext>
            </a:extLst>
          </p:cNvPr>
          <p:cNvCxnSpPr/>
          <p:nvPr>
            <p:custDataLst>
              <p:tags r:id="rId6"/>
            </p:custDataLst>
          </p:nvPr>
        </p:nvCxnSpPr>
        <p:spPr bwMode="gray">
          <a:xfrm flipV="1">
            <a:off x="3078163" y="2986088"/>
            <a:ext cx="0" cy="192088"/>
          </a:xfrm>
          <a:prstGeom prst="line">
            <a:avLst/>
          </a:prstGeom>
          <a:ln w="12700" cap="flat" cmpd="sng" algn="ctr">
            <a:solidFill>
              <a:srgbClr val="E1111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BCE9CB0E-37B1-3B76-EBD5-B5A617BC8AB9}"/>
              </a:ext>
            </a:extLst>
          </p:cNvPr>
          <p:cNvCxnSpPr/>
          <p:nvPr>
            <p:custDataLst>
              <p:tags r:id="rId7"/>
            </p:custDataLst>
          </p:nvPr>
        </p:nvCxnSpPr>
        <p:spPr bwMode="gray">
          <a:xfrm>
            <a:off x="3078163" y="2986088"/>
            <a:ext cx="850900" cy="0"/>
          </a:xfrm>
          <a:prstGeom prst="line">
            <a:avLst/>
          </a:prstGeom>
          <a:ln w="12700" cap="flat" cmpd="sng" algn="ctr">
            <a:solidFill>
              <a:srgbClr val="E1111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3F8527FA-1FAE-229D-B2F2-97F0D116C72F}"/>
              </a:ext>
            </a:extLst>
          </p:cNvPr>
          <p:cNvCxnSpPr/>
          <p:nvPr>
            <p:custDataLst>
              <p:tags r:id="rId8"/>
            </p:custDataLst>
          </p:nvPr>
        </p:nvCxnSpPr>
        <p:spPr bwMode="gray">
          <a:xfrm>
            <a:off x="3929063" y="2986088"/>
            <a:ext cx="0" cy="152400"/>
          </a:xfrm>
          <a:prstGeom prst="line">
            <a:avLst/>
          </a:prstGeom>
          <a:ln w="12700" cap="flat" cmpd="sng" algn="ctr">
            <a:solidFill>
              <a:srgbClr val="E1111A"/>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89" name="Text Placeholder 2">
            <a:extLst>
              <a:ext uri="{FF2B5EF4-FFF2-40B4-BE49-F238E27FC236}">
                <a16:creationId xmlns:a16="http://schemas.microsoft.com/office/drawing/2014/main" id="{E847F5D4-E384-108F-C34A-F4366498B93F}"/>
              </a:ext>
            </a:extLst>
          </p:cNvPr>
          <p:cNvSpPr>
            <a:spLocks/>
          </p:cNvSpPr>
          <p:nvPr>
            <p:custDataLst>
              <p:tags r:id="rId9"/>
            </p:custDataLst>
          </p:nvPr>
        </p:nvSpPr>
        <p:spPr bwMode="auto">
          <a:xfrm>
            <a:off x="1069975" y="4552950"/>
            <a:ext cx="387350" cy="3048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59BFB639-FDFE-4BFA-BB50-C0AA37EF9A3B}" type="datetime'''''''''''''''''F''''''''''''''2''''''''''''''''''''3'''">
              <a:rPr lang="en-US" altLang="en-US" sz="1100" b="1" smtClean="0">
                <a:solidFill>
                  <a:srgbClr val="000000"/>
                </a:solidFill>
              </a:rPr>
              <a:pPr marL="0" lvl="0" indent="0" algn="ctr">
                <a:spcBef>
                  <a:spcPct val="0"/>
                </a:spcBef>
                <a:spcAft>
                  <a:spcPct val="0"/>
                </a:spcAft>
                <a:buClr>
                  <a:srgbClr val="000000"/>
                </a:buClr>
                <a:buNone/>
                <a:defRPr/>
              </a:pPr>
              <a:t>F23</a:t>
            </a:fld>
            <a:endParaRPr lang="en-US" altLang="en-US" sz="1100" b="1">
              <a:solidFill>
                <a:srgbClr val="000000"/>
              </a:solidFill>
            </a:endParaRPr>
          </a:p>
          <a:p>
            <a:pPr marL="0" lvl="0" indent="0" algn="ctr">
              <a:spcBef>
                <a:spcPct val="0"/>
              </a:spcBef>
              <a:spcAft>
                <a:spcPct val="0"/>
              </a:spcAft>
              <a:buClr>
                <a:srgbClr val="000000"/>
              </a:buClr>
              <a:buNone/>
              <a:defRPr/>
            </a:pPr>
            <a:r>
              <a:rPr kumimoji="0" lang="en-US" sz="900" i="1" strike="noStrike" kern="1200" cap="none" spc="0" normalizeH="0" noProof="0">
                <a:ln>
                  <a:noFill/>
                </a:ln>
                <a:solidFill>
                  <a:schemeClr val="tx1">
                    <a:lumMod val="50000"/>
                    <a:lumOff val="50000"/>
                  </a:schemeClr>
                </a:solidFill>
                <a:effectLst/>
                <a:uLnTx/>
                <a:uFillTx/>
              </a:rPr>
              <a:t>Actuals</a:t>
            </a:r>
          </a:p>
        </p:txBody>
      </p:sp>
      <p:sp>
        <p:nvSpPr>
          <p:cNvPr id="190" name="Text Placeholder 2">
            <a:extLst>
              <a:ext uri="{FF2B5EF4-FFF2-40B4-BE49-F238E27FC236}">
                <a16:creationId xmlns:a16="http://schemas.microsoft.com/office/drawing/2014/main" id="{7F1D59C3-B18D-8046-33E1-AED4E377A458}"/>
              </a:ext>
            </a:extLst>
          </p:cNvPr>
          <p:cNvSpPr>
            <a:spLocks/>
          </p:cNvSpPr>
          <p:nvPr>
            <p:custDataLst>
              <p:tags r:id="rId10"/>
            </p:custDataLst>
          </p:nvPr>
        </p:nvSpPr>
        <p:spPr bwMode="auto">
          <a:xfrm>
            <a:off x="1958975" y="4552950"/>
            <a:ext cx="387350" cy="3048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82FF1277-BB4C-4682-820E-82FB8D7359ED}" type="datetime'''''''''''F''''''''''''''''''''''''''''''25'''''''''''''''''''">
              <a:rPr lang="en-US" altLang="en-US" sz="1100" b="1" smtClean="0">
                <a:solidFill>
                  <a:srgbClr val="000000"/>
                </a:solidFill>
              </a:rPr>
              <a:pPr marL="0" lvl="0" indent="0" algn="ctr">
                <a:spcBef>
                  <a:spcPct val="0"/>
                </a:spcBef>
                <a:spcAft>
                  <a:spcPct val="0"/>
                </a:spcAft>
                <a:buClr>
                  <a:srgbClr val="000000"/>
                </a:buClr>
                <a:buNone/>
                <a:defRPr/>
              </a:pPr>
              <a:t>F25</a:t>
            </a:fld>
            <a:endParaRPr lang="en-US" altLang="en-US" sz="1100" b="1">
              <a:solidFill>
                <a:srgbClr val="000000"/>
              </a:solidFill>
            </a:endParaRPr>
          </a:p>
          <a:p>
            <a:pPr marL="0" lvl="0" indent="0" algn="ctr">
              <a:spcBef>
                <a:spcPct val="0"/>
              </a:spcBef>
              <a:spcAft>
                <a:spcPct val="0"/>
              </a:spcAft>
              <a:buClr>
                <a:srgbClr val="000000"/>
              </a:buClr>
              <a:buNone/>
              <a:defRPr/>
            </a:pPr>
            <a:r>
              <a:rPr kumimoji="0" lang="en-US" sz="900" i="1" strike="noStrike" kern="1200" cap="none" spc="0" normalizeH="0" baseline="0" noProof="0">
                <a:ln>
                  <a:noFill/>
                </a:ln>
                <a:solidFill>
                  <a:schemeClr val="tx1">
                    <a:lumMod val="50000"/>
                    <a:lumOff val="50000"/>
                  </a:schemeClr>
                </a:solidFill>
                <a:effectLst/>
                <a:uLnTx/>
                <a:uFillTx/>
              </a:rPr>
              <a:t>Actuals</a:t>
            </a:r>
          </a:p>
        </p:txBody>
      </p:sp>
      <p:sp>
        <p:nvSpPr>
          <p:cNvPr id="191" name="Text Placeholder 2">
            <a:extLst>
              <a:ext uri="{FF2B5EF4-FFF2-40B4-BE49-F238E27FC236}">
                <a16:creationId xmlns:a16="http://schemas.microsoft.com/office/drawing/2014/main" id="{893D50C2-D0BE-D0CE-082A-EDEB9A9E56DF}"/>
              </a:ext>
            </a:extLst>
          </p:cNvPr>
          <p:cNvSpPr>
            <a:spLocks/>
          </p:cNvSpPr>
          <p:nvPr>
            <p:custDataLst>
              <p:tags r:id="rId11"/>
            </p:custDataLst>
          </p:nvPr>
        </p:nvSpPr>
        <p:spPr bwMode="auto">
          <a:xfrm>
            <a:off x="2817813" y="4552950"/>
            <a:ext cx="444500" cy="3048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76B8335B-41ED-4EB5-9493-59B53817B845}" type="datetime'''''''F''''2''''''''''''''''''6'''''''''''''''''''''''''">
              <a:rPr lang="en-US" altLang="en-US" sz="1100" b="1" smtClean="0">
                <a:solidFill>
                  <a:srgbClr val="000000"/>
                </a:solidFill>
              </a:rPr>
              <a:pPr marL="0" lvl="0" indent="0" algn="ctr">
                <a:spcBef>
                  <a:spcPct val="0"/>
                </a:spcBef>
                <a:spcAft>
                  <a:spcPct val="0"/>
                </a:spcAft>
                <a:buClr>
                  <a:srgbClr val="000000"/>
                </a:buClr>
                <a:buNone/>
                <a:defRPr/>
              </a:pPr>
              <a:t>F26</a:t>
            </a:fld>
            <a:endParaRPr lang="en-US" altLang="en-US" sz="1100" b="1" baseline="30000">
              <a:solidFill>
                <a:srgbClr val="000000"/>
              </a:solidFill>
            </a:endParaRPr>
          </a:p>
          <a:p>
            <a:pPr marL="0" lvl="0" indent="0" algn="ctr">
              <a:spcBef>
                <a:spcPct val="0"/>
              </a:spcBef>
              <a:spcAft>
                <a:spcPct val="0"/>
              </a:spcAft>
              <a:buClr>
                <a:srgbClr val="000000"/>
              </a:buClr>
              <a:buNone/>
              <a:defRPr/>
            </a:pPr>
            <a:r>
              <a:rPr kumimoji="0" lang="en-US" sz="900" i="1" strike="noStrike" kern="1200" cap="none" spc="0" normalizeH="0" baseline="0" noProof="0">
                <a:ln>
                  <a:noFill/>
                </a:ln>
                <a:solidFill>
                  <a:schemeClr val="tx1">
                    <a:lumMod val="50000"/>
                    <a:lumOff val="50000"/>
                  </a:schemeClr>
                </a:solidFill>
                <a:effectLst/>
                <a:uLnTx/>
                <a:uFillTx/>
              </a:rPr>
              <a:t>Forecast</a:t>
            </a:r>
          </a:p>
        </p:txBody>
      </p:sp>
      <p:sp>
        <p:nvSpPr>
          <p:cNvPr id="192" name="Text Placeholder 2">
            <a:extLst>
              <a:ext uri="{FF2B5EF4-FFF2-40B4-BE49-F238E27FC236}">
                <a16:creationId xmlns:a16="http://schemas.microsoft.com/office/drawing/2014/main" id="{80CDA6F3-50F2-7EF3-0F90-202108DAA2BC}"/>
              </a:ext>
            </a:extLst>
          </p:cNvPr>
          <p:cNvSpPr>
            <a:spLocks/>
          </p:cNvSpPr>
          <p:nvPr>
            <p:custDataLst>
              <p:tags r:id="rId12"/>
            </p:custDataLst>
          </p:nvPr>
        </p:nvSpPr>
        <p:spPr bwMode="auto">
          <a:xfrm>
            <a:off x="3806825" y="4552950"/>
            <a:ext cx="244475" cy="3048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A03F8772-8543-48FA-9991-1BB31CEEC8DA}" type="datetime'F''2''''''''''''''''''''''8'''''''''''''''''''''''''">
              <a:rPr lang="en-US" altLang="en-US" sz="1100" b="1" smtClean="0">
                <a:solidFill>
                  <a:srgbClr val="000000"/>
                </a:solidFill>
              </a:rPr>
              <a:pPr marL="0" lvl="0" indent="0" algn="ctr">
                <a:spcBef>
                  <a:spcPct val="0"/>
                </a:spcBef>
                <a:spcAft>
                  <a:spcPct val="0"/>
                </a:spcAft>
                <a:buClr>
                  <a:srgbClr val="000000"/>
                </a:buClr>
                <a:buNone/>
                <a:defRPr/>
              </a:pPr>
              <a:t>F28</a:t>
            </a:fld>
            <a:endParaRPr lang="en-US" altLang="en-US" sz="1100" b="1" baseline="30000">
              <a:solidFill>
                <a:srgbClr val="000000"/>
              </a:solidFill>
            </a:endParaRPr>
          </a:p>
          <a:p>
            <a:pPr marL="0" lvl="0" indent="0" algn="ctr">
              <a:spcBef>
                <a:spcPct val="0"/>
              </a:spcBef>
              <a:spcAft>
                <a:spcPct val="0"/>
              </a:spcAft>
              <a:buClr>
                <a:srgbClr val="000000"/>
              </a:buClr>
              <a:buNone/>
              <a:defRPr/>
            </a:pPr>
            <a:r>
              <a:rPr kumimoji="0" lang="en-US" sz="900" i="1" strike="noStrike" kern="1200" cap="none" spc="0" normalizeH="0" baseline="0" noProof="0">
                <a:ln>
                  <a:noFill/>
                </a:ln>
                <a:solidFill>
                  <a:schemeClr val="tx1">
                    <a:lumMod val="50000"/>
                    <a:lumOff val="50000"/>
                  </a:schemeClr>
                </a:solidFill>
                <a:effectLst/>
                <a:uLnTx/>
                <a:uFillTx/>
              </a:rPr>
              <a:t>Plan</a:t>
            </a:r>
          </a:p>
        </p:txBody>
      </p:sp>
      <p:sp>
        <p:nvSpPr>
          <p:cNvPr id="271" name="Text Placeholder 2">
            <a:extLst>
              <a:ext uri="{FF2B5EF4-FFF2-40B4-BE49-F238E27FC236}">
                <a16:creationId xmlns:a16="http://schemas.microsoft.com/office/drawing/2014/main" id="{5B48C9C6-2954-08BF-349B-CE61A71C26F2}"/>
              </a:ext>
            </a:extLst>
          </p:cNvPr>
          <p:cNvSpPr>
            <a:spLocks/>
          </p:cNvSpPr>
          <p:nvPr>
            <p:custDataLst>
              <p:tags r:id="rId13"/>
            </p:custDataLst>
          </p:nvPr>
        </p:nvSpPr>
        <p:spPr bwMode="gray">
          <a:xfrm>
            <a:off x="1106488" y="3422650"/>
            <a:ext cx="3143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271C3C8D-6808-42C3-AEDB-A41E0E13B3D8}" type="datetime'$''''''''''''''''''''''''''''4''''''''''''.''''''7'">
              <a:rPr lang="en-US" altLang="en-US" sz="1100" smtClean="0">
                <a:solidFill>
                  <a:srgbClr val="000000"/>
                </a:solidFill>
              </a:rPr>
              <a:pPr marL="0" lvl="0" indent="0" algn="ctr">
                <a:spcBef>
                  <a:spcPct val="0"/>
                </a:spcBef>
                <a:spcAft>
                  <a:spcPct val="0"/>
                </a:spcAft>
                <a:buClr>
                  <a:srgbClr val="000000"/>
                </a:buClr>
                <a:buNone/>
                <a:defRPr/>
              </a:pPr>
              <a:t>$4.7</a:t>
            </a:fld>
            <a:endParaRPr kumimoji="0" lang="en-US" sz="1100" b="0" i="0" strike="noStrike" kern="1200" cap="none" spc="0" normalizeH="0" baseline="0" noProof="0">
              <a:ln>
                <a:noFill/>
              </a:ln>
              <a:solidFill>
                <a:srgbClr val="000000"/>
              </a:solidFill>
              <a:effectLst/>
              <a:uLnTx/>
              <a:uFillTx/>
            </a:endParaRPr>
          </a:p>
        </p:txBody>
      </p:sp>
      <p:sp>
        <p:nvSpPr>
          <p:cNvPr id="194" name="Text Placeholder 2">
            <a:extLst>
              <a:ext uri="{FF2B5EF4-FFF2-40B4-BE49-F238E27FC236}">
                <a16:creationId xmlns:a16="http://schemas.microsoft.com/office/drawing/2014/main" id="{01F7FEB9-20E3-6D65-8BC2-734757AC51FA}"/>
              </a:ext>
            </a:extLst>
          </p:cNvPr>
          <p:cNvSpPr>
            <a:spLocks/>
          </p:cNvSpPr>
          <p:nvPr>
            <p:custDataLst>
              <p:tags r:id="rId14"/>
            </p:custDataLst>
          </p:nvPr>
        </p:nvSpPr>
        <p:spPr bwMode="gray">
          <a:xfrm>
            <a:off x="1998663" y="3316288"/>
            <a:ext cx="3079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CC180C09-6CC3-4567-973E-9703B7C26630}" type="datetime'''''''''''''''''''''''$''''''''''''''''''''''5.''''''3'">
              <a:rPr lang="en-US" altLang="en-US" sz="1100" smtClean="0">
                <a:solidFill>
                  <a:srgbClr val="000000"/>
                </a:solidFill>
              </a:rPr>
              <a:pPr marL="0" lvl="0" indent="0" algn="ctr">
                <a:spcBef>
                  <a:spcPct val="0"/>
                </a:spcBef>
                <a:spcAft>
                  <a:spcPct val="0"/>
                </a:spcAft>
                <a:buClr>
                  <a:srgbClr val="000000"/>
                </a:buClr>
                <a:buNone/>
                <a:defRPr/>
              </a:pPr>
              <a:t>$5.3</a:t>
            </a:fld>
            <a:endParaRPr kumimoji="0" lang="en-US" sz="1100" b="0" i="0" strike="noStrike" kern="1200" cap="none" spc="0" normalizeH="0" baseline="0" noProof="0">
              <a:ln>
                <a:noFill/>
              </a:ln>
              <a:solidFill>
                <a:srgbClr val="000000"/>
              </a:solidFill>
              <a:effectLst/>
              <a:uLnTx/>
              <a:uFillTx/>
            </a:endParaRPr>
          </a:p>
        </p:txBody>
      </p:sp>
      <p:sp>
        <p:nvSpPr>
          <p:cNvPr id="195" name="Text Placeholder 2">
            <a:extLst>
              <a:ext uri="{FF2B5EF4-FFF2-40B4-BE49-F238E27FC236}">
                <a16:creationId xmlns:a16="http://schemas.microsoft.com/office/drawing/2014/main" id="{FB187A70-0F3B-913C-C9AA-50DA473DDE57}"/>
              </a:ext>
            </a:extLst>
          </p:cNvPr>
          <p:cNvSpPr>
            <a:spLocks/>
          </p:cNvSpPr>
          <p:nvPr>
            <p:custDataLst>
              <p:tags r:id="rId15"/>
            </p:custDataLst>
          </p:nvPr>
        </p:nvSpPr>
        <p:spPr bwMode="gray">
          <a:xfrm>
            <a:off x="2882900" y="3216275"/>
            <a:ext cx="3143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7D0547F2-7566-4DB0-B52A-23A131B8CF25}" type="datetime'''''''''''''''$5''''''''''''''''''''''''''''''''.''''8'''''">
              <a:rPr lang="en-US" altLang="en-US" sz="1100" smtClean="0">
                <a:solidFill>
                  <a:srgbClr val="000000"/>
                </a:solidFill>
              </a:rPr>
              <a:pPr marL="0" lvl="0" indent="0" algn="ctr">
                <a:spcBef>
                  <a:spcPct val="0"/>
                </a:spcBef>
                <a:spcAft>
                  <a:spcPct val="0"/>
                </a:spcAft>
                <a:buClr>
                  <a:srgbClr val="000000"/>
                </a:buClr>
                <a:buNone/>
                <a:defRPr/>
              </a:pPr>
              <a:t>$5.8</a:t>
            </a:fld>
            <a:endParaRPr kumimoji="0" lang="en-US" sz="1100" b="0" i="0" strike="noStrike" kern="1200" cap="none" spc="0" normalizeH="0" baseline="0" noProof="0">
              <a:ln>
                <a:noFill/>
              </a:ln>
              <a:solidFill>
                <a:srgbClr val="000000"/>
              </a:solidFill>
              <a:effectLst/>
              <a:uLnTx/>
              <a:uFillTx/>
            </a:endParaRPr>
          </a:p>
        </p:txBody>
      </p:sp>
      <p:sp>
        <p:nvSpPr>
          <p:cNvPr id="196" name="Text Placeholder 2">
            <a:extLst>
              <a:ext uri="{FF2B5EF4-FFF2-40B4-BE49-F238E27FC236}">
                <a16:creationId xmlns:a16="http://schemas.microsoft.com/office/drawing/2014/main" id="{1FAA54E1-4FD9-C978-9F5C-62613EC3D48A}"/>
              </a:ext>
            </a:extLst>
          </p:cNvPr>
          <p:cNvSpPr>
            <a:spLocks/>
          </p:cNvSpPr>
          <p:nvPr>
            <p:custDataLst>
              <p:tags r:id="rId16"/>
            </p:custDataLst>
          </p:nvPr>
        </p:nvSpPr>
        <p:spPr bwMode="gray">
          <a:xfrm>
            <a:off x="3779838" y="3176588"/>
            <a:ext cx="2984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fld id="{8B276883-333A-478F-9413-1B097DD5CE5C}" type="datetime'''''''''$''''''''''''6''.''1'''">
              <a:rPr lang="en-US" altLang="en-US" sz="1100" smtClean="0">
                <a:solidFill>
                  <a:srgbClr val="000000"/>
                </a:solidFill>
              </a:rPr>
              <a:pPr marL="0" lvl="0" indent="0" algn="ctr">
                <a:spcBef>
                  <a:spcPct val="0"/>
                </a:spcBef>
                <a:spcAft>
                  <a:spcPct val="0"/>
                </a:spcAft>
                <a:buClr>
                  <a:srgbClr val="000000"/>
                </a:buClr>
                <a:buNone/>
                <a:defRPr/>
              </a:pPr>
              <a:t>$6.1</a:t>
            </a:fld>
            <a:endParaRPr kumimoji="0" lang="en-US" sz="1100" b="0" i="0" strike="noStrike" kern="1200" cap="none" spc="0" normalizeH="0" baseline="0" noProof="0">
              <a:ln>
                <a:noFill/>
              </a:ln>
              <a:solidFill>
                <a:srgbClr val="000000"/>
              </a:solidFill>
              <a:effectLst/>
              <a:uLnTx/>
              <a:uFillTx/>
            </a:endParaRPr>
          </a:p>
        </p:txBody>
      </p:sp>
      <p:sp>
        <p:nvSpPr>
          <p:cNvPr id="38" name="Text Placeholder 2">
            <a:extLst>
              <a:ext uri="{FF2B5EF4-FFF2-40B4-BE49-F238E27FC236}">
                <a16:creationId xmlns:a16="http://schemas.microsoft.com/office/drawing/2014/main" id="{65EAD294-52EE-F13D-472C-B9C8C8CBAC56}"/>
              </a:ext>
            </a:extLst>
          </p:cNvPr>
          <p:cNvSpPr>
            <a:spLocks/>
          </p:cNvSpPr>
          <p:nvPr>
            <p:custDataLst>
              <p:tags r:id="rId17"/>
            </p:custDataLst>
          </p:nvPr>
        </p:nvSpPr>
        <p:spPr bwMode="auto">
          <a:xfrm>
            <a:off x="1846263" y="2763837"/>
            <a:ext cx="571500" cy="476250"/>
          </a:xfrm>
          <a:prstGeom prst="ellipse">
            <a:avLst/>
          </a:prstGeom>
          <a:solidFill>
            <a:schemeClr val="bg1"/>
          </a:solidFill>
          <a:ln w="9525" cmpd="sng" algn="ctr">
            <a:solidFill>
              <a:srgbClr val="BCB8A4"/>
            </a:solidFill>
          </a:ln>
          <a:effec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100" b="1">
                <a:solidFill>
                  <a:srgbClr val="000000"/>
                </a:solidFill>
                <a:effectLst/>
              </a:rPr>
              <a:t>CAGR </a:t>
            </a:r>
          </a:p>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100" b="1">
                <a:solidFill>
                  <a:srgbClr val="000000"/>
                </a:solidFill>
                <a:effectLst/>
              </a:rPr>
              <a:t>+8%</a:t>
            </a:r>
            <a:endParaRPr kumimoji="0" lang="en-US" sz="1100" b="1" i="0" strike="noStrike" kern="1200" cap="none" spc="0" normalizeH="0" baseline="0" noProof="0">
              <a:ln>
                <a:noFill/>
              </a:ln>
              <a:solidFill>
                <a:srgbClr val="000000"/>
              </a:solidFill>
              <a:effectLst/>
              <a:uLnTx/>
              <a:uFillTx/>
              <a:ea typeface="+mn-ea"/>
              <a:cs typeface="+mn-cs"/>
            </a:endParaRPr>
          </a:p>
        </p:txBody>
      </p:sp>
      <p:sp>
        <p:nvSpPr>
          <p:cNvPr id="51" name="Text Placeholder 2">
            <a:extLst>
              <a:ext uri="{FF2B5EF4-FFF2-40B4-BE49-F238E27FC236}">
                <a16:creationId xmlns:a16="http://schemas.microsoft.com/office/drawing/2014/main" id="{19B2D241-370C-AC77-05A0-43A1F6DD6D2B}"/>
              </a:ext>
            </a:extLst>
          </p:cNvPr>
          <p:cNvSpPr>
            <a:spLocks/>
          </p:cNvSpPr>
          <p:nvPr>
            <p:custDataLst>
              <p:tags r:id="rId18"/>
            </p:custDataLst>
          </p:nvPr>
        </p:nvSpPr>
        <p:spPr bwMode="auto">
          <a:xfrm>
            <a:off x="3238500" y="2747962"/>
            <a:ext cx="530225" cy="476250"/>
          </a:xfrm>
          <a:prstGeom prst="ellipse">
            <a:avLst/>
          </a:prstGeom>
          <a:solidFill>
            <a:schemeClr val="bg1"/>
          </a:solidFill>
          <a:ln w="9525" cmpd="sng" algn="ctr">
            <a:solidFill>
              <a:srgbClr val="E1111A"/>
            </a:solidFill>
          </a:ln>
          <a:effec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100" b="1">
                <a:solidFill>
                  <a:srgbClr val="000000"/>
                </a:solidFill>
                <a:effectLst/>
              </a:rPr>
              <a:t>CAGR</a:t>
            </a:r>
          </a:p>
          <a:p>
            <a:pPr marL="0" marR="0" lvl="0" indent="0" algn="ctr" defTabSz="914411" eaLnBrk="1" fontAlgn="auto" latinLnBrk="0" hangingPunct="1">
              <a:lnSpc>
                <a:spcPct val="100000"/>
              </a:lnSpc>
              <a:spcBef>
                <a:spcPct val="0"/>
              </a:spcBef>
              <a:spcAft>
                <a:spcPct val="0"/>
              </a:spcAft>
              <a:buClr>
                <a:srgbClr val="000000"/>
              </a:buClr>
              <a:buSzTx/>
              <a:buNone/>
              <a:tabLst/>
              <a:defRPr/>
            </a:pPr>
            <a:r>
              <a:rPr lang="en-US" altLang="en-US" sz="1100" b="1">
                <a:solidFill>
                  <a:srgbClr val="000000"/>
                </a:solidFill>
                <a:effectLst/>
              </a:rPr>
              <a:t> +6%</a:t>
            </a:r>
            <a:endParaRPr kumimoji="0" lang="en-US" sz="1100" b="1" i="0" strike="noStrike" kern="1200" cap="none" spc="0" normalizeH="0" baseline="0" noProof="0">
              <a:ln>
                <a:noFill/>
              </a:ln>
              <a:solidFill>
                <a:srgbClr val="000000"/>
              </a:solidFill>
              <a:effectLst/>
              <a:uLnTx/>
              <a:uFillTx/>
              <a:ea typeface="+mn-ea"/>
              <a:cs typeface="+mn-cs"/>
            </a:endParaRPr>
          </a:p>
        </p:txBody>
      </p:sp>
      <p:sp>
        <p:nvSpPr>
          <p:cNvPr id="2" name="Title 1">
            <a:extLst>
              <a:ext uri="{FF2B5EF4-FFF2-40B4-BE49-F238E27FC236}">
                <a16:creationId xmlns:a16="http://schemas.microsoft.com/office/drawing/2014/main" id="{40AFFE90-33CE-D192-357F-5AACA238D99C}"/>
              </a:ext>
            </a:extLst>
          </p:cNvPr>
          <p:cNvSpPr>
            <a:spLocks noGrp="1"/>
          </p:cNvSpPr>
          <p:nvPr>
            <p:ph type="title"/>
          </p:nvPr>
        </p:nvSpPr>
        <p:spPr/>
        <p:txBody>
          <a:bodyPr vert="horz" anchor="t"/>
          <a:lstStyle/>
          <a:p>
            <a:r>
              <a:rPr lang="en-US">
                <a:latin typeface="Scotia Headline" panose="020B0703020203020204" pitchFamily="34" charset="0"/>
                <a:ea typeface="Scotia Headline" panose="020B0703020203020204" pitchFamily="34" charset="0"/>
              </a:rPr>
              <a:t>As we reach the midpoint of our 5-year Investor Day journey, revenue momentum is tracking positively, with opportunity to accelerate across strategic metrics</a:t>
            </a:r>
          </a:p>
        </p:txBody>
      </p:sp>
      <p:sp>
        <p:nvSpPr>
          <p:cNvPr id="266" name="Text Placeholder 265">
            <a:extLst>
              <a:ext uri="{FF2B5EF4-FFF2-40B4-BE49-F238E27FC236}">
                <a16:creationId xmlns:a16="http://schemas.microsoft.com/office/drawing/2014/main" id="{F74ED252-DCAC-08EF-C8DC-7AA82CC474CB}"/>
              </a:ext>
            </a:extLst>
          </p:cNvPr>
          <p:cNvSpPr>
            <a:spLocks noGrp="1"/>
          </p:cNvSpPr>
          <p:nvPr>
            <p:ph type="body" sz="quarter" idx="11"/>
          </p:nvPr>
        </p:nvSpPr>
        <p:spPr/>
        <p:txBody>
          <a:bodyPr anchor="ctr"/>
          <a:lstStyle/>
          <a:p>
            <a:r>
              <a:rPr lang="en-US"/>
              <a:t>1. Source: IB Finance, F26 as of M4 Forecast, F28 as of Latest 5Y Plan, Investor Day targets as per original plan; 2. F28 Primary Clients growth impacted by divestitures; 3. Calculated with Revenues at Constant FX</a:t>
            </a:r>
          </a:p>
        </p:txBody>
      </p:sp>
      <p:sp>
        <p:nvSpPr>
          <p:cNvPr id="41" name="Text Placeholder 40">
            <a:extLst>
              <a:ext uri="{FF2B5EF4-FFF2-40B4-BE49-F238E27FC236}">
                <a16:creationId xmlns:a16="http://schemas.microsoft.com/office/drawing/2014/main" id="{BFB31B42-2853-3779-C390-7720001F313A}"/>
              </a:ext>
            </a:extLst>
          </p:cNvPr>
          <p:cNvSpPr>
            <a:spLocks noGrp="1"/>
          </p:cNvSpPr>
          <p:nvPr>
            <p:ph type="body" sz="quarter" idx="14"/>
          </p:nvPr>
        </p:nvSpPr>
        <p:spPr/>
        <p:txBody>
          <a:bodyPr anchor="t">
            <a:noAutofit/>
          </a:bodyPr>
          <a:lstStyle/>
          <a:p>
            <a:r>
              <a:rPr lang="en-US" b="1"/>
              <a:t>RETAIL CURRENT OUTLOOK AND I-DAY TARGETS, $B</a:t>
            </a:r>
            <a:r>
              <a:rPr lang="en-US" b="1" baseline="30000"/>
              <a:t>1</a:t>
            </a:r>
          </a:p>
          <a:p>
            <a:r>
              <a:rPr lang="en-US" spc="0"/>
              <a:t>Exclude Divestitures, figures at Reported FX, variances at Constant FX</a:t>
            </a:r>
          </a:p>
        </p:txBody>
      </p:sp>
      <p:sp>
        <p:nvSpPr>
          <p:cNvPr id="43" name="Text Placeholder 40">
            <a:extLst>
              <a:ext uri="{FF2B5EF4-FFF2-40B4-BE49-F238E27FC236}">
                <a16:creationId xmlns:a16="http://schemas.microsoft.com/office/drawing/2014/main" id="{A5CA600D-A7BF-BF55-F4DE-15762ABAF6E0}"/>
              </a:ext>
            </a:extLst>
          </p:cNvPr>
          <p:cNvSpPr txBox="1">
            <a:spLocks/>
          </p:cNvSpPr>
          <p:nvPr/>
        </p:nvSpPr>
        <p:spPr>
          <a:xfrm>
            <a:off x="6276062" y="1672753"/>
            <a:ext cx="5400000" cy="180000"/>
          </a:xfrm>
          <a:prstGeom prst="rect">
            <a:avLst/>
          </a:prstGeom>
        </p:spPr>
        <p:txBody>
          <a:bodyPr vert="horz" wrap="none" lIns="0" tIns="0" rIns="0" bIns="0" rtlCol="0" anchor="t">
            <a:no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US" b="1"/>
              <a:t>KEY FINANCIAL AND STRATEGIC TARGETS</a:t>
            </a:r>
          </a:p>
        </p:txBody>
      </p:sp>
      <p:sp>
        <p:nvSpPr>
          <p:cNvPr id="183" name="Rectangle 182">
            <a:extLst>
              <a:ext uri="{FF2B5EF4-FFF2-40B4-BE49-F238E27FC236}">
                <a16:creationId xmlns:a16="http://schemas.microsoft.com/office/drawing/2014/main" id="{EA65E71B-AF6B-0B5B-12AA-787C93A3ADE3}"/>
              </a:ext>
            </a:extLst>
          </p:cNvPr>
          <p:cNvSpPr/>
          <p:nvPr/>
        </p:nvSpPr>
        <p:spPr>
          <a:xfrm>
            <a:off x="515938" y="2459038"/>
            <a:ext cx="222397" cy="24606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algn="ctr">
              <a:spcBef>
                <a:spcPts val="600"/>
              </a:spcBef>
            </a:pPr>
            <a:r>
              <a:rPr lang="en-US" sz="1000" b="1" spc="200">
                <a:solidFill>
                  <a:schemeClr val="tx1"/>
                </a:solidFill>
              </a:rPr>
              <a:t>REVENUES</a:t>
            </a:r>
          </a:p>
        </p:txBody>
      </p:sp>
      <p:sp>
        <p:nvSpPr>
          <p:cNvPr id="291" name="Rectangle 290">
            <a:extLst>
              <a:ext uri="{FF2B5EF4-FFF2-40B4-BE49-F238E27FC236}">
                <a16:creationId xmlns:a16="http://schemas.microsoft.com/office/drawing/2014/main" id="{F5B21233-D74D-5F25-634F-84768EC37E6A}"/>
              </a:ext>
            </a:extLst>
          </p:cNvPr>
          <p:cNvSpPr/>
          <p:nvPr/>
        </p:nvSpPr>
        <p:spPr>
          <a:xfrm>
            <a:off x="8209609" y="1974954"/>
            <a:ext cx="756815" cy="235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b="1">
                <a:solidFill>
                  <a:schemeClr val="tx1"/>
                </a:solidFill>
              </a:rPr>
              <a:t>F25 Actuals</a:t>
            </a:r>
          </a:p>
        </p:txBody>
      </p:sp>
      <p:sp>
        <p:nvSpPr>
          <p:cNvPr id="16" name="Rectangle 15">
            <a:extLst>
              <a:ext uri="{FF2B5EF4-FFF2-40B4-BE49-F238E27FC236}">
                <a16:creationId xmlns:a16="http://schemas.microsoft.com/office/drawing/2014/main" id="{41E9B205-B571-A595-7B13-D3DCD1BF36B3}"/>
              </a:ext>
            </a:extLst>
          </p:cNvPr>
          <p:cNvSpPr/>
          <p:nvPr/>
        </p:nvSpPr>
        <p:spPr>
          <a:xfrm>
            <a:off x="9147740" y="1974954"/>
            <a:ext cx="1007322" cy="235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b="1">
                <a:solidFill>
                  <a:schemeClr val="tx1"/>
                </a:solidFill>
              </a:rPr>
              <a:t>F28 Plan </a:t>
            </a:r>
          </a:p>
        </p:txBody>
      </p:sp>
      <p:sp>
        <p:nvSpPr>
          <p:cNvPr id="29" name="Rectangle 28">
            <a:extLst>
              <a:ext uri="{FF2B5EF4-FFF2-40B4-BE49-F238E27FC236}">
                <a16:creationId xmlns:a16="http://schemas.microsoft.com/office/drawing/2014/main" id="{B5511EE5-A0FE-F3D8-259D-054ADE3346B7}"/>
              </a:ext>
            </a:extLst>
          </p:cNvPr>
          <p:cNvSpPr/>
          <p:nvPr/>
        </p:nvSpPr>
        <p:spPr>
          <a:xfrm>
            <a:off x="10160760" y="1974954"/>
            <a:ext cx="1108054" cy="235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b="1">
                <a:solidFill>
                  <a:schemeClr val="tx1"/>
                </a:solidFill>
              </a:rPr>
              <a:t>F28 I-Day Target</a:t>
            </a:r>
          </a:p>
        </p:txBody>
      </p:sp>
      <p:grpSp>
        <p:nvGrpSpPr>
          <p:cNvPr id="246" name="Group 245">
            <a:extLst>
              <a:ext uri="{FF2B5EF4-FFF2-40B4-BE49-F238E27FC236}">
                <a16:creationId xmlns:a16="http://schemas.microsoft.com/office/drawing/2014/main" id="{D2DFFF75-C72A-4A63-039F-CB07F446DFC1}"/>
              </a:ext>
            </a:extLst>
          </p:cNvPr>
          <p:cNvGrpSpPr/>
          <p:nvPr/>
        </p:nvGrpSpPr>
        <p:grpSpPr>
          <a:xfrm>
            <a:off x="515938" y="5045444"/>
            <a:ext cx="3714736" cy="787400"/>
            <a:chOff x="515938" y="5045444"/>
            <a:chExt cx="3714736" cy="787400"/>
          </a:xfrm>
        </p:grpSpPr>
        <p:sp>
          <p:nvSpPr>
            <p:cNvPr id="184" name="Rectangle 183">
              <a:extLst>
                <a:ext uri="{FF2B5EF4-FFF2-40B4-BE49-F238E27FC236}">
                  <a16:creationId xmlns:a16="http://schemas.microsoft.com/office/drawing/2014/main" id="{3CDA4EE4-DC57-870E-7EF4-AB9BDCDD68C5}"/>
                </a:ext>
              </a:extLst>
            </p:cNvPr>
            <p:cNvSpPr/>
            <p:nvPr/>
          </p:nvSpPr>
          <p:spPr>
            <a:xfrm>
              <a:off x="515938" y="5045444"/>
              <a:ext cx="222397" cy="78740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algn="ctr">
                <a:spcBef>
                  <a:spcPts val="600"/>
                </a:spcBef>
              </a:pPr>
              <a:r>
                <a:rPr lang="en-US" sz="1000" b="1" spc="200">
                  <a:solidFill>
                    <a:schemeClr val="tx1"/>
                  </a:solidFill>
                </a:rPr>
                <a:t>EXP.</a:t>
              </a:r>
            </a:p>
          </p:txBody>
        </p:sp>
        <p:sp>
          <p:nvSpPr>
            <p:cNvPr id="234" name="Rectangle 233">
              <a:extLst>
                <a:ext uri="{FF2B5EF4-FFF2-40B4-BE49-F238E27FC236}">
                  <a16:creationId xmlns:a16="http://schemas.microsoft.com/office/drawing/2014/main" id="{E0F1BE71-D0C4-D6F7-9164-81E531FCE2AA}"/>
                </a:ext>
              </a:extLst>
            </p:cNvPr>
            <p:cNvSpPr/>
            <p:nvPr/>
          </p:nvSpPr>
          <p:spPr>
            <a:xfrm>
              <a:off x="962037" y="5246335"/>
              <a:ext cx="603225" cy="385618"/>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a:solidFill>
                    <a:schemeClr val="tx1"/>
                  </a:solidFill>
                </a:rPr>
                <a:t>$2.9</a:t>
              </a:r>
            </a:p>
          </p:txBody>
        </p:sp>
        <p:sp>
          <p:nvSpPr>
            <p:cNvPr id="235" name="Rectangle 234">
              <a:extLst>
                <a:ext uri="{FF2B5EF4-FFF2-40B4-BE49-F238E27FC236}">
                  <a16:creationId xmlns:a16="http://schemas.microsoft.com/office/drawing/2014/main" id="{35190CF8-3372-FB24-9395-8540B704D187}"/>
                </a:ext>
              </a:extLst>
            </p:cNvPr>
            <p:cNvSpPr/>
            <p:nvPr/>
          </p:nvSpPr>
          <p:spPr>
            <a:xfrm>
              <a:off x="1850508" y="5246335"/>
              <a:ext cx="603225" cy="385618"/>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a:solidFill>
                    <a:schemeClr val="tx1"/>
                  </a:solidFill>
                </a:rPr>
                <a:t>$3.0</a:t>
              </a:r>
            </a:p>
          </p:txBody>
        </p:sp>
        <p:sp>
          <p:nvSpPr>
            <p:cNvPr id="236" name="Rectangle 235">
              <a:extLst>
                <a:ext uri="{FF2B5EF4-FFF2-40B4-BE49-F238E27FC236}">
                  <a16:creationId xmlns:a16="http://schemas.microsoft.com/office/drawing/2014/main" id="{74685790-9C70-754E-F35E-FF09D3CCED2F}"/>
                </a:ext>
              </a:extLst>
            </p:cNvPr>
            <p:cNvSpPr/>
            <p:nvPr/>
          </p:nvSpPr>
          <p:spPr>
            <a:xfrm>
              <a:off x="2738979" y="5246335"/>
              <a:ext cx="603225" cy="385618"/>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a:solidFill>
                    <a:schemeClr val="tx1"/>
                  </a:solidFill>
                </a:rPr>
                <a:t>$3.2</a:t>
              </a:r>
            </a:p>
          </p:txBody>
        </p:sp>
        <p:sp>
          <p:nvSpPr>
            <p:cNvPr id="237" name="Rectangle 236">
              <a:extLst>
                <a:ext uri="{FF2B5EF4-FFF2-40B4-BE49-F238E27FC236}">
                  <a16:creationId xmlns:a16="http://schemas.microsoft.com/office/drawing/2014/main" id="{013292E3-FE38-09F8-6A31-D629A44349A2}"/>
                </a:ext>
              </a:extLst>
            </p:cNvPr>
            <p:cNvSpPr/>
            <p:nvPr/>
          </p:nvSpPr>
          <p:spPr>
            <a:xfrm>
              <a:off x="3627449" y="5246335"/>
              <a:ext cx="603225" cy="385618"/>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100">
                  <a:solidFill>
                    <a:schemeClr val="tx1"/>
                  </a:solidFill>
                </a:rPr>
                <a:t>$3.3</a:t>
              </a:r>
            </a:p>
          </p:txBody>
        </p:sp>
      </p:grpSp>
      <p:grpSp>
        <p:nvGrpSpPr>
          <p:cNvPr id="249" name="Group 248">
            <a:extLst>
              <a:ext uri="{FF2B5EF4-FFF2-40B4-BE49-F238E27FC236}">
                <a16:creationId xmlns:a16="http://schemas.microsoft.com/office/drawing/2014/main" id="{2C9E6CA6-679A-B639-2EC5-B6D2F0CA5171}"/>
              </a:ext>
            </a:extLst>
          </p:cNvPr>
          <p:cNvGrpSpPr/>
          <p:nvPr/>
        </p:nvGrpSpPr>
        <p:grpSpPr>
          <a:xfrm>
            <a:off x="5259385" y="2477313"/>
            <a:ext cx="687003" cy="3107296"/>
            <a:chOff x="5259385" y="2477313"/>
            <a:chExt cx="687003" cy="3107296"/>
          </a:xfrm>
        </p:grpSpPr>
        <p:sp>
          <p:nvSpPr>
            <p:cNvPr id="212" name="Rectangle 211">
              <a:extLst>
                <a:ext uri="{FF2B5EF4-FFF2-40B4-BE49-F238E27FC236}">
                  <a16:creationId xmlns:a16="http://schemas.microsoft.com/office/drawing/2014/main" id="{1E69DE91-73E4-5CD7-F4E3-9A29A3F7FD8D}"/>
                </a:ext>
              </a:extLst>
            </p:cNvPr>
            <p:cNvSpPr/>
            <p:nvPr/>
          </p:nvSpPr>
          <p:spPr>
            <a:xfrm>
              <a:off x="5259385" y="2477313"/>
              <a:ext cx="687003" cy="352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I-Day </a:t>
              </a:r>
            </a:p>
            <a:p>
              <a:pPr algn="ctr"/>
              <a:r>
                <a:rPr lang="en-US" sz="1100" b="1">
                  <a:solidFill>
                    <a:schemeClr val="tx1"/>
                  </a:solidFill>
                </a:rPr>
                <a:t>5Y CAGR</a:t>
              </a:r>
              <a:endParaRPr lang="en-US" sz="1100" b="1" baseline="30000">
                <a:solidFill>
                  <a:schemeClr val="tx1"/>
                </a:solidFill>
              </a:endParaRPr>
            </a:p>
          </p:txBody>
        </p:sp>
        <p:sp>
          <p:nvSpPr>
            <p:cNvPr id="250" name="Rectangle 249">
              <a:extLst>
                <a:ext uri="{FF2B5EF4-FFF2-40B4-BE49-F238E27FC236}">
                  <a16:creationId xmlns:a16="http://schemas.microsoft.com/office/drawing/2014/main" id="{77BE84F1-679A-95A6-72C8-FB569B93380F}"/>
                </a:ext>
              </a:extLst>
            </p:cNvPr>
            <p:cNvSpPr/>
            <p:nvPr/>
          </p:nvSpPr>
          <p:spPr>
            <a:xfrm>
              <a:off x="5259385" y="3134860"/>
              <a:ext cx="687003" cy="2405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+7%</a:t>
              </a:r>
            </a:p>
          </p:txBody>
        </p:sp>
        <p:sp>
          <p:nvSpPr>
            <p:cNvPr id="252" name="Rectangle 251">
              <a:extLst>
                <a:ext uri="{FF2B5EF4-FFF2-40B4-BE49-F238E27FC236}">
                  <a16:creationId xmlns:a16="http://schemas.microsoft.com/office/drawing/2014/main" id="{1FF26D88-B6BF-CDDA-CF33-10AF633AF12F}"/>
                </a:ext>
              </a:extLst>
            </p:cNvPr>
            <p:cNvSpPr/>
            <p:nvPr/>
          </p:nvSpPr>
          <p:spPr>
            <a:xfrm>
              <a:off x="5259385" y="5293679"/>
              <a:ext cx="687003" cy="29093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+2%</a:t>
              </a:r>
            </a:p>
          </p:txBody>
        </p:sp>
      </p:grpSp>
      <p:grpSp>
        <p:nvGrpSpPr>
          <p:cNvPr id="248" name="Group 247">
            <a:extLst>
              <a:ext uri="{FF2B5EF4-FFF2-40B4-BE49-F238E27FC236}">
                <a16:creationId xmlns:a16="http://schemas.microsoft.com/office/drawing/2014/main" id="{58DB3853-E3D3-F0FB-70C9-0AD54D5BDF9C}"/>
              </a:ext>
            </a:extLst>
          </p:cNvPr>
          <p:cNvGrpSpPr/>
          <p:nvPr/>
        </p:nvGrpSpPr>
        <p:grpSpPr>
          <a:xfrm>
            <a:off x="4345613" y="2471738"/>
            <a:ext cx="831273" cy="3112871"/>
            <a:chOff x="4345613" y="2471738"/>
            <a:chExt cx="831273" cy="3112871"/>
          </a:xfrm>
        </p:grpSpPr>
        <p:sp>
          <p:nvSpPr>
            <p:cNvPr id="247" name="Rectangle 246">
              <a:extLst>
                <a:ext uri="{FF2B5EF4-FFF2-40B4-BE49-F238E27FC236}">
                  <a16:creationId xmlns:a16="http://schemas.microsoft.com/office/drawing/2014/main" id="{A158F18C-7E54-F274-001E-86B66EB4C491}"/>
                </a:ext>
              </a:extLst>
            </p:cNvPr>
            <p:cNvSpPr/>
            <p:nvPr/>
          </p:nvSpPr>
          <p:spPr>
            <a:xfrm>
              <a:off x="4345613" y="2471738"/>
              <a:ext cx="831273" cy="352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F23-F28</a:t>
              </a:r>
            </a:p>
            <a:p>
              <a:pPr algn="ctr"/>
              <a:r>
                <a:rPr lang="en-US" sz="1100" b="1">
                  <a:solidFill>
                    <a:schemeClr val="tx1"/>
                  </a:solidFill>
                </a:rPr>
                <a:t>5Y CAGR</a:t>
              </a:r>
              <a:endParaRPr lang="en-US" sz="1100" b="1" baseline="30000">
                <a:solidFill>
                  <a:schemeClr val="tx1"/>
                </a:solidFill>
              </a:endParaRPr>
            </a:p>
          </p:txBody>
        </p:sp>
        <p:sp>
          <p:nvSpPr>
            <p:cNvPr id="251" name="Rectangle 250">
              <a:extLst>
                <a:ext uri="{FF2B5EF4-FFF2-40B4-BE49-F238E27FC236}">
                  <a16:creationId xmlns:a16="http://schemas.microsoft.com/office/drawing/2014/main" id="{C8AAC774-BF6F-B841-CEF3-E9EC7056CB27}"/>
                </a:ext>
              </a:extLst>
            </p:cNvPr>
            <p:cNvSpPr/>
            <p:nvPr/>
          </p:nvSpPr>
          <p:spPr>
            <a:xfrm>
              <a:off x="4417748" y="3129285"/>
              <a:ext cx="687003" cy="2405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+7%</a:t>
              </a:r>
            </a:p>
          </p:txBody>
        </p:sp>
        <p:sp>
          <p:nvSpPr>
            <p:cNvPr id="253" name="Rectangle 252">
              <a:extLst>
                <a:ext uri="{FF2B5EF4-FFF2-40B4-BE49-F238E27FC236}">
                  <a16:creationId xmlns:a16="http://schemas.microsoft.com/office/drawing/2014/main" id="{B3E6AA5B-E140-6959-6ACA-187F259A516F}"/>
                </a:ext>
              </a:extLst>
            </p:cNvPr>
            <p:cNvSpPr/>
            <p:nvPr/>
          </p:nvSpPr>
          <p:spPr>
            <a:xfrm>
              <a:off x="4417748" y="5293679"/>
              <a:ext cx="687003" cy="29093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100" b="1">
                  <a:solidFill>
                    <a:schemeClr val="tx1"/>
                  </a:solidFill>
                </a:rPr>
                <a:t>+5%</a:t>
              </a:r>
            </a:p>
          </p:txBody>
        </p:sp>
      </p:grpSp>
      <p:grpSp>
        <p:nvGrpSpPr>
          <p:cNvPr id="239" name="Group 238">
            <a:extLst>
              <a:ext uri="{FF2B5EF4-FFF2-40B4-BE49-F238E27FC236}">
                <a16:creationId xmlns:a16="http://schemas.microsoft.com/office/drawing/2014/main" id="{69673D9E-1E3D-70C0-8C9E-6DC9D38AB63C}"/>
              </a:ext>
            </a:extLst>
          </p:cNvPr>
          <p:cNvGrpSpPr/>
          <p:nvPr/>
        </p:nvGrpSpPr>
        <p:grpSpPr>
          <a:xfrm>
            <a:off x="6340703" y="5875155"/>
            <a:ext cx="3929308" cy="180909"/>
            <a:chOff x="6340703" y="5951355"/>
            <a:chExt cx="3929308" cy="180909"/>
          </a:xfrm>
        </p:grpSpPr>
        <p:sp>
          <p:nvSpPr>
            <p:cNvPr id="254" name="Rectangle 253">
              <a:extLst>
                <a:ext uri="{FF2B5EF4-FFF2-40B4-BE49-F238E27FC236}">
                  <a16:creationId xmlns:a16="http://schemas.microsoft.com/office/drawing/2014/main" id="{DDA4EAE4-4680-0A21-6F9B-1FE74019E2BC}"/>
                </a:ext>
              </a:extLst>
            </p:cNvPr>
            <p:cNvSpPr/>
            <p:nvPr/>
          </p:nvSpPr>
          <p:spPr>
            <a:xfrm>
              <a:off x="8699820" y="5959578"/>
              <a:ext cx="1570191" cy="1644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US" sz="900">
                  <a:solidFill>
                    <a:schemeClr val="tx1"/>
                  </a:solidFill>
                </a:rPr>
                <a:t>Not meeting I-Day target</a:t>
              </a:r>
            </a:p>
          </p:txBody>
        </p:sp>
        <p:pic>
          <p:nvPicPr>
            <p:cNvPr id="276" name="Graphic 275" descr="Badge Cross outline">
              <a:extLst>
                <a:ext uri="{FF2B5EF4-FFF2-40B4-BE49-F238E27FC236}">
                  <a16:creationId xmlns:a16="http://schemas.microsoft.com/office/drawing/2014/main" id="{EFCFE071-755B-9611-1E51-25C3655D118C}"/>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8479543" y="5951355"/>
              <a:ext cx="180909" cy="180909"/>
            </a:xfrm>
            <a:prstGeom prst="rect">
              <a:avLst/>
            </a:prstGeom>
          </p:spPr>
        </p:pic>
        <p:sp>
          <p:nvSpPr>
            <p:cNvPr id="245" name="Rectangle 244">
              <a:extLst>
                <a:ext uri="{FF2B5EF4-FFF2-40B4-BE49-F238E27FC236}">
                  <a16:creationId xmlns:a16="http://schemas.microsoft.com/office/drawing/2014/main" id="{3DC41767-77B1-C3CB-2B07-E2E953EB7814}"/>
                </a:ext>
              </a:extLst>
            </p:cNvPr>
            <p:cNvSpPr/>
            <p:nvPr/>
          </p:nvSpPr>
          <p:spPr>
            <a:xfrm>
              <a:off x="6580030" y="5959578"/>
              <a:ext cx="1956480" cy="1644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US" sz="900">
                  <a:solidFill>
                    <a:schemeClr val="tx1"/>
                  </a:solidFill>
                </a:rPr>
                <a:t>Meeting or exceeding I-Day target</a:t>
              </a:r>
            </a:p>
          </p:txBody>
        </p:sp>
        <p:pic>
          <p:nvPicPr>
            <p:cNvPr id="283" name="Graphic 282" descr="Badge Tick1 outline">
              <a:extLst>
                <a:ext uri="{FF2B5EF4-FFF2-40B4-BE49-F238E27FC236}">
                  <a16:creationId xmlns:a16="http://schemas.microsoft.com/office/drawing/2014/main" id="{41D1025F-345A-C240-1B9E-56996EF0767F}"/>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6340703" y="5951355"/>
              <a:ext cx="180909" cy="180909"/>
            </a:xfrm>
            <a:prstGeom prst="rect">
              <a:avLst/>
            </a:prstGeom>
          </p:spPr>
        </p:pic>
      </p:grpSp>
      <p:grpSp>
        <p:nvGrpSpPr>
          <p:cNvPr id="227" name="Group 226">
            <a:extLst>
              <a:ext uri="{FF2B5EF4-FFF2-40B4-BE49-F238E27FC236}">
                <a16:creationId xmlns:a16="http://schemas.microsoft.com/office/drawing/2014/main" id="{D79EA757-FBE5-73C7-7459-8ECFD1AC1A45}"/>
              </a:ext>
            </a:extLst>
          </p:cNvPr>
          <p:cNvGrpSpPr/>
          <p:nvPr/>
        </p:nvGrpSpPr>
        <p:grpSpPr>
          <a:xfrm>
            <a:off x="6276062" y="5324063"/>
            <a:ext cx="5364301" cy="476391"/>
            <a:chOff x="6276062" y="2275322"/>
            <a:chExt cx="5364301" cy="476391"/>
          </a:xfrm>
        </p:grpSpPr>
        <p:sp>
          <p:nvSpPr>
            <p:cNvPr id="6" name="Rectangle 5">
              <a:extLst>
                <a:ext uri="{FF2B5EF4-FFF2-40B4-BE49-F238E27FC236}">
                  <a16:creationId xmlns:a16="http://schemas.microsoft.com/office/drawing/2014/main" id="{F51F5287-8AA9-5C0D-D3F2-5E43E8454A45}"/>
                </a:ext>
              </a:extLst>
            </p:cNvPr>
            <p:cNvSpPr/>
            <p:nvPr/>
          </p:nvSpPr>
          <p:spPr>
            <a:xfrm>
              <a:off x="6276062" y="2275322"/>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pPr>
                <a:spcBef>
                  <a:spcPts val="600"/>
                </a:spcBef>
              </a:pPr>
              <a:r>
                <a:rPr lang="en-US" sz="1100" b="1">
                  <a:solidFill>
                    <a:schemeClr val="tx1"/>
                  </a:solidFill>
                </a:rPr>
                <a:t>Productivity Ratio</a:t>
              </a:r>
            </a:p>
          </p:txBody>
        </p:sp>
        <p:sp>
          <p:nvSpPr>
            <p:cNvPr id="9" name="Rectangle 8">
              <a:extLst>
                <a:ext uri="{FF2B5EF4-FFF2-40B4-BE49-F238E27FC236}">
                  <a16:creationId xmlns:a16="http://schemas.microsoft.com/office/drawing/2014/main" id="{64AA82F7-03A8-36C7-6817-F1F2473E789C}"/>
                </a:ext>
              </a:extLst>
            </p:cNvPr>
            <p:cNvSpPr/>
            <p:nvPr/>
          </p:nvSpPr>
          <p:spPr>
            <a:xfrm>
              <a:off x="8130143" y="2360870"/>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56.6%</a:t>
              </a:r>
            </a:p>
          </p:txBody>
        </p:sp>
        <p:sp>
          <p:nvSpPr>
            <p:cNvPr id="20" name="Rectangle 19">
              <a:extLst>
                <a:ext uri="{FF2B5EF4-FFF2-40B4-BE49-F238E27FC236}">
                  <a16:creationId xmlns:a16="http://schemas.microsoft.com/office/drawing/2014/main" id="{7BDE6380-F99F-838B-7C14-348B72C09F98}"/>
                </a:ext>
              </a:extLst>
            </p:cNvPr>
            <p:cNvSpPr/>
            <p:nvPr/>
          </p:nvSpPr>
          <p:spPr>
            <a:xfrm>
              <a:off x="9193528" y="2360870"/>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54.5%</a:t>
              </a:r>
            </a:p>
          </p:txBody>
        </p:sp>
        <p:sp>
          <p:nvSpPr>
            <p:cNvPr id="31" name="Rectangle 30">
              <a:extLst>
                <a:ext uri="{FF2B5EF4-FFF2-40B4-BE49-F238E27FC236}">
                  <a16:creationId xmlns:a16="http://schemas.microsoft.com/office/drawing/2014/main" id="{6FF5B1A9-9953-E72D-4E41-EB6AC2AD1794}"/>
                </a:ext>
              </a:extLst>
            </p:cNvPr>
            <p:cNvSpPr/>
            <p:nvPr/>
          </p:nvSpPr>
          <p:spPr>
            <a:xfrm>
              <a:off x="10256914" y="2360870"/>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~50%</a:t>
              </a:r>
            </a:p>
          </p:txBody>
        </p:sp>
        <p:pic>
          <p:nvPicPr>
            <p:cNvPr id="287" name="Graphic 286" descr="Badge Cross outline">
              <a:extLst>
                <a:ext uri="{FF2B5EF4-FFF2-40B4-BE49-F238E27FC236}">
                  <a16:creationId xmlns:a16="http://schemas.microsoft.com/office/drawing/2014/main" id="{0EB0AA93-DEE1-1BC5-3067-240A87B3C6A7}"/>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11285076" y="2393122"/>
              <a:ext cx="240790" cy="240790"/>
            </a:xfrm>
            <a:prstGeom prst="rect">
              <a:avLst/>
            </a:prstGeom>
          </p:spPr>
        </p:pic>
      </p:grpSp>
      <p:grpSp>
        <p:nvGrpSpPr>
          <p:cNvPr id="14" name="Group 13">
            <a:extLst>
              <a:ext uri="{FF2B5EF4-FFF2-40B4-BE49-F238E27FC236}">
                <a16:creationId xmlns:a16="http://schemas.microsoft.com/office/drawing/2014/main" id="{7A62A81D-B869-DB45-B43C-3792F5674660}"/>
              </a:ext>
            </a:extLst>
          </p:cNvPr>
          <p:cNvGrpSpPr/>
          <p:nvPr/>
        </p:nvGrpSpPr>
        <p:grpSpPr>
          <a:xfrm>
            <a:off x="6276062" y="2893279"/>
            <a:ext cx="5364301" cy="476391"/>
            <a:chOff x="6276062" y="4124000"/>
            <a:chExt cx="5364301" cy="476391"/>
          </a:xfrm>
        </p:grpSpPr>
        <p:sp>
          <p:nvSpPr>
            <p:cNvPr id="19" name="Rectangle 18">
              <a:extLst>
                <a:ext uri="{FF2B5EF4-FFF2-40B4-BE49-F238E27FC236}">
                  <a16:creationId xmlns:a16="http://schemas.microsoft.com/office/drawing/2014/main" id="{69CF7434-7706-45D6-2311-66BC224332E2}"/>
                </a:ext>
              </a:extLst>
            </p:cNvPr>
            <p:cNvSpPr/>
            <p:nvPr/>
          </p:nvSpPr>
          <p:spPr>
            <a:xfrm>
              <a:off x="6276062" y="4124000"/>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pPr>
                <a:spcBef>
                  <a:spcPts val="600"/>
                </a:spcBef>
              </a:pPr>
              <a:r>
                <a:rPr lang="en-US" sz="1100" b="1">
                  <a:solidFill>
                    <a:schemeClr val="tx1"/>
                  </a:solidFill>
                </a:rPr>
                <a:t>Primacy Rate</a:t>
              </a:r>
            </a:p>
          </p:txBody>
        </p:sp>
        <p:sp>
          <p:nvSpPr>
            <p:cNvPr id="12" name="Rectangle 11">
              <a:extLst>
                <a:ext uri="{FF2B5EF4-FFF2-40B4-BE49-F238E27FC236}">
                  <a16:creationId xmlns:a16="http://schemas.microsoft.com/office/drawing/2014/main" id="{8E9DE54F-8F81-4588-505C-8ABD74D3AFC9}"/>
                </a:ext>
              </a:extLst>
            </p:cNvPr>
            <p:cNvSpPr/>
            <p:nvPr/>
          </p:nvSpPr>
          <p:spPr>
            <a:xfrm>
              <a:off x="8130143" y="4207175"/>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12.2%</a:t>
              </a:r>
            </a:p>
            <a:p>
              <a:pPr algn="ctr"/>
              <a:r>
                <a:rPr lang="en-US" sz="800">
                  <a:solidFill>
                    <a:schemeClr val="tx1"/>
                  </a:solidFill>
                </a:rPr>
                <a:t>+148 bps vs F23</a:t>
              </a:r>
            </a:p>
          </p:txBody>
        </p:sp>
        <p:sp>
          <p:nvSpPr>
            <p:cNvPr id="23" name="Rectangle 22">
              <a:extLst>
                <a:ext uri="{FF2B5EF4-FFF2-40B4-BE49-F238E27FC236}">
                  <a16:creationId xmlns:a16="http://schemas.microsoft.com/office/drawing/2014/main" id="{BCB32C24-641E-75D0-1C65-D254623AE401}"/>
                </a:ext>
              </a:extLst>
            </p:cNvPr>
            <p:cNvSpPr/>
            <p:nvPr/>
          </p:nvSpPr>
          <p:spPr>
            <a:xfrm>
              <a:off x="9193528" y="4207175"/>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17.7%</a:t>
              </a:r>
            </a:p>
            <a:p>
              <a:pPr algn="ctr"/>
              <a:r>
                <a:rPr lang="en-US" sz="800">
                  <a:solidFill>
                    <a:schemeClr val="tx1"/>
                  </a:solidFill>
                </a:rPr>
                <a:t>+693 bps vs F23</a:t>
              </a:r>
            </a:p>
          </p:txBody>
        </p:sp>
        <p:sp>
          <p:nvSpPr>
            <p:cNvPr id="226" name="Rectangle 225">
              <a:extLst>
                <a:ext uri="{FF2B5EF4-FFF2-40B4-BE49-F238E27FC236}">
                  <a16:creationId xmlns:a16="http://schemas.microsoft.com/office/drawing/2014/main" id="{3D753B14-6DBD-BCE1-2C14-C9D040125E3D}"/>
                </a:ext>
              </a:extLst>
            </p:cNvPr>
            <p:cNvSpPr/>
            <p:nvPr/>
          </p:nvSpPr>
          <p:spPr>
            <a:xfrm>
              <a:off x="10256914" y="4207175"/>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+15%</a:t>
              </a:r>
            </a:p>
          </p:txBody>
        </p:sp>
        <p:pic>
          <p:nvPicPr>
            <p:cNvPr id="44" name="Graphic 43" descr="Badge Tick1 outline">
              <a:extLst>
                <a:ext uri="{FF2B5EF4-FFF2-40B4-BE49-F238E27FC236}">
                  <a16:creationId xmlns:a16="http://schemas.microsoft.com/office/drawing/2014/main" id="{B1FD1BAE-4544-B1D8-4C1A-8A4ACD995D28}"/>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285076" y="4244702"/>
              <a:ext cx="240790" cy="240790"/>
            </a:xfrm>
            <a:prstGeom prst="rect">
              <a:avLst/>
            </a:prstGeom>
          </p:spPr>
        </p:pic>
      </p:grpSp>
      <p:grpSp>
        <p:nvGrpSpPr>
          <p:cNvPr id="229" name="Group 228">
            <a:extLst>
              <a:ext uri="{FF2B5EF4-FFF2-40B4-BE49-F238E27FC236}">
                <a16:creationId xmlns:a16="http://schemas.microsoft.com/office/drawing/2014/main" id="{90A6FCF7-0DE3-A525-985D-22317B73F040}"/>
              </a:ext>
            </a:extLst>
          </p:cNvPr>
          <p:cNvGrpSpPr/>
          <p:nvPr/>
        </p:nvGrpSpPr>
        <p:grpSpPr>
          <a:xfrm>
            <a:off x="6276062" y="3500975"/>
            <a:ext cx="5364301" cy="476391"/>
            <a:chOff x="6276062" y="4740226"/>
            <a:chExt cx="5364301" cy="476391"/>
          </a:xfrm>
        </p:grpSpPr>
        <p:sp>
          <p:nvSpPr>
            <p:cNvPr id="25" name="Rectangle 24">
              <a:extLst>
                <a:ext uri="{FF2B5EF4-FFF2-40B4-BE49-F238E27FC236}">
                  <a16:creationId xmlns:a16="http://schemas.microsoft.com/office/drawing/2014/main" id="{245288D2-F716-4C0B-23FD-295ECB8AE949}"/>
                </a:ext>
              </a:extLst>
            </p:cNvPr>
            <p:cNvSpPr/>
            <p:nvPr/>
          </p:nvSpPr>
          <p:spPr>
            <a:xfrm>
              <a:off x="6276062" y="4740226"/>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pPr>
                <a:spcBef>
                  <a:spcPts val="600"/>
                </a:spcBef>
              </a:pPr>
              <a:r>
                <a:rPr lang="en-US" sz="1100" b="1">
                  <a:solidFill>
                    <a:schemeClr val="tx1"/>
                  </a:solidFill>
                </a:rPr>
                <a:t>Clients with 3+ Products</a:t>
              </a:r>
            </a:p>
          </p:txBody>
        </p:sp>
        <p:sp>
          <p:nvSpPr>
            <p:cNvPr id="13" name="Rectangle 12">
              <a:extLst>
                <a:ext uri="{FF2B5EF4-FFF2-40B4-BE49-F238E27FC236}">
                  <a16:creationId xmlns:a16="http://schemas.microsoft.com/office/drawing/2014/main" id="{26A3C207-AFF5-728B-80BA-659E3DC65666}"/>
                </a:ext>
              </a:extLst>
            </p:cNvPr>
            <p:cNvSpPr/>
            <p:nvPr/>
          </p:nvSpPr>
          <p:spPr>
            <a:xfrm>
              <a:off x="8130143" y="4822610"/>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20.8%</a:t>
              </a:r>
            </a:p>
            <a:p>
              <a:pPr algn="ctr"/>
              <a:r>
                <a:rPr lang="en-US" sz="800">
                  <a:solidFill>
                    <a:schemeClr val="tx1"/>
                  </a:solidFill>
                </a:rPr>
                <a:t>+195 bps vs F23</a:t>
              </a:r>
            </a:p>
          </p:txBody>
        </p:sp>
        <p:sp>
          <p:nvSpPr>
            <p:cNvPr id="24" name="Rectangle 23">
              <a:extLst>
                <a:ext uri="{FF2B5EF4-FFF2-40B4-BE49-F238E27FC236}">
                  <a16:creationId xmlns:a16="http://schemas.microsoft.com/office/drawing/2014/main" id="{5251FAD5-1789-16DF-066A-F349BEE14CA7}"/>
                </a:ext>
              </a:extLst>
            </p:cNvPr>
            <p:cNvSpPr/>
            <p:nvPr/>
          </p:nvSpPr>
          <p:spPr>
            <a:xfrm>
              <a:off x="9193528" y="4822610"/>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25.2%</a:t>
              </a:r>
            </a:p>
            <a:p>
              <a:pPr algn="ctr"/>
              <a:r>
                <a:rPr lang="en-US" sz="800">
                  <a:solidFill>
                    <a:schemeClr val="tx1"/>
                  </a:solidFill>
                </a:rPr>
                <a:t>+636 bps vs F23</a:t>
              </a:r>
            </a:p>
          </p:txBody>
        </p:sp>
        <p:sp>
          <p:nvSpPr>
            <p:cNvPr id="228" name="Rectangle 227">
              <a:extLst>
                <a:ext uri="{FF2B5EF4-FFF2-40B4-BE49-F238E27FC236}">
                  <a16:creationId xmlns:a16="http://schemas.microsoft.com/office/drawing/2014/main" id="{8D1F646A-4FAA-1FC0-91A2-31CC68186563}"/>
                </a:ext>
              </a:extLst>
            </p:cNvPr>
            <p:cNvSpPr/>
            <p:nvPr/>
          </p:nvSpPr>
          <p:spPr>
            <a:xfrm>
              <a:off x="10256914" y="4822610"/>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+25%</a:t>
              </a:r>
            </a:p>
          </p:txBody>
        </p:sp>
        <p:pic>
          <p:nvPicPr>
            <p:cNvPr id="45" name="Graphic 44" descr="Badge Tick1 outline">
              <a:extLst>
                <a:ext uri="{FF2B5EF4-FFF2-40B4-BE49-F238E27FC236}">
                  <a16:creationId xmlns:a16="http://schemas.microsoft.com/office/drawing/2014/main" id="{9F5D7EC6-13BA-4009-4408-FDAF367A5B83}"/>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285076" y="4858026"/>
              <a:ext cx="240790" cy="240790"/>
            </a:xfrm>
            <a:prstGeom prst="rect">
              <a:avLst/>
            </a:prstGeom>
          </p:spPr>
        </p:pic>
      </p:grpSp>
      <p:grpSp>
        <p:nvGrpSpPr>
          <p:cNvPr id="5" name="Group 4">
            <a:extLst>
              <a:ext uri="{FF2B5EF4-FFF2-40B4-BE49-F238E27FC236}">
                <a16:creationId xmlns:a16="http://schemas.microsoft.com/office/drawing/2014/main" id="{830CEB8C-4C3F-DBCB-3AA0-96564B63AD50}"/>
              </a:ext>
            </a:extLst>
          </p:cNvPr>
          <p:cNvGrpSpPr/>
          <p:nvPr/>
        </p:nvGrpSpPr>
        <p:grpSpPr>
          <a:xfrm>
            <a:off x="6276062" y="4108671"/>
            <a:ext cx="5364301" cy="476391"/>
            <a:chOff x="6276062" y="5356453"/>
            <a:chExt cx="5364301" cy="476391"/>
          </a:xfrm>
        </p:grpSpPr>
        <p:sp>
          <p:nvSpPr>
            <p:cNvPr id="26" name="Rectangle 25">
              <a:extLst>
                <a:ext uri="{FF2B5EF4-FFF2-40B4-BE49-F238E27FC236}">
                  <a16:creationId xmlns:a16="http://schemas.microsoft.com/office/drawing/2014/main" id="{456FD5CE-0916-FD15-33C6-40B9973C4171}"/>
                </a:ext>
              </a:extLst>
            </p:cNvPr>
            <p:cNvSpPr/>
            <p:nvPr/>
          </p:nvSpPr>
          <p:spPr>
            <a:xfrm>
              <a:off x="6276062" y="5356453"/>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r>
                <a:rPr lang="en-US" sz="1100" b="1">
                  <a:solidFill>
                    <a:schemeClr val="tx1"/>
                  </a:solidFill>
                </a:rPr>
                <a:t>Client Acquisition</a:t>
              </a:r>
            </a:p>
            <a:p>
              <a:r>
                <a:rPr lang="en-US" sz="1100" b="1">
                  <a:solidFill>
                    <a:schemeClr val="tx1"/>
                  </a:solidFill>
                </a:rPr>
                <a:t>Digital and Virtual</a:t>
              </a:r>
            </a:p>
          </p:txBody>
        </p:sp>
        <p:sp>
          <p:nvSpPr>
            <p:cNvPr id="7" name="Rectangle 6">
              <a:extLst>
                <a:ext uri="{FF2B5EF4-FFF2-40B4-BE49-F238E27FC236}">
                  <a16:creationId xmlns:a16="http://schemas.microsoft.com/office/drawing/2014/main" id="{6A503BDD-7264-777A-9C51-FCDD7AB7A2C5}"/>
                </a:ext>
              </a:extLst>
            </p:cNvPr>
            <p:cNvSpPr/>
            <p:nvPr/>
          </p:nvSpPr>
          <p:spPr>
            <a:xfrm>
              <a:off x="8130143" y="5438044"/>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23%</a:t>
              </a:r>
            </a:p>
            <a:p>
              <a:pPr algn="ctr"/>
              <a:r>
                <a:rPr lang="en-US" sz="800">
                  <a:solidFill>
                    <a:schemeClr val="tx1"/>
                  </a:solidFill>
                </a:rPr>
                <a:t>+769 bps vs F23</a:t>
              </a:r>
            </a:p>
          </p:txBody>
        </p:sp>
        <p:sp>
          <p:nvSpPr>
            <p:cNvPr id="18" name="Rectangle 17">
              <a:extLst>
                <a:ext uri="{FF2B5EF4-FFF2-40B4-BE49-F238E27FC236}">
                  <a16:creationId xmlns:a16="http://schemas.microsoft.com/office/drawing/2014/main" id="{8748F29A-6507-9484-5EA6-DA065766596B}"/>
                </a:ext>
              </a:extLst>
            </p:cNvPr>
            <p:cNvSpPr/>
            <p:nvPr/>
          </p:nvSpPr>
          <p:spPr>
            <a:xfrm>
              <a:off x="9193528" y="5438044"/>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43.8%</a:t>
              </a:r>
            </a:p>
            <a:p>
              <a:pPr algn="ctr"/>
              <a:r>
                <a:rPr lang="en-US" sz="800">
                  <a:solidFill>
                    <a:schemeClr val="tx1"/>
                  </a:solidFill>
                </a:rPr>
                <a:t>+2,838 bps vs F23</a:t>
              </a:r>
            </a:p>
          </p:txBody>
        </p:sp>
        <p:sp>
          <p:nvSpPr>
            <p:cNvPr id="30" name="Rectangle 29">
              <a:extLst>
                <a:ext uri="{FF2B5EF4-FFF2-40B4-BE49-F238E27FC236}">
                  <a16:creationId xmlns:a16="http://schemas.microsoft.com/office/drawing/2014/main" id="{1F4E6938-8817-8BFD-ECF1-244901703190}"/>
                </a:ext>
              </a:extLst>
            </p:cNvPr>
            <p:cNvSpPr/>
            <p:nvPr/>
          </p:nvSpPr>
          <p:spPr>
            <a:xfrm>
              <a:off x="10256914" y="5438044"/>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+50%</a:t>
              </a:r>
            </a:p>
          </p:txBody>
        </p:sp>
        <p:pic>
          <p:nvPicPr>
            <p:cNvPr id="46" name="Graphic 45" descr="Badge Cross outline">
              <a:extLst>
                <a:ext uri="{FF2B5EF4-FFF2-40B4-BE49-F238E27FC236}">
                  <a16:creationId xmlns:a16="http://schemas.microsoft.com/office/drawing/2014/main" id="{70AFD08A-5CD3-862C-23F8-1734978D2ED9}"/>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11285076" y="5464214"/>
              <a:ext cx="240790" cy="240790"/>
            </a:xfrm>
            <a:prstGeom prst="rect">
              <a:avLst/>
            </a:prstGeom>
          </p:spPr>
        </p:pic>
      </p:grpSp>
      <p:sp>
        <p:nvSpPr>
          <p:cNvPr id="17" name="Rectangle 16">
            <a:extLst>
              <a:ext uri="{FF2B5EF4-FFF2-40B4-BE49-F238E27FC236}">
                <a16:creationId xmlns:a16="http://schemas.microsoft.com/office/drawing/2014/main" id="{6F6F392D-51F0-5881-9D14-67144E462770}"/>
              </a:ext>
            </a:extLst>
          </p:cNvPr>
          <p:cNvSpPr/>
          <p:nvPr/>
        </p:nvSpPr>
        <p:spPr>
          <a:xfrm>
            <a:off x="6276062" y="2285583"/>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r>
              <a:rPr lang="en-US" sz="1100" b="1">
                <a:solidFill>
                  <a:schemeClr val="tx1"/>
                </a:solidFill>
              </a:rPr>
              <a:t>Primary Clients Growth</a:t>
            </a:r>
          </a:p>
          <a:p>
            <a:r>
              <a:rPr lang="en-US" sz="1100" b="1">
                <a:solidFill>
                  <a:schemeClr val="tx1"/>
                </a:solidFill>
              </a:rPr>
              <a:t>since F23</a:t>
            </a:r>
            <a:r>
              <a:rPr lang="en-US" sz="1100" b="1" baseline="30000">
                <a:solidFill>
                  <a:schemeClr val="tx1"/>
                </a:solidFill>
              </a:rPr>
              <a:t>2</a:t>
            </a:r>
          </a:p>
        </p:txBody>
      </p:sp>
      <p:sp>
        <p:nvSpPr>
          <p:cNvPr id="11" name="Rectangle 10">
            <a:extLst>
              <a:ext uri="{FF2B5EF4-FFF2-40B4-BE49-F238E27FC236}">
                <a16:creationId xmlns:a16="http://schemas.microsoft.com/office/drawing/2014/main" id="{2031110C-A1EB-A367-7364-4AB770D0C856}"/>
              </a:ext>
            </a:extLst>
          </p:cNvPr>
          <p:cNvSpPr/>
          <p:nvPr/>
        </p:nvSpPr>
        <p:spPr>
          <a:xfrm>
            <a:off x="8130143" y="2369549"/>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a:solidFill>
                  <a:schemeClr val="tx1"/>
                </a:solidFill>
              </a:rPr>
              <a:t>+140K</a:t>
            </a:r>
          </a:p>
          <a:p>
            <a:pPr algn="ctr"/>
            <a:r>
              <a:rPr lang="en-US" sz="800">
                <a:solidFill>
                  <a:schemeClr val="tx1"/>
                </a:solidFill>
              </a:rPr>
              <a:t>vs F23</a:t>
            </a:r>
          </a:p>
        </p:txBody>
      </p:sp>
      <p:sp>
        <p:nvSpPr>
          <p:cNvPr id="22" name="Rectangle 21">
            <a:extLst>
              <a:ext uri="{FF2B5EF4-FFF2-40B4-BE49-F238E27FC236}">
                <a16:creationId xmlns:a16="http://schemas.microsoft.com/office/drawing/2014/main" id="{CCFC168B-E6AC-0178-4DDE-062D10CBD08F}"/>
              </a:ext>
            </a:extLst>
          </p:cNvPr>
          <p:cNvSpPr/>
          <p:nvPr/>
        </p:nvSpPr>
        <p:spPr>
          <a:xfrm>
            <a:off x="9193528" y="2369549"/>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+763K</a:t>
            </a:r>
          </a:p>
          <a:p>
            <a:pPr algn="ctr"/>
            <a:r>
              <a:rPr lang="en-US" sz="800">
                <a:solidFill>
                  <a:schemeClr val="tx1"/>
                </a:solidFill>
              </a:rPr>
              <a:t>vs F23</a:t>
            </a:r>
          </a:p>
        </p:txBody>
      </p:sp>
      <p:sp>
        <p:nvSpPr>
          <p:cNvPr id="225" name="Rectangle 224">
            <a:extLst>
              <a:ext uri="{FF2B5EF4-FFF2-40B4-BE49-F238E27FC236}">
                <a16:creationId xmlns:a16="http://schemas.microsoft.com/office/drawing/2014/main" id="{03EB099D-4D2B-2759-D631-F98D0F330F8E}"/>
              </a:ext>
            </a:extLst>
          </p:cNvPr>
          <p:cNvSpPr/>
          <p:nvPr/>
        </p:nvSpPr>
        <p:spPr>
          <a:xfrm>
            <a:off x="10256914" y="2369549"/>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+1MM</a:t>
            </a:r>
          </a:p>
          <a:p>
            <a:pPr algn="ctr"/>
            <a:r>
              <a:rPr lang="en-US" sz="800">
                <a:solidFill>
                  <a:schemeClr val="tx1"/>
                </a:solidFill>
              </a:rPr>
              <a:t>~0.8M ex. Div</a:t>
            </a:r>
          </a:p>
        </p:txBody>
      </p:sp>
      <p:pic>
        <p:nvPicPr>
          <p:cNvPr id="3" name="Graphic 2" descr="Badge Cross outline">
            <a:extLst>
              <a:ext uri="{FF2B5EF4-FFF2-40B4-BE49-F238E27FC236}">
                <a16:creationId xmlns:a16="http://schemas.microsoft.com/office/drawing/2014/main" id="{684793BC-140D-98A5-E8FE-4C8A3407BB48}"/>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11285076" y="2403383"/>
            <a:ext cx="240790" cy="240790"/>
          </a:xfrm>
          <a:prstGeom prst="rect">
            <a:avLst/>
          </a:prstGeom>
        </p:spPr>
      </p:pic>
      <p:grpSp>
        <p:nvGrpSpPr>
          <p:cNvPr id="231" name="Group 230">
            <a:extLst>
              <a:ext uri="{FF2B5EF4-FFF2-40B4-BE49-F238E27FC236}">
                <a16:creationId xmlns:a16="http://schemas.microsoft.com/office/drawing/2014/main" id="{EDC9661A-D5C7-13AB-05B9-00C8C4E39CDC}"/>
              </a:ext>
            </a:extLst>
          </p:cNvPr>
          <p:cNvGrpSpPr/>
          <p:nvPr/>
        </p:nvGrpSpPr>
        <p:grpSpPr>
          <a:xfrm>
            <a:off x="6276062" y="4716367"/>
            <a:ext cx="5364301" cy="476391"/>
            <a:chOff x="6276062" y="4716367"/>
            <a:chExt cx="5364301" cy="476391"/>
          </a:xfrm>
        </p:grpSpPr>
        <p:grpSp>
          <p:nvGrpSpPr>
            <p:cNvPr id="28" name="Group 27">
              <a:extLst>
                <a:ext uri="{FF2B5EF4-FFF2-40B4-BE49-F238E27FC236}">
                  <a16:creationId xmlns:a16="http://schemas.microsoft.com/office/drawing/2014/main" id="{92A9C23B-A9AF-161D-CD4E-27D82F03000C}"/>
                </a:ext>
              </a:extLst>
            </p:cNvPr>
            <p:cNvGrpSpPr/>
            <p:nvPr/>
          </p:nvGrpSpPr>
          <p:grpSpPr>
            <a:xfrm>
              <a:off x="6276062" y="4716367"/>
              <a:ext cx="5364301" cy="476391"/>
              <a:chOff x="6276062" y="2891548"/>
              <a:chExt cx="5364301" cy="476391"/>
            </a:xfrm>
          </p:grpSpPr>
          <p:sp>
            <p:nvSpPr>
              <p:cNvPr id="8" name="Rectangle 7">
                <a:extLst>
                  <a:ext uri="{FF2B5EF4-FFF2-40B4-BE49-F238E27FC236}">
                    <a16:creationId xmlns:a16="http://schemas.microsoft.com/office/drawing/2014/main" id="{F17B5D13-16EF-9EE2-29DD-60E1681933F4}"/>
                  </a:ext>
                </a:extLst>
              </p:cNvPr>
              <p:cNvSpPr/>
              <p:nvPr/>
            </p:nvSpPr>
            <p:spPr>
              <a:xfrm>
                <a:off x="6276062" y="2891548"/>
                <a:ext cx="5364301" cy="47639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0" rIns="0" bIns="0" rtlCol="0" anchor="ctr"/>
              <a:lstStyle/>
              <a:p>
                <a:r>
                  <a:rPr lang="en-US" sz="1100" b="1">
                    <a:solidFill>
                      <a:schemeClr val="tx1"/>
                    </a:solidFill>
                  </a:rPr>
                  <a:t>Revenue per Client</a:t>
                </a:r>
              </a:p>
              <a:p>
                <a:r>
                  <a:rPr lang="en-US" sz="1100" b="1">
                    <a:solidFill>
                      <a:schemeClr val="tx1"/>
                    </a:solidFill>
                  </a:rPr>
                  <a:t>Growth</a:t>
                </a:r>
                <a:r>
                  <a:rPr lang="en-US" sz="1100" b="1" baseline="30000">
                    <a:solidFill>
                      <a:schemeClr val="tx1"/>
                    </a:solidFill>
                  </a:rPr>
                  <a:t>3</a:t>
                </a:r>
              </a:p>
            </p:txBody>
          </p:sp>
          <p:sp>
            <p:nvSpPr>
              <p:cNvPr id="10" name="Rectangle 9">
                <a:extLst>
                  <a:ext uri="{FF2B5EF4-FFF2-40B4-BE49-F238E27FC236}">
                    <a16:creationId xmlns:a16="http://schemas.microsoft.com/office/drawing/2014/main" id="{2CBC2077-D9C8-1B46-CADC-73807D52FD1F}"/>
                  </a:ext>
                </a:extLst>
              </p:cNvPr>
              <p:cNvSpPr/>
              <p:nvPr/>
            </p:nvSpPr>
            <p:spPr>
              <a:xfrm>
                <a:off x="8130143" y="2976305"/>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a:solidFill>
                      <a:schemeClr val="tx1"/>
                    </a:solidFill>
                  </a:rPr>
                  <a:t>+19%</a:t>
                </a:r>
              </a:p>
              <a:p>
                <a:pPr algn="ctr"/>
                <a:r>
                  <a:rPr lang="en-US" sz="800">
                    <a:solidFill>
                      <a:schemeClr val="tx1"/>
                    </a:solidFill>
                  </a:rPr>
                  <a:t>vs F23</a:t>
                </a:r>
              </a:p>
            </p:txBody>
          </p:sp>
          <p:sp>
            <p:nvSpPr>
              <p:cNvPr id="21" name="Rectangle 20">
                <a:extLst>
                  <a:ext uri="{FF2B5EF4-FFF2-40B4-BE49-F238E27FC236}">
                    <a16:creationId xmlns:a16="http://schemas.microsoft.com/office/drawing/2014/main" id="{35B13073-F091-F5E8-AF20-EB6D42A14966}"/>
                  </a:ext>
                </a:extLst>
              </p:cNvPr>
              <p:cNvSpPr/>
              <p:nvPr/>
            </p:nvSpPr>
            <p:spPr>
              <a:xfrm>
                <a:off x="9193528" y="2976305"/>
                <a:ext cx="915747" cy="31320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+30%</a:t>
                </a:r>
              </a:p>
              <a:p>
                <a:pPr algn="ctr"/>
                <a:r>
                  <a:rPr lang="en-US" sz="800">
                    <a:solidFill>
                      <a:schemeClr val="tx1"/>
                    </a:solidFill>
                  </a:rPr>
                  <a:t>vs F23</a:t>
                </a:r>
              </a:p>
            </p:txBody>
          </p:sp>
          <p:sp>
            <p:nvSpPr>
              <p:cNvPr id="224" name="Rectangle 223">
                <a:extLst>
                  <a:ext uri="{FF2B5EF4-FFF2-40B4-BE49-F238E27FC236}">
                    <a16:creationId xmlns:a16="http://schemas.microsoft.com/office/drawing/2014/main" id="{A8BC7431-2C58-848F-B283-0E48AE410E75}"/>
                  </a:ext>
                </a:extLst>
              </p:cNvPr>
              <p:cNvSpPr/>
              <p:nvPr/>
            </p:nvSpPr>
            <p:spPr>
              <a:xfrm>
                <a:off x="10256914" y="2976305"/>
                <a:ext cx="915747" cy="313206"/>
              </a:xfrm>
              <a:prstGeom prst="rect">
                <a:avLst/>
              </a:prstGeom>
              <a:solidFill>
                <a:srgbClr val="E5D7C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a:solidFill>
                      <a:schemeClr val="tx1"/>
                    </a:solidFill>
                  </a:rPr>
                  <a:t>+30%</a:t>
                </a:r>
              </a:p>
            </p:txBody>
          </p:sp>
        </p:grpSp>
        <p:pic>
          <p:nvPicPr>
            <p:cNvPr id="4" name="Graphic 3" descr="Badge Tick1 outline">
              <a:extLst>
                <a:ext uri="{FF2B5EF4-FFF2-40B4-BE49-F238E27FC236}">
                  <a16:creationId xmlns:a16="http://schemas.microsoft.com/office/drawing/2014/main" id="{AE741FE0-4844-4EDD-E04B-E784760C8304}"/>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1285076" y="4834167"/>
              <a:ext cx="240790" cy="240790"/>
            </a:xfrm>
            <a:prstGeom prst="rect">
              <a:avLst/>
            </a:prstGeom>
          </p:spPr>
        </p:pic>
      </p:grpSp>
      <p:sp>
        <p:nvSpPr>
          <p:cNvPr id="33" name="Slide Number Placeholder 2">
            <a:extLst>
              <a:ext uri="{FF2B5EF4-FFF2-40B4-BE49-F238E27FC236}">
                <a16:creationId xmlns:a16="http://schemas.microsoft.com/office/drawing/2014/main" id="{D643F442-8B6B-5732-EF49-D327A6176737}"/>
              </a:ext>
            </a:extLst>
          </p:cNvPr>
          <p:cNvSpPr>
            <a:spLocks noGrp="1"/>
          </p:cNvSpPr>
          <p:nvPr>
            <p:ph type="sldNum" sz="quarter" idx="10"/>
          </p:nvPr>
        </p:nvSpPr>
        <p:spPr>
          <a:xfrm>
            <a:off x="11231211" y="338582"/>
            <a:ext cx="435865" cy="180000"/>
          </a:xfrm>
        </p:spPr>
        <p:txBody>
          <a:bodyPr/>
          <a:lstStyle/>
          <a:p>
            <a:fld id="{95D835A7-12B2-4074-8DA2-469A8808C237}" type="slidenum">
              <a:rPr lang="en-US" smtClean="0"/>
              <a:pPr/>
              <a:t>32</a:t>
            </a:fld>
            <a:endParaRPr lang="en-US"/>
          </a:p>
        </p:txBody>
      </p:sp>
      <p:grpSp>
        <p:nvGrpSpPr>
          <p:cNvPr id="232" name="Group 231">
            <a:extLst>
              <a:ext uri="{FF2B5EF4-FFF2-40B4-BE49-F238E27FC236}">
                <a16:creationId xmlns:a16="http://schemas.microsoft.com/office/drawing/2014/main" id="{E247C889-E01D-704F-85DF-07AEED6CD525}"/>
              </a:ext>
            </a:extLst>
          </p:cNvPr>
          <p:cNvGrpSpPr/>
          <p:nvPr/>
        </p:nvGrpSpPr>
        <p:grpSpPr>
          <a:xfrm>
            <a:off x="940714" y="2218273"/>
            <a:ext cx="624548" cy="158996"/>
            <a:chOff x="940714" y="5761574"/>
            <a:chExt cx="624548" cy="158996"/>
          </a:xfrm>
        </p:grpSpPr>
        <p:sp>
          <p:nvSpPr>
            <p:cNvPr id="233" name="Right Bracket 232">
              <a:extLst>
                <a:ext uri="{FF2B5EF4-FFF2-40B4-BE49-F238E27FC236}">
                  <a16:creationId xmlns:a16="http://schemas.microsoft.com/office/drawing/2014/main" id="{03A35C5F-7526-FE84-6256-E293CE8F6DCA}"/>
                </a:ext>
              </a:extLst>
            </p:cNvPr>
            <p:cNvSpPr/>
            <p:nvPr/>
          </p:nvSpPr>
          <p:spPr>
            <a:xfrm rot="16200000" flipV="1">
              <a:off x="1212754" y="5568063"/>
              <a:ext cx="80467" cy="624548"/>
            </a:xfrm>
            <a:prstGeom prst="rightBracket">
              <a:avLst>
                <a:gd name="adj" fmla="val 0"/>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8" name="Rectangle 237">
              <a:extLst>
                <a:ext uri="{FF2B5EF4-FFF2-40B4-BE49-F238E27FC236}">
                  <a16:creationId xmlns:a16="http://schemas.microsoft.com/office/drawing/2014/main" id="{98E1D13C-4BD9-A66E-43FF-16C221D771A3}"/>
                </a:ext>
              </a:extLst>
            </p:cNvPr>
            <p:cNvSpPr/>
            <p:nvPr/>
          </p:nvSpPr>
          <p:spPr>
            <a:xfrm>
              <a:off x="1024655" y="5761574"/>
              <a:ext cx="456664" cy="1580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i="1">
                  <a:solidFill>
                    <a:schemeClr val="bg1">
                      <a:lumMod val="50000"/>
                    </a:schemeClr>
                  </a:solidFill>
                </a:rPr>
                <a:t>I-Day</a:t>
              </a:r>
            </a:p>
          </p:txBody>
        </p:sp>
      </p:grpSp>
      <p:grpSp>
        <p:nvGrpSpPr>
          <p:cNvPr id="241" name="Group 240">
            <a:extLst>
              <a:ext uri="{FF2B5EF4-FFF2-40B4-BE49-F238E27FC236}">
                <a16:creationId xmlns:a16="http://schemas.microsoft.com/office/drawing/2014/main" id="{5442B9FA-F0E7-6FEA-00B0-786B77C5D30A}"/>
              </a:ext>
            </a:extLst>
          </p:cNvPr>
          <p:cNvGrpSpPr/>
          <p:nvPr/>
        </p:nvGrpSpPr>
        <p:grpSpPr>
          <a:xfrm>
            <a:off x="1783403" y="2219616"/>
            <a:ext cx="2447272" cy="158054"/>
            <a:chOff x="940714" y="5769008"/>
            <a:chExt cx="624548" cy="158054"/>
          </a:xfrm>
        </p:grpSpPr>
        <p:sp>
          <p:nvSpPr>
            <p:cNvPr id="242" name="Right Bracket 241">
              <a:extLst>
                <a:ext uri="{FF2B5EF4-FFF2-40B4-BE49-F238E27FC236}">
                  <a16:creationId xmlns:a16="http://schemas.microsoft.com/office/drawing/2014/main" id="{B1036C5E-2F50-9B06-8A54-68B02AE0914E}"/>
                </a:ext>
              </a:extLst>
            </p:cNvPr>
            <p:cNvSpPr/>
            <p:nvPr/>
          </p:nvSpPr>
          <p:spPr>
            <a:xfrm rot="16200000" flipV="1">
              <a:off x="1212754" y="5568064"/>
              <a:ext cx="80467" cy="624548"/>
            </a:xfrm>
            <a:prstGeom prst="rightBracket">
              <a:avLst>
                <a:gd name="adj" fmla="val 0"/>
              </a:avLst>
            </a:prstGeom>
            <a:ln w="9525">
              <a:solidFill>
                <a:srgbClr val="EC111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3" name="Rectangle 242">
              <a:extLst>
                <a:ext uri="{FF2B5EF4-FFF2-40B4-BE49-F238E27FC236}">
                  <a16:creationId xmlns:a16="http://schemas.microsoft.com/office/drawing/2014/main" id="{CF53EF2E-1CD7-1864-6B2A-D6BFFDC4F699}"/>
                </a:ext>
              </a:extLst>
            </p:cNvPr>
            <p:cNvSpPr/>
            <p:nvPr/>
          </p:nvSpPr>
          <p:spPr>
            <a:xfrm>
              <a:off x="1124100" y="5769008"/>
              <a:ext cx="257775" cy="1580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i="1">
                  <a:solidFill>
                    <a:srgbClr val="EC111A"/>
                  </a:solidFill>
                </a:rPr>
                <a:t>Path to F28</a:t>
              </a:r>
            </a:p>
          </p:txBody>
        </p:sp>
      </p:grpSp>
    </p:spTree>
    <p:extLst>
      <p:ext uri="{BB962C8B-B14F-4D97-AF65-F5344CB8AC3E}">
        <p14:creationId xmlns:p14="http://schemas.microsoft.com/office/powerpoint/2010/main" val="18638673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D2F697-DD39-798C-ABBC-5F7058D683E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0A0C9DB-4F65-BC03-624E-B31DF5836B1D}"/>
              </a:ext>
            </a:extLst>
          </p:cNvPr>
          <p:cNvSpPr>
            <a:spLocks noGrp="1"/>
          </p:cNvSpPr>
          <p:nvPr>
            <p:ph type="body" sz="quarter" idx="11"/>
          </p:nvPr>
        </p:nvSpPr>
        <p:spPr/>
        <p:txBody>
          <a:bodyPr/>
          <a:lstStyle/>
          <a:p>
            <a:r>
              <a:rPr lang="en-CA"/>
              <a:t>Competitive Overview &amp; Positioning</a:t>
            </a:r>
          </a:p>
        </p:txBody>
      </p:sp>
      <p:sp>
        <p:nvSpPr>
          <p:cNvPr id="3" name="Text Placeholder 2">
            <a:extLst>
              <a:ext uri="{FF2B5EF4-FFF2-40B4-BE49-F238E27FC236}">
                <a16:creationId xmlns:a16="http://schemas.microsoft.com/office/drawing/2014/main" id="{0497AFC4-7B94-257D-5847-D70CD8B671FB}"/>
              </a:ext>
            </a:extLst>
          </p:cNvPr>
          <p:cNvSpPr>
            <a:spLocks noGrp="1"/>
          </p:cNvSpPr>
          <p:nvPr>
            <p:ph type="body" sz="quarter" idx="12"/>
          </p:nvPr>
        </p:nvSpPr>
        <p:spPr/>
        <p:txBody>
          <a:bodyPr/>
          <a:lstStyle/>
          <a:p>
            <a:r>
              <a:rPr lang="en-CA"/>
              <a:t>08</a:t>
            </a:r>
          </a:p>
        </p:txBody>
      </p:sp>
    </p:spTree>
    <p:extLst>
      <p:ext uri="{BB962C8B-B14F-4D97-AF65-F5344CB8AC3E}">
        <p14:creationId xmlns:p14="http://schemas.microsoft.com/office/powerpoint/2010/main" val="402251054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5B2D9B-596E-99B4-4DB2-606B2C6ACDC2}"/>
            </a:ext>
          </a:extLst>
        </p:cNvPr>
        <p:cNvGrpSpPr/>
        <p:nvPr/>
      </p:nvGrpSpPr>
      <p:grpSpPr>
        <a:xfrm>
          <a:off x="0" y="0"/>
          <a:ext cx="0" cy="0"/>
          <a:chOff x="0" y="0"/>
          <a:chExt cx="0" cy="0"/>
        </a:xfrm>
      </p:grpSpPr>
      <p:graphicFrame>
        <p:nvGraphicFramePr>
          <p:cNvPr id="71" name="think-cell data - do not delete" hidden="1">
            <a:extLst>
              <a:ext uri="{FF2B5EF4-FFF2-40B4-BE49-F238E27FC236}">
                <a16:creationId xmlns:a16="http://schemas.microsoft.com/office/drawing/2014/main" id="{8DA6641F-9E4A-B0DD-46EF-8C1C49B10C0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71" name="think-cell data - do not delete" hidden="1">
                        <a:extLst>
                          <a:ext uri="{FF2B5EF4-FFF2-40B4-BE49-F238E27FC236}">
                            <a16:creationId xmlns:a16="http://schemas.microsoft.com/office/drawing/2014/main" id="{8DA6641F-9E4A-B0DD-46EF-8C1C49B10C03}"/>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73" name="Rectangle 172">
            <a:extLst>
              <a:ext uri="{FF2B5EF4-FFF2-40B4-BE49-F238E27FC236}">
                <a16:creationId xmlns:a16="http://schemas.microsoft.com/office/drawing/2014/main" id="{8D947603-FD02-940A-1FD3-10FF3812874B}"/>
              </a:ext>
            </a:extLst>
          </p:cNvPr>
          <p:cNvSpPr/>
          <p:nvPr/>
        </p:nvSpPr>
        <p:spPr>
          <a:xfrm>
            <a:off x="4501419" y="2097827"/>
            <a:ext cx="2286000" cy="4081978"/>
          </a:xfrm>
          <a:prstGeom prst="rect">
            <a:avLst/>
          </a:prstGeom>
          <a:noFill/>
          <a:ln>
            <a:solidFill>
              <a:srgbClr val="ECE1D4"/>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74" name="Rectangle 173">
            <a:extLst>
              <a:ext uri="{FF2B5EF4-FFF2-40B4-BE49-F238E27FC236}">
                <a16:creationId xmlns:a16="http://schemas.microsoft.com/office/drawing/2014/main" id="{4E2337B2-C585-1C0C-EF38-9D500A41EB3F}"/>
              </a:ext>
            </a:extLst>
          </p:cNvPr>
          <p:cNvSpPr/>
          <p:nvPr/>
        </p:nvSpPr>
        <p:spPr>
          <a:xfrm>
            <a:off x="6945742" y="2097827"/>
            <a:ext cx="2286000" cy="4081978"/>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75" name="Rectangle 174">
            <a:extLst>
              <a:ext uri="{FF2B5EF4-FFF2-40B4-BE49-F238E27FC236}">
                <a16:creationId xmlns:a16="http://schemas.microsoft.com/office/drawing/2014/main" id="{DD89A83F-48B3-D69A-37D1-54FC3AC71FDE}"/>
              </a:ext>
            </a:extLst>
          </p:cNvPr>
          <p:cNvSpPr/>
          <p:nvPr/>
        </p:nvSpPr>
        <p:spPr>
          <a:xfrm>
            <a:off x="9390064" y="2097827"/>
            <a:ext cx="2286000" cy="4081978"/>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 name="Title 1">
            <a:extLst>
              <a:ext uri="{FF2B5EF4-FFF2-40B4-BE49-F238E27FC236}">
                <a16:creationId xmlns:a16="http://schemas.microsoft.com/office/drawing/2014/main" id="{09363858-D35C-3AF0-AD5A-D3C4C865BA95}"/>
              </a:ext>
            </a:extLst>
          </p:cNvPr>
          <p:cNvSpPr>
            <a:spLocks noGrp="1"/>
          </p:cNvSpPr>
          <p:nvPr>
            <p:ph type="title"/>
          </p:nvPr>
        </p:nvSpPr>
        <p:spPr>
          <a:xfrm>
            <a:off x="515940" y="661850"/>
            <a:ext cx="11160124" cy="720000"/>
          </a:xfrm>
        </p:spPr>
        <p:txBody>
          <a:bodyPr vert="horz"/>
          <a:lstStyle/>
          <a:p>
            <a:r>
              <a:rPr lang="en-CA">
                <a:solidFill>
                  <a:srgbClr val="EC111A"/>
                </a:solidFill>
              </a:rPr>
              <a:t>Competitor Offerings |</a:t>
            </a:r>
            <a:r>
              <a:rPr lang="en-CA"/>
              <a:t> RBC and BMO have built a leading offering in the retail investment space by developing strong hybrid planning and investing tools </a:t>
            </a:r>
          </a:p>
        </p:txBody>
      </p:sp>
      <p:sp>
        <p:nvSpPr>
          <p:cNvPr id="3" name="Slide Number Placeholder 2">
            <a:extLst>
              <a:ext uri="{FF2B5EF4-FFF2-40B4-BE49-F238E27FC236}">
                <a16:creationId xmlns:a16="http://schemas.microsoft.com/office/drawing/2014/main" id="{BFE4BF5E-D81C-6623-B804-27357555D19D}"/>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 name="Text Placeholder 4">
            <a:extLst>
              <a:ext uri="{FF2B5EF4-FFF2-40B4-BE49-F238E27FC236}">
                <a16:creationId xmlns:a16="http://schemas.microsoft.com/office/drawing/2014/main" id="{4B26FD64-D0FD-DD34-228A-284CACA5E7AF}"/>
              </a:ext>
            </a:extLst>
          </p:cNvPr>
          <p:cNvSpPr>
            <a:spLocks noGrp="1"/>
          </p:cNvSpPr>
          <p:nvPr>
            <p:ph type="body" sz="quarter" idx="13"/>
          </p:nvPr>
        </p:nvSpPr>
        <p:spPr/>
        <p:txBody>
          <a:bodyPr/>
          <a:lstStyle/>
          <a:p>
            <a:r>
              <a:rPr lang="en-US"/>
              <a:t>Mass affluent INVESTMENT strategy</a:t>
            </a:r>
            <a:endParaRPr lang="en-CA"/>
          </a:p>
        </p:txBody>
      </p:sp>
      <p:sp>
        <p:nvSpPr>
          <p:cNvPr id="93" name="Rectangle 92">
            <a:extLst>
              <a:ext uri="{FF2B5EF4-FFF2-40B4-BE49-F238E27FC236}">
                <a16:creationId xmlns:a16="http://schemas.microsoft.com/office/drawing/2014/main" id="{C7DF5C6A-99A8-4B79-900F-242D3E02D44B}"/>
              </a:ext>
            </a:extLst>
          </p:cNvPr>
          <p:cNvSpPr/>
          <p:nvPr/>
        </p:nvSpPr>
        <p:spPr>
          <a:xfrm>
            <a:off x="4501419" y="1912959"/>
            <a:ext cx="2286000" cy="294429"/>
          </a:xfrm>
          <a:prstGeom prst="rect">
            <a:avLst/>
          </a:prstGeom>
          <a:solidFill>
            <a:srgbClr val="ECE1D4"/>
          </a:solidFill>
          <a:ln>
            <a:solidFill>
              <a:srgbClr val="ECE1D4"/>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300" normalizeH="0" baseline="0" noProof="0">
                <a:ln>
                  <a:noFill/>
                </a:ln>
                <a:solidFill>
                  <a:srgbClr val="000000"/>
                </a:solidFill>
                <a:effectLst/>
                <a:uLnTx/>
                <a:uFillTx/>
                <a:latin typeface="Scotia"/>
                <a:ea typeface="+mn-ea"/>
                <a:cs typeface="+mn-cs"/>
              </a:rPr>
              <a:t>HYBRID- PLANNING</a:t>
            </a:r>
          </a:p>
        </p:txBody>
      </p:sp>
      <p:sp>
        <p:nvSpPr>
          <p:cNvPr id="95" name="Rectangle 94">
            <a:extLst>
              <a:ext uri="{FF2B5EF4-FFF2-40B4-BE49-F238E27FC236}">
                <a16:creationId xmlns:a16="http://schemas.microsoft.com/office/drawing/2014/main" id="{327B975A-DBBB-A9B1-FC61-2DB12D0C65C1}"/>
              </a:ext>
            </a:extLst>
          </p:cNvPr>
          <p:cNvSpPr/>
          <p:nvPr/>
        </p:nvSpPr>
        <p:spPr>
          <a:xfrm>
            <a:off x="9390064" y="1912959"/>
            <a:ext cx="2286000" cy="294429"/>
          </a:xfrm>
          <a:prstGeom prst="rect">
            <a:avLst/>
          </a:prstGeom>
          <a:solidFill>
            <a:srgbClr val="D8D6CA"/>
          </a:solid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300" normalizeH="0" baseline="0" noProof="0">
                <a:ln>
                  <a:noFill/>
                </a:ln>
                <a:solidFill>
                  <a:srgbClr val="000000"/>
                </a:solidFill>
                <a:effectLst/>
                <a:uLnTx/>
                <a:uFillTx/>
                <a:latin typeface="Scotia"/>
                <a:ea typeface="+mn-ea"/>
                <a:cs typeface="+mn-cs"/>
              </a:rPr>
              <a:t>DIRECT INVESTING</a:t>
            </a:r>
          </a:p>
        </p:txBody>
      </p:sp>
      <p:sp>
        <p:nvSpPr>
          <p:cNvPr id="96" name="Rectangle 95">
            <a:extLst>
              <a:ext uri="{FF2B5EF4-FFF2-40B4-BE49-F238E27FC236}">
                <a16:creationId xmlns:a16="http://schemas.microsoft.com/office/drawing/2014/main" id="{6F9C8FFE-312D-32A4-F865-508EF91DA464}"/>
              </a:ext>
            </a:extLst>
          </p:cNvPr>
          <p:cNvSpPr/>
          <p:nvPr/>
        </p:nvSpPr>
        <p:spPr>
          <a:xfrm>
            <a:off x="6945742" y="1912959"/>
            <a:ext cx="2286000" cy="294429"/>
          </a:xfrm>
          <a:prstGeom prst="rect">
            <a:avLst/>
          </a:prstGeom>
          <a:solidFill>
            <a:srgbClr val="D8D6CA"/>
          </a:solid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300" normalizeH="0" baseline="0" noProof="0">
                <a:ln>
                  <a:noFill/>
                </a:ln>
                <a:solidFill>
                  <a:srgbClr val="000000"/>
                </a:solidFill>
                <a:effectLst/>
                <a:uLnTx/>
                <a:uFillTx/>
                <a:latin typeface="Scotia"/>
                <a:ea typeface="+mn-ea"/>
                <a:cs typeface="+mn-cs"/>
              </a:rPr>
              <a:t>HYBRID- INVESTING</a:t>
            </a:r>
          </a:p>
        </p:txBody>
      </p:sp>
      <p:sp>
        <p:nvSpPr>
          <p:cNvPr id="97" name="Rectangle 96">
            <a:extLst>
              <a:ext uri="{FF2B5EF4-FFF2-40B4-BE49-F238E27FC236}">
                <a16:creationId xmlns:a16="http://schemas.microsoft.com/office/drawing/2014/main" id="{25364914-7C58-3E60-7017-53424D7ACD56}"/>
              </a:ext>
            </a:extLst>
          </p:cNvPr>
          <p:cNvSpPr/>
          <p:nvPr/>
        </p:nvSpPr>
        <p:spPr>
          <a:xfrm>
            <a:off x="4605328" y="2300026"/>
            <a:ext cx="2078182" cy="4115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Tools for DIY goal setting and customized recommendations</a:t>
            </a:r>
          </a:p>
        </p:txBody>
      </p:sp>
      <p:sp>
        <p:nvSpPr>
          <p:cNvPr id="98" name="Rectangle 97">
            <a:extLst>
              <a:ext uri="{FF2B5EF4-FFF2-40B4-BE49-F238E27FC236}">
                <a16:creationId xmlns:a16="http://schemas.microsoft.com/office/drawing/2014/main" id="{E2083C53-3B84-67C1-C105-5B9C102F6A0A}"/>
              </a:ext>
            </a:extLst>
          </p:cNvPr>
          <p:cNvSpPr/>
          <p:nvPr/>
        </p:nvSpPr>
        <p:spPr>
          <a:xfrm>
            <a:off x="2161005" y="2300026"/>
            <a:ext cx="2078182" cy="4115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High-touch, personalized planning led by financial planners</a:t>
            </a:r>
          </a:p>
        </p:txBody>
      </p:sp>
      <p:sp>
        <p:nvSpPr>
          <p:cNvPr id="99" name="Rectangle 98">
            <a:extLst>
              <a:ext uri="{FF2B5EF4-FFF2-40B4-BE49-F238E27FC236}">
                <a16:creationId xmlns:a16="http://schemas.microsoft.com/office/drawing/2014/main" id="{FD2F405B-2A36-B1A4-E525-19C0871FC487}"/>
              </a:ext>
            </a:extLst>
          </p:cNvPr>
          <p:cNvSpPr/>
          <p:nvPr/>
        </p:nvSpPr>
        <p:spPr>
          <a:xfrm>
            <a:off x="7049651" y="2305376"/>
            <a:ext cx="2078182" cy="4008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Self-directed, digital advice and purchasing platform for ETFs</a:t>
            </a:r>
          </a:p>
        </p:txBody>
      </p:sp>
      <p:sp>
        <p:nvSpPr>
          <p:cNvPr id="100" name="Rectangle 99">
            <a:extLst>
              <a:ext uri="{FF2B5EF4-FFF2-40B4-BE49-F238E27FC236}">
                <a16:creationId xmlns:a16="http://schemas.microsoft.com/office/drawing/2014/main" id="{C43BF283-4F9A-C267-6E21-8C63227B5DC9}"/>
              </a:ext>
            </a:extLst>
          </p:cNvPr>
          <p:cNvSpPr/>
          <p:nvPr/>
        </p:nvSpPr>
        <p:spPr>
          <a:xfrm>
            <a:off x="9493973" y="2305376"/>
            <a:ext cx="2078182" cy="4008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Self-directed investment platform for independent investors</a:t>
            </a:r>
          </a:p>
        </p:txBody>
      </p:sp>
      <p:sp>
        <p:nvSpPr>
          <p:cNvPr id="104" name="Rectangle 103">
            <a:extLst>
              <a:ext uri="{FF2B5EF4-FFF2-40B4-BE49-F238E27FC236}">
                <a16:creationId xmlns:a16="http://schemas.microsoft.com/office/drawing/2014/main" id="{93B8C472-EA4F-F8C3-0137-D66B93845513}"/>
              </a:ext>
            </a:extLst>
          </p:cNvPr>
          <p:cNvSpPr/>
          <p:nvPr/>
        </p:nvSpPr>
        <p:spPr>
          <a:xfrm>
            <a:off x="2431381" y="2696452"/>
            <a:ext cx="1537431" cy="3401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Mutual Funds</a:t>
            </a:r>
          </a:p>
        </p:txBody>
      </p:sp>
      <p:sp>
        <p:nvSpPr>
          <p:cNvPr id="106" name="Rectangle 105">
            <a:extLst>
              <a:ext uri="{FF2B5EF4-FFF2-40B4-BE49-F238E27FC236}">
                <a16:creationId xmlns:a16="http://schemas.microsoft.com/office/drawing/2014/main" id="{85C245DF-AB69-6C97-C4FD-1A0C2907BEDE}"/>
              </a:ext>
            </a:extLst>
          </p:cNvPr>
          <p:cNvSpPr/>
          <p:nvPr/>
        </p:nvSpPr>
        <p:spPr>
          <a:xfrm>
            <a:off x="7218076" y="2696452"/>
            <a:ext cx="1741333" cy="3401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ETF Portfolios</a:t>
            </a:r>
          </a:p>
        </p:txBody>
      </p:sp>
      <p:sp>
        <p:nvSpPr>
          <p:cNvPr id="107" name="Rectangle 106">
            <a:extLst>
              <a:ext uri="{FF2B5EF4-FFF2-40B4-BE49-F238E27FC236}">
                <a16:creationId xmlns:a16="http://schemas.microsoft.com/office/drawing/2014/main" id="{6BF8CF74-D2C7-D590-1FB4-A38A15B32111}"/>
              </a:ext>
            </a:extLst>
          </p:cNvPr>
          <p:cNvSpPr/>
          <p:nvPr/>
        </p:nvSpPr>
        <p:spPr>
          <a:xfrm>
            <a:off x="9553431" y="2696452"/>
            <a:ext cx="1959266" cy="3401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Mutual Funds, ETFs, stocks</a:t>
            </a:r>
          </a:p>
        </p:txBody>
      </p:sp>
      <p:grpSp>
        <p:nvGrpSpPr>
          <p:cNvPr id="1032" name="Group 1031">
            <a:extLst>
              <a:ext uri="{FF2B5EF4-FFF2-40B4-BE49-F238E27FC236}">
                <a16:creationId xmlns:a16="http://schemas.microsoft.com/office/drawing/2014/main" id="{E40352BE-FB7D-A0B2-A82C-A8808F41539C}"/>
              </a:ext>
            </a:extLst>
          </p:cNvPr>
          <p:cNvGrpSpPr/>
          <p:nvPr/>
        </p:nvGrpSpPr>
        <p:grpSpPr>
          <a:xfrm>
            <a:off x="2210871" y="3070846"/>
            <a:ext cx="2049336" cy="522230"/>
            <a:chOff x="2215662" y="2762450"/>
            <a:chExt cx="2049336" cy="522230"/>
          </a:xfrm>
        </p:grpSpPr>
        <p:grpSp>
          <p:nvGrpSpPr>
            <p:cNvPr id="110" name="Group 109">
              <a:extLst>
                <a:ext uri="{FF2B5EF4-FFF2-40B4-BE49-F238E27FC236}">
                  <a16:creationId xmlns:a16="http://schemas.microsoft.com/office/drawing/2014/main" id="{005E5BCA-8EBC-3E2B-ABAF-D27721254832}"/>
                </a:ext>
              </a:extLst>
            </p:cNvPr>
            <p:cNvGrpSpPr/>
            <p:nvPr/>
          </p:nvGrpSpPr>
          <p:grpSpPr>
            <a:xfrm>
              <a:off x="2215662" y="2841195"/>
              <a:ext cx="894060" cy="121910"/>
              <a:chOff x="2215662" y="2972267"/>
              <a:chExt cx="894060" cy="121910"/>
            </a:xfrm>
          </p:grpSpPr>
          <p:sp>
            <p:nvSpPr>
              <p:cNvPr id="109" name="Rectangle: Rounded Corners 108">
                <a:extLst>
                  <a:ext uri="{FF2B5EF4-FFF2-40B4-BE49-F238E27FC236}">
                    <a16:creationId xmlns:a16="http://schemas.microsoft.com/office/drawing/2014/main" id="{A8D2AA97-00AB-1804-AD7A-A14FC02F05F9}"/>
                  </a:ext>
                </a:extLst>
              </p:cNvPr>
              <p:cNvSpPr/>
              <p:nvPr/>
            </p:nvSpPr>
            <p:spPr>
              <a:xfrm>
                <a:off x="2496773" y="2972267"/>
                <a:ext cx="612949"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08" name="Rectangle: Rounded Corners 107">
                <a:extLst>
                  <a:ext uri="{FF2B5EF4-FFF2-40B4-BE49-F238E27FC236}">
                    <a16:creationId xmlns:a16="http://schemas.microsoft.com/office/drawing/2014/main" id="{81ECDF19-B127-C091-B155-AED24E680B55}"/>
                  </a:ext>
                </a:extLst>
              </p:cNvPr>
              <p:cNvSpPr/>
              <p:nvPr/>
            </p:nvSpPr>
            <p:spPr>
              <a:xfrm>
                <a:off x="2215662" y="2972267"/>
                <a:ext cx="832338"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113" name="TextBox 112">
              <a:extLst>
                <a:ext uri="{FF2B5EF4-FFF2-40B4-BE49-F238E27FC236}">
                  <a16:creationId xmlns:a16="http://schemas.microsoft.com/office/drawing/2014/main" id="{7C04D351-016D-D924-2DBA-E6D2C38D0998}"/>
                </a:ext>
              </a:extLst>
            </p:cNvPr>
            <p:cNvSpPr txBox="1"/>
            <p:nvPr/>
          </p:nvSpPr>
          <p:spPr>
            <a:xfrm>
              <a:off x="3176238" y="2762450"/>
              <a:ext cx="1088760"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Advisory Focus</a:t>
              </a:r>
            </a:p>
          </p:txBody>
        </p:sp>
        <p:sp>
          <p:nvSpPr>
            <p:cNvPr id="114" name="TextBox 113">
              <a:extLst>
                <a:ext uri="{FF2B5EF4-FFF2-40B4-BE49-F238E27FC236}">
                  <a16:creationId xmlns:a16="http://schemas.microsoft.com/office/drawing/2014/main" id="{31187713-D672-E383-6FD7-0F80E5E303E6}"/>
                </a:ext>
              </a:extLst>
            </p:cNvPr>
            <p:cNvSpPr txBox="1"/>
            <p:nvPr/>
          </p:nvSpPr>
          <p:spPr>
            <a:xfrm>
              <a:off x="3176238" y="3030764"/>
              <a:ext cx="764953"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High Cost</a:t>
              </a:r>
            </a:p>
          </p:txBody>
        </p:sp>
        <p:grpSp>
          <p:nvGrpSpPr>
            <p:cNvPr id="116" name="Group 115">
              <a:extLst>
                <a:ext uri="{FF2B5EF4-FFF2-40B4-BE49-F238E27FC236}">
                  <a16:creationId xmlns:a16="http://schemas.microsoft.com/office/drawing/2014/main" id="{90382FEB-49E1-F8D0-969C-F256537DBE34}"/>
                </a:ext>
              </a:extLst>
            </p:cNvPr>
            <p:cNvGrpSpPr/>
            <p:nvPr/>
          </p:nvGrpSpPr>
          <p:grpSpPr>
            <a:xfrm>
              <a:off x="2215662" y="3125293"/>
              <a:ext cx="894060" cy="121910"/>
              <a:chOff x="2215662" y="2972267"/>
              <a:chExt cx="894060" cy="121910"/>
            </a:xfrm>
          </p:grpSpPr>
          <p:sp>
            <p:nvSpPr>
              <p:cNvPr id="117" name="Rectangle: Rounded Corners 116">
                <a:extLst>
                  <a:ext uri="{FF2B5EF4-FFF2-40B4-BE49-F238E27FC236}">
                    <a16:creationId xmlns:a16="http://schemas.microsoft.com/office/drawing/2014/main" id="{E7BB4203-1781-B6AF-5982-15BB84D7B44A}"/>
                  </a:ext>
                </a:extLst>
              </p:cNvPr>
              <p:cNvSpPr/>
              <p:nvPr/>
            </p:nvSpPr>
            <p:spPr>
              <a:xfrm>
                <a:off x="2496773" y="2972267"/>
                <a:ext cx="612949"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8" name="Rectangle: Rounded Corners 117">
                <a:extLst>
                  <a:ext uri="{FF2B5EF4-FFF2-40B4-BE49-F238E27FC236}">
                    <a16:creationId xmlns:a16="http://schemas.microsoft.com/office/drawing/2014/main" id="{1CBCC8FB-9717-C7D8-E077-B5A6EBD4B220}"/>
                  </a:ext>
                </a:extLst>
              </p:cNvPr>
              <p:cNvSpPr/>
              <p:nvPr/>
            </p:nvSpPr>
            <p:spPr>
              <a:xfrm>
                <a:off x="2215662" y="2972267"/>
                <a:ext cx="832338"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grpSp>
      <p:grpSp>
        <p:nvGrpSpPr>
          <p:cNvPr id="1033" name="Group 1032">
            <a:extLst>
              <a:ext uri="{FF2B5EF4-FFF2-40B4-BE49-F238E27FC236}">
                <a16:creationId xmlns:a16="http://schemas.microsoft.com/office/drawing/2014/main" id="{A7255790-CC50-3C8A-D311-B97DD10376D7}"/>
              </a:ext>
            </a:extLst>
          </p:cNvPr>
          <p:cNvGrpSpPr/>
          <p:nvPr/>
        </p:nvGrpSpPr>
        <p:grpSpPr>
          <a:xfrm>
            <a:off x="4655194" y="3070846"/>
            <a:ext cx="2153531" cy="522230"/>
            <a:chOff x="4738083" y="2762450"/>
            <a:chExt cx="2153531" cy="522230"/>
          </a:xfrm>
        </p:grpSpPr>
        <p:sp>
          <p:nvSpPr>
            <p:cNvPr id="120" name="Rectangle: Rounded Corners 119">
              <a:extLst>
                <a:ext uri="{FF2B5EF4-FFF2-40B4-BE49-F238E27FC236}">
                  <a16:creationId xmlns:a16="http://schemas.microsoft.com/office/drawing/2014/main" id="{96093EC3-0DEA-B1C6-463D-C3C84C8C8A1E}"/>
                </a:ext>
              </a:extLst>
            </p:cNvPr>
            <p:cNvSpPr/>
            <p:nvPr/>
          </p:nvSpPr>
          <p:spPr>
            <a:xfrm>
              <a:off x="5019194" y="2841195"/>
              <a:ext cx="612949"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21" name="Rectangle: Rounded Corners 120">
              <a:extLst>
                <a:ext uri="{FF2B5EF4-FFF2-40B4-BE49-F238E27FC236}">
                  <a16:creationId xmlns:a16="http://schemas.microsoft.com/office/drawing/2014/main" id="{A2055351-C757-8100-2D22-52A7760E866E}"/>
                </a:ext>
              </a:extLst>
            </p:cNvPr>
            <p:cNvSpPr/>
            <p:nvPr/>
          </p:nvSpPr>
          <p:spPr>
            <a:xfrm>
              <a:off x="4738083" y="2841195"/>
              <a:ext cx="457200"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22" name="TextBox 121">
              <a:extLst>
                <a:ext uri="{FF2B5EF4-FFF2-40B4-BE49-F238E27FC236}">
                  <a16:creationId xmlns:a16="http://schemas.microsoft.com/office/drawing/2014/main" id="{7A6F87C7-22BD-8785-ED96-6EC4F59D0143}"/>
                </a:ext>
              </a:extLst>
            </p:cNvPr>
            <p:cNvSpPr txBox="1"/>
            <p:nvPr/>
          </p:nvSpPr>
          <p:spPr>
            <a:xfrm>
              <a:off x="5698659" y="2762450"/>
              <a:ext cx="1192955"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Limited Advisory</a:t>
              </a:r>
            </a:p>
          </p:txBody>
        </p:sp>
        <p:sp>
          <p:nvSpPr>
            <p:cNvPr id="123" name="TextBox 122">
              <a:extLst>
                <a:ext uri="{FF2B5EF4-FFF2-40B4-BE49-F238E27FC236}">
                  <a16:creationId xmlns:a16="http://schemas.microsoft.com/office/drawing/2014/main" id="{E2B72D2A-F5DB-A5AF-842C-69DBA81D0205}"/>
                </a:ext>
              </a:extLst>
            </p:cNvPr>
            <p:cNvSpPr txBox="1"/>
            <p:nvPr/>
          </p:nvSpPr>
          <p:spPr>
            <a:xfrm>
              <a:off x="5698659" y="3030764"/>
              <a:ext cx="1114408"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High-Med Cost</a:t>
              </a:r>
            </a:p>
          </p:txBody>
        </p:sp>
        <p:sp>
          <p:nvSpPr>
            <p:cNvPr id="125" name="Rectangle: Rounded Corners 124">
              <a:extLst>
                <a:ext uri="{FF2B5EF4-FFF2-40B4-BE49-F238E27FC236}">
                  <a16:creationId xmlns:a16="http://schemas.microsoft.com/office/drawing/2014/main" id="{C3ECA8AC-F1A3-3A74-47CA-FD7F9C925752}"/>
                </a:ext>
              </a:extLst>
            </p:cNvPr>
            <p:cNvSpPr/>
            <p:nvPr/>
          </p:nvSpPr>
          <p:spPr>
            <a:xfrm>
              <a:off x="5019194" y="3125293"/>
              <a:ext cx="612949"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26" name="Rectangle: Rounded Corners 125">
              <a:extLst>
                <a:ext uri="{FF2B5EF4-FFF2-40B4-BE49-F238E27FC236}">
                  <a16:creationId xmlns:a16="http://schemas.microsoft.com/office/drawing/2014/main" id="{B2BA974E-8FFE-7484-2A0E-58A5731E7193}"/>
                </a:ext>
              </a:extLst>
            </p:cNvPr>
            <p:cNvSpPr/>
            <p:nvPr/>
          </p:nvSpPr>
          <p:spPr>
            <a:xfrm>
              <a:off x="4738083" y="3125293"/>
              <a:ext cx="690314"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1031" name="Group 1030">
            <a:extLst>
              <a:ext uri="{FF2B5EF4-FFF2-40B4-BE49-F238E27FC236}">
                <a16:creationId xmlns:a16="http://schemas.microsoft.com/office/drawing/2014/main" id="{CC973BD4-A0AE-816F-698A-61BE29C47480}"/>
              </a:ext>
            </a:extLst>
          </p:cNvPr>
          <p:cNvGrpSpPr/>
          <p:nvPr/>
        </p:nvGrpSpPr>
        <p:grpSpPr>
          <a:xfrm>
            <a:off x="7099517" y="3070846"/>
            <a:ext cx="2153531" cy="522230"/>
            <a:chOff x="7182406" y="2762450"/>
            <a:chExt cx="2153531" cy="522230"/>
          </a:xfrm>
        </p:grpSpPr>
        <p:sp>
          <p:nvSpPr>
            <p:cNvPr id="128" name="Rectangle: Rounded Corners 127">
              <a:extLst>
                <a:ext uri="{FF2B5EF4-FFF2-40B4-BE49-F238E27FC236}">
                  <a16:creationId xmlns:a16="http://schemas.microsoft.com/office/drawing/2014/main" id="{70B57242-BD9D-9ECE-EEE4-DD79CA9D2D71}"/>
                </a:ext>
              </a:extLst>
            </p:cNvPr>
            <p:cNvSpPr/>
            <p:nvPr/>
          </p:nvSpPr>
          <p:spPr>
            <a:xfrm>
              <a:off x="7463517" y="2841195"/>
              <a:ext cx="612949"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29" name="Rectangle: Rounded Corners 128">
              <a:extLst>
                <a:ext uri="{FF2B5EF4-FFF2-40B4-BE49-F238E27FC236}">
                  <a16:creationId xmlns:a16="http://schemas.microsoft.com/office/drawing/2014/main" id="{F9F47E8F-8CF4-D741-7574-181B31A2C79F}"/>
                </a:ext>
              </a:extLst>
            </p:cNvPr>
            <p:cNvSpPr/>
            <p:nvPr/>
          </p:nvSpPr>
          <p:spPr>
            <a:xfrm>
              <a:off x="7182406" y="2841195"/>
              <a:ext cx="457200"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30" name="TextBox 129">
              <a:extLst>
                <a:ext uri="{FF2B5EF4-FFF2-40B4-BE49-F238E27FC236}">
                  <a16:creationId xmlns:a16="http://schemas.microsoft.com/office/drawing/2014/main" id="{745E9A06-6DBB-23E5-AEB4-6DC739BEC7B8}"/>
                </a:ext>
              </a:extLst>
            </p:cNvPr>
            <p:cNvSpPr txBox="1"/>
            <p:nvPr/>
          </p:nvSpPr>
          <p:spPr>
            <a:xfrm>
              <a:off x="8142982" y="2762450"/>
              <a:ext cx="1192955"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Limited Advisory</a:t>
              </a:r>
            </a:p>
          </p:txBody>
        </p:sp>
        <p:sp>
          <p:nvSpPr>
            <p:cNvPr id="131" name="TextBox 130">
              <a:extLst>
                <a:ext uri="{FF2B5EF4-FFF2-40B4-BE49-F238E27FC236}">
                  <a16:creationId xmlns:a16="http://schemas.microsoft.com/office/drawing/2014/main" id="{62C4D8BC-6248-9319-A474-6E6FD0359A4B}"/>
                </a:ext>
              </a:extLst>
            </p:cNvPr>
            <p:cNvSpPr txBox="1"/>
            <p:nvPr/>
          </p:nvSpPr>
          <p:spPr>
            <a:xfrm>
              <a:off x="8142982" y="3030764"/>
              <a:ext cx="1056700"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Low-Med Cost</a:t>
              </a:r>
            </a:p>
          </p:txBody>
        </p:sp>
        <p:sp>
          <p:nvSpPr>
            <p:cNvPr id="133" name="Rectangle: Rounded Corners 132">
              <a:extLst>
                <a:ext uri="{FF2B5EF4-FFF2-40B4-BE49-F238E27FC236}">
                  <a16:creationId xmlns:a16="http://schemas.microsoft.com/office/drawing/2014/main" id="{221C725F-053A-3326-59BB-285640F348ED}"/>
                </a:ext>
              </a:extLst>
            </p:cNvPr>
            <p:cNvSpPr/>
            <p:nvPr/>
          </p:nvSpPr>
          <p:spPr>
            <a:xfrm>
              <a:off x="7305473" y="3125293"/>
              <a:ext cx="770994"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34" name="Rectangle: Rounded Corners 133">
              <a:extLst>
                <a:ext uri="{FF2B5EF4-FFF2-40B4-BE49-F238E27FC236}">
                  <a16:creationId xmlns:a16="http://schemas.microsoft.com/office/drawing/2014/main" id="{44C39126-E408-A535-0F6F-E5D169ACEFD3}"/>
                </a:ext>
              </a:extLst>
            </p:cNvPr>
            <p:cNvSpPr/>
            <p:nvPr/>
          </p:nvSpPr>
          <p:spPr>
            <a:xfrm>
              <a:off x="7182406" y="3125293"/>
              <a:ext cx="327347"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1030" name="Group 1029">
            <a:extLst>
              <a:ext uri="{FF2B5EF4-FFF2-40B4-BE49-F238E27FC236}">
                <a16:creationId xmlns:a16="http://schemas.microsoft.com/office/drawing/2014/main" id="{A340EE2A-46D7-DB26-5D81-583B7BF8A42C}"/>
              </a:ext>
            </a:extLst>
          </p:cNvPr>
          <p:cNvGrpSpPr/>
          <p:nvPr/>
        </p:nvGrpSpPr>
        <p:grpSpPr>
          <a:xfrm>
            <a:off x="9543839" y="3070846"/>
            <a:ext cx="1869799" cy="522230"/>
            <a:chOff x="9792886" y="2762450"/>
            <a:chExt cx="1869799" cy="522230"/>
          </a:xfrm>
        </p:grpSpPr>
        <p:sp>
          <p:nvSpPr>
            <p:cNvPr id="136" name="Rectangle: Rounded Corners 135">
              <a:extLst>
                <a:ext uri="{FF2B5EF4-FFF2-40B4-BE49-F238E27FC236}">
                  <a16:creationId xmlns:a16="http://schemas.microsoft.com/office/drawing/2014/main" id="{FFF6411F-B339-96CA-9DD3-7058DCEAE7BF}"/>
                </a:ext>
              </a:extLst>
            </p:cNvPr>
            <p:cNvSpPr/>
            <p:nvPr/>
          </p:nvSpPr>
          <p:spPr>
            <a:xfrm>
              <a:off x="9795753" y="2841195"/>
              <a:ext cx="891193"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37" name="Rectangle: Rounded Corners 136">
              <a:extLst>
                <a:ext uri="{FF2B5EF4-FFF2-40B4-BE49-F238E27FC236}">
                  <a16:creationId xmlns:a16="http://schemas.microsoft.com/office/drawing/2014/main" id="{A82E1F0A-917B-C610-9EC2-FFC07F9DAF71}"/>
                </a:ext>
              </a:extLst>
            </p:cNvPr>
            <p:cNvSpPr/>
            <p:nvPr/>
          </p:nvSpPr>
          <p:spPr>
            <a:xfrm>
              <a:off x="9792886" y="2841195"/>
              <a:ext cx="91440"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38" name="TextBox 137">
              <a:extLst>
                <a:ext uri="{FF2B5EF4-FFF2-40B4-BE49-F238E27FC236}">
                  <a16:creationId xmlns:a16="http://schemas.microsoft.com/office/drawing/2014/main" id="{5320138B-1ADE-871B-202B-E36838229AF2}"/>
                </a:ext>
              </a:extLst>
            </p:cNvPr>
            <p:cNvSpPr txBox="1"/>
            <p:nvPr/>
          </p:nvSpPr>
          <p:spPr>
            <a:xfrm>
              <a:off x="10753462" y="2762450"/>
              <a:ext cx="909223"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No Advisory</a:t>
              </a:r>
            </a:p>
          </p:txBody>
        </p:sp>
        <p:sp>
          <p:nvSpPr>
            <p:cNvPr id="139" name="TextBox 138">
              <a:extLst>
                <a:ext uri="{FF2B5EF4-FFF2-40B4-BE49-F238E27FC236}">
                  <a16:creationId xmlns:a16="http://schemas.microsoft.com/office/drawing/2014/main" id="{D70C206F-82D0-EB4F-3BD4-D6EFE5FA1D1A}"/>
                </a:ext>
              </a:extLst>
            </p:cNvPr>
            <p:cNvSpPr txBox="1"/>
            <p:nvPr/>
          </p:nvSpPr>
          <p:spPr>
            <a:xfrm>
              <a:off x="10753462" y="3030764"/>
              <a:ext cx="737702"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Scotia"/>
                  <a:ea typeface="+mn-ea"/>
                  <a:cs typeface="+mn-cs"/>
                </a:rPr>
                <a:t>Low Cost</a:t>
              </a:r>
            </a:p>
          </p:txBody>
        </p:sp>
        <p:sp>
          <p:nvSpPr>
            <p:cNvPr id="141" name="Rectangle: Rounded Corners 140">
              <a:extLst>
                <a:ext uri="{FF2B5EF4-FFF2-40B4-BE49-F238E27FC236}">
                  <a16:creationId xmlns:a16="http://schemas.microsoft.com/office/drawing/2014/main" id="{B7B4CC99-F35E-7704-4FDC-C7D7E5C703F8}"/>
                </a:ext>
              </a:extLst>
            </p:cNvPr>
            <p:cNvSpPr/>
            <p:nvPr/>
          </p:nvSpPr>
          <p:spPr>
            <a:xfrm>
              <a:off x="9810345" y="3125293"/>
              <a:ext cx="876601" cy="12191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42" name="Rectangle: Rounded Corners 141">
              <a:extLst>
                <a:ext uri="{FF2B5EF4-FFF2-40B4-BE49-F238E27FC236}">
                  <a16:creationId xmlns:a16="http://schemas.microsoft.com/office/drawing/2014/main" id="{6FA779C9-2F7D-C2DF-4598-8C9CC095B9CF}"/>
                </a:ext>
              </a:extLst>
            </p:cNvPr>
            <p:cNvSpPr/>
            <p:nvPr/>
          </p:nvSpPr>
          <p:spPr>
            <a:xfrm>
              <a:off x="9792886" y="3125293"/>
              <a:ext cx="91440" cy="121910"/>
            </a:xfrm>
            <a:prstGeom prst="roundRect">
              <a:avLst>
                <a:gd name="adj" fmla="val 50000"/>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172" name="Rectangle 171">
            <a:extLst>
              <a:ext uri="{FF2B5EF4-FFF2-40B4-BE49-F238E27FC236}">
                <a16:creationId xmlns:a16="http://schemas.microsoft.com/office/drawing/2014/main" id="{8DF10E82-974C-9C5D-0C17-4650048271A2}"/>
              </a:ext>
            </a:extLst>
          </p:cNvPr>
          <p:cNvSpPr/>
          <p:nvPr/>
        </p:nvSpPr>
        <p:spPr>
          <a:xfrm>
            <a:off x="2057096" y="1996678"/>
            <a:ext cx="2286000" cy="4174839"/>
          </a:xfrm>
          <a:prstGeom prst="rect">
            <a:avLst/>
          </a:prstGeom>
          <a:noFill/>
          <a:ln>
            <a:solidFill>
              <a:srgbClr val="ECE1D4"/>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 </a:t>
            </a:r>
          </a:p>
        </p:txBody>
      </p:sp>
      <p:sp>
        <p:nvSpPr>
          <p:cNvPr id="176" name="Rectangle 175">
            <a:extLst>
              <a:ext uri="{FF2B5EF4-FFF2-40B4-BE49-F238E27FC236}">
                <a16:creationId xmlns:a16="http://schemas.microsoft.com/office/drawing/2014/main" id="{534BFBBB-43DA-8D9D-DA7B-4D99BBFA7651}"/>
              </a:ext>
            </a:extLst>
          </p:cNvPr>
          <p:cNvSpPr/>
          <p:nvPr/>
        </p:nvSpPr>
        <p:spPr>
          <a:xfrm>
            <a:off x="4875704" y="2696452"/>
            <a:ext cx="1537431" cy="3401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Mutual Funds</a:t>
            </a:r>
          </a:p>
        </p:txBody>
      </p:sp>
      <p:sp>
        <p:nvSpPr>
          <p:cNvPr id="181" name="TextBox 180">
            <a:extLst>
              <a:ext uri="{FF2B5EF4-FFF2-40B4-BE49-F238E27FC236}">
                <a16:creationId xmlns:a16="http://schemas.microsoft.com/office/drawing/2014/main" id="{A25E7A0F-E54F-81F0-8644-8F000CED615F}"/>
              </a:ext>
            </a:extLst>
          </p:cNvPr>
          <p:cNvSpPr txBox="1"/>
          <p:nvPr/>
        </p:nvSpPr>
        <p:spPr>
          <a:xfrm>
            <a:off x="886037" y="2743407"/>
            <a:ext cx="98777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Product Focus</a:t>
            </a:r>
          </a:p>
        </p:txBody>
      </p:sp>
      <p:sp>
        <p:nvSpPr>
          <p:cNvPr id="182" name="TextBox 181">
            <a:extLst>
              <a:ext uri="{FF2B5EF4-FFF2-40B4-BE49-F238E27FC236}">
                <a16:creationId xmlns:a16="http://schemas.microsoft.com/office/drawing/2014/main" id="{90F36312-3796-5BF8-DE25-5350EF4A76B0}"/>
              </a:ext>
            </a:extLst>
          </p:cNvPr>
          <p:cNvSpPr txBox="1"/>
          <p:nvPr/>
        </p:nvSpPr>
        <p:spPr>
          <a:xfrm>
            <a:off x="886037" y="2382694"/>
            <a:ext cx="82586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Description</a:t>
            </a:r>
          </a:p>
        </p:txBody>
      </p:sp>
      <p:sp>
        <p:nvSpPr>
          <p:cNvPr id="183" name="TextBox 182">
            <a:extLst>
              <a:ext uri="{FF2B5EF4-FFF2-40B4-BE49-F238E27FC236}">
                <a16:creationId xmlns:a16="http://schemas.microsoft.com/office/drawing/2014/main" id="{8A7337B2-B9C0-BB5A-F5B7-39C1DD35489A}"/>
              </a:ext>
            </a:extLst>
          </p:cNvPr>
          <p:cNvSpPr txBox="1"/>
          <p:nvPr/>
        </p:nvSpPr>
        <p:spPr>
          <a:xfrm>
            <a:off x="886037" y="3131906"/>
            <a:ext cx="81624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Channel </a:t>
            </a:r>
            <a:br>
              <a:rPr kumimoji="0" lang="en-US" sz="1000" b="0" i="1" u="none" strike="noStrike" kern="1200" cap="none" spc="0" normalizeH="0" baseline="0" noProof="0">
                <a:ln>
                  <a:noFill/>
                </a:ln>
                <a:solidFill>
                  <a:srgbClr val="000000"/>
                </a:solidFill>
                <a:effectLst/>
                <a:uLnTx/>
                <a:uFillTx/>
                <a:latin typeface="Scotia"/>
                <a:ea typeface="+mn-ea"/>
                <a:cs typeface="+mn-cs"/>
              </a:rPr>
            </a:br>
            <a:r>
              <a:rPr kumimoji="0" lang="en-US" sz="1000" b="0" i="1" u="none" strike="noStrike" kern="1200" cap="none" spc="0" normalizeH="0" baseline="0" noProof="0">
                <a:ln>
                  <a:noFill/>
                </a:ln>
                <a:solidFill>
                  <a:srgbClr val="000000"/>
                </a:solidFill>
                <a:effectLst/>
                <a:uLnTx/>
                <a:uFillTx/>
                <a:latin typeface="Scotia"/>
                <a:ea typeface="+mn-ea"/>
                <a:cs typeface="+mn-cs"/>
              </a:rPr>
              <a:t>Positioning</a:t>
            </a:r>
          </a:p>
        </p:txBody>
      </p:sp>
      <p:grpSp>
        <p:nvGrpSpPr>
          <p:cNvPr id="72" name="Group 71">
            <a:extLst>
              <a:ext uri="{FF2B5EF4-FFF2-40B4-BE49-F238E27FC236}">
                <a16:creationId xmlns:a16="http://schemas.microsoft.com/office/drawing/2014/main" id="{4638E3C0-ED83-A668-33F6-9F1DCEEE4DD0}"/>
              </a:ext>
            </a:extLst>
          </p:cNvPr>
          <p:cNvGrpSpPr/>
          <p:nvPr/>
        </p:nvGrpSpPr>
        <p:grpSpPr>
          <a:xfrm>
            <a:off x="609150" y="4805612"/>
            <a:ext cx="212610" cy="213684"/>
            <a:chOff x="3823321" y="2308758"/>
            <a:chExt cx="419100" cy="420688"/>
          </a:xfrm>
        </p:grpSpPr>
        <p:sp>
          <p:nvSpPr>
            <p:cNvPr id="90" name="Oval 89">
              <a:extLst>
                <a:ext uri="{FF2B5EF4-FFF2-40B4-BE49-F238E27FC236}">
                  <a16:creationId xmlns:a16="http://schemas.microsoft.com/office/drawing/2014/main" id="{A9E3AE7C-1579-DA61-DE5F-4B32120530E6}"/>
                </a:ext>
              </a:extLst>
            </p:cNvPr>
            <p:cNvSpPr/>
            <p:nvPr/>
          </p:nvSpPr>
          <p:spPr>
            <a:xfrm>
              <a:off x="3823321" y="2308758"/>
              <a:ext cx="419100" cy="420688"/>
            </a:xfrm>
            <a:prstGeom prst="ellipse">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Freeform 16">
              <a:extLst>
                <a:ext uri="{FF2B5EF4-FFF2-40B4-BE49-F238E27FC236}">
                  <a16:creationId xmlns:a16="http://schemas.microsoft.com/office/drawing/2014/main" id="{6F90F90A-12C8-67CF-580B-39A8B0DEA60E}"/>
                </a:ext>
              </a:extLst>
            </p:cNvPr>
            <p:cNvSpPr>
              <a:spLocks/>
            </p:cNvSpPr>
            <p:nvPr/>
          </p:nvSpPr>
          <p:spPr bwMode="auto">
            <a:xfrm>
              <a:off x="3880795" y="2427055"/>
              <a:ext cx="304152" cy="184094"/>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sp>
        <p:nvSpPr>
          <p:cNvPr id="144" name="TextBox 143">
            <a:extLst>
              <a:ext uri="{FF2B5EF4-FFF2-40B4-BE49-F238E27FC236}">
                <a16:creationId xmlns:a16="http://schemas.microsoft.com/office/drawing/2014/main" id="{AC8F288B-DA6E-73E0-36B3-C183CBF88834}"/>
              </a:ext>
            </a:extLst>
          </p:cNvPr>
          <p:cNvSpPr txBox="1"/>
          <p:nvPr/>
        </p:nvSpPr>
        <p:spPr>
          <a:xfrm>
            <a:off x="886037" y="4773955"/>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TD Bank</a:t>
            </a:r>
          </a:p>
        </p:txBody>
      </p:sp>
      <p:sp>
        <p:nvSpPr>
          <p:cNvPr id="149" name="Rectangle 148">
            <a:extLst>
              <a:ext uri="{FF2B5EF4-FFF2-40B4-BE49-F238E27FC236}">
                <a16:creationId xmlns:a16="http://schemas.microsoft.com/office/drawing/2014/main" id="{1017EBB0-B147-15E8-0AE3-6FFCD8DFDA1B}"/>
              </a:ext>
            </a:extLst>
          </p:cNvPr>
          <p:cNvSpPr/>
          <p:nvPr/>
        </p:nvSpPr>
        <p:spPr>
          <a:xfrm>
            <a:off x="2502866" y="4775294"/>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RIS, FSR, FP</a:t>
            </a:r>
          </a:p>
        </p:txBody>
      </p:sp>
      <p:sp>
        <p:nvSpPr>
          <p:cNvPr id="154" name="Rectangle 153">
            <a:extLst>
              <a:ext uri="{FF2B5EF4-FFF2-40B4-BE49-F238E27FC236}">
                <a16:creationId xmlns:a16="http://schemas.microsoft.com/office/drawing/2014/main" id="{323781C8-C71C-7243-75B5-A0FF3FE82DC9}"/>
              </a:ext>
            </a:extLst>
          </p:cNvPr>
          <p:cNvSpPr/>
          <p:nvPr/>
        </p:nvSpPr>
        <p:spPr>
          <a:xfrm>
            <a:off x="7391512" y="4775294"/>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sp>
        <p:nvSpPr>
          <p:cNvPr id="158" name="Rectangle 157">
            <a:extLst>
              <a:ext uri="{FF2B5EF4-FFF2-40B4-BE49-F238E27FC236}">
                <a16:creationId xmlns:a16="http://schemas.microsoft.com/office/drawing/2014/main" id="{FDD94F04-40A2-8317-2867-BA95F904B6B2}"/>
              </a:ext>
            </a:extLst>
          </p:cNvPr>
          <p:cNvSpPr/>
          <p:nvPr/>
        </p:nvSpPr>
        <p:spPr>
          <a:xfrm>
            <a:off x="4947189" y="4775294"/>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TD Goal Planner</a:t>
            </a:r>
          </a:p>
        </p:txBody>
      </p:sp>
      <p:sp>
        <p:nvSpPr>
          <p:cNvPr id="163" name="Rectangle 162">
            <a:extLst>
              <a:ext uri="{FF2B5EF4-FFF2-40B4-BE49-F238E27FC236}">
                <a16:creationId xmlns:a16="http://schemas.microsoft.com/office/drawing/2014/main" id="{470BADC9-E571-7848-1C1F-78064A490CDE}"/>
              </a:ext>
            </a:extLst>
          </p:cNvPr>
          <p:cNvSpPr/>
          <p:nvPr/>
        </p:nvSpPr>
        <p:spPr>
          <a:xfrm>
            <a:off x="9835834" y="4775294"/>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Easy Trade, Direct Invest</a:t>
            </a:r>
          </a:p>
        </p:txBody>
      </p:sp>
      <p:sp>
        <p:nvSpPr>
          <p:cNvPr id="213" name="Oval 212">
            <a:extLst>
              <a:ext uri="{FF2B5EF4-FFF2-40B4-BE49-F238E27FC236}">
                <a16:creationId xmlns:a16="http://schemas.microsoft.com/office/drawing/2014/main" id="{6574E3A5-A250-6156-9C28-2FBF3F27560C}"/>
              </a:ext>
            </a:extLst>
          </p:cNvPr>
          <p:cNvSpPr/>
          <p:nvPr/>
        </p:nvSpPr>
        <p:spPr>
          <a:xfrm>
            <a:off x="9677511" y="4864829"/>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18" name="Oval 217">
            <a:extLst>
              <a:ext uri="{FF2B5EF4-FFF2-40B4-BE49-F238E27FC236}">
                <a16:creationId xmlns:a16="http://schemas.microsoft.com/office/drawing/2014/main" id="{743AFB67-1DF7-91C8-045B-70A1989B3D04}"/>
              </a:ext>
            </a:extLst>
          </p:cNvPr>
          <p:cNvSpPr/>
          <p:nvPr/>
        </p:nvSpPr>
        <p:spPr>
          <a:xfrm>
            <a:off x="4788866" y="4864829"/>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0" name="Oval 219">
            <a:extLst>
              <a:ext uri="{FF2B5EF4-FFF2-40B4-BE49-F238E27FC236}">
                <a16:creationId xmlns:a16="http://schemas.microsoft.com/office/drawing/2014/main" id="{E8491CF1-0238-7C66-1DD6-02BAA8A75760}"/>
              </a:ext>
            </a:extLst>
          </p:cNvPr>
          <p:cNvSpPr/>
          <p:nvPr/>
        </p:nvSpPr>
        <p:spPr>
          <a:xfrm>
            <a:off x="7233189" y="4864829"/>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3" name="Oval 232">
            <a:extLst>
              <a:ext uri="{FF2B5EF4-FFF2-40B4-BE49-F238E27FC236}">
                <a16:creationId xmlns:a16="http://schemas.microsoft.com/office/drawing/2014/main" id="{3D2A1B93-DE61-1FA6-A67D-5D1289669208}"/>
              </a:ext>
            </a:extLst>
          </p:cNvPr>
          <p:cNvSpPr/>
          <p:nvPr/>
        </p:nvSpPr>
        <p:spPr>
          <a:xfrm>
            <a:off x="2344543" y="4864829"/>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91" name="TextBox 190">
            <a:extLst>
              <a:ext uri="{FF2B5EF4-FFF2-40B4-BE49-F238E27FC236}">
                <a16:creationId xmlns:a16="http://schemas.microsoft.com/office/drawing/2014/main" id="{5734B7E2-8ABD-7DC5-FA06-53E092E7839E}"/>
              </a:ext>
            </a:extLst>
          </p:cNvPr>
          <p:cNvSpPr txBox="1"/>
          <p:nvPr/>
        </p:nvSpPr>
        <p:spPr>
          <a:xfrm>
            <a:off x="853364" y="5472213"/>
            <a:ext cx="115082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Wealthsimple</a:t>
            </a:r>
          </a:p>
        </p:txBody>
      </p:sp>
      <p:sp>
        <p:nvSpPr>
          <p:cNvPr id="192" name="Rectangle 191">
            <a:extLst>
              <a:ext uri="{FF2B5EF4-FFF2-40B4-BE49-F238E27FC236}">
                <a16:creationId xmlns:a16="http://schemas.microsoft.com/office/drawing/2014/main" id="{8C6F248B-51B4-7F3B-0644-32C9F2AD08E6}"/>
              </a:ext>
            </a:extLst>
          </p:cNvPr>
          <p:cNvSpPr/>
          <p:nvPr/>
        </p:nvSpPr>
        <p:spPr>
          <a:xfrm>
            <a:off x="2502866" y="5473552"/>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FP</a:t>
            </a:r>
          </a:p>
        </p:txBody>
      </p:sp>
      <p:sp>
        <p:nvSpPr>
          <p:cNvPr id="194" name="Rectangle 193">
            <a:extLst>
              <a:ext uri="{FF2B5EF4-FFF2-40B4-BE49-F238E27FC236}">
                <a16:creationId xmlns:a16="http://schemas.microsoft.com/office/drawing/2014/main" id="{CB2B040F-F0A2-D130-6CD6-227337F79A6B}"/>
              </a:ext>
            </a:extLst>
          </p:cNvPr>
          <p:cNvSpPr/>
          <p:nvPr/>
        </p:nvSpPr>
        <p:spPr>
          <a:xfrm>
            <a:off x="9835834" y="5473552"/>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Wealthsimple Trade</a:t>
            </a:r>
          </a:p>
        </p:txBody>
      </p:sp>
      <p:sp>
        <p:nvSpPr>
          <p:cNvPr id="207" name="Rectangle 206">
            <a:extLst>
              <a:ext uri="{FF2B5EF4-FFF2-40B4-BE49-F238E27FC236}">
                <a16:creationId xmlns:a16="http://schemas.microsoft.com/office/drawing/2014/main" id="{12D443AE-8232-8AE8-3A49-2AE0B1560842}"/>
              </a:ext>
            </a:extLst>
          </p:cNvPr>
          <p:cNvSpPr/>
          <p:nvPr/>
        </p:nvSpPr>
        <p:spPr>
          <a:xfrm>
            <a:off x="7391512" y="5473552"/>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Wealthsimple Portfolios</a:t>
            </a:r>
          </a:p>
        </p:txBody>
      </p:sp>
      <p:sp>
        <p:nvSpPr>
          <p:cNvPr id="214" name="Oval 213">
            <a:extLst>
              <a:ext uri="{FF2B5EF4-FFF2-40B4-BE49-F238E27FC236}">
                <a16:creationId xmlns:a16="http://schemas.microsoft.com/office/drawing/2014/main" id="{38ED7E55-66C0-47C8-4EFE-659F0CEAC47E}"/>
              </a:ext>
            </a:extLst>
          </p:cNvPr>
          <p:cNvSpPr/>
          <p:nvPr/>
        </p:nvSpPr>
        <p:spPr>
          <a:xfrm>
            <a:off x="9677511" y="5563087"/>
            <a:ext cx="95250" cy="95250"/>
          </a:xfrm>
          <a:prstGeom prst="ellipse">
            <a:avLst/>
          </a:prstGeom>
          <a:solidFill>
            <a:srgbClr val="FDB913"/>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3" name="Oval 222">
            <a:extLst>
              <a:ext uri="{FF2B5EF4-FFF2-40B4-BE49-F238E27FC236}">
                <a16:creationId xmlns:a16="http://schemas.microsoft.com/office/drawing/2014/main" id="{E0DBB76C-9240-5F1B-562D-A74E84F2CFE2}"/>
              </a:ext>
            </a:extLst>
          </p:cNvPr>
          <p:cNvSpPr/>
          <p:nvPr/>
        </p:nvSpPr>
        <p:spPr>
          <a:xfrm>
            <a:off x="7233189" y="5563087"/>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0" name="Rectangle 229">
            <a:extLst>
              <a:ext uri="{FF2B5EF4-FFF2-40B4-BE49-F238E27FC236}">
                <a16:creationId xmlns:a16="http://schemas.microsoft.com/office/drawing/2014/main" id="{34F28890-849D-1C19-9F7B-8B1A381EEDB2}"/>
              </a:ext>
            </a:extLst>
          </p:cNvPr>
          <p:cNvSpPr/>
          <p:nvPr/>
        </p:nvSpPr>
        <p:spPr>
          <a:xfrm>
            <a:off x="4947189" y="5473552"/>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sp>
        <p:nvSpPr>
          <p:cNvPr id="237" name="Oval 236">
            <a:extLst>
              <a:ext uri="{FF2B5EF4-FFF2-40B4-BE49-F238E27FC236}">
                <a16:creationId xmlns:a16="http://schemas.microsoft.com/office/drawing/2014/main" id="{D907C7ED-7715-2A37-BEF2-FE418265C970}"/>
              </a:ext>
            </a:extLst>
          </p:cNvPr>
          <p:cNvSpPr/>
          <p:nvPr/>
        </p:nvSpPr>
        <p:spPr>
          <a:xfrm>
            <a:off x="2344543" y="5563087"/>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42" name="Oval 241">
            <a:extLst>
              <a:ext uri="{FF2B5EF4-FFF2-40B4-BE49-F238E27FC236}">
                <a16:creationId xmlns:a16="http://schemas.microsoft.com/office/drawing/2014/main" id="{60331FB0-6ACB-1710-74E7-7BA17225A136}"/>
              </a:ext>
            </a:extLst>
          </p:cNvPr>
          <p:cNvSpPr/>
          <p:nvPr/>
        </p:nvSpPr>
        <p:spPr>
          <a:xfrm>
            <a:off x="4788866" y="5563087"/>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243" name="Picture 4" descr="Wealthsimple | Logopedia | Fandom">
            <a:extLst>
              <a:ext uri="{FF2B5EF4-FFF2-40B4-BE49-F238E27FC236}">
                <a16:creationId xmlns:a16="http://schemas.microsoft.com/office/drawing/2014/main" id="{597167AE-EB6A-9FF9-C156-6669B5AA0B86}"/>
              </a:ext>
            </a:extLst>
          </p:cNvPr>
          <p:cNvPicPr>
            <a:picLocks noChangeArrowheads="1"/>
          </p:cNvPicPr>
          <p:nvPr/>
        </p:nvPicPr>
        <p:blipFill rotWithShape="1">
          <a:blip r:embed="rId6">
            <a:alphaModFix/>
            <a:extLst>
              <a:ext uri="{28A0092B-C50C-407E-A947-70E740481C1C}">
                <a14:useLocalDpi xmlns:a14="http://schemas.microsoft.com/office/drawing/2010/main" val="0"/>
              </a:ext>
            </a:extLst>
          </a:blip>
          <a:srcRect/>
          <a:stretch/>
        </p:blipFill>
        <p:spPr bwMode="auto">
          <a:xfrm>
            <a:off x="593039" y="5491113"/>
            <a:ext cx="239198" cy="239198"/>
          </a:xfrm>
          <a:prstGeom prst="ellipse">
            <a:avLst/>
          </a:prstGeom>
          <a:noFill/>
          <a:extLst>
            <a:ext uri="{909E8E84-426E-40DD-AFC4-6F175D3DCCD1}">
              <a14:hiddenFill xmlns:a14="http://schemas.microsoft.com/office/drawing/2010/main">
                <a:solidFill>
                  <a:srgbClr val="FFFFFF"/>
                </a:solidFill>
              </a14:hiddenFill>
            </a:ext>
          </a:extLst>
        </p:spPr>
      </p:pic>
      <p:sp>
        <p:nvSpPr>
          <p:cNvPr id="202" name="TextBox 201">
            <a:extLst>
              <a:ext uri="{FF2B5EF4-FFF2-40B4-BE49-F238E27FC236}">
                <a16:creationId xmlns:a16="http://schemas.microsoft.com/office/drawing/2014/main" id="{D2836372-975E-8B3B-C667-69146E3B7394}"/>
              </a:ext>
            </a:extLst>
          </p:cNvPr>
          <p:cNvSpPr txBox="1"/>
          <p:nvPr/>
        </p:nvSpPr>
        <p:spPr>
          <a:xfrm>
            <a:off x="844358" y="5821342"/>
            <a:ext cx="92775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Questrade</a:t>
            </a:r>
          </a:p>
        </p:txBody>
      </p:sp>
      <p:sp>
        <p:nvSpPr>
          <p:cNvPr id="205" name="Rectangle 204">
            <a:extLst>
              <a:ext uri="{FF2B5EF4-FFF2-40B4-BE49-F238E27FC236}">
                <a16:creationId xmlns:a16="http://schemas.microsoft.com/office/drawing/2014/main" id="{B67BE31C-AA7B-E6BB-5C07-24E0857AF61B}"/>
              </a:ext>
            </a:extLst>
          </p:cNvPr>
          <p:cNvSpPr/>
          <p:nvPr/>
        </p:nvSpPr>
        <p:spPr>
          <a:xfrm>
            <a:off x="9835834" y="582268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Questrade Self-Directed</a:t>
            </a:r>
          </a:p>
        </p:txBody>
      </p:sp>
      <p:sp>
        <p:nvSpPr>
          <p:cNvPr id="208" name="Rectangle 207">
            <a:extLst>
              <a:ext uri="{FF2B5EF4-FFF2-40B4-BE49-F238E27FC236}">
                <a16:creationId xmlns:a16="http://schemas.microsoft.com/office/drawing/2014/main" id="{5E72F303-6B4B-23C5-C352-196FFE6880E2}"/>
              </a:ext>
            </a:extLst>
          </p:cNvPr>
          <p:cNvSpPr/>
          <p:nvPr/>
        </p:nvSpPr>
        <p:spPr>
          <a:xfrm>
            <a:off x="7391512" y="582268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Questwealth Portfolios</a:t>
            </a:r>
          </a:p>
        </p:txBody>
      </p:sp>
      <p:sp>
        <p:nvSpPr>
          <p:cNvPr id="215" name="Oval 214">
            <a:extLst>
              <a:ext uri="{FF2B5EF4-FFF2-40B4-BE49-F238E27FC236}">
                <a16:creationId xmlns:a16="http://schemas.microsoft.com/office/drawing/2014/main" id="{0F0C0CBD-2AEB-D5C9-1441-2EE2B8CDADF7}"/>
              </a:ext>
            </a:extLst>
          </p:cNvPr>
          <p:cNvSpPr/>
          <p:nvPr/>
        </p:nvSpPr>
        <p:spPr>
          <a:xfrm>
            <a:off x="9677511" y="5912216"/>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4" name="Oval 223">
            <a:extLst>
              <a:ext uri="{FF2B5EF4-FFF2-40B4-BE49-F238E27FC236}">
                <a16:creationId xmlns:a16="http://schemas.microsoft.com/office/drawing/2014/main" id="{C8E0DE7D-A8C4-F9A1-F7C3-0D24793C29BA}"/>
              </a:ext>
            </a:extLst>
          </p:cNvPr>
          <p:cNvSpPr/>
          <p:nvPr/>
        </p:nvSpPr>
        <p:spPr>
          <a:xfrm>
            <a:off x="7233189" y="5912216"/>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1" name="Rectangle 230">
            <a:extLst>
              <a:ext uri="{FF2B5EF4-FFF2-40B4-BE49-F238E27FC236}">
                <a16:creationId xmlns:a16="http://schemas.microsoft.com/office/drawing/2014/main" id="{F2EB4DAE-C68D-8A25-D7A7-231166418E86}"/>
              </a:ext>
            </a:extLst>
          </p:cNvPr>
          <p:cNvSpPr/>
          <p:nvPr/>
        </p:nvSpPr>
        <p:spPr>
          <a:xfrm>
            <a:off x="4947189" y="582268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sp>
        <p:nvSpPr>
          <p:cNvPr id="239" name="Oval 238">
            <a:extLst>
              <a:ext uri="{FF2B5EF4-FFF2-40B4-BE49-F238E27FC236}">
                <a16:creationId xmlns:a16="http://schemas.microsoft.com/office/drawing/2014/main" id="{099F1412-84C3-12E6-FD83-3FFA4FA1FCD9}"/>
              </a:ext>
            </a:extLst>
          </p:cNvPr>
          <p:cNvSpPr/>
          <p:nvPr/>
        </p:nvSpPr>
        <p:spPr>
          <a:xfrm>
            <a:off x="2344543" y="5912216"/>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40" name="Oval 239">
            <a:extLst>
              <a:ext uri="{FF2B5EF4-FFF2-40B4-BE49-F238E27FC236}">
                <a16:creationId xmlns:a16="http://schemas.microsoft.com/office/drawing/2014/main" id="{A99DF395-F58F-66B5-5477-CD61DFFF5897}"/>
              </a:ext>
            </a:extLst>
          </p:cNvPr>
          <p:cNvSpPr/>
          <p:nvPr/>
        </p:nvSpPr>
        <p:spPr>
          <a:xfrm>
            <a:off x="4788866" y="5912216"/>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41" name="Rectangle 240">
            <a:extLst>
              <a:ext uri="{FF2B5EF4-FFF2-40B4-BE49-F238E27FC236}">
                <a16:creationId xmlns:a16="http://schemas.microsoft.com/office/drawing/2014/main" id="{AB94AE11-94C2-69FF-1E24-C54BCBFAA48F}"/>
              </a:ext>
            </a:extLst>
          </p:cNvPr>
          <p:cNvSpPr/>
          <p:nvPr/>
        </p:nvSpPr>
        <p:spPr>
          <a:xfrm>
            <a:off x="2502866" y="582268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grpSp>
        <p:nvGrpSpPr>
          <p:cNvPr id="247" name="Group 246">
            <a:extLst>
              <a:ext uri="{FF2B5EF4-FFF2-40B4-BE49-F238E27FC236}">
                <a16:creationId xmlns:a16="http://schemas.microsoft.com/office/drawing/2014/main" id="{37034060-B825-2C92-7086-6708C432D04C}"/>
              </a:ext>
            </a:extLst>
          </p:cNvPr>
          <p:cNvGrpSpPr/>
          <p:nvPr/>
        </p:nvGrpSpPr>
        <p:grpSpPr>
          <a:xfrm>
            <a:off x="602289" y="5842835"/>
            <a:ext cx="226682" cy="234012"/>
            <a:chOff x="-673118" y="3201717"/>
            <a:chExt cx="423746" cy="437451"/>
          </a:xfrm>
        </p:grpSpPr>
        <p:sp>
          <p:nvSpPr>
            <p:cNvPr id="246" name="Oval 245">
              <a:extLst>
                <a:ext uri="{FF2B5EF4-FFF2-40B4-BE49-F238E27FC236}">
                  <a16:creationId xmlns:a16="http://schemas.microsoft.com/office/drawing/2014/main" id="{65E487BA-39F3-39A5-8573-2986138F7744}"/>
                </a:ext>
              </a:extLst>
            </p:cNvPr>
            <p:cNvSpPr/>
            <p:nvPr/>
          </p:nvSpPr>
          <p:spPr>
            <a:xfrm>
              <a:off x="-673118" y="3215422"/>
              <a:ext cx="423746" cy="423746"/>
            </a:xfrm>
            <a:prstGeom prst="ellipse">
              <a:avLst/>
            </a:prstGeom>
            <a:solidFill>
              <a:srgbClr val="22282D"/>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245" name="Picture 244" descr="A green triangle with a black background&#10;&#10;AI-generated content may be incorrect.">
              <a:extLst>
                <a:ext uri="{FF2B5EF4-FFF2-40B4-BE49-F238E27FC236}">
                  <a16:creationId xmlns:a16="http://schemas.microsoft.com/office/drawing/2014/main" id="{6E909460-5479-805C-5A26-9AEBD24CCC4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4184" y="3201717"/>
              <a:ext cx="400110" cy="400110"/>
            </a:xfrm>
            <a:prstGeom prst="rect">
              <a:avLst/>
            </a:prstGeom>
          </p:spPr>
        </p:pic>
      </p:grpSp>
      <p:grpSp>
        <p:nvGrpSpPr>
          <p:cNvPr id="74" name="Group 73">
            <a:extLst>
              <a:ext uri="{FF2B5EF4-FFF2-40B4-BE49-F238E27FC236}">
                <a16:creationId xmlns:a16="http://schemas.microsoft.com/office/drawing/2014/main" id="{F0DEFAE6-3CFF-EB49-2629-393937DE32BC}"/>
              </a:ext>
            </a:extLst>
          </p:cNvPr>
          <p:cNvGrpSpPr/>
          <p:nvPr/>
        </p:nvGrpSpPr>
        <p:grpSpPr>
          <a:xfrm>
            <a:off x="609150" y="4456483"/>
            <a:ext cx="212610" cy="213684"/>
            <a:chOff x="6095607" y="2308758"/>
            <a:chExt cx="419100" cy="420688"/>
          </a:xfrm>
        </p:grpSpPr>
        <p:sp>
          <p:nvSpPr>
            <p:cNvPr id="86" name="Oval 85">
              <a:extLst>
                <a:ext uri="{FF2B5EF4-FFF2-40B4-BE49-F238E27FC236}">
                  <a16:creationId xmlns:a16="http://schemas.microsoft.com/office/drawing/2014/main" id="{BD4E4068-9281-9C10-0F3E-EE9AD50199AC}"/>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50">
              <a:extLst>
                <a:ext uri="{FF2B5EF4-FFF2-40B4-BE49-F238E27FC236}">
                  <a16:creationId xmlns:a16="http://schemas.microsoft.com/office/drawing/2014/main" id="{2D0E4E23-F75D-7957-E1BB-DCB807E6A38C}"/>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sp>
        <p:nvSpPr>
          <p:cNvPr id="145" name="TextBox 144">
            <a:extLst>
              <a:ext uri="{FF2B5EF4-FFF2-40B4-BE49-F238E27FC236}">
                <a16:creationId xmlns:a16="http://schemas.microsoft.com/office/drawing/2014/main" id="{CED9DDEA-3D8C-9A52-BED3-1A63C7B715C0}"/>
              </a:ext>
            </a:extLst>
          </p:cNvPr>
          <p:cNvSpPr txBox="1"/>
          <p:nvPr/>
        </p:nvSpPr>
        <p:spPr>
          <a:xfrm>
            <a:off x="886037" y="4424826"/>
            <a:ext cx="52931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BMO</a:t>
            </a:r>
          </a:p>
        </p:txBody>
      </p:sp>
      <p:sp>
        <p:nvSpPr>
          <p:cNvPr id="150" name="Rectangle 149">
            <a:extLst>
              <a:ext uri="{FF2B5EF4-FFF2-40B4-BE49-F238E27FC236}">
                <a16:creationId xmlns:a16="http://schemas.microsoft.com/office/drawing/2014/main" id="{45F1B444-0B2E-1501-38C5-0C06E036E2F6}"/>
              </a:ext>
            </a:extLst>
          </p:cNvPr>
          <p:cNvSpPr/>
          <p:nvPr/>
        </p:nvSpPr>
        <p:spPr>
          <a:xfrm>
            <a:off x="2502866" y="4426165"/>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FSM, FP</a:t>
            </a:r>
          </a:p>
        </p:txBody>
      </p:sp>
      <p:sp>
        <p:nvSpPr>
          <p:cNvPr id="155" name="Rectangle 154">
            <a:extLst>
              <a:ext uri="{FF2B5EF4-FFF2-40B4-BE49-F238E27FC236}">
                <a16:creationId xmlns:a16="http://schemas.microsoft.com/office/drawing/2014/main" id="{608B6DDD-F8DA-E669-38CF-3290B4FCD2CC}"/>
              </a:ext>
            </a:extLst>
          </p:cNvPr>
          <p:cNvSpPr/>
          <p:nvPr/>
        </p:nvSpPr>
        <p:spPr>
          <a:xfrm>
            <a:off x="7391512" y="4426165"/>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BMO </a:t>
            </a:r>
            <a:r>
              <a:rPr kumimoji="0" lang="en-US" sz="1000" b="0" i="0" u="none" strike="noStrike" kern="1200" cap="none" spc="0" normalizeH="0" baseline="0" noProof="0" err="1">
                <a:ln>
                  <a:noFill/>
                </a:ln>
                <a:solidFill>
                  <a:srgbClr val="000000"/>
                </a:solidFill>
                <a:effectLst/>
                <a:uLnTx/>
                <a:uFillTx/>
                <a:latin typeface="Scotia"/>
                <a:ea typeface="+mn-ea"/>
                <a:cs typeface="+mn-cs"/>
              </a:rPr>
              <a:t>SmartFolio</a:t>
            </a: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59" name="Rectangle 158">
            <a:extLst>
              <a:ext uri="{FF2B5EF4-FFF2-40B4-BE49-F238E27FC236}">
                <a16:creationId xmlns:a16="http://schemas.microsoft.com/office/drawing/2014/main" id="{93389F06-4E8B-E64E-68BF-73E36D8629D7}"/>
              </a:ext>
            </a:extLst>
          </p:cNvPr>
          <p:cNvSpPr/>
          <p:nvPr/>
        </p:nvSpPr>
        <p:spPr>
          <a:xfrm>
            <a:off x="4947189" y="4426165"/>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BMO My Financial Plan</a:t>
            </a:r>
          </a:p>
        </p:txBody>
      </p:sp>
      <p:sp>
        <p:nvSpPr>
          <p:cNvPr id="164" name="Rectangle 163">
            <a:extLst>
              <a:ext uri="{FF2B5EF4-FFF2-40B4-BE49-F238E27FC236}">
                <a16:creationId xmlns:a16="http://schemas.microsoft.com/office/drawing/2014/main" id="{B1F2CE42-1B9A-E87D-EF84-7B804C18482B}"/>
              </a:ext>
            </a:extLst>
          </p:cNvPr>
          <p:cNvSpPr/>
          <p:nvPr/>
        </p:nvSpPr>
        <p:spPr>
          <a:xfrm>
            <a:off x="9835834" y="4426165"/>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BMO </a:t>
            </a:r>
            <a:r>
              <a:rPr kumimoji="0" lang="en-US" sz="1000" b="0" i="0" u="none" strike="noStrike" kern="1200" cap="none" spc="0" normalizeH="0" baseline="0" noProof="0" err="1">
                <a:ln>
                  <a:noFill/>
                </a:ln>
                <a:solidFill>
                  <a:srgbClr val="000000"/>
                </a:solidFill>
                <a:effectLst/>
                <a:uLnTx/>
                <a:uFillTx/>
                <a:latin typeface="Scotia"/>
                <a:ea typeface="+mn-ea"/>
                <a:cs typeface="+mn-cs"/>
              </a:rPr>
              <a:t>InvestorLine</a:t>
            </a: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10" name="Oval 209">
            <a:extLst>
              <a:ext uri="{FF2B5EF4-FFF2-40B4-BE49-F238E27FC236}">
                <a16:creationId xmlns:a16="http://schemas.microsoft.com/office/drawing/2014/main" id="{ABA18F09-F99F-8A05-7EC9-1824FE4498C8}"/>
              </a:ext>
            </a:extLst>
          </p:cNvPr>
          <p:cNvSpPr/>
          <p:nvPr/>
        </p:nvSpPr>
        <p:spPr>
          <a:xfrm>
            <a:off x="4788866" y="4515700"/>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11" name="Oval 210">
            <a:extLst>
              <a:ext uri="{FF2B5EF4-FFF2-40B4-BE49-F238E27FC236}">
                <a16:creationId xmlns:a16="http://schemas.microsoft.com/office/drawing/2014/main" id="{EF886AF5-00CE-6BDC-B176-6BA8B3A82C3F}"/>
              </a:ext>
            </a:extLst>
          </p:cNvPr>
          <p:cNvSpPr/>
          <p:nvPr/>
        </p:nvSpPr>
        <p:spPr>
          <a:xfrm>
            <a:off x="7233189" y="4515700"/>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4" name="Oval 233">
            <a:extLst>
              <a:ext uri="{FF2B5EF4-FFF2-40B4-BE49-F238E27FC236}">
                <a16:creationId xmlns:a16="http://schemas.microsoft.com/office/drawing/2014/main" id="{A6D9C376-FC36-95CE-4A81-A4FA28AE06DC}"/>
              </a:ext>
            </a:extLst>
          </p:cNvPr>
          <p:cNvSpPr/>
          <p:nvPr/>
        </p:nvSpPr>
        <p:spPr>
          <a:xfrm>
            <a:off x="2344543" y="4515700"/>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53" name="Oval 252">
            <a:extLst>
              <a:ext uri="{FF2B5EF4-FFF2-40B4-BE49-F238E27FC236}">
                <a16:creationId xmlns:a16="http://schemas.microsoft.com/office/drawing/2014/main" id="{3EC83BF5-E509-3083-6C56-CC45B74BDDCE}"/>
              </a:ext>
            </a:extLst>
          </p:cNvPr>
          <p:cNvSpPr/>
          <p:nvPr/>
        </p:nvSpPr>
        <p:spPr>
          <a:xfrm>
            <a:off x="9677511" y="4515700"/>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94" name="Rectangle 93">
            <a:extLst>
              <a:ext uri="{FF2B5EF4-FFF2-40B4-BE49-F238E27FC236}">
                <a16:creationId xmlns:a16="http://schemas.microsoft.com/office/drawing/2014/main" id="{13E3BF77-1B0E-12F0-50AD-B212AB8387D0}"/>
              </a:ext>
            </a:extLst>
          </p:cNvPr>
          <p:cNvSpPr/>
          <p:nvPr/>
        </p:nvSpPr>
        <p:spPr>
          <a:xfrm>
            <a:off x="2057096" y="1912959"/>
            <a:ext cx="2286000" cy="294429"/>
          </a:xfrm>
          <a:prstGeom prst="rect">
            <a:avLst/>
          </a:prstGeom>
          <a:solidFill>
            <a:srgbClr val="ECE1D4"/>
          </a:solidFill>
          <a:ln>
            <a:solidFill>
              <a:srgbClr val="ECE1D4"/>
            </a:solid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300" normalizeH="0" baseline="0" noProof="0">
                <a:ln>
                  <a:noFill/>
                </a:ln>
                <a:solidFill>
                  <a:srgbClr val="000000"/>
                </a:solidFill>
                <a:effectLst/>
                <a:uLnTx/>
                <a:uFillTx/>
                <a:latin typeface="Scotia"/>
                <a:ea typeface="+mn-ea"/>
                <a:cs typeface="+mn-cs"/>
              </a:rPr>
              <a:t>ADVISOR-LED</a:t>
            </a:r>
          </a:p>
        </p:txBody>
      </p:sp>
      <p:cxnSp>
        <p:nvCxnSpPr>
          <p:cNvPr id="1043" name="Straight Connector 1042">
            <a:extLst>
              <a:ext uri="{FF2B5EF4-FFF2-40B4-BE49-F238E27FC236}">
                <a16:creationId xmlns:a16="http://schemas.microsoft.com/office/drawing/2014/main" id="{B3B827C6-F8A6-11A6-13B1-D2B8ABF7D7FA}"/>
              </a:ext>
            </a:extLst>
          </p:cNvPr>
          <p:cNvCxnSpPr>
            <a:cxnSpLocks/>
          </p:cNvCxnSpPr>
          <p:nvPr/>
        </p:nvCxnSpPr>
        <p:spPr>
          <a:xfrm>
            <a:off x="511237" y="4388761"/>
            <a:ext cx="11164824" cy="0"/>
          </a:xfrm>
          <a:prstGeom prst="line">
            <a:avLst/>
          </a:prstGeom>
          <a:ln>
            <a:solidFill>
              <a:srgbClr val="D8D6CA"/>
            </a:solidFill>
            <a:prstDash val="sysDot"/>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98DB6086-72AA-1DAC-22FA-7412E44C4022}"/>
              </a:ext>
            </a:extLst>
          </p:cNvPr>
          <p:cNvGrpSpPr/>
          <p:nvPr/>
        </p:nvGrpSpPr>
        <p:grpSpPr>
          <a:xfrm>
            <a:off x="608613" y="5154741"/>
            <a:ext cx="213684" cy="213684"/>
            <a:chOff x="5335652" y="2308758"/>
            <a:chExt cx="419100" cy="420688"/>
          </a:xfrm>
        </p:grpSpPr>
        <p:sp>
          <p:nvSpPr>
            <p:cNvPr id="82" name="Oval 81">
              <a:extLst>
                <a:ext uri="{FF2B5EF4-FFF2-40B4-BE49-F238E27FC236}">
                  <a16:creationId xmlns:a16="http://schemas.microsoft.com/office/drawing/2014/main" id="{19AD780A-7086-C821-1666-E2B80A9448DE}"/>
                </a:ext>
              </a:extLst>
            </p:cNvPr>
            <p:cNvSpPr/>
            <p:nvPr/>
          </p:nvSpPr>
          <p:spPr>
            <a:xfrm>
              <a:off x="5335652" y="2308758"/>
              <a:ext cx="419100" cy="420688"/>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3" name="Group 82">
              <a:extLst>
                <a:ext uri="{FF2B5EF4-FFF2-40B4-BE49-F238E27FC236}">
                  <a16:creationId xmlns:a16="http://schemas.microsoft.com/office/drawing/2014/main" id="{6ACB2E4A-29AC-9D49-067B-723BCDA620E3}"/>
                </a:ext>
              </a:extLst>
            </p:cNvPr>
            <p:cNvGrpSpPr/>
            <p:nvPr/>
          </p:nvGrpSpPr>
          <p:grpSpPr>
            <a:xfrm>
              <a:off x="5397714" y="2379393"/>
              <a:ext cx="300266" cy="279419"/>
              <a:chOff x="6169730" y="2899412"/>
              <a:chExt cx="300266" cy="279419"/>
            </a:xfrm>
          </p:grpSpPr>
          <p:sp>
            <p:nvSpPr>
              <p:cNvPr id="84" name="Freeform: Shape 83">
                <a:extLst>
                  <a:ext uri="{FF2B5EF4-FFF2-40B4-BE49-F238E27FC236}">
                    <a16:creationId xmlns:a16="http://schemas.microsoft.com/office/drawing/2014/main" id="{F5FE6A4E-0BF2-46F3-ADFB-CBD093C11EA0}"/>
                  </a:ext>
                </a:extLst>
              </p:cNvPr>
              <p:cNvSpPr/>
              <p:nvPr/>
            </p:nvSpPr>
            <p:spPr>
              <a:xfrm>
                <a:off x="6277546" y="2899418"/>
                <a:ext cx="192450" cy="279413"/>
              </a:xfrm>
              <a:custGeom>
                <a:avLst/>
                <a:gdLst>
                  <a:gd name="connsiteX0" fmla="*/ 167745 w 307360"/>
                  <a:gd name="connsiteY0" fmla="*/ 15747 h 410286"/>
                  <a:gd name="connsiteX1" fmla="*/ 135212 w 307360"/>
                  <a:gd name="connsiteY1" fmla="*/ 33 h 410286"/>
                  <a:gd name="connsiteX2" fmla="*/ 0 w 307360"/>
                  <a:gd name="connsiteY2" fmla="*/ 33 h 410286"/>
                  <a:gd name="connsiteX3" fmla="*/ 32849 w 307360"/>
                  <a:gd name="connsiteY3" fmla="*/ 16196 h 410286"/>
                  <a:gd name="connsiteX4" fmla="*/ 172216 w 307360"/>
                  <a:gd name="connsiteY4" fmla="*/ 205166 h 410286"/>
                  <a:gd name="connsiteX5" fmla="*/ 32849 w 307360"/>
                  <a:gd name="connsiteY5" fmla="*/ 394153 h 410286"/>
                  <a:gd name="connsiteX6" fmla="*/ 0 w 307360"/>
                  <a:gd name="connsiteY6" fmla="*/ 410252 h 410286"/>
                  <a:gd name="connsiteX7" fmla="*/ 135212 w 307360"/>
                  <a:gd name="connsiteY7" fmla="*/ 410252 h 410286"/>
                  <a:gd name="connsiteX8" fmla="*/ 167745 w 307360"/>
                  <a:gd name="connsiteY8" fmla="*/ 394602 h 410286"/>
                  <a:gd name="connsiteX9" fmla="*/ 307361 w 307360"/>
                  <a:gd name="connsiteY9" fmla="*/ 205166 h 410286"/>
                  <a:gd name="connsiteX10" fmla="*/ 167745 w 307360"/>
                  <a:gd name="connsiteY10" fmla="*/ 15747 h 41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360" h="410286">
                    <a:moveTo>
                      <a:pt x="167745" y="15747"/>
                    </a:moveTo>
                    <a:cubicBezTo>
                      <a:pt x="160224" y="5404"/>
                      <a:pt x="148006" y="-496"/>
                      <a:pt x="135212" y="33"/>
                    </a:cubicBezTo>
                    <a:lnTo>
                      <a:pt x="0" y="33"/>
                    </a:lnTo>
                    <a:cubicBezTo>
                      <a:pt x="13009" y="-496"/>
                      <a:pt x="25362" y="5581"/>
                      <a:pt x="32849" y="16196"/>
                    </a:cubicBezTo>
                    <a:cubicBezTo>
                      <a:pt x="46501" y="34331"/>
                      <a:pt x="172216" y="205166"/>
                      <a:pt x="172216" y="205166"/>
                    </a:cubicBezTo>
                    <a:cubicBezTo>
                      <a:pt x="172216" y="205166"/>
                      <a:pt x="46501" y="375953"/>
                      <a:pt x="32849" y="394153"/>
                    </a:cubicBezTo>
                    <a:cubicBezTo>
                      <a:pt x="25351" y="404736"/>
                      <a:pt x="12986" y="410797"/>
                      <a:pt x="0" y="410252"/>
                    </a:cubicBezTo>
                    <a:lnTo>
                      <a:pt x="135212" y="410252"/>
                    </a:lnTo>
                    <a:cubicBezTo>
                      <a:pt x="148006" y="410797"/>
                      <a:pt x="160202" y="404913"/>
                      <a:pt x="167745" y="394602"/>
                    </a:cubicBezTo>
                    <a:lnTo>
                      <a:pt x="307361" y="205166"/>
                    </a:lnTo>
                    <a:lnTo>
                      <a:pt x="167745" y="15747"/>
                    </a:lnTo>
                    <a:close/>
                  </a:path>
                </a:pathLst>
              </a:custGeom>
              <a:solidFill>
                <a:schemeClr val="bg1"/>
              </a:solidFill>
              <a:ln w="1126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Freeform: Shape 84">
                <a:extLst>
                  <a:ext uri="{FF2B5EF4-FFF2-40B4-BE49-F238E27FC236}">
                    <a16:creationId xmlns:a16="http://schemas.microsoft.com/office/drawing/2014/main" id="{6E1E4C5E-9234-E5F4-A7CA-71D06171D25C}"/>
                  </a:ext>
                </a:extLst>
              </p:cNvPr>
              <p:cNvSpPr/>
              <p:nvPr/>
            </p:nvSpPr>
            <p:spPr>
              <a:xfrm>
                <a:off x="6169730" y="2899412"/>
                <a:ext cx="150153" cy="279382"/>
              </a:xfrm>
              <a:custGeom>
                <a:avLst/>
                <a:gdLst>
                  <a:gd name="connsiteX0" fmla="*/ 239809 w 239808"/>
                  <a:gd name="connsiteY0" fmla="*/ 63098 h 410240"/>
                  <a:gd name="connsiteX1" fmla="*/ 239809 w 239808"/>
                  <a:gd name="connsiteY1" fmla="*/ 63098 h 410240"/>
                  <a:gd name="connsiteX2" fmla="*/ 205040 w 239808"/>
                  <a:gd name="connsiteY2" fmla="*/ 16196 h 410240"/>
                  <a:gd name="connsiteX3" fmla="*/ 172214 w 239808"/>
                  <a:gd name="connsiteY3" fmla="*/ 33 h 410240"/>
                  <a:gd name="connsiteX4" fmla="*/ 139614 w 239808"/>
                  <a:gd name="connsiteY4" fmla="*/ 15763 h 410240"/>
                  <a:gd name="connsiteX5" fmla="*/ 0 w 239808"/>
                  <a:gd name="connsiteY5" fmla="*/ 205183 h 410240"/>
                  <a:gd name="connsiteX6" fmla="*/ 139614 w 239808"/>
                  <a:gd name="connsiteY6" fmla="*/ 394554 h 410240"/>
                  <a:gd name="connsiteX7" fmla="*/ 172214 w 239808"/>
                  <a:gd name="connsiteY7" fmla="*/ 410204 h 410240"/>
                  <a:gd name="connsiteX8" fmla="*/ 205040 w 239808"/>
                  <a:gd name="connsiteY8" fmla="*/ 394105 h 410240"/>
                  <a:gd name="connsiteX9" fmla="*/ 239809 w 239808"/>
                  <a:gd name="connsiteY9" fmla="*/ 347138 h 410240"/>
                  <a:gd name="connsiteX10" fmla="*/ 135142 w 239808"/>
                  <a:gd name="connsiteY10" fmla="*/ 205183 h 410240"/>
                  <a:gd name="connsiteX11" fmla="*/ 239809 w 239808"/>
                  <a:gd name="connsiteY11" fmla="*/ 63098 h 410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808" h="410240">
                    <a:moveTo>
                      <a:pt x="239809" y="63098"/>
                    </a:moveTo>
                    <a:lnTo>
                      <a:pt x="239809" y="63098"/>
                    </a:lnTo>
                    <a:cubicBezTo>
                      <a:pt x="222656" y="39943"/>
                      <a:pt x="209128" y="21616"/>
                      <a:pt x="205040" y="16196"/>
                    </a:cubicBezTo>
                    <a:cubicBezTo>
                      <a:pt x="197565" y="5597"/>
                      <a:pt x="185200" y="-496"/>
                      <a:pt x="172214" y="33"/>
                    </a:cubicBezTo>
                    <a:cubicBezTo>
                      <a:pt x="159386" y="-496"/>
                      <a:pt x="147157" y="5404"/>
                      <a:pt x="139614" y="15763"/>
                    </a:cubicBezTo>
                    <a:lnTo>
                      <a:pt x="0" y="205183"/>
                    </a:lnTo>
                    <a:lnTo>
                      <a:pt x="139614" y="394554"/>
                    </a:lnTo>
                    <a:cubicBezTo>
                      <a:pt x="147168" y="404881"/>
                      <a:pt x="159398" y="410765"/>
                      <a:pt x="172214" y="410204"/>
                    </a:cubicBezTo>
                    <a:cubicBezTo>
                      <a:pt x="185178" y="410749"/>
                      <a:pt x="197554" y="404688"/>
                      <a:pt x="205040" y="394105"/>
                    </a:cubicBezTo>
                    <a:lnTo>
                      <a:pt x="239809" y="347138"/>
                    </a:lnTo>
                    <a:lnTo>
                      <a:pt x="135142" y="205183"/>
                    </a:lnTo>
                    <a:lnTo>
                      <a:pt x="239809" y="63098"/>
                    </a:lnTo>
                    <a:close/>
                  </a:path>
                </a:pathLst>
              </a:custGeom>
              <a:solidFill>
                <a:schemeClr val="bg1"/>
              </a:solidFill>
              <a:ln w="1126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146" name="TextBox 145">
            <a:extLst>
              <a:ext uri="{FF2B5EF4-FFF2-40B4-BE49-F238E27FC236}">
                <a16:creationId xmlns:a16="http://schemas.microsoft.com/office/drawing/2014/main" id="{73BBCD1B-7B9A-232B-63C3-7968DDF93939}"/>
              </a:ext>
            </a:extLst>
          </p:cNvPr>
          <p:cNvSpPr txBox="1"/>
          <p:nvPr/>
        </p:nvSpPr>
        <p:spPr>
          <a:xfrm>
            <a:off x="886037" y="5123084"/>
            <a:ext cx="524503"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CIBC</a:t>
            </a:r>
          </a:p>
        </p:txBody>
      </p:sp>
      <p:sp>
        <p:nvSpPr>
          <p:cNvPr id="152" name="Rectangle 151">
            <a:extLst>
              <a:ext uri="{FF2B5EF4-FFF2-40B4-BE49-F238E27FC236}">
                <a16:creationId xmlns:a16="http://schemas.microsoft.com/office/drawing/2014/main" id="{810DF9D7-C607-A8A2-8232-0D9F26BBA32D}"/>
              </a:ext>
            </a:extLst>
          </p:cNvPr>
          <p:cNvSpPr/>
          <p:nvPr/>
        </p:nvSpPr>
        <p:spPr>
          <a:xfrm>
            <a:off x="2502866" y="5124423"/>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FSR, FA, MIC</a:t>
            </a:r>
          </a:p>
        </p:txBody>
      </p:sp>
      <p:sp>
        <p:nvSpPr>
          <p:cNvPr id="156" name="Rectangle 155">
            <a:extLst>
              <a:ext uri="{FF2B5EF4-FFF2-40B4-BE49-F238E27FC236}">
                <a16:creationId xmlns:a16="http://schemas.microsoft.com/office/drawing/2014/main" id="{F289BA0D-C0C0-7B40-EEF6-7F5A280D11DA}"/>
              </a:ext>
            </a:extLst>
          </p:cNvPr>
          <p:cNvSpPr/>
          <p:nvPr/>
        </p:nvSpPr>
        <p:spPr>
          <a:xfrm>
            <a:off x="7391512" y="5124423"/>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sp>
        <p:nvSpPr>
          <p:cNvPr id="161" name="Rectangle 160">
            <a:extLst>
              <a:ext uri="{FF2B5EF4-FFF2-40B4-BE49-F238E27FC236}">
                <a16:creationId xmlns:a16="http://schemas.microsoft.com/office/drawing/2014/main" id="{F1F94712-F955-CAB9-ABD4-B21F00687825}"/>
              </a:ext>
            </a:extLst>
          </p:cNvPr>
          <p:cNvSpPr/>
          <p:nvPr/>
        </p:nvSpPr>
        <p:spPr>
          <a:xfrm>
            <a:off x="4947189" y="5124423"/>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CIBC Goal Planner</a:t>
            </a:r>
          </a:p>
        </p:txBody>
      </p:sp>
      <p:sp>
        <p:nvSpPr>
          <p:cNvPr id="166" name="Rectangle 165">
            <a:extLst>
              <a:ext uri="{FF2B5EF4-FFF2-40B4-BE49-F238E27FC236}">
                <a16:creationId xmlns:a16="http://schemas.microsoft.com/office/drawing/2014/main" id="{6F392D7D-E6DB-91FF-59FA-5EDDBDDDCF72}"/>
              </a:ext>
            </a:extLst>
          </p:cNvPr>
          <p:cNvSpPr/>
          <p:nvPr/>
        </p:nvSpPr>
        <p:spPr>
          <a:xfrm>
            <a:off x="9835834" y="5124423"/>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CIBC Investor’s Edge</a:t>
            </a:r>
          </a:p>
        </p:txBody>
      </p:sp>
      <p:sp>
        <p:nvSpPr>
          <p:cNvPr id="217" name="Oval 216">
            <a:extLst>
              <a:ext uri="{FF2B5EF4-FFF2-40B4-BE49-F238E27FC236}">
                <a16:creationId xmlns:a16="http://schemas.microsoft.com/office/drawing/2014/main" id="{2F48B537-EB80-3B5B-89CD-D9E0F0B624E2}"/>
              </a:ext>
            </a:extLst>
          </p:cNvPr>
          <p:cNvSpPr/>
          <p:nvPr/>
        </p:nvSpPr>
        <p:spPr>
          <a:xfrm>
            <a:off x="9677511" y="5213958"/>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1" name="Oval 220">
            <a:extLst>
              <a:ext uri="{FF2B5EF4-FFF2-40B4-BE49-F238E27FC236}">
                <a16:creationId xmlns:a16="http://schemas.microsoft.com/office/drawing/2014/main" id="{66FC4ADE-1E72-7D5A-1BEE-66F7B60E437B}"/>
              </a:ext>
            </a:extLst>
          </p:cNvPr>
          <p:cNvSpPr/>
          <p:nvPr/>
        </p:nvSpPr>
        <p:spPr>
          <a:xfrm>
            <a:off x="7233189" y="5213958"/>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9" name="Oval 228">
            <a:extLst>
              <a:ext uri="{FF2B5EF4-FFF2-40B4-BE49-F238E27FC236}">
                <a16:creationId xmlns:a16="http://schemas.microsoft.com/office/drawing/2014/main" id="{FE614831-80B4-54D3-BEC4-BC347F9DA0D5}"/>
              </a:ext>
            </a:extLst>
          </p:cNvPr>
          <p:cNvSpPr/>
          <p:nvPr/>
        </p:nvSpPr>
        <p:spPr>
          <a:xfrm>
            <a:off x="4788866" y="5213958"/>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5" name="Oval 234">
            <a:extLst>
              <a:ext uri="{FF2B5EF4-FFF2-40B4-BE49-F238E27FC236}">
                <a16:creationId xmlns:a16="http://schemas.microsoft.com/office/drawing/2014/main" id="{FEC29C0F-D37D-E24A-8566-3614DEDEB287}"/>
              </a:ext>
            </a:extLst>
          </p:cNvPr>
          <p:cNvSpPr/>
          <p:nvPr/>
        </p:nvSpPr>
        <p:spPr>
          <a:xfrm>
            <a:off x="2344543" y="5213958"/>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cxnSp>
        <p:nvCxnSpPr>
          <p:cNvPr id="1044" name="Straight Connector 1043">
            <a:extLst>
              <a:ext uri="{FF2B5EF4-FFF2-40B4-BE49-F238E27FC236}">
                <a16:creationId xmlns:a16="http://schemas.microsoft.com/office/drawing/2014/main" id="{EF8331B9-CA18-D873-D6A4-638B4BB77657}"/>
              </a:ext>
            </a:extLst>
          </p:cNvPr>
          <p:cNvCxnSpPr>
            <a:cxnSpLocks/>
          </p:cNvCxnSpPr>
          <p:nvPr/>
        </p:nvCxnSpPr>
        <p:spPr>
          <a:xfrm>
            <a:off x="511237" y="4737890"/>
            <a:ext cx="11164824" cy="0"/>
          </a:xfrm>
          <a:prstGeom prst="line">
            <a:avLst/>
          </a:prstGeom>
          <a:ln>
            <a:solidFill>
              <a:srgbClr val="D8D6CA"/>
            </a:solidFill>
            <a:prstDash val="sysDot"/>
          </a:ln>
        </p:spPr>
        <p:style>
          <a:lnRef idx="1">
            <a:schemeClr val="accent1"/>
          </a:lnRef>
          <a:fillRef idx="0">
            <a:schemeClr val="accent1"/>
          </a:fillRef>
          <a:effectRef idx="0">
            <a:schemeClr val="accent1"/>
          </a:effectRef>
          <a:fontRef idx="minor">
            <a:schemeClr val="tx1"/>
          </a:fontRef>
        </p:style>
      </p:cxnSp>
      <p:cxnSp>
        <p:nvCxnSpPr>
          <p:cNvPr id="1045" name="Straight Connector 1044">
            <a:extLst>
              <a:ext uri="{FF2B5EF4-FFF2-40B4-BE49-F238E27FC236}">
                <a16:creationId xmlns:a16="http://schemas.microsoft.com/office/drawing/2014/main" id="{E6EE42DF-9970-D735-EA6F-A9E13C32ECC0}"/>
              </a:ext>
            </a:extLst>
          </p:cNvPr>
          <p:cNvCxnSpPr>
            <a:cxnSpLocks/>
          </p:cNvCxnSpPr>
          <p:nvPr/>
        </p:nvCxnSpPr>
        <p:spPr>
          <a:xfrm>
            <a:off x="511237" y="5087019"/>
            <a:ext cx="11164824" cy="0"/>
          </a:xfrm>
          <a:prstGeom prst="line">
            <a:avLst/>
          </a:prstGeom>
          <a:ln>
            <a:solidFill>
              <a:srgbClr val="D8D6CA"/>
            </a:solidFill>
            <a:prstDash val="sysDot"/>
          </a:ln>
        </p:spPr>
        <p:style>
          <a:lnRef idx="1">
            <a:schemeClr val="accent1"/>
          </a:lnRef>
          <a:fillRef idx="0">
            <a:schemeClr val="accent1"/>
          </a:fillRef>
          <a:effectRef idx="0">
            <a:schemeClr val="accent1"/>
          </a:effectRef>
          <a:fontRef idx="minor">
            <a:schemeClr val="tx1"/>
          </a:fontRef>
        </p:style>
      </p:cxnSp>
      <p:cxnSp>
        <p:nvCxnSpPr>
          <p:cNvPr id="1046" name="Straight Connector 1045">
            <a:extLst>
              <a:ext uri="{FF2B5EF4-FFF2-40B4-BE49-F238E27FC236}">
                <a16:creationId xmlns:a16="http://schemas.microsoft.com/office/drawing/2014/main" id="{D6FB177A-4449-2F9F-0A70-846A925AE032}"/>
              </a:ext>
            </a:extLst>
          </p:cNvPr>
          <p:cNvCxnSpPr>
            <a:cxnSpLocks/>
          </p:cNvCxnSpPr>
          <p:nvPr/>
        </p:nvCxnSpPr>
        <p:spPr>
          <a:xfrm>
            <a:off x="511237" y="5436148"/>
            <a:ext cx="11164824" cy="0"/>
          </a:xfrm>
          <a:prstGeom prst="line">
            <a:avLst/>
          </a:prstGeom>
          <a:ln>
            <a:solidFill>
              <a:srgbClr val="D8D6CA"/>
            </a:solidFill>
            <a:prstDash val="sysDot"/>
          </a:ln>
        </p:spPr>
        <p:style>
          <a:lnRef idx="1">
            <a:schemeClr val="accent1"/>
          </a:lnRef>
          <a:fillRef idx="0">
            <a:schemeClr val="accent1"/>
          </a:fillRef>
          <a:effectRef idx="0">
            <a:schemeClr val="accent1"/>
          </a:effectRef>
          <a:fontRef idx="minor">
            <a:schemeClr val="tx1"/>
          </a:fontRef>
        </p:style>
      </p:cxnSp>
      <p:cxnSp>
        <p:nvCxnSpPr>
          <p:cNvPr id="1047" name="Straight Connector 1046">
            <a:extLst>
              <a:ext uri="{FF2B5EF4-FFF2-40B4-BE49-F238E27FC236}">
                <a16:creationId xmlns:a16="http://schemas.microsoft.com/office/drawing/2014/main" id="{D6C87196-2A82-D55E-E4EB-806D672A08CA}"/>
              </a:ext>
            </a:extLst>
          </p:cNvPr>
          <p:cNvCxnSpPr>
            <a:cxnSpLocks/>
          </p:cNvCxnSpPr>
          <p:nvPr/>
        </p:nvCxnSpPr>
        <p:spPr>
          <a:xfrm>
            <a:off x="511237" y="5785277"/>
            <a:ext cx="11164824" cy="0"/>
          </a:xfrm>
          <a:prstGeom prst="line">
            <a:avLst/>
          </a:prstGeom>
          <a:ln>
            <a:solidFill>
              <a:srgbClr val="D8D6CA"/>
            </a:solidFill>
            <a:prstDash val="sysDot"/>
          </a:ln>
        </p:spPr>
        <p:style>
          <a:lnRef idx="1">
            <a:schemeClr val="accent1"/>
          </a:lnRef>
          <a:fillRef idx="0">
            <a:schemeClr val="accent1"/>
          </a:fillRef>
          <a:effectRef idx="0">
            <a:schemeClr val="accent1"/>
          </a:effectRef>
          <a:fontRef idx="minor">
            <a:schemeClr val="tx1"/>
          </a:fontRef>
        </p:style>
      </p:cxnSp>
      <p:grpSp>
        <p:nvGrpSpPr>
          <p:cNvPr id="1088" name="Group 1087">
            <a:extLst>
              <a:ext uri="{FF2B5EF4-FFF2-40B4-BE49-F238E27FC236}">
                <a16:creationId xmlns:a16="http://schemas.microsoft.com/office/drawing/2014/main" id="{7AF6016B-2545-8A76-6206-1584A2C972D8}"/>
              </a:ext>
            </a:extLst>
          </p:cNvPr>
          <p:cNvGrpSpPr/>
          <p:nvPr/>
        </p:nvGrpSpPr>
        <p:grpSpPr>
          <a:xfrm>
            <a:off x="7624126" y="6259356"/>
            <a:ext cx="3776609" cy="246221"/>
            <a:chOff x="7509826" y="6321464"/>
            <a:chExt cx="3776609" cy="246221"/>
          </a:xfrm>
        </p:grpSpPr>
        <p:sp>
          <p:nvSpPr>
            <p:cNvPr id="1078" name="TextBox 1077">
              <a:extLst>
                <a:ext uri="{FF2B5EF4-FFF2-40B4-BE49-F238E27FC236}">
                  <a16:creationId xmlns:a16="http://schemas.microsoft.com/office/drawing/2014/main" id="{324008BC-3A9D-C0C4-379D-C1454FDFFC38}"/>
                </a:ext>
              </a:extLst>
            </p:cNvPr>
            <p:cNvSpPr txBox="1"/>
            <p:nvPr/>
          </p:nvSpPr>
          <p:spPr>
            <a:xfrm>
              <a:off x="7509826" y="6321464"/>
              <a:ext cx="154561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Strength of Capabilities</a:t>
              </a:r>
            </a:p>
          </p:txBody>
        </p:sp>
        <p:grpSp>
          <p:nvGrpSpPr>
            <p:cNvPr id="1084" name="Group 1083">
              <a:extLst>
                <a:ext uri="{FF2B5EF4-FFF2-40B4-BE49-F238E27FC236}">
                  <a16:creationId xmlns:a16="http://schemas.microsoft.com/office/drawing/2014/main" id="{A83C195D-9E0F-0DA5-D433-169384034912}"/>
                </a:ext>
              </a:extLst>
            </p:cNvPr>
            <p:cNvGrpSpPr/>
            <p:nvPr/>
          </p:nvGrpSpPr>
          <p:grpSpPr>
            <a:xfrm>
              <a:off x="9031405" y="6321464"/>
              <a:ext cx="705719" cy="246221"/>
              <a:chOff x="8260192" y="6322146"/>
              <a:chExt cx="705719" cy="246221"/>
            </a:xfrm>
          </p:grpSpPr>
          <p:sp>
            <p:nvSpPr>
              <p:cNvPr id="1077" name="Oval 1076">
                <a:extLst>
                  <a:ext uri="{FF2B5EF4-FFF2-40B4-BE49-F238E27FC236}">
                    <a16:creationId xmlns:a16="http://schemas.microsoft.com/office/drawing/2014/main" id="{B63C5CEB-0351-8002-8E4B-705E491B1A32}"/>
                  </a:ext>
                </a:extLst>
              </p:cNvPr>
              <p:cNvSpPr/>
              <p:nvPr/>
            </p:nvSpPr>
            <p:spPr>
              <a:xfrm>
                <a:off x="8260192" y="6397631"/>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079" name="TextBox 1078">
                <a:extLst>
                  <a:ext uri="{FF2B5EF4-FFF2-40B4-BE49-F238E27FC236}">
                    <a16:creationId xmlns:a16="http://schemas.microsoft.com/office/drawing/2014/main" id="{EEFE3473-EF6E-8D28-6267-017696F0DAFA}"/>
                  </a:ext>
                </a:extLst>
              </p:cNvPr>
              <p:cNvSpPr txBox="1"/>
              <p:nvPr/>
            </p:nvSpPr>
            <p:spPr>
              <a:xfrm>
                <a:off x="8394921" y="6322146"/>
                <a:ext cx="570990"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Strong</a:t>
                </a:r>
              </a:p>
            </p:txBody>
          </p:sp>
        </p:grpSp>
        <p:grpSp>
          <p:nvGrpSpPr>
            <p:cNvPr id="1086" name="Group 1085">
              <a:extLst>
                <a:ext uri="{FF2B5EF4-FFF2-40B4-BE49-F238E27FC236}">
                  <a16:creationId xmlns:a16="http://schemas.microsoft.com/office/drawing/2014/main" id="{55EAB0C3-A23B-E0FA-E5DB-5B6C12A2A325}"/>
                </a:ext>
              </a:extLst>
            </p:cNvPr>
            <p:cNvGrpSpPr/>
            <p:nvPr/>
          </p:nvGrpSpPr>
          <p:grpSpPr>
            <a:xfrm>
              <a:off x="10643233" y="6321464"/>
              <a:ext cx="643202" cy="246221"/>
              <a:chOff x="8260192" y="6928723"/>
              <a:chExt cx="643202" cy="246221"/>
            </a:xfrm>
          </p:grpSpPr>
          <p:sp>
            <p:nvSpPr>
              <p:cNvPr id="1081" name="TextBox 1080">
                <a:extLst>
                  <a:ext uri="{FF2B5EF4-FFF2-40B4-BE49-F238E27FC236}">
                    <a16:creationId xmlns:a16="http://schemas.microsoft.com/office/drawing/2014/main" id="{552570F4-D6F8-EEA6-270E-3E3054D2C252}"/>
                  </a:ext>
                </a:extLst>
              </p:cNvPr>
              <p:cNvSpPr txBox="1"/>
              <p:nvPr/>
            </p:nvSpPr>
            <p:spPr>
              <a:xfrm>
                <a:off x="8394921" y="6928723"/>
                <a:ext cx="5084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Weak</a:t>
                </a:r>
              </a:p>
            </p:txBody>
          </p:sp>
          <p:sp>
            <p:nvSpPr>
              <p:cNvPr id="1082" name="Oval 1081">
                <a:extLst>
                  <a:ext uri="{FF2B5EF4-FFF2-40B4-BE49-F238E27FC236}">
                    <a16:creationId xmlns:a16="http://schemas.microsoft.com/office/drawing/2014/main" id="{A58C156A-596F-6BC8-E9E6-BF3DC0AFFBCD}"/>
                  </a:ext>
                </a:extLst>
              </p:cNvPr>
              <p:cNvSpPr/>
              <p:nvPr/>
            </p:nvSpPr>
            <p:spPr>
              <a:xfrm>
                <a:off x="8260192" y="7004208"/>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1085" name="Group 1084">
              <a:extLst>
                <a:ext uri="{FF2B5EF4-FFF2-40B4-BE49-F238E27FC236}">
                  <a16:creationId xmlns:a16="http://schemas.microsoft.com/office/drawing/2014/main" id="{BB59447F-76C3-848E-9EDE-BCA502AACE4E}"/>
                </a:ext>
              </a:extLst>
            </p:cNvPr>
            <p:cNvGrpSpPr/>
            <p:nvPr/>
          </p:nvGrpSpPr>
          <p:grpSpPr>
            <a:xfrm>
              <a:off x="9713087" y="6321464"/>
              <a:ext cx="954184" cy="246221"/>
              <a:chOff x="8260192" y="6576772"/>
              <a:chExt cx="954184" cy="246221"/>
            </a:xfrm>
          </p:grpSpPr>
          <p:sp>
            <p:nvSpPr>
              <p:cNvPr id="1080" name="TextBox 1079">
                <a:extLst>
                  <a:ext uri="{FF2B5EF4-FFF2-40B4-BE49-F238E27FC236}">
                    <a16:creationId xmlns:a16="http://schemas.microsoft.com/office/drawing/2014/main" id="{3A6B2C05-756F-9595-B1F1-59D53D1AF841}"/>
                  </a:ext>
                </a:extLst>
              </p:cNvPr>
              <p:cNvSpPr txBox="1"/>
              <p:nvPr/>
            </p:nvSpPr>
            <p:spPr>
              <a:xfrm>
                <a:off x="8394921" y="6576772"/>
                <a:ext cx="819455"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Developing</a:t>
                </a:r>
              </a:p>
            </p:txBody>
          </p:sp>
          <p:sp>
            <p:nvSpPr>
              <p:cNvPr id="1083" name="Oval 1082">
                <a:extLst>
                  <a:ext uri="{FF2B5EF4-FFF2-40B4-BE49-F238E27FC236}">
                    <a16:creationId xmlns:a16="http://schemas.microsoft.com/office/drawing/2014/main" id="{D61EF6C3-9690-9EA7-C2CA-B34C8FF5122B}"/>
                  </a:ext>
                </a:extLst>
              </p:cNvPr>
              <p:cNvSpPr/>
              <p:nvPr/>
            </p:nvSpPr>
            <p:spPr>
              <a:xfrm>
                <a:off x="8260192" y="6652257"/>
                <a:ext cx="95250" cy="95250"/>
              </a:xfrm>
              <a:prstGeom prst="ellipse">
                <a:avLst/>
              </a:prstGeom>
              <a:solidFill>
                <a:srgbClr val="FDB913"/>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grpSp>
      <p:cxnSp>
        <p:nvCxnSpPr>
          <p:cNvPr id="1107" name="Straight Connector 1106">
            <a:extLst>
              <a:ext uri="{FF2B5EF4-FFF2-40B4-BE49-F238E27FC236}">
                <a16:creationId xmlns:a16="http://schemas.microsoft.com/office/drawing/2014/main" id="{94069831-8120-72E0-43F3-6BD5262B89AC}"/>
              </a:ext>
            </a:extLst>
          </p:cNvPr>
          <p:cNvCxnSpPr>
            <a:cxnSpLocks/>
          </p:cNvCxnSpPr>
          <p:nvPr/>
        </p:nvCxnSpPr>
        <p:spPr>
          <a:xfrm>
            <a:off x="2067914" y="1703955"/>
            <a:ext cx="471830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08" name="TextBox 1107">
            <a:extLst>
              <a:ext uri="{FF2B5EF4-FFF2-40B4-BE49-F238E27FC236}">
                <a16:creationId xmlns:a16="http://schemas.microsoft.com/office/drawing/2014/main" id="{CB378B9A-A01A-2FC6-F33D-909124953A82}"/>
              </a:ext>
            </a:extLst>
          </p:cNvPr>
          <p:cNvSpPr txBox="1"/>
          <p:nvPr/>
        </p:nvSpPr>
        <p:spPr>
          <a:xfrm>
            <a:off x="3923786" y="1591636"/>
            <a:ext cx="1117614" cy="24622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300" normalizeH="0" baseline="0" noProof="0">
                <a:ln>
                  <a:noFill/>
                </a:ln>
                <a:solidFill>
                  <a:srgbClr val="000000"/>
                </a:solidFill>
                <a:effectLst/>
                <a:uLnTx/>
                <a:uFillTx/>
                <a:latin typeface="Scotia"/>
                <a:ea typeface="+mn-ea"/>
                <a:cs typeface="+mn-cs"/>
              </a:rPr>
              <a:t>PLANNING</a:t>
            </a:r>
          </a:p>
        </p:txBody>
      </p:sp>
      <p:grpSp>
        <p:nvGrpSpPr>
          <p:cNvPr id="1112" name="Group 1111">
            <a:extLst>
              <a:ext uri="{FF2B5EF4-FFF2-40B4-BE49-F238E27FC236}">
                <a16:creationId xmlns:a16="http://schemas.microsoft.com/office/drawing/2014/main" id="{2BF20C05-EA0A-A5BF-218E-CBE168C0A3FF}"/>
              </a:ext>
            </a:extLst>
          </p:cNvPr>
          <p:cNvGrpSpPr/>
          <p:nvPr/>
        </p:nvGrpSpPr>
        <p:grpSpPr>
          <a:xfrm>
            <a:off x="6945742" y="1591636"/>
            <a:ext cx="4718304" cy="246221"/>
            <a:chOff x="7150602" y="1412053"/>
            <a:chExt cx="4718304" cy="246221"/>
          </a:xfrm>
        </p:grpSpPr>
        <p:cxnSp>
          <p:nvCxnSpPr>
            <p:cNvPr id="1110" name="Straight Connector 1109">
              <a:extLst>
                <a:ext uri="{FF2B5EF4-FFF2-40B4-BE49-F238E27FC236}">
                  <a16:creationId xmlns:a16="http://schemas.microsoft.com/office/drawing/2014/main" id="{79633557-F2A8-3B94-2473-DADD0135B553}"/>
                </a:ext>
              </a:extLst>
            </p:cNvPr>
            <p:cNvCxnSpPr>
              <a:cxnSpLocks/>
            </p:cNvCxnSpPr>
            <p:nvPr/>
          </p:nvCxnSpPr>
          <p:spPr>
            <a:xfrm>
              <a:off x="7150602" y="1524372"/>
              <a:ext cx="471830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11" name="TextBox 1110">
              <a:extLst>
                <a:ext uri="{FF2B5EF4-FFF2-40B4-BE49-F238E27FC236}">
                  <a16:creationId xmlns:a16="http://schemas.microsoft.com/office/drawing/2014/main" id="{49323046-6930-E784-E1DA-11AAA4AEA265}"/>
                </a:ext>
              </a:extLst>
            </p:cNvPr>
            <p:cNvSpPr txBox="1"/>
            <p:nvPr/>
          </p:nvSpPr>
          <p:spPr>
            <a:xfrm>
              <a:off x="8923696" y="1412053"/>
              <a:ext cx="1172116" cy="24622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300" normalizeH="0" baseline="0" noProof="0">
                  <a:ln>
                    <a:noFill/>
                  </a:ln>
                  <a:solidFill>
                    <a:srgbClr val="000000"/>
                  </a:solidFill>
                  <a:effectLst/>
                  <a:uLnTx/>
                  <a:uFillTx/>
                  <a:latin typeface="Scotia"/>
                  <a:ea typeface="+mn-ea"/>
                  <a:cs typeface="+mn-cs"/>
                </a:rPr>
                <a:t>INVESTING</a:t>
              </a:r>
            </a:p>
          </p:txBody>
        </p:sp>
      </p:grpSp>
      <p:grpSp>
        <p:nvGrpSpPr>
          <p:cNvPr id="1131" name="Group 1130">
            <a:extLst>
              <a:ext uri="{FF2B5EF4-FFF2-40B4-BE49-F238E27FC236}">
                <a16:creationId xmlns:a16="http://schemas.microsoft.com/office/drawing/2014/main" id="{BF6EEBD0-C3DD-B391-753A-C9AA0665E38B}"/>
              </a:ext>
            </a:extLst>
          </p:cNvPr>
          <p:cNvGrpSpPr/>
          <p:nvPr/>
        </p:nvGrpSpPr>
        <p:grpSpPr>
          <a:xfrm>
            <a:off x="608613" y="4107354"/>
            <a:ext cx="213684" cy="213684"/>
            <a:chOff x="1722062" y="2934865"/>
            <a:chExt cx="306179" cy="306179"/>
          </a:xfrm>
        </p:grpSpPr>
        <p:sp>
          <p:nvSpPr>
            <p:cNvPr id="1141" name="Oval 1140">
              <a:extLst>
                <a:ext uri="{FF2B5EF4-FFF2-40B4-BE49-F238E27FC236}">
                  <a16:creationId xmlns:a16="http://schemas.microsoft.com/office/drawing/2014/main" id="{B00A4A66-35F5-1629-A4E6-452C73D6E1BD}"/>
                </a:ext>
              </a:extLst>
            </p:cNvPr>
            <p:cNvSpPr/>
            <p:nvPr/>
          </p:nvSpPr>
          <p:spPr>
            <a:xfrm>
              <a:off x="1722062" y="2934865"/>
              <a:ext cx="306179" cy="306179"/>
            </a:xfrm>
            <a:prstGeom prst="ellipse">
              <a:avLst/>
            </a:prstGeom>
            <a:solidFill>
              <a:srgbClr val="005A85"/>
            </a:solidFill>
            <a:ln>
              <a:solidFill>
                <a:srgbClr val="005A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 name="Freeform 22">
              <a:extLst>
                <a:ext uri="{FF2B5EF4-FFF2-40B4-BE49-F238E27FC236}">
                  <a16:creationId xmlns:a16="http://schemas.microsoft.com/office/drawing/2014/main" id="{5AC146D4-65EC-1713-2328-3D0383661C8A}"/>
                </a:ext>
              </a:extLst>
            </p:cNvPr>
            <p:cNvSpPr>
              <a:spLocks noEditPoints="1"/>
            </p:cNvSpPr>
            <p:nvPr/>
          </p:nvSpPr>
          <p:spPr bwMode="auto">
            <a:xfrm>
              <a:off x="1782891" y="2993368"/>
              <a:ext cx="184521" cy="189173"/>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sp>
        <p:nvSpPr>
          <p:cNvPr id="1132" name="TextBox 1131">
            <a:extLst>
              <a:ext uri="{FF2B5EF4-FFF2-40B4-BE49-F238E27FC236}">
                <a16:creationId xmlns:a16="http://schemas.microsoft.com/office/drawing/2014/main" id="{E7C9B84E-2FE5-EF07-40B5-E9A0D578B2C2}"/>
              </a:ext>
            </a:extLst>
          </p:cNvPr>
          <p:cNvSpPr txBox="1"/>
          <p:nvPr/>
        </p:nvSpPr>
        <p:spPr>
          <a:xfrm>
            <a:off x="886037" y="4075697"/>
            <a:ext cx="4796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RBC</a:t>
            </a:r>
          </a:p>
        </p:txBody>
      </p:sp>
      <p:sp>
        <p:nvSpPr>
          <p:cNvPr id="1133" name="Rectangle 1132">
            <a:extLst>
              <a:ext uri="{FF2B5EF4-FFF2-40B4-BE49-F238E27FC236}">
                <a16:creationId xmlns:a16="http://schemas.microsoft.com/office/drawing/2014/main" id="{6F2EBF05-7337-E064-D8C5-2301BC00D462}"/>
              </a:ext>
            </a:extLst>
          </p:cNvPr>
          <p:cNvSpPr/>
          <p:nvPr/>
        </p:nvSpPr>
        <p:spPr>
          <a:xfrm>
            <a:off x="2502866" y="4077036"/>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FP, IRP</a:t>
            </a:r>
          </a:p>
        </p:txBody>
      </p:sp>
      <p:sp>
        <p:nvSpPr>
          <p:cNvPr id="1134" name="Rectangle 1133">
            <a:extLst>
              <a:ext uri="{FF2B5EF4-FFF2-40B4-BE49-F238E27FC236}">
                <a16:creationId xmlns:a16="http://schemas.microsoft.com/office/drawing/2014/main" id="{8AC99E19-8E73-3825-B947-F1705560492D}"/>
              </a:ext>
            </a:extLst>
          </p:cNvPr>
          <p:cNvSpPr/>
          <p:nvPr/>
        </p:nvSpPr>
        <p:spPr>
          <a:xfrm>
            <a:off x="7391512" y="4077036"/>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RBC </a:t>
            </a:r>
            <a:r>
              <a:rPr kumimoji="0" lang="en-US" sz="1000" b="0" i="0" u="none" strike="noStrike" kern="1200" cap="none" spc="0" normalizeH="0" baseline="0" noProof="0" err="1">
                <a:ln>
                  <a:noFill/>
                </a:ln>
                <a:solidFill>
                  <a:srgbClr val="000000"/>
                </a:solidFill>
                <a:effectLst/>
                <a:uLnTx/>
                <a:uFillTx/>
                <a:latin typeface="Scotia"/>
                <a:ea typeface="+mn-ea"/>
                <a:cs typeface="+mn-cs"/>
              </a:rPr>
              <a:t>InvestEase</a:t>
            </a: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35" name="Rectangle 1134">
            <a:extLst>
              <a:ext uri="{FF2B5EF4-FFF2-40B4-BE49-F238E27FC236}">
                <a16:creationId xmlns:a16="http://schemas.microsoft.com/office/drawing/2014/main" id="{CE4C46FE-C2F7-B985-2BD9-D860259AF4DB}"/>
              </a:ext>
            </a:extLst>
          </p:cNvPr>
          <p:cNvSpPr/>
          <p:nvPr/>
        </p:nvSpPr>
        <p:spPr>
          <a:xfrm>
            <a:off x="4947189" y="4077036"/>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RBC </a:t>
            </a:r>
            <a:r>
              <a:rPr kumimoji="0" lang="en-US" sz="1000" b="0" i="0" u="none" strike="noStrike" kern="1200" cap="none" spc="0" normalizeH="0" baseline="0" noProof="0" err="1">
                <a:ln>
                  <a:noFill/>
                </a:ln>
                <a:solidFill>
                  <a:srgbClr val="000000"/>
                </a:solidFill>
                <a:effectLst/>
                <a:uLnTx/>
                <a:uFillTx/>
                <a:latin typeface="Scotia"/>
                <a:ea typeface="+mn-ea"/>
                <a:cs typeface="+mn-cs"/>
              </a:rPr>
              <a:t>MyAdvisor</a:t>
            </a: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36" name="Rectangle 1135">
            <a:extLst>
              <a:ext uri="{FF2B5EF4-FFF2-40B4-BE49-F238E27FC236}">
                <a16:creationId xmlns:a16="http://schemas.microsoft.com/office/drawing/2014/main" id="{52A2D9F7-5868-A452-D139-24FF854ACEBA}"/>
              </a:ext>
            </a:extLst>
          </p:cNvPr>
          <p:cNvSpPr/>
          <p:nvPr/>
        </p:nvSpPr>
        <p:spPr>
          <a:xfrm>
            <a:off x="9835834" y="4077036"/>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RBC Direct Investing</a:t>
            </a:r>
          </a:p>
        </p:txBody>
      </p:sp>
      <p:sp>
        <p:nvSpPr>
          <p:cNvPr id="1137" name="Oval 1136">
            <a:extLst>
              <a:ext uri="{FF2B5EF4-FFF2-40B4-BE49-F238E27FC236}">
                <a16:creationId xmlns:a16="http://schemas.microsoft.com/office/drawing/2014/main" id="{5EE05D7D-B883-C993-4F27-14AA691FFCA3}"/>
              </a:ext>
            </a:extLst>
          </p:cNvPr>
          <p:cNvSpPr/>
          <p:nvPr/>
        </p:nvSpPr>
        <p:spPr>
          <a:xfrm>
            <a:off x="4788866" y="4166571"/>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38" name="Oval 1137">
            <a:extLst>
              <a:ext uri="{FF2B5EF4-FFF2-40B4-BE49-F238E27FC236}">
                <a16:creationId xmlns:a16="http://schemas.microsoft.com/office/drawing/2014/main" id="{DF3D3E9A-658A-875C-FB39-A53647DA0437}"/>
              </a:ext>
            </a:extLst>
          </p:cNvPr>
          <p:cNvSpPr/>
          <p:nvPr/>
        </p:nvSpPr>
        <p:spPr>
          <a:xfrm>
            <a:off x="7233189" y="4166571"/>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39" name="Oval 1138">
            <a:extLst>
              <a:ext uri="{FF2B5EF4-FFF2-40B4-BE49-F238E27FC236}">
                <a16:creationId xmlns:a16="http://schemas.microsoft.com/office/drawing/2014/main" id="{98AF812A-EFC9-67DD-E645-BDEE49E72269}"/>
              </a:ext>
            </a:extLst>
          </p:cNvPr>
          <p:cNvSpPr/>
          <p:nvPr/>
        </p:nvSpPr>
        <p:spPr>
          <a:xfrm>
            <a:off x="9677511" y="4166571"/>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40" name="Oval 1139">
            <a:extLst>
              <a:ext uri="{FF2B5EF4-FFF2-40B4-BE49-F238E27FC236}">
                <a16:creationId xmlns:a16="http://schemas.microsoft.com/office/drawing/2014/main" id="{193F7255-0264-94B2-03D8-3511ABD73101}"/>
              </a:ext>
            </a:extLst>
          </p:cNvPr>
          <p:cNvSpPr/>
          <p:nvPr/>
        </p:nvSpPr>
        <p:spPr>
          <a:xfrm>
            <a:off x="2344543" y="4166571"/>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143" name="Rectangle 1142">
            <a:extLst>
              <a:ext uri="{FF2B5EF4-FFF2-40B4-BE49-F238E27FC236}">
                <a16:creationId xmlns:a16="http://schemas.microsoft.com/office/drawing/2014/main" id="{66ECEF23-5928-B657-7FA1-0CE7799EC3E9}"/>
              </a:ext>
            </a:extLst>
          </p:cNvPr>
          <p:cNvSpPr/>
          <p:nvPr/>
        </p:nvSpPr>
        <p:spPr>
          <a:xfrm>
            <a:off x="515937" y="3702059"/>
            <a:ext cx="11160124" cy="3401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76" name="Group 75">
            <a:extLst>
              <a:ext uri="{FF2B5EF4-FFF2-40B4-BE49-F238E27FC236}">
                <a16:creationId xmlns:a16="http://schemas.microsoft.com/office/drawing/2014/main" id="{0337C119-48D3-720B-06C0-933D08B9BE5C}"/>
              </a:ext>
            </a:extLst>
          </p:cNvPr>
          <p:cNvGrpSpPr/>
          <p:nvPr/>
        </p:nvGrpSpPr>
        <p:grpSpPr>
          <a:xfrm>
            <a:off x="609150" y="3763339"/>
            <a:ext cx="212610" cy="213684"/>
            <a:chOff x="2969054" y="2934865"/>
            <a:chExt cx="304641" cy="306179"/>
          </a:xfrm>
        </p:grpSpPr>
        <p:sp>
          <p:nvSpPr>
            <p:cNvPr id="77" name="Oval 76">
              <a:extLst>
                <a:ext uri="{FF2B5EF4-FFF2-40B4-BE49-F238E27FC236}">
                  <a16:creationId xmlns:a16="http://schemas.microsoft.com/office/drawing/2014/main" id="{9DF4EDE0-E834-9F7E-6060-9C61D6FED016}"/>
                </a:ext>
              </a:extLst>
            </p:cNvPr>
            <p:cNvSpPr/>
            <p:nvPr/>
          </p:nvSpPr>
          <p:spPr>
            <a:xfrm>
              <a:off x="2969054" y="2934865"/>
              <a:ext cx="304641" cy="306179"/>
            </a:xfrm>
            <a:prstGeom prst="ellipse">
              <a:avLst/>
            </a:prstGeom>
            <a:solidFill>
              <a:srgbClr val="EC111A"/>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8" name="Group 4">
              <a:extLst>
                <a:ext uri="{FF2B5EF4-FFF2-40B4-BE49-F238E27FC236}">
                  <a16:creationId xmlns:a16="http://schemas.microsoft.com/office/drawing/2014/main" id="{49E9929B-10E5-197D-E514-0362796EBF1E}"/>
                </a:ext>
              </a:extLst>
            </p:cNvPr>
            <p:cNvGrpSpPr>
              <a:grpSpLocks noChangeAspect="1"/>
            </p:cNvGrpSpPr>
            <p:nvPr/>
          </p:nvGrpSpPr>
          <p:grpSpPr bwMode="auto">
            <a:xfrm>
              <a:off x="3043848" y="3002838"/>
              <a:ext cx="155053" cy="170233"/>
              <a:chOff x="7312" y="4020"/>
              <a:chExt cx="143" cy="157"/>
            </a:xfrm>
            <a:solidFill>
              <a:schemeClr val="bg1"/>
            </a:solidFill>
          </p:grpSpPr>
          <p:sp>
            <p:nvSpPr>
              <p:cNvPr id="79" name="Freeform 5">
                <a:extLst>
                  <a:ext uri="{FF2B5EF4-FFF2-40B4-BE49-F238E27FC236}">
                    <a16:creationId xmlns:a16="http://schemas.microsoft.com/office/drawing/2014/main" id="{3BE9420D-3F07-5DFA-F73D-386BD7E98C3C}"/>
                  </a:ext>
                </a:extLst>
              </p:cNvPr>
              <p:cNvSpPr>
                <a:spLocks/>
              </p:cNvSpPr>
              <p:nvPr/>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1" b="0" i="0" u="none" strike="noStrike" kern="1200" cap="none" spc="0" normalizeH="0" baseline="0" noProof="0">
                  <a:ln>
                    <a:noFill/>
                  </a:ln>
                  <a:solidFill>
                    <a:srgbClr val="000000"/>
                  </a:solidFill>
                  <a:effectLst/>
                  <a:uLnTx/>
                  <a:uFillTx/>
                  <a:latin typeface="Scotia"/>
                  <a:ea typeface="+mn-ea"/>
                  <a:cs typeface="+mn-cs"/>
                </a:endParaRPr>
              </a:p>
            </p:txBody>
          </p:sp>
          <p:sp>
            <p:nvSpPr>
              <p:cNvPr id="80" name="Freeform 6">
                <a:extLst>
                  <a:ext uri="{FF2B5EF4-FFF2-40B4-BE49-F238E27FC236}">
                    <a16:creationId xmlns:a16="http://schemas.microsoft.com/office/drawing/2014/main" id="{A4BD4ACE-D968-BA9C-EF15-57EBC9CD0FDD}"/>
                  </a:ext>
                </a:extLst>
              </p:cNvPr>
              <p:cNvSpPr>
                <a:spLocks/>
              </p:cNvSpPr>
              <p:nvPr/>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1" b="0" i="0" u="none" strike="noStrike" kern="1200" cap="none" spc="0" normalizeH="0" baseline="0" noProof="0">
                  <a:ln>
                    <a:noFill/>
                  </a:ln>
                  <a:solidFill>
                    <a:srgbClr val="000000"/>
                  </a:solidFill>
                  <a:effectLst/>
                  <a:uLnTx/>
                  <a:uFillTx/>
                  <a:latin typeface="Scotia"/>
                  <a:ea typeface="+mn-ea"/>
                  <a:cs typeface="+mn-cs"/>
                </a:endParaRPr>
              </a:p>
            </p:txBody>
          </p:sp>
          <p:sp>
            <p:nvSpPr>
              <p:cNvPr id="81" name="Oval 7">
                <a:extLst>
                  <a:ext uri="{FF2B5EF4-FFF2-40B4-BE49-F238E27FC236}">
                    <a16:creationId xmlns:a16="http://schemas.microsoft.com/office/drawing/2014/main" id="{24425F92-7094-D322-807A-702C1180C870}"/>
                  </a:ext>
                </a:extLst>
              </p:cNvPr>
              <p:cNvSpPr>
                <a:spLocks noChangeArrowheads="1"/>
              </p:cNvSpPr>
              <p:nvPr/>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1" b="0" i="0" u="none" strike="noStrike" kern="1200" cap="none" spc="0" normalizeH="0" baseline="0" noProof="0">
                  <a:ln>
                    <a:noFill/>
                  </a:ln>
                  <a:solidFill>
                    <a:srgbClr val="000000"/>
                  </a:solidFill>
                  <a:effectLst/>
                  <a:uLnTx/>
                  <a:uFillTx/>
                  <a:latin typeface="Scotia"/>
                  <a:ea typeface="+mn-ea"/>
                  <a:cs typeface="+mn-cs"/>
                </a:endParaRPr>
              </a:p>
            </p:txBody>
          </p:sp>
        </p:grpSp>
      </p:grpSp>
      <p:sp>
        <p:nvSpPr>
          <p:cNvPr id="147" name="TextBox 146">
            <a:extLst>
              <a:ext uri="{FF2B5EF4-FFF2-40B4-BE49-F238E27FC236}">
                <a16:creationId xmlns:a16="http://schemas.microsoft.com/office/drawing/2014/main" id="{94D5661B-7FCE-A30D-5DA5-66954D14C4EF}"/>
              </a:ext>
            </a:extLst>
          </p:cNvPr>
          <p:cNvSpPr txBox="1"/>
          <p:nvPr/>
        </p:nvSpPr>
        <p:spPr>
          <a:xfrm>
            <a:off x="886037" y="3731682"/>
            <a:ext cx="98135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Scotiabank</a:t>
            </a:r>
          </a:p>
        </p:txBody>
      </p:sp>
      <p:sp>
        <p:nvSpPr>
          <p:cNvPr id="151" name="Rectangle 150">
            <a:extLst>
              <a:ext uri="{FF2B5EF4-FFF2-40B4-BE49-F238E27FC236}">
                <a16:creationId xmlns:a16="http://schemas.microsoft.com/office/drawing/2014/main" id="{72766199-B578-E40F-72F2-BF5DA12FA8ED}"/>
              </a:ext>
            </a:extLst>
          </p:cNvPr>
          <p:cNvSpPr/>
          <p:nvPr/>
        </p:nvSpPr>
        <p:spPr>
          <a:xfrm>
            <a:off x="2502866" y="373302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FA, SFA, FAIR, SFP</a:t>
            </a:r>
          </a:p>
        </p:txBody>
      </p:sp>
      <p:sp>
        <p:nvSpPr>
          <p:cNvPr id="160" name="Rectangle 159">
            <a:extLst>
              <a:ext uri="{FF2B5EF4-FFF2-40B4-BE49-F238E27FC236}">
                <a16:creationId xmlns:a16="http://schemas.microsoft.com/office/drawing/2014/main" id="{61B3F291-0A44-08DA-1D36-F877868E9552}"/>
              </a:ext>
            </a:extLst>
          </p:cNvPr>
          <p:cNvSpPr/>
          <p:nvPr/>
        </p:nvSpPr>
        <p:spPr>
          <a:xfrm>
            <a:off x="4947189" y="373302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BNS Smart Investor</a:t>
            </a:r>
          </a:p>
        </p:txBody>
      </p:sp>
      <p:sp>
        <p:nvSpPr>
          <p:cNvPr id="165" name="Rectangle 164">
            <a:extLst>
              <a:ext uri="{FF2B5EF4-FFF2-40B4-BE49-F238E27FC236}">
                <a16:creationId xmlns:a16="http://schemas.microsoft.com/office/drawing/2014/main" id="{8C1CF6EF-B871-21FE-96B4-909DAC0EA870}"/>
              </a:ext>
            </a:extLst>
          </p:cNvPr>
          <p:cNvSpPr/>
          <p:nvPr/>
        </p:nvSpPr>
        <p:spPr>
          <a:xfrm>
            <a:off x="9835834" y="373302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Scotiabank </a:t>
            </a:r>
            <a:r>
              <a:rPr kumimoji="0" lang="en-US" sz="1000" b="0" i="0" u="none" strike="noStrike" kern="1200" cap="none" spc="0" normalizeH="0" baseline="0" noProof="0" err="1">
                <a:ln>
                  <a:noFill/>
                </a:ln>
                <a:solidFill>
                  <a:srgbClr val="000000"/>
                </a:solidFill>
                <a:effectLst/>
                <a:uLnTx/>
                <a:uFillTx/>
                <a:latin typeface="Scotia"/>
                <a:ea typeface="+mn-ea"/>
                <a:cs typeface="+mn-cs"/>
              </a:rPr>
              <a:t>iTRADE</a:t>
            </a: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16" name="Oval 215">
            <a:extLst>
              <a:ext uri="{FF2B5EF4-FFF2-40B4-BE49-F238E27FC236}">
                <a16:creationId xmlns:a16="http://schemas.microsoft.com/office/drawing/2014/main" id="{9692AD0B-3B5E-387E-2002-75CC73FF6734}"/>
              </a:ext>
            </a:extLst>
          </p:cNvPr>
          <p:cNvSpPr/>
          <p:nvPr/>
        </p:nvSpPr>
        <p:spPr>
          <a:xfrm>
            <a:off x="9677511" y="3822556"/>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6" name="Rectangle 225">
            <a:extLst>
              <a:ext uri="{FF2B5EF4-FFF2-40B4-BE49-F238E27FC236}">
                <a16:creationId xmlns:a16="http://schemas.microsoft.com/office/drawing/2014/main" id="{9CD139BB-576F-CD15-0775-5443C97FFEFF}"/>
              </a:ext>
            </a:extLst>
          </p:cNvPr>
          <p:cNvSpPr/>
          <p:nvPr/>
        </p:nvSpPr>
        <p:spPr>
          <a:xfrm>
            <a:off x="7391512" y="3733021"/>
            <a:ext cx="1737360"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No offering</a:t>
            </a:r>
          </a:p>
        </p:txBody>
      </p:sp>
      <p:sp>
        <p:nvSpPr>
          <p:cNvPr id="227" name="Oval 226">
            <a:extLst>
              <a:ext uri="{FF2B5EF4-FFF2-40B4-BE49-F238E27FC236}">
                <a16:creationId xmlns:a16="http://schemas.microsoft.com/office/drawing/2014/main" id="{168192A6-EB38-6B92-447C-B359B26E9E77}"/>
              </a:ext>
            </a:extLst>
          </p:cNvPr>
          <p:cNvSpPr/>
          <p:nvPr/>
        </p:nvSpPr>
        <p:spPr>
          <a:xfrm>
            <a:off x="7233189" y="3822556"/>
            <a:ext cx="95250" cy="9525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28" name="Oval 227">
            <a:extLst>
              <a:ext uri="{FF2B5EF4-FFF2-40B4-BE49-F238E27FC236}">
                <a16:creationId xmlns:a16="http://schemas.microsoft.com/office/drawing/2014/main" id="{5A848B9E-6A06-BFE8-F091-4B6C8A2A3CF8}"/>
              </a:ext>
            </a:extLst>
          </p:cNvPr>
          <p:cNvSpPr/>
          <p:nvPr/>
        </p:nvSpPr>
        <p:spPr>
          <a:xfrm>
            <a:off x="4788866" y="3822556"/>
            <a:ext cx="95250" cy="95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36" name="Oval 235">
            <a:extLst>
              <a:ext uri="{FF2B5EF4-FFF2-40B4-BE49-F238E27FC236}">
                <a16:creationId xmlns:a16="http://schemas.microsoft.com/office/drawing/2014/main" id="{E1B5E3A7-2560-91BD-E180-2AB80093E913}"/>
              </a:ext>
            </a:extLst>
          </p:cNvPr>
          <p:cNvSpPr/>
          <p:nvPr/>
        </p:nvSpPr>
        <p:spPr>
          <a:xfrm>
            <a:off x="2344543" y="3822556"/>
            <a:ext cx="95250" cy="952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Tree>
    <p:extLst>
      <p:ext uri="{BB962C8B-B14F-4D97-AF65-F5344CB8AC3E}">
        <p14:creationId xmlns:p14="http://schemas.microsoft.com/office/powerpoint/2010/main" val="86729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755CE3-D401-0250-2625-62C99027D8B7}"/>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BC6EEA4-6018-991D-FF4E-AE647D15FDB2}"/>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8" name="think-cell data - do not delete" hidden="1">
                        <a:extLst>
                          <a:ext uri="{FF2B5EF4-FFF2-40B4-BE49-F238E27FC236}">
                            <a16:creationId xmlns:a16="http://schemas.microsoft.com/office/drawing/2014/main" id="{DBC6EEA4-6018-991D-FF4E-AE647D15FDB2}"/>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D2A2F802-EAB1-9029-0BC2-8B39F2AAABAD}"/>
              </a:ext>
            </a:extLst>
          </p:cNvPr>
          <p:cNvSpPr>
            <a:spLocks noGrp="1"/>
          </p:cNvSpPr>
          <p:nvPr>
            <p:ph type="title"/>
          </p:nvPr>
        </p:nvSpPr>
        <p:spPr>
          <a:xfrm>
            <a:off x="515940" y="661850"/>
            <a:ext cx="11160124" cy="720000"/>
          </a:xfrm>
        </p:spPr>
        <p:txBody>
          <a:bodyPr vert="horz"/>
          <a:lstStyle/>
          <a:p>
            <a:r>
              <a:rPr lang="en-CA">
                <a:solidFill>
                  <a:srgbClr val="EC111A"/>
                </a:solidFill>
              </a:rPr>
              <a:t>Overview | </a:t>
            </a:r>
            <a:r>
              <a:rPr lang="en-CA"/>
              <a:t>Competitors are increasingly catering to evolving Mass Affluent preferences of investment offerings while BNS has been slower to innovate</a:t>
            </a:r>
            <a:endParaRPr lang="en-US"/>
          </a:p>
        </p:txBody>
      </p:sp>
      <p:sp>
        <p:nvSpPr>
          <p:cNvPr id="3" name="Slide Number Placeholder 2">
            <a:extLst>
              <a:ext uri="{FF2B5EF4-FFF2-40B4-BE49-F238E27FC236}">
                <a16:creationId xmlns:a16="http://schemas.microsoft.com/office/drawing/2014/main" id="{60986CC2-7096-C249-6105-014A63867B53}"/>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 name="Text Placeholder 4">
            <a:extLst>
              <a:ext uri="{FF2B5EF4-FFF2-40B4-BE49-F238E27FC236}">
                <a16:creationId xmlns:a16="http://schemas.microsoft.com/office/drawing/2014/main" id="{A092B00E-87FB-D3BB-C592-75B2C017A963}"/>
              </a:ext>
            </a:extLst>
          </p:cNvPr>
          <p:cNvSpPr>
            <a:spLocks noGrp="1"/>
          </p:cNvSpPr>
          <p:nvPr>
            <p:ph type="body" sz="quarter" idx="13"/>
          </p:nvPr>
        </p:nvSpPr>
        <p:spPr/>
        <p:txBody>
          <a:bodyPr/>
          <a:lstStyle/>
          <a:p>
            <a:r>
              <a:rPr lang="en-US"/>
              <a:t>Mass affluent INVESTMENT strategy</a:t>
            </a:r>
          </a:p>
        </p:txBody>
      </p:sp>
      <p:cxnSp>
        <p:nvCxnSpPr>
          <p:cNvPr id="21" name="Straight Connector 20">
            <a:extLst>
              <a:ext uri="{FF2B5EF4-FFF2-40B4-BE49-F238E27FC236}">
                <a16:creationId xmlns:a16="http://schemas.microsoft.com/office/drawing/2014/main" id="{D77EBEBD-F124-6A24-8DBB-6BB390301304}"/>
              </a:ext>
            </a:extLst>
          </p:cNvPr>
          <p:cNvCxnSpPr>
            <a:cxnSpLocks/>
          </p:cNvCxnSpPr>
          <p:nvPr/>
        </p:nvCxnSpPr>
        <p:spPr>
          <a:xfrm>
            <a:off x="515937" y="2999665"/>
            <a:ext cx="5669280"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69CCC11-1CBF-D118-D7AC-78EDA16ABCEC}"/>
              </a:ext>
            </a:extLst>
          </p:cNvPr>
          <p:cNvCxnSpPr>
            <a:cxnSpLocks/>
          </p:cNvCxnSpPr>
          <p:nvPr/>
        </p:nvCxnSpPr>
        <p:spPr>
          <a:xfrm>
            <a:off x="515937" y="3817231"/>
            <a:ext cx="5669280"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86B4DF5-2665-2BB7-D4BF-A8F98A316B8D}"/>
              </a:ext>
            </a:extLst>
          </p:cNvPr>
          <p:cNvCxnSpPr>
            <a:cxnSpLocks/>
          </p:cNvCxnSpPr>
          <p:nvPr/>
        </p:nvCxnSpPr>
        <p:spPr>
          <a:xfrm>
            <a:off x="515936" y="4634797"/>
            <a:ext cx="5669280"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68945A8-55CD-145B-48F5-2AAB53B24AEC}"/>
              </a:ext>
            </a:extLst>
          </p:cNvPr>
          <p:cNvCxnSpPr>
            <a:cxnSpLocks/>
          </p:cNvCxnSpPr>
          <p:nvPr/>
        </p:nvCxnSpPr>
        <p:spPr>
          <a:xfrm>
            <a:off x="515937" y="5452363"/>
            <a:ext cx="5669280"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9829C147-9B5C-32B1-D8CB-8A91F7392A5B}"/>
              </a:ext>
            </a:extLst>
          </p:cNvPr>
          <p:cNvSpPr txBox="1"/>
          <p:nvPr/>
        </p:nvSpPr>
        <p:spPr>
          <a:xfrm>
            <a:off x="7475200" y="1783718"/>
            <a:ext cx="3226072" cy="276999"/>
          </a:xfrm>
          <a:prstGeom prst="rect">
            <a:avLst/>
          </a:prstGeom>
          <a:noFill/>
        </p:spPr>
        <p:txBody>
          <a:bodyPr wrap="square" l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300" normalizeH="0" baseline="0" noProof="0">
                <a:ln>
                  <a:noFill/>
                </a:ln>
                <a:solidFill>
                  <a:srgbClr val="000000"/>
                </a:solidFill>
                <a:effectLst/>
                <a:uLnTx/>
                <a:uFillTx/>
                <a:latin typeface="Scotia"/>
                <a:ea typeface="+mn-ea"/>
                <a:cs typeface="+mn-cs"/>
              </a:rPr>
              <a:t>KEY TAKEAWAYS FOR BNS</a:t>
            </a:r>
          </a:p>
        </p:txBody>
      </p:sp>
      <p:sp>
        <p:nvSpPr>
          <p:cNvPr id="62" name="TextBox 61">
            <a:extLst>
              <a:ext uri="{FF2B5EF4-FFF2-40B4-BE49-F238E27FC236}">
                <a16:creationId xmlns:a16="http://schemas.microsoft.com/office/drawing/2014/main" id="{40EE00B7-4549-FC62-9764-7787F3ED450D}"/>
              </a:ext>
            </a:extLst>
          </p:cNvPr>
          <p:cNvSpPr txBox="1"/>
          <p:nvPr/>
        </p:nvSpPr>
        <p:spPr>
          <a:xfrm>
            <a:off x="7096205" y="5646951"/>
            <a:ext cx="4097260" cy="430887"/>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Advisor compensation is largely </a:t>
            </a:r>
            <a:r>
              <a:rPr kumimoji="0" lang="en-US" sz="1100" b="1" i="0" u="none" strike="noStrike" kern="1200" cap="none" spc="0" normalizeH="0" baseline="0" noProof="0">
                <a:ln>
                  <a:noFill/>
                </a:ln>
                <a:solidFill>
                  <a:srgbClr val="000000"/>
                </a:solidFill>
                <a:effectLst/>
                <a:uLnTx/>
                <a:uFillTx/>
                <a:latin typeface="Scotia"/>
                <a:ea typeface="+mn-ea"/>
                <a:cs typeface="+mn-cs"/>
              </a:rPr>
              <a:t>commission based across all advisor levels</a:t>
            </a:r>
            <a:r>
              <a:rPr kumimoji="0" lang="en-US" sz="1100" b="0" i="0" u="none" strike="noStrike" kern="1200" cap="none" spc="0" normalizeH="0" baseline="0" noProof="0">
                <a:ln>
                  <a:noFill/>
                </a:ln>
                <a:solidFill>
                  <a:srgbClr val="000000"/>
                </a:solidFill>
                <a:effectLst/>
                <a:uLnTx/>
                <a:uFillTx/>
                <a:latin typeface="Scotia"/>
                <a:ea typeface="+mn-ea"/>
                <a:cs typeface="+mn-cs"/>
              </a:rPr>
              <a:t>, but sales vs. retention calibration varies by firm</a:t>
            </a:r>
          </a:p>
        </p:txBody>
      </p:sp>
      <p:sp>
        <p:nvSpPr>
          <p:cNvPr id="15" name="Rectangle 14">
            <a:extLst>
              <a:ext uri="{FF2B5EF4-FFF2-40B4-BE49-F238E27FC236}">
                <a16:creationId xmlns:a16="http://schemas.microsoft.com/office/drawing/2014/main" id="{E82685DB-CC44-82F6-CDF0-A276FF8C9C59}"/>
              </a:ext>
            </a:extLst>
          </p:cNvPr>
          <p:cNvSpPr/>
          <p:nvPr/>
        </p:nvSpPr>
        <p:spPr>
          <a:xfrm>
            <a:off x="515939" y="2258373"/>
            <a:ext cx="1413222" cy="66501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Product Shelf</a:t>
            </a:r>
          </a:p>
        </p:txBody>
      </p:sp>
      <p:sp>
        <p:nvSpPr>
          <p:cNvPr id="38" name="Rectangle 37">
            <a:extLst>
              <a:ext uri="{FF2B5EF4-FFF2-40B4-BE49-F238E27FC236}">
                <a16:creationId xmlns:a16="http://schemas.microsoft.com/office/drawing/2014/main" id="{516A40CD-CAAD-8B9D-99D8-F2BC4ACA30FA}"/>
              </a:ext>
            </a:extLst>
          </p:cNvPr>
          <p:cNvSpPr/>
          <p:nvPr/>
        </p:nvSpPr>
        <p:spPr>
          <a:xfrm>
            <a:off x="515939" y="3075939"/>
            <a:ext cx="1413222" cy="66501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Planning</a:t>
            </a:r>
          </a:p>
        </p:txBody>
      </p:sp>
      <p:sp>
        <p:nvSpPr>
          <p:cNvPr id="42" name="Rectangle 41">
            <a:extLst>
              <a:ext uri="{FF2B5EF4-FFF2-40B4-BE49-F238E27FC236}">
                <a16:creationId xmlns:a16="http://schemas.microsoft.com/office/drawing/2014/main" id="{7252A52D-F939-C27B-6FCA-9042C9A23FC7}"/>
              </a:ext>
            </a:extLst>
          </p:cNvPr>
          <p:cNvSpPr/>
          <p:nvPr/>
        </p:nvSpPr>
        <p:spPr>
          <a:xfrm>
            <a:off x="515939" y="3893505"/>
            <a:ext cx="1413222" cy="66501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Channel</a:t>
            </a:r>
          </a:p>
        </p:txBody>
      </p:sp>
      <p:sp>
        <p:nvSpPr>
          <p:cNvPr id="43" name="Rectangle 42">
            <a:extLst>
              <a:ext uri="{FF2B5EF4-FFF2-40B4-BE49-F238E27FC236}">
                <a16:creationId xmlns:a16="http://schemas.microsoft.com/office/drawing/2014/main" id="{3990F41C-D100-C883-7915-A2F45D675CE4}"/>
              </a:ext>
            </a:extLst>
          </p:cNvPr>
          <p:cNvSpPr/>
          <p:nvPr/>
        </p:nvSpPr>
        <p:spPr>
          <a:xfrm>
            <a:off x="515939" y="4711071"/>
            <a:ext cx="1413222" cy="66501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Pricing</a:t>
            </a:r>
          </a:p>
        </p:txBody>
      </p:sp>
      <p:sp>
        <p:nvSpPr>
          <p:cNvPr id="44" name="Rectangle 43">
            <a:extLst>
              <a:ext uri="{FF2B5EF4-FFF2-40B4-BE49-F238E27FC236}">
                <a16:creationId xmlns:a16="http://schemas.microsoft.com/office/drawing/2014/main" id="{B4EFF5AC-53EB-822D-CF36-4A85C938AEBA}"/>
              </a:ext>
            </a:extLst>
          </p:cNvPr>
          <p:cNvSpPr/>
          <p:nvPr/>
        </p:nvSpPr>
        <p:spPr>
          <a:xfrm>
            <a:off x="515939" y="5528638"/>
            <a:ext cx="1413222" cy="66501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Compensation</a:t>
            </a:r>
          </a:p>
        </p:txBody>
      </p:sp>
      <p:cxnSp>
        <p:nvCxnSpPr>
          <p:cNvPr id="7" name="Straight Connector 6">
            <a:extLst>
              <a:ext uri="{FF2B5EF4-FFF2-40B4-BE49-F238E27FC236}">
                <a16:creationId xmlns:a16="http://schemas.microsoft.com/office/drawing/2014/main" id="{C4114154-8139-E7FE-4541-FB6C27DC933D}"/>
              </a:ext>
            </a:extLst>
          </p:cNvPr>
          <p:cNvCxnSpPr>
            <a:cxnSpLocks/>
          </p:cNvCxnSpPr>
          <p:nvPr/>
        </p:nvCxnSpPr>
        <p:spPr>
          <a:xfrm>
            <a:off x="2289072" y="2445262"/>
            <a:ext cx="3474720" cy="0"/>
          </a:xfrm>
          <a:prstGeom prst="line">
            <a:avLst/>
          </a:prstGeom>
          <a:ln>
            <a:solidFill>
              <a:schemeClr val="tx1">
                <a:lumMod val="50000"/>
                <a:lumOff val="5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58813537-295A-A9D7-B21E-8AA1B44E4FD0}"/>
              </a:ext>
            </a:extLst>
          </p:cNvPr>
          <p:cNvSpPr txBox="1"/>
          <p:nvPr/>
        </p:nvSpPr>
        <p:spPr>
          <a:xfrm>
            <a:off x="4932475" y="2668698"/>
            <a:ext cx="831317" cy="246221"/>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Mutual Fund </a:t>
            </a:r>
          </a:p>
        </p:txBody>
      </p:sp>
      <p:sp>
        <p:nvSpPr>
          <p:cNvPr id="54" name="TextBox 53">
            <a:extLst>
              <a:ext uri="{FF2B5EF4-FFF2-40B4-BE49-F238E27FC236}">
                <a16:creationId xmlns:a16="http://schemas.microsoft.com/office/drawing/2014/main" id="{D476311A-E2BB-54BA-ACFE-7E289EBE19FB}"/>
              </a:ext>
            </a:extLst>
          </p:cNvPr>
          <p:cNvSpPr txBox="1"/>
          <p:nvPr/>
        </p:nvSpPr>
        <p:spPr>
          <a:xfrm>
            <a:off x="2289073" y="2668698"/>
            <a:ext cx="1265161"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ETF &amp; Portfolios</a:t>
            </a:r>
          </a:p>
        </p:txBody>
      </p:sp>
      <p:sp>
        <p:nvSpPr>
          <p:cNvPr id="55" name="TextBox 54">
            <a:extLst>
              <a:ext uri="{FF2B5EF4-FFF2-40B4-BE49-F238E27FC236}">
                <a16:creationId xmlns:a16="http://schemas.microsoft.com/office/drawing/2014/main" id="{F98FD09F-4500-0E33-55C6-1443A1BE5B96}"/>
              </a:ext>
            </a:extLst>
          </p:cNvPr>
          <p:cNvSpPr txBox="1"/>
          <p:nvPr/>
        </p:nvSpPr>
        <p:spPr>
          <a:xfrm>
            <a:off x="5011021" y="3483337"/>
            <a:ext cx="752771" cy="246221"/>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Goal-Based</a:t>
            </a:r>
          </a:p>
        </p:txBody>
      </p:sp>
      <p:sp>
        <p:nvSpPr>
          <p:cNvPr id="57" name="TextBox 56">
            <a:extLst>
              <a:ext uri="{FF2B5EF4-FFF2-40B4-BE49-F238E27FC236}">
                <a16:creationId xmlns:a16="http://schemas.microsoft.com/office/drawing/2014/main" id="{2EAE87DE-02BA-B149-A10D-5619BA04C22A}"/>
              </a:ext>
            </a:extLst>
          </p:cNvPr>
          <p:cNvSpPr txBox="1"/>
          <p:nvPr/>
        </p:nvSpPr>
        <p:spPr>
          <a:xfrm>
            <a:off x="2289073" y="3483337"/>
            <a:ext cx="1265161"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Holistic Planning</a:t>
            </a:r>
          </a:p>
        </p:txBody>
      </p:sp>
      <p:cxnSp>
        <p:nvCxnSpPr>
          <p:cNvPr id="73" name="Straight Connector 72">
            <a:extLst>
              <a:ext uri="{FF2B5EF4-FFF2-40B4-BE49-F238E27FC236}">
                <a16:creationId xmlns:a16="http://schemas.microsoft.com/office/drawing/2014/main" id="{4B48B611-2DCE-B8E1-6F49-8E8B1770F24B}"/>
              </a:ext>
            </a:extLst>
          </p:cNvPr>
          <p:cNvCxnSpPr>
            <a:cxnSpLocks/>
          </p:cNvCxnSpPr>
          <p:nvPr/>
        </p:nvCxnSpPr>
        <p:spPr>
          <a:xfrm>
            <a:off x="2289072" y="3261940"/>
            <a:ext cx="3474720" cy="0"/>
          </a:xfrm>
          <a:prstGeom prst="line">
            <a:avLst/>
          </a:prstGeom>
          <a:ln>
            <a:solidFill>
              <a:schemeClr val="tx1">
                <a:lumMod val="50000"/>
                <a:lumOff val="5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D980428A-ECC6-80CE-7444-7A8D5F28F2F1}"/>
              </a:ext>
            </a:extLst>
          </p:cNvPr>
          <p:cNvSpPr txBox="1"/>
          <p:nvPr/>
        </p:nvSpPr>
        <p:spPr>
          <a:xfrm>
            <a:off x="5126438" y="4304232"/>
            <a:ext cx="637354" cy="246221"/>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In-Person</a:t>
            </a:r>
          </a:p>
        </p:txBody>
      </p:sp>
      <p:sp>
        <p:nvSpPr>
          <p:cNvPr id="64" name="TextBox 63">
            <a:extLst>
              <a:ext uri="{FF2B5EF4-FFF2-40B4-BE49-F238E27FC236}">
                <a16:creationId xmlns:a16="http://schemas.microsoft.com/office/drawing/2014/main" id="{5E53A912-3F64-FDEF-300C-A589621DC960}"/>
              </a:ext>
            </a:extLst>
          </p:cNvPr>
          <p:cNvSpPr txBox="1"/>
          <p:nvPr/>
        </p:nvSpPr>
        <p:spPr>
          <a:xfrm>
            <a:off x="2289073" y="4304232"/>
            <a:ext cx="558073"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Digital</a:t>
            </a:r>
          </a:p>
        </p:txBody>
      </p:sp>
      <p:cxnSp>
        <p:nvCxnSpPr>
          <p:cNvPr id="74" name="Straight Connector 73">
            <a:extLst>
              <a:ext uri="{FF2B5EF4-FFF2-40B4-BE49-F238E27FC236}">
                <a16:creationId xmlns:a16="http://schemas.microsoft.com/office/drawing/2014/main" id="{D277AAFF-C8FF-8C3D-CAD0-E2BC2968C139}"/>
              </a:ext>
            </a:extLst>
          </p:cNvPr>
          <p:cNvCxnSpPr>
            <a:cxnSpLocks/>
          </p:cNvCxnSpPr>
          <p:nvPr/>
        </p:nvCxnSpPr>
        <p:spPr>
          <a:xfrm>
            <a:off x="2289072" y="4076579"/>
            <a:ext cx="3474720" cy="0"/>
          </a:xfrm>
          <a:prstGeom prst="line">
            <a:avLst/>
          </a:prstGeom>
          <a:ln>
            <a:solidFill>
              <a:schemeClr val="tx1">
                <a:lumMod val="50000"/>
                <a:lumOff val="5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E4F12899-4ACE-9CD0-B64A-F1485938C87A}"/>
              </a:ext>
            </a:extLst>
          </p:cNvPr>
          <p:cNvSpPr txBox="1"/>
          <p:nvPr/>
        </p:nvSpPr>
        <p:spPr>
          <a:xfrm>
            <a:off x="5124835" y="5939134"/>
            <a:ext cx="638957" cy="246221"/>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Retention</a:t>
            </a:r>
          </a:p>
        </p:txBody>
      </p:sp>
      <p:sp>
        <p:nvSpPr>
          <p:cNvPr id="72" name="TextBox 71">
            <a:extLst>
              <a:ext uri="{FF2B5EF4-FFF2-40B4-BE49-F238E27FC236}">
                <a16:creationId xmlns:a16="http://schemas.microsoft.com/office/drawing/2014/main" id="{A6161EB3-8473-9D36-2E2F-DF65F950AEFB}"/>
              </a:ext>
            </a:extLst>
          </p:cNvPr>
          <p:cNvSpPr txBox="1"/>
          <p:nvPr/>
        </p:nvSpPr>
        <p:spPr>
          <a:xfrm>
            <a:off x="2289073" y="5939134"/>
            <a:ext cx="818652"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New Sales</a:t>
            </a:r>
          </a:p>
        </p:txBody>
      </p:sp>
      <p:cxnSp>
        <p:nvCxnSpPr>
          <p:cNvPr id="75" name="Straight Connector 74">
            <a:extLst>
              <a:ext uri="{FF2B5EF4-FFF2-40B4-BE49-F238E27FC236}">
                <a16:creationId xmlns:a16="http://schemas.microsoft.com/office/drawing/2014/main" id="{2EA38B05-4FCF-C54C-D393-F71A37286AC5}"/>
              </a:ext>
            </a:extLst>
          </p:cNvPr>
          <p:cNvCxnSpPr>
            <a:cxnSpLocks/>
          </p:cNvCxnSpPr>
          <p:nvPr/>
        </p:nvCxnSpPr>
        <p:spPr>
          <a:xfrm>
            <a:off x="2289072" y="5715356"/>
            <a:ext cx="3474720" cy="0"/>
          </a:xfrm>
          <a:prstGeom prst="line">
            <a:avLst/>
          </a:prstGeom>
          <a:ln>
            <a:solidFill>
              <a:schemeClr val="tx1">
                <a:lumMod val="50000"/>
                <a:lumOff val="5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27C3A433-576E-F29D-3E12-E0F44699D291}"/>
              </a:ext>
            </a:extLst>
          </p:cNvPr>
          <p:cNvSpPr txBox="1"/>
          <p:nvPr/>
        </p:nvSpPr>
        <p:spPr>
          <a:xfrm>
            <a:off x="4980564" y="5122113"/>
            <a:ext cx="783228" cy="246221"/>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Commission</a:t>
            </a:r>
          </a:p>
        </p:txBody>
      </p:sp>
      <p:sp>
        <p:nvSpPr>
          <p:cNvPr id="66" name="TextBox 65">
            <a:extLst>
              <a:ext uri="{FF2B5EF4-FFF2-40B4-BE49-F238E27FC236}">
                <a16:creationId xmlns:a16="http://schemas.microsoft.com/office/drawing/2014/main" id="{591C7D48-6217-8184-9AD8-AB4E30DDCB72}"/>
              </a:ext>
            </a:extLst>
          </p:cNvPr>
          <p:cNvSpPr txBox="1"/>
          <p:nvPr/>
        </p:nvSpPr>
        <p:spPr>
          <a:xfrm>
            <a:off x="2289073" y="5122113"/>
            <a:ext cx="818652"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0000"/>
                </a:solidFill>
                <a:effectLst/>
                <a:uLnTx/>
                <a:uFillTx/>
                <a:latin typeface="Scotia"/>
                <a:ea typeface="+mn-ea"/>
                <a:cs typeface="+mn-cs"/>
              </a:rPr>
              <a:t>Fee-Based</a:t>
            </a:r>
          </a:p>
        </p:txBody>
      </p:sp>
      <p:cxnSp>
        <p:nvCxnSpPr>
          <p:cNvPr id="76" name="Straight Connector 75">
            <a:extLst>
              <a:ext uri="{FF2B5EF4-FFF2-40B4-BE49-F238E27FC236}">
                <a16:creationId xmlns:a16="http://schemas.microsoft.com/office/drawing/2014/main" id="{EBB99862-B6B5-F90E-3D96-84193A1B66B3}"/>
              </a:ext>
            </a:extLst>
          </p:cNvPr>
          <p:cNvCxnSpPr>
            <a:cxnSpLocks/>
          </p:cNvCxnSpPr>
          <p:nvPr/>
        </p:nvCxnSpPr>
        <p:spPr>
          <a:xfrm>
            <a:off x="2289072" y="4897474"/>
            <a:ext cx="3474720" cy="0"/>
          </a:xfrm>
          <a:prstGeom prst="line">
            <a:avLst/>
          </a:prstGeom>
          <a:ln>
            <a:solidFill>
              <a:schemeClr val="tx1">
                <a:lumMod val="50000"/>
                <a:lumOff val="5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87" name="Oval 86">
            <a:extLst>
              <a:ext uri="{FF2B5EF4-FFF2-40B4-BE49-F238E27FC236}">
                <a16:creationId xmlns:a16="http://schemas.microsoft.com/office/drawing/2014/main" id="{388A2C90-3A53-7C2B-BE6C-0238F905B048}"/>
              </a:ext>
            </a:extLst>
          </p:cNvPr>
          <p:cNvSpPr/>
          <p:nvPr/>
        </p:nvSpPr>
        <p:spPr>
          <a:xfrm>
            <a:off x="2733170" y="2312974"/>
            <a:ext cx="268012" cy="268012"/>
          </a:xfrm>
          <a:prstGeom prst="ellipse">
            <a:avLst/>
          </a:prstGeom>
          <a:blipFill dpi="0" rotWithShape="1">
            <a:blip r:embed="rId6"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88" name="Oval 87">
            <a:extLst>
              <a:ext uri="{FF2B5EF4-FFF2-40B4-BE49-F238E27FC236}">
                <a16:creationId xmlns:a16="http://schemas.microsoft.com/office/drawing/2014/main" id="{BDD60478-FFC1-C84A-5DF6-E76114875D6B}"/>
              </a:ext>
            </a:extLst>
          </p:cNvPr>
          <p:cNvSpPr/>
          <p:nvPr/>
        </p:nvSpPr>
        <p:spPr>
          <a:xfrm>
            <a:off x="5396765" y="2313654"/>
            <a:ext cx="265292" cy="266652"/>
          </a:xfrm>
          <a:prstGeom prst="ellipse">
            <a:avLst/>
          </a:prstGeom>
          <a:blipFill dpi="0" rotWithShape="1">
            <a:blip r:embed="rId7"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grpSp>
        <p:nvGrpSpPr>
          <p:cNvPr id="89" name="Group 88">
            <a:extLst>
              <a:ext uri="{FF2B5EF4-FFF2-40B4-BE49-F238E27FC236}">
                <a16:creationId xmlns:a16="http://schemas.microsoft.com/office/drawing/2014/main" id="{2680D62F-2804-40A1-D1F9-8F5FA84EB397}"/>
              </a:ext>
            </a:extLst>
          </p:cNvPr>
          <p:cNvGrpSpPr/>
          <p:nvPr/>
        </p:nvGrpSpPr>
        <p:grpSpPr>
          <a:xfrm>
            <a:off x="4044259" y="2312974"/>
            <a:ext cx="268012" cy="268012"/>
            <a:chOff x="6887617" y="1967167"/>
            <a:chExt cx="409377" cy="400452"/>
          </a:xfrm>
        </p:grpSpPr>
        <p:sp>
          <p:nvSpPr>
            <p:cNvPr id="90" name="Oval 89">
              <a:extLst>
                <a:ext uri="{FF2B5EF4-FFF2-40B4-BE49-F238E27FC236}">
                  <a16:creationId xmlns:a16="http://schemas.microsoft.com/office/drawing/2014/main" id="{B80261E3-C841-E13D-B469-48DDDC59E842}"/>
                </a:ext>
              </a:extLst>
            </p:cNvPr>
            <p:cNvSpPr/>
            <p:nvPr/>
          </p:nvSpPr>
          <p:spPr>
            <a:xfrm>
              <a:off x="6887617" y="1967167"/>
              <a:ext cx="409377" cy="400452"/>
            </a:xfrm>
            <a:prstGeom prst="ellipse">
              <a:avLst/>
            </a:prstGeom>
            <a:solidFill>
              <a:srgbClr val="A0CFE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91" name="Picture 90">
              <a:extLst>
                <a:ext uri="{FF2B5EF4-FFF2-40B4-BE49-F238E27FC236}">
                  <a16:creationId xmlns:a16="http://schemas.microsoft.com/office/drawing/2014/main" id="{E775E5A9-8A7E-4241-DD23-755AE8A0076E}"/>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5859" b="63948" l="5693" r="27584">
                          <a14:foregroundMark x1="8500" y1="43333" x2="8500" y2="43333"/>
                          <a14:backgroundMark x1="14000" y1="39333" x2="14000" y2="39333"/>
                          <a14:backgroundMark x1="20250" y1="45667" x2="20250" y2="45667"/>
                          <a14:backgroundMark x1="23625" y1="45167" x2="19375" y2="45167"/>
                        </a14:backgroundRemoval>
                      </a14:imgEffect>
                    </a14:imgLayer>
                  </a14:imgProps>
                </a:ext>
              </a:extLst>
            </a:blip>
            <a:srcRect l="2957" t="32348" r="69679" b="32541"/>
            <a:stretch/>
          </p:blipFill>
          <p:spPr>
            <a:xfrm>
              <a:off x="6937335" y="2018256"/>
              <a:ext cx="309941" cy="298275"/>
            </a:xfrm>
            <a:prstGeom prst="ellipse">
              <a:avLst/>
            </a:prstGeom>
          </p:spPr>
        </p:pic>
      </p:grpSp>
      <p:sp>
        <p:nvSpPr>
          <p:cNvPr id="97" name="Oval 96">
            <a:extLst>
              <a:ext uri="{FF2B5EF4-FFF2-40B4-BE49-F238E27FC236}">
                <a16:creationId xmlns:a16="http://schemas.microsoft.com/office/drawing/2014/main" id="{3D19B022-2EC3-1DE8-A28E-F4A426FCBE21}"/>
              </a:ext>
            </a:extLst>
          </p:cNvPr>
          <p:cNvSpPr/>
          <p:nvPr/>
        </p:nvSpPr>
        <p:spPr>
          <a:xfrm>
            <a:off x="5396765" y="3130748"/>
            <a:ext cx="265292" cy="266652"/>
          </a:xfrm>
          <a:prstGeom prst="ellipse">
            <a:avLst/>
          </a:prstGeom>
          <a:blipFill dpi="0" rotWithShape="1">
            <a:blip r:embed="rId7"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99" name="TextBox 98">
            <a:extLst>
              <a:ext uri="{FF2B5EF4-FFF2-40B4-BE49-F238E27FC236}">
                <a16:creationId xmlns:a16="http://schemas.microsoft.com/office/drawing/2014/main" id="{24874C4E-1022-554F-DB09-06720F918526}"/>
              </a:ext>
            </a:extLst>
          </p:cNvPr>
          <p:cNvSpPr txBox="1"/>
          <p:nvPr/>
        </p:nvSpPr>
        <p:spPr>
          <a:xfrm>
            <a:off x="7096205" y="2376686"/>
            <a:ext cx="4206394" cy="430887"/>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Peers are offering a </a:t>
            </a:r>
            <a:r>
              <a:rPr kumimoji="0" lang="en-US" sz="1100" b="1" i="0" u="none" strike="noStrike" kern="1200" cap="none" spc="0" normalizeH="0" baseline="0" noProof="0">
                <a:ln>
                  <a:noFill/>
                </a:ln>
                <a:solidFill>
                  <a:srgbClr val="000000"/>
                </a:solidFill>
                <a:effectLst/>
                <a:uLnTx/>
                <a:uFillTx/>
                <a:latin typeface="Scotia"/>
                <a:ea typeface="+mn-ea"/>
                <a:cs typeface="+mn-cs"/>
              </a:rPr>
              <a:t>broader shelf of products</a:t>
            </a:r>
            <a:r>
              <a:rPr kumimoji="0" lang="en-US" sz="1100" b="0" i="0" u="none" strike="noStrike" kern="1200" cap="none" spc="0" normalizeH="0" baseline="0" noProof="0">
                <a:ln>
                  <a:noFill/>
                </a:ln>
                <a:solidFill>
                  <a:srgbClr val="000000"/>
                </a:solidFill>
                <a:effectLst/>
                <a:uLnTx/>
                <a:uFillTx/>
                <a:latin typeface="Scotia"/>
                <a:ea typeface="+mn-ea"/>
                <a:cs typeface="+mn-cs"/>
              </a:rPr>
              <a:t>, including ETF and distinct managed portfolios, while BNS remains MF-focused</a:t>
            </a:r>
            <a:endParaRPr kumimoji="0" lang="en-US" sz="1100" b="1" i="0" u="none" strike="noStrike" kern="1200" cap="none" spc="0" normalizeH="0" baseline="0" noProof="0">
              <a:ln>
                <a:noFill/>
              </a:ln>
              <a:solidFill>
                <a:srgbClr val="000000"/>
              </a:solidFill>
              <a:effectLst/>
              <a:uLnTx/>
              <a:uFillTx/>
              <a:latin typeface="Scotia"/>
              <a:ea typeface="+mn-ea"/>
              <a:cs typeface="+mn-cs"/>
            </a:endParaRPr>
          </a:p>
        </p:txBody>
      </p:sp>
      <p:sp>
        <p:nvSpPr>
          <p:cNvPr id="100" name="Oval 99">
            <a:extLst>
              <a:ext uri="{FF2B5EF4-FFF2-40B4-BE49-F238E27FC236}">
                <a16:creationId xmlns:a16="http://schemas.microsoft.com/office/drawing/2014/main" id="{FF3E33ED-3F39-60CF-2FFB-8996E31817B6}"/>
              </a:ext>
            </a:extLst>
          </p:cNvPr>
          <p:cNvSpPr/>
          <p:nvPr/>
        </p:nvSpPr>
        <p:spPr>
          <a:xfrm>
            <a:off x="5396765" y="4764936"/>
            <a:ext cx="265292" cy="266652"/>
          </a:xfrm>
          <a:prstGeom prst="ellipse">
            <a:avLst/>
          </a:prstGeom>
          <a:blipFill dpi="0" rotWithShape="1">
            <a:blip r:embed="rId7"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101" name="Oval 100">
            <a:extLst>
              <a:ext uri="{FF2B5EF4-FFF2-40B4-BE49-F238E27FC236}">
                <a16:creationId xmlns:a16="http://schemas.microsoft.com/office/drawing/2014/main" id="{EAC61078-8356-1414-6D4A-FC97DED4967E}"/>
              </a:ext>
            </a:extLst>
          </p:cNvPr>
          <p:cNvSpPr/>
          <p:nvPr/>
        </p:nvSpPr>
        <p:spPr>
          <a:xfrm>
            <a:off x="5061036" y="5582030"/>
            <a:ext cx="265292" cy="266652"/>
          </a:xfrm>
          <a:prstGeom prst="ellipse">
            <a:avLst/>
          </a:prstGeom>
          <a:blipFill dpi="0" rotWithShape="1">
            <a:blip r:embed="rId7"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102" name="TextBox 101">
            <a:extLst>
              <a:ext uri="{FF2B5EF4-FFF2-40B4-BE49-F238E27FC236}">
                <a16:creationId xmlns:a16="http://schemas.microsoft.com/office/drawing/2014/main" id="{D1B09234-4EA4-F262-7779-1B977A325C7E}"/>
              </a:ext>
            </a:extLst>
          </p:cNvPr>
          <p:cNvSpPr txBox="1"/>
          <p:nvPr/>
        </p:nvSpPr>
        <p:spPr>
          <a:xfrm>
            <a:off x="5026809" y="5816125"/>
            <a:ext cx="333746" cy="20005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1" u="none" strike="noStrike" kern="1200" cap="none" spc="0" normalizeH="0" baseline="0" noProof="0">
                <a:ln>
                  <a:noFill/>
                </a:ln>
                <a:solidFill>
                  <a:srgbClr val="000000"/>
                </a:solidFill>
                <a:effectLst/>
                <a:uLnTx/>
                <a:uFillTx/>
                <a:latin typeface="Scotia"/>
                <a:ea typeface="+mn-ea"/>
                <a:cs typeface="+mn-cs"/>
              </a:rPr>
              <a:t>SFP</a:t>
            </a:r>
          </a:p>
        </p:txBody>
      </p:sp>
      <p:sp>
        <p:nvSpPr>
          <p:cNvPr id="103" name="TextBox 102">
            <a:extLst>
              <a:ext uri="{FF2B5EF4-FFF2-40B4-BE49-F238E27FC236}">
                <a16:creationId xmlns:a16="http://schemas.microsoft.com/office/drawing/2014/main" id="{55C0B71A-8A14-A83D-A32E-233445CAD4AA}"/>
              </a:ext>
            </a:extLst>
          </p:cNvPr>
          <p:cNvSpPr txBox="1"/>
          <p:nvPr/>
        </p:nvSpPr>
        <p:spPr>
          <a:xfrm>
            <a:off x="2809147" y="5816125"/>
            <a:ext cx="367408" cy="20005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1" u="none" strike="noStrike" kern="1200" cap="none" spc="0" normalizeH="0" baseline="0" noProof="0">
                <a:ln>
                  <a:noFill/>
                </a:ln>
                <a:solidFill>
                  <a:srgbClr val="000000"/>
                </a:solidFill>
                <a:effectLst/>
                <a:uLnTx/>
                <a:uFillTx/>
                <a:latin typeface="Scotia"/>
                <a:ea typeface="+mn-ea"/>
                <a:cs typeface="+mn-cs"/>
              </a:rPr>
              <a:t>FAIR</a:t>
            </a:r>
          </a:p>
        </p:txBody>
      </p:sp>
      <p:sp>
        <p:nvSpPr>
          <p:cNvPr id="106" name="Oval 105">
            <a:extLst>
              <a:ext uri="{FF2B5EF4-FFF2-40B4-BE49-F238E27FC236}">
                <a16:creationId xmlns:a16="http://schemas.microsoft.com/office/drawing/2014/main" id="{667C3DCA-B633-11A3-366B-FADD79C7A9C5}"/>
              </a:ext>
            </a:extLst>
          </p:cNvPr>
          <p:cNvSpPr/>
          <p:nvPr/>
        </p:nvSpPr>
        <p:spPr>
          <a:xfrm>
            <a:off x="3110925" y="3130068"/>
            <a:ext cx="268012" cy="268012"/>
          </a:xfrm>
          <a:prstGeom prst="ellipse">
            <a:avLst/>
          </a:prstGeom>
          <a:blipFill dpi="0" rotWithShape="1">
            <a:blip r:embed="rId6"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grpSp>
        <p:nvGrpSpPr>
          <p:cNvPr id="107" name="Group 106">
            <a:extLst>
              <a:ext uri="{FF2B5EF4-FFF2-40B4-BE49-F238E27FC236}">
                <a16:creationId xmlns:a16="http://schemas.microsoft.com/office/drawing/2014/main" id="{195666C9-084B-5778-87B4-AD821914B794}"/>
              </a:ext>
            </a:extLst>
          </p:cNvPr>
          <p:cNvGrpSpPr/>
          <p:nvPr/>
        </p:nvGrpSpPr>
        <p:grpSpPr>
          <a:xfrm>
            <a:off x="2312485" y="3130068"/>
            <a:ext cx="268012" cy="268012"/>
            <a:chOff x="6887617" y="1967167"/>
            <a:chExt cx="409377" cy="400452"/>
          </a:xfrm>
        </p:grpSpPr>
        <p:sp>
          <p:nvSpPr>
            <p:cNvPr id="108" name="Oval 107">
              <a:extLst>
                <a:ext uri="{FF2B5EF4-FFF2-40B4-BE49-F238E27FC236}">
                  <a16:creationId xmlns:a16="http://schemas.microsoft.com/office/drawing/2014/main" id="{675E8BAC-0D70-1216-84EA-A7F7C537CF24}"/>
                </a:ext>
              </a:extLst>
            </p:cNvPr>
            <p:cNvSpPr/>
            <p:nvPr/>
          </p:nvSpPr>
          <p:spPr>
            <a:xfrm>
              <a:off x="6887617" y="1967167"/>
              <a:ext cx="409377" cy="400452"/>
            </a:xfrm>
            <a:prstGeom prst="ellipse">
              <a:avLst/>
            </a:prstGeom>
            <a:solidFill>
              <a:srgbClr val="A0CFE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109" name="Picture 108">
              <a:extLst>
                <a:ext uri="{FF2B5EF4-FFF2-40B4-BE49-F238E27FC236}">
                  <a16:creationId xmlns:a16="http://schemas.microsoft.com/office/drawing/2014/main" id="{39402264-B80C-4065-4287-E8672D43A390}"/>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5859" b="63948" l="5693" r="27584">
                          <a14:foregroundMark x1="8500" y1="43333" x2="8500" y2="43333"/>
                          <a14:backgroundMark x1="14000" y1="39333" x2="14000" y2="39333"/>
                          <a14:backgroundMark x1="20250" y1="45667" x2="20250" y2="45667"/>
                          <a14:backgroundMark x1="23625" y1="45167" x2="19375" y2="45167"/>
                        </a14:backgroundRemoval>
                      </a14:imgEffect>
                    </a14:imgLayer>
                  </a14:imgProps>
                </a:ext>
              </a:extLst>
            </a:blip>
            <a:srcRect l="2957" t="32348" r="69679" b="32541"/>
            <a:stretch/>
          </p:blipFill>
          <p:spPr>
            <a:xfrm>
              <a:off x="6937335" y="2018256"/>
              <a:ext cx="309941" cy="298275"/>
            </a:xfrm>
            <a:prstGeom prst="ellipse">
              <a:avLst/>
            </a:prstGeom>
          </p:spPr>
        </p:pic>
      </p:grpSp>
      <p:grpSp>
        <p:nvGrpSpPr>
          <p:cNvPr id="112" name="Group 111">
            <a:extLst>
              <a:ext uri="{FF2B5EF4-FFF2-40B4-BE49-F238E27FC236}">
                <a16:creationId xmlns:a16="http://schemas.microsoft.com/office/drawing/2014/main" id="{2676F1B8-034E-145F-1B17-C55FFB29DF37}"/>
              </a:ext>
            </a:extLst>
          </p:cNvPr>
          <p:cNvGrpSpPr/>
          <p:nvPr/>
        </p:nvGrpSpPr>
        <p:grpSpPr>
          <a:xfrm>
            <a:off x="5390278" y="3947162"/>
            <a:ext cx="268012" cy="268012"/>
            <a:chOff x="6887617" y="1967167"/>
            <a:chExt cx="409377" cy="400452"/>
          </a:xfrm>
        </p:grpSpPr>
        <p:sp>
          <p:nvSpPr>
            <p:cNvPr id="113" name="Oval 112">
              <a:extLst>
                <a:ext uri="{FF2B5EF4-FFF2-40B4-BE49-F238E27FC236}">
                  <a16:creationId xmlns:a16="http://schemas.microsoft.com/office/drawing/2014/main" id="{76AA12AF-65B6-E8F1-93C6-B9642F891E75}"/>
                </a:ext>
              </a:extLst>
            </p:cNvPr>
            <p:cNvSpPr/>
            <p:nvPr/>
          </p:nvSpPr>
          <p:spPr>
            <a:xfrm>
              <a:off x="6887617" y="1967167"/>
              <a:ext cx="409377" cy="400452"/>
            </a:xfrm>
            <a:prstGeom prst="ellipse">
              <a:avLst/>
            </a:prstGeom>
            <a:solidFill>
              <a:srgbClr val="A0CFE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114" name="Picture 113">
              <a:extLst>
                <a:ext uri="{FF2B5EF4-FFF2-40B4-BE49-F238E27FC236}">
                  <a16:creationId xmlns:a16="http://schemas.microsoft.com/office/drawing/2014/main" id="{3D687FAF-8A46-0302-08A6-2ED0D264FB03}"/>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5859" b="63948" l="5693" r="27584">
                          <a14:foregroundMark x1="8500" y1="43333" x2="8500" y2="43333"/>
                          <a14:backgroundMark x1="14000" y1="39333" x2="14000" y2="39333"/>
                          <a14:backgroundMark x1="20250" y1="45667" x2="20250" y2="45667"/>
                          <a14:backgroundMark x1="23625" y1="45167" x2="19375" y2="45167"/>
                        </a14:backgroundRemoval>
                      </a14:imgEffect>
                    </a14:imgLayer>
                  </a14:imgProps>
                </a:ext>
              </a:extLst>
            </a:blip>
            <a:srcRect l="2957" t="32348" r="69679" b="32541"/>
            <a:stretch/>
          </p:blipFill>
          <p:spPr>
            <a:xfrm>
              <a:off x="6937335" y="2018256"/>
              <a:ext cx="309941" cy="298275"/>
            </a:xfrm>
            <a:prstGeom prst="ellipse">
              <a:avLst/>
            </a:prstGeom>
          </p:spPr>
        </p:pic>
      </p:grpSp>
      <p:sp>
        <p:nvSpPr>
          <p:cNvPr id="116" name="Oval 115">
            <a:extLst>
              <a:ext uri="{FF2B5EF4-FFF2-40B4-BE49-F238E27FC236}">
                <a16:creationId xmlns:a16="http://schemas.microsoft.com/office/drawing/2014/main" id="{6168D6DC-CEDB-015B-BBF1-27BE65E40772}"/>
              </a:ext>
            </a:extLst>
          </p:cNvPr>
          <p:cNvSpPr/>
          <p:nvPr/>
        </p:nvSpPr>
        <p:spPr>
          <a:xfrm>
            <a:off x="4345763" y="4764256"/>
            <a:ext cx="268012" cy="268012"/>
          </a:xfrm>
          <a:prstGeom prst="ellipse">
            <a:avLst/>
          </a:prstGeom>
          <a:blipFill dpi="0" rotWithShape="1">
            <a:blip r:embed="rId6"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grpSp>
        <p:nvGrpSpPr>
          <p:cNvPr id="117" name="Group 116">
            <a:extLst>
              <a:ext uri="{FF2B5EF4-FFF2-40B4-BE49-F238E27FC236}">
                <a16:creationId xmlns:a16="http://schemas.microsoft.com/office/drawing/2014/main" id="{55B147B0-FB64-1F9E-B3AF-9E454D6009E0}"/>
              </a:ext>
            </a:extLst>
          </p:cNvPr>
          <p:cNvGrpSpPr/>
          <p:nvPr/>
        </p:nvGrpSpPr>
        <p:grpSpPr>
          <a:xfrm>
            <a:off x="5222574" y="4764256"/>
            <a:ext cx="268012" cy="268012"/>
            <a:chOff x="6887617" y="1967167"/>
            <a:chExt cx="409377" cy="400452"/>
          </a:xfrm>
        </p:grpSpPr>
        <p:sp>
          <p:nvSpPr>
            <p:cNvPr id="118" name="Oval 117">
              <a:extLst>
                <a:ext uri="{FF2B5EF4-FFF2-40B4-BE49-F238E27FC236}">
                  <a16:creationId xmlns:a16="http://schemas.microsoft.com/office/drawing/2014/main" id="{BFB0EB3B-29C6-E7CB-ECFD-3C52A052461F}"/>
                </a:ext>
              </a:extLst>
            </p:cNvPr>
            <p:cNvSpPr/>
            <p:nvPr/>
          </p:nvSpPr>
          <p:spPr>
            <a:xfrm>
              <a:off x="6887617" y="1967167"/>
              <a:ext cx="409377" cy="400452"/>
            </a:xfrm>
            <a:prstGeom prst="ellipse">
              <a:avLst/>
            </a:prstGeom>
            <a:solidFill>
              <a:srgbClr val="A0CFE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119" name="Picture 118">
              <a:extLst>
                <a:ext uri="{FF2B5EF4-FFF2-40B4-BE49-F238E27FC236}">
                  <a16:creationId xmlns:a16="http://schemas.microsoft.com/office/drawing/2014/main" id="{13A42A20-DB27-8375-2B80-14A1F0CA6824}"/>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5859" b="63948" l="5693" r="27584">
                          <a14:foregroundMark x1="8500" y1="43333" x2="8500" y2="43333"/>
                          <a14:backgroundMark x1="14000" y1="39333" x2="14000" y2="39333"/>
                          <a14:backgroundMark x1="20250" y1="45667" x2="20250" y2="45667"/>
                          <a14:backgroundMark x1="23625" y1="45167" x2="19375" y2="45167"/>
                        </a14:backgroundRemoval>
                      </a14:imgEffect>
                    </a14:imgLayer>
                  </a14:imgProps>
                </a:ext>
              </a:extLst>
            </a:blip>
            <a:srcRect l="2957" t="32348" r="69679" b="32541"/>
            <a:stretch/>
          </p:blipFill>
          <p:spPr>
            <a:xfrm>
              <a:off x="6937335" y="2018256"/>
              <a:ext cx="309941" cy="298275"/>
            </a:xfrm>
            <a:prstGeom prst="ellipse">
              <a:avLst/>
            </a:prstGeom>
          </p:spPr>
        </p:pic>
      </p:grpSp>
      <p:sp>
        <p:nvSpPr>
          <p:cNvPr id="121" name="Oval 120">
            <a:extLst>
              <a:ext uri="{FF2B5EF4-FFF2-40B4-BE49-F238E27FC236}">
                <a16:creationId xmlns:a16="http://schemas.microsoft.com/office/drawing/2014/main" id="{99A84F84-75B8-F258-C3C1-0362273278DB}"/>
              </a:ext>
            </a:extLst>
          </p:cNvPr>
          <p:cNvSpPr/>
          <p:nvPr/>
        </p:nvSpPr>
        <p:spPr>
          <a:xfrm>
            <a:off x="2589303" y="5581350"/>
            <a:ext cx="268012" cy="268012"/>
          </a:xfrm>
          <a:prstGeom prst="ellipse">
            <a:avLst/>
          </a:prstGeom>
          <a:blipFill dpi="0" rotWithShape="1">
            <a:blip r:embed="rId6"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140" name="TextBox 139">
            <a:extLst>
              <a:ext uri="{FF2B5EF4-FFF2-40B4-BE49-F238E27FC236}">
                <a16:creationId xmlns:a16="http://schemas.microsoft.com/office/drawing/2014/main" id="{A6DB5330-4D63-E447-68AB-C1F330F9E86E}"/>
              </a:ext>
            </a:extLst>
          </p:cNvPr>
          <p:cNvSpPr txBox="1"/>
          <p:nvPr/>
        </p:nvSpPr>
        <p:spPr>
          <a:xfrm>
            <a:off x="7096205" y="3194252"/>
            <a:ext cx="4206394" cy="430887"/>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While goal-based planning remains a core offering, firms are </a:t>
            </a:r>
            <a:r>
              <a:rPr kumimoji="0" lang="en-US" sz="1100" b="1" i="0" u="none" strike="noStrike" kern="1200" cap="none" spc="0" normalizeH="0" baseline="0" noProof="0">
                <a:ln>
                  <a:noFill/>
                </a:ln>
                <a:solidFill>
                  <a:srgbClr val="000000"/>
                </a:solidFill>
                <a:effectLst/>
                <a:uLnTx/>
                <a:uFillTx/>
                <a:latin typeface="Scotia"/>
                <a:ea typeface="+mn-ea"/>
                <a:cs typeface="+mn-cs"/>
              </a:rPr>
              <a:t>increasingly offering holistic services </a:t>
            </a:r>
            <a:r>
              <a:rPr kumimoji="0" lang="en-US" sz="1100" b="0" i="0" u="none" strike="noStrike" kern="1200" cap="none" spc="0" normalizeH="0" baseline="0" noProof="0">
                <a:ln>
                  <a:noFill/>
                </a:ln>
                <a:solidFill>
                  <a:srgbClr val="000000"/>
                </a:solidFill>
                <a:effectLst/>
                <a:uLnTx/>
                <a:uFillTx/>
                <a:latin typeface="Scotia"/>
                <a:ea typeface="+mn-ea"/>
                <a:cs typeface="+mn-cs"/>
              </a:rPr>
              <a:t>(i.e., tax, estate, etc.)</a:t>
            </a:r>
            <a:endParaRPr kumimoji="0" lang="en-US" sz="1100" b="1" i="0" u="none" strike="noStrike" kern="1200" cap="none" spc="0" normalizeH="0" baseline="0" noProof="0">
              <a:ln>
                <a:noFill/>
              </a:ln>
              <a:solidFill>
                <a:srgbClr val="000000"/>
              </a:solidFill>
              <a:effectLst/>
              <a:uLnTx/>
              <a:uFillTx/>
              <a:latin typeface="Scotia"/>
              <a:ea typeface="+mn-ea"/>
              <a:cs typeface="+mn-cs"/>
            </a:endParaRPr>
          </a:p>
        </p:txBody>
      </p:sp>
      <p:sp>
        <p:nvSpPr>
          <p:cNvPr id="98" name="Oval 97">
            <a:extLst>
              <a:ext uri="{FF2B5EF4-FFF2-40B4-BE49-F238E27FC236}">
                <a16:creationId xmlns:a16="http://schemas.microsoft.com/office/drawing/2014/main" id="{C6A8178C-0273-4C33-A0DD-0403A2118A9E}"/>
              </a:ext>
            </a:extLst>
          </p:cNvPr>
          <p:cNvSpPr/>
          <p:nvPr/>
        </p:nvSpPr>
        <p:spPr>
          <a:xfrm>
            <a:off x="4885608" y="3947842"/>
            <a:ext cx="265292" cy="266652"/>
          </a:xfrm>
          <a:prstGeom prst="ellipse">
            <a:avLst/>
          </a:prstGeom>
          <a:blipFill dpi="0" rotWithShape="1">
            <a:blip r:embed="rId7"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146" name="TextBox 145">
            <a:extLst>
              <a:ext uri="{FF2B5EF4-FFF2-40B4-BE49-F238E27FC236}">
                <a16:creationId xmlns:a16="http://schemas.microsoft.com/office/drawing/2014/main" id="{A08EB71B-540A-721C-A3B3-412CF43F667E}"/>
              </a:ext>
            </a:extLst>
          </p:cNvPr>
          <p:cNvSpPr txBox="1"/>
          <p:nvPr/>
        </p:nvSpPr>
        <p:spPr>
          <a:xfrm>
            <a:off x="7096205" y="4011818"/>
            <a:ext cx="4031555" cy="430887"/>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In-person advice delivery remains a critical channel, but peers are increasingly offering </a:t>
            </a:r>
            <a:r>
              <a:rPr kumimoji="0" lang="en-US" sz="1100" b="1" i="0" u="none" strike="noStrike" kern="1200" cap="none" spc="0" normalizeH="0" baseline="0" noProof="0">
                <a:ln>
                  <a:noFill/>
                </a:ln>
                <a:solidFill>
                  <a:srgbClr val="000000"/>
                </a:solidFill>
                <a:effectLst/>
                <a:uLnTx/>
                <a:uFillTx/>
                <a:latin typeface="Scotia"/>
                <a:ea typeface="+mn-ea"/>
                <a:cs typeface="+mn-cs"/>
              </a:rPr>
              <a:t>digital products and planning</a:t>
            </a:r>
            <a:endParaRPr kumimoji="0" lang="en-US" sz="1100" b="0" i="0" u="none" strike="noStrike" kern="1200" cap="none" spc="0" normalizeH="0" baseline="0" noProof="0">
              <a:ln>
                <a:noFill/>
              </a:ln>
              <a:solidFill>
                <a:srgbClr val="000000"/>
              </a:solidFill>
              <a:effectLst/>
              <a:uLnTx/>
              <a:uFillTx/>
              <a:latin typeface="Scotia"/>
              <a:ea typeface="+mn-ea"/>
              <a:cs typeface="+mn-cs"/>
            </a:endParaRPr>
          </a:p>
        </p:txBody>
      </p:sp>
      <p:sp>
        <p:nvSpPr>
          <p:cNvPr id="147" name="TextBox 146">
            <a:extLst>
              <a:ext uri="{FF2B5EF4-FFF2-40B4-BE49-F238E27FC236}">
                <a16:creationId xmlns:a16="http://schemas.microsoft.com/office/drawing/2014/main" id="{A11AC8AA-B0ED-1815-D522-00F0A1BD419E}"/>
              </a:ext>
            </a:extLst>
          </p:cNvPr>
          <p:cNvSpPr txBox="1"/>
          <p:nvPr/>
        </p:nvSpPr>
        <p:spPr>
          <a:xfrm>
            <a:off x="7096205" y="4829384"/>
            <a:ext cx="4256055" cy="430887"/>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There is a growing emphasis on providing </a:t>
            </a:r>
            <a:r>
              <a:rPr kumimoji="0" lang="en-US" sz="1100" b="1" i="0" u="none" strike="noStrike" kern="1200" cap="none" spc="0" normalizeH="0" baseline="0" noProof="0">
                <a:ln>
                  <a:noFill/>
                </a:ln>
                <a:solidFill>
                  <a:srgbClr val="000000"/>
                </a:solidFill>
                <a:effectLst/>
                <a:uLnTx/>
                <a:uFillTx/>
                <a:latin typeface="Scotia"/>
                <a:ea typeface="+mn-ea"/>
                <a:cs typeface="+mn-cs"/>
              </a:rPr>
              <a:t>cost transparency and simplified pricing models </a:t>
            </a:r>
            <a:r>
              <a:rPr kumimoji="0" lang="en-US" sz="1100" b="0" i="0" u="none" strike="noStrike" kern="1200" cap="none" spc="0" normalizeH="0" baseline="0" noProof="0">
                <a:ln>
                  <a:noFill/>
                </a:ln>
                <a:solidFill>
                  <a:srgbClr val="000000"/>
                </a:solidFill>
                <a:effectLst/>
                <a:uLnTx/>
                <a:uFillTx/>
                <a:latin typeface="Scotia"/>
                <a:ea typeface="+mn-ea"/>
                <a:cs typeface="+mn-cs"/>
              </a:rPr>
              <a:t>as peers move to fee-based accounts</a:t>
            </a:r>
          </a:p>
        </p:txBody>
      </p:sp>
      <p:sp>
        <p:nvSpPr>
          <p:cNvPr id="162" name="Rectangle 161">
            <a:extLst>
              <a:ext uri="{FF2B5EF4-FFF2-40B4-BE49-F238E27FC236}">
                <a16:creationId xmlns:a16="http://schemas.microsoft.com/office/drawing/2014/main" id="{D90A910A-93DE-EC73-122B-5AA4669161AC}"/>
              </a:ext>
            </a:extLst>
          </p:cNvPr>
          <p:cNvSpPr/>
          <p:nvPr/>
        </p:nvSpPr>
        <p:spPr>
          <a:xfrm>
            <a:off x="6735336" y="2258373"/>
            <a:ext cx="4705801" cy="667512"/>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3" name="Rectangle 162">
            <a:extLst>
              <a:ext uri="{FF2B5EF4-FFF2-40B4-BE49-F238E27FC236}">
                <a16:creationId xmlns:a16="http://schemas.microsoft.com/office/drawing/2014/main" id="{CECD112D-E024-4F02-7AF0-B1EA5906591D}"/>
              </a:ext>
            </a:extLst>
          </p:cNvPr>
          <p:cNvSpPr/>
          <p:nvPr/>
        </p:nvSpPr>
        <p:spPr>
          <a:xfrm>
            <a:off x="6735336" y="3075939"/>
            <a:ext cx="4705801" cy="667512"/>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4" name="Rectangle 163">
            <a:extLst>
              <a:ext uri="{FF2B5EF4-FFF2-40B4-BE49-F238E27FC236}">
                <a16:creationId xmlns:a16="http://schemas.microsoft.com/office/drawing/2014/main" id="{41105322-B75D-3A02-394A-4B4FA6476069}"/>
              </a:ext>
            </a:extLst>
          </p:cNvPr>
          <p:cNvSpPr/>
          <p:nvPr/>
        </p:nvSpPr>
        <p:spPr>
          <a:xfrm>
            <a:off x="6735336" y="3893505"/>
            <a:ext cx="4705801" cy="667512"/>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5" name="Rectangle 164">
            <a:extLst>
              <a:ext uri="{FF2B5EF4-FFF2-40B4-BE49-F238E27FC236}">
                <a16:creationId xmlns:a16="http://schemas.microsoft.com/office/drawing/2014/main" id="{E5900AB5-0C87-0481-6702-EB9886E7012F}"/>
              </a:ext>
            </a:extLst>
          </p:cNvPr>
          <p:cNvSpPr/>
          <p:nvPr/>
        </p:nvSpPr>
        <p:spPr>
          <a:xfrm>
            <a:off x="6735336" y="4711071"/>
            <a:ext cx="4705801" cy="667512"/>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6" name="Rectangle 165">
            <a:extLst>
              <a:ext uri="{FF2B5EF4-FFF2-40B4-BE49-F238E27FC236}">
                <a16:creationId xmlns:a16="http://schemas.microsoft.com/office/drawing/2014/main" id="{94D19B8C-1DA5-2346-1BB1-BBBCB2A0F6BB}"/>
              </a:ext>
            </a:extLst>
          </p:cNvPr>
          <p:cNvSpPr/>
          <p:nvPr/>
        </p:nvSpPr>
        <p:spPr>
          <a:xfrm>
            <a:off x="6735336" y="5528638"/>
            <a:ext cx="4705801" cy="667512"/>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1" name="Rectangle 160">
            <a:extLst>
              <a:ext uri="{FF2B5EF4-FFF2-40B4-BE49-F238E27FC236}">
                <a16:creationId xmlns:a16="http://schemas.microsoft.com/office/drawing/2014/main" id="{5959330F-C992-17E5-7EBC-D4F10EFB6E4A}"/>
              </a:ext>
            </a:extLst>
          </p:cNvPr>
          <p:cNvSpPr/>
          <p:nvPr/>
        </p:nvSpPr>
        <p:spPr>
          <a:xfrm>
            <a:off x="6467022" y="2345541"/>
            <a:ext cx="493176" cy="49317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8" name="Rectangle 167">
            <a:extLst>
              <a:ext uri="{FF2B5EF4-FFF2-40B4-BE49-F238E27FC236}">
                <a16:creationId xmlns:a16="http://schemas.microsoft.com/office/drawing/2014/main" id="{D10F960F-B6D3-0ADE-EA02-5573615F24BB}"/>
              </a:ext>
            </a:extLst>
          </p:cNvPr>
          <p:cNvSpPr/>
          <p:nvPr/>
        </p:nvSpPr>
        <p:spPr>
          <a:xfrm>
            <a:off x="6467022" y="3163107"/>
            <a:ext cx="493176" cy="49317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69" name="Rectangle 168">
            <a:extLst>
              <a:ext uri="{FF2B5EF4-FFF2-40B4-BE49-F238E27FC236}">
                <a16:creationId xmlns:a16="http://schemas.microsoft.com/office/drawing/2014/main" id="{CFAAE0F3-41FD-08FC-3A3F-BD8C087AED8B}"/>
              </a:ext>
            </a:extLst>
          </p:cNvPr>
          <p:cNvSpPr/>
          <p:nvPr/>
        </p:nvSpPr>
        <p:spPr>
          <a:xfrm>
            <a:off x="6467022" y="3980673"/>
            <a:ext cx="493176" cy="49317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70" name="Rectangle 169">
            <a:extLst>
              <a:ext uri="{FF2B5EF4-FFF2-40B4-BE49-F238E27FC236}">
                <a16:creationId xmlns:a16="http://schemas.microsoft.com/office/drawing/2014/main" id="{F2C7F496-34F1-E440-66B0-B6A30224A504}"/>
              </a:ext>
            </a:extLst>
          </p:cNvPr>
          <p:cNvSpPr/>
          <p:nvPr/>
        </p:nvSpPr>
        <p:spPr>
          <a:xfrm>
            <a:off x="6467022" y="4798239"/>
            <a:ext cx="493176" cy="49317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71" name="Rectangle 170">
            <a:extLst>
              <a:ext uri="{FF2B5EF4-FFF2-40B4-BE49-F238E27FC236}">
                <a16:creationId xmlns:a16="http://schemas.microsoft.com/office/drawing/2014/main" id="{516F8039-7F13-FB9C-5DFB-A45896347BED}"/>
              </a:ext>
            </a:extLst>
          </p:cNvPr>
          <p:cNvSpPr/>
          <p:nvPr/>
        </p:nvSpPr>
        <p:spPr>
          <a:xfrm>
            <a:off x="6467022" y="5615806"/>
            <a:ext cx="493176" cy="493176"/>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72" name="Shape 2533">
            <a:extLst>
              <a:ext uri="{FF2B5EF4-FFF2-40B4-BE49-F238E27FC236}">
                <a16:creationId xmlns:a16="http://schemas.microsoft.com/office/drawing/2014/main" id="{0A961304-0714-8B09-9820-C4FE57E2A635}"/>
              </a:ext>
            </a:extLst>
          </p:cNvPr>
          <p:cNvSpPr/>
          <p:nvPr/>
        </p:nvSpPr>
        <p:spPr>
          <a:xfrm>
            <a:off x="6589227" y="2440105"/>
            <a:ext cx="248766"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7F7F7F"/>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173" name="Shape 2581">
            <a:extLst>
              <a:ext uri="{FF2B5EF4-FFF2-40B4-BE49-F238E27FC236}">
                <a16:creationId xmlns:a16="http://schemas.microsoft.com/office/drawing/2014/main" id="{5CA13CB1-2050-55B6-A600-08A5BC432C1E}"/>
              </a:ext>
            </a:extLst>
          </p:cNvPr>
          <p:cNvSpPr/>
          <p:nvPr/>
        </p:nvSpPr>
        <p:spPr>
          <a:xfrm>
            <a:off x="6561586" y="3257671"/>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7F7F7F"/>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174" name="Shape 2616">
            <a:extLst>
              <a:ext uri="{FF2B5EF4-FFF2-40B4-BE49-F238E27FC236}">
                <a16:creationId xmlns:a16="http://schemas.microsoft.com/office/drawing/2014/main" id="{61C15061-4561-8270-083D-1A86DF18CF69}"/>
              </a:ext>
            </a:extLst>
          </p:cNvPr>
          <p:cNvSpPr/>
          <p:nvPr/>
        </p:nvSpPr>
        <p:spPr>
          <a:xfrm>
            <a:off x="6561586" y="4089023"/>
            <a:ext cx="304048" cy="276477"/>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7F7F7F"/>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175" name="Shape 2545">
            <a:extLst>
              <a:ext uri="{FF2B5EF4-FFF2-40B4-BE49-F238E27FC236}">
                <a16:creationId xmlns:a16="http://schemas.microsoft.com/office/drawing/2014/main" id="{670EB50A-D3B4-0F9A-B3BF-7C32881C6AC2}"/>
              </a:ext>
            </a:extLst>
          </p:cNvPr>
          <p:cNvSpPr/>
          <p:nvPr/>
        </p:nvSpPr>
        <p:spPr>
          <a:xfrm>
            <a:off x="6561586" y="4892803"/>
            <a:ext cx="304048" cy="304048"/>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7F7F7F"/>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176" name="Shape 2604">
            <a:extLst>
              <a:ext uri="{FF2B5EF4-FFF2-40B4-BE49-F238E27FC236}">
                <a16:creationId xmlns:a16="http://schemas.microsoft.com/office/drawing/2014/main" id="{868C1F85-BD7C-6BA8-40E4-88B153A263D8}"/>
              </a:ext>
            </a:extLst>
          </p:cNvPr>
          <p:cNvSpPr/>
          <p:nvPr/>
        </p:nvSpPr>
        <p:spPr>
          <a:xfrm>
            <a:off x="6561586" y="5738011"/>
            <a:ext cx="304048" cy="248767"/>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7F7F7F"/>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177" name="Rectangle 176">
            <a:extLst>
              <a:ext uri="{FF2B5EF4-FFF2-40B4-BE49-F238E27FC236}">
                <a16:creationId xmlns:a16="http://schemas.microsoft.com/office/drawing/2014/main" id="{B04329C5-865A-C751-4783-95A33C411511}"/>
              </a:ext>
            </a:extLst>
          </p:cNvPr>
          <p:cNvSpPr/>
          <p:nvPr/>
        </p:nvSpPr>
        <p:spPr>
          <a:xfrm>
            <a:off x="515936" y="1581415"/>
            <a:ext cx="5580064" cy="6035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18000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Scotia"/>
                <a:ea typeface="+mn-ea"/>
                <a:cs typeface="+mn-cs"/>
              </a:rPr>
              <a:t>Peers are enhancing their offerings, delivering more personalized and accessible client experiences</a:t>
            </a:r>
            <a:endParaRPr kumimoji="0" lang="en-CA" sz="1400" b="1" i="0" u="none" strike="noStrike" kern="1200" cap="none" spc="0" normalizeH="0" baseline="30000" noProof="0">
              <a:ln>
                <a:noFill/>
              </a:ln>
              <a:solidFill>
                <a:srgbClr val="000000"/>
              </a:solidFill>
              <a:effectLst/>
              <a:uLnTx/>
              <a:uFillTx/>
              <a:latin typeface="Scotia"/>
              <a:ea typeface="+mn-ea"/>
              <a:cs typeface="+mn-cs"/>
            </a:endParaRPr>
          </a:p>
        </p:txBody>
      </p:sp>
      <p:grpSp>
        <p:nvGrpSpPr>
          <p:cNvPr id="9" name="Group 8">
            <a:extLst>
              <a:ext uri="{FF2B5EF4-FFF2-40B4-BE49-F238E27FC236}">
                <a16:creationId xmlns:a16="http://schemas.microsoft.com/office/drawing/2014/main" id="{E5DD4DB5-0900-4BE9-CC0E-EC50F5507707}"/>
              </a:ext>
            </a:extLst>
          </p:cNvPr>
          <p:cNvGrpSpPr/>
          <p:nvPr/>
        </p:nvGrpSpPr>
        <p:grpSpPr>
          <a:xfrm>
            <a:off x="3848688" y="2319490"/>
            <a:ext cx="251769" cy="253041"/>
            <a:chOff x="6095607" y="2308758"/>
            <a:chExt cx="419100" cy="420688"/>
          </a:xfrm>
        </p:grpSpPr>
        <p:sp>
          <p:nvSpPr>
            <p:cNvPr id="10" name="Oval 9">
              <a:extLst>
                <a:ext uri="{FF2B5EF4-FFF2-40B4-BE49-F238E27FC236}">
                  <a16:creationId xmlns:a16="http://schemas.microsoft.com/office/drawing/2014/main" id="{B68334C5-49F2-E204-8BE1-3E5C1820927E}"/>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Freeform 50">
              <a:extLst>
                <a:ext uri="{FF2B5EF4-FFF2-40B4-BE49-F238E27FC236}">
                  <a16:creationId xmlns:a16="http://schemas.microsoft.com/office/drawing/2014/main" id="{9D63DA24-3BCE-1458-1157-0F4C7C91E5DE}"/>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nvGrpSpPr>
          <p:cNvPr id="12" name="Group 11">
            <a:extLst>
              <a:ext uri="{FF2B5EF4-FFF2-40B4-BE49-F238E27FC236}">
                <a16:creationId xmlns:a16="http://schemas.microsoft.com/office/drawing/2014/main" id="{6B742681-5C0D-89C7-D30E-7EBFA85CC817}"/>
              </a:ext>
            </a:extLst>
          </p:cNvPr>
          <p:cNvGrpSpPr/>
          <p:nvPr/>
        </p:nvGrpSpPr>
        <p:grpSpPr>
          <a:xfrm>
            <a:off x="3443082" y="3137553"/>
            <a:ext cx="251769" cy="253041"/>
            <a:chOff x="6095607" y="2308758"/>
            <a:chExt cx="419100" cy="420688"/>
          </a:xfrm>
        </p:grpSpPr>
        <p:sp>
          <p:nvSpPr>
            <p:cNvPr id="13" name="Oval 12">
              <a:extLst>
                <a:ext uri="{FF2B5EF4-FFF2-40B4-BE49-F238E27FC236}">
                  <a16:creationId xmlns:a16="http://schemas.microsoft.com/office/drawing/2014/main" id="{66B686F7-5D30-2E70-6EED-E40F032B8639}"/>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Freeform 50">
              <a:extLst>
                <a:ext uri="{FF2B5EF4-FFF2-40B4-BE49-F238E27FC236}">
                  <a16:creationId xmlns:a16="http://schemas.microsoft.com/office/drawing/2014/main" id="{2BAE69AC-C899-7E95-0488-E940095772EC}"/>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nvGrpSpPr>
          <p:cNvPr id="16" name="Group 15">
            <a:extLst>
              <a:ext uri="{FF2B5EF4-FFF2-40B4-BE49-F238E27FC236}">
                <a16:creationId xmlns:a16="http://schemas.microsoft.com/office/drawing/2014/main" id="{EA7A75C7-0A55-ABF2-02C1-79A7F95FCC64}"/>
              </a:ext>
            </a:extLst>
          </p:cNvPr>
          <p:cNvGrpSpPr/>
          <p:nvPr/>
        </p:nvGrpSpPr>
        <p:grpSpPr>
          <a:xfrm>
            <a:off x="3428349" y="3947162"/>
            <a:ext cx="251769" cy="253041"/>
            <a:chOff x="6095607" y="2308758"/>
            <a:chExt cx="419100" cy="420688"/>
          </a:xfrm>
        </p:grpSpPr>
        <p:sp>
          <p:nvSpPr>
            <p:cNvPr id="17" name="Oval 16">
              <a:extLst>
                <a:ext uri="{FF2B5EF4-FFF2-40B4-BE49-F238E27FC236}">
                  <a16:creationId xmlns:a16="http://schemas.microsoft.com/office/drawing/2014/main" id="{D174A3B2-1CE0-2483-A6D9-EC8100CED9D1}"/>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50">
              <a:extLst>
                <a:ext uri="{FF2B5EF4-FFF2-40B4-BE49-F238E27FC236}">
                  <a16:creationId xmlns:a16="http://schemas.microsoft.com/office/drawing/2014/main" id="{F566BDED-39DA-05FA-0C7C-826F52A2DD48}"/>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nvGrpSpPr>
          <p:cNvPr id="23" name="Group 22">
            <a:extLst>
              <a:ext uri="{FF2B5EF4-FFF2-40B4-BE49-F238E27FC236}">
                <a16:creationId xmlns:a16="http://schemas.microsoft.com/office/drawing/2014/main" id="{0426715B-1CBE-4326-1F9E-FAA069DDB71D}"/>
              </a:ext>
            </a:extLst>
          </p:cNvPr>
          <p:cNvGrpSpPr/>
          <p:nvPr/>
        </p:nvGrpSpPr>
        <p:grpSpPr>
          <a:xfrm>
            <a:off x="4019889" y="5581350"/>
            <a:ext cx="251769" cy="253041"/>
            <a:chOff x="6095607" y="2308758"/>
            <a:chExt cx="419100" cy="420688"/>
          </a:xfrm>
        </p:grpSpPr>
        <p:sp>
          <p:nvSpPr>
            <p:cNvPr id="24" name="Oval 23">
              <a:extLst>
                <a:ext uri="{FF2B5EF4-FFF2-40B4-BE49-F238E27FC236}">
                  <a16:creationId xmlns:a16="http://schemas.microsoft.com/office/drawing/2014/main" id="{4E829B6A-FBB7-A1B2-B057-D27B9B0931B7}"/>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50">
              <a:extLst>
                <a:ext uri="{FF2B5EF4-FFF2-40B4-BE49-F238E27FC236}">
                  <a16:creationId xmlns:a16="http://schemas.microsoft.com/office/drawing/2014/main" id="{3FC8F09B-D05B-B0D7-0190-8F23EA944356}"/>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nvGrpSpPr>
          <p:cNvPr id="132" name="Group 131">
            <a:extLst>
              <a:ext uri="{FF2B5EF4-FFF2-40B4-BE49-F238E27FC236}">
                <a16:creationId xmlns:a16="http://schemas.microsoft.com/office/drawing/2014/main" id="{EF50D287-01EE-F368-6270-64970426032C}"/>
              </a:ext>
            </a:extLst>
          </p:cNvPr>
          <p:cNvGrpSpPr/>
          <p:nvPr/>
        </p:nvGrpSpPr>
        <p:grpSpPr>
          <a:xfrm>
            <a:off x="2854975" y="5587013"/>
            <a:ext cx="256686" cy="256686"/>
            <a:chOff x="5023275" y="2112981"/>
            <a:chExt cx="256686" cy="256686"/>
          </a:xfrm>
        </p:grpSpPr>
        <p:sp>
          <p:nvSpPr>
            <p:cNvPr id="131" name="Oval 130">
              <a:extLst>
                <a:ext uri="{FF2B5EF4-FFF2-40B4-BE49-F238E27FC236}">
                  <a16:creationId xmlns:a16="http://schemas.microsoft.com/office/drawing/2014/main" id="{18DB0E07-6B19-1DA2-CC1A-FE826B97E0C1}"/>
                </a:ext>
              </a:extLst>
            </p:cNvPr>
            <p:cNvSpPr/>
            <p:nvPr/>
          </p:nvSpPr>
          <p:spPr>
            <a:xfrm rot="10800000" flipH="1" flipV="1">
              <a:off x="5023275" y="2112981"/>
              <a:ext cx="256686" cy="256686"/>
            </a:xfrm>
            <a:prstGeom prst="ellipse">
              <a:avLst/>
            </a:prstGeom>
            <a:solidFill>
              <a:schemeClr val="bg1"/>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126" name="Group 125">
              <a:extLst>
                <a:ext uri="{FF2B5EF4-FFF2-40B4-BE49-F238E27FC236}">
                  <a16:creationId xmlns:a16="http://schemas.microsoft.com/office/drawing/2014/main" id="{CEDE13E9-90CF-9AFE-1AD0-188E1DFA5CB7}"/>
                </a:ext>
              </a:extLst>
            </p:cNvPr>
            <p:cNvGrpSpPr/>
            <p:nvPr/>
          </p:nvGrpSpPr>
          <p:grpSpPr>
            <a:xfrm>
              <a:off x="5083922" y="2167012"/>
              <a:ext cx="135392" cy="148649"/>
              <a:chOff x="4719282" y="2671312"/>
              <a:chExt cx="215190" cy="236259"/>
            </a:xfrm>
          </p:grpSpPr>
          <p:sp>
            <p:nvSpPr>
              <p:cNvPr id="127" name="Freeform 5">
                <a:extLst>
                  <a:ext uri="{FF2B5EF4-FFF2-40B4-BE49-F238E27FC236}">
                    <a16:creationId xmlns:a16="http://schemas.microsoft.com/office/drawing/2014/main" id="{2BB6BB7C-2B18-F277-5B7F-525B90D7A21A}"/>
                  </a:ext>
                </a:extLst>
              </p:cNvPr>
              <p:cNvSpPr>
                <a:spLocks/>
              </p:cNvSpPr>
              <p:nvPr userDrawn="1"/>
            </p:nvSpPr>
            <p:spPr bwMode="auto">
              <a:xfrm>
                <a:off x="4725301" y="2671312"/>
                <a:ext cx="209171" cy="10985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solidFill>
                <a:srgbClr val="EC11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28" name="Freeform 6">
                <a:extLst>
                  <a:ext uri="{FF2B5EF4-FFF2-40B4-BE49-F238E27FC236}">
                    <a16:creationId xmlns:a16="http://schemas.microsoft.com/office/drawing/2014/main" id="{31011867-CE52-CC56-6A9E-2C1C2EBB0596}"/>
                  </a:ext>
                </a:extLst>
              </p:cNvPr>
              <p:cNvSpPr>
                <a:spLocks/>
              </p:cNvSpPr>
              <p:nvPr userDrawn="1"/>
            </p:nvSpPr>
            <p:spPr bwMode="auto">
              <a:xfrm>
                <a:off x="4719282" y="2797718"/>
                <a:ext cx="209171" cy="10985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solidFill>
                <a:srgbClr val="EC11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29" name="Oval 7">
                <a:extLst>
                  <a:ext uri="{FF2B5EF4-FFF2-40B4-BE49-F238E27FC236}">
                    <a16:creationId xmlns:a16="http://schemas.microsoft.com/office/drawing/2014/main" id="{8205692C-EB94-BFAC-7E78-760D2FD333D4}"/>
                  </a:ext>
                </a:extLst>
              </p:cNvPr>
              <p:cNvSpPr>
                <a:spLocks noChangeArrowheads="1"/>
              </p:cNvSpPr>
              <p:nvPr userDrawn="1"/>
            </p:nvSpPr>
            <p:spPr bwMode="auto">
              <a:xfrm>
                <a:off x="4767436" y="2730001"/>
                <a:ext cx="118881" cy="118882"/>
              </a:xfrm>
              <a:prstGeom prst="ellipse">
                <a:avLst/>
              </a:prstGeom>
              <a:solidFill>
                <a:srgbClr val="EC11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122" name="Group 121">
            <a:extLst>
              <a:ext uri="{FF2B5EF4-FFF2-40B4-BE49-F238E27FC236}">
                <a16:creationId xmlns:a16="http://schemas.microsoft.com/office/drawing/2014/main" id="{FD7B61E2-CC8F-8314-C58C-9535AD170FF2}"/>
              </a:ext>
            </a:extLst>
          </p:cNvPr>
          <p:cNvGrpSpPr/>
          <p:nvPr/>
        </p:nvGrpSpPr>
        <p:grpSpPr>
          <a:xfrm>
            <a:off x="3554234" y="5581350"/>
            <a:ext cx="268012" cy="268012"/>
            <a:chOff x="6887617" y="1967167"/>
            <a:chExt cx="409377" cy="400452"/>
          </a:xfrm>
        </p:grpSpPr>
        <p:sp>
          <p:nvSpPr>
            <p:cNvPr id="123" name="Oval 122">
              <a:extLst>
                <a:ext uri="{FF2B5EF4-FFF2-40B4-BE49-F238E27FC236}">
                  <a16:creationId xmlns:a16="http://schemas.microsoft.com/office/drawing/2014/main" id="{C673E375-F6BA-1D06-E4E2-6964B9F5CE34}"/>
                </a:ext>
              </a:extLst>
            </p:cNvPr>
            <p:cNvSpPr/>
            <p:nvPr/>
          </p:nvSpPr>
          <p:spPr>
            <a:xfrm>
              <a:off x="6887617" y="1967167"/>
              <a:ext cx="409377" cy="400452"/>
            </a:xfrm>
            <a:prstGeom prst="ellipse">
              <a:avLst/>
            </a:prstGeom>
            <a:solidFill>
              <a:srgbClr val="A0CFE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pic>
          <p:nvPicPr>
            <p:cNvPr id="124" name="Picture 123">
              <a:extLst>
                <a:ext uri="{FF2B5EF4-FFF2-40B4-BE49-F238E27FC236}">
                  <a16:creationId xmlns:a16="http://schemas.microsoft.com/office/drawing/2014/main" id="{311662E4-6B22-1B75-C1A4-713AE8D4B1F5}"/>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5859" b="63948" l="5693" r="27584">
                          <a14:foregroundMark x1="8500" y1="43333" x2="8500" y2="43333"/>
                          <a14:backgroundMark x1="14000" y1="39333" x2="14000" y2="39333"/>
                          <a14:backgroundMark x1="20250" y1="45667" x2="20250" y2="45667"/>
                          <a14:backgroundMark x1="23625" y1="45167" x2="19375" y2="45167"/>
                        </a14:backgroundRemoval>
                      </a14:imgEffect>
                    </a14:imgLayer>
                  </a14:imgProps>
                </a:ext>
              </a:extLst>
            </a:blip>
            <a:srcRect l="2957" t="32348" r="69679" b="32541"/>
            <a:stretch/>
          </p:blipFill>
          <p:spPr>
            <a:xfrm>
              <a:off x="6937335" y="2018256"/>
              <a:ext cx="309941" cy="298275"/>
            </a:xfrm>
            <a:prstGeom prst="ellipse">
              <a:avLst/>
            </a:prstGeom>
          </p:spPr>
        </p:pic>
      </p:grpSp>
      <p:sp>
        <p:nvSpPr>
          <p:cNvPr id="31" name="Oval 30">
            <a:extLst>
              <a:ext uri="{FF2B5EF4-FFF2-40B4-BE49-F238E27FC236}">
                <a16:creationId xmlns:a16="http://schemas.microsoft.com/office/drawing/2014/main" id="{6780C9CA-D1FB-1ED6-0BD8-3105B66AA5B7}"/>
              </a:ext>
            </a:extLst>
          </p:cNvPr>
          <p:cNvSpPr/>
          <p:nvPr/>
        </p:nvSpPr>
        <p:spPr>
          <a:xfrm>
            <a:off x="2572891" y="2312974"/>
            <a:ext cx="268012" cy="268012"/>
          </a:xfrm>
          <a:prstGeom prst="ellipse">
            <a:avLst/>
          </a:prstGeom>
          <a:blipFill dpi="0" rotWithShape="1">
            <a:blip r:embed="rId10"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33" name="Oval 32">
            <a:extLst>
              <a:ext uri="{FF2B5EF4-FFF2-40B4-BE49-F238E27FC236}">
                <a16:creationId xmlns:a16="http://schemas.microsoft.com/office/drawing/2014/main" id="{ED86802D-97C9-CB05-52B5-E11657C94D61}"/>
              </a:ext>
            </a:extLst>
          </p:cNvPr>
          <p:cNvSpPr/>
          <p:nvPr/>
        </p:nvSpPr>
        <p:spPr>
          <a:xfrm>
            <a:off x="4194243" y="3130068"/>
            <a:ext cx="268012" cy="268012"/>
          </a:xfrm>
          <a:prstGeom prst="ellipse">
            <a:avLst/>
          </a:prstGeom>
          <a:blipFill dpi="0" rotWithShape="1">
            <a:blip r:embed="rId10"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34" name="Oval 33">
            <a:extLst>
              <a:ext uri="{FF2B5EF4-FFF2-40B4-BE49-F238E27FC236}">
                <a16:creationId xmlns:a16="http://schemas.microsoft.com/office/drawing/2014/main" id="{6B983E82-50FE-71E1-F779-DF57521768E4}"/>
              </a:ext>
            </a:extLst>
          </p:cNvPr>
          <p:cNvSpPr/>
          <p:nvPr/>
        </p:nvSpPr>
        <p:spPr>
          <a:xfrm>
            <a:off x="4060237" y="3947162"/>
            <a:ext cx="268012" cy="268012"/>
          </a:xfrm>
          <a:prstGeom prst="ellipse">
            <a:avLst/>
          </a:prstGeom>
          <a:blipFill dpi="0" rotWithShape="1">
            <a:blip r:embed="rId10"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35" name="Oval 34">
            <a:extLst>
              <a:ext uri="{FF2B5EF4-FFF2-40B4-BE49-F238E27FC236}">
                <a16:creationId xmlns:a16="http://schemas.microsoft.com/office/drawing/2014/main" id="{FA3C6056-5FCC-16DC-8E94-FDB3DD31C453}"/>
              </a:ext>
            </a:extLst>
          </p:cNvPr>
          <p:cNvSpPr/>
          <p:nvPr/>
        </p:nvSpPr>
        <p:spPr>
          <a:xfrm>
            <a:off x="2606547" y="4764256"/>
            <a:ext cx="268012" cy="268012"/>
          </a:xfrm>
          <a:prstGeom prst="ellipse">
            <a:avLst/>
          </a:prstGeom>
          <a:blipFill dpi="0" rotWithShape="1">
            <a:blip r:embed="rId10"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
        <p:nvSpPr>
          <p:cNvPr id="36" name="Oval 35">
            <a:extLst>
              <a:ext uri="{FF2B5EF4-FFF2-40B4-BE49-F238E27FC236}">
                <a16:creationId xmlns:a16="http://schemas.microsoft.com/office/drawing/2014/main" id="{6EF8CE8C-9059-019F-884B-D49E24F9E904}"/>
              </a:ext>
            </a:extLst>
          </p:cNvPr>
          <p:cNvSpPr/>
          <p:nvPr/>
        </p:nvSpPr>
        <p:spPr>
          <a:xfrm>
            <a:off x="3361092" y="5581350"/>
            <a:ext cx="268012" cy="268012"/>
          </a:xfrm>
          <a:prstGeom prst="ellipse">
            <a:avLst/>
          </a:prstGeom>
          <a:blipFill dpi="0" rotWithShape="1">
            <a:blip r:embed="rId10"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grpSp>
        <p:nvGrpSpPr>
          <p:cNvPr id="19" name="Group 18">
            <a:extLst>
              <a:ext uri="{FF2B5EF4-FFF2-40B4-BE49-F238E27FC236}">
                <a16:creationId xmlns:a16="http://schemas.microsoft.com/office/drawing/2014/main" id="{66DDE6E1-DF29-B56A-197E-6E599B7478C5}"/>
              </a:ext>
            </a:extLst>
          </p:cNvPr>
          <p:cNvGrpSpPr/>
          <p:nvPr/>
        </p:nvGrpSpPr>
        <p:grpSpPr>
          <a:xfrm>
            <a:off x="2417586" y="4764256"/>
            <a:ext cx="251769" cy="253041"/>
            <a:chOff x="6095607" y="2308758"/>
            <a:chExt cx="419100" cy="420688"/>
          </a:xfrm>
        </p:grpSpPr>
        <p:sp>
          <p:nvSpPr>
            <p:cNvPr id="20" name="Oval 19">
              <a:extLst>
                <a:ext uri="{FF2B5EF4-FFF2-40B4-BE49-F238E27FC236}">
                  <a16:creationId xmlns:a16="http://schemas.microsoft.com/office/drawing/2014/main" id="{528DB489-A758-A2A8-5F14-69591194CC9C}"/>
                </a:ext>
              </a:extLst>
            </p:cNvPr>
            <p:cNvSpPr/>
            <p:nvPr/>
          </p:nvSpPr>
          <p:spPr>
            <a:xfrm>
              <a:off x="6095607" y="2308758"/>
              <a:ext cx="419100" cy="420688"/>
            </a:xfrm>
            <a:prstGeom prst="ellipse">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50">
              <a:extLst>
                <a:ext uri="{FF2B5EF4-FFF2-40B4-BE49-F238E27FC236}">
                  <a16:creationId xmlns:a16="http://schemas.microsoft.com/office/drawing/2014/main" id="{46BE6958-BF20-C4CA-D133-446A5FF59D98}"/>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sp>
        <p:nvSpPr>
          <p:cNvPr id="111" name="Oval 110">
            <a:extLst>
              <a:ext uri="{FF2B5EF4-FFF2-40B4-BE49-F238E27FC236}">
                <a16:creationId xmlns:a16="http://schemas.microsoft.com/office/drawing/2014/main" id="{A47DF8B4-5394-D1B7-7550-B1A6B6D8419E}"/>
              </a:ext>
            </a:extLst>
          </p:cNvPr>
          <p:cNvSpPr/>
          <p:nvPr/>
        </p:nvSpPr>
        <p:spPr>
          <a:xfrm>
            <a:off x="3244931" y="3947162"/>
            <a:ext cx="268012" cy="268012"/>
          </a:xfrm>
          <a:prstGeom prst="ellipse">
            <a:avLst/>
          </a:prstGeom>
          <a:blipFill dpi="0" rotWithShape="1">
            <a:blip r:embed="rId6" cstate="print">
              <a:extLst>
                <a:ext uri="{28A0092B-C50C-407E-A947-70E740481C1C}">
                  <a14:useLocalDpi xmlns:a14="http://schemas.microsoft.com/office/drawing/2010/main" val="0"/>
                </a:ext>
              </a:extLst>
            </a:blip>
            <a:srcRect/>
            <a:stretch>
              <a:fillRect/>
            </a:stretch>
          </a:bli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srgbClr val="000000">
                  <a:lumMod val="75000"/>
                  <a:lumOff val="25000"/>
                </a:srgbClr>
              </a:solidFill>
              <a:effectLst/>
              <a:uLnTx/>
              <a:uFillTx/>
              <a:latin typeface="Scotia"/>
              <a:ea typeface="ＭＳ Ｐゴシック"/>
              <a:cs typeface="Arial" panose="020B0604020202020204" pitchFamily="34" charset="0"/>
            </a:endParaRPr>
          </a:p>
        </p:txBody>
      </p:sp>
    </p:spTree>
    <p:extLst>
      <p:ext uri="{BB962C8B-B14F-4D97-AF65-F5344CB8AC3E}">
        <p14:creationId xmlns:p14="http://schemas.microsoft.com/office/powerpoint/2010/main" val="248233212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7B343B71-2265-78FF-FE43-C32DE0248C7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709" imgH="709" progId="TCLayout.ActiveDocument.1">
                  <p:embed/>
                </p:oleObj>
              </mc:Choice>
              <mc:Fallback>
                <p:oleObj name="think-cell Slide" r:id="rId4" imgW="709" imgH="709" progId="TCLayout.ActiveDocument.1">
                  <p:embed/>
                  <p:pic>
                    <p:nvPicPr>
                      <p:cNvPr id="14" name="think-cell data - do not delete" hidden="1">
                        <a:extLst>
                          <a:ext uri="{FF2B5EF4-FFF2-40B4-BE49-F238E27FC236}">
                            <a16:creationId xmlns:a16="http://schemas.microsoft.com/office/drawing/2014/main" id="{7B343B71-2265-78FF-FE43-C32DE0248C7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58" name="Title 1">
            <a:extLst>
              <a:ext uri="{FF2B5EF4-FFF2-40B4-BE49-F238E27FC236}">
                <a16:creationId xmlns:a16="http://schemas.microsoft.com/office/drawing/2014/main" id="{5947B9ED-7B53-3893-ABF6-9A0AACA19E0C}"/>
              </a:ext>
            </a:extLst>
          </p:cNvPr>
          <p:cNvSpPr>
            <a:spLocks noGrp="1"/>
          </p:cNvSpPr>
          <p:nvPr>
            <p:ph type="title"/>
          </p:nvPr>
        </p:nvSpPr>
        <p:spPr/>
        <p:txBody>
          <a:bodyPr vert="horz"/>
          <a:lstStyle/>
          <a:p>
            <a:r>
              <a:rPr lang="en-US">
                <a:solidFill>
                  <a:srgbClr val="EC111A"/>
                </a:solidFill>
              </a:rPr>
              <a:t>Our Performance | </a:t>
            </a:r>
            <a:r>
              <a:rPr lang="en-US"/>
              <a:t>We place second in the $25-100MM band, led by our NAC and REB segments, with opportunity to improve in Mid-Market ($1-25MM)</a:t>
            </a:r>
          </a:p>
        </p:txBody>
      </p:sp>
      <p:sp>
        <p:nvSpPr>
          <p:cNvPr id="3" name="Slide Number Placeholder 2">
            <a:extLst>
              <a:ext uri="{FF2B5EF4-FFF2-40B4-BE49-F238E27FC236}">
                <a16:creationId xmlns:a16="http://schemas.microsoft.com/office/drawing/2014/main" id="{3657F91A-7026-E8B3-5466-90440C977391}"/>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4" name="Text Placeholder 3">
            <a:extLst>
              <a:ext uri="{FF2B5EF4-FFF2-40B4-BE49-F238E27FC236}">
                <a16:creationId xmlns:a16="http://schemas.microsoft.com/office/drawing/2014/main" id="{92FE0AEE-651F-6656-1B9A-F5B1837EE0F8}"/>
              </a:ext>
            </a:extLst>
          </p:cNvPr>
          <p:cNvSpPr>
            <a:spLocks noGrp="1"/>
          </p:cNvSpPr>
          <p:nvPr>
            <p:ph type="body" sz="quarter" idx="11"/>
          </p:nvPr>
        </p:nvSpPr>
        <p:spPr/>
        <p:txBody>
          <a:bodyPr anchor="t"/>
          <a:lstStyle/>
          <a:p>
            <a:r>
              <a:rPr lang="en-CA"/>
              <a:t>Source: CBA Lending Data provided by CB Finance (Q3 2023)</a:t>
            </a:r>
          </a:p>
        </p:txBody>
      </p:sp>
      <p:sp>
        <p:nvSpPr>
          <p:cNvPr id="7" name="Text Placeholder 6">
            <a:extLst>
              <a:ext uri="{FF2B5EF4-FFF2-40B4-BE49-F238E27FC236}">
                <a16:creationId xmlns:a16="http://schemas.microsoft.com/office/drawing/2014/main" id="{4B35353C-42B7-D439-196C-099C36520E97}"/>
              </a:ext>
            </a:extLst>
          </p:cNvPr>
          <p:cNvSpPr>
            <a:spLocks noGrp="1"/>
          </p:cNvSpPr>
          <p:nvPr>
            <p:ph type="body" sz="quarter" idx="14"/>
          </p:nvPr>
        </p:nvSpPr>
        <p:spPr/>
        <p:txBody>
          <a:bodyPr/>
          <a:lstStyle/>
          <a:p>
            <a:r>
              <a:rPr lang="en-US"/>
              <a:t>ASSET MARKET SHARE OVERVIEW</a:t>
            </a:r>
          </a:p>
        </p:txBody>
      </p:sp>
      <p:sp>
        <p:nvSpPr>
          <p:cNvPr id="11" name="Rectangle 10">
            <a:extLst>
              <a:ext uri="{FF2B5EF4-FFF2-40B4-BE49-F238E27FC236}">
                <a16:creationId xmlns:a16="http://schemas.microsoft.com/office/drawing/2014/main" id="{B19D81D9-7D09-2027-0118-C2EAEA3D2940}"/>
              </a:ext>
            </a:extLst>
          </p:cNvPr>
          <p:cNvSpPr/>
          <p:nvPr/>
        </p:nvSpPr>
        <p:spPr>
          <a:xfrm>
            <a:off x="515936" y="4417369"/>
            <a:ext cx="1608427" cy="767074"/>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$1 - 5MM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a:ln>
                  <a:noFill/>
                </a:ln>
                <a:solidFill>
                  <a:srgbClr val="FFFFFF"/>
                </a:solidFill>
                <a:effectLst/>
                <a:uLnTx/>
                <a:uFillTx/>
                <a:latin typeface="Scotia"/>
                <a:ea typeface="+mn-ea"/>
                <a:cs typeface="+mn-cs"/>
              </a:rPr>
              <a:t>Market size: $125 B</a:t>
            </a:r>
          </a:p>
        </p:txBody>
      </p:sp>
      <p:sp>
        <p:nvSpPr>
          <p:cNvPr id="13" name="Rectangle 12">
            <a:extLst>
              <a:ext uri="{FF2B5EF4-FFF2-40B4-BE49-F238E27FC236}">
                <a16:creationId xmlns:a16="http://schemas.microsoft.com/office/drawing/2014/main" id="{E3E17A13-B3F5-0D22-D9D6-C51DDA581EE2}"/>
              </a:ext>
            </a:extLst>
          </p:cNvPr>
          <p:cNvSpPr/>
          <p:nvPr/>
        </p:nvSpPr>
        <p:spPr>
          <a:xfrm>
            <a:off x="515936" y="3510827"/>
            <a:ext cx="1608427" cy="767074"/>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$5 - 25MM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a:ln>
                  <a:noFill/>
                </a:ln>
                <a:solidFill>
                  <a:srgbClr val="FFFFFF"/>
                </a:solidFill>
                <a:effectLst/>
                <a:uLnTx/>
                <a:uFillTx/>
                <a:latin typeface="Scotia"/>
                <a:ea typeface="+mn-ea"/>
                <a:cs typeface="+mn-cs"/>
              </a:rPr>
              <a:t>Market size: $184 B</a:t>
            </a:r>
            <a:endParaRPr kumimoji="0" lang="en-CA" sz="1200" b="0" i="1" u="none" strike="noStrike" kern="1200" cap="none" spc="0" normalizeH="0" baseline="0" noProof="0">
              <a:ln>
                <a:noFill/>
              </a:ln>
              <a:solidFill>
                <a:srgbClr val="FFFFFF"/>
              </a:solidFill>
              <a:effectLst/>
              <a:uLnTx/>
              <a:uFillTx/>
              <a:latin typeface="Scotia"/>
              <a:ea typeface="+mn-ea"/>
              <a:cs typeface="+mn-cs"/>
            </a:endParaRPr>
          </a:p>
        </p:txBody>
      </p:sp>
      <p:sp>
        <p:nvSpPr>
          <p:cNvPr id="15" name="Rectangle 14">
            <a:extLst>
              <a:ext uri="{FF2B5EF4-FFF2-40B4-BE49-F238E27FC236}">
                <a16:creationId xmlns:a16="http://schemas.microsoft.com/office/drawing/2014/main" id="{179AF60A-1DC5-3567-6F51-75F09D4BBA3A}"/>
              </a:ext>
            </a:extLst>
          </p:cNvPr>
          <p:cNvSpPr/>
          <p:nvPr/>
        </p:nvSpPr>
        <p:spPr>
          <a:xfrm>
            <a:off x="515936" y="5323910"/>
            <a:ext cx="1608427" cy="767074"/>
          </a:xfrm>
          <a:prstGeom prst="rect">
            <a:avLst/>
          </a:prstGeom>
          <a:solidFill>
            <a:srgbClr val="A6000E"/>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Total</a:t>
            </a:r>
          </a:p>
        </p:txBody>
      </p:sp>
      <p:sp>
        <p:nvSpPr>
          <p:cNvPr id="33" name="TextBox 32">
            <a:extLst>
              <a:ext uri="{FF2B5EF4-FFF2-40B4-BE49-F238E27FC236}">
                <a16:creationId xmlns:a16="http://schemas.microsoft.com/office/drawing/2014/main" id="{1CE204DB-8556-74BF-4BDE-4105594CBF4B}"/>
              </a:ext>
            </a:extLst>
          </p:cNvPr>
          <p:cNvSpPr txBox="1"/>
          <p:nvPr/>
        </p:nvSpPr>
        <p:spPr>
          <a:xfrm>
            <a:off x="2472121"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1</a:t>
            </a:r>
            <a:r>
              <a:rPr kumimoji="0" lang="en-CA" sz="1000" b="1" i="0" u="none" strike="noStrike" kern="1200" cap="none" spc="0" normalizeH="0" baseline="30000" noProof="0">
                <a:ln>
                  <a:noFill/>
                </a:ln>
                <a:solidFill>
                  <a:srgbClr val="000000"/>
                </a:solidFill>
                <a:effectLst/>
                <a:uLnTx/>
                <a:uFillTx/>
                <a:latin typeface="Scotia"/>
                <a:ea typeface="+mn-ea"/>
                <a:cs typeface="+mn-cs"/>
              </a:rPr>
              <a:t>ST</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sp>
        <p:nvSpPr>
          <p:cNvPr id="35" name="TextBox 34">
            <a:extLst>
              <a:ext uri="{FF2B5EF4-FFF2-40B4-BE49-F238E27FC236}">
                <a16:creationId xmlns:a16="http://schemas.microsoft.com/office/drawing/2014/main" id="{39E9607D-4B1E-00A8-A109-76EE9BF434B3}"/>
              </a:ext>
            </a:extLst>
          </p:cNvPr>
          <p:cNvSpPr txBox="1"/>
          <p:nvPr/>
        </p:nvSpPr>
        <p:spPr>
          <a:xfrm>
            <a:off x="3256313"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2</a:t>
            </a:r>
            <a:r>
              <a:rPr kumimoji="0" lang="en-CA" sz="1000" b="1" i="0" u="none" strike="noStrike" kern="1200" cap="none" spc="0" normalizeH="0" baseline="30000" noProof="0">
                <a:ln>
                  <a:noFill/>
                </a:ln>
                <a:solidFill>
                  <a:srgbClr val="000000"/>
                </a:solidFill>
                <a:effectLst/>
                <a:uLnTx/>
                <a:uFillTx/>
                <a:latin typeface="Scotia"/>
                <a:ea typeface="+mn-ea"/>
                <a:cs typeface="+mn-cs"/>
              </a:rPr>
              <a:t>ND</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sp>
        <p:nvSpPr>
          <p:cNvPr id="41" name="TextBox 40">
            <a:extLst>
              <a:ext uri="{FF2B5EF4-FFF2-40B4-BE49-F238E27FC236}">
                <a16:creationId xmlns:a16="http://schemas.microsoft.com/office/drawing/2014/main" id="{0B9310D6-A9C8-A402-2DB8-DC7E230E666A}"/>
              </a:ext>
            </a:extLst>
          </p:cNvPr>
          <p:cNvSpPr txBox="1"/>
          <p:nvPr/>
        </p:nvSpPr>
        <p:spPr>
          <a:xfrm>
            <a:off x="4040505"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3</a:t>
            </a:r>
            <a:r>
              <a:rPr kumimoji="0" lang="en-CA" sz="1000" b="1" i="0" u="none" strike="noStrike" kern="1200" cap="none" spc="0" normalizeH="0" baseline="30000" noProof="0">
                <a:ln>
                  <a:noFill/>
                </a:ln>
                <a:solidFill>
                  <a:srgbClr val="000000"/>
                </a:solidFill>
                <a:effectLst/>
                <a:uLnTx/>
                <a:uFillTx/>
                <a:latin typeface="Scotia"/>
                <a:ea typeface="+mn-ea"/>
                <a:cs typeface="+mn-cs"/>
              </a:rPr>
              <a:t>RD</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sp>
        <p:nvSpPr>
          <p:cNvPr id="42" name="TextBox 41">
            <a:extLst>
              <a:ext uri="{FF2B5EF4-FFF2-40B4-BE49-F238E27FC236}">
                <a16:creationId xmlns:a16="http://schemas.microsoft.com/office/drawing/2014/main" id="{D1A972FD-0857-5B87-47DB-7208EACD5D2A}"/>
              </a:ext>
            </a:extLst>
          </p:cNvPr>
          <p:cNvSpPr txBox="1"/>
          <p:nvPr/>
        </p:nvSpPr>
        <p:spPr>
          <a:xfrm>
            <a:off x="4824697"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4</a:t>
            </a:r>
            <a:r>
              <a:rPr kumimoji="0" lang="en-CA" sz="1000" b="1" i="0" u="none" strike="noStrike" kern="1200" cap="none" spc="0" normalizeH="0" baseline="30000" noProof="0">
                <a:ln>
                  <a:noFill/>
                </a:ln>
                <a:solidFill>
                  <a:srgbClr val="000000"/>
                </a:solidFill>
                <a:effectLst/>
                <a:uLnTx/>
                <a:uFillTx/>
                <a:latin typeface="Scotia"/>
                <a:ea typeface="+mn-ea"/>
                <a:cs typeface="+mn-cs"/>
              </a:rPr>
              <a:t>TH</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sp>
        <p:nvSpPr>
          <p:cNvPr id="43" name="TextBox 42">
            <a:extLst>
              <a:ext uri="{FF2B5EF4-FFF2-40B4-BE49-F238E27FC236}">
                <a16:creationId xmlns:a16="http://schemas.microsoft.com/office/drawing/2014/main" id="{D98515AE-A7B5-5C34-8F54-6C8F60926373}"/>
              </a:ext>
            </a:extLst>
          </p:cNvPr>
          <p:cNvSpPr txBox="1"/>
          <p:nvPr/>
        </p:nvSpPr>
        <p:spPr>
          <a:xfrm>
            <a:off x="5608889"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5</a:t>
            </a:r>
            <a:r>
              <a:rPr kumimoji="0" lang="en-CA" sz="1000" b="1" i="0" u="none" strike="noStrike" kern="1200" cap="none" spc="0" normalizeH="0" baseline="30000" noProof="0">
                <a:ln>
                  <a:noFill/>
                </a:ln>
                <a:solidFill>
                  <a:srgbClr val="000000"/>
                </a:solidFill>
                <a:effectLst/>
                <a:uLnTx/>
                <a:uFillTx/>
                <a:latin typeface="Scotia"/>
                <a:ea typeface="+mn-ea"/>
                <a:cs typeface="+mn-cs"/>
              </a:rPr>
              <a:t>TH</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sp>
        <p:nvSpPr>
          <p:cNvPr id="133" name="Rectangle 132">
            <a:extLst>
              <a:ext uri="{FF2B5EF4-FFF2-40B4-BE49-F238E27FC236}">
                <a16:creationId xmlns:a16="http://schemas.microsoft.com/office/drawing/2014/main" id="{2F4FCDAC-C7A1-BB6B-3198-069B62CAA0D5}"/>
              </a:ext>
            </a:extLst>
          </p:cNvPr>
          <p:cNvSpPr/>
          <p:nvPr/>
        </p:nvSpPr>
        <p:spPr>
          <a:xfrm>
            <a:off x="515936" y="2604285"/>
            <a:ext cx="1608427" cy="767074"/>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FFFFFF"/>
                </a:solidFill>
                <a:effectLst/>
                <a:uLnTx/>
                <a:uFillTx/>
                <a:latin typeface="Scotia"/>
                <a:ea typeface="+mn-ea"/>
                <a:cs typeface="+mn-cs"/>
              </a:rPr>
              <a:t>$25 - 100MM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a:ln>
                  <a:noFill/>
                </a:ln>
                <a:solidFill>
                  <a:srgbClr val="FFFFFF"/>
                </a:solidFill>
                <a:effectLst/>
                <a:uLnTx/>
                <a:uFillTx/>
                <a:latin typeface="Scotia"/>
                <a:ea typeface="+mn-ea"/>
                <a:cs typeface="+mn-cs"/>
              </a:rPr>
              <a:t>Market size: $307 B</a:t>
            </a:r>
            <a:endParaRPr kumimoji="0" lang="en-CA" sz="1400" b="0" i="1" u="none" strike="noStrike" kern="1200" cap="none" spc="0" normalizeH="0" baseline="0" noProof="0">
              <a:ln>
                <a:noFill/>
              </a:ln>
              <a:solidFill>
                <a:srgbClr val="FFFFFF"/>
              </a:solidFill>
              <a:effectLst/>
              <a:uLnTx/>
              <a:uFillTx/>
              <a:latin typeface="Scotia"/>
              <a:ea typeface="+mn-ea"/>
              <a:cs typeface="+mn-cs"/>
            </a:endParaRPr>
          </a:p>
        </p:txBody>
      </p:sp>
      <p:grpSp>
        <p:nvGrpSpPr>
          <p:cNvPr id="155" name="Group 154">
            <a:extLst>
              <a:ext uri="{FF2B5EF4-FFF2-40B4-BE49-F238E27FC236}">
                <a16:creationId xmlns:a16="http://schemas.microsoft.com/office/drawing/2014/main" id="{0158326B-5B57-5A7A-4C5F-BDBA55076CA0}"/>
              </a:ext>
            </a:extLst>
          </p:cNvPr>
          <p:cNvGrpSpPr/>
          <p:nvPr/>
        </p:nvGrpSpPr>
        <p:grpSpPr>
          <a:xfrm>
            <a:off x="6971211" y="1977681"/>
            <a:ext cx="1255977" cy="3942953"/>
            <a:chOff x="6971211" y="1977681"/>
            <a:chExt cx="1255977" cy="3942953"/>
          </a:xfrm>
        </p:grpSpPr>
        <p:sp>
          <p:nvSpPr>
            <p:cNvPr id="19" name="TextBox 18">
              <a:extLst>
                <a:ext uri="{FF2B5EF4-FFF2-40B4-BE49-F238E27FC236}">
                  <a16:creationId xmlns:a16="http://schemas.microsoft.com/office/drawing/2014/main" id="{A8F12030-6EF3-E4EA-3A5B-0A60408D4CBF}"/>
                </a:ext>
              </a:extLst>
            </p:cNvPr>
            <p:cNvSpPr txBox="1"/>
            <p:nvPr/>
          </p:nvSpPr>
          <p:spPr>
            <a:xfrm>
              <a:off x="6971211" y="1977681"/>
              <a:ext cx="1255977"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Market CAGR</a:t>
              </a:r>
              <a:r>
                <a:rPr kumimoji="0" lang="en-CA" sz="1800" b="1" i="0" u="none" strike="noStrike" kern="1200" cap="none" spc="0" normalizeH="0" baseline="0" noProof="0">
                  <a:ln>
                    <a:noFill/>
                  </a:ln>
                  <a:solidFill>
                    <a:srgbClr val="000000"/>
                  </a:solidFill>
                  <a:effectLst/>
                  <a:uLnTx/>
                  <a:uFillTx/>
                  <a:latin typeface="Scotia"/>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(F18 – F23)</a:t>
              </a:r>
            </a:p>
          </p:txBody>
        </p:sp>
        <p:grpSp>
          <p:nvGrpSpPr>
            <p:cNvPr id="152" name="Group 151">
              <a:extLst>
                <a:ext uri="{FF2B5EF4-FFF2-40B4-BE49-F238E27FC236}">
                  <a16:creationId xmlns:a16="http://schemas.microsoft.com/office/drawing/2014/main" id="{1D8FCDCB-856E-D80F-5E4B-46A25A7BB14E}"/>
                </a:ext>
              </a:extLst>
            </p:cNvPr>
            <p:cNvGrpSpPr/>
            <p:nvPr/>
          </p:nvGrpSpPr>
          <p:grpSpPr>
            <a:xfrm>
              <a:off x="7335345" y="2770252"/>
              <a:ext cx="527709" cy="3150382"/>
              <a:chOff x="7313704" y="2770252"/>
              <a:chExt cx="527709" cy="3150382"/>
            </a:xfrm>
          </p:grpSpPr>
          <p:sp>
            <p:nvSpPr>
              <p:cNvPr id="24" name="TextBox 23">
                <a:extLst>
                  <a:ext uri="{FF2B5EF4-FFF2-40B4-BE49-F238E27FC236}">
                    <a16:creationId xmlns:a16="http://schemas.microsoft.com/office/drawing/2014/main" id="{E294D511-FF57-8FA1-68EC-3EF94D2C6732}"/>
                  </a:ext>
                </a:extLst>
              </p:cNvPr>
              <p:cNvSpPr txBox="1"/>
              <p:nvPr/>
            </p:nvSpPr>
            <p:spPr>
              <a:xfrm>
                <a:off x="7338550" y="4578187"/>
                <a:ext cx="47801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000000"/>
                    </a:solidFill>
                    <a:effectLst/>
                    <a:uLnTx/>
                    <a:uFillTx/>
                    <a:latin typeface="Scotia"/>
                    <a:ea typeface="+mn-ea"/>
                    <a:cs typeface="+mn-cs"/>
                  </a:rPr>
                  <a:t>4%</a:t>
                </a:r>
              </a:p>
            </p:txBody>
          </p:sp>
          <p:sp>
            <p:nvSpPr>
              <p:cNvPr id="25" name="TextBox 24">
                <a:extLst>
                  <a:ext uri="{FF2B5EF4-FFF2-40B4-BE49-F238E27FC236}">
                    <a16:creationId xmlns:a16="http://schemas.microsoft.com/office/drawing/2014/main" id="{C04C4520-A3A0-E27A-E411-FEF7F6E45D24}"/>
                  </a:ext>
                </a:extLst>
              </p:cNvPr>
              <p:cNvSpPr txBox="1"/>
              <p:nvPr/>
            </p:nvSpPr>
            <p:spPr>
              <a:xfrm>
                <a:off x="7340955" y="3706881"/>
                <a:ext cx="47320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000000"/>
                    </a:solidFill>
                    <a:effectLst/>
                    <a:uLnTx/>
                    <a:uFillTx/>
                    <a:latin typeface="Scotia"/>
                    <a:ea typeface="+mn-ea"/>
                    <a:cs typeface="+mn-cs"/>
                  </a:rPr>
                  <a:t>7%</a:t>
                </a:r>
              </a:p>
            </p:txBody>
          </p:sp>
          <p:sp>
            <p:nvSpPr>
              <p:cNvPr id="26" name="TextBox 25">
                <a:extLst>
                  <a:ext uri="{FF2B5EF4-FFF2-40B4-BE49-F238E27FC236}">
                    <a16:creationId xmlns:a16="http://schemas.microsoft.com/office/drawing/2014/main" id="{AC0A9614-FB8B-1FD5-A6AA-433744D6B6A6}"/>
                  </a:ext>
                </a:extLst>
              </p:cNvPr>
              <p:cNvSpPr txBox="1"/>
              <p:nvPr/>
            </p:nvSpPr>
            <p:spPr>
              <a:xfrm>
                <a:off x="7337749" y="5582080"/>
                <a:ext cx="47961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000000"/>
                    </a:solidFill>
                    <a:effectLst/>
                    <a:uLnTx/>
                    <a:uFillTx/>
                    <a:latin typeface="Scotia"/>
                    <a:ea typeface="+mn-ea"/>
                    <a:cs typeface="+mn-cs"/>
                  </a:rPr>
                  <a:t>8%</a:t>
                </a:r>
              </a:p>
            </p:txBody>
          </p:sp>
          <p:sp>
            <p:nvSpPr>
              <p:cNvPr id="137" name="TextBox 136">
                <a:extLst>
                  <a:ext uri="{FF2B5EF4-FFF2-40B4-BE49-F238E27FC236}">
                    <a16:creationId xmlns:a16="http://schemas.microsoft.com/office/drawing/2014/main" id="{449DA802-4097-064A-412A-F3A24C05485D}"/>
                  </a:ext>
                </a:extLst>
              </p:cNvPr>
              <p:cNvSpPr txBox="1"/>
              <p:nvPr/>
            </p:nvSpPr>
            <p:spPr>
              <a:xfrm>
                <a:off x="7313704" y="2770252"/>
                <a:ext cx="52770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000000"/>
                    </a:solidFill>
                    <a:effectLst/>
                    <a:uLnTx/>
                    <a:uFillTx/>
                    <a:latin typeface="Scotia"/>
                    <a:ea typeface="+mn-ea"/>
                    <a:cs typeface="+mn-cs"/>
                  </a:rPr>
                  <a:t>11%</a:t>
                </a:r>
              </a:p>
            </p:txBody>
          </p:sp>
        </p:grpSp>
      </p:grpSp>
      <p:grpSp>
        <p:nvGrpSpPr>
          <p:cNvPr id="154" name="Group 153">
            <a:extLst>
              <a:ext uri="{FF2B5EF4-FFF2-40B4-BE49-F238E27FC236}">
                <a16:creationId xmlns:a16="http://schemas.microsoft.com/office/drawing/2014/main" id="{88811D74-5707-A0DF-8ACD-41BA4E3BB0FF}"/>
              </a:ext>
            </a:extLst>
          </p:cNvPr>
          <p:cNvGrpSpPr/>
          <p:nvPr/>
        </p:nvGrpSpPr>
        <p:grpSpPr>
          <a:xfrm>
            <a:off x="8022305" y="1977681"/>
            <a:ext cx="1255977" cy="3942953"/>
            <a:chOff x="8022305" y="1977681"/>
            <a:chExt cx="1255977" cy="3942953"/>
          </a:xfrm>
        </p:grpSpPr>
        <p:sp>
          <p:nvSpPr>
            <p:cNvPr id="20" name="TextBox 19">
              <a:extLst>
                <a:ext uri="{FF2B5EF4-FFF2-40B4-BE49-F238E27FC236}">
                  <a16:creationId xmlns:a16="http://schemas.microsoft.com/office/drawing/2014/main" id="{B7EB1619-0AA8-8997-0CFA-BF70B257135D}"/>
                </a:ext>
              </a:extLst>
            </p:cNvPr>
            <p:cNvSpPr txBox="1"/>
            <p:nvPr/>
          </p:nvSpPr>
          <p:spPr>
            <a:xfrm>
              <a:off x="8022305" y="1977681"/>
              <a:ext cx="1255977"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BNS CAGR</a:t>
              </a:r>
              <a:r>
                <a:rPr kumimoji="0" lang="en-CA" sz="1800" b="1" i="0" u="none" strike="noStrike" kern="1200" cap="none" spc="0" normalizeH="0" baseline="0" noProof="0">
                  <a:ln>
                    <a:noFill/>
                  </a:ln>
                  <a:solidFill>
                    <a:srgbClr val="000000"/>
                  </a:solidFill>
                  <a:effectLst/>
                  <a:uLnTx/>
                  <a:uFillTx/>
                  <a:latin typeface="Scotia"/>
                  <a:ea typeface="+mn-ea"/>
                  <a:cs typeface="+mn-cs"/>
                </a:rPr>
                <a:t> </a:t>
              </a:r>
              <a:br>
                <a:rPr kumimoji="0" lang="en-CA" sz="1800" b="1" i="0" u="none" strike="noStrike" kern="1200" cap="none" spc="0" normalizeH="0" baseline="0" noProof="0">
                  <a:ln>
                    <a:noFill/>
                  </a:ln>
                  <a:solidFill>
                    <a:srgbClr val="000000"/>
                  </a:solidFill>
                  <a:effectLst/>
                  <a:uLnTx/>
                  <a:uFillTx/>
                  <a:latin typeface="Scotia"/>
                  <a:ea typeface="+mn-ea"/>
                  <a:cs typeface="+mn-cs"/>
                </a:rPr>
              </a:br>
              <a:r>
                <a:rPr kumimoji="0" lang="en-CA" sz="1000" b="0" i="0" u="none" strike="noStrike" kern="1200" cap="none" spc="0" normalizeH="0" baseline="0" noProof="0">
                  <a:ln>
                    <a:noFill/>
                  </a:ln>
                  <a:solidFill>
                    <a:srgbClr val="000000"/>
                  </a:solidFill>
                  <a:effectLst/>
                  <a:uLnTx/>
                  <a:uFillTx/>
                  <a:latin typeface="Scotia"/>
                  <a:ea typeface="+mn-ea"/>
                  <a:cs typeface="+mn-cs"/>
                </a:rPr>
                <a:t>(F18 – F23)</a:t>
              </a:r>
            </a:p>
          </p:txBody>
        </p:sp>
        <p:grpSp>
          <p:nvGrpSpPr>
            <p:cNvPr id="153" name="Group 152">
              <a:extLst>
                <a:ext uri="{FF2B5EF4-FFF2-40B4-BE49-F238E27FC236}">
                  <a16:creationId xmlns:a16="http://schemas.microsoft.com/office/drawing/2014/main" id="{5B292100-A6F0-1E95-F8C7-24BA726F6CDA}"/>
                </a:ext>
              </a:extLst>
            </p:cNvPr>
            <p:cNvGrpSpPr/>
            <p:nvPr/>
          </p:nvGrpSpPr>
          <p:grpSpPr>
            <a:xfrm>
              <a:off x="8372813" y="2770252"/>
              <a:ext cx="554960" cy="3150382"/>
              <a:chOff x="8349570" y="2770252"/>
              <a:chExt cx="554960" cy="3150382"/>
            </a:xfrm>
          </p:grpSpPr>
          <p:sp>
            <p:nvSpPr>
              <p:cNvPr id="27" name="TextBox 26">
                <a:extLst>
                  <a:ext uri="{FF2B5EF4-FFF2-40B4-BE49-F238E27FC236}">
                    <a16:creationId xmlns:a16="http://schemas.microsoft.com/office/drawing/2014/main" id="{1DFCF881-CA15-FCDB-106F-9B9934C3EF40}"/>
                  </a:ext>
                </a:extLst>
              </p:cNvPr>
              <p:cNvSpPr txBox="1"/>
              <p:nvPr/>
            </p:nvSpPr>
            <p:spPr>
              <a:xfrm>
                <a:off x="8392050" y="4576731"/>
                <a:ext cx="47000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EC111A"/>
                    </a:solidFill>
                    <a:effectLst/>
                    <a:uLnTx/>
                    <a:uFillTx/>
                    <a:latin typeface="Scotia"/>
                    <a:ea typeface="+mn-ea"/>
                    <a:cs typeface="+mn-cs"/>
                  </a:rPr>
                  <a:t>5%</a:t>
                </a:r>
              </a:p>
            </p:txBody>
          </p:sp>
          <p:sp>
            <p:nvSpPr>
              <p:cNvPr id="28" name="TextBox 27">
                <a:extLst>
                  <a:ext uri="{FF2B5EF4-FFF2-40B4-BE49-F238E27FC236}">
                    <a16:creationId xmlns:a16="http://schemas.microsoft.com/office/drawing/2014/main" id="{E2AA2B59-B3A3-3F6B-8FD9-85DBE3CF45C9}"/>
                  </a:ext>
                </a:extLst>
              </p:cNvPr>
              <p:cNvSpPr txBox="1"/>
              <p:nvPr/>
            </p:nvSpPr>
            <p:spPr>
              <a:xfrm>
                <a:off x="8385638" y="3706881"/>
                <a:ext cx="48282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EC111A"/>
                    </a:solidFill>
                    <a:effectLst/>
                    <a:uLnTx/>
                    <a:uFillTx/>
                    <a:latin typeface="Scotia"/>
                    <a:ea typeface="+mn-ea"/>
                    <a:cs typeface="+mn-cs"/>
                  </a:rPr>
                  <a:t>9%</a:t>
                </a:r>
              </a:p>
            </p:txBody>
          </p:sp>
          <p:sp>
            <p:nvSpPr>
              <p:cNvPr id="29" name="TextBox 28">
                <a:extLst>
                  <a:ext uri="{FF2B5EF4-FFF2-40B4-BE49-F238E27FC236}">
                    <a16:creationId xmlns:a16="http://schemas.microsoft.com/office/drawing/2014/main" id="{88DEA0AC-6B3B-0540-1DE4-9E7989BA12F4}"/>
                  </a:ext>
                </a:extLst>
              </p:cNvPr>
              <p:cNvSpPr txBox="1"/>
              <p:nvPr/>
            </p:nvSpPr>
            <p:spPr>
              <a:xfrm>
                <a:off x="8349570" y="5582080"/>
                <a:ext cx="55496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EC111A"/>
                    </a:solidFill>
                    <a:effectLst/>
                    <a:uLnTx/>
                    <a:uFillTx/>
                    <a:latin typeface="Scotia"/>
                    <a:ea typeface="+mn-ea"/>
                    <a:cs typeface="+mn-cs"/>
                  </a:rPr>
                  <a:t>12%</a:t>
                </a:r>
              </a:p>
            </p:txBody>
          </p:sp>
          <p:sp>
            <p:nvSpPr>
              <p:cNvPr id="138" name="TextBox 137">
                <a:extLst>
                  <a:ext uri="{FF2B5EF4-FFF2-40B4-BE49-F238E27FC236}">
                    <a16:creationId xmlns:a16="http://schemas.microsoft.com/office/drawing/2014/main" id="{B41BC3A0-BCA9-D884-5ED4-EE2CB3990E65}"/>
                  </a:ext>
                </a:extLst>
              </p:cNvPr>
              <p:cNvSpPr txBox="1"/>
              <p:nvPr/>
            </p:nvSpPr>
            <p:spPr>
              <a:xfrm>
                <a:off x="8350372" y="2770252"/>
                <a:ext cx="55335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a:ln>
                      <a:noFill/>
                    </a:ln>
                    <a:solidFill>
                      <a:srgbClr val="EC111A"/>
                    </a:solidFill>
                    <a:effectLst/>
                    <a:uLnTx/>
                    <a:uFillTx/>
                    <a:latin typeface="Scotia"/>
                    <a:ea typeface="+mn-ea"/>
                    <a:cs typeface="+mn-cs"/>
                  </a:rPr>
                  <a:t>15%</a:t>
                </a:r>
              </a:p>
            </p:txBody>
          </p:sp>
        </p:grpSp>
      </p:grpSp>
      <p:sp>
        <p:nvSpPr>
          <p:cNvPr id="177" name="TextBox 176">
            <a:extLst>
              <a:ext uri="{FF2B5EF4-FFF2-40B4-BE49-F238E27FC236}">
                <a16:creationId xmlns:a16="http://schemas.microsoft.com/office/drawing/2014/main" id="{8CD17A6A-E2C3-A5A4-8307-A8D3BD1B0CC6}"/>
              </a:ext>
            </a:extLst>
          </p:cNvPr>
          <p:cNvSpPr txBox="1"/>
          <p:nvPr/>
        </p:nvSpPr>
        <p:spPr>
          <a:xfrm>
            <a:off x="6393079" y="2257136"/>
            <a:ext cx="457200" cy="24622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0" normalizeH="0" baseline="0" noProof="0">
                <a:ln>
                  <a:noFill/>
                </a:ln>
                <a:solidFill>
                  <a:srgbClr val="000000"/>
                </a:solidFill>
                <a:effectLst/>
                <a:uLnTx/>
                <a:uFillTx/>
                <a:latin typeface="Scotia"/>
                <a:ea typeface="+mn-ea"/>
                <a:cs typeface="+mn-cs"/>
              </a:rPr>
              <a:t>6</a:t>
            </a:r>
            <a:r>
              <a:rPr kumimoji="0" lang="en-CA" sz="1000" b="1" i="0" u="none" strike="noStrike" kern="1200" cap="none" spc="0" normalizeH="0" baseline="30000" noProof="0">
                <a:ln>
                  <a:noFill/>
                </a:ln>
                <a:solidFill>
                  <a:srgbClr val="000000"/>
                </a:solidFill>
                <a:effectLst/>
                <a:uLnTx/>
                <a:uFillTx/>
                <a:latin typeface="Scotia"/>
                <a:ea typeface="+mn-ea"/>
                <a:cs typeface="+mn-cs"/>
              </a:rPr>
              <a:t>TH</a:t>
            </a:r>
            <a:r>
              <a:rPr kumimoji="0" lang="en-CA" sz="1000" b="1" i="0" u="none" strike="noStrike" kern="1200" cap="none" spc="0" normalizeH="0" baseline="0" noProof="0">
                <a:ln>
                  <a:noFill/>
                </a:ln>
                <a:solidFill>
                  <a:srgbClr val="000000"/>
                </a:solidFill>
                <a:effectLst/>
                <a:uLnTx/>
                <a:uFillTx/>
                <a:latin typeface="Scotia"/>
                <a:ea typeface="+mn-ea"/>
                <a:cs typeface="+mn-cs"/>
              </a:rPr>
              <a:t> </a:t>
            </a:r>
          </a:p>
        </p:txBody>
      </p:sp>
      <p:grpSp>
        <p:nvGrpSpPr>
          <p:cNvPr id="150" name="Group 149">
            <a:extLst>
              <a:ext uri="{FF2B5EF4-FFF2-40B4-BE49-F238E27FC236}">
                <a16:creationId xmlns:a16="http://schemas.microsoft.com/office/drawing/2014/main" id="{6B5F14DC-C353-71D4-EB1B-4A9637BA9D23}"/>
              </a:ext>
            </a:extLst>
          </p:cNvPr>
          <p:cNvGrpSpPr/>
          <p:nvPr/>
        </p:nvGrpSpPr>
        <p:grpSpPr>
          <a:xfrm>
            <a:off x="2454063" y="4536302"/>
            <a:ext cx="4303638" cy="559143"/>
            <a:chOff x="2454063" y="4531157"/>
            <a:chExt cx="4303638" cy="559143"/>
          </a:xfrm>
        </p:grpSpPr>
        <p:cxnSp>
          <p:nvCxnSpPr>
            <p:cNvPr id="31" name="Straight Connector 30">
              <a:extLst>
                <a:ext uri="{FF2B5EF4-FFF2-40B4-BE49-F238E27FC236}">
                  <a16:creationId xmlns:a16="http://schemas.microsoft.com/office/drawing/2014/main" id="{F6FADB68-3FB5-9B25-A9A1-91C89394EEE9}"/>
                </a:ext>
              </a:extLst>
            </p:cNvPr>
            <p:cNvCxnSpPr>
              <a:cxnSpLocks/>
            </p:cNvCxnSpPr>
            <p:nvPr/>
          </p:nvCxnSpPr>
          <p:spPr>
            <a:xfrm flipV="1">
              <a:off x="2454063" y="4678267"/>
              <a:ext cx="4133088" cy="35"/>
            </a:xfrm>
            <a:prstGeom prst="line">
              <a:avLst/>
            </a:prstGeom>
            <a:ln w="19050">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42" name="Group 141">
              <a:extLst>
                <a:ext uri="{FF2B5EF4-FFF2-40B4-BE49-F238E27FC236}">
                  <a16:creationId xmlns:a16="http://schemas.microsoft.com/office/drawing/2014/main" id="{37547A21-EF02-00F3-3540-937C7BED06E8}"/>
                </a:ext>
              </a:extLst>
            </p:cNvPr>
            <p:cNvGrpSpPr/>
            <p:nvPr/>
          </p:nvGrpSpPr>
          <p:grpSpPr>
            <a:xfrm>
              <a:off x="2476068" y="4531157"/>
              <a:ext cx="409086" cy="559143"/>
              <a:chOff x="2476068" y="4531157"/>
              <a:chExt cx="409086" cy="559143"/>
            </a:xfrm>
          </p:grpSpPr>
          <p:sp>
            <p:nvSpPr>
              <p:cNvPr id="56" name="TextBox 55">
                <a:extLst>
                  <a:ext uri="{FF2B5EF4-FFF2-40B4-BE49-F238E27FC236}">
                    <a16:creationId xmlns:a16="http://schemas.microsoft.com/office/drawing/2014/main" id="{0C025B6D-20AC-FEF1-25BA-924A0A1AADCB}"/>
                  </a:ext>
                </a:extLst>
              </p:cNvPr>
              <p:cNvSpPr txBox="1"/>
              <p:nvPr/>
            </p:nvSpPr>
            <p:spPr>
              <a:xfrm>
                <a:off x="2476068" y="4859468"/>
                <a:ext cx="40908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23%</a:t>
                </a:r>
              </a:p>
            </p:txBody>
          </p:sp>
          <p:grpSp>
            <p:nvGrpSpPr>
              <p:cNvPr id="90" name="Group 89">
                <a:extLst>
                  <a:ext uri="{FF2B5EF4-FFF2-40B4-BE49-F238E27FC236}">
                    <a16:creationId xmlns:a16="http://schemas.microsoft.com/office/drawing/2014/main" id="{B4ADAB83-2732-CB15-4CB6-927E18C597B1}"/>
                  </a:ext>
                </a:extLst>
              </p:cNvPr>
              <p:cNvGrpSpPr/>
              <p:nvPr/>
            </p:nvGrpSpPr>
            <p:grpSpPr>
              <a:xfrm>
                <a:off x="2557580" y="4531157"/>
                <a:ext cx="246063" cy="246133"/>
                <a:chOff x="3656155" y="165955"/>
                <a:chExt cx="355974" cy="355974"/>
              </a:xfrm>
            </p:grpSpPr>
            <p:sp>
              <p:nvSpPr>
                <p:cNvPr id="91" name="Oval 90">
                  <a:extLst>
                    <a:ext uri="{FF2B5EF4-FFF2-40B4-BE49-F238E27FC236}">
                      <a16:creationId xmlns:a16="http://schemas.microsoft.com/office/drawing/2014/main" id="{48E43A5D-4F32-6790-AADD-A4816354FDF3}"/>
                    </a:ext>
                  </a:extLst>
                </p:cNvPr>
                <p:cNvSpPr/>
                <p:nvPr/>
              </p:nvSpPr>
              <p:spPr>
                <a:xfrm>
                  <a:off x="3656155"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grpSp>
              <p:nvGrpSpPr>
                <p:cNvPr id="92" name="Group 91">
                  <a:extLst>
                    <a:ext uri="{FF2B5EF4-FFF2-40B4-BE49-F238E27FC236}">
                      <a16:creationId xmlns:a16="http://schemas.microsoft.com/office/drawing/2014/main" id="{570D0BCD-1459-50F3-782D-1D07004C0AAC}"/>
                    </a:ext>
                  </a:extLst>
                </p:cNvPr>
                <p:cNvGrpSpPr/>
                <p:nvPr/>
              </p:nvGrpSpPr>
              <p:grpSpPr>
                <a:xfrm>
                  <a:off x="3712895" y="221713"/>
                  <a:ext cx="242496" cy="244442"/>
                  <a:chOff x="3995658" y="4815757"/>
                  <a:chExt cx="658670" cy="663962"/>
                </a:xfrm>
                <a:solidFill>
                  <a:schemeClr val="bg1">
                    <a:lumMod val="65000"/>
                  </a:schemeClr>
                </a:solidFill>
              </p:grpSpPr>
              <p:sp>
                <p:nvSpPr>
                  <p:cNvPr id="93" name="Freeform 21">
                    <a:extLst>
                      <a:ext uri="{FF2B5EF4-FFF2-40B4-BE49-F238E27FC236}">
                        <a16:creationId xmlns:a16="http://schemas.microsoft.com/office/drawing/2014/main" id="{9A23EA84-6913-7859-44B6-4B5D4426FA88}"/>
                      </a:ext>
                    </a:extLst>
                  </p:cNvPr>
                  <p:cNvSpPr>
                    <a:spLocks/>
                  </p:cNvSpPr>
                  <p:nvPr/>
                </p:nvSpPr>
                <p:spPr bwMode="auto">
                  <a:xfrm>
                    <a:off x="3995658" y="5130389"/>
                    <a:ext cx="305223" cy="337568"/>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94" name="Freeform 22">
                    <a:extLst>
                      <a:ext uri="{FF2B5EF4-FFF2-40B4-BE49-F238E27FC236}">
                        <a16:creationId xmlns:a16="http://schemas.microsoft.com/office/drawing/2014/main" id="{82CB7694-217D-A0F6-A035-9957B430E4D6}"/>
                      </a:ext>
                    </a:extLst>
                  </p:cNvPr>
                  <p:cNvSpPr>
                    <a:spLocks noEditPoints="1"/>
                  </p:cNvSpPr>
                  <p:nvPr/>
                </p:nvSpPr>
                <p:spPr bwMode="auto">
                  <a:xfrm>
                    <a:off x="3999186" y="4815757"/>
                    <a:ext cx="655142" cy="663962"/>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grpSp>
        <p:grpSp>
          <p:nvGrpSpPr>
            <p:cNvPr id="143" name="Group 142">
              <a:extLst>
                <a:ext uri="{FF2B5EF4-FFF2-40B4-BE49-F238E27FC236}">
                  <a16:creationId xmlns:a16="http://schemas.microsoft.com/office/drawing/2014/main" id="{F715A621-F605-42F6-CE41-AFC128453CAF}"/>
                </a:ext>
              </a:extLst>
            </p:cNvPr>
            <p:cNvGrpSpPr/>
            <p:nvPr/>
          </p:nvGrpSpPr>
          <p:grpSpPr>
            <a:xfrm>
              <a:off x="3278790" y="4531157"/>
              <a:ext cx="399468" cy="559143"/>
              <a:chOff x="3278790" y="4531157"/>
              <a:chExt cx="399468" cy="559143"/>
            </a:xfrm>
          </p:grpSpPr>
          <p:sp>
            <p:nvSpPr>
              <p:cNvPr id="57" name="TextBox 56">
                <a:extLst>
                  <a:ext uri="{FF2B5EF4-FFF2-40B4-BE49-F238E27FC236}">
                    <a16:creationId xmlns:a16="http://schemas.microsoft.com/office/drawing/2014/main" id="{2EF9AF0E-F5C3-9B2E-C74C-A92FB70824CD}"/>
                  </a:ext>
                </a:extLst>
              </p:cNvPr>
              <p:cNvSpPr txBox="1"/>
              <p:nvPr/>
            </p:nvSpPr>
            <p:spPr>
              <a:xfrm>
                <a:off x="3278790" y="4859468"/>
                <a:ext cx="399468"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16%</a:t>
                </a:r>
              </a:p>
            </p:txBody>
          </p:sp>
          <p:grpSp>
            <p:nvGrpSpPr>
              <p:cNvPr id="95" name="Group 94">
                <a:extLst>
                  <a:ext uri="{FF2B5EF4-FFF2-40B4-BE49-F238E27FC236}">
                    <a16:creationId xmlns:a16="http://schemas.microsoft.com/office/drawing/2014/main" id="{E1B2168C-DCC7-0C29-4BFA-72E34D573909}"/>
                  </a:ext>
                </a:extLst>
              </p:cNvPr>
              <p:cNvGrpSpPr/>
              <p:nvPr/>
            </p:nvGrpSpPr>
            <p:grpSpPr>
              <a:xfrm>
                <a:off x="3355582" y="4531157"/>
                <a:ext cx="245885" cy="246133"/>
                <a:chOff x="3136450" y="165955"/>
                <a:chExt cx="355974" cy="355974"/>
              </a:xfrm>
            </p:grpSpPr>
            <p:sp>
              <p:nvSpPr>
                <p:cNvPr id="96" name="Oval 95">
                  <a:extLst>
                    <a:ext uri="{FF2B5EF4-FFF2-40B4-BE49-F238E27FC236}">
                      <a16:creationId xmlns:a16="http://schemas.microsoft.com/office/drawing/2014/main" id="{5409082C-5FF0-1D53-A17A-1D93BC1CCE60}"/>
                    </a:ext>
                  </a:extLst>
                </p:cNvPr>
                <p:cNvSpPr/>
                <p:nvPr/>
              </p:nvSpPr>
              <p:spPr>
                <a:xfrm>
                  <a:off x="3136450"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97" name="Freeform 50">
                  <a:extLst>
                    <a:ext uri="{FF2B5EF4-FFF2-40B4-BE49-F238E27FC236}">
                      <a16:creationId xmlns:a16="http://schemas.microsoft.com/office/drawing/2014/main" id="{CC44452A-4C77-03B3-DD89-EC2FF9363DC2}"/>
                    </a:ext>
                  </a:extLst>
                </p:cNvPr>
                <p:cNvSpPr>
                  <a:spLocks noEditPoints="1"/>
                </p:cNvSpPr>
                <p:nvPr/>
              </p:nvSpPr>
              <p:spPr bwMode="auto">
                <a:xfrm>
                  <a:off x="3221400" y="246998"/>
                  <a:ext cx="186075" cy="193887"/>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lumMod val="6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grpSp>
          <p:nvGrpSpPr>
            <p:cNvPr id="144" name="Group 143">
              <a:extLst>
                <a:ext uri="{FF2B5EF4-FFF2-40B4-BE49-F238E27FC236}">
                  <a16:creationId xmlns:a16="http://schemas.microsoft.com/office/drawing/2014/main" id="{6B07BE72-4B3D-EC9F-8EF5-3380E9E8132E}"/>
                </a:ext>
              </a:extLst>
            </p:cNvPr>
            <p:cNvGrpSpPr/>
            <p:nvPr/>
          </p:nvGrpSpPr>
          <p:grpSpPr>
            <a:xfrm>
              <a:off x="4071894" y="4531157"/>
              <a:ext cx="396262" cy="559143"/>
              <a:chOff x="4071894" y="4531157"/>
              <a:chExt cx="396262" cy="559143"/>
            </a:xfrm>
          </p:grpSpPr>
          <p:sp>
            <p:nvSpPr>
              <p:cNvPr id="58" name="TextBox 57">
                <a:extLst>
                  <a:ext uri="{FF2B5EF4-FFF2-40B4-BE49-F238E27FC236}">
                    <a16:creationId xmlns:a16="http://schemas.microsoft.com/office/drawing/2014/main" id="{283A19DA-2B93-66FE-1DA8-F707015DB143}"/>
                  </a:ext>
                </a:extLst>
              </p:cNvPr>
              <p:cNvSpPr txBox="1"/>
              <p:nvPr/>
            </p:nvSpPr>
            <p:spPr>
              <a:xfrm>
                <a:off x="4071894" y="4859468"/>
                <a:ext cx="39626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14%</a:t>
                </a:r>
              </a:p>
            </p:txBody>
          </p:sp>
          <p:grpSp>
            <p:nvGrpSpPr>
              <p:cNvPr id="98" name="Group 97">
                <a:extLst>
                  <a:ext uri="{FF2B5EF4-FFF2-40B4-BE49-F238E27FC236}">
                    <a16:creationId xmlns:a16="http://schemas.microsoft.com/office/drawing/2014/main" id="{670A8E77-81E8-D14B-0050-F58B97B21900}"/>
                  </a:ext>
                </a:extLst>
              </p:cNvPr>
              <p:cNvGrpSpPr/>
              <p:nvPr/>
            </p:nvGrpSpPr>
            <p:grpSpPr>
              <a:xfrm>
                <a:off x="4147083" y="4531157"/>
                <a:ext cx="245885" cy="246133"/>
                <a:chOff x="3964936" y="5578036"/>
                <a:chExt cx="355974" cy="355974"/>
              </a:xfrm>
            </p:grpSpPr>
            <p:sp>
              <p:nvSpPr>
                <p:cNvPr id="99" name="Oval 98">
                  <a:extLst>
                    <a:ext uri="{FF2B5EF4-FFF2-40B4-BE49-F238E27FC236}">
                      <a16:creationId xmlns:a16="http://schemas.microsoft.com/office/drawing/2014/main" id="{29CC9189-C41F-65C5-FC3A-65A7194DC070}"/>
                    </a:ext>
                  </a:extLst>
                </p:cNvPr>
                <p:cNvSpPr/>
                <p:nvPr/>
              </p:nvSpPr>
              <p:spPr>
                <a:xfrm>
                  <a:off x="3964936" y="5578036"/>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100" name="Freeform 16">
                  <a:extLst>
                    <a:ext uri="{FF2B5EF4-FFF2-40B4-BE49-F238E27FC236}">
                      <a16:creationId xmlns:a16="http://schemas.microsoft.com/office/drawing/2014/main" id="{3FB3B2C0-4AA4-FDD4-F9E5-23129A234807}"/>
                    </a:ext>
                  </a:extLst>
                </p:cNvPr>
                <p:cNvSpPr>
                  <a:spLocks/>
                </p:cNvSpPr>
                <p:nvPr/>
              </p:nvSpPr>
              <p:spPr bwMode="auto">
                <a:xfrm>
                  <a:off x="4024624" y="5677433"/>
                  <a:ext cx="236597" cy="157181"/>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grpSp>
          <p:nvGrpSpPr>
            <p:cNvPr id="145" name="Group 144">
              <a:extLst>
                <a:ext uri="{FF2B5EF4-FFF2-40B4-BE49-F238E27FC236}">
                  <a16:creationId xmlns:a16="http://schemas.microsoft.com/office/drawing/2014/main" id="{42B7BDB6-E062-3DBB-1D5A-AB625694B7B0}"/>
                </a:ext>
              </a:extLst>
            </p:cNvPr>
            <p:cNvGrpSpPr/>
            <p:nvPr/>
          </p:nvGrpSpPr>
          <p:grpSpPr>
            <a:xfrm>
              <a:off x="4861792" y="4531157"/>
              <a:ext cx="377026" cy="559143"/>
              <a:chOff x="4861792" y="4531157"/>
              <a:chExt cx="377026" cy="559143"/>
            </a:xfrm>
          </p:grpSpPr>
          <p:sp>
            <p:nvSpPr>
              <p:cNvPr id="60" name="TextBox 59">
                <a:extLst>
                  <a:ext uri="{FF2B5EF4-FFF2-40B4-BE49-F238E27FC236}">
                    <a16:creationId xmlns:a16="http://schemas.microsoft.com/office/drawing/2014/main" id="{38C47CF5-6161-7B88-E0D8-0EE436E19C7A}"/>
                  </a:ext>
                </a:extLst>
              </p:cNvPr>
              <p:cNvSpPr txBox="1"/>
              <p:nvPr/>
            </p:nvSpPr>
            <p:spPr>
              <a:xfrm>
                <a:off x="4861792" y="4859468"/>
                <a:ext cx="37702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11%</a:t>
                </a:r>
              </a:p>
            </p:txBody>
          </p:sp>
          <p:grpSp>
            <p:nvGrpSpPr>
              <p:cNvPr id="174" name="Group 173">
                <a:extLst>
                  <a:ext uri="{FF2B5EF4-FFF2-40B4-BE49-F238E27FC236}">
                    <a16:creationId xmlns:a16="http://schemas.microsoft.com/office/drawing/2014/main" id="{6E95D4D0-6A98-82FE-37DB-BE684F6D5303}"/>
                  </a:ext>
                </a:extLst>
              </p:cNvPr>
              <p:cNvGrpSpPr/>
              <p:nvPr/>
            </p:nvGrpSpPr>
            <p:grpSpPr>
              <a:xfrm>
                <a:off x="4927274" y="4531157"/>
                <a:ext cx="246063" cy="247650"/>
                <a:chOff x="6237725" y="3504851"/>
                <a:chExt cx="223532" cy="223757"/>
              </a:xfrm>
            </p:grpSpPr>
            <p:sp>
              <p:nvSpPr>
                <p:cNvPr id="175" name="Oval 174">
                  <a:extLst>
                    <a:ext uri="{FF2B5EF4-FFF2-40B4-BE49-F238E27FC236}">
                      <a16:creationId xmlns:a16="http://schemas.microsoft.com/office/drawing/2014/main" id="{74A9B333-6214-4A67-E7BE-E68F7763DAF2}"/>
                    </a:ext>
                  </a:extLst>
                </p:cNvPr>
                <p:cNvSpPr/>
                <p:nvPr/>
              </p:nvSpPr>
              <p:spPr>
                <a:xfrm>
                  <a:off x="6237725" y="3504851"/>
                  <a:ext cx="223532" cy="223757"/>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176" name="Picture 2" descr="Desjardins Group Logo &amp; Brand Assets (SVG, PNG and vector) - Brandfetch">
                  <a:extLst>
                    <a:ext uri="{FF2B5EF4-FFF2-40B4-BE49-F238E27FC236}">
                      <a16:creationId xmlns:a16="http://schemas.microsoft.com/office/drawing/2014/main" id="{7CA9B462-DC63-5A29-D582-08D905478FFB}"/>
                    </a:ext>
                  </a:extLst>
                </p:cNvPr>
                <p:cNvPicPr>
                  <a:picLocks noChangeAspect="1" noChangeArrowheads="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289527" y="3547853"/>
                  <a:ext cx="119928" cy="137752"/>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46" name="Group 145">
              <a:extLst>
                <a:ext uri="{FF2B5EF4-FFF2-40B4-BE49-F238E27FC236}">
                  <a16:creationId xmlns:a16="http://schemas.microsoft.com/office/drawing/2014/main" id="{6BB63461-FA34-45E1-7102-6C1B8B3B13F0}"/>
                </a:ext>
              </a:extLst>
            </p:cNvPr>
            <p:cNvGrpSpPr/>
            <p:nvPr/>
          </p:nvGrpSpPr>
          <p:grpSpPr>
            <a:xfrm>
              <a:off x="5632454" y="4531157"/>
              <a:ext cx="377026" cy="559143"/>
              <a:chOff x="5632454" y="4531157"/>
              <a:chExt cx="377026" cy="559143"/>
            </a:xfrm>
          </p:grpSpPr>
          <p:sp>
            <p:nvSpPr>
              <p:cNvPr id="167" name="TextBox 166">
                <a:extLst>
                  <a:ext uri="{FF2B5EF4-FFF2-40B4-BE49-F238E27FC236}">
                    <a16:creationId xmlns:a16="http://schemas.microsoft.com/office/drawing/2014/main" id="{C0226C44-73C4-9E04-C863-86F36C8FEEDE}"/>
                  </a:ext>
                </a:extLst>
              </p:cNvPr>
              <p:cNvSpPr txBox="1"/>
              <p:nvPr/>
            </p:nvSpPr>
            <p:spPr>
              <a:xfrm>
                <a:off x="5632454" y="4859468"/>
                <a:ext cx="37702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11%</a:t>
                </a:r>
              </a:p>
            </p:txBody>
          </p:sp>
          <p:grpSp>
            <p:nvGrpSpPr>
              <p:cNvPr id="168" name="Group 167">
                <a:extLst>
                  <a:ext uri="{FF2B5EF4-FFF2-40B4-BE49-F238E27FC236}">
                    <a16:creationId xmlns:a16="http://schemas.microsoft.com/office/drawing/2014/main" id="{7C26950D-C851-9F10-3FD0-301E28CBB140}"/>
                  </a:ext>
                </a:extLst>
              </p:cNvPr>
              <p:cNvGrpSpPr/>
              <p:nvPr/>
            </p:nvGrpSpPr>
            <p:grpSpPr>
              <a:xfrm>
                <a:off x="5697936" y="4531157"/>
                <a:ext cx="246063" cy="246063"/>
                <a:chOff x="3956206" y="357635"/>
                <a:chExt cx="863600" cy="862013"/>
              </a:xfrm>
            </p:grpSpPr>
            <p:sp>
              <p:nvSpPr>
                <p:cNvPr id="169" name="Oval 168">
                  <a:extLst>
                    <a:ext uri="{FF2B5EF4-FFF2-40B4-BE49-F238E27FC236}">
                      <a16:creationId xmlns:a16="http://schemas.microsoft.com/office/drawing/2014/main" id="{B9F3C359-5AB3-398C-22E8-2A98CDA477A5}"/>
                    </a:ext>
                  </a:extLst>
                </p:cNvPr>
                <p:cNvSpPr/>
                <p:nvPr/>
              </p:nvSpPr>
              <p:spPr>
                <a:xfrm>
                  <a:off x="3956206" y="357635"/>
                  <a:ext cx="863600" cy="862013"/>
                </a:xfrm>
                <a:prstGeom prst="ellipse">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nvGrpSpPr>
                <p:cNvPr id="170" name="Group 169">
                  <a:extLst>
                    <a:ext uri="{FF2B5EF4-FFF2-40B4-BE49-F238E27FC236}">
                      <a16:creationId xmlns:a16="http://schemas.microsoft.com/office/drawing/2014/main" id="{5BC817EB-D08F-0D59-62F6-D23C0213903D}"/>
                    </a:ext>
                  </a:extLst>
                </p:cNvPr>
                <p:cNvGrpSpPr/>
                <p:nvPr/>
              </p:nvGrpSpPr>
              <p:grpSpPr>
                <a:xfrm>
                  <a:off x="4109346" y="521528"/>
                  <a:ext cx="557321" cy="519481"/>
                  <a:chOff x="4952132" y="652822"/>
                  <a:chExt cx="548633" cy="511384"/>
                </a:xfrm>
                <a:solidFill>
                  <a:srgbClr val="A6A6A6"/>
                </a:solidFill>
              </p:grpSpPr>
              <p:sp>
                <p:nvSpPr>
                  <p:cNvPr id="171" name="Rectangle 77">
                    <a:extLst>
                      <a:ext uri="{FF2B5EF4-FFF2-40B4-BE49-F238E27FC236}">
                        <a16:creationId xmlns:a16="http://schemas.microsoft.com/office/drawing/2014/main" id="{D0AA22A6-83E5-70DA-F4C0-91D398FDAD83}"/>
                      </a:ext>
                    </a:extLst>
                  </p:cNvPr>
                  <p:cNvSpPr/>
                  <p:nvPr/>
                </p:nvSpPr>
                <p:spPr>
                  <a:xfrm>
                    <a:off x="4952132" y="652822"/>
                    <a:ext cx="225891" cy="445835"/>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5800"/>
                      <a:gd name="connsiteY0" fmla="*/ 2792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7927 h 189077"/>
                      <a:gd name="connsiteX0" fmla="*/ 0 w 95800"/>
                      <a:gd name="connsiteY0" fmla="*/ 2489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4897 h 189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00" h="189077">
                        <a:moveTo>
                          <a:pt x="0" y="24897"/>
                        </a:moveTo>
                        <a:lnTo>
                          <a:pt x="95800" y="0"/>
                        </a:lnTo>
                        <a:lnTo>
                          <a:pt x="90676" y="165264"/>
                        </a:lnTo>
                        <a:lnTo>
                          <a:pt x="0" y="189077"/>
                        </a:lnTo>
                        <a:lnTo>
                          <a:pt x="0" y="2489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172" name="Rectangle 77">
                    <a:extLst>
                      <a:ext uri="{FF2B5EF4-FFF2-40B4-BE49-F238E27FC236}">
                        <a16:creationId xmlns:a16="http://schemas.microsoft.com/office/drawing/2014/main" id="{6A5D7EE7-25D0-58E1-843A-704512CC02C3}"/>
                      </a:ext>
                    </a:extLst>
                  </p:cNvPr>
                  <p:cNvSpPr/>
                  <p:nvPr/>
                </p:nvSpPr>
                <p:spPr>
                  <a:xfrm>
                    <a:off x="5267729" y="701703"/>
                    <a:ext cx="233036" cy="462503"/>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6735 w 97820"/>
                      <a:gd name="connsiteY2" fmla="*/ 169303 h 192106"/>
                      <a:gd name="connsiteX3" fmla="*/ 0 w 97820"/>
                      <a:gd name="connsiteY3" fmla="*/ 192106 h 192106"/>
                      <a:gd name="connsiteX4" fmla="*/ 0 w 97820"/>
                      <a:gd name="connsiteY4" fmla="*/ 30956 h 192106"/>
                      <a:gd name="connsiteX0" fmla="*/ 1010 w 98830"/>
                      <a:gd name="connsiteY0" fmla="*/ 30956 h 196146"/>
                      <a:gd name="connsiteX1" fmla="*/ 98830 w 98830"/>
                      <a:gd name="connsiteY1" fmla="*/ 0 h 196146"/>
                      <a:gd name="connsiteX2" fmla="*/ 97745 w 98830"/>
                      <a:gd name="connsiteY2" fmla="*/ 169303 h 196146"/>
                      <a:gd name="connsiteX3" fmla="*/ 0 w 98830"/>
                      <a:gd name="connsiteY3" fmla="*/ 196146 h 196146"/>
                      <a:gd name="connsiteX4" fmla="*/ 1010 w 98830"/>
                      <a:gd name="connsiteY4" fmla="*/ 30956 h 19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30" h="196146">
                        <a:moveTo>
                          <a:pt x="1010" y="30956"/>
                        </a:moveTo>
                        <a:lnTo>
                          <a:pt x="98830" y="0"/>
                        </a:lnTo>
                        <a:cubicBezTo>
                          <a:pt x="98468" y="56434"/>
                          <a:pt x="98107" y="112869"/>
                          <a:pt x="97745" y="169303"/>
                        </a:cubicBezTo>
                        <a:lnTo>
                          <a:pt x="0" y="196146"/>
                        </a:lnTo>
                        <a:cubicBezTo>
                          <a:pt x="337" y="141083"/>
                          <a:pt x="673" y="86019"/>
                          <a:pt x="1010" y="3095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173" name="Rectangle 77">
                    <a:extLst>
                      <a:ext uri="{FF2B5EF4-FFF2-40B4-BE49-F238E27FC236}">
                        <a16:creationId xmlns:a16="http://schemas.microsoft.com/office/drawing/2014/main" id="{EDDF9C1C-CD2B-65AC-9404-74387E5DB996}"/>
                      </a:ext>
                    </a:extLst>
                  </p:cNvPr>
                  <p:cNvSpPr/>
                  <p:nvPr/>
                </p:nvSpPr>
                <p:spPr>
                  <a:xfrm>
                    <a:off x="5163482" y="652823"/>
                    <a:ext cx="109685" cy="507422"/>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70674 h 192106"/>
                      <a:gd name="connsiteX3" fmla="*/ 0 w 97820"/>
                      <a:gd name="connsiteY3" fmla="*/ 192106 h 192106"/>
                      <a:gd name="connsiteX4" fmla="*/ 0 w 97820"/>
                      <a:gd name="connsiteY4" fmla="*/ 30956 h 192106"/>
                      <a:gd name="connsiteX0" fmla="*/ 47625 w 97820"/>
                      <a:gd name="connsiteY0" fmla="*/ 0 h 246875"/>
                      <a:gd name="connsiteX1" fmla="*/ 97820 w 97820"/>
                      <a:gd name="connsiteY1" fmla="*/ 54769 h 246875"/>
                      <a:gd name="connsiteX2" fmla="*/ 90676 w 97820"/>
                      <a:gd name="connsiteY2" fmla="*/ 225443 h 246875"/>
                      <a:gd name="connsiteX3" fmla="*/ 0 w 97820"/>
                      <a:gd name="connsiteY3" fmla="*/ 246875 h 246875"/>
                      <a:gd name="connsiteX4" fmla="*/ 47625 w 97820"/>
                      <a:gd name="connsiteY4" fmla="*/ 0 h 246875"/>
                      <a:gd name="connsiteX0" fmla="*/ 47625 w 90676"/>
                      <a:gd name="connsiteY0" fmla="*/ 0 h 246875"/>
                      <a:gd name="connsiteX1" fmla="*/ 90676 w 90676"/>
                      <a:gd name="connsiteY1" fmla="*/ 66676 h 246875"/>
                      <a:gd name="connsiteX2" fmla="*/ 90676 w 90676"/>
                      <a:gd name="connsiteY2" fmla="*/ 225443 h 246875"/>
                      <a:gd name="connsiteX3" fmla="*/ 0 w 90676"/>
                      <a:gd name="connsiteY3" fmla="*/ 246875 h 246875"/>
                      <a:gd name="connsiteX4" fmla="*/ 47625 w 90676"/>
                      <a:gd name="connsiteY4" fmla="*/ 0 h 246875"/>
                      <a:gd name="connsiteX0" fmla="*/ 7144 w 50195"/>
                      <a:gd name="connsiteY0" fmla="*/ 0 h 225443"/>
                      <a:gd name="connsiteX1" fmla="*/ 50195 w 50195"/>
                      <a:gd name="connsiteY1" fmla="*/ 66676 h 225443"/>
                      <a:gd name="connsiteX2" fmla="*/ 50195 w 50195"/>
                      <a:gd name="connsiteY2" fmla="*/ 225443 h 225443"/>
                      <a:gd name="connsiteX3" fmla="*/ 0 w 50195"/>
                      <a:gd name="connsiteY3" fmla="*/ 180200 h 225443"/>
                      <a:gd name="connsiteX4" fmla="*/ 7144 w 50195"/>
                      <a:gd name="connsiteY4" fmla="*/ 0 h 225443"/>
                      <a:gd name="connsiteX0" fmla="*/ 9525 w 52576"/>
                      <a:gd name="connsiteY0" fmla="*/ 0 h 225443"/>
                      <a:gd name="connsiteX1" fmla="*/ 52576 w 52576"/>
                      <a:gd name="connsiteY1" fmla="*/ 66676 h 225443"/>
                      <a:gd name="connsiteX2" fmla="*/ 52576 w 52576"/>
                      <a:gd name="connsiteY2" fmla="*/ 225443 h 225443"/>
                      <a:gd name="connsiteX3" fmla="*/ 0 w 52576"/>
                      <a:gd name="connsiteY3" fmla="*/ 158769 h 225443"/>
                      <a:gd name="connsiteX4" fmla="*/ 9525 w 52576"/>
                      <a:gd name="connsiteY4" fmla="*/ 0 h 225443"/>
                      <a:gd name="connsiteX0" fmla="*/ 9525 w 52576"/>
                      <a:gd name="connsiteY0" fmla="*/ 0 h 211156"/>
                      <a:gd name="connsiteX1" fmla="*/ 52576 w 52576"/>
                      <a:gd name="connsiteY1" fmla="*/ 66676 h 211156"/>
                      <a:gd name="connsiteX2" fmla="*/ 52576 w 52576"/>
                      <a:gd name="connsiteY2" fmla="*/ 211156 h 211156"/>
                      <a:gd name="connsiteX3" fmla="*/ 0 w 52576"/>
                      <a:gd name="connsiteY3" fmla="*/ 158769 h 211156"/>
                      <a:gd name="connsiteX4" fmla="*/ 9525 w 52576"/>
                      <a:gd name="connsiteY4" fmla="*/ 0 h 211156"/>
                      <a:gd name="connsiteX0" fmla="*/ 5486 w 48537"/>
                      <a:gd name="connsiteY0" fmla="*/ 0 h 211156"/>
                      <a:gd name="connsiteX1" fmla="*/ 48537 w 48537"/>
                      <a:gd name="connsiteY1" fmla="*/ 66676 h 211156"/>
                      <a:gd name="connsiteX2" fmla="*/ 48537 w 48537"/>
                      <a:gd name="connsiteY2" fmla="*/ 211156 h 211156"/>
                      <a:gd name="connsiteX3" fmla="*/ 0 w 48537"/>
                      <a:gd name="connsiteY3" fmla="*/ 166848 h 211156"/>
                      <a:gd name="connsiteX4" fmla="*/ 5486 w 48537"/>
                      <a:gd name="connsiteY4" fmla="*/ 0 h 211156"/>
                      <a:gd name="connsiteX0" fmla="*/ 5486 w 48537"/>
                      <a:gd name="connsiteY0" fmla="*/ 0 h 214186"/>
                      <a:gd name="connsiteX1" fmla="*/ 48537 w 48537"/>
                      <a:gd name="connsiteY1" fmla="*/ 66676 h 214186"/>
                      <a:gd name="connsiteX2" fmla="*/ 47527 w 48537"/>
                      <a:gd name="connsiteY2" fmla="*/ 214186 h 214186"/>
                      <a:gd name="connsiteX3" fmla="*/ 0 w 48537"/>
                      <a:gd name="connsiteY3" fmla="*/ 166848 h 214186"/>
                      <a:gd name="connsiteX4" fmla="*/ 5486 w 48537"/>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6848 h 214186"/>
                      <a:gd name="connsiteX4" fmla="*/ 5486 w 47571"/>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4828 h 214186"/>
                      <a:gd name="connsiteX4" fmla="*/ 5486 w 47571"/>
                      <a:gd name="connsiteY4" fmla="*/ 0 h 214186"/>
                      <a:gd name="connsiteX0" fmla="*/ 5486 w 46614"/>
                      <a:gd name="connsiteY0" fmla="*/ 0 h 215196"/>
                      <a:gd name="connsiteX1" fmla="*/ 46517 w 46614"/>
                      <a:gd name="connsiteY1" fmla="*/ 53548 h 215196"/>
                      <a:gd name="connsiteX2" fmla="*/ 46517 w 46614"/>
                      <a:gd name="connsiteY2" fmla="*/ 215196 h 215196"/>
                      <a:gd name="connsiteX3" fmla="*/ 0 w 46614"/>
                      <a:gd name="connsiteY3" fmla="*/ 164828 h 215196"/>
                      <a:gd name="connsiteX4" fmla="*/ 5486 w 46614"/>
                      <a:gd name="connsiteY4" fmla="*/ 0 h 215196"/>
                      <a:gd name="connsiteX0" fmla="*/ 5486 w 46517"/>
                      <a:gd name="connsiteY0" fmla="*/ 0 h 215196"/>
                      <a:gd name="connsiteX1" fmla="*/ 46517 w 46517"/>
                      <a:gd name="connsiteY1" fmla="*/ 53548 h 215196"/>
                      <a:gd name="connsiteX2" fmla="*/ 44497 w 46517"/>
                      <a:gd name="connsiteY2" fmla="*/ 215196 h 215196"/>
                      <a:gd name="connsiteX3" fmla="*/ 0 w 46517"/>
                      <a:gd name="connsiteY3" fmla="*/ 164828 h 215196"/>
                      <a:gd name="connsiteX4" fmla="*/ 5486 w 46517"/>
                      <a:gd name="connsiteY4" fmla="*/ 0 h 215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17" h="215196">
                        <a:moveTo>
                          <a:pt x="5486" y="0"/>
                        </a:moveTo>
                        <a:lnTo>
                          <a:pt x="46517" y="53548"/>
                        </a:lnTo>
                        <a:cubicBezTo>
                          <a:pt x="46180" y="102718"/>
                          <a:pt x="44834" y="166026"/>
                          <a:pt x="44497" y="215196"/>
                        </a:cubicBezTo>
                        <a:lnTo>
                          <a:pt x="0" y="164828"/>
                        </a:lnTo>
                        <a:lnTo>
                          <a:pt x="548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grpSp>
        </p:grpSp>
        <p:grpSp>
          <p:nvGrpSpPr>
            <p:cNvPr id="147" name="Group 146">
              <a:extLst>
                <a:ext uri="{FF2B5EF4-FFF2-40B4-BE49-F238E27FC236}">
                  <a16:creationId xmlns:a16="http://schemas.microsoft.com/office/drawing/2014/main" id="{6CCBB3D5-390B-F69E-94CF-F5ED312D8E6E}"/>
                </a:ext>
              </a:extLst>
            </p:cNvPr>
            <p:cNvGrpSpPr/>
            <p:nvPr/>
          </p:nvGrpSpPr>
          <p:grpSpPr>
            <a:xfrm>
              <a:off x="6403117" y="4531157"/>
              <a:ext cx="354584" cy="559143"/>
              <a:chOff x="6403117" y="4531157"/>
              <a:chExt cx="354584" cy="559143"/>
            </a:xfrm>
          </p:grpSpPr>
          <p:sp>
            <p:nvSpPr>
              <p:cNvPr id="61" name="TextBox 60">
                <a:extLst>
                  <a:ext uri="{FF2B5EF4-FFF2-40B4-BE49-F238E27FC236}">
                    <a16:creationId xmlns:a16="http://schemas.microsoft.com/office/drawing/2014/main" id="{DCD019D5-003F-2C3D-31EA-DDBDC3BF7BA6}"/>
                  </a:ext>
                </a:extLst>
              </p:cNvPr>
              <p:cNvSpPr txBox="1"/>
              <p:nvPr/>
            </p:nvSpPr>
            <p:spPr>
              <a:xfrm>
                <a:off x="6403117" y="4859468"/>
                <a:ext cx="35458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FF0000"/>
                    </a:solidFill>
                    <a:effectLst/>
                    <a:uLnTx/>
                    <a:uFillTx/>
                    <a:latin typeface="Scotia"/>
                    <a:ea typeface="+mn-ea"/>
                    <a:cs typeface="+mn-cs"/>
                  </a:rPr>
                  <a:t>9%</a:t>
                </a:r>
              </a:p>
            </p:txBody>
          </p:sp>
          <p:grpSp>
            <p:nvGrpSpPr>
              <p:cNvPr id="101" name="Group 4">
                <a:extLst>
                  <a:ext uri="{FF2B5EF4-FFF2-40B4-BE49-F238E27FC236}">
                    <a16:creationId xmlns:a16="http://schemas.microsoft.com/office/drawing/2014/main" id="{D47DAF52-8E8D-4C6F-61B4-5F1745095B60}"/>
                  </a:ext>
                </a:extLst>
              </p:cNvPr>
              <p:cNvGrpSpPr>
                <a:grpSpLocks noChangeAspect="1"/>
              </p:cNvGrpSpPr>
              <p:nvPr/>
            </p:nvGrpSpPr>
            <p:grpSpPr bwMode="auto">
              <a:xfrm>
                <a:off x="6472814" y="4531157"/>
                <a:ext cx="215190" cy="236259"/>
                <a:chOff x="7312" y="4020"/>
                <a:chExt cx="143" cy="157"/>
              </a:xfrm>
              <a:solidFill>
                <a:srgbClr val="EC111A"/>
              </a:solidFill>
            </p:grpSpPr>
            <p:sp>
              <p:nvSpPr>
                <p:cNvPr id="102" name="Freeform 5">
                  <a:extLst>
                    <a:ext uri="{FF2B5EF4-FFF2-40B4-BE49-F238E27FC236}">
                      <a16:creationId xmlns:a16="http://schemas.microsoft.com/office/drawing/2014/main" id="{F7676562-BA8C-9353-E85A-0CE15F772C54}"/>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3" name="Freeform 6">
                  <a:extLst>
                    <a:ext uri="{FF2B5EF4-FFF2-40B4-BE49-F238E27FC236}">
                      <a16:creationId xmlns:a16="http://schemas.microsoft.com/office/drawing/2014/main" id="{9F79DFB9-E51F-4D96-811D-568A4CE49752}"/>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4" name="Oval 7">
                  <a:extLst>
                    <a:ext uri="{FF2B5EF4-FFF2-40B4-BE49-F238E27FC236}">
                      <a16:creationId xmlns:a16="http://schemas.microsoft.com/office/drawing/2014/main" id="{44C7CE34-4D5E-619D-CE9C-B2F7E23B8FC9}"/>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grpSp>
        <p:nvGrpSpPr>
          <p:cNvPr id="148" name="Group 147">
            <a:extLst>
              <a:ext uri="{FF2B5EF4-FFF2-40B4-BE49-F238E27FC236}">
                <a16:creationId xmlns:a16="http://schemas.microsoft.com/office/drawing/2014/main" id="{7B446AA4-676F-F136-ABC0-AF7994156E5E}"/>
              </a:ext>
            </a:extLst>
          </p:cNvPr>
          <p:cNvGrpSpPr/>
          <p:nvPr/>
        </p:nvGrpSpPr>
        <p:grpSpPr>
          <a:xfrm>
            <a:off x="2454063" y="2748170"/>
            <a:ext cx="4302036" cy="526934"/>
            <a:chOff x="2454063" y="2753938"/>
            <a:chExt cx="4302036" cy="526934"/>
          </a:xfrm>
        </p:grpSpPr>
        <p:cxnSp>
          <p:nvCxnSpPr>
            <p:cNvPr id="178" name="Straight Connector 177">
              <a:extLst>
                <a:ext uri="{FF2B5EF4-FFF2-40B4-BE49-F238E27FC236}">
                  <a16:creationId xmlns:a16="http://schemas.microsoft.com/office/drawing/2014/main" id="{23CB85EF-9DCD-7A03-590F-51B7B315E717}"/>
                </a:ext>
              </a:extLst>
            </p:cNvPr>
            <p:cNvCxnSpPr>
              <a:cxnSpLocks/>
            </p:cNvCxnSpPr>
            <p:nvPr/>
          </p:nvCxnSpPr>
          <p:spPr>
            <a:xfrm>
              <a:off x="2454063" y="2881768"/>
              <a:ext cx="4133088" cy="0"/>
            </a:xfrm>
            <a:prstGeom prst="line">
              <a:avLst/>
            </a:prstGeom>
            <a:ln w="19050">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21" name="Group 120">
              <a:extLst>
                <a:ext uri="{FF2B5EF4-FFF2-40B4-BE49-F238E27FC236}">
                  <a16:creationId xmlns:a16="http://schemas.microsoft.com/office/drawing/2014/main" id="{F7A7F145-F16C-DE77-1A35-12337115534C}"/>
                </a:ext>
              </a:extLst>
            </p:cNvPr>
            <p:cNvGrpSpPr/>
            <p:nvPr/>
          </p:nvGrpSpPr>
          <p:grpSpPr>
            <a:xfrm>
              <a:off x="2476068" y="2753938"/>
              <a:ext cx="393056" cy="526934"/>
              <a:chOff x="2476068" y="2753938"/>
              <a:chExt cx="393056" cy="526934"/>
            </a:xfrm>
          </p:grpSpPr>
          <p:grpSp>
            <p:nvGrpSpPr>
              <p:cNvPr id="188" name="Group 187">
                <a:extLst>
                  <a:ext uri="{FF2B5EF4-FFF2-40B4-BE49-F238E27FC236}">
                    <a16:creationId xmlns:a16="http://schemas.microsoft.com/office/drawing/2014/main" id="{41F65BA7-7FE1-FCF5-2DA5-F0FC7A2B0DE1}"/>
                  </a:ext>
                </a:extLst>
              </p:cNvPr>
              <p:cNvGrpSpPr/>
              <p:nvPr/>
            </p:nvGrpSpPr>
            <p:grpSpPr>
              <a:xfrm>
                <a:off x="2549654" y="2753938"/>
                <a:ext cx="245885" cy="246133"/>
                <a:chOff x="3964936" y="5578036"/>
                <a:chExt cx="355974" cy="355974"/>
              </a:xfrm>
            </p:grpSpPr>
            <p:sp>
              <p:nvSpPr>
                <p:cNvPr id="189" name="Oval 188">
                  <a:extLst>
                    <a:ext uri="{FF2B5EF4-FFF2-40B4-BE49-F238E27FC236}">
                      <a16:creationId xmlns:a16="http://schemas.microsoft.com/office/drawing/2014/main" id="{5D76ADAC-42D3-C0D2-3685-9A194B38E53E}"/>
                    </a:ext>
                  </a:extLst>
                </p:cNvPr>
                <p:cNvSpPr/>
                <p:nvPr/>
              </p:nvSpPr>
              <p:spPr>
                <a:xfrm>
                  <a:off x="3964936" y="5578036"/>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190" name="Freeform 16">
                  <a:extLst>
                    <a:ext uri="{FF2B5EF4-FFF2-40B4-BE49-F238E27FC236}">
                      <a16:creationId xmlns:a16="http://schemas.microsoft.com/office/drawing/2014/main" id="{64F8CB5E-E105-5C5D-1656-24F4BBB265C7}"/>
                    </a:ext>
                  </a:extLst>
                </p:cNvPr>
                <p:cNvSpPr>
                  <a:spLocks/>
                </p:cNvSpPr>
                <p:nvPr/>
              </p:nvSpPr>
              <p:spPr bwMode="auto">
                <a:xfrm>
                  <a:off x="4024624" y="5677433"/>
                  <a:ext cx="236597" cy="157181"/>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197" name="TextBox 196">
                <a:extLst>
                  <a:ext uri="{FF2B5EF4-FFF2-40B4-BE49-F238E27FC236}">
                    <a16:creationId xmlns:a16="http://schemas.microsoft.com/office/drawing/2014/main" id="{0BAC41C8-2652-4F1A-D219-52907FC0FF10}"/>
                  </a:ext>
                </a:extLst>
              </p:cNvPr>
              <p:cNvSpPr txBox="1"/>
              <p:nvPr/>
            </p:nvSpPr>
            <p:spPr>
              <a:xfrm>
                <a:off x="2476068" y="3050040"/>
                <a:ext cx="39305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17%</a:t>
                </a:r>
              </a:p>
            </p:txBody>
          </p:sp>
        </p:grpSp>
        <p:grpSp>
          <p:nvGrpSpPr>
            <p:cNvPr id="122" name="Group 121">
              <a:extLst>
                <a:ext uri="{FF2B5EF4-FFF2-40B4-BE49-F238E27FC236}">
                  <a16:creationId xmlns:a16="http://schemas.microsoft.com/office/drawing/2014/main" id="{A78605E2-382A-4753-37DC-637018F34247}"/>
                </a:ext>
              </a:extLst>
            </p:cNvPr>
            <p:cNvGrpSpPr/>
            <p:nvPr/>
          </p:nvGrpSpPr>
          <p:grpSpPr>
            <a:xfrm>
              <a:off x="3260515" y="2758875"/>
              <a:ext cx="401072" cy="521997"/>
              <a:chOff x="3260515" y="2758875"/>
              <a:chExt cx="401072" cy="521997"/>
            </a:xfrm>
          </p:grpSpPr>
          <p:grpSp>
            <p:nvGrpSpPr>
              <p:cNvPr id="179" name="Group 4">
                <a:extLst>
                  <a:ext uri="{FF2B5EF4-FFF2-40B4-BE49-F238E27FC236}">
                    <a16:creationId xmlns:a16="http://schemas.microsoft.com/office/drawing/2014/main" id="{CE488B70-5973-507B-1A2F-35D4A06ED1EE}"/>
                  </a:ext>
                </a:extLst>
              </p:cNvPr>
              <p:cNvGrpSpPr>
                <a:grpSpLocks noChangeAspect="1"/>
              </p:cNvGrpSpPr>
              <p:nvPr/>
            </p:nvGrpSpPr>
            <p:grpSpPr bwMode="auto">
              <a:xfrm>
                <a:off x="3353456" y="2758875"/>
                <a:ext cx="215190" cy="236259"/>
                <a:chOff x="7312" y="4020"/>
                <a:chExt cx="143" cy="157"/>
              </a:xfrm>
              <a:solidFill>
                <a:srgbClr val="EC111A"/>
              </a:solidFill>
            </p:grpSpPr>
            <p:sp>
              <p:nvSpPr>
                <p:cNvPr id="180" name="Freeform 5">
                  <a:extLst>
                    <a:ext uri="{FF2B5EF4-FFF2-40B4-BE49-F238E27FC236}">
                      <a16:creationId xmlns:a16="http://schemas.microsoft.com/office/drawing/2014/main" id="{3FDA1017-CDE2-ED2E-8260-DDE1236F62A4}"/>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81" name="Freeform 6">
                  <a:extLst>
                    <a:ext uri="{FF2B5EF4-FFF2-40B4-BE49-F238E27FC236}">
                      <a16:creationId xmlns:a16="http://schemas.microsoft.com/office/drawing/2014/main" id="{D0050AC9-4E04-2106-EF9F-F7954A328EA0}"/>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82" name="Oval 7">
                  <a:extLst>
                    <a:ext uri="{FF2B5EF4-FFF2-40B4-BE49-F238E27FC236}">
                      <a16:creationId xmlns:a16="http://schemas.microsoft.com/office/drawing/2014/main" id="{6342A5B8-0BE9-062D-567C-0CCDE9DADC96}"/>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sp>
            <p:nvSpPr>
              <p:cNvPr id="199" name="TextBox 198">
                <a:extLst>
                  <a:ext uri="{FF2B5EF4-FFF2-40B4-BE49-F238E27FC236}">
                    <a16:creationId xmlns:a16="http://schemas.microsoft.com/office/drawing/2014/main" id="{995094B2-4C85-46E8-E794-1E95F3726950}"/>
                  </a:ext>
                </a:extLst>
              </p:cNvPr>
              <p:cNvSpPr txBox="1"/>
              <p:nvPr/>
            </p:nvSpPr>
            <p:spPr>
              <a:xfrm>
                <a:off x="3260515" y="3050040"/>
                <a:ext cx="40107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FF0000"/>
                    </a:solidFill>
                    <a:effectLst/>
                    <a:uLnTx/>
                    <a:uFillTx/>
                    <a:latin typeface="Scotia"/>
                    <a:ea typeface="+mn-ea"/>
                    <a:cs typeface="+mn-cs"/>
                  </a:rPr>
                  <a:t>17%</a:t>
                </a:r>
              </a:p>
            </p:txBody>
          </p:sp>
        </p:grpSp>
        <p:grpSp>
          <p:nvGrpSpPr>
            <p:cNvPr id="123" name="Group 122">
              <a:extLst>
                <a:ext uri="{FF2B5EF4-FFF2-40B4-BE49-F238E27FC236}">
                  <a16:creationId xmlns:a16="http://schemas.microsoft.com/office/drawing/2014/main" id="{CC49DC02-0D72-020A-201C-39A45CBCA65E}"/>
                </a:ext>
              </a:extLst>
            </p:cNvPr>
            <p:cNvGrpSpPr/>
            <p:nvPr/>
          </p:nvGrpSpPr>
          <p:grpSpPr>
            <a:xfrm>
              <a:off x="4052978" y="2753938"/>
              <a:ext cx="391454" cy="526934"/>
              <a:chOff x="4052978" y="2753938"/>
              <a:chExt cx="391454" cy="526934"/>
            </a:xfrm>
          </p:grpSpPr>
          <p:grpSp>
            <p:nvGrpSpPr>
              <p:cNvPr id="183" name="Group 182">
                <a:extLst>
                  <a:ext uri="{FF2B5EF4-FFF2-40B4-BE49-F238E27FC236}">
                    <a16:creationId xmlns:a16="http://schemas.microsoft.com/office/drawing/2014/main" id="{47950566-C76B-7F79-FAFB-5A18369140D2}"/>
                  </a:ext>
                </a:extLst>
              </p:cNvPr>
              <p:cNvGrpSpPr/>
              <p:nvPr/>
            </p:nvGrpSpPr>
            <p:grpSpPr>
              <a:xfrm>
                <a:off x="4125763" y="2753938"/>
                <a:ext cx="245885" cy="246133"/>
                <a:chOff x="3656155" y="165955"/>
                <a:chExt cx="355974" cy="355974"/>
              </a:xfrm>
            </p:grpSpPr>
            <p:sp>
              <p:nvSpPr>
                <p:cNvPr id="184" name="Oval 183">
                  <a:extLst>
                    <a:ext uri="{FF2B5EF4-FFF2-40B4-BE49-F238E27FC236}">
                      <a16:creationId xmlns:a16="http://schemas.microsoft.com/office/drawing/2014/main" id="{40FA14E4-7F9E-E7A9-29D0-F7B7087AB480}"/>
                    </a:ext>
                  </a:extLst>
                </p:cNvPr>
                <p:cNvSpPr/>
                <p:nvPr/>
              </p:nvSpPr>
              <p:spPr>
                <a:xfrm>
                  <a:off x="3656155"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grpSp>
              <p:nvGrpSpPr>
                <p:cNvPr id="185" name="Group 184">
                  <a:extLst>
                    <a:ext uri="{FF2B5EF4-FFF2-40B4-BE49-F238E27FC236}">
                      <a16:creationId xmlns:a16="http://schemas.microsoft.com/office/drawing/2014/main" id="{3890A45F-2DDF-3F85-6858-4083B7F31CFC}"/>
                    </a:ext>
                  </a:extLst>
                </p:cNvPr>
                <p:cNvGrpSpPr/>
                <p:nvPr/>
              </p:nvGrpSpPr>
              <p:grpSpPr>
                <a:xfrm>
                  <a:off x="3712895" y="221713"/>
                  <a:ext cx="242496" cy="244442"/>
                  <a:chOff x="3995658" y="4815757"/>
                  <a:chExt cx="658670" cy="663962"/>
                </a:xfrm>
                <a:solidFill>
                  <a:schemeClr val="bg1">
                    <a:lumMod val="65000"/>
                  </a:schemeClr>
                </a:solidFill>
              </p:grpSpPr>
              <p:sp>
                <p:nvSpPr>
                  <p:cNvPr id="186" name="Freeform 21">
                    <a:extLst>
                      <a:ext uri="{FF2B5EF4-FFF2-40B4-BE49-F238E27FC236}">
                        <a16:creationId xmlns:a16="http://schemas.microsoft.com/office/drawing/2014/main" id="{BC419340-DD94-1964-AD7B-EF4C6F4F52B3}"/>
                      </a:ext>
                    </a:extLst>
                  </p:cNvPr>
                  <p:cNvSpPr>
                    <a:spLocks/>
                  </p:cNvSpPr>
                  <p:nvPr/>
                </p:nvSpPr>
                <p:spPr bwMode="auto">
                  <a:xfrm>
                    <a:off x="3995658" y="5130389"/>
                    <a:ext cx="305223" cy="337568"/>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187" name="Freeform 22">
                    <a:extLst>
                      <a:ext uri="{FF2B5EF4-FFF2-40B4-BE49-F238E27FC236}">
                        <a16:creationId xmlns:a16="http://schemas.microsoft.com/office/drawing/2014/main" id="{389319C3-B1E0-4454-B9F0-D3AE28BEEEEA}"/>
                      </a:ext>
                    </a:extLst>
                  </p:cNvPr>
                  <p:cNvSpPr>
                    <a:spLocks noEditPoints="1"/>
                  </p:cNvSpPr>
                  <p:nvPr/>
                </p:nvSpPr>
                <p:spPr bwMode="auto">
                  <a:xfrm>
                    <a:off x="3999186" y="4815757"/>
                    <a:ext cx="655142" cy="663962"/>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sp>
            <p:nvSpPr>
              <p:cNvPr id="198" name="TextBox 197">
                <a:extLst>
                  <a:ext uri="{FF2B5EF4-FFF2-40B4-BE49-F238E27FC236}">
                    <a16:creationId xmlns:a16="http://schemas.microsoft.com/office/drawing/2014/main" id="{940F7553-7DDF-80F8-A2EB-03C20479AA56}"/>
                  </a:ext>
                </a:extLst>
              </p:cNvPr>
              <p:cNvSpPr txBox="1"/>
              <p:nvPr/>
            </p:nvSpPr>
            <p:spPr>
              <a:xfrm>
                <a:off x="4052978" y="3050040"/>
                <a:ext cx="39145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15%</a:t>
                </a:r>
              </a:p>
            </p:txBody>
          </p:sp>
        </p:grpSp>
        <p:grpSp>
          <p:nvGrpSpPr>
            <p:cNvPr id="128" name="Group 127">
              <a:extLst>
                <a:ext uri="{FF2B5EF4-FFF2-40B4-BE49-F238E27FC236}">
                  <a16:creationId xmlns:a16="http://schemas.microsoft.com/office/drawing/2014/main" id="{79A8008B-1CA5-7BF3-E74A-94D4EC05EF99}"/>
                </a:ext>
              </a:extLst>
            </p:cNvPr>
            <p:cNvGrpSpPr/>
            <p:nvPr/>
          </p:nvGrpSpPr>
          <p:grpSpPr>
            <a:xfrm>
              <a:off x="4835823" y="2753938"/>
              <a:ext cx="391454" cy="526934"/>
              <a:chOff x="4835823" y="2753938"/>
              <a:chExt cx="391454" cy="526934"/>
            </a:xfrm>
          </p:grpSpPr>
          <p:grpSp>
            <p:nvGrpSpPr>
              <p:cNvPr id="191" name="Group 190">
                <a:extLst>
                  <a:ext uri="{FF2B5EF4-FFF2-40B4-BE49-F238E27FC236}">
                    <a16:creationId xmlns:a16="http://schemas.microsoft.com/office/drawing/2014/main" id="{B2EEF0AA-6100-6F4A-8FD4-CD1AF4472224}"/>
                  </a:ext>
                </a:extLst>
              </p:cNvPr>
              <p:cNvGrpSpPr/>
              <p:nvPr/>
            </p:nvGrpSpPr>
            <p:grpSpPr>
              <a:xfrm>
                <a:off x="4908608" y="2753938"/>
                <a:ext cx="245885" cy="246133"/>
                <a:chOff x="3136450" y="165955"/>
                <a:chExt cx="355974" cy="355974"/>
              </a:xfrm>
            </p:grpSpPr>
            <p:sp>
              <p:nvSpPr>
                <p:cNvPr id="192" name="Oval 191">
                  <a:extLst>
                    <a:ext uri="{FF2B5EF4-FFF2-40B4-BE49-F238E27FC236}">
                      <a16:creationId xmlns:a16="http://schemas.microsoft.com/office/drawing/2014/main" id="{25933589-D89B-ACA1-44A8-966DDE4CCB49}"/>
                    </a:ext>
                  </a:extLst>
                </p:cNvPr>
                <p:cNvSpPr/>
                <p:nvPr/>
              </p:nvSpPr>
              <p:spPr>
                <a:xfrm>
                  <a:off x="3136450"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193" name="Freeform 50">
                  <a:extLst>
                    <a:ext uri="{FF2B5EF4-FFF2-40B4-BE49-F238E27FC236}">
                      <a16:creationId xmlns:a16="http://schemas.microsoft.com/office/drawing/2014/main" id="{988CCFA1-DEB7-BC4D-8ECD-6E46518629B1}"/>
                    </a:ext>
                  </a:extLst>
                </p:cNvPr>
                <p:cNvSpPr>
                  <a:spLocks noEditPoints="1"/>
                </p:cNvSpPr>
                <p:nvPr/>
              </p:nvSpPr>
              <p:spPr bwMode="auto">
                <a:xfrm>
                  <a:off x="3221400" y="246998"/>
                  <a:ext cx="186075" cy="193887"/>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lumMod val="6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201" name="TextBox 200">
                <a:extLst>
                  <a:ext uri="{FF2B5EF4-FFF2-40B4-BE49-F238E27FC236}">
                    <a16:creationId xmlns:a16="http://schemas.microsoft.com/office/drawing/2014/main" id="{1094EBB2-6019-8157-E2C4-3AD72D7EF492}"/>
                  </a:ext>
                </a:extLst>
              </p:cNvPr>
              <p:cNvSpPr txBox="1"/>
              <p:nvPr/>
            </p:nvSpPr>
            <p:spPr>
              <a:xfrm>
                <a:off x="4835823" y="3050040"/>
                <a:ext cx="39145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15%</a:t>
                </a:r>
              </a:p>
            </p:txBody>
          </p:sp>
        </p:grpSp>
        <p:grpSp>
          <p:nvGrpSpPr>
            <p:cNvPr id="129" name="Group 128">
              <a:extLst>
                <a:ext uri="{FF2B5EF4-FFF2-40B4-BE49-F238E27FC236}">
                  <a16:creationId xmlns:a16="http://schemas.microsoft.com/office/drawing/2014/main" id="{53E38BCE-180B-D9BF-0A2F-C307F51582F3}"/>
                </a:ext>
              </a:extLst>
            </p:cNvPr>
            <p:cNvGrpSpPr/>
            <p:nvPr/>
          </p:nvGrpSpPr>
          <p:grpSpPr>
            <a:xfrm>
              <a:off x="5618668" y="2753938"/>
              <a:ext cx="393056" cy="526934"/>
              <a:chOff x="5618668" y="2753938"/>
              <a:chExt cx="393056" cy="526934"/>
            </a:xfrm>
          </p:grpSpPr>
          <p:grpSp>
            <p:nvGrpSpPr>
              <p:cNvPr id="194" name="Group 193">
                <a:extLst>
                  <a:ext uri="{FF2B5EF4-FFF2-40B4-BE49-F238E27FC236}">
                    <a16:creationId xmlns:a16="http://schemas.microsoft.com/office/drawing/2014/main" id="{3467F0D2-604C-C269-64DE-E5C41469BFDB}"/>
                  </a:ext>
                </a:extLst>
              </p:cNvPr>
              <p:cNvGrpSpPr/>
              <p:nvPr/>
            </p:nvGrpSpPr>
            <p:grpSpPr>
              <a:xfrm>
                <a:off x="5692254" y="2753938"/>
                <a:ext cx="245885" cy="246133"/>
                <a:chOff x="10506024" y="4552950"/>
                <a:chExt cx="360000" cy="360363"/>
              </a:xfrm>
            </p:grpSpPr>
            <p:sp>
              <p:nvSpPr>
                <p:cNvPr id="195" name="Oval 194">
                  <a:extLst>
                    <a:ext uri="{FF2B5EF4-FFF2-40B4-BE49-F238E27FC236}">
                      <a16:creationId xmlns:a16="http://schemas.microsoft.com/office/drawing/2014/main" id="{71679397-CA25-8227-F010-4889E62256E3}"/>
                    </a:ext>
                  </a:extLst>
                </p:cNvPr>
                <p:cNvSpPr/>
                <p:nvPr/>
              </p:nvSpPr>
              <p:spPr>
                <a:xfrm>
                  <a:off x="10506024" y="4552950"/>
                  <a:ext cx="360000" cy="360363"/>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196" name="Graphic 195">
                  <a:extLst>
                    <a:ext uri="{FF2B5EF4-FFF2-40B4-BE49-F238E27FC236}">
                      <a16:creationId xmlns:a16="http://schemas.microsoft.com/office/drawing/2014/main" id="{C8BC6E08-A042-2267-A9D9-832C8B6396A9}"/>
                    </a:ext>
                  </a:extLst>
                </p:cNvPr>
                <p:cNvPicPr>
                  <a:picLocks noChangeAspect="1"/>
                </p:cNvPicPr>
                <p:nvPr/>
              </p:nvPicPr>
              <p:blipFill rotWithShape="1">
                <a:blip>
                  <a:extLst>
                    <a:ext uri="{96DAC541-7B7A-43D3-8B79-37D633B846F1}">
                      <asvg:svgBlip xmlns:asvg="http://schemas.microsoft.com/office/drawing/2016/SVG/main" r:embed="rId7"/>
                    </a:ext>
                  </a:extLst>
                </a:blip>
                <a:srcRect l="68303"/>
                <a:stretch/>
              </p:blipFill>
              <p:spPr>
                <a:xfrm>
                  <a:off x="10558385" y="4631311"/>
                  <a:ext cx="255278" cy="203641"/>
                </a:xfrm>
                <a:prstGeom prst="rect">
                  <a:avLst/>
                </a:prstGeom>
              </p:spPr>
            </p:pic>
          </p:grpSp>
          <p:sp>
            <p:nvSpPr>
              <p:cNvPr id="200" name="TextBox 199">
                <a:extLst>
                  <a:ext uri="{FF2B5EF4-FFF2-40B4-BE49-F238E27FC236}">
                    <a16:creationId xmlns:a16="http://schemas.microsoft.com/office/drawing/2014/main" id="{0F7AD834-DCF5-6B89-63B7-20A1C843A943}"/>
                  </a:ext>
                </a:extLst>
              </p:cNvPr>
              <p:cNvSpPr txBox="1"/>
              <p:nvPr/>
            </p:nvSpPr>
            <p:spPr>
              <a:xfrm>
                <a:off x="5618668" y="3050040"/>
                <a:ext cx="39305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13%</a:t>
                </a:r>
              </a:p>
            </p:txBody>
          </p:sp>
        </p:grpSp>
        <p:grpSp>
          <p:nvGrpSpPr>
            <p:cNvPr id="130" name="Group 129">
              <a:extLst>
                <a:ext uri="{FF2B5EF4-FFF2-40B4-BE49-F238E27FC236}">
                  <a16:creationId xmlns:a16="http://schemas.microsoft.com/office/drawing/2014/main" id="{7933067A-1D94-8BFB-CCBD-9BCCF29837F0}"/>
                </a:ext>
              </a:extLst>
            </p:cNvPr>
            <p:cNvGrpSpPr/>
            <p:nvPr/>
          </p:nvGrpSpPr>
          <p:grpSpPr>
            <a:xfrm>
              <a:off x="6403117" y="2753973"/>
              <a:ext cx="352982" cy="526899"/>
              <a:chOff x="6403117" y="2753973"/>
              <a:chExt cx="352982" cy="526899"/>
            </a:xfrm>
          </p:grpSpPr>
          <p:sp>
            <p:nvSpPr>
              <p:cNvPr id="202" name="TextBox 201">
                <a:extLst>
                  <a:ext uri="{FF2B5EF4-FFF2-40B4-BE49-F238E27FC236}">
                    <a16:creationId xmlns:a16="http://schemas.microsoft.com/office/drawing/2014/main" id="{CE00EFBD-B79E-DFE4-7D77-24334A38ECF7}"/>
                  </a:ext>
                </a:extLst>
              </p:cNvPr>
              <p:cNvSpPr txBox="1"/>
              <p:nvPr/>
            </p:nvSpPr>
            <p:spPr>
              <a:xfrm>
                <a:off x="6403117" y="3050040"/>
                <a:ext cx="35298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9%</a:t>
                </a:r>
              </a:p>
            </p:txBody>
          </p:sp>
          <p:grpSp>
            <p:nvGrpSpPr>
              <p:cNvPr id="203" name="Group 202">
                <a:extLst>
                  <a:ext uri="{FF2B5EF4-FFF2-40B4-BE49-F238E27FC236}">
                    <a16:creationId xmlns:a16="http://schemas.microsoft.com/office/drawing/2014/main" id="{A40BF0C2-CD09-8BBB-FDC0-6759E067EC9B}"/>
                  </a:ext>
                </a:extLst>
              </p:cNvPr>
              <p:cNvGrpSpPr/>
              <p:nvPr/>
            </p:nvGrpSpPr>
            <p:grpSpPr>
              <a:xfrm>
                <a:off x="6456577" y="2753973"/>
                <a:ext cx="246063" cy="246063"/>
                <a:chOff x="3956206" y="357635"/>
                <a:chExt cx="863600" cy="862013"/>
              </a:xfrm>
            </p:grpSpPr>
            <p:sp>
              <p:nvSpPr>
                <p:cNvPr id="204" name="Oval 203">
                  <a:extLst>
                    <a:ext uri="{FF2B5EF4-FFF2-40B4-BE49-F238E27FC236}">
                      <a16:creationId xmlns:a16="http://schemas.microsoft.com/office/drawing/2014/main" id="{B21B0C77-3EEB-E26D-E69C-9DE71CDAD0C7}"/>
                    </a:ext>
                  </a:extLst>
                </p:cNvPr>
                <p:cNvSpPr/>
                <p:nvPr/>
              </p:nvSpPr>
              <p:spPr>
                <a:xfrm>
                  <a:off x="3956206" y="357635"/>
                  <a:ext cx="863600" cy="862013"/>
                </a:xfrm>
                <a:prstGeom prst="ellipse">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nvGrpSpPr>
                <p:cNvPr id="205" name="Group 204">
                  <a:extLst>
                    <a:ext uri="{FF2B5EF4-FFF2-40B4-BE49-F238E27FC236}">
                      <a16:creationId xmlns:a16="http://schemas.microsoft.com/office/drawing/2014/main" id="{EA893B32-4F2F-7C0F-5705-D949B40BF287}"/>
                    </a:ext>
                  </a:extLst>
                </p:cNvPr>
                <p:cNvGrpSpPr/>
                <p:nvPr/>
              </p:nvGrpSpPr>
              <p:grpSpPr>
                <a:xfrm>
                  <a:off x="4109346" y="521528"/>
                  <a:ext cx="557321" cy="519481"/>
                  <a:chOff x="4952132" y="652822"/>
                  <a:chExt cx="548633" cy="511384"/>
                </a:xfrm>
                <a:solidFill>
                  <a:srgbClr val="A6A6A6"/>
                </a:solidFill>
              </p:grpSpPr>
              <p:sp>
                <p:nvSpPr>
                  <p:cNvPr id="206" name="Rectangle 77">
                    <a:extLst>
                      <a:ext uri="{FF2B5EF4-FFF2-40B4-BE49-F238E27FC236}">
                        <a16:creationId xmlns:a16="http://schemas.microsoft.com/office/drawing/2014/main" id="{2B19412D-1735-00B4-7F9A-0DAA671B1409}"/>
                      </a:ext>
                    </a:extLst>
                  </p:cNvPr>
                  <p:cNvSpPr/>
                  <p:nvPr/>
                </p:nvSpPr>
                <p:spPr>
                  <a:xfrm>
                    <a:off x="4952132" y="652822"/>
                    <a:ext cx="225891" cy="445835"/>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5800"/>
                      <a:gd name="connsiteY0" fmla="*/ 2792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7927 h 189077"/>
                      <a:gd name="connsiteX0" fmla="*/ 0 w 95800"/>
                      <a:gd name="connsiteY0" fmla="*/ 2489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4897 h 189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00" h="189077">
                        <a:moveTo>
                          <a:pt x="0" y="24897"/>
                        </a:moveTo>
                        <a:lnTo>
                          <a:pt x="95800" y="0"/>
                        </a:lnTo>
                        <a:lnTo>
                          <a:pt x="90676" y="165264"/>
                        </a:lnTo>
                        <a:lnTo>
                          <a:pt x="0" y="189077"/>
                        </a:lnTo>
                        <a:lnTo>
                          <a:pt x="0" y="2489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07" name="Rectangle 77">
                    <a:extLst>
                      <a:ext uri="{FF2B5EF4-FFF2-40B4-BE49-F238E27FC236}">
                        <a16:creationId xmlns:a16="http://schemas.microsoft.com/office/drawing/2014/main" id="{D9169DC5-5065-6BAA-8B34-A00BBD685E7B}"/>
                      </a:ext>
                    </a:extLst>
                  </p:cNvPr>
                  <p:cNvSpPr/>
                  <p:nvPr/>
                </p:nvSpPr>
                <p:spPr>
                  <a:xfrm>
                    <a:off x="5267729" y="701703"/>
                    <a:ext cx="233036" cy="462503"/>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6735 w 97820"/>
                      <a:gd name="connsiteY2" fmla="*/ 169303 h 192106"/>
                      <a:gd name="connsiteX3" fmla="*/ 0 w 97820"/>
                      <a:gd name="connsiteY3" fmla="*/ 192106 h 192106"/>
                      <a:gd name="connsiteX4" fmla="*/ 0 w 97820"/>
                      <a:gd name="connsiteY4" fmla="*/ 30956 h 192106"/>
                      <a:gd name="connsiteX0" fmla="*/ 1010 w 98830"/>
                      <a:gd name="connsiteY0" fmla="*/ 30956 h 196146"/>
                      <a:gd name="connsiteX1" fmla="*/ 98830 w 98830"/>
                      <a:gd name="connsiteY1" fmla="*/ 0 h 196146"/>
                      <a:gd name="connsiteX2" fmla="*/ 97745 w 98830"/>
                      <a:gd name="connsiteY2" fmla="*/ 169303 h 196146"/>
                      <a:gd name="connsiteX3" fmla="*/ 0 w 98830"/>
                      <a:gd name="connsiteY3" fmla="*/ 196146 h 196146"/>
                      <a:gd name="connsiteX4" fmla="*/ 1010 w 98830"/>
                      <a:gd name="connsiteY4" fmla="*/ 30956 h 19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30" h="196146">
                        <a:moveTo>
                          <a:pt x="1010" y="30956"/>
                        </a:moveTo>
                        <a:lnTo>
                          <a:pt x="98830" y="0"/>
                        </a:lnTo>
                        <a:cubicBezTo>
                          <a:pt x="98468" y="56434"/>
                          <a:pt x="98107" y="112869"/>
                          <a:pt x="97745" y="169303"/>
                        </a:cubicBezTo>
                        <a:lnTo>
                          <a:pt x="0" y="196146"/>
                        </a:lnTo>
                        <a:cubicBezTo>
                          <a:pt x="337" y="141083"/>
                          <a:pt x="673" y="86019"/>
                          <a:pt x="1010" y="3095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08" name="Rectangle 77">
                    <a:extLst>
                      <a:ext uri="{FF2B5EF4-FFF2-40B4-BE49-F238E27FC236}">
                        <a16:creationId xmlns:a16="http://schemas.microsoft.com/office/drawing/2014/main" id="{F2E44222-B738-CA04-9C62-8ED399EB4A9D}"/>
                      </a:ext>
                    </a:extLst>
                  </p:cNvPr>
                  <p:cNvSpPr/>
                  <p:nvPr/>
                </p:nvSpPr>
                <p:spPr>
                  <a:xfrm>
                    <a:off x="5163482" y="652823"/>
                    <a:ext cx="109685" cy="507422"/>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70674 h 192106"/>
                      <a:gd name="connsiteX3" fmla="*/ 0 w 97820"/>
                      <a:gd name="connsiteY3" fmla="*/ 192106 h 192106"/>
                      <a:gd name="connsiteX4" fmla="*/ 0 w 97820"/>
                      <a:gd name="connsiteY4" fmla="*/ 30956 h 192106"/>
                      <a:gd name="connsiteX0" fmla="*/ 47625 w 97820"/>
                      <a:gd name="connsiteY0" fmla="*/ 0 h 246875"/>
                      <a:gd name="connsiteX1" fmla="*/ 97820 w 97820"/>
                      <a:gd name="connsiteY1" fmla="*/ 54769 h 246875"/>
                      <a:gd name="connsiteX2" fmla="*/ 90676 w 97820"/>
                      <a:gd name="connsiteY2" fmla="*/ 225443 h 246875"/>
                      <a:gd name="connsiteX3" fmla="*/ 0 w 97820"/>
                      <a:gd name="connsiteY3" fmla="*/ 246875 h 246875"/>
                      <a:gd name="connsiteX4" fmla="*/ 47625 w 97820"/>
                      <a:gd name="connsiteY4" fmla="*/ 0 h 246875"/>
                      <a:gd name="connsiteX0" fmla="*/ 47625 w 90676"/>
                      <a:gd name="connsiteY0" fmla="*/ 0 h 246875"/>
                      <a:gd name="connsiteX1" fmla="*/ 90676 w 90676"/>
                      <a:gd name="connsiteY1" fmla="*/ 66676 h 246875"/>
                      <a:gd name="connsiteX2" fmla="*/ 90676 w 90676"/>
                      <a:gd name="connsiteY2" fmla="*/ 225443 h 246875"/>
                      <a:gd name="connsiteX3" fmla="*/ 0 w 90676"/>
                      <a:gd name="connsiteY3" fmla="*/ 246875 h 246875"/>
                      <a:gd name="connsiteX4" fmla="*/ 47625 w 90676"/>
                      <a:gd name="connsiteY4" fmla="*/ 0 h 246875"/>
                      <a:gd name="connsiteX0" fmla="*/ 7144 w 50195"/>
                      <a:gd name="connsiteY0" fmla="*/ 0 h 225443"/>
                      <a:gd name="connsiteX1" fmla="*/ 50195 w 50195"/>
                      <a:gd name="connsiteY1" fmla="*/ 66676 h 225443"/>
                      <a:gd name="connsiteX2" fmla="*/ 50195 w 50195"/>
                      <a:gd name="connsiteY2" fmla="*/ 225443 h 225443"/>
                      <a:gd name="connsiteX3" fmla="*/ 0 w 50195"/>
                      <a:gd name="connsiteY3" fmla="*/ 180200 h 225443"/>
                      <a:gd name="connsiteX4" fmla="*/ 7144 w 50195"/>
                      <a:gd name="connsiteY4" fmla="*/ 0 h 225443"/>
                      <a:gd name="connsiteX0" fmla="*/ 9525 w 52576"/>
                      <a:gd name="connsiteY0" fmla="*/ 0 h 225443"/>
                      <a:gd name="connsiteX1" fmla="*/ 52576 w 52576"/>
                      <a:gd name="connsiteY1" fmla="*/ 66676 h 225443"/>
                      <a:gd name="connsiteX2" fmla="*/ 52576 w 52576"/>
                      <a:gd name="connsiteY2" fmla="*/ 225443 h 225443"/>
                      <a:gd name="connsiteX3" fmla="*/ 0 w 52576"/>
                      <a:gd name="connsiteY3" fmla="*/ 158769 h 225443"/>
                      <a:gd name="connsiteX4" fmla="*/ 9525 w 52576"/>
                      <a:gd name="connsiteY4" fmla="*/ 0 h 225443"/>
                      <a:gd name="connsiteX0" fmla="*/ 9525 w 52576"/>
                      <a:gd name="connsiteY0" fmla="*/ 0 h 211156"/>
                      <a:gd name="connsiteX1" fmla="*/ 52576 w 52576"/>
                      <a:gd name="connsiteY1" fmla="*/ 66676 h 211156"/>
                      <a:gd name="connsiteX2" fmla="*/ 52576 w 52576"/>
                      <a:gd name="connsiteY2" fmla="*/ 211156 h 211156"/>
                      <a:gd name="connsiteX3" fmla="*/ 0 w 52576"/>
                      <a:gd name="connsiteY3" fmla="*/ 158769 h 211156"/>
                      <a:gd name="connsiteX4" fmla="*/ 9525 w 52576"/>
                      <a:gd name="connsiteY4" fmla="*/ 0 h 211156"/>
                      <a:gd name="connsiteX0" fmla="*/ 5486 w 48537"/>
                      <a:gd name="connsiteY0" fmla="*/ 0 h 211156"/>
                      <a:gd name="connsiteX1" fmla="*/ 48537 w 48537"/>
                      <a:gd name="connsiteY1" fmla="*/ 66676 h 211156"/>
                      <a:gd name="connsiteX2" fmla="*/ 48537 w 48537"/>
                      <a:gd name="connsiteY2" fmla="*/ 211156 h 211156"/>
                      <a:gd name="connsiteX3" fmla="*/ 0 w 48537"/>
                      <a:gd name="connsiteY3" fmla="*/ 166848 h 211156"/>
                      <a:gd name="connsiteX4" fmla="*/ 5486 w 48537"/>
                      <a:gd name="connsiteY4" fmla="*/ 0 h 211156"/>
                      <a:gd name="connsiteX0" fmla="*/ 5486 w 48537"/>
                      <a:gd name="connsiteY0" fmla="*/ 0 h 214186"/>
                      <a:gd name="connsiteX1" fmla="*/ 48537 w 48537"/>
                      <a:gd name="connsiteY1" fmla="*/ 66676 h 214186"/>
                      <a:gd name="connsiteX2" fmla="*/ 47527 w 48537"/>
                      <a:gd name="connsiteY2" fmla="*/ 214186 h 214186"/>
                      <a:gd name="connsiteX3" fmla="*/ 0 w 48537"/>
                      <a:gd name="connsiteY3" fmla="*/ 166848 h 214186"/>
                      <a:gd name="connsiteX4" fmla="*/ 5486 w 48537"/>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6848 h 214186"/>
                      <a:gd name="connsiteX4" fmla="*/ 5486 w 47571"/>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4828 h 214186"/>
                      <a:gd name="connsiteX4" fmla="*/ 5486 w 47571"/>
                      <a:gd name="connsiteY4" fmla="*/ 0 h 214186"/>
                      <a:gd name="connsiteX0" fmla="*/ 5486 w 46614"/>
                      <a:gd name="connsiteY0" fmla="*/ 0 h 215196"/>
                      <a:gd name="connsiteX1" fmla="*/ 46517 w 46614"/>
                      <a:gd name="connsiteY1" fmla="*/ 53548 h 215196"/>
                      <a:gd name="connsiteX2" fmla="*/ 46517 w 46614"/>
                      <a:gd name="connsiteY2" fmla="*/ 215196 h 215196"/>
                      <a:gd name="connsiteX3" fmla="*/ 0 w 46614"/>
                      <a:gd name="connsiteY3" fmla="*/ 164828 h 215196"/>
                      <a:gd name="connsiteX4" fmla="*/ 5486 w 46614"/>
                      <a:gd name="connsiteY4" fmla="*/ 0 h 215196"/>
                      <a:gd name="connsiteX0" fmla="*/ 5486 w 46517"/>
                      <a:gd name="connsiteY0" fmla="*/ 0 h 215196"/>
                      <a:gd name="connsiteX1" fmla="*/ 46517 w 46517"/>
                      <a:gd name="connsiteY1" fmla="*/ 53548 h 215196"/>
                      <a:gd name="connsiteX2" fmla="*/ 44497 w 46517"/>
                      <a:gd name="connsiteY2" fmla="*/ 215196 h 215196"/>
                      <a:gd name="connsiteX3" fmla="*/ 0 w 46517"/>
                      <a:gd name="connsiteY3" fmla="*/ 164828 h 215196"/>
                      <a:gd name="connsiteX4" fmla="*/ 5486 w 46517"/>
                      <a:gd name="connsiteY4" fmla="*/ 0 h 215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17" h="215196">
                        <a:moveTo>
                          <a:pt x="5486" y="0"/>
                        </a:moveTo>
                        <a:lnTo>
                          <a:pt x="46517" y="53548"/>
                        </a:lnTo>
                        <a:cubicBezTo>
                          <a:pt x="46180" y="102718"/>
                          <a:pt x="44834" y="166026"/>
                          <a:pt x="44497" y="215196"/>
                        </a:cubicBezTo>
                        <a:lnTo>
                          <a:pt x="0" y="164828"/>
                        </a:lnTo>
                        <a:lnTo>
                          <a:pt x="548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grpSp>
        </p:grpSp>
      </p:grpSp>
      <p:grpSp>
        <p:nvGrpSpPr>
          <p:cNvPr id="149" name="Group 148">
            <a:extLst>
              <a:ext uri="{FF2B5EF4-FFF2-40B4-BE49-F238E27FC236}">
                <a16:creationId xmlns:a16="http://schemas.microsoft.com/office/drawing/2014/main" id="{1F40FEE5-59A6-D40D-1334-80933B685B66}"/>
              </a:ext>
            </a:extLst>
          </p:cNvPr>
          <p:cNvGrpSpPr/>
          <p:nvPr/>
        </p:nvGrpSpPr>
        <p:grpSpPr>
          <a:xfrm>
            <a:off x="2454063" y="3643049"/>
            <a:ext cx="4326080" cy="525308"/>
            <a:chOff x="2454063" y="3659296"/>
            <a:chExt cx="4326080" cy="525308"/>
          </a:xfrm>
        </p:grpSpPr>
        <p:cxnSp>
          <p:nvCxnSpPr>
            <p:cNvPr id="209" name="Straight Connector 208">
              <a:extLst>
                <a:ext uri="{FF2B5EF4-FFF2-40B4-BE49-F238E27FC236}">
                  <a16:creationId xmlns:a16="http://schemas.microsoft.com/office/drawing/2014/main" id="{2B2DFE94-9640-6386-EC36-177DDAB86EE0}"/>
                </a:ext>
              </a:extLst>
            </p:cNvPr>
            <p:cNvCxnSpPr>
              <a:cxnSpLocks/>
            </p:cNvCxnSpPr>
            <p:nvPr/>
          </p:nvCxnSpPr>
          <p:spPr>
            <a:xfrm flipV="1">
              <a:off x="2454063" y="3780000"/>
              <a:ext cx="4133088" cy="35"/>
            </a:xfrm>
            <a:prstGeom prst="line">
              <a:avLst/>
            </a:prstGeom>
            <a:ln w="19050">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B1897055-3E94-2F13-57EB-21E4720FB3F4}"/>
                </a:ext>
              </a:extLst>
            </p:cNvPr>
            <p:cNvGrpSpPr/>
            <p:nvPr/>
          </p:nvGrpSpPr>
          <p:grpSpPr>
            <a:xfrm>
              <a:off x="2476068" y="3659296"/>
              <a:ext cx="420308" cy="525308"/>
              <a:chOff x="2476068" y="3659296"/>
              <a:chExt cx="420308" cy="525308"/>
            </a:xfrm>
          </p:grpSpPr>
          <p:grpSp>
            <p:nvGrpSpPr>
              <p:cNvPr id="210" name="Group 209">
                <a:extLst>
                  <a:ext uri="{FF2B5EF4-FFF2-40B4-BE49-F238E27FC236}">
                    <a16:creationId xmlns:a16="http://schemas.microsoft.com/office/drawing/2014/main" id="{055CDDA2-EBDE-3DA1-B63D-3C9C5CE8B369}"/>
                  </a:ext>
                </a:extLst>
              </p:cNvPr>
              <p:cNvGrpSpPr/>
              <p:nvPr/>
            </p:nvGrpSpPr>
            <p:grpSpPr>
              <a:xfrm>
                <a:off x="2563280" y="3659296"/>
                <a:ext cx="245885" cy="246133"/>
                <a:chOff x="3656155" y="165955"/>
                <a:chExt cx="355974" cy="355974"/>
              </a:xfrm>
            </p:grpSpPr>
            <p:sp>
              <p:nvSpPr>
                <p:cNvPr id="211" name="Oval 210">
                  <a:extLst>
                    <a:ext uri="{FF2B5EF4-FFF2-40B4-BE49-F238E27FC236}">
                      <a16:creationId xmlns:a16="http://schemas.microsoft.com/office/drawing/2014/main" id="{B177CC65-EB74-EB33-74B3-F772E2C0AA81}"/>
                    </a:ext>
                  </a:extLst>
                </p:cNvPr>
                <p:cNvSpPr/>
                <p:nvPr/>
              </p:nvSpPr>
              <p:spPr>
                <a:xfrm>
                  <a:off x="3656155"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grpSp>
              <p:nvGrpSpPr>
                <p:cNvPr id="212" name="Group 211">
                  <a:extLst>
                    <a:ext uri="{FF2B5EF4-FFF2-40B4-BE49-F238E27FC236}">
                      <a16:creationId xmlns:a16="http://schemas.microsoft.com/office/drawing/2014/main" id="{CE056A97-98E6-E11C-C877-ACC4390C34CC}"/>
                    </a:ext>
                  </a:extLst>
                </p:cNvPr>
                <p:cNvGrpSpPr/>
                <p:nvPr/>
              </p:nvGrpSpPr>
              <p:grpSpPr>
                <a:xfrm>
                  <a:off x="3712895" y="221713"/>
                  <a:ext cx="242496" cy="244442"/>
                  <a:chOff x="3995658" y="4815757"/>
                  <a:chExt cx="658670" cy="663962"/>
                </a:xfrm>
                <a:solidFill>
                  <a:schemeClr val="bg1">
                    <a:lumMod val="65000"/>
                  </a:schemeClr>
                </a:solidFill>
              </p:grpSpPr>
              <p:sp>
                <p:nvSpPr>
                  <p:cNvPr id="213" name="Freeform 21">
                    <a:extLst>
                      <a:ext uri="{FF2B5EF4-FFF2-40B4-BE49-F238E27FC236}">
                        <a16:creationId xmlns:a16="http://schemas.microsoft.com/office/drawing/2014/main" id="{57441D5A-710F-7AE8-7909-AB3B1EC85CD6}"/>
                      </a:ext>
                    </a:extLst>
                  </p:cNvPr>
                  <p:cNvSpPr>
                    <a:spLocks/>
                  </p:cNvSpPr>
                  <p:nvPr/>
                </p:nvSpPr>
                <p:spPr bwMode="auto">
                  <a:xfrm>
                    <a:off x="3995658" y="5130389"/>
                    <a:ext cx="305223" cy="337568"/>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214" name="Freeform 22">
                    <a:extLst>
                      <a:ext uri="{FF2B5EF4-FFF2-40B4-BE49-F238E27FC236}">
                        <a16:creationId xmlns:a16="http://schemas.microsoft.com/office/drawing/2014/main" id="{AB77428C-6710-1B30-A77C-B2E59F27F52D}"/>
                      </a:ext>
                    </a:extLst>
                  </p:cNvPr>
                  <p:cNvSpPr>
                    <a:spLocks noEditPoints="1"/>
                  </p:cNvSpPr>
                  <p:nvPr/>
                </p:nvSpPr>
                <p:spPr bwMode="auto">
                  <a:xfrm>
                    <a:off x="3999186" y="4815757"/>
                    <a:ext cx="655142" cy="663962"/>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sp>
            <p:nvSpPr>
              <p:cNvPr id="228" name="TextBox 227">
                <a:extLst>
                  <a:ext uri="{FF2B5EF4-FFF2-40B4-BE49-F238E27FC236}">
                    <a16:creationId xmlns:a16="http://schemas.microsoft.com/office/drawing/2014/main" id="{9981A93A-60D2-E2A2-F96C-BB529C23AB26}"/>
                  </a:ext>
                </a:extLst>
              </p:cNvPr>
              <p:cNvSpPr txBox="1"/>
              <p:nvPr/>
            </p:nvSpPr>
            <p:spPr>
              <a:xfrm>
                <a:off x="2476068" y="3953772"/>
                <a:ext cx="420308"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20%</a:t>
                </a:r>
              </a:p>
            </p:txBody>
          </p:sp>
        </p:grpSp>
        <p:grpSp>
          <p:nvGrpSpPr>
            <p:cNvPr id="135" name="Group 134">
              <a:extLst>
                <a:ext uri="{FF2B5EF4-FFF2-40B4-BE49-F238E27FC236}">
                  <a16:creationId xmlns:a16="http://schemas.microsoft.com/office/drawing/2014/main" id="{D90AFF53-47B3-583B-F071-D9EA6166AA3C}"/>
                </a:ext>
              </a:extLst>
            </p:cNvPr>
            <p:cNvGrpSpPr/>
            <p:nvPr/>
          </p:nvGrpSpPr>
          <p:grpSpPr>
            <a:xfrm>
              <a:off x="3281355" y="3659296"/>
              <a:ext cx="396262" cy="525308"/>
              <a:chOff x="3281355" y="3659296"/>
              <a:chExt cx="396262" cy="525308"/>
            </a:xfrm>
          </p:grpSpPr>
          <p:grpSp>
            <p:nvGrpSpPr>
              <p:cNvPr id="215" name="Group 214">
                <a:extLst>
                  <a:ext uri="{FF2B5EF4-FFF2-40B4-BE49-F238E27FC236}">
                    <a16:creationId xmlns:a16="http://schemas.microsoft.com/office/drawing/2014/main" id="{DF777CD3-9A09-3D50-7FD2-AF08B347550E}"/>
                  </a:ext>
                </a:extLst>
              </p:cNvPr>
              <p:cNvGrpSpPr/>
              <p:nvPr/>
            </p:nvGrpSpPr>
            <p:grpSpPr>
              <a:xfrm>
                <a:off x="3356544" y="3659296"/>
                <a:ext cx="245885" cy="246133"/>
                <a:chOff x="3136450" y="165955"/>
                <a:chExt cx="355974" cy="355974"/>
              </a:xfrm>
            </p:grpSpPr>
            <p:sp>
              <p:nvSpPr>
                <p:cNvPr id="216" name="Oval 215">
                  <a:extLst>
                    <a:ext uri="{FF2B5EF4-FFF2-40B4-BE49-F238E27FC236}">
                      <a16:creationId xmlns:a16="http://schemas.microsoft.com/office/drawing/2014/main" id="{1D74DD61-513A-CA2D-1D16-4FD0D4520C70}"/>
                    </a:ext>
                  </a:extLst>
                </p:cNvPr>
                <p:cNvSpPr/>
                <p:nvPr/>
              </p:nvSpPr>
              <p:spPr>
                <a:xfrm>
                  <a:off x="3136450"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217" name="Freeform 50">
                  <a:extLst>
                    <a:ext uri="{FF2B5EF4-FFF2-40B4-BE49-F238E27FC236}">
                      <a16:creationId xmlns:a16="http://schemas.microsoft.com/office/drawing/2014/main" id="{ADF0C5F2-8FF1-7452-EEA7-0CD71F8F2F1A}"/>
                    </a:ext>
                  </a:extLst>
                </p:cNvPr>
                <p:cNvSpPr>
                  <a:spLocks noEditPoints="1"/>
                </p:cNvSpPr>
                <p:nvPr/>
              </p:nvSpPr>
              <p:spPr bwMode="auto">
                <a:xfrm>
                  <a:off x="3221400" y="246998"/>
                  <a:ext cx="186075" cy="193887"/>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lumMod val="6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229" name="TextBox 228">
                <a:extLst>
                  <a:ext uri="{FF2B5EF4-FFF2-40B4-BE49-F238E27FC236}">
                    <a16:creationId xmlns:a16="http://schemas.microsoft.com/office/drawing/2014/main" id="{5101180F-A0B3-F188-9062-BBC04476ED5F}"/>
                  </a:ext>
                </a:extLst>
              </p:cNvPr>
              <p:cNvSpPr txBox="1"/>
              <p:nvPr/>
            </p:nvSpPr>
            <p:spPr>
              <a:xfrm>
                <a:off x="3281355" y="3953772"/>
                <a:ext cx="39626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18%</a:t>
                </a:r>
              </a:p>
            </p:txBody>
          </p:sp>
        </p:grpSp>
        <p:grpSp>
          <p:nvGrpSpPr>
            <p:cNvPr id="136" name="Group 135">
              <a:extLst>
                <a:ext uri="{FF2B5EF4-FFF2-40B4-BE49-F238E27FC236}">
                  <a16:creationId xmlns:a16="http://schemas.microsoft.com/office/drawing/2014/main" id="{FAA32B03-43C0-95E8-5355-D855E666C3E1}"/>
                </a:ext>
              </a:extLst>
            </p:cNvPr>
            <p:cNvGrpSpPr/>
            <p:nvPr/>
          </p:nvGrpSpPr>
          <p:grpSpPr>
            <a:xfrm>
              <a:off x="4062596" y="3659296"/>
              <a:ext cx="391454" cy="525308"/>
              <a:chOff x="4062596" y="3659296"/>
              <a:chExt cx="391454" cy="525308"/>
            </a:xfrm>
          </p:grpSpPr>
          <p:grpSp>
            <p:nvGrpSpPr>
              <p:cNvPr id="218" name="Group 217">
                <a:extLst>
                  <a:ext uri="{FF2B5EF4-FFF2-40B4-BE49-F238E27FC236}">
                    <a16:creationId xmlns:a16="http://schemas.microsoft.com/office/drawing/2014/main" id="{9488A3C4-41EE-48A0-4D6C-5ABCABA3F80D}"/>
                  </a:ext>
                </a:extLst>
              </p:cNvPr>
              <p:cNvGrpSpPr/>
              <p:nvPr/>
            </p:nvGrpSpPr>
            <p:grpSpPr>
              <a:xfrm>
                <a:off x="4135381" y="3659296"/>
                <a:ext cx="245885" cy="246133"/>
                <a:chOff x="3964936" y="5578036"/>
                <a:chExt cx="355974" cy="355974"/>
              </a:xfrm>
            </p:grpSpPr>
            <p:sp>
              <p:nvSpPr>
                <p:cNvPr id="219" name="Oval 218">
                  <a:extLst>
                    <a:ext uri="{FF2B5EF4-FFF2-40B4-BE49-F238E27FC236}">
                      <a16:creationId xmlns:a16="http://schemas.microsoft.com/office/drawing/2014/main" id="{1FF88FD1-8928-1A1F-DF9B-23535664FF40}"/>
                    </a:ext>
                  </a:extLst>
                </p:cNvPr>
                <p:cNvSpPr/>
                <p:nvPr/>
              </p:nvSpPr>
              <p:spPr>
                <a:xfrm>
                  <a:off x="3964936" y="5578036"/>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220" name="Freeform 16">
                  <a:extLst>
                    <a:ext uri="{FF2B5EF4-FFF2-40B4-BE49-F238E27FC236}">
                      <a16:creationId xmlns:a16="http://schemas.microsoft.com/office/drawing/2014/main" id="{6CE7AC22-80E8-80C8-4E80-2BA22637D3EB}"/>
                    </a:ext>
                  </a:extLst>
                </p:cNvPr>
                <p:cNvSpPr>
                  <a:spLocks/>
                </p:cNvSpPr>
                <p:nvPr/>
              </p:nvSpPr>
              <p:spPr bwMode="auto">
                <a:xfrm>
                  <a:off x="4024624" y="5677433"/>
                  <a:ext cx="236597" cy="157181"/>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230" name="TextBox 229">
                <a:extLst>
                  <a:ext uri="{FF2B5EF4-FFF2-40B4-BE49-F238E27FC236}">
                    <a16:creationId xmlns:a16="http://schemas.microsoft.com/office/drawing/2014/main" id="{B389DED5-22C5-4CC4-DF1F-86F421696415}"/>
                  </a:ext>
                </a:extLst>
              </p:cNvPr>
              <p:cNvSpPr txBox="1"/>
              <p:nvPr/>
            </p:nvSpPr>
            <p:spPr>
              <a:xfrm>
                <a:off x="4062596" y="3953772"/>
                <a:ext cx="39145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15%</a:t>
                </a:r>
              </a:p>
            </p:txBody>
          </p:sp>
        </p:grpSp>
        <p:grpSp>
          <p:nvGrpSpPr>
            <p:cNvPr id="139" name="Group 138">
              <a:extLst>
                <a:ext uri="{FF2B5EF4-FFF2-40B4-BE49-F238E27FC236}">
                  <a16:creationId xmlns:a16="http://schemas.microsoft.com/office/drawing/2014/main" id="{EC8C1E5B-E660-4600-E8CA-FAD1F10D4EB3}"/>
                </a:ext>
              </a:extLst>
            </p:cNvPr>
            <p:cNvGrpSpPr/>
            <p:nvPr/>
          </p:nvGrpSpPr>
          <p:grpSpPr>
            <a:xfrm>
              <a:off x="4839029" y="3664233"/>
              <a:ext cx="401072" cy="520371"/>
              <a:chOff x="4839029" y="3664233"/>
              <a:chExt cx="401072" cy="520371"/>
            </a:xfrm>
          </p:grpSpPr>
          <p:grpSp>
            <p:nvGrpSpPr>
              <p:cNvPr id="221" name="Group 4">
                <a:extLst>
                  <a:ext uri="{FF2B5EF4-FFF2-40B4-BE49-F238E27FC236}">
                    <a16:creationId xmlns:a16="http://schemas.microsoft.com/office/drawing/2014/main" id="{E6F2DBE5-430C-9502-38E7-F634617CBCFB}"/>
                  </a:ext>
                </a:extLst>
              </p:cNvPr>
              <p:cNvGrpSpPr>
                <a:grpSpLocks noChangeAspect="1"/>
              </p:cNvGrpSpPr>
              <p:nvPr/>
            </p:nvGrpSpPr>
            <p:grpSpPr bwMode="auto">
              <a:xfrm>
                <a:off x="4931970" y="3664233"/>
                <a:ext cx="215190" cy="236259"/>
                <a:chOff x="7312" y="4020"/>
                <a:chExt cx="143" cy="157"/>
              </a:xfrm>
              <a:solidFill>
                <a:srgbClr val="EC111A"/>
              </a:solidFill>
            </p:grpSpPr>
            <p:sp>
              <p:nvSpPr>
                <p:cNvPr id="222" name="Freeform 5">
                  <a:extLst>
                    <a:ext uri="{FF2B5EF4-FFF2-40B4-BE49-F238E27FC236}">
                      <a16:creationId xmlns:a16="http://schemas.microsoft.com/office/drawing/2014/main" id="{E98003B6-17EF-BF82-3822-2D4E90261853}"/>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23" name="Freeform 6">
                  <a:extLst>
                    <a:ext uri="{FF2B5EF4-FFF2-40B4-BE49-F238E27FC236}">
                      <a16:creationId xmlns:a16="http://schemas.microsoft.com/office/drawing/2014/main" id="{67A4C927-2E7B-1548-3D4B-DCA58E1130D3}"/>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24" name="Oval 7">
                  <a:extLst>
                    <a:ext uri="{FF2B5EF4-FFF2-40B4-BE49-F238E27FC236}">
                      <a16:creationId xmlns:a16="http://schemas.microsoft.com/office/drawing/2014/main" id="{0DC633E0-1C79-B072-630A-82B3EE8575BC}"/>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sp>
            <p:nvSpPr>
              <p:cNvPr id="231" name="TextBox 230">
                <a:extLst>
                  <a:ext uri="{FF2B5EF4-FFF2-40B4-BE49-F238E27FC236}">
                    <a16:creationId xmlns:a16="http://schemas.microsoft.com/office/drawing/2014/main" id="{9911B11A-C7E8-F424-59D1-A9F65CA7082E}"/>
                  </a:ext>
                </a:extLst>
              </p:cNvPr>
              <p:cNvSpPr txBox="1"/>
              <p:nvPr/>
            </p:nvSpPr>
            <p:spPr>
              <a:xfrm>
                <a:off x="4839029" y="3953772"/>
                <a:ext cx="40107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FF0000"/>
                    </a:solidFill>
                    <a:effectLst/>
                    <a:uLnTx/>
                    <a:uFillTx/>
                    <a:latin typeface="Scotia"/>
                    <a:ea typeface="+mn-ea"/>
                    <a:cs typeface="+mn-cs"/>
                  </a:rPr>
                  <a:t>13%</a:t>
                </a:r>
              </a:p>
            </p:txBody>
          </p:sp>
        </p:grpSp>
        <p:grpSp>
          <p:nvGrpSpPr>
            <p:cNvPr id="140" name="Group 139">
              <a:extLst>
                <a:ext uri="{FF2B5EF4-FFF2-40B4-BE49-F238E27FC236}">
                  <a16:creationId xmlns:a16="http://schemas.microsoft.com/office/drawing/2014/main" id="{BA985611-51E4-BC36-DA1B-BA9DC4441FFE}"/>
                </a:ext>
              </a:extLst>
            </p:cNvPr>
            <p:cNvGrpSpPr/>
            <p:nvPr/>
          </p:nvGrpSpPr>
          <p:grpSpPr>
            <a:xfrm>
              <a:off x="5625080" y="3659296"/>
              <a:ext cx="393056" cy="525308"/>
              <a:chOff x="5625080" y="3659296"/>
              <a:chExt cx="393056" cy="525308"/>
            </a:xfrm>
          </p:grpSpPr>
          <p:grpSp>
            <p:nvGrpSpPr>
              <p:cNvPr id="225" name="Group 224">
                <a:extLst>
                  <a:ext uri="{FF2B5EF4-FFF2-40B4-BE49-F238E27FC236}">
                    <a16:creationId xmlns:a16="http://schemas.microsoft.com/office/drawing/2014/main" id="{129799E2-C36C-9B85-99A8-20B5F5B85331}"/>
                  </a:ext>
                </a:extLst>
              </p:cNvPr>
              <p:cNvGrpSpPr/>
              <p:nvPr/>
            </p:nvGrpSpPr>
            <p:grpSpPr>
              <a:xfrm>
                <a:off x="5698666" y="3659296"/>
                <a:ext cx="245885" cy="246133"/>
                <a:chOff x="10506024" y="4552950"/>
                <a:chExt cx="360000" cy="360363"/>
              </a:xfrm>
            </p:grpSpPr>
            <p:sp>
              <p:nvSpPr>
                <p:cNvPr id="226" name="Oval 225">
                  <a:extLst>
                    <a:ext uri="{FF2B5EF4-FFF2-40B4-BE49-F238E27FC236}">
                      <a16:creationId xmlns:a16="http://schemas.microsoft.com/office/drawing/2014/main" id="{8BFC38C5-FCBF-99B6-173E-308107D9DFF5}"/>
                    </a:ext>
                  </a:extLst>
                </p:cNvPr>
                <p:cNvSpPr/>
                <p:nvPr/>
              </p:nvSpPr>
              <p:spPr>
                <a:xfrm>
                  <a:off x="10506024" y="4552950"/>
                  <a:ext cx="360000" cy="360363"/>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227" name="Graphic 226">
                  <a:extLst>
                    <a:ext uri="{FF2B5EF4-FFF2-40B4-BE49-F238E27FC236}">
                      <a16:creationId xmlns:a16="http://schemas.microsoft.com/office/drawing/2014/main" id="{E6AD43AD-16EB-35C0-4B6E-1C9ECB4240C5}"/>
                    </a:ext>
                  </a:extLst>
                </p:cNvPr>
                <p:cNvPicPr>
                  <a:picLocks noChangeAspect="1"/>
                </p:cNvPicPr>
                <p:nvPr/>
              </p:nvPicPr>
              <p:blipFill rotWithShape="1">
                <a:blip>
                  <a:extLst>
                    <a:ext uri="{96DAC541-7B7A-43D3-8B79-37D633B846F1}">
                      <asvg:svgBlip xmlns:asvg="http://schemas.microsoft.com/office/drawing/2016/SVG/main" r:embed="rId7"/>
                    </a:ext>
                  </a:extLst>
                </a:blip>
                <a:srcRect l="68303"/>
                <a:stretch/>
              </p:blipFill>
              <p:spPr>
                <a:xfrm>
                  <a:off x="10558385" y="4631311"/>
                  <a:ext cx="255278" cy="203641"/>
                </a:xfrm>
                <a:prstGeom prst="rect">
                  <a:avLst/>
                </a:prstGeom>
              </p:spPr>
            </p:pic>
          </p:grpSp>
          <p:sp>
            <p:nvSpPr>
              <p:cNvPr id="232" name="TextBox 231">
                <a:extLst>
                  <a:ext uri="{FF2B5EF4-FFF2-40B4-BE49-F238E27FC236}">
                    <a16:creationId xmlns:a16="http://schemas.microsoft.com/office/drawing/2014/main" id="{4360E6A6-790B-5A2C-3510-227CC38673B8}"/>
                  </a:ext>
                </a:extLst>
              </p:cNvPr>
              <p:cNvSpPr txBox="1"/>
              <p:nvPr/>
            </p:nvSpPr>
            <p:spPr>
              <a:xfrm>
                <a:off x="5625080" y="3953772"/>
                <a:ext cx="39305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12%</a:t>
                </a:r>
              </a:p>
            </p:txBody>
          </p:sp>
        </p:grpSp>
        <p:grpSp>
          <p:nvGrpSpPr>
            <p:cNvPr id="141" name="Group 140">
              <a:extLst>
                <a:ext uri="{FF2B5EF4-FFF2-40B4-BE49-F238E27FC236}">
                  <a16:creationId xmlns:a16="http://schemas.microsoft.com/office/drawing/2014/main" id="{286024EE-C508-B032-9188-966AD74873C2}"/>
                </a:ext>
              </a:extLst>
            </p:cNvPr>
            <p:cNvGrpSpPr/>
            <p:nvPr/>
          </p:nvGrpSpPr>
          <p:grpSpPr>
            <a:xfrm>
              <a:off x="6403117" y="3659331"/>
              <a:ext cx="377026" cy="525273"/>
              <a:chOff x="6403117" y="3659331"/>
              <a:chExt cx="377026" cy="525273"/>
            </a:xfrm>
          </p:grpSpPr>
          <p:sp>
            <p:nvSpPr>
              <p:cNvPr id="233" name="TextBox 232">
                <a:extLst>
                  <a:ext uri="{FF2B5EF4-FFF2-40B4-BE49-F238E27FC236}">
                    <a16:creationId xmlns:a16="http://schemas.microsoft.com/office/drawing/2014/main" id="{8BD2985F-06AA-3F4E-223B-2894925AB140}"/>
                  </a:ext>
                </a:extLst>
              </p:cNvPr>
              <p:cNvSpPr txBox="1"/>
              <p:nvPr/>
            </p:nvSpPr>
            <p:spPr>
              <a:xfrm>
                <a:off x="6403117" y="3953772"/>
                <a:ext cx="37702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11%</a:t>
                </a:r>
              </a:p>
            </p:txBody>
          </p:sp>
          <p:grpSp>
            <p:nvGrpSpPr>
              <p:cNvPr id="234" name="Group 233">
                <a:extLst>
                  <a:ext uri="{FF2B5EF4-FFF2-40B4-BE49-F238E27FC236}">
                    <a16:creationId xmlns:a16="http://schemas.microsoft.com/office/drawing/2014/main" id="{762A69FF-6DA3-10C7-0AFC-0EF6A0E1F483}"/>
                  </a:ext>
                </a:extLst>
              </p:cNvPr>
              <p:cNvGrpSpPr/>
              <p:nvPr/>
            </p:nvGrpSpPr>
            <p:grpSpPr>
              <a:xfrm>
                <a:off x="6468599" y="3659331"/>
                <a:ext cx="246063" cy="246063"/>
                <a:chOff x="3956206" y="357635"/>
                <a:chExt cx="863600" cy="862013"/>
              </a:xfrm>
            </p:grpSpPr>
            <p:sp>
              <p:nvSpPr>
                <p:cNvPr id="235" name="Oval 234">
                  <a:extLst>
                    <a:ext uri="{FF2B5EF4-FFF2-40B4-BE49-F238E27FC236}">
                      <a16:creationId xmlns:a16="http://schemas.microsoft.com/office/drawing/2014/main" id="{369EC62B-F6D6-3210-B8F9-8BA955526976}"/>
                    </a:ext>
                  </a:extLst>
                </p:cNvPr>
                <p:cNvSpPr/>
                <p:nvPr/>
              </p:nvSpPr>
              <p:spPr>
                <a:xfrm>
                  <a:off x="3956206" y="357635"/>
                  <a:ext cx="863600" cy="862013"/>
                </a:xfrm>
                <a:prstGeom prst="ellipse">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nvGrpSpPr>
                <p:cNvPr id="236" name="Group 235">
                  <a:extLst>
                    <a:ext uri="{FF2B5EF4-FFF2-40B4-BE49-F238E27FC236}">
                      <a16:creationId xmlns:a16="http://schemas.microsoft.com/office/drawing/2014/main" id="{1699B57B-3503-9C64-5923-E527C3A332DF}"/>
                    </a:ext>
                  </a:extLst>
                </p:cNvPr>
                <p:cNvGrpSpPr/>
                <p:nvPr/>
              </p:nvGrpSpPr>
              <p:grpSpPr>
                <a:xfrm>
                  <a:off x="4109346" y="521528"/>
                  <a:ext cx="557321" cy="519481"/>
                  <a:chOff x="4952132" y="652822"/>
                  <a:chExt cx="548633" cy="511384"/>
                </a:xfrm>
                <a:solidFill>
                  <a:srgbClr val="A6A6A6"/>
                </a:solidFill>
              </p:grpSpPr>
              <p:sp>
                <p:nvSpPr>
                  <p:cNvPr id="237" name="Rectangle 77">
                    <a:extLst>
                      <a:ext uri="{FF2B5EF4-FFF2-40B4-BE49-F238E27FC236}">
                        <a16:creationId xmlns:a16="http://schemas.microsoft.com/office/drawing/2014/main" id="{419B6298-09D5-2D92-E442-53EDC4FA7944}"/>
                      </a:ext>
                    </a:extLst>
                  </p:cNvPr>
                  <p:cNvSpPr/>
                  <p:nvPr/>
                </p:nvSpPr>
                <p:spPr>
                  <a:xfrm>
                    <a:off x="4952132" y="652822"/>
                    <a:ext cx="225891" cy="445835"/>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5800"/>
                      <a:gd name="connsiteY0" fmla="*/ 2792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7927 h 189077"/>
                      <a:gd name="connsiteX0" fmla="*/ 0 w 95800"/>
                      <a:gd name="connsiteY0" fmla="*/ 2489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4897 h 189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00" h="189077">
                        <a:moveTo>
                          <a:pt x="0" y="24897"/>
                        </a:moveTo>
                        <a:lnTo>
                          <a:pt x="95800" y="0"/>
                        </a:lnTo>
                        <a:lnTo>
                          <a:pt x="90676" y="165264"/>
                        </a:lnTo>
                        <a:lnTo>
                          <a:pt x="0" y="189077"/>
                        </a:lnTo>
                        <a:lnTo>
                          <a:pt x="0" y="2489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38" name="Rectangle 77">
                    <a:extLst>
                      <a:ext uri="{FF2B5EF4-FFF2-40B4-BE49-F238E27FC236}">
                        <a16:creationId xmlns:a16="http://schemas.microsoft.com/office/drawing/2014/main" id="{A6BDCA3B-24E2-795A-68AD-1472939CBD22}"/>
                      </a:ext>
                    </a:extLst>
                  </p:cNvPr>
                  <p:cNvSpPr/>
                  <p:nvPr/>
                </p:nvSpPr>
                <p:spPr>
                  <a:xfrm>
                    <a:off x="5267729" y="701703"/>
                    <a:ext cx="233036" cy="462503"/>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6735 w 97820"/>
                      <a:gd name="connsiteY2" fmla="*/ 169303 h 192106"/>
                      <a:gd name="connsiteX3" fmla="*/ 0 w 97820"/>
                      <a:gd name="connsiteY3" fmla="*/ 192106 h 192106"/>
                      <a:gd name="connsiteX4" fmla="*/ 0 w 97820"/>
                      <a:gd name="connsiteY4" fmla="*/ 30956 h 192106"/>
                      <a:gd name="connsiteX0" fmla="*/ 1010 w 98830"/>
                      <a:gd name="connsiteY0" fmla="*/ 30956 h 196146"/>
                      <a:gd name="connsiteX1" fmla="*/ 98830 w 98830"/>
                      <a:gd name="connsiteY1" fmla="*/ 0 h 196146"/>
                      <a:gd name="connsiteX2" fmla="*/ 97745 w 98830"/>
                      <a:gd name="connsiteY2" fmla="*/ 169303 h 196146"/>
                      <a:gd name="connsiteX3" fmla="*/ 0 w 98830"/>
                      <a:gd name="connsiteY3" fmla="*/ 196146 h 196146"/>
                      <a:gd name="connsiteX4" fmla="*/ 1010 w 98830"/>
                      <a:gd name="connsiteY4" fmla="*/ 30956 h 19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30" h="196146">
                        <a:moveTo>
                          <a:pt x="1010" y="30956"/>
                        </a:moveTo>
                        <a:lnTo>
                          <a:pt x="98830" y="0"/>
                        </a:lnTo>
                        <a:cubicBezTo>
                          <a:pt x="98468" y="56434"/>
                          <a:pt x="98107" y="112869"/>
                          <a:pt x="97745" y="169303"/>
                        </a:cubicBezTo>
                        <a:lnTo>
                          <a:pt x="0" y="196146"/>
                        </a:lnTo>
                        <a:cubicBezTo>
                          <a:pt x="337" y="141083"/>
                          <a:pt x="673" y="86019"/>
                          <a:pt x="1010" y="3095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39" name="Rectangle 77">
                    <a:extLst>
                      <a:ext uri="{FF2B5EF4-FFF2-40B4-BE49-F238E27FC236}">
                        <a16:creationId xmlns:a16="http://schemas.microsoft.com/office/drawing/2014/main" id="{348A067B-A156-742B-71D4-7F82109BEAF5}"/>
                      </a:ext>
                    </a:extLst>
                  </p:cNvPr>
                  <p:cNvSpPr/>
                  <p:nvPr/>
                </p:nvSpPr>
                <p:spPr>
                  <a:xfrm>
                    <a:off x="5163482" y="652823"/>
                    <a:ext cx="109685" cy="507422"/>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70674 h 192106"/>
                      <a:gd name="connsiteX3" fmla="*/ 0 w 97820"/>
                      <a:gd name="connsiteY3" fmla="*/ 192106 h 192106"/>
                      <a:gd name="connsiteX4" fmla="*/ 0 w 97820"/>
                      <a:gd name="connsiteY4" fmla="*/ 30956 h 192106"/>
                      <a:gd name="connsiteX0" fmla="*/ 47625 w 97820"/>
                      <a:gd name="connsiteY0" fmla="*/ 0 h 246875"/>
                      <a:gd name="connsiteX1" fmla="*/ 97820 w 97820"/>
                      <a:gd name="connsiteY1" fmla="*/ 54769 h 246875"/>
                      <a:gd name="connsiteX2" fmla="*/ 90676 w 97820"/>
                      <a:gd name="connsiteY2" fmla="*/ 225443 h 246875"/>
                      <a:gd name="connsiteX3" fmla="*/ 0 w 97820"/>
                      <a:gd name="connsiteY3" fmla="*/ 246875 h 246875"/>
                      <a:gd name="connsiteX4" fmla="*/ 47625 w 97820"/>
                      <a:gd name="connsiteY4" fmla="*/ 0 h 246875"/>
                      <a:gd name="connsiteX0" fmla="*/ 47625 w 90676"/>
                      <a:gd name="connsiteY0" fmla="*/ 0 h 246875"/>
                      <a:gd name="connsiteX1" fmla="*/ 90676 w 90676"/>
                      <a:gd name="connsiteY1" fmla="*/ 66676 h 246875"/>
                      <a:gd name="connsiteX2" fmla="*/ 90676 w 90676"/>
                      <a:gd name="connsiteY2" fmla="*/ 225443 h 246875"/>
                      <a:gd name="connsiteX3" fmla="*/ 0 w 90676"/>
                      <a:gd name="connsiteY3" fmla="*/ 246875 h 246875"/>
                      <a:gd name="connsiteX4" fmla="*/ 47625 w 90676"/>
                      <a:gd name="connsiteY4" fmla="*/ 0 h 246875"/>
                      <a:gd name="connsiteX0" fmla="*/ 7144 w 50195"/>
                      <a:gd name="connsiteY0" fmla="*/ 0 h 225443"/>
                      <a:gd name="connsiteX1" fmla="*/ 50195 w 50195"/>
                      <a:gd name="connsiteY1" fmla="*/ 66676 h 225443"/>
                      <a:gd name="connsiteX2" fmla="*/ 50195 w 50195"/>
                      <a:gd name="connsiteY2" fmla="*/ 225443 h 225443"/>
                      <a:gd name="connsiteX3" fmla="*/ 0 w 50195"/>
                      <a:gd name="connsiteY3" fmla="*/ 180200 h 225443"/>
                      <a:gd name="connsiteX4" fmla="*/ 7144 w 50195"/>
                      <a:gd name="connsiteY4" fmla="*/ 0 h 225443"/>
                      <a:gd name="connsiteX0" fmla="*/ 9525 w 52576"/>
                      <a:gd name="connsiteY0" fmla="*/ 0 h 225443"/>
                      <a:gd name="connsiteX1" fmla="*/ 52576 w 52576"/>
                      <a:gd name="connsiteY1" fmla="*/ 66676 h 225443"/>
                      <a:gd name="connsiteX2" fmla="*/ 52576 w 52576"/>
                      <a:gd name="connsiteY2" fmla="*/ 225443 h 225443"/>
                      <a:gd name="connsiteX3" fmla="*/ 0 w 52576"/>
                      <a:gd name="connsiteY3" fmla="*/ 158769 h 225443"/>
                      <a:gd name="connsiteX4" fmla="*/ 9525 w 52576"/>
                      <a:gd name="connsiteY4" fmla="*/ 0 h 225443"/>
                      <a:gd name="connsiteX0" fmla="*/ 9525 w 52576"/>
                      <a:gd name="connsiteY0" fmla="*/ 0 h 211156"/>
                      <a:gd name="connsiteX1" fmla="*/ 52576 w 52576"/>
                      <a:gd name="connsiteY1" fmla="*/ 66676 h 211156"/>
                      <a:gd name="connsiteX2" fmla="*/ 52576 w 52576"/>
                      <a:gd name="connsiteY2" fmla="*/ 211156 h 211156"/>
                      <a:gd name="connsiteX3" fmla="*/ 0 w 52576"/>
                      <a:gd name="connsiteY3" fmla="*/ 158769 h 211156"/>
                      <a:gd name="connsiteX4" fmla="*/ 9525 w 52576"/>
                      <a:gd name="connsiteY4" fmla="*/ 0 h 211156"/>
                      <a:gd name="connsiteX0" fmla="*/ 5486 w 48537"/>
                      <a:gd name="connsiteY0" fmla="*/ 0 h 211156"/>
                      <a:gd name="connsiteX1" fmla="*/ 48537 w 48537"/>
                      <a:gd name="connsiteY1" fmla="*/ 66676 h 211156"/>
                      <a:gd name="connsiteX2" fmla="*/ 48537 w 48537"/>
                      <a:gd name="connsiteY2" fmla="*/ 211156 h 211156"/>
                      <a:gd name="connsiteX3" fmla="*/ 0 w 48537"/>
                      <a:gd name="connsiteY3" fmla="*/ 166848 h 211156"/>
                      <a:gd name="connsiteX4" fmla="*/ 5486 w 48537"/>
                      <a:gd name="connsiteY4" fmla="*/ 0 h 211156"/>
                      <a:gd name="connsiteX0" fmla="*/ 5486 w 48537"/>
                      <a:gd name="connsiteY0" fmla="*/ 0 h 214186"/>
                      <a:gd name="connsiteX1" fmla="*/ 48537 w 48537"/>
                      <a:gd name="connsiteY1" fmla="*/ 66676 h 214186"/>
                      <a:gd name="connsiteX2" fmla="*/ 47527 w 48537"/>
                      <a:gd name="connsiteY2" fmla="*/ 214186 h 214186"/>
                      <a:gd name="connsiteX3" fmla="*/ 0 w 48537"/>
                      <a:gd name="connsiteY3" fmla="*/ 166848 h 214186"/>
                      <a:gd name="connsiteX4" fmla="*/ 5486 w 48537"/>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6848 h 214186"/>
                      <a:gd name="connsiteX4" fmla="*/ 5486 w 47571"/>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4828 h 214186"/>
                      <a:gd name="connsiteX4" fmla="*/ 5486 w 47571"/>
                      <a:gd name="connsiteY4" fmla="*/ 0 h 214186"/>
                      <a:gd name="connsiteX0" fmla="*/ 5486 w 46614"/>
                      <a:gd name="connsiteY0" fmla="*/ 0 h 215196"/>
                      <a:gd name="connsiteX1" fmla="*/ 46517 w 46614"/>
                      <a:gd name="connsiteY1" fmla="*/ 53548 h 215196"/>
                      <a:gd name="connsiteX2" fmla="*/ 46517 w 46614"/>
                      <a:gd name="connsiteY2" fmla="*/ 215196 h 215196"/>
                      <a:gd name="connsiteX3" fmla="*/ 0 w 46614"/>
                      <a:gd name="connsiteY3" fmla="*/ 164828 h 215196"/>
                      <a:gd name="connsiteX4" fmla="*/ 5486 w 46614"/>
                      <a:gd name="connsiteY4" fmla="*/ 0 h 215196"/>
                      <a:gd name="connsiteX0" fmla="*/ 5486 w 46517"/>
                      <a:gd name="connsiteY0" fmla="*/ 0 h 215196"/>
                      <a:gd name="connsiteX1" fmla="*/ 46517 w 46517"/>
                      <a:gd name="connsiteY1" fmla="*/ 53548 h 215196"/>
                      <a:gd name="connsiteX2" fmla="*/ 44497 w 46517"/>
                      <a:gd name="connsiteY2" fmla="*/ 215196 h 215196"/>
                      <a:gd name="connsiteX3" fmla="*/ 0 w 46517"/>
                      <a:gd name="connsiteY3" fmla="*/ 164828 h 215196"/>
                      <a:gd name="connsiteX4" fmla="*/ 5486 w 46517"/>
                      <a:gd name="connsiteY4" fmla="*/ 0 h 215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17" h="215196">
                        <a:moveTo>
                          <a:pt x="5486" y="0"/>
                        </a:moveTo>
                        <a:lnTo>
                          <a:pt x="46517" y="53548"/>
                        </a:lnTo>
                        <a:cubicBezTo>
                          <a:pt x="46180" y="102718"/>
                          <a:pt x="44834" y="166026"/>
                          <a:pt x="44497" y="215196"/>
                        </a:cubicBezTo>
                        <a:lnTo>
                          <a:pt x="0" y="164828"/>
                        </a:lnTo>
                        <a:lnTo>
                          <a:pt x="548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grpSp>
        </p:grpSp>
      </p:grpSp>
      <p:grpSp>
        <p:nvGrpSpPr>
          <p:cNvPr id="151" name="Group 150">
            <a:extLst>
              <a:ext uri="{FF2B5EF4-FFF2-40B4-BE49-F238E27FC236}">
                <a16:creationId xmlns:a16="http://schemas.microsoft.com/office/drawing/2014/main" id="{5FDC9889-92A5-50DB-3D7D-EBEEF01428BC}"/>
              </a:ext>
            </a:extLst>
          </p:cNvPr>
          <p:cNvGrpSpPr/>
          <p:nvPr/>
        </p:nvGrpSpPr>
        <p:grpSpPr>
          <a:xfrm>
            <a:off x="2454063" y="5463389"/>
            <a:ext cx="4353332" cy="535747"/>
            <a:chOff x="2454063" y="5448705"/>
            <a:chExt cx="4353332" cy="535747"/>
          </a:xfrm>
        </p:grpSpPr>
        <p:cxnSp>
          <p:nvCxnSpPr>
            <p:cNvPr id="18" name="Straight Connector 17">
              <a:extLst>
                <a:ext uri="{FF2B5EF4-FFF2-40B4-BE49-F238E27FC236}">
                  <a16:creationId xmlns:a16="http://schemas.microsoft.com/office/drawing/2014/main" id="{4EBF90A4-AA39-6638-DD03-93E542614B2E}"/>
                </a:ext>
              </a:extLst>
            </p:cNvPr>
            <p:cNvCxnSpPr>
              <a:cxnSpLocks/>
            </p:cNvCxnSpPr>
            <p:nvPr/>
          </p:nvCxnSpPr>
          <p:spPr>
            <a:xfrm>
              <a:off x="2454063" y="5576535"/>
              <a:ext cx="4133088" cy="0"/>
            </a:xfrm>
            <a:prstGeom prst="line">
              <a:avLst/>
            </a:prstGeom>
            <a:ln w="19050">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17" name="Group 116">
              <a:extLst>
                <a:ext uri="{FF2B5EF4-FFF2-40B4-BE49-F238E27FC236}">
                  <a16:creationId xmlns:a16="http://schemas.microsoft.com/office/drawing/2014/main" id="{8D03A336-348B-CE2E-021C-E35C73F6B5CC}"/>
                </a:ext>
              </a:extLst>
            </p:cNvPr>
            <p:cNvGrpSpPr/>
            <p:nvPr/>
          </p:nvGrpSpPr>
          <p:grpSpPr>
            <a:xfrm>
              <a:off x="2476068" y="5448705"/>
              <a:ext cx="396262" cy="535747"/>
              <a:chOff x="2476068" y="5448705"/>
              <a:chExt cx="396262" cy="535747"/>
            </a:xfrm>
          </p:grpSpPr>
          <p:grpSp>
            <p:nvGrpSpPr>
              <p:cNvPr id="66" name="Group 65">
                <a:extLst>
                  <a:ext uri="{FF2B5EF4-FFF2-40B4-BE49-F238E27FC236}">
                    <a16:creationId xmlns:a16="http://schemas.microsoft.com/office/drawing/2014/main" id="{B2E68A38-6B91-4A88-4E50-00E66725C806}"/>
                  </a:ext>
                </a:extLst>
              </p:cNvPr>
              <p:cNvGrpSpPr/>
              <p:nvPr/>
            </p:nvGrpSpPr>
            <p:grpSpPr>
              <a:xfrm>
                <a:off x="2551257" y="5448705"/>
                <a:ext cx="245885" cy="246133"/>
                <a:chOff x="3656155" y="165955"/>
                <a:chExt cx="355974" cy="355974"/>
              </a:xfrm>
            </p:grpSpPr>
            <p:sp>
              <p:nvSpPr>
                <p:cNvPr id="68" name="Oval 67">
                  <a:extLst>
                    <a:ext uri="{FF2B5EF4-FFF2-40B4-BE49-F238E27FC236}">
                      <a16:creationId xmlns:a16="http://schemas.microsoft.com/office/drawing/2014/main" id="{C9293CD5-A0B8-3A28-EB20-8BAF370AB710}"/>
                    </a:ext>
                  </a:extLst>
                </p:cNvPr>
                <p:cNvSpPr/>
                <p:nvPr/>
              </p:nvSpPr>
              <p:spPr>
                <a:xfrm>
                  <a:off x="3656155"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grpSp>
              <p:nvGrpSpPr>
                <p:cNvPr id="69" name="Group 68">
                  <a:extLst>
                    <a:ext uri="{FF2B5EF4-FFF2-40B4-BE49-F238E27FC236}">
                      <a16:creationId xmlns:a16="http://schemas.microsoft.com/office/drawing/2014/main" id="{3C7A0D6D-8748-DD70-23D2-D6E022A62B79}"/>
                    </a:ext>
                  </a:extLst>
                </p:cNvPr>
                <p:cNvGrpSpPr/>
                <p:nvPr/>
              </p:nvGrpSpPr>
              <p:grpSpPr>
                <a:xfrm>
                  <a:off x="3712895" y="221713"/>
                  <a:ext cx="242496" cy="244442"/>
                  <a:chOff x="3995658" y="4815757"/>
                  <a:chExt cx="658670" cy="663962"/>
                </a:xfrm>
                <a:solidFill>
                  <a:schemeClr val="bg1">
                    <a:lumMod val="65000"/>
                  </a:schemeClr>
                </a:solidFill>
              </p:grpSpPr>
              <p:sp>
                <p:nvSpPr>
                  <p:cNvPr id="70" name="Freeform 21">
                    <a:extLst>
                      <a:ext uri="{FF2B5EF4-FFF2-40B4-BE49-F238E27FC236}">
                        <a16:creationId xmlns:a16="http://schemas.microsoft.com/office/drawing/2014/main" id="{80013053-A183-F666-81B1-8A63AB408B8A}"/>
                      </a:ext>
                    </a:extLst>
                  </p:cNvPr>
                  <p:cNvSpPr>
                    <a:spLocks/>
                  </p:cNvSpPr>
                  <p:nvPr/>
                </p:nvSpPr>
                <p:spPr bwMode="auto">
                  <a:xfrm>
                    <a:off x="3995658" y="5130389"/>
                    <a:ext cx="305223" cy="337568"/>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sp>
                <p:nvSpPr>
                  <p:cNvPr id="71" name="Freeform 22">
                    <a:extLst>
                      <a:ext uri="{FF2B5EF4-FFF2-40B4-BE49-F238E27FC236}">
                        <a16:creationId xmlns:a16="http://schemas.microsoft.com/office/drawing/2014/main" id="{979B097A-B4A2-696D-35A3-26B4AF9E10EC}"/>
                      </a:ext>
                    </a:extLst>
                  </p:cNvPr>
                  <p:cNvSpPr>
                    <a:spLocks noEditPoints="1"/>
                  </p:cNvSpPr>
                  <p:nvPr/>
                </p:nvSpPr>
                <p:spPr bwMode="auto">
                  <a:xfrm>
                    <a:off x="3999186" y="4815757"/>
                    <a:ext cx="655142" cy="663962"/>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grpSp>
          <p:sp>
            <p:nvSpPr>
              <p:cNvPr id="85" name="TextBox 84">
                <a:extLst>
                  <a:ext uri="{FF2B5EF4-FFF2-40B4-BE49-F238E27FC236}">
                    <a16:creationId xmlns:a16="http://schemas.microsoft.com/office/drawing/2014/main" id="{BC3DB835-6FA3-063F-A437-E62C94840F9E}"/>
                  </a:ext>
                </a:extLst>
              </p:cNvPr>
              <p:cNvSpPr txBox="1"/>
              <p:nvPr/>
            </p:nvSpPr>
            <p:spPr>
              <a:xfrm>
                <a:off x="2476068" y="5753620"/>
                <a:ext cx="396262"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18%</a:t>
                </a:r>
              </a:p>
            </p:txBody>
          </p:sp>
        </p:grpSp>
        <p:grpSp>
          <p:nvGrpSpPr>
            <p:cNvPr id="116" name="Group 115">
              <a:extLst>
                <a:ext uri="{FF2B5EF4-FFF2-40B4-BE49-F238E27FC236}">
                  <a16:creationId xmlns:a16="http://schemas.microsoft.com/office/drawing/2014/main" id="{32207B3A-4812-F770-630C-19388587D738}"/>
                </a:ext>
              </a:extLst>
            </p:cNvPr>
            <p:cNvGrpSpPr/>
            <p:nvPr/>
          </p:nvGrpSpPr>
          <p:grpSpPr>
            <a:xfrm>
              <a:off x="3258592" y="5448705"/>
              <a:ext cx="399468" cy="535747"/>
              <a:chOff x="3258592" y="5448705"/>
              <a:chExt cx="399468" cy="535747"/>
            </a:xfrm>
          </p:grpSpPr>
          <p:grpSp>
            <p:nvGrpSpPr>
              <p:cNvPr id="72" name="Group 71">
                <a:extLst>
                  <a:ext uri="{FF2B5EF4-FFF2-40B4-BE49-F238E27FC236}">
                    <a16:creationId xmlns:a16="http://schemas.microsoft.com/office/drawing/2014/main" id="{188FA58A-5A3F-49EC-B332-E4536EBE49B6}"/>
                  </a:ext>
                </a:extLst>
              </p:cNvPr>
              <p:cNvGrpSpPr/>
              <p:nvPr/>
            </p:nvGrpSpPr>
            <p:grpSpPr>
              <a:xfrm>
                <a:off x="3335384" y="5448705"/>
                <a:ext cx="245885" cy="246133"/>
                <a:chOff x="3964936" y="5578036"/>
                <a:chExt cx="355974" cy="355974"/>
              </a:xfrm>
            </p:grpSpPr>
            <p:sp>
              <p:nvSpPr>
                <p:cNvPr id="73" name="Oval 72">
                  <a:extLst>
                    <a:ext uri="{FF2B5EF4-FFF2-40B4-BE49-F238E27FC236}">
                      <a16:creationId xmlns:a16="http://schemas.microsoft.com/office/drawing/2014/main" id="{6F6403A9-AD68-DEDB-E790-72650B62024E}"/>
                    </a:ext>
                  </a:extLst>
                </p:cNvPr>
                <p:cNvSpPr/>
                <p:nvPr/>
              </p:nvSpPr>
              <p:spPr>
                <a:xfrm>
                  <a:off x="3964936" y="5578036"/>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74" name="Freeform 16">
                  <a:extLst>
                    <a:ext uri="{FF2B5EF4-FFF2-40B4-BE49-F238E27FC236}">
                      <a16:creationId xmlns:a16="http://schemas.microsoft.com/office/drawing/2014/main" id="{E282DB51-ED5D-AEB9-D959-6DF90BD9153E}"/>
                    </a:ext>
                  </a:extLst>
                </p:cNvPr>
                <p:cNvSpPr>
                  <a:spLocks/>
                </p:cNvSpPr>
                <p:nvPr/>
              </p:nvSpPr>
              <p:spPr bwMode="auto">
                <a:xfrm>
                  <a:off x="4024624" y="5677433"/>
                  <a:ext cx="236597" cy="157181"/>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86" name="TextBox 85">
                <a:extLst>
                  <a:ext uri="{FF2B5EF4-FFF2-40B4-BE49-F238E27FC236}">
                    <a16:creationId xmlns:a16="http://schemas.microsoft.com/office/drawing/2014/main" id="{EF254B82-D3A4-873E-8CB9-94C376B50E60}"/>
                  </a:ext>
                </a:extLst>
              </p:cNvPr>
              <p:cNvSpPr txBox="1"/>
              <p:nvPr/>
            </p:nvSpPr>
            <p:spPr>
              <a:xfrm>
                <a:off x="3258592" y="5753620"/>
                <a:ext cx="399468"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16%</a:t>
                </a:r>
              </a:p>
            </p:txBody>
          </p:sp>
        </p:grpSp>
        <p:grpSp>
          <p:nvGrpSpPr>
            <p:cNvPr id="118" name="Group 117">
              <a:extLst>
                <a:ext uri="{FF2B5EF4-FFF2-40B4-BE49-F238E27FC236}">
                  <a16:creationId xmlns:a16="http://schemas.microsoft.com/office/drawing/2014/main" id="{E3CE8CAA-7D40-A4FA-514D-F94A1F70FF6F}"/>
                </a:ext>
              </a:extLst>
            </p:cNvPr>
            <p:cNvGrpSpPr/>
            <p:nvPr/>
          </p:nvGrpSpPr>
          <p:grpSpPr>
            <a:xfrm>
              <a:off x="4044322" y="5448705"/>
              <a:ext cx="399468" cy="535747"/>
              <a:chOff x="4044322" y="5448705"/>
              <a:chExt cx="399468" cy="535747"/>
            </a:xfrm>
          </p:grpSpPr>
          <p:grpSp>
            <p:nvGrpSpPr>
              <p:cNvPr id="75" name="Group 74">
                <a:extLst>
                  <a:ext uri="{FF2B5EF4-FFF2-40B4-BE49-F238E27FC236}">
                    <a16:creationId xmlns:a16="http://schemas.microsoft.com/office/drawing/2014/main" id="{68EB6DE3-94A4-A7F9-0DC3-6B6EC26BDF00}"/>
                  </a:ext>
                </a:extLst>
              </p:cNvPr>
              <p:cNvGrpSpPr/>
              <p:nvPr/>
            </p:nvGrpSpPr>
            <p:grpSpPr>
              <a:xfrm>
                <a:off x="4121114" y="5448705"/>
                <a:ext cx="245885" cy="246133"/>
                <a:chOff x="3136450" y="165955"/>
                <a:chExt cx="355974" cy="355974"/>
              </a:xfrm>
            </p:grpSpPr>
            <p:sp>
              <p:nvSpPr>
                <p:cNvPr id="76" name="Oval 75">
                  <a:extLst>
                    <a:ext uri="{FF2B5EF4-FFF2-40B4-BE49-F238E27FC236}">
                      <a16:creationId xmlns:a16="http://schemas.microsoft.com/office/drawing/2014/main" id="{E0CB50C5-14CB-B079-D65F-EED1F48619DB}"/>
                    </a:ext>
                  </a:extLst>
                </p:cNvPr>
                <p:cNvSpPr/>
                <p:nvPr/>
              </p:nvSpPr>
              <p:spPr>
                <a:xfrm>
                  <a:off x="3136450" y="165955"/>
                  <a:ext cx="355974" cy="355974"/>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sp>
              <p:nvSpPr>
                <p:cNvPr id="77" name="Freeform 50">
                  <a:extLst>
                    <a:ext uri="{FF2B5EF4-FFF2-40B4-BE49-F238E27FC236}">
                      <a16:creationId xmlns:a16="http://schemas.microsoft.com/office/drawing/2014/main" id="{21A498C6-2311-0DFD-9924-ECED9D11B610}"/>
                    </a:ext>
                  </a:extLst>
                </p:cNvPr>
                <p:cNvSpPr>
                  <a:spLocks noEditPoints="1"/>
                </p:cNvSpPr>
                <p:nvPr/>
              </p:nvSpPr>
              <p:spPr bwMode="auto">
                <a:xfrm>
                  <a:off x="3221400" y="246998"/>
                  <a:ext cx="186075" cy="193887"/>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lumMod val="6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Scotia"/>
                    <a:ea typeface="+mn-ea"/>
                    <a:cs typeface="+mn-cs"/>
                  </a:endParaRPr>
                </a:p>
              </p:txBody>
            </p:sp>
          </p:grpSp>
          <p:sp>
            <p:nvSpPr>
              <p:cNvPr id="87" name="TextBox 86">
                <a:extLst>
                  <a:ext uri="{FF2B5EF4-FFF2-40B4-BE49-F238E27FC236}">
                    <a16:creationId xmlns:a16="http://schemas.microsoft.com/office/drawing/2014/main" id="{8C1426B5-FC3D-A8A7-A06C-6572A3DD41A8}"/>
                  </a:ext>
                </a:extLst>
              </p:cNvPr>
              <p:cNvSpPr txBox="1"/>
              <p:nvPr/>
            </p:nvSpPr>
            <p:spPr>
              <a:xfrm>
                <a:off x="4044322" y="5753620"/>
                <a:ext cx="399468"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16%</a:t>
                </a:r>
              </a:p>
            </p:txBody>
          </p:sp>
        </p:grpSp>
        <p:grpSp>
          <p:nvGrpSpPr>
            <p:cNvPr id="115" name="Group 114">
              <a:extLst>
                <a:ext uri="{FF2B5EF4-FFF2-40B4-BE49-F238E27FC236}">
                  <a16:creationId xmlns:a16="http://schemas.microsoft.com/office/drawing/2014/main" id="{8C0341E8-B147-1A60-60FC-578F16DA7330}"/>
                </a:ext>
              </a:extLst>
            </p:cNvPr>
            <p:cNvGrpSpPr/>
            <p:nvPr/>
          </p:nvGrpSpPr>
          <p:grpSpPr>
            <a:xfrm>
              <a:off x="4830052" y="5453642"/>
              <a:ext cx="407484" cy="530810"/>
              <a:chOff x="4858629" y="5453642"/>
              <a:chExt cx="407484" cy="530810"/>
            </a:xfrm>
          </p:grpSpPr>
          <p:grpSp>
            <p:nvGrpSpPr>
              <p:cNvPr id="78" name="Group 4">
                <a:extLst>
                  <a:ext uri="{FF2B5EF4-FFF2-40B4-BE49-F238E27FC236}">
                    <a16:creationId xmlns:a16="http://schemas.microsoft.com/office/drawing/2014/main" id="{875BA5F2-5F10-D282-86C4-8BCEF702A4C8}"/>
                  </a:ext>
                </a:extLst>
              </p:cNvPr>
              <p:cNvGrpSpPr>
                <a:grpSpLocks noChangeAspect="1"/>
              </p:cNvGrpSpPr>
              <p:nvPr/>
            </p:nvGrpSpPr>
            <p:grpSpPr bwMode="auto">
              <a:xfrm>
                <a:off x="4954776" y="5453642"/>
                <a:ext cx="215190" cy="236259"/>
                <a:chOff x="7312" y="4020"/>
                <a:chExt cx="143" cy="157"/>
              </a:xfrm>
              <a:solidFill>
                <a:srgbClr val="EC111A"/>
              </a:solidFill>
            </p:grpSpPr>
            <p:sp>
              <p:nvSpPr>
                <p:cNvPr id="79" name="Freeform 5">
                  <a:extLst>
                    <a:ext uri="{FF2B5EF4-FFF2-40B4-BE49-F238E27FC236}">
                      <a16:creationId xmlns:a16="http://schemas.microsoft.com/office/drawing/2014/main" id="{B0932618-F1E4-370A-F806-E2CCEDDCA40D}"/>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80" name="Freeform 6">
                  <a:extLst>
                    <a:ext uri="{FF2B5EF4-FFF2-40B4-BE49-F238E27FC236}">
                      <a16:creationId xmlns:a16="http://schemas.microsoft.com/office/drawing/2014/main" id="{98748474-7421-4CF9-A91B-E754E88E8261}"/>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81" name="Oval 7">
                  <a:extLst>
                    <a:ext uri="{FF2B5EF4-FFF2-40B4-BE49-F238E27FC236}">
                      <a16:creationId xmlns:a16="http://schemas.microsoft.com/office/drawing/2014/main" id="{28ADB006-09A2-F525-5EC6-29BB373BB57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sp>
            <p:nvSpPr>
              <p:cNvPr id="88" name="TextBox 87">
                <a:extLst>
                  <a:ext uri="{FF2B5EF4-FFF2-40B4-BE49-F238E27FC236}">
                    <a16:creationId xmlns:a16="http://schemas.microsoft.com/office/drawing/2014/main" id="{F89253CF-701A-FE47-1CC3-A764D3E93DD0}"/>
                  </a:ext>
                </a:extLst>
              </p:cNvPr>
              <p:cNvSpPr txBox="1"/>
              <p:nvPr/>
            </p:nvSpPr>
            <p:spPr>
              <a:xfrm>
                <a:off x="4858629" y="5753620"/>
                <a:ext cx="40748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1" i="0" u="none" strike="noStrike" kern="1200" cap="none" spc="0" normalizeH="0" baseline="0" noProof="0">
                    <a:ln>
                      <a:noFill/>
                    </a:ln>
                    <a:solidFill>
                      <a:srgbClr val="FF0000"/>
                    </a:solidFill>
                    <a:effectLst/>
                    <a:uLnTx/>
                    <a:uFillTx/>
                    <a:latin typeface="Scotia"/>
                    <a:ea typeface="+mn-ea"/>
                    <a:cs typeface="+mn-cs"/>
                  </a:rPr>
                  <a:t>14%</a:t>
                </a:r>
              </a:p>
            </p:txBody>
          </p:sp>
        </p:grpSp>
        <p:grpSp>
          <p:nvGrpSpPr>
            <p:cNvPr id="119" name="Group 118">
              <a:extLst>
                <a:ext uri="{FF2B5EF4-FFF2-40B4-BE49-F238E27FC236}">
                  <a16:creationId xmlns:a16="http://schemas.microsoft.com/office/drawing/2014/main" id="{D536E2AA-8C81-9965-D584-19E1D9334378}"/>
                </a:ext>
              </a:extLst>
            </p:cNvPr>
            <p:cNvGrpSpPr/>
            <p:nvPr/>
          </p:nvGrpSpPr>
          <p:grpSpPr>
            <a:xfrm>
              <a:off x="5623798" y="5448705"/>
              <a:ext cx="393056" cy="535747"/>
              <a:chOff x="5623798" y="5448705"/>
              <a:chExt cx="393056" cy="535747"/>
            </a:xfrm>
          </p:grpSpPr>
          <p:grpSp>
            <p:nvGrpSpPr>
              <p:cNvPr id="82" name="Group 81">
                <a:extLst>
                  <a:ext uri="{FF2B5EF4-FFF2-40B4-BE49-F238E27FC236}">
                    <a16:creationId xmlns:a16="http://schemas.microsoft.com/office/drawing/2014/main" id="{5844838F-E906-1BE2-C938-5FAF65086B9F}"/>
                  </a:ext>
                </a:extLst>
              </p:cNvPr>
              <p:cNvGrpSpPr/>
              <p:nvPr/>
            </p:nvGrpSpPr>
            <p:grpSpPr>
              <a:xfrm>
                <a:off x="5697384" y="5448705"/>
                <a:ext cx="245885" cy="246133"/>
                <a:chOff x="10506024" y="4552950"/>
                <a:chExt cx="360000" cy="360363"/>
              </a:xfrm>
            </p:grpSpPr>
            <p:sp>
              <p:nvSpPr>
                <p:cNvPr id="83" name="Oval 82">
                  <a:extLst>
                    <a:ext uri="{FF2B5EF4-FFF2-40B4-BE49-F238E27FC236}">
                      <a16:creationId xmlns:a16="http://schemas.microsoft.com/office/drawing/2014/main" id="{5E70DA1C-DC31-5479-BE30-E9F054766113}"/>
                    </a:ext>
                  </a:extLst>
                </p:cNvPr>
                <p:cNvSpPr/>
                <p:nvPr/>
              </p:nvSpPr>
              <p:spPr>
                <a:xfrm>
                  <a:off x="10506024" y="4552950"/>
                  <a:ext cx="360000" cy="360363"/>
                </a:xfrm>
                <a:prstGeom prst="ellipse">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84" name="Graphic 83">
                  <a:extLst>
                    <a:ext uri="{FF2B5EF4-FFF2-40B4-BE49-F238E27FC236}">
                      <a16:creationId xmlns:a16="http://schemas.microsoft.com/office/drawing/2014/main" id="{78CA9F4C-5224-3408-49C6-59232F5167EF}"/>
                    </a:ext>
                  </a:extLst>
                </p:cNvPr>
                <p:cNvPicPr>
                  <a:picLocks noChangeAspect="1"/>
                </p:cNvPicPr>
                <p:nvPr/>
              </p:nvPicPr>
              <p:blipFill rotWithShape="1">
                <a:blip>
                  <a:extLst>
                    <a:ext uri="{96DAC541-7B7A-43D3-8B79-37D633B846F1}">
                      <asvg:svgBlip xmlns:asvg="http://schemas.microsoft.com/office/drawing/2016/SVG/main" r:embed="rId7"/>
                    </a:ext>
                  </a:extLst>
                </a:blip>
                <a:srcRect l="68303"/>
                <a:stretch/>
              </p:blipFill>
              <p:spPr>
                <a:xfrm>
                  <a:off x="10558385" y="4631311"/>
                  <a:ext cx="255278" cy="203641"/>
                </a:xfrm>
                <a:prstGeom prst="rect">
                  <a:avLst/>
                </a:prstGeom>
              </p:spPr>
            </p:pic>
          </p:grpSp>
          <p:sp>
            <p:nvSpPr>
              <p:cNvPr id="89" name="TextBox 88">
                <a:extLst>
                  <a:ext uri="{FF2B5EF4-FFF2-40B4-BE49-F238E27FC236}">
                    <a16:creationId xmlns:a16="http://schemas.microsoft.com/office/drawing/2014/main" id="{AF06332A-15EB-4243-8B60-C2FF136ACAF8}"/>
                  </a:ext>
                </a:extLst>
              </p:cNvPr>
              <p:cNvSpPr txBox="1"/>
              <p:nvPr/>
            </p:nvSpPr>
            <p:spPr>
              <a:xfrm>
                <a:off x="5623798" y="5753620"/>
                <a:ext cx="393056"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12%</a:t>
                </a:r>
              </a:p>
            </p:txBody>
          </p:sp>
        </p:grpSp>
        <p:grpSp>
          <p:nvGrpSpPr>
            <p:cNvPr id="120" name="Group 119">
              <a:extLst>
                <a:ext uri="{FF2B5EF4-FFF2-40B4-BE49-F238E27FC236}">
                  <a16:creationId xmlns:a16="http://schemas.microsoft.com/office/drawing/2014/main" id="{2CF05D28-F4EE-0ED1-704F-5E8CE54945FA}"/>
                </a:ext>
              </a:extLst>
            </p:cNvPr>
            <p:cNvGrpSpPr/>
            <p:nvPr/>
          </p:nvGrpSpPr>
          <p:grpSpPr>
            <a:xfrm>
              <a:off x="6403117" y="5448740"/>
              <a:ext cx="404278" cy="535712"/>
              <a:chOff x="6403117" y="5448740"/>
              <a:chExt cx="404278" cy="535712"/>
            </a:xfrm>
          </p:grpSpPr>
          <p:sp>
            <p:nvSpPr>
              <p:cNvPr id="243" name="TextBox 242">
                <a:extLst>
                  <a:ext uri="{FF2B5EF4-FFF2-40B4-BE49-F238E27FC236}">
                    <a16:creationId xmlns:a16="http://schemas.microsoft.com/office/drawing/2014/main" id="{0F3294F6-EC02-8AA9-AB2B-5B73C9DE12F6}"/>
                  </a:ext>
                </a:extLst>
              </p:cNvPr>
              <p:cNvSpPr txBox="1"/>
              <p:nvPr/>
            </p:nvSpPr>
            <p:spPr>
              <a:xfrm>
                <a:off x="6403117" y="5753620"/>
                <a:ext cx="404278"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a:ln>
                      <a:noFill/>
                    </a:ln>
                    <a:solidFill>
                      <a:srgbClr val="000000"/>
                    </a:solidFill>
                    <a:effectLst/>
                    <a:uLnTx/>
                    <a:uFillTx/>
                    <a:latin typeface="Scotia"/>
                    <a:ea typeface="+mn-ea"/>
                    <a:cs typeface="+mn-cs"/>
                  </a:rPr>
                  <a:t>10%</a:t>
                </a:r>
              </a:p>
            </p:txBody>
          </p:sp>
          <p:grpSp>
            <p:nvGrpSpPr>
              <p:cNvPr id="244" name="Group 243">
                <a:extLst>
                  <a:ext uri="{FF2B5EF4-FFF2-40B4-BE49-F238E27FC236}">
                    <a16:creationId xmlns:a16="http://schemas.microsoft.com/office/drawing/2014/main" id="{6557257E-1741-0A77-97F8-7138F254DBBF}"/>
                  </a:ext>
                </a:extLst>
              </p:cNvPr>
              <p:cNvGrpSpPr/>
              <p:nvPr/>
            </p:nvGrpSpPr>
            <p:grpSpPr>
              <a:xfrm>
                <a:off x="6482225" y="5448740"/>
                <a:ext cx="246063" cy="246063"/>
                <a:chOff x="3956206" y="357635"/>
                <a:chExt cx="863600" cy="862013"/>
              </a:xfrm>
            </p:grpSpPr>
            <p:sp>
              <p:nvSpPr>
                <p:cNvPr id="245" name="Oval 244">
                  <a:extLst>
                    <a:ext uri="{FF2B5EF4-FFF2-40B4-BE49-F238E27FC236}">
                      <a16:creationId xmlns:a16="http://schemas.microsoft.com/office/drawing/2014/main" id="{0313FE34-3F99-9F68-CD63-FC7FB3032F40}"/>
                    </a:ext>
                  </a:extLst>
                </p:cNvPr>
                <p:cNvSpPr/>
                <p:nvPr/>
              </p:nvSpPr>
              <p:spPr>
                <a:xfrm>
                  <a:off x="3956206" y="357635"/>
                  <a:ext cx="863600" cy="862013"/>
                </a:xfrm>
                <a:prstGeom prst="ellipse">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nvGrpSpPr>
                <p:cNvPr id="246" name="Group 245">
                  <a:extLst>
                    <a:ext uri="{FF2B5EF4-FFF2-40B4-BE49-F238E27FC236}">
                      <a16:creationId xmlns:a16="http://schemas.microsoft.com/office/drawing/2014/main" id="{AF6BE27B-941E-BDA6-E1C3-138C5EB1D49F}"/>
                    </a:ext>
                  </a:extLst>
                </p:cNvPr>
                <p:cNvGrpSpPr/>
                <p:nvPr/>
              </p:nvGrpSpPr>
              <p:grpSpPr>
                <a:xfrm>
                  <a:off x="4109346" y="521528"/>
                  <a:ext cx="557321" cy="519481"/>
                  <a:chOff x="4952132" y="652822"/>
                  <a:chExt cx="548633" cy="511384"/>
                </a:xfrm>
                <a:solidFill>
                  <a:srgbClr val="A6A6A6"/>
                </a:solidFill>
              </p:grpSpPr>
              <p:sp>
                <p:nvSpPr>
                  <p:cNvPr id="247" name="Rectangle 77">
                    <a:extLst>
                      <a:ext uri="{FF2B5EF4-FFF2-40B4-BE49-F238E27FC236}">
                        <a16:creationId xmlns:a16="http://schemas.microsoft.com/office/drawing/2014/main" id="{7AA0202E-2361-D700-BAAF-37014C1172DA}"/>
                      </a:ext>
                    </a:extLst>
                  </p:cNvPr>
                  <p:cNvSpPr/>
                  <p:nvPr/>
                </p:nvSpPr>
                <p:spPr>
                  <a:xfrm>
                    <a:off x="4952132" y="652822"/>
                    <a:ext cx="225891" cy="445835"/>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5800"/>
                      <a:gd name="connsiteY0" fmla="*/ 2792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7927 h 189077"/>
                      <a:gd name="connsiteX0" fmla="*/ 0 w 95800"/>
                      <a:gd name="connsiteY0" fmla="*/ 24897 h 189077"/>
                      <a:gd name="connsiteX1" fmla="*/ 95800 w 95800"/>
                      <a:gd name="connsiteY1" fmla="*/ 0 h 189077"/>
                      <a:gd name="connsiteX2" fmla="*/ 90676 w 95800"/>
                      <a:gd name="connsiteY2" fmla="*/ 165264 h 189077"/>
                      <a:gd name="connsiteX3" fmla="*/ 0 w 95800"/>
                      <a:gd name="connsiteY3" fmla="*/ 189077 h 189077"/>
                      <a:gd name="connsiteX4" fmla="*/ 0 w 95800"/>
                      <a:gd name="connsiteY4" fmla="*/ 24897 h 189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00" h="189077">
                        <a:moveTo>
                          <a:pt x="0" y="24897"/>
                        </a:moveTo>
                        <a:lnTo>
                          <a:pt x="95800" y="0"/>
                        </a:lnTo>
                        <a:lnTo>
                          <a:pt x="90676" y="165264"/>
                        </a:lnTo>
                        <a:lnTo>
                          <a:pt x="0" y="189077"/>
                        </a:lnTo>
                        <a:lnTo>
                          <a:pt x="0" y="2489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48" name="Rectangle 77">
                    <a:extLst>
                      <a:ext uri="{FF2B5EF4-FFF2-40B4-BE49-F238E27FC236}">
                        <a16:creationId xmlns:a16="http://schemas.microsoft.com/office/drawing/2014/main" id="{0A123901-AFCD-A723-CB2D-053D57DDA0A3}"/>
                      </a:ext>
                    </a:extLst>
                  </p:cNvPr>
                  <p:cNvSpPr/>
                  <p:nvPr/>
                </p:nvSpPr>
                <p:spPr>
                  <a:xfrm>
                    <a:off x="5267729" y="701703"/>
                    <a:ext cx="233036" cy="462503"/>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6735 w 97820"/>
                      <a:gd name="connsiteY2" fmla="*/ 169303 h 192106"/>
                      <a:gd name="connsiteX3" fmla="*/ 0 w 97820"/>
                      <a:gd name="connsiteY3" fmla="*/ 192106 h 192106"/>
                      <a:gd name="connsiteX4" fmla="*/ 0 w 97820"/>
                      <a:gd name="connsiteY4" fmla="*/ 30956 h 192106"/>
                      <a:gd name="connsiteX0" fmla="*/ 1010 w 98830"/>
                      <a:gd name="connsiteY0" fmla="*/ 30956 h 196146"/>
                      <a:gd name="connsiteX1" fmla="*/ 98830 w 98830"/>
                      <a:gd name="connsiteY1" fmla="*/ 0 h 196146"/>
                      <a:gd name="connsiteX2" fmla="*/ 97745 w 98830"/>
                      <a:gd name="connsiteY2" fmla="*/ 169303 h 196146"/>
                      <a:gd name="connsiteX3" fmla="*/ 0 w 98830"/>
                      <a:gd name="connsiteY3" fmla="*/ 196146 h 196146"/>
                      <a:gd name="connsiteX4" fmla="*/ 1010 w 98830"/>
                      <a:gd name="connsiteY4" fmla="*/ 30956 h 19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30" h="196146">
                        <a:moveTo>
                          <a:pt x="1010" y="30956"/>
                        </a:moveTo>
                        <a:lnTo>
                          <a:pt x="98830" y="0"/>
                        </a:lnTo>
                        <a:cubicBezTo>
                          <a:pt x="98468" y="56434"/>
                          <a:pt x="98107" y="112869"/>
                          <a:pt x="97745" y="169303"/>
                        </a:cubicBezTo>
                        <a:lnTo>
                          <a:pt x="0" y="196146"/>
                        </a:lnTo>
                        <a:cubicBezTo>
                          <a:pt x="337" y="141083"/>
                          <a:pt x="673" y="86019"/>
                          <a:pt x="1010" y="3095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sp>
                <p:nvSpPr>
                  <p:cNvPr id="249" name="Rectangle 77">
                    <a:extLst>
                      <a:ext uri="{FF2B5EF4-FFF2-40B4-BE49-F238E27FC236}">
                        <a16:creationId xmlns:a16="http://schemas.microsoft.com/office/drawing/2014/main" id="{8CC7AF5E-064E-A993-DC6A-F38B2E31887C}"/>
                      </a:ext>
                    </a:extLst>
                  </p:cNvPr>
                  <p:cNvSpPr/>
                  <p:nvPr/>
                </p:nvSpPr>
                <p:spPr>
                  <a:xfrm>
                    <a:off x="5163482" y="652823"/>
                    <a:ext cx="109685" cy="507422"/>
                  </a:xfrm>
                  <a:custGeom>
                    <a:avLst/>
                    <a:gdLst>
                      <a:gd name="connsiteX0" fmla="*/ 0 w 135920"/>
                      <a:gd name="connsiteY0" fmla="*/ 0 h 161150"/>
                      <a:gd name="connsiteX1" fmla="*/ 135920 w 135920"/>
                      <a:gd name="connsiteY1" fmla="*/ 0 h 161150"/>
                      <a:gd name="connsiteX2" fmla="*/ 135920 w 135920"/>
                      <a:gd name="connsiteY2" fmla="*/ 161150 h 161150"/>
                      <a:gd name="connsiteX3" fmla="*/ 0 w 135920"/>
                      <a:gd name="connsiteY3" fmla="*/ 161150 h 161150"/>
                      <a:gd name="connsiteX4" fmla="*/ 0 w 135920"/>
                      <a:gd name="connsiteY4" fmla="*/ 0 h 161150"/>
                      <a:gd name="connsiteX0" fmla="*/ 0 w 135920"/>
                      <a:gd name="connsiteY0" fmla="*/ 30956 h 192106"/>
                      <a:gd name="connsiteX1" fmla="*/ 97820 w 135920"/>
                      <a:gd name="connsiteY1" fmla="*/ 0 h 192106"/>
                      <a:gd name="connsiteX2" fmla="*/ 135920 w 135920"/>
                      <a:gd name="connsiteY2" fmla="*/ 192106 h 192106"/>
                      <a:gd name="connsiteX3" fmla="*/ 0 w 135920"/>
                      <a:gd name="connsiteY3" fmla="*/ 192106 h 192106"/>
                      <a:gd name="connsiteX4" fmla="*/ 0 w 135920"/>
                      <a:gd name="connsiteY4" fmla="*/ 30956 h 192106"/>
                      <a:gd name="connsiteX0" fmla="*/ 0 w 97820"/>
                      <a:gd name="connsiteY0" fmla="*/ 30956 h 192106"/>
                      <a:gd name="connsiteX1" fmla="*/ 97820 w 97820"/>
                      <a:gd name="connsiteY1" fmla="*/ 0 h 192106"/>
                      <a:gd name="connsiteX2" fmla="*/ 88295 w 97820"/>
                      <a:gd name="connsiteY2" fmla="*/ 173056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68293 h 192106"/>
                      <a:gd name="connsiteX3" fmla="*/ 0 w 97820"/>
                      <a:gd name="connsiteY3" fmla="*/ 192106 h 192106"/>
                      <a:gd name="connsiteX4" fmla="*/ 0 w 97820"/>
                      <a:gd name="connsiteY4" fmla="*/ 30956 h 192106"/>
                      <a:gd name="connsiteX0" fmla="*/ 0 w 97820"/>
                      <a:gd name="connsiteY0" fmla="*/ 30956 h 192106"/>
                      <a:gd name="connsiteX1" fmla="*/ 97820 w 97820"/>
                      <a:gd name="connsiteY1" fmla="*/ 0 h 192106"/>
                      <a:gd name="connsiteX2" fmla="*/ 90676 w 97820"/>
                      <a:gd name="connsiteY2" fmla="*/ 170674 h 192106"/>
                      <a:gd name="connsiteX3" fmla="*/ 0 w 97820"/>
                      <a:gd name="connsiteY3" fmla="*/ 192106 h 192106"/>
                      <a:gd name="connsiteX4" fmla="*/ 0 w 97820"/>
                      <a:gd name="connsiteY4" fmla="*/ 30956 h 192106"/>
                      <a:gd name="connsiteX0" fmla="*/ 47625 w 97820"/>
                      <a:gd name="connsiteY0" fmla="*/ 0 h 246875"/>
                      <a:gd name="connsiteX1" fmla="*/ 97820 w 97820"/>
                      <a:gd name="connsiteY1" fmla="*/ 54769 h 246875"/>
                      <a:gd name="connsiteX2" fmla="*/ 90676 w 97820"/>
                      <a:gd name="connsiteY2" fmla="*/ 225443 h 246875"/>
                      <a:gd name="connsiteX3" fmla="*/ 0 w 97820"/>
                      <a:gd name="connsiteY3" fmla="*/ 246875 h 246875"/>
                      <a:gd name="connsiteX4" fmla="*/ 47625 w 97820"/>
                      <a:gd name="connsiteY4" fmla="*/ 0 h 246875"/>
                      <a:gd name="connsiteX0" fmla="*/ 47625 w 90676"/>
                      <a:gd name="connsiteY0" fmla="*/ 0 h 246875"/>
                      <a:gd name="connsiteX1" fmla="*/ 90676 w 90676"/>
                      <a:gd name="connsiteY1" fmla="*/ 66676 h 246875"/>
                      <a:gd name="connsiteX2" fmla="*/ 90676 w 90676"/>
                      <a:gd name="connsiteY2" fmla="*/ 225443 h 246875"/>
                      <a:gd name="connsiteX3" fmla="*/ 0 w 90676"/>
                      <a:gd name="connsiteY3" fmla="*/ 246875 h 246875"/>
                      <a:gd name="connsiteX4" fmla="*/ 47625 w 90676"/>
                      <a:gd name="connsiteY4" fmla="*/ 0 h 246875"/>
                      <a:gd name="connsiteX0" fmla="*/ 7144 w 50195"/>
                      <a:gd name="connsiteY0" fmla="*/ 0 h 225443"/>
                      <a:gd name="connsiteX1" fmla="*/ 50195 w 50195"/>
                      <a:gd name="connsiteY1" fmla="*/ 66676 h 225443"/>
                      <a:gd name="connsiteX2" fmla="*/ 50195 w 50195"/>
                      <a:gd name="connsiteY2" fmla="*/ 225443 h 225443"/>
                      <a:gd name="connsiteX3" fmla="*/ 0 w 50195"/>
                      <a:gd name="connsiteY3" fmla="*/ 180200 h 225443"/>
                      <a:gd name="connsiteX4" fmla="*/ 7144 w 50195"/>
                      <a:gd name="connsiteY4" fmla="*/ 0 h 225443"/>
                      <a:gd name="connsiteX0" fmla="*/ 9525 w 52576"/>
                      <a:gd name="connsiteY0" fmla="*/ 0 h 225443"/>
                      <a:gd name="connsiteX1" fmla="*/ 52576 w 52576"/>
                      <a:gd name="connsiteY1" fmla="*/ 66676 h 225443"/>
                      <a:gd name="connsiteX2" fmla="*/ 52576 w 52576"/>
                      <a:gd name="connsiteY2" fmla="*/ 225443 h 225443"/>
                      <a:gd name="connsiteX3" fmla="*/ 0 w 52576"/>
                      <a:gd name="connsiteY3" fmla="*/ 158769 h 225443"/>
                      <a:gd name="connsiteX4" fmla="*/ 9525 w 52576"/>
                      <a:gd name="connsiteY4" fmla="*/ 0 h 225443"/>
                      <a:gd name="connsiteX0" fmla="*/ 9525 w 52576"/>
                      <a:gd name="connsiteY0" fmla="*/ 0 h 211156"/>
                      <a:gd name="connsiteX1" fmla="*/ 52576 w 52576"/>
                      <a:gd name="connsiteY1" fmla="*/ 66676 h 211156"/>
                      <a:gd name="connsiteX2" fmla="*/ 52576 w 52576"/>
                      <a:gd name="connsiteY2" fmla="*/ 211156 h 211156"/>
                      <a:gd name="connsiteX3" fmla="*/ 0 w 52576"/>
                      <a:gd name="connsiteY3" fmla="*/ 158769 h 211156"/>
                      <a:gd name="connsiteX4" fmla="*/ 9525 w 52576"/>
                      <a:gd name="connsiteY4" fmla="*/ 0 h 211156"/>
                      <a:gd name="connsiteX0" fmla="*/ 5486 w 48537"/>
                      <a:gd name="connsiteY0" fmla="*/ 0 h 211156"/>
                      <a:gd name="connsiteX1" fmla="*/ 48537 w 48537"/>
                      <a:gd name="connsiteY1" fmla="*/ 66676 h 211156"/>
                      <a:gd name="connsiteX2" fmla="*/ 48537 w 48537"/>
                      <a:gd name="connsiteY2" fmla="*/ 211156 h 211156"/>
                      <a:gd name="connsiteX3" fmla="*/ 0 w 48537"/>
                      <a:gd name="connsiteY3" fmla="*/ 166848 h 211156"/>
                      <a:gd name="connsiteX4" fmla="*/ 5486 w 48537"/>
                      <a:gd name="connsiteY4" fmla="*/ 0 h 211156"/>
                      <a:gd name="connsiteX0" fmla="*/ 5486 w 48537"/>
                      <a:gd name="connsiteY0" fmla="*/ 0 h 214186"/>
                      <a:gd name="connsiteX1" fmla="*/ 48537 w 48537"/>
                      <a:gd name="connsiteY1" fmla="*/ 66676 h 214186"/>
                      <a:gd name="connsiteX2" fmla="*/ 47527 w 48537"/>
                      <a:gd name="connsiteY2" fmla="*/ 214186 h 214186"/>
                      <a:gd name="connsiteX3" fmla="*/ 0 w 48537"/>
                      <a:gd name="connsiteY3" fmla="*/ 166848 h 214186"/>
                      <a:gd name="connsiteX4" fmla="*/ 5486 w 48537"/>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6848 h 214186"/>
                      <a:gd name="connsiteX4" fmla="*/ 5486 w 47571"/>
                      <a:gd name="connsiteY4" fmla="*/ 0 h 214186"/>
                      <a:gd name="connsiteX0" fmla="*/ 5486 w 47571"/>
                      <a:gd name="connsiteY0" fmla="*/ 0 h 214186"/>
                      <a:gd name="connsiteX1" fmla="*/ 46517 w 47571"/>
                      <a:gd name="connsiteY1" fmla="*/ 53548 h 214186"/>
                      <a:gd name="connsiteX2" fmla="*/ 47527 w 47571"/>
                      <a:gd name="connsiteY2" fmla="*/ 214186 h 214186"/>
                      <a:gd name="connsiteX3" fmla="*/ 0 w 47571"/>
                      <a:gd name="connsiteY3" fmla="*/ 164828 h 214186"/>
                      <a:gd name="connsiteX4" fmla="*/ 5486 w 47571"/>
                      <a:gd name="connsiteY4" fmla="*/ 0 h 214186"/>
                      <a:gd name="connsiteX0" fmla="*/ 5486 w 46614"/>
                      <a:gd name="connsiteY0" fmla="*/ 0 h 215196"/>
                      <a:gd name="connsiteX1" fmla="*/ 46517 w 46614"/>
                      <a:gd name="connsiteY1" fmla="*/ 53548 h 215196"/>
                      <a:gd name="connsiteX2" fmla="*/ 46517 w 46614"/>
                      <a:gd name="connsiteY2" fmla="*/ 215196 h 215196"/>
                      <a:gd name="connsiteX3" fmla="*/ 0 w 46614"/>
                      <a:gd name="connsiteY3" fmla="*/ 164828 h 215196"/>
                      <a:gd name="connsiteX4" fmla="*/ 5486 w 46614"/>
                      <a:gd name="connsiteY4" fmla="*/ 0 h 215196"/>
                      <a:gd name="connsiteX0" fmla="*/ 5486 w 46517"/>
                      <a:gd name="connsiteY0" fmla="*/ 0 h 215196"/>
                      <a:gd name="connsiteX1" fmla="*/ 46517 w 46517"/>
                      <a:gd name="connsiteY1" fmla="*/ 53548 h 215196"/>
                      <a:gd name="connsiteX2" fmla="*/ 44497 w 46517"/>
                      <a:gd name="connsiteY2" fmla="*/ 215196 h 215196"/>
                      <a:gd name="connsiteX3" fmla="*/ 0 w 46517"/>
                      <a:gd name="connsiteY3" fmla="*/ 164828 h 215196"/>
                      <a:gd name="connsiteX4" fmla="*/ 5486 w 46517"/>
                      <a:gd name="connsiteY4" fmla="*/ 0 h 215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17" h="215196">
                        <a:moveTo>
                          <a:pt x="5486" y="0"/>
                        </a:moveTo>
                        <a:lnTo>
                          <a:pt x="46517" y="53548"/>
                        </a:lnTo>
                        <a:cubicBezTo>
                          <a:pt x="46180" y="102718"/>
                          <a:pt x="44834" y="166026"/>
                          <a:pt x="44497" y="215196"/>
                        </a:cubicBezTo>
                        <a:lnTo>
                          <a:pt x="0" y="164828"/>
                        </a:lnTo>
                        <a:lnTo>
                          <a:pt x="548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srgbClr val="FFFFFF"/>
                      </a:solidFill>
                      <a:effectLst/>
                      <a:uLnTx/>
                      <a:uFillTx/>
                      <a:latin typeface="Scotia"/>
                      <a:ea typeface="+mn-ea"/>
                      <a:cs typeface="+mn-cs"/>
                    </a:endParaRPr>
                  </a:p>
                </p:txBody>
              </p:sp>
            </p:grpSp>
          </p:grpSp>
        </p:grpSp>
      </p:grpSp>
      <p:sp>
        <p:nvSpPr>
          <p:cNvPr id="253" name="TextBox 252">
            <a:extLst>
              <a:ext uri="{FF2B5EF4-FFF2-40B4-BE49-F238E27FC236}">
                <a16:creationId xmlns:a16="http://schemas.microsoft.com/office/drawing/2014/main" id="{E06DEEB0-8E47-496B-F03F-11734836757B}"/>
              </a:ext>
            </a:extLst>
          </p:cNvPr>
          <p:cNvSpPr txBox="1"/>
          <p:nvPr/>
        </p:nvSpPr>
        <p:spPr>
          <a:xfrm>
            <a:off x="541718" y="2259620"/>
            <a:ext cx="1205883"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Dollar Band</a:t>
            </a: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54" name="TextBox 253">
            <a:extLst>
              <a:ext uri="{FF2B5EF4-FFF2-40B4-BE49-F238E27FC236}">
                <a16:creationId xmlns:a16="http://schemas.microsoft.com/office/drawing/2014/main" id="{FDDC5F34-0000-0981-E6A1-3C2A20A266E3}"/>
              </a:ext>
            </a:extLst>
          </p:cNvPr>
          <p:cNvSpPr txBox="1"/>
          <p:nvPr/>
        </p:nvSpPr>
        <p:spPr>
          <a:xfrm>
            <a:off x="541718" y="2049613"/>
            <a:ext cx="2224490"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Asset Market Share, </a:t>
            </a:r>
            <a:r>
              <a:rPr kumimoji="0" lang="en-CA" sz="1200" b="0" i="0" u="none" strike="noStrike" kern="1200" cap="none" spc="0" normalizeH="0" baseline="0" noProof="0">
                <a:ln>
                  <a:noFill/>
                </a:ln>
                <a:solidFill>
                  <a:srgbClr val="000000"/>
                </a:solidFill>
                <a:effectLst/>
                <a:uLnTx/>
                <a:uFillTx/>
                <a:latin typeface="Scotia"/>
                <a:ea typeface="+mn-ea"/>
                <a:cs typeface="+mn-cs"/>
              </a:rPr>
              <a:t>Q3 F23</a:t>
            </a: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329" name="Rectangle 328">
            <a:extLst>
              <a:ext uri="{FF2B5EF4-FFF2-40B4-BE49-F238E27FC236}">
                <a16:creationId xmlns:a16="http://schemas.microsoft.com/office/drawing/2014/main" id="{A6F7A00D-3F91-9162-14D9-6E940CCD6FC0}"/>
              </a:ext>
            </a:extLst>
          </p:cNvPr>
          <p:cNvSpPr/>
          <p:nvPr/>
        </p:nvSpPr>
        <p:spPr>
          <a:xfrm>
            <a:off x="9583038" y="2419178"/>
            <a:ext cx="2239139" cy="3486699"/>
          </a:xfrm>
          <a:prstGeom prst="rect">
            <a:avLst/>
          </a:prstGeom>
          <a:no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9456" bIns="360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Scotiabank has secured a </a:t>
            </a:r>
            <a:r>
              <a:rPr kumimoji="0" lang="en-US" sz="1100" b="1" i="0" u="none" strike="noStrike" kern="1200" cap="none" spc="0" normalizeH="0" baseline="0" noProof="0">
                <a:ln>
                  <a:noFill/>
                </a:ln>
                <a:solidFill>
                  <a:srgbClr val="000000"/>
                </a:solidFill>
                <a:effectLst/>
                <a:uLnTx/>
                <a:uFillTx/>
                <a:latin typeface="Scotia"/>
                <a:ea typeface="+mn-ea"/>
                <a:cs typeface="+mn-cs"/>
              </a:rPr>
              <a:t>top two position within the $25 - 100MM asset band</a:t>
            </a:r>
            <a:r>
              <a:rPr kumimoji="0" lang="en-US" sz="1100" b="0" i="0" u="none" strike="noStrike" kern="1200" cap="none" spc="0" normalizeH="0" baseline="0" noProof="0">
                <a:ln>
                  <a:noFill/>
                </a:ln>
                <a:solidFill>
                  <a:srgbClr val="000000"/>
                </a:solidFill>
                <a:effectLst/>
                <a:uLnTx/>
                <a:uFillTx/>
                <a:latin typeface="Scotia"/>
                <a:ea typeface="+mn-ea"/>
                <a:cs typeface="+mn-cs"/>
              </a:rPr>
              <a:t>, aligned with our historic focus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However, Scotiabank has </a:t>
            </a:r>
            <a:r>
              <a:rPr kumimoji="0" lang="en-US" sz="1100" b="1" i="0" u="none" strike="noStrike" kern="1200" cap="none" spc="0" normalizeH="0" baseline="0" noProof="0">
                <a:ln>
                  <a:noFill/>
                </a:ln>
                <a:solidFill>
                  <a:srgbClr val="000000"/>
                </a:solidFill>
                <a:effectLst/>
                <a:uLnTx/>
                <a:uFillTx/>
                <a:latin typeface="Scotia"/>
                <a:ea typeface="+mn-ea"/>
                <a:cs typeface="+mn-cs"/>
              </a:rPr>
              <a:t>underperformed in the $1 - 25MM band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This segment presents  an </a:t>
            </a:r>
            <a:r>
              <a:rPr kumimoji="0" lang="en-US" sz="1100" b="1" i="0" u="none" strike="noStrike" kern="1200" cap="none" spc="0" normalizeH="0" baseline="0" noProof="0">
                <a:ln>
                  <a:noFill/>
                </a:ln>
                <a:solidFill>
                  <a:srgbClr val="000000"/>
                </a:solidFill>
                <a:effectLst/>
                <a:uLnTx/>
                <a:uFillTx/>
                <a:latin typeface="Scotia"/>
                <a:ea typeface="+mn-ea"/>
                <a:cs typeface="+mn-cs"/>
              </a:rPr>
              <a:t>attractive opportunity </a:t>
            </a:r>
            <a:r>
              <a:rPr kumimoji="0" lang="en-US" sz="1100" b="0" i="0" u="none" strike="noStrike" kern="1200" cap="none" spc="0" normalizeH="0" baseline="0" noProof="0">
                <a:ln>
                  <a:noFill/>
                </a:ln>
                <a:solidFill>
                  <a:srgbClr val="000000"/>
                </a:solidFill>
                <a:effectLst/>
                <a:uLnTx/>
                <a:uFillTx/>
                <a:latin typeface="Scotia"/>
                <a:ea typeface="+mn-ea"/>
                <a:cs typeface="+mn-cs"/>
              </a:rPr>
              <a:t>to prioritize moving forward, generating </a:t>
            </a:r>
            <a:r>
              <a:rPr kumimoji="0" lang="en-US" sz="1100" b="1" i="0" u="none" strike="noStrike" kern="1200" cap="none" spc="0" normalizeH="0" baseline="0" noProof="0">
                <a:ln>
                  <a:noFill/>
                </a:ln>
                <a:solidFill>
                  <a:srgbClr val="000000"/>
                </a:solidFill>
                <a:effectLst/>
                <a:uLnTx/>
                <a:uFillTx/>
                <a:latin typeface="Scotia"/>
                <a:ea typeface="+mn-ea"/>
                <a:cs typeface="+mn-cs"/>
              </a:rPr>
              <a:t>positive </a:t>
            </a:r>
            <a:r>
              <a:rPr kumimoji="0" lang="en-US" sz="1100" b="1" i="0" u="none" strike="noStrike" kern="1200" cap="none" spc="0" normalizeH="0" baseline="0" noProof="0" err="1">
                <a:ln>
                  <a:noFill/>
                </a:ln>
                <a:solidFill>
                  <a:srgbClr val="000000"/>
                </a:solidFill>
                <a:effectLst/>
                <a:uLnTx/>
                <a:uFillTx/>
                <a:latin typeface="Scotia"/>
                <a:ea typeface="+mn-ea"/>
                <a:cs typeface="+mn-cs"/>
              </a:rPr>
              <a:t>RoRWA</a:t>
            </a:r>
            <a:r>
              <a:rPr kumimoji="0" lang="en-US" sz="1100" b="1" i="0" u="none" strike="noStrike" kern="1200" cap="none" spc="0" normalizeH="0" baseline="0" noProof="0">
                <a:ln>
                  <a:noFill/>
                </a:ln>
                <a:solidFill>
                  <a:srgbClr val="000000"/>
                </a:solidFill>
                <a:effectLst/>
                <a:uLnTx/>
                <a:uFillTx/>
                <a:latin typeface="Scotia"/>
                <a:ea typeface="+mn-ea"/>
                <a:cs typeface="+mn-cs"/>
              </a:rPr>
              <a:t> &amp; LDR </a:t>
            </a:r>
          </a:p>
        </p:txBody>
      </p:sp>
      <p:sp>
        <p:nvSpPr>
          <p:cNvPr id="330" name="TextBox 329">
            <a:extLst>
              <a:ext uri="{FF2B5EF4-FFF2-40B4-BE49-F238E27FC236}">
                <a16:creationId xmlns:a16="http://schemas.microsoft.com/office/drawing/2014/main" id="{A4CC1687-6771-ED98-8728-F2DFF29D231E}"/>
              </a:ext>
            </a:extLst>
          </p:cNvPr>
          <p:cNvSpPr txBox="1"/>
          <p:nvPr/>
        </p:nvSpPr>
        <p:spPr>
          <a:xfrm>
            <a:off x="9849703" y="2298539"/>
            <a:ext cx="1576541" cy="276999"/>
          </a:xfrm>
          <a:prstGeom prst="rect">
            <a:avLst/>
          </a:prstGeom>
          <a:solidFill>
            <a:schemeClr val="bg1"/>
          </a:solidFill>
        </p:spPr>
        <p:txBody>
          <a:bodyPr wrap="square">
            <a:spAutoFit/>
          </a:bodyPr>
          <a:lstStyle/>
          <a:p>
            <a:pPr marL="0" marR="0" lvl="0" indent="0" algn="ctr" defTabSz="914355" rtl="0" eaLnBrk="1" fontAlgn="auto" latinLnBrk="0" hangingPunct="1">
              <a:lnSpc>
                <a:spcPct val="100000"/>
              </a:lnSpc>
              <a:spcBef>
                <a:spcPts val="600"/>
              </a:spcBef>
              <a:spcAft>
                <a:spcPts val="600"/>
              </a:spcAft>
              <a:buClrTx/>
              <a:buSzTx/>
              <a:buFontTx/>
              <a:buNone/>
              <a:tabLst/>
              <a:defRPr/>
            </a:pPr>
            <a:r>
              <a:rPr kumimoji="0" lang="en-US" sz="1200" b="0" i="0" u="none" strike="noStrike" kern="1200" cap="none" spc="20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rPr>
              <a:t>KEY INSIGHTS</a:t>
            </a:r>
          </a:p>
        </p:txBody>
      </p:sp>
      <p:sp>
        <p:nvSpPr>
          <p:cNvPr id="5" name="Text Placeholder 4">
            <a:extLst>
              <a:ext uri="{FF2B5EF4-FFF2-40B4-BE49-F238E27FC236}">
                <a16:creationId xmlns:a16="http://schemas.microsoft.com/office/drawing/2014/main" id="{DA73810A-5EA0-AC2D-139B-167814D1B152}"/>
              </a:ext>
            </a:extLst>
          </p:cNvPr>
          <p:cNvSpPr>
            <a:spLocks noGrp="1"/>
          </p:cNvSpPr>
          <p:nvPr>
            <p:ph type="body" sz="quarter" idx="13"/>
          </p:nvPr>
        </p:nvSpPr>
        <p:spPr/>
        <p:txBody>
          <a:bodyPr/>
          <a:lstStyle/>
          <a:p>
            <a:endParaRPr lang="en-CA"/>
          </a:p>
        </p:txBody>
      </p:sp>
    </p:spTree>
    <p:extLst>
      <p:ext uri="{BB962C8B-B14F-4D97-AF65-F5344CB8AC3E}">
        <p14:creationId xmlns:p14="http://schemas.microsoft.com/office/powerpoint/2010/main" val="21858601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9" name="think-cell data - do not delete" hidden="1">
            <a:extLst>
              <a:ext uri="{FF2B5EF4-FFF2-40B4-BE49-F238E27FC236}">
                <a16:creationId xmlns:a16="http://schemas.microsoft.com/office/drawing/2014/main" id="{632DE2F2-9551-721E-8F78-0CD21616EC1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199" name="think-cell data - do not delete" hidden="1">
                        <a:extLst>
                          <a:ext uri="{FF2B5EF4-FFF2-40B4-BE49-F238E27FC236}">
                            <a16:creationId xmlns:a16="http://schemas.microsoft.com/office/drawing/2014/main" id="{632DE2F2-9551-721E-8F78-0CD21616EC1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707B9E1-2F0C-1F5A-DE58-666CE465FFB9}"/>
              </a:ext>
            </a:extLst>
          </p:cNvPr>
          <p:cNvSpPr>
            <a:spLocks noGrp="1"/>
          </p:cNvSpPr>
          <p:nvPr>
            <p:ph type="title"/>
          </p:nvPr>
        </p:nvSpPr>
        <p:spPr>
          <a:xfrm>
            <a:off x="515938" y="661850"/>
            <a:ext cx="11160124" cy="720000"/>
          </a:xfrm>
        </p:spPr>
        <p:txBody>
          <a:bodyPr vert="horz"/>
          <a:lstStyle/>
          <a:p>
            <a:r>
              <a:rPr lang="en-CA"/>
              <a:t>Leading players have different value props; TD offers best-in-class platforms at high fees while </a:t>
            </a:r>
            <a:r>
              <a:rPr lang="en-CA" err="1"/>
              <a:t>Wealthsimple</a:t>
            </a:r>
            <a:r>
              <a:rPr lang="en-CA"/>
              <a:t> offers basic features and free trading</a:t>
            </a:r>
          </a:p>
        </p:txBody>
      </p:sp>
      <p:sp>
        <p:nvSpPr>
          <p:cNvPr id="3" name="Slide Number Placeholder 2">
            <a:extLst>
              <a:ext uri="{FF2B5EF4-FFF2-40B4-BE49-F238E27FC236}">
                <a16:creationId xmlns:a16="http://schemas.microsoft.com/office/drawing/2014/main" id="{2C129452-B836-AAF1-015F-5DE35AF433CB}"/>
              </a:ext>
            </a:extLst>
          </p:cNvPr>
          <p:cNvSpPr>
            <a:spLocks noGrp="1"/>
          </p:cNvSpPr>
          <p:nvPr>
            <p:ph type="sldNum" sz="quarter" idx="10"/>
          </p:nvPr>
        </p:nvSpPr>
        <p:spPr>
          <a:xfrm>
            <a:off x="11231211" y="338582"/>
            <a:ext cx="435865" cy="1800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255" name="Text Placeholder 254">
            <a:extLst>
              <a:ext uri="{FF2B5EF4-FFF2-40B4-BE49-F238E27FC236}">
                <a16:creationId xmlns:a16="http://schemas.microsoft.com/office/drawing/2014/main" id="{9E24A382-C015-7C22-1750-47890C4C3053}"/>
              </a:ext>
            </a:extLst>
          </p:cNvPr>
          <p:cNvSpPr>
            <a:spLocks noGrp="1"/>
          </p:cNvSpPr>
          <p:nvPr>
            <p:ph type="body" sz="quarter" idx="11"/>
          </p:nvPr>
        </p:nvSpPr>
        <p:spPr>
          <a:xfrm>
            <a:off x="515939" y="6319910"/>
            <a:ext cx="10698480" cy="144000"/>
          </a:xfrm>
        </p:spPr>
        <p:txBody>
          <a:bodyPr/>
          <a:lstStyle/>
          <a:p>
            <a:r>
              <a:rPr lang="en-CA"/>
              <a:t>1. </a:t>
            </a:r>
            <a:r>
              <a:rPr lang="en-CA" err="1"/>
              <a:t>EasyTrade</a:t>
            </a:r>
            <a:r>
              <a:rPr lang="en-CA"/>
              <a:t> offers basic features and 50 free trades every year to all users;   2. Stock scoring system based on market factors (analyst ratings, technical analysis, etc.);   Source: Market research and </a:t>
            </a:r>
            <a:r>
              <a:rPr lang="en-CA" err="1"/>
              <a:t>iTRADE</a:t>
            </a:r>
            <a:r>
              <a:rPr lang="en-CA"/>
              <a:t> teams</a:t>
            </a:r>
          </a:p>
        </p:txBody>
      </p:sp>
      <p:sp>
        <p:nvSpPr>
          <p:cNvPr id="561" name="Rectangle 560">
            <a:extLst>
              <a:ext uri="{FF2B5EF4-FFF2-40B4-BE49-F238E27FC236}">
                <a16:creationId xmlns:a16="http://schemas.microsoft.com/office/drawing/2014/main" id="{6319EBF2-4728-B51F-5708-81FB87D9F8BE}"/>
              </a:ext>
            </a:extLst>
          </p:cNvPr>
          <p:cNvSpPr/>
          <p:nvPr/>
        </p:nvSpPr>
        <p:spPr>
          <a:xfrm>
            <a:off x="2194972"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62" name="Rectangle 561">
            <a:extLst>
              <a:ext uri="{FF2B5EF4-FFF2-40B4-BE49-F238E27FC236}">
                <a16:creationId xmlns:a16="http://schemas.microsoft.com/office/drawing/2014/main" id="{BEFC2051-0D37-747B-1DD2-0F0BD893D7C3}"/>
              </a:ext>
            </a:extLst>
          </p:cNvPr>
          <p:cNvSpPr/>
          <p:nvPr/>
        </p:nvSpPr>
        <p:spPr>
          <a:xfrm>
            <a:off x="3561794"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68" name="Rectangle 567">
            <a:extLst>
              <a:ext uri="{FF2B5EF4-FFF2-40B4-BE49-F238E27FC236}">
                <a16:creationId xmlns:a16="http://schemas.microsoft.com/office/drawing/2014/main" id="{940809F1-EE04-70BB-15B2-4C7EF0E3D816}"/>
              </a:ext>
            </a:extLst>
          </p:cNvPr>
          <p:cNvSpPr/>
          <p:nvPr/>
        </p:nvSpPr>
        <p:spPr>
          <a:xfrm>
            <a:off x="10395902"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205" name="Group 204">
            <a:extLst>
              <a:ext uri="{FF2B5EF4-FFF2-40B4-BE49-F238E27FC236}">
                <a16:creationId xmlns:a16="http://schemas.microsoft.com/office/drawing/2014/main" id="{0565789F-F905-A844-2593-1F2EE2A85157}"/>
              </a:ext>
            </a:extLst>
          </p:cNvPr>
          <p:cNvGrpSpPr/>
          <p:nvPr/>
        </p:nvGrpSpPr>
        <p:grpSpPr>
          <a:xfrm>
            <a:off x="2644885" y="1629665"/>
            <a:ext cx="380334" cy="382254"/>
            <a:chOff x="3823321" y="2308758"/>
            <a:chExt cx="419100" cy="420688"/>
          </a:xfrm>
        </p:grpSpPr>
        <p:sp>
          <p:nvSpPr>
            <p:cNvPr id="206" name="Oval 205">
              <a:extLst>
                <a:ext uri="{FF2B5EF4-FFF2-40B4-BE49-F238E27FC236}">
                  <a16:creationId xmlns:a16="http://schemas.microsoft.com/office/drawing/2014/main" id="{CB772B4D-9DB9-BAB2-0F23-1DDFF6FE57A0}"/>
                </a:ext>
              </a:extLst>
            </p:cNvPr>
            <p:cNvSpPr/>
            <p:nvPr/>
          </p:nvSpPr>
          <p:spPr>
            <a:xfrm>
              <a:off x="3823321" y="2308758"/>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6">
              <a:extLst>
                <a:ext uri="{FF2B5EF4-FFF2-40B4-BE49-F238E27FC236}">
                  <a16:creationId xmlns:a16="http://schemas.microsoft.com/office/drawing/2014/main" id="{E848311E-CDE9-5FAB-99C5-BA69197E1DF1}"/>
                </a:ext>
              </a:extLst>
            </p:cNvPr>
            <p:cNvSpPr>
              <a:spLocks/>
            </p:cNvSpPr>
            <p:nvPr/>
          </p:nvSpPr>
          <p:spPr bwMode="auto">
            <a:xfrm>
              <a:off x="3880795" y="2427055"/>
              <a:ext cx="304152" cy="184094"/>
            </a:xfrm>
            <a:custGeom>
              <a:avLst/>
              <a:gdLst>
                <a:gd name="T0" fmla="*/ 2941 w 4184"/>
                <a:gd name="T1" fmla="*/ 2779 h 2779"/>
                <a:gd name="T2" fmla="*/ 1699 w 4184"/>
                <a:gd name="T3" fmla="*/ 2779 h 2779"/>
                <a:gd name="T4" fmla="*/ 1699 w 4184"/>
                <a:gd name="T5" fmla="*/ 541 h 2779"/>
                <a:gd name="T6" fmla="*/ 2323 w 4184"/>
                <a:gd name="T7" fmla="*/ 541 h 2779"/>
                <a:gd name="T8" fmla="*/ 2323 w 4184"/>
                <a:gd name="T9" fmla="*/ 2382 h 2779"/>
                <a:gd name="T10" fmla="*/ 2923 w 4184"/>
                <a:gd name="T11" fmla="*/ 2382 h 2779"/>
                <a:gd name="T12" fmla="*/ 3511 w 4184"/>
                <a:gd name="T13" fmla="*/ 1356 h 2779"/>
                <a:gd name="T14" fmla="*/ 2893 w 4184"/>
                <a:gd name="T15" fmla="*/ 397 h 2779"/>
                <a:gd name="T16" fmla="*/ 1525 w 4184"/>
                <a:gd name="T17" fmla="*/ 397 h 2779"/>
                <a:gd name="T18" fmla="*/ 1525 w 4184"/>
                <a:gd name="T19" fmla="*/ 2779 h 2779"/>
                <a:gd name="T20" fmla="*/ 907 w 4184"/>
                <a:gd name="T21" fmla="*/ 2779 h 2779"/>
                <a:gd name="T22" fmla="*/ 907 w 4184"/>
                <a:gd name="T23" fmla="*/ 397 h 2779"/>
                <a:gd name="T24" fmla="*/ 0 w 4184"/>
                <a:gd name="T25" fmla="*/ 397 h 2779"/>
                <a:gd name="T26" fmla="*/ 0 w 4184"/>
                <a:gd name="T27" fmla="*/ 0 h 2779"/>
                <a:gd name="T28" fmla="*/ 3086 w 4184"/>
                <a:gd name="T29" fmla="*/ 0 h 2779"/>
                <a:gd name="T30" fmla="*/ 4184 w 4184"/>
                <a:gd name="T31" fmla="*/ 1351 h 2779"/>
                <a:gd name="T32" fmla="*/ 2941 w 4184"/>
                <a:gd name="T33" fmla="*/ 2779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4" h="2779">
                  <a:moveTo>
                    <a:pt x="2941" y="2779"/>
                  </a:moveTo>
                  <a:lnTo>
                    <a:pt x="1699" y="2779"/>
                  </a:lnTo>
                  <a:lnTo>
                    <a:pt x="1699" y="541"/>
                  </a:lnTo>
                  <a:lnTo>
                    <a:pt x="2323" y="541"/>
                  </a:lnTo>
                  <a:lnTo>
                    <a:pt x="2323" y="2382"/>
                  </a:lnTo>
                  <a:lnTo>
                    <a:pt x="2923" y="2382"/>
                  </a:lnTo>
                  <a:cubicBezTo>
                    <a:pt x="3337" y="2382"/>
                    <a:pt x="3511" y="2096"/>
                    <a:pt x="3511" y="1356"/>
                  </a:cubicBezTo>
                  <a:cubicBezTo>
                    <a:pt x="3511" y="613"/>
                    <a:pt x="3314" y="397"/>
                    <a:pt x="2893" y="397"/>
                  </a:cubicBezTo>
                  <a:lnTo>
                    <a:pt x="1525" y="397"/>
                  </a:lnTo>
                  <a:lnTo>
                    <a:pt x="1525" y="2779"/>
                  </a:lnTo>
                  <a:lnTo>
                    <a:pt x="907" y="2779"/>
                  </a:lnTo>
                  <a:lnTo>
                    <a:pt x="907" y="397"/>
                  </a:lnTo>
                  <a:lnTo>
                    <a:pt x="0" y="397"/>
                  </a:lnTo>
                  <a:lnTo>
                    <a:pt x="0" y="0"/>
                  </a:lnTo>
                  <a:lnTo>
                    <a:pt x="3086" y="0"/>
                  </a:lnTo>
                  <a:cubicBezTo>
                    <a:pt x="3830" y="0"/>
                    <a:pt x="4184" y="385"/>
                    <a:pt x="4184" y="1351"/>
                  </a:cubicBezTo>
                  <a:cubicBezTo>
                    <a:pt x="4184" y="2623"/>
                    <a:pt x="3656" y="2779"/>
                    <a:pt x="2941" y="2779"/>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nvGrpSpPr>
          <p:cNvPr id="211" name="Group 210">
            <a:extLst>
              <a:ext uri="{FF2B5EF4-FFF2-40B4-BE49-F238E27FC236}">
                <a16:creationId xmlns:a16="http://schemas.microsoft.com/office/drawing/2014/main" id="{73E27069-B5F7-D3F9-8D8A-94D11377BBA9}"/>
              </a:ext>
            </a:extLst>
          </p:cNvPr>
          <p:cNvGrpSpPr/>
          <p:nvPr/>
        </p:nvGrpSpPr>
        <p:grpSpPr>
          <a:xfrm>
            <a:off x="4010747" y="1629665"/>
            <a:ext cx="382254" cy="382254"/>
            <a:chOff x="3068259" y="2308766"/>
            <a:chExt cx="420441" cy="420672"/>
          </a:xfrm>
        </p:grpSpPr>
        <p:grpSp>
          <p:nvGrpSpPr>
            <p:cNvPr id="212" name="Group 211">
              <a:extLst>
                <a:ext uri="{FF2B5EF4-FFF2-40B4-BE49-F238E27FC236}">
                  <a16:creationId xmlns:a16="http://schemas.microsoft.com/office/drawing/2014/main" id="{0CAF2E38-22CA-CC70-B675-D3E19FFC625B}"/>
                </a:ext>
              </a:extLst>
            </p:cNvPr>
            <p:cNvGrpSpPr/>
            <p:nvPr/>
          </p:nvGrpSpPr>
          <p:grpSpPr>
            <a:xfrm>
              <a:off x="3068259" y="2308766"/>
              <a:ext cx="420441" cy="420672"/>
              <a:chOff x="3817242" y="2798528"/>
              <a:chExt cx="420441" cy="420672"/>
            </a:xfrm>
          </p:grpSpPr>
          <p:sp>
            <p:nvSpPr>
              <p:cNvPr id="216" name="Oval 215">
                <a:extLst>
                  <a:ext uri="{FF2B5EF4-FFF2-40B4-BE49-F238E27FC236}">
                    <a16:creationId xmlns:a16="http://schemas.microsoft.com/office/drawing/2014/main" id="{921DF276-0CBD-EFAA-6786-A8704AFE4F29}"/>
                  </a:ext>
                </a:extLst>
              </p:cNvPr>
              <p:cNvSpPr/>
              <p:nvPr/>
            </p:nvSpPr>
            <p:spPr>
              <a:xfrm>
                <a:off x="3817242" y="2798528"/>
                <a:ext cx="420441" cy="420672"/>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7" name="Group 216">
                <a:extLst>
                  <a:ext uri="{FF2B5EF4-FFF2-40B4-BE49-F238E27FC236}">
                    <a16:creationId xmlns:a16="http://schemas.microsoft.com/office/drawing/2014/main" id="{3331C6F1-9E37-59CD-FAD4-5F4AF7313D3E}"/>
                  </a:ext>
                </a:extLst>
              </p:cNvPr>
              <p:cNvGrpSpPr>
                <a:grpSpLocks noChangeAspect="1"/>
              </p:cNvGrpSpPr>
              <p:nvPr/>
            </p:nvGrpSpPr>
            <p:grpSpPr bwMode="auto">
              <a:xfrm>
                <a:off x="3923976" y="2855423"/>
                <a:ext cx="214292" cy="278345"/>
                <a:chOff x="2444" y="1331"/>
                <a:chExt cx="1114" cy="1447"/>
              </a:xfrm>
            </p:grpSpPr>
            <p:sp>
              <p:nvSpPr>
                <p:cNvPr id="218" name="Freeform 21">
                  <a:extLst>
                    <a:ext uri="{FF2B5EF4-FFF2-40B4-BE49-F238E27FC236}">
                      <a16:creationId xmlns:a16="http://schemas.microsoft.com/office/drawing/2014/main" id="{0016A109-F168-668F-B857-8111EB200638}"/>
                    </a:ext>
                  </a:extLst>
                </p:cNvPr>
                <p:cNvSpPr>
                  <a:spLocks/>
                </p:cNvSpPr>
                <p:nvPr/>
              </p:nvSpPr>
              <p:spPr bwMode="auto">
                <a:xfrm>
                  <a:off x="2446" y="1857"/>
                  <a:ext cx="519" cy="574"/>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sp>
              <p:nvSpPr>
                <p:cNvPr id="219" name="Freeform 22">
                  <a:extLst>
                    <a:ext uri="{FF2B5EF4-FFF2-40B4-BE49-F238E27FC236}">
                      <a16:creationId xmlns:a16="http://schemas.microsoft.com/office/drawing/2014/main" id="{451D493D-3EC2-298F-0A43-D143B64E8AFB}"/>
                    </a:ext>
                  </a:extLst>
                </p:cNvPr>
                <p:cNvSpPr>
                  <a:spLocks noEditPoints="1"/>
                </p:cNvSpPr>
                <p:nvPr/>
              </p:nvSpPr>
              <p:spPr bwMode="auto">
                <a:xfrm>
                  <a:off x="2444" y="1331"/>
                  <a:ext cx="1114" cy="1129"/>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sp>
              <p:nvSpPr>
                <p:cNvPr id="220" name="Freeform 23">
                  <a:extLst>
                    <a:ext uri="{FF2B5EF4-FFF2-40B4-BE49-F238E27FC236}">
                      <a16:creationId xmlns:a16="http://schemas.microsoft.com/office/drawing/2014/main" id="{747DB874-5FB7-8A0B-CE45-00EFD2E41E5E}"/>
                    </a:ext>
                  </a:extLst>
                </p:cNvPr>
                <p:cNvSpPr>
                  <a:spLocks noEditPoints="1"/>
                </p:cNvSpPr>
                <p:nvPr/>
              </p:nvSpPr>
              <p:spPr bwMode="auto">
                <a:xfrm>
                  <a:off x="2860" y="2459"/>
                  <a:ext cx="306" cy="313"/>
                </a:xfrm>
                <a:custGeom>
                  <a:avLst/>
                  <a:gdLst>
                    <a:gd name="T0" fmla="*/ 132 w 184"/>
                    <a:gd name="T1" fmla="*/ 83 h 188"/>
                    <a:gd name="T2" fmla="*/ 169 w 184"/>
                    <a:gd name="T3" fmla="*/ 43 h 188"/>
                    <a:gd name="T4" fmla="*/ 101 w 184"/>
                    <a:gd name="T5" fmla="*/ 0 h 188"/>
                    <a:gd name="T6" fmla="*/ 0 w 184"/>
                    <a:gd name="T7" fmla="*/ 0 h 188"/>
                    <a:gd name="T8" fmla="*/ 0 w 184"/>
                    <a:gd name="T9" fmla="*/ 2 h 188"/>
                    <a:gd name="T10" fmla="*/ 11 w 184"/>
                    <a:gd name="T11" fmla="*/ 8 h 188"/>
                    <a:gd name="T12" fmla="*/ 20 w 184"/>
                    <a:gd name="T13" fmla="*/ 38 h 188"/>
                    <a:gd name="T14" fmla="*/ 20 w 184"/>
                    <a:gd name="T15" fmla="*/ 188 h 188"/>
                    <a:gd name="T16" fmla="*/ 104 w 184"/>
                    <a:gd name="T17" fmla="*/ 188 h 188"/>
                    <a:gd name="T18" fmla="*/ 183 w 184"/>
                    <a:gd name="T19" fmla="*/ 131 h 188"/>
                    <a:gd name="T20" fmla="*/ 132 w 184"/>
                    <a:gd name="T21" fmla="*/ 83 h 188"/>
                    <a:gd name="T22" fmla="*/ 89 w 184"/>
                    <a:gd name="T23" fmla="*/ 18 h 188"/>
                    <a:gd name="T24" fmla="*/ 125 w 184"/>
                    <a:gd name="T25" fmla="*/ 46 h 188"/>
                    <a:gd name="T26" fmla="*/ 84 w 184"/>
                    <a:gd name="T27" fmla="*/ 76 h 188"/>
                    <a:gd name="T28" fmla="*/ 65 w 184"/>
                    <a:gd name="T29" fmla="*/ 76 h 188"/>
                    <a:gd name="T30" fmla="*/ 65 w 184"/>
                    <a:gd name="T31" fmla="*/ 18 h 188"/>
                    <a:gd name="T32" fmla="*/ 89 w 184"/>
                    <a:gd name="T33" fmla="*/ 18 h 188"/>
                    <a:gd name="T34" fmla="*/ 92 w 184"/>
                    <a:gd name="T35" fmla="*/ 171 h 188"/>
                    <a:gd name="T36" fmla="*/ 65 w 184"/>
                    <a:gd name="T37" fmla="*/ 171 h 188"/>
                    <a:gd name="T38" fmla="*/ 65 w 184"/>
                    <a:gd name="T39" fmla="*/ 94 h 188"/>
                    <a:gd name="T40" fmla="*/ 91 w 184"/>
                    <a:gd name="T41" fmla="*/ 94 h 188"/>
                    <a:gd name="T42" fmla="*/ 140 w 184"/>
                    <a:gd name="T43" fmla="*/ 131 h 188"/>
                    <a:gd name="T44" fmla="*/ 92 w 184"/>
                    <a:gd name="T45" fmla="*/ 17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4" h="188">
                      <a:moveTo>
                        <a:pt x="132" y="83"/>
                      </a:moveTo>
                      <a:cubicBezTo>
                        <a:pt x="151" y="80"/>
                        <a:pt x="169" y="66"/>
                        <a:pt x="169" y="43"/>
                      </a:cubicBezTo>
                      <a:cubicBezTo>
                        <a:pt x="169" y="23"/>
                        <a:pt x="161" y="0"/>
                        <a:pt x="101" y="0"/>
                      </a:cubicBezTo>
                      <a:lnTo>
                        <a:pt x="0" y="0"/>
                      </a:lnTo>
                      <a:lnTo>
                        <a:pt x="0" y="2"/>
                      </a:lnTo>
                      <a:cubicBezTo>
                        <a:pt x="3" y="3"/>
                        <a:pt x="8" y="6"/>
                        <a:pt x="11" y="8"/>
                      </a:cubicBezTo>
                      <a:cubicBezTo>
                        <a:pt x="17" y="15"/>
                        <a:pt x="20" y="26"/>
                        <a:pt x="20" y="38"/>
                      </a:cubicBezTo>
                      <a:lnTo>
                        <a:pt x="20" y="188"/>
                      </a:lnTo>
                      <a:lnTo>
                        <a:pt x="104" y="188"/>
                      </a:lnTo>
                      <a:cubicBezTo>
                        <a:pt x="149" y="188"/>
                        <a:pt x="183" y="171"/>
                        <a:pt x="183" y="131"/>
                      </a:cubicBezTo>
                      <a:cubicBezTo>
                        <a:pt x="184" y="99"/>
                        <a:pt x="159" y="84"/>
                        <a:pt x="132" y="83"/>
                      </a:cubicBezTo>
                      <a:close/>
                      <a:moveTo>
                        <a:pt x="89" y="18"/>
                      </a:moveTo>
                      <a:cubicBezTo>
                        <a:pt x="111" y="18"/>
                        <a:pt x="125" y="22"/>
                        <a:pt x="125" y="46"/>
                      </a:cubicBezTo>
                      <a:cubicBezTo>
                        <a:pt x="125" y="70"/>
                        <a:pt x="105" y="76"/>
                        <a:pt x="84" y="76"/>
                      </a:cubicBezTo>
                      <a:lnTo>
                        <a:pt x="65" y="76"/>
                      </a:lnTo>
                      <a:lnTo>
                        <a:pt x="65" y="18"/>
                      </a:lnTo>
                      <a:lnTo>
                        <a:pt x="89" y="18"/>
                      </a:lnTo>
                      <a:close/>
                      <a:moveTo>
                        <a:pt x="92" y="171"/>
                      </a:moveTo>
                      <a:lnTo>
                        <a:pt x="65" y="171"/>
                      </a:lnTo>
                      <a:lnTo>
                        <a:pt x="65" y="94"/>
                      </a:lnTo>
                      <a:lnTo>
                        <a:pt x="91" y="94"/>
                      </a:lnTo>
                      <a:cubicBezTo>
                        <a:pt x="125" y="94"/>
                        <a:pt x="140" y="104"/>
                        <a:pt x="140" y="131"/>
                      </a:cubicBezTo>
                      <a:cubicBezTo>
                        <a:pt x="139" y="160"/>
                        <a:pt x="121" y="171"/>
                        <a:pt x="92" y="171"/>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sp>
              <p:nvSpPr>
                <p:cNvPr id="221" name="Freeform 24">
                  <a:extLst>
                    <a:ext uri="{FF2B5EF4-FFF2-40B4-BE49-F238E27FC236}">
                      <a16:creationId xmlns:a16="http://schemas.microsoft.com/office/drawing/2014/main" id="{D99E736A-A0F0-BEC0-0A14-2401337E68EC}"/>
                    </a:ext>
                  </a:extLst>
                </p:cNvPr>
                <p:cNvSpPr>
                  <a:spLocks noEditPoints="1"/>
                </p:cNvSpPr>
                <p:nvPr/>
              </p:nvSpPr>
              <p:spPr bwMode="auto">
                <a:xfrm>
                  <a:off x="2501" y="2459"/>
                  <a:ext cx="327" cy="316"/>
                </a:xfrm>
                <a:custGeom>
                  <a:avLst/>
                  <a:gdLst>
                    <a:gd name="T0" fmla="*/ 143 w 197"/>
                    <a:gd name="T1" fmla="*/ 190 h 190"/>
                    <a:gd name="T2" fmla="*/ 197 w 197"/>
                    <a:gd name="T3" fmla="*/ 190 h 190"/>
                    <a:gd name="T4" fmla="*/ 127 w 197"/>
                    <a:gd name="T5" fmla="*/ 100 h 190"/>
                    <a:gd name="T6" fmla="*/ 176 w 197"/>
                    <a:gd name="T7" fmla="*/ 50 h 190"/>
                    <a:gd name="T8" fmla="*/ 105 w 197"/>
                    <a:gd name="T9" fmla="*/ 0 h 190"/>
                    <a:gd name="T10" fmla="*/ 0 w 197"/>
                    <a:gd name="T11" fmla="*/ 0 h 190"/>
                    <a:gd name="T12" fmla="*/ 0 w 197"/>
                    <a:gd name="T13" fmla="*/ 2 h 190"/>
                    <a:gd name="T14" fmla="*/ 11 w 197"/>
                    <a:gd name="T15" fmla="*/ 8 h 190"/>
                    <a:gd name="T16" fmla="*/ 20 w 197"/>
                    <a:gd name="T17" fmla="*/ 42 h 190"/>
                    <a:gd name="T18" fmla="*/ 20 w 197"/>
                    <a:gd name="T19" fmla="*/ 188 h 190"/>
                    <a:gd name="T20" fmla="*/ 64 w 197"/>
                    <a:gd name="T21" fmla="*/ 188 h 190"/>
                    <a:gd name="T22" fmla="*/ 64 w 197"/>
                    <a:gd name="T23" fmla="*/ 104 h 190"/>
                    <a:gd name="T24" fmla="*/ 80 w 197"/>
                    <a:gd name="T25" fmla="*/ 104 h 190"/>
                    <a:gd name="T26" fmla="*/ 143 w 197"/>
                    <a:gd name="T27" fmla="*/ 190 h 190"/>
                    <a:gd name="T28" fmla="*/ 65 w 197"/>
                    <a:gd name="T29" fmla="*/ 18 h 190"/>
                    <a:gd name="T30" fmla="*/ 95 w 197"/>
                    <a:gd name="T31" fmla="*/ 18 h 190"/>
                    <a:gd name="T32" fmla="*/ 132 w 197"/>
                    <a:gd name="T33" fmla="*/ 51 h 190"/>
                    <a:gd name="T34" fmla="*/ 88 w 197"/>
                    <a:gd name="T35" fmla="*/ 88 h 190"/>
                    <a:gd name="T36" fmla="*/ 65 w 197"/>
                    <a:gd name="T37" fmla="*/ 88 h 190"/>
                    <a:gd name="T38" fmla="*/ 65 w 197"/>
                    <a:gd name="T39" fmla="*/ 1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 h="190">
                      <a:moveTo>
                        <a:pt x="143" y="190"/>
                      </a:moveTo>
                      <a:lnTo>
                        <a:pt x="197" y="190"/>
                      </a:lnTo>
                      <a:lnTo>
                        <a:pt x="127" y="100"/>
                      </a:lnTo>
                      <a:cubicBezTo>
                        <a:pt x="155" y="92"/>
                        <a:pt x="176" y="78"/>
                        <a:pt x="176" y="50"/>
                      </a:cubicBezTo>
                      <a:cubicBezTo>
                        <a:pt x="176" y="18"/>
                        <a:pt x="156" y="0"/>
                        <a:pt x="105" y="0"/>
                      </a:cubicBezTo>
                      <a:lnTo>
                        <a:pt x="0" y="0"/>
                      </a:lnTo>
                      <a:lnTo>
                        <a:pt x="0" y="2"/>
                      </a:lnTo>
                      <a:cubicBezTo>
                        <a:pt x="4" y="3"/>
                        <a:pt x="8" y="6"/>
                        <a:pt x="11" y="8"/>
                      </a:cubicBezTo>
                      <a:cubicBezTo>
                        <a:pt x="19" y="15"/>
                        <a:pt x="20" y="27"/>
                        <a:pt x="20" y="42"/>
                      </a:cubicBezTo>
                      <a:lnTo>
                        <a:pt x="20" y="188"/>
                      </a:lnTo>
                      <a:lnTo>
                        <a:pt x="64" y="188"/>
                      </a:lnTo>
                      <a:lnTo>
                        <a:pt x="64" y="104"/>
                      </a:lnTo>
                      <a:lnTo>
                        <a:pt x="80" y="104"/>
                      </a:lnTo>
                      <a:lnTo>
                        <a:pt x="143" y="190"/>
                      </a:lnTo>
                      <a:close/>
                      <a:moveTo>
                        <a:pt x="65" y="18"/>
                      </a:moveTo>
                      <a:lnTo>
                        <a:pt x="95" y="18"/>
                      </a:lnTo>
                      <a:cubicBezTo>
                        <a:pt x="119" y="18"/>
                        <a:pt x="132" y="24"/>
                        <a:pt x="132" y="51"/>
                      </a:cubicBezTo>
                      <a:cubicBezTo>
                        <a:pt x="132" y="74"/>
                        <a:pt x="115" y="88"/>
                        <a:pt x="88" y="88"/>
                      </a:cubicBezTo>
                      <a:lnTo>
                        <a:pt x="65" y="88"/>
                      </a:lnTo>
                      <a:lnTo>
                        <a:pt x="65" y="18"/>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sp>
              <p:nvSpPr>
                <p:cNvPr id="222" name="Freeform 25">
                  <a:extLst>
                    <a:ext uri="{FF2B5EF4-FFF2-40B4-BE49-F238E27FC236}">
                      <a16:creationId xmlns:a16="http://schemas.microsoft.com/office/drawing/2014/main" id="{1DAFFCA7-7DA2-21F9-7384-54CB33E2EFD9}"/>
                    </a:ext>
                  </a:extLst>
                </p:cNvPr>
                <p:cNvSpPr>
                  <a:spLocks/>
                </p:cNvSpPr>
                <p:nvPr/>
              </p:nvSpPr>
              <p:spPr bwMode="auto">
                <a:xfrm>
                  <a:off x="3226" y="2456"/>
                  <a:ext cx="274" cy="322"/>
                </a:xfrm>
                <a:custGeom>
                  <a:avLst/>
                  <a:gdLst>
                    <a:gd name="T0" fmla="*/ 140 w 165"/>
                    <a:gd name="T1" fmla="*/ 28 h 194"/>
                    <a:gd name="T2" fmla="*/ 155 w 165"/>
                    <a:gd name="T3" fmla="*/ 44 h 194"/>
                    <a:gd name="T4" fmla="*/ 156 w 165"/>
                    <a:gd name="T5" fmla="*/ 44 h 194"/>
                    <a:gd name="T6" fmla="*/ 165 w 165"/>
                    <a:gd name="T7" fmla="*/ 12 h 194"/>
                    <a:gd name="T8" fmla="*/ 108 w 165"/>
                    <a:gd name="T9" fmla="*/ 0 h 194"/>
                    <a:gd name="T10" fmla="*/ 0 w 165"/>
                    <a:gd name="T11" fmla="*/ 98 h 194"/>
                    <a:gd name="T12" fmla="*/ 103 w 165"/>
                    <a:gd name="T13" fmla="*/ 194 h 194"/>
                    <a:gd name="T14" fmla="*/ 165 w 165"/>
                    <a:gd name="T15" fmla="*/ 180 h 194"/>
                    <a:gd name="T16" fmla="*/ 165 w 165"/>
                    <a:gd name="T17" fmla="*/ 157 h 194"/>
                    <a:gd name="T18" fmla="*/ 116 w 165"/>
                    <a:gd name="T19" fmla="*/ 172 h 194"/>
                    <a:gd name="T20" fmla="*/ 45 w 165"/>
                    <a:gd name="T21" fmla="*/ 96 h 194"/>
                    <a:gd name="T22" fmla="*/ 104 w 165"/>
                    <a:gd name="T23" fmla="*/ 18 h 194"/>
                    <a:gd name="T24" fmla="*/ 140 w 165"/>
                    <a:gd name="T25"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94">
                      <a:moveTo>
                        <a:pt x="140" y="28"/>
                      </a:moveTo>
                      <a:cubicBezTo>
                        <a:pt x="152" y="34"/>
                        <a:pt x="155" y="42"/>
                        <a:pt x="155" y="44"/>
                      </a:cubicBezTo>
                      <a:lnTo>
                        <a:pt x="156" y="44"/>
                      </a:lnTo>
                      <a:lnTo>
                        <a:pt x="165" y="12"/>
                      </a:lnTo>
                      <a:cubicBezTo>
                        <a:pt x="165" y="12"/>
                        <a:pt x="148" y="0"/>
                        <a:pt x="108" y="0"/>
                      </a:cubicBezTo>
                      <a:cubicBezTo>
                        <a:pt x="47" y="0"/>
                        <a:pt x="0" y="30"/>
                        <a:pt x="0" y="98"/>
                      </a:cubicBezTo>
                      <a:cubicBezTo>
                        <a:pt x="0" y="174"/>
                        <a:pt x="55" y="194"/>
                        <a:pt x="103" y="194"/>
                      </a:cubicBezTo>
                      <a:cubicBezTo>
                        <a:pt x="148" y="194"/>
                        <a:pt x="165" y="180"/>
                        <a:pt x="165" y="180"/>
                      </a:cubicBezTo>
                      <a:lnTo>
                        <a:pt x="165" y="157"/>
                      </a:lnTo>
                      <a:cubicBezTo>
                        <a:pt x="165" y="157"/>
                        <a:pt x="149" y="172"/>
                        <a:pt x="116" y="172"/>
                      </a:cubicBezTo>
                      <a:cubicBezTo>
                        <a:pt x="88" y="172"/>
                        <a:pt x="47" y="158"/>
                        <a:pt x="45" y="96"/>
                      </a:cubicBezTo>
                      <a:cubicBezTo>
                        <a:pt x="44" y="38"/>
                        <a:pt x="69" y="18"/>
                        <a:pt x="104" y="18"/>
                      </a:cubicBezTo>
                      <a:cubicBezTo>
                        <a:pt x="124" y="20"/>
                        <a:pt x="133" y="25"/>
                        <a:pt x="140" y="28"/>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grpSp>
          <p:nvGrpSpPr>
            <p:cNvPr id="213" name="Group 212">
              <a:extLst>
                <a:ext uri="{FF2B5EF4-FFF2-40B4-BE49-F238E27FC236}">
                  <a16:creationId xmlns:a16="http://schemas.microsoft.com/office/drawing/2014/main" id="{EEFF8B36-9111-BC24-C825-B8A31440CC2C}"/>
                </a:ext>
              </a:extLst>
            </p:cNvPr>
            <p:cNvGrpSpPr/>
            <p:nvPr/>
          </p:nvGrpSpPr>
          <p:grpSpPr>
            <a:xfrm>
              <a:off x="3148634" y="2389146"/>
              <a:ext cx="254747" cy="259912"/>
              <a:chOff x="3995658" y="4815757"/>
              <a:chExt cx="658670" cy="663962"/>
            </a:xfrm>
            <a:solidFill>
              <a:schemeClr val="bg1">
                <a:lumMod val="75000"/>
              </a:schemeClr>
            </a:solidFill>
          </p:grpSpPr>
          <p:sp>
            <p:nvSpPr>
              <p:cNvPr id="214" name="Freeform 21">
                <a:extLst>
                  <a:ext uri="{FF2B5EF4-FFF2-40B4-BE49-F238E27FC236}">
                    <a16:creationId xmlns:a16="http://schemas.microsoft.com/office/drawing/2014/main" id="{D1A60D3A-3477-CF14-01AE-ADD124CE7DBC}"/>
                  </a:ext>
                </a:extLst>
              </p:cNvPr>
              <p:cNvSpPr>
                <a:spLocks/>
              </p:cNvSpPr>
              <p:nvPr/>
            </p:nvSpPr>
            <p:spPr bwMode="auto">
              <a:xfrm>
                <a:off x="3995658" y="5130389"/>
                <a:ext cx="305223" cy="337568"/>
              </a:xfrm>
              <a:custGeom>
                <a:avLst/>
                <a:gdLst>
                  <a:gd name="T0" fmla="*/ 160 w 312"/>
                  <a:gd name="T1" fmla="*/ 177 h 345"/>
                  <a:gd name="T2" fmla="*/ 17 w 312"/>
                  <a:gd name="T3" fmla="*/ 40 h 345"/>
                  <a:gd name="T4" fmla="*/ 22 w 312"/>
                  <a:gd name="T5" fmla="*/ 6 h 345"/>
                  <a:gd name="T6" fmla="*/ 13 w 312"/>
                  <a:gd name="T7" fmla="*/ 0 h 345"/>
                  <a:gd name="T8" fmla="*/ 0 w 312"/>
                  <a:gd name="T9" fmla="*/ 44 h 345"/>
                  <a:gd name="T10" fmla="*/ 17 w 312"/>
                  <a:gd name="T11" fmla="*/ 102 h 345"/>
                  <a:gd name="T12" fmla="*/ 85 w 312"/>
                  <a:gd name="T13" fmla="*/ 168 h 345"/>
                  <a:gd name="T14" fmla="*/ 170 w 312"/>
                  <a:gd name="T15" fmla="*/ 273 h 345"/>
                  <a:gd name="T16" fmla="*/ 177 w 312"/>
                  <a:gd name="T17" fmla="*/ 273 h 345"/>
                  <a:gd name="T18" fmla="*/ 177 w 312"/>
                  <a:gd name="T19" fmla="*/ 230 h 345"/>
                  <a:gd name="T20" fmla="*/ 306 w 312"/>
                  <a:gd name="T21" fmla="*/ 345 h 345"/>
                  <a:gd name="T22" fmla="*/ 312 w 312"/>
                  <a:gd name="T23" fmla="*/ 345 h 345"/>
                  <a:gd name="T24" fmla="*/ 160 w 312"/>
                  <a:gd name="T25" fmla="*/ 17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345">
                    <a:moveTo>
                      <a:pt x="160" y="177"/>
                    </a:moveTo>
                    <a:cubicBezTo>
                      <a:pt x="54" y="112"/>
                      <a:pt x="20" y="82"/>
                      <a:pt x="17" y="40"/>
                    </a:cubicBezTo>
                    <a:cubicBezTo>
                      <a:pt x="17" y="30"/>
                      <a:pt x="18" y="16"/>
                      <a:pt x="22" y="6"/>
                    </a:cubicBezTo>
                    <a:lnTo>
                      <a:pt x="13" y="0"/>
                    </a:lnTo>
                    <a:cubicBezTo>
                      <a:pt x="5" y="12"/>
                      <a:pt x="0" y="29"/>
                      <a:pt x="0" y="44"/>
                    </a:cubicBezTo>
                    <a:cubicBezTo>
                      <a:pt x="0" y="69"/>
                      <a:pt x="8" y="88"/>
                      <a:pt x="17" y="102"/>
                    </a:cubicBezTo>
                    <a:cubicBezTo>
                      <a:pt x="32" y="125"/>
                      <a:pt x="48" y="140"/>
                      <a:pt x="85" y="168"/>
                    </a:cubicBezTo>
                    <a:cubicBezTo>
                      <a:pt x="126" y="198"/>
                      <a:pt x="154" y="234"/>
                      <a:pt x="170" y="273"/>
                    </a:cubicBezTo>
                    <a:lnTo>
                      <a:pt x="177" y="273"/>
                    </a:lnTo>
                    <a:lnTo>
                      <a:pt x="177" y="230"/>
                    </a:lnTo>
                    <a:cubicBezTo>
                      <a:pt x="233" y="262"/>
                      <a:pt x="282" y="292"/>
                      <a:pt x="306" y="345"/>
                    </a:cubicBezTo>
                    <a:lnTo>
                      <a:pt x="312" y="345"/>
                    </a:lnTo>
                    <a:cubicBezTo>
                      <a:pt x="302" y="289"/>
                      <a:pt x="272" y="246"/>
                      <a:pt x="160" y="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sp>
            <p:nvSpPr>
              <p:cNvPr id="215" name="Freeform 22">
                <a:extLst>
                  <a:ext uri="{FF2B5EF4-FFF2-40B4-BE49-F238E27FC236}">
                    <a16:creationId xmlns:a16="http://schemas.microsoft.com/office/drawing/2014/main" id="{931C4FA5-D551-7DB4-C497-71958DB60A11}"/>
                  </a:ext>
                </a:extLst>
              </p:cNvPr>
              <p:cNvSpPr>
                <a:spLocks noEditPoints="1"/>
              </p:cNvSpPr>
              <p:nvPr/>
            </p:nvSpPr>
            <p:spPr bwMode="auto">
              <a:xfrm>
                <a:off x="3999186" y="4815757"/>
                <a:ext cx="655142" cy="663962"/>
              </a:xfrm>
              <a:custGeom>
                <a:avLst/>
                <a:gdLst>
                  <a:gd name="T0" fmla="*/ 560 w 670"/>
                  <a:gd name="T1" fmla="*/ 616 h 679"/>
                  <a:gd name="T2" fmla="*/ 440 w 670"/>
                  <a:gd name="T3" fmla="*/ 679 h 679"/>
                  <a:gd name="T4" fmla="*/ 304 w 670"/>
                  <a:gd name="T5" fmla="*/ 540 h 679"/>
                  <a:gd name="T6" fmla="*/ 176 w 670"/>
                  <a:gd name="T7" fmla="*/ 410 h 679"/>
                  <a:gd name="T8" fmla="*/ 82 w 670"/>
                  <a:gd name="T9" fmla="*/ 339 h 679"/>
                  <a:gd name="T10" fmla="*/ 37 w 670"/>
                  <a:gd name="T11" fmla="*/ 122 h 679"/>
                  <a:gd name="T12" fmla="*/ 33 w 670"/>
                  <a:gd name="T13" fmla="*/ 238 h 679"/>
                  <a:gd name="T14" fmla="*/ 442 w 670"/>
                  <a:gd name="T15" fmla="*/ 604 h 679"/>
                  <a:gd name="T16" fmla="*/ 625 w 670"/>
                  <a:gd name="T17" fmla="*/ 546 h 679"/>
                  <a:gd name="T18" fmla="*/ 545 w 670"/>
                  <a:gd name="T19" fmla="*/ 559 h 679"/>
                  <a:gd name="T20" fmla="*/ 532 w 670"/>
                  <a:gd name="T21" fmla="*/ 534 h 679"/>
                  <a:gd name="T22" fmla="*/ 473 w 670"/>
                  <a:gd name="T23" fmla="*/ 475 h 679"/>
                  <a:gd name="T24" fmla="*/ 464 w 670"/>
                  <a:gd name="T25" fmla="*/ 475 h 679"/>
                  <a:gd name="T26" fmla="*/ 462 w 670"/>
                  <a:gd name="T27" fmla="*/ 467 h 679"/>
                  <a:gd name="T28" fmla="*/ 420 w 670"/>
                  <a:gd name="T29" fmla="*/ 418 h 679"/>
                  <a:gd name="T30" fmla="*/ 405 w 670"/>
                  <a:gd name="T31" fmla="*/ 443 h 679"/>
                  <a:gd name="T32" fmla="*/ 306 w 670"/>
                  <a:gd name="T33" fmla="*/ 391 h 679"/>
                  <a:gd name="T34" fmla="*/ 140 w 670"/>
                  <a:gd name="T35" fmla="*/ 182 h 679"/>
                  <a:gd name="T36" fmla="*/ 353 w 670"/>
                  <a:gd name="T37" fmla="*/ 244 h 679"/>
                  <a:gd name="T38" fmla="*/ 298 w 670"/>
                  <a:gd name="T39" fmla="*/ 230 h 679"/>
                  <a:gd name="T40" fmla="*/ 340 w 670"/>
                  <a:gd name="T41" fmla="*/ 132 h 679"/>
                  <a:gd name="T42" fmla="*/ 358 w 670"/>
                  <a:gd name="T43" fmla="*/ 102 h 679"/>
                  <a:gd name="T44" fmla="*/ 241 w 670"/>
                  <a:gd name="T45" fmla="*/ 122 h 679"/>
                  <a:gd name="T46" fmla="*/ 218 w 670"/>
                  <a:gd name="T47" fmla="*/ 94 h 679"/>
                  <a:gd name="T48" fmla="*/ 138 w 670"/>
                  <a:gd name="T49" fmla="*/ 36 h 679"/>
                  <a:gd name="T50" fmla="*/ 106 w 670"/>
                  <a:gd name="T51" fmla="*/ 100 h 679"/>
                  <a:gd name="T52" fmla="*/ 102 w 670"/>
                  <a:gd name="T53" fmla="*/ 123 h 679"/>
                  <a:gd name="T54" fmla="*/ 166 w 670"/>
                  <a:gd name="T55" fmla="*/ 0 h 679"/>
                  <a:gd name="T56" fmla="*/ 390 w 670"/>
                  <a:gd name="T57" fmla="*/ 96 h 679"/>
                  <a:gd name="T58" fmla="*/ 341 w 670"/>
                  <a:gd name="T59" fmla="*/ 160 h 679"/>
                  <a:gd name="T60" fmla="*/ 268 w 670"/>
                  <a:gd name="T61" fmla="*/ 182 h 679"/>
                  <a:gd name="T62" fmla="*/ 378 w 670"/>
                  <a:gd name="T63" fmla="*/ 174 h 679"/>
                  <a:gd name="T64" fmla="*/ 384 w 670"/>
                  <a:gd name="T65" fmla="*/ 272 h 679"/>
                  <a:gd name="T66" fmla="*/ 648 w 670"/>
                  <a:gd name="T67" fmla="*/ 278 h 679"/>
                  <a:gd name="T68" fmla="*/ 630 w 670"/>
                  <a:gd name="T69" fmla="*/ 362 h 679"/>
                  <a:gd name="T70" fmla="*/ 653 w 670"/>
                  <a:gd name="T71" fmla="*/ 616 h 679"/>
                  <a:gd name="T72" fmla="*/ 280 w 670"/>
                  <a:gd name="T73" fmla="*/ 200 h 679"/>
                  <a:gd name="T74" fmla="*/ 310 w 670"/>
                  <a:gd name="T75" fmla="*/ 318 h 679"/>
                  <a:gd name="T76" fmla="*/ 261 w 670"/>
                  <a:gd name="T77" fmla="*/ 286 h 679"/>
                  <a:gd name="T78" fmla="*/ 570 w 670"/>
                  <a:gd name="T79" fmla="*/ 311 h 679"/>
                  <a:gd name="T80" fmla="*/ 593 w 670"/>
                  <a:gd name="T81" fmla="*/ 310 h 679"/>
                  <a:gd name="T82" fmla="*/ 625 w 670"/>
                  <a:gd name="T83" fmla="*/ 307 h 679"/>
                  <a:gd name="T84" fmla="*/ 341 w 670"/>
                  <a:gd name="T85" fmla="*/ 339 h 679"/>
                  <a:gd name="T86" fmla="*/ 562 w 670"/>
                  <a:gd name="T87" fmla="*/ 322 h 679"/>
                  <a:gd name="T88" fmla="*/ 478 w 670"/>
                  <a:gd name="T89" fmla="*/ 411 h 679"/>
                  <a:gd name="T90" fmla="*/ 574 w 670"/>
                  <a:gd name="T91" fmla="*/ 415 h 679"/>
                  <a:gd name="T92" fmla="*/ 629 w 670"/>
                  <a:gd name="T93" fmla="*/ 416 h 679"/>
                  <a:gd name="T94" fmla="*/ 521 w 670"/>
                  <a:gd name="T95" fmla="*/ 346 h 679"/>
                  <a:gd name="T96" fmla="*/ 484 w 670"/>
                  <a:gd name="T97" fmla="*/ 398 h 679"/>
                  <a:gd name="T98" fmla="*/ 570 w 670"/>
                  <a:gd name="T99" fmla="*/ 392 h 679"/>
                  <a:gd name="T100" fmla="*/ 633 w 670"/>
                  <a:gd name="T101" fmla="*/ 523 h 679"/>
                  <a:gd name="T102" fmla="*/ 560 w 670"/>
                  <a:gd name="T103" fmla="*/ 532 h 679"/>
                  <a:gd name="T104" fmla="*/ 410 w 670"/>
                  <a:gd name="T105" fmla="*/ 40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0" h="679">
                    <a:moveTo>
                      <a:pt x="640" y="666"/>
                    </a:moveTo>
                    <a:lnTo>
                      <a:pt x="633" y="666"/>
                    </a:lnTo>
                    <a:cubicBezTo>
                      <a:pt x="633" y="627"/>
                      <a:pt x="597" y="616"/>
                      <a:pt x="560" y="616"/>
                    </a:cubicBezTo>
                    <a:lnTo>
                      <a:pt x="442" y="616"/>
                    </a:lnTo>
                    <a:cubicBezTo>
                      <a:pt x="446" y="635"/>
                      <a:pt x="448" y="658"/>
                      <a:pt x="445" y="679"/>
                    </a:cubicBezTo>
                    <a:lnTo>
                      <a:pt x="440" y="679"/>
                    </a:lnTo>
                    <a:cubicBezTo>
                      <a:pt x="429" y="591"/>
                      <a:pt x="380" y="547"/>
                      <a:pt x="309" y="500"/>
                    </a:cubicBezTo>
                    <a:lnTo>
                      <a:pt x="309" y="540"/>
                    </a:lnTo>
                    <a:lnTo>
                      <a:pt x="304" y="540"/>
                    </a:lnTo>
                    <a:cubicBezTo>
                      <a:pt x="285" y="499"/>
                      <a:pt x="245" y="460"/>
                      <a:pt x="206" y="432"/>
                    </a:cubicBezTo>
                    <a:lnTo>
                      <a:pt x="206" y="432"/>
                    </a:lnTo>
                    <a:cubicBezTo>
                      <a:pt x="196" y="426"/>
                      <a:pt x="185" y="418"/>
                      <a:pt x="176" y="410"/>
                    </a:cubicBezTo>
                    <a:lnTo>
                      <a:pt x="176" y="452"/>
                    </a:lnTo>
                    <a:lnTo>
                      <a:pt x="170" y="452"/>
                    </a:lnTo>
                    <a:cubicBezTo>
                      <a:pt x="154" y="410"/>
                      <a:pt x="125" y="378"/>
                      <a:pt x="82" y="339"/>
                    </a:cubicBezTo>
                    <a:cubicBezTo>
                      <a:pt x="37" y="298"/>
                      <a:pt x="18" y="274"/>
                      <a:pt x="8" y="246"/>
                    </a:cubicBezTo>
                    <a:cubicBezTo>
                      <a:pt x="1" y="228"/>
                      <a:pt x="0" y="215"/>
                      <a:pt x="0" y="196"/>
                    </a:cubicBezTo>
                    <a:cubicBezTo>
                      <a:pt x="0" y="163"/>
                      <a:pt x="16" y="132"/>
                      <a:pt x="37" y="122"/>
                    </a:cubicBezTo>
                    <a:lnTo>
                      <a:pt x="37" y="138"/>
                    </a:lnTo>
                    <a:cubicBezTo>
                      <a:pt x="26" y="151"/>
                      <a:pt x="21" y="170"/>
                      <a:pt x="21" y="187"/>
                    </a:cubicBezTo>
                    <a:cubicBezTo>
                      <a:pt x="21" y="203"/>
                      <a:pt x="25" y="222"/>
                      <a:pt x="33" y="238"/>
                    </a:cubicBezTo>
                    <a:cubicBezTo>
                      <a:pt x="58" y="287"/>
                      <a:pt x="145" y="347"/>
                      <a:pt x="200" y="383"/>
                    </a:cubicBezTo>
                    <a:cubicBezTo>
                      <a:pt x="370" y="498"/>
                      <a:pt x="405" y="518"/>
                      <a:pt x="433" y="578"/>
                    </a:cubicBezTo>
                    <a:cubicBezTo>
                      <a:pt x="436" y="584"/>
                      <a:pt x="440" y="594"/>
                      <a:pt x="442" y="604"/>
                    </a:cubicBezTo>
                    <a:cubicBezTo>
                      <a:pt x="466" y="600"/>
                      <a:pt x="557" y="587"/>
                      <a:pt x="573" y="584"/>
                    </a:cubicBezTo>
                    <a:cubicBezTo>
                      <a:pt x="576" y="584"/>
                      <a:pt x="582" y="583"/>
                      <a:pt x="586" y="583"/>
                    </a:cubicBezTo>
                    <a:cubicBezTo>
                      <a:pt x="602" y="574"/>
                      <a:pt x="614" y="560"/>
                      <a:pt x="625" y="546"/>
                    </a:cubicBezTo>
                    <a:lnTo>
                      <a:pt x="560" y="540"/>
                    </a:lnTo>
                    <a:lnTo>
                      <a:pt x="550" y="559"/>
                    </a:lnTo>
                    <a:lnTo>
                      <a:pt x="545" y="559"/>
                    </a:lnTo>
                    <a:cubicBezTo>
                      <a:pt x="546" y="552"/>
                      <a:pt x="549" y="546"/>
                      <a:pt x="549" y="539"/>
                    </a:cubicBezTo>
                    <a:lnTo>
                      <a:pt x="532" y="538"/>
                    </a:lnTo>
                    <a:lnTo>
                      <a:pt x="532" y="534"/>
                    </a:lnTo>
                    <a:lnTo>
                      <a:pt x="550" y="531"/>
                    </a:lnTo>
                    <a:cubicBezTo>
                      <a:pt x="554" y="512"/>
                      <a:pt x="556" y="495"/>
                      <a:pt x="556" y="479"/>
                    </a:cubicBezTo>
                    <a:lnTo>
                      <a:pt x="473" y="475"/>
                    </a:lnTo>
                    <a:lnTo>
                      <a:pt x="473" y="499"/>
                    </a:lnTo>
                    <a:lnTo>
                      <a:pt x="468" y="499"/>
                    </a:lnTo>
                    <a:lnTo>
                      <a:pt x="464" y="475"/>
                    </a:lnTo>
                    <a:lnTo>
                      <a:pt x="445" y="474"/>
                    </a:lnTo>
                    <a:lnTo>
                      <a:pt x="445" y="468"/>
                    </a:lnTo>
                    <a:lnTo>
                      <a:pt x="462" y="467"/>
                    </a:lnTo>
                    <a:cubicBezTo>
                      <a:pt x="460" y="446"/>
                      <a:pt x="460" y="424"/>
                      <a:pt x="461" y="407"/>
                    </a:cubicBezTo>
                    <a:lnTo>
                      <a:pt x="413" y="404"/>
                    </a:lnTo>
                    <a:cubicBezTo>
                      <a:pt x="416" y="408"/>
                      <a:pt x="417" y="412"/>
                      <a:pt x="420" y="418"/>
                    </a:cubicBezTo>
                    <a:cubicBezTo>
                      <a:pt x="430" y="447"/>
                      <a:pt x="428" y="480"/>
                      <a:pt x="424" y="496"/>
                    </a:cubicBezTo>
                    <a:lnTo>
                      <a:pt x="418" y="496"/>
                    </a:lnTo>
                    <a:cubicBezTo>
                      <a:pt x="417" y="478"/>
                      <a:pt x="412" y="456"/>
                      <a:pt x="405" y="443"/>
                    </a:cubicBezTo>
                    <a:cubicBezTo>
                      <a:pt x="392" y="411"/>
                      <a:pt x="362" y="384"/>
                      <a:pt x="312" y="351"/>
                    </a:cubicBezTo>
                    <a:lnTo>
                      <a:pt x="312" y="391"/>
                    </a:lnTo>
                    <a:lnTo>
                      <a:pt x="306" y="391"/>
                    </a:lnTo>
                    <a:cubicBezTo>
                      <a:pt x="289" y="338"/>
                      <a:pt x="248" y="308"/>
                      <a:pt x="186" y="278"/>
                    </a:cubicBezTo>
                    <a:cubicBezTo>
                      <a:pt x="136" y="251"/>
                      <a:pt x="120" y="220"/>
                      <a:pt x="122" y="171"/>
                    </a:cubicBezTo>
                    <a:lnTo>
                      <a:pt x="140" y="182"/>
                    </a:lnTo>
                    <a:cubicBezTo>
                      <a:pt x="144" y="227"/>
                      <a:pt x="180" y="254"/>
                      <a:pt x="216" y="254"/>
                    </a:cubicBezTo>
                    <a:cubicBezTo>
                      <a:pt x="237" y="254"/>
                      <a:pt x="257" y="251"/>
                      <a:pt x="277" y="247"/>
                    </a:cubicBezTo>
                    <a:cubicBezTo>
                      <a:pt x="305" y="242"/>
                      <a:pt x="332" y="236"/>
                      <a:pt x="353" y="244"/>
                    </a:cubicBezTo>
                    <a:lnTo>
                      <a:pt x="353" y="218"/>
                    </a:lnTo>
                    <a:lnTo>
                      <a:pt x="336" y="218"/>
                    </a:lnTo>
                    <a:cubicBezTo>
                      <a:pt x="329" y="223"/>
                      <a:pt x="317" y="230"/>
                      <a:pt x="298" y="230"/>
                    </a:cubicBezTo>
                    <a:cubicBezTo>
                      <a:pt x="278" y="230"/>
                      <a:pt x="240" y="219"/>
                      <a:pt x="240" y="176"/>
                    </a:cubicBezTo>
                    <a:cubicBezTo>
                      <a:pt x="240" y="139"/>
                      <a:pt x="270" y="134"/>
                      <a:pt x="296" y="134"/>
                    </a:cubicBezTo>
                    <a:cubicBezTo>
                      <a:pt x="309" y="134"/>
                      <a:pt x="332" y="134"/>
                      <a:pt x="340" y="132"/>
                    </a:cubicBezTo>
                    <a:cubicBezTo>
                      <a:pt x="345" y="132"/>
                      <a:pt x="349" y="131"/>
                      <a:pt x="353" y="128"/>
                    </a:cubicBezTo>
                    <a:cubicBezTo>
                      <a:pt x="356" y="126"/>
                      <a:pt x="357" y="123"/>
                      <a:pt x="357" y="119"/>
                    </a:cubicBezTo>
                    <a:cubicBezTo>
                      <a:pt x="358" y="115"/>
                      <a:pt x="358" y="110"/>
                      <a:pt x="358" y="102"/>
                    </a:cubicBezTo>
                    <a:lnTo>
                      <a:pt x="358" y="75"/>
                    </a:lnTo>
                    <a:lnTo>
                      <a:pt x="241" y="75"/>
                    </a:lnTo>
                    <a:lnTo>
                      <a:pt x="241" y="122"/>
                    </a:lnTo>
                    <a:lnTo>
                      <a:pt x="197" y="104"/>
                    </a:lnTo>
                    <a:lnTo>
                      <a:pt x="197" y="94"/>
                    </a:lnTo>
                    <a:lnTo>
                      <a:pt x="218" y="94"/>
                    </a:lnTo>
                    <a:lnTo>
                      <a:pt x="218" y="75"/>
                    </a:lnTo>
                    <a:lnTo>
                      <a:pt x="138" y="75"/>
                    </a:lnTo>
                    <a:lnTo>
                      <a:pt x="138" y="36"/>
                    </a:lnTo>
                    <a:lnTo>
                      <a:pt x="112" y="36"/>
                    </a:lnTo>
                    <a:cubicBezTo>
                      <a:pt x="97" y="36"/>
                      <a:pt x="81" y="47"/>
                      <a:pt x="80" y="66"/>
                    </a:cubicBezTo>
                    <a:cubicBezTo>
                      <a:pt x="78" y="84"/>
                      <a:pt x="88" y="100"/>
                      <a:pt x="106" y="100"/>
                    </a:cubicBezTo>
                    <a:lnTo>
                      <a:pt x="106" y="100"/>
                    </a:lnTo>
                    <a:lnTo>
                      <a:pt x="106" y="123"/>
                    </a:lnTo>
                    <a:lnTo>
                      <a:pt x="102" y="123"/>
                    </a:lnTo>
                    <a:cubicBezTo>
                      <a:pt x="68" y="123"/>
                      <a:pt x="42" y="98"/>
                      <a:pt x="42" y="63"/>
                    </a:cubicBezTo>
                    <a:cubicBezTo>
                      <a:pt x="42" y="28"/>
                      <a:pt x="73" y="0"/>
                      <a:pt x="109" y="0"/>
                    </a:cubicBezTo>
                    <a:lnTo>
                      <a:pt x="166" y="0"/>
                    </a:lnTo>
                    <a:lnTo>
                      <a:pt x="166" y="39"/>
                    </a:lnTo>
                    <a:lnTo>
                      <a:pt x="390" y="39"/>
                    </a:lnTo>
                    <a:lnTo>
                      <a:pt x="390" y="96"/>
                    </a:lnTo>
                    <a:cubicBezTo>
                      <a:pt x="390" y="106"/>
                      <a:pt x="390" y="119"/>
                      <a:pt x="389" y="127"/>
                    </a:cubicBezTo>
                    <a:cubicBezTo>
                      <a:pt x="389" y="132"/>
                      <a:pt x="386" y="144"/>
                      <a:pt x="374" y="152"/>
                    </a:cubicBezTo>
                    <a:cubicBezTo>
                      <a:pt x="368" y="158"/>
                      <a:pt x="357" y="159"/>
                      <a:pt x="341" y="160"/>
                    </a:cubicBezTo>
                    <a:cubicBezTo>
                      <a:pt x="336" y="160"/>
                      <a:pt x="320" y="160"/>
                      <a:pt x="301" y="159"/>
                    </a:cubicBezTo>
                    <a:cubicBezTo>
                      <a:pt x="276" y="158"/>
                      <a:pt x="268" y="167"/>
                      <a:pt x="268" y="176"/>
                    </a:cubicBezTo>
                    <a:lnTo>
                      <a:pt x="268" y="182"/>
                    </a:lnTo>
                    <a:cubicBezTo>
                      <a:pt x="280" y="172"/>
                      <a:pt x="297" y="166"/>
                      <a:pt x="316" y="172"/>
                    </a:cubicBezTo>
                    <a:cubicBezTo>
                      <a:pt x="349" y="183"/>
                      <a:pt x="358" y="184"/>
                      <a:pt x="377" y="170"/>
                    </a:cubicBezTo>
                    <a:lnTo>
                      <a:pt x="378" y="174"/>
                    </a:lnTo>
                    <a:cubicBezTo>
                      <a:pt x="377" y="176"/>
                      <a:pt x="373" y="180"/>
                      <a:pt x="368" y="184"/>
                    </a:cubicBezTo>
                    <a:lnTo>
                      <a:pt x="384" y="184"/>
                    </a:lnTo>
                    <a:lnTo>
                      <a:pt x="384" y="272"/>
                    </a:lnTo>
                    <a:lnTo>
                      <a:pt x="434" y="242"/>
                    </a:lnTo>
                    <a:lnTo>
                      <a:pt x="577" y="242"/>
                    </a:lnTo>
                    <a:cubicBezTo>
                      <a:pt x="577" y="242"/>
                      <a:pt x="637" y="274"/>
                      <a:pt x="648" y="278"/>
                    </a:cubicBezTo>
                    <a:cubicBezTo>
                      <a:pt x="657" y="282"/>
                      <a:pt x="660" y="288"/>
                      <a:pt x="661" y="296"/>
                    </a:cubicBezTo>
                    <a:cubicBezTo>
                      <a:pt x="662" y="303"/>
                      <a:pt x="661" y="312"/>
                      <a:pt x="657" y="318"/>
                    </a:cubicBezTo>
                    <a:cubicBezTo>
                      <a:pt x="654" y="322"/>
                      <a:pt x="638" y="348"/>
                      <a:pt x="630" y="362"/>
                    </a:cubicBezTo>
                    <a:cubicBezTo>
                      <a:pt x="654" y="388"/>
                      <a:pt x="670" y="424"/>
                      <a:pt x="670" y="466"/>
                    </a:cubicBezTo>
                    <a:cubicBezTo>
                      <a:pt x="670" y="503"/>
                      <a:pt x="657" y="550"/>
                      <a:pt x="612" y="586"/>
                    </a:cubicBezTo>
                    <a:cubicBezTo>
                      <a:pt x="632" y="592"/>
                      <a:pt x="644" y="603"/>
                      <a:pt x="653" y="616"/>
                    </a:cubicBezTo>
                    <a:lnTo>
                      <a:pt x="640" y="666"/>
                    </a:lnTo>
                    <a:close/>
                    <a:moveTo>
                      <a:pt x="322" y="191"/>
                    </a:moveTo>
                    <a:cubicBezTo>
                      <a:pt x="302" y="187"/>
                      <a:pt x="292" y="190"/>
                      <a:pt x="280" y="200"/>
                    </a:cubicBezTo>
                    <a:cubicBezTo>
                      <a:pt x="285" y="203"/>
                      <a:pt x="292" y="204"/>
                      <a:pt x="300" y="204"/>
                    </a:cubicBezTo>
                    <a:cubicBezTo>
                      <a:pt x="312" y="203"/>
                      <a:pt x="318" y="196"/>
                      <a:pt x="322" y="191"/>
                    </a:cubicBezTo>
                    <a:close/>
                    <a:moveTo>
                      <a:pt x="310" y="318"/>
                    </a:moveTo>
                    <a:lnTo>
                      <a:pt x="366" y="284"/>
                    </a:lnTo>
                    <a:cubicBezTo>
                      <a:pt x="356" y="279"/>
                      <a:pt x="344" y="275"/>
                      <a:pt x="329" y="275"/>
                    </a:cubicBezTo>
                    <a:cubicBezTo>
                      <a:pt x="309" y="275"/>
                      <a:pt x="277" y="283"/>
                      <a:pt x="261" y="286"/>
                    </a:cubicBezTo>
                    <a:cubicBezTo>
                      <a:pt x="269" y="291"/>
                      <a:pt x="294" y="307"/>
                      <a:pt x="310" y="318"/>
                    </a:cubicBezTo>
                    <a:close/>
                    <a:moveTo>
                      <a:pt x="562" y="322"/>
                    </a:moveTo>
                    <a:lnTo>
                      <a:pt x="570" y="311"/>
                    </a:lnTo>
                    <a:lnTo>
                      <a:pt x="558" y="295"/>
                    </a:lnTo>
                    <a:lnTo>
                      <a:pt x="560" y="291"/>
                    </a:lnTo>
                    <a:lnTo>
                      <a:pt x="593" y="310"/>
                    </a:lnTo>
                    <a:lnTo>
                      <a:pt x="586" y="332"/>
                    </a:lnTo>
                    <a:cubicBezTo>
                      <a:pt x="592" y="335"/>
                      <a:pt x="597" y="338"/>
                      <a:pt x="604" y="343"/>
                    </a:cubicBezTo>
                    <a:lnTo>
                      <a:pt x="625" y="307"/>
                    </a:lnTo>
                    <a:lnTo>
                      <a:pt x="568" y="278"/>
                    </a:lnTo>
                    <a:lnTo>
                      <a:pt x="442" y="278"/>
                    </a:lnTo>
                    <a:lnTo>
                      <a:pt x="341" y="339"/>
                    </a:lnTo>
                    <a:cubicBezTo>
                      <a:pt x="360" y="352"/>
                      <a:pt x="378" y="367"/>
                      <a:pt x="390" y="382"/>
                    </a:cubicBezTo>
                    <a:cubicBezTo>
                      <a:pt x="417" y="342"/>
                      <a:pt x="466" y="316"/>
                      <a:pt x="513" y="316"/>
                    </a:cubicBezTo>
                    <a:cubicBezTo>
                      <a:pt x="529" y="315"/>
                      <a:pt x="548" y="316"/>
                      <a:pt x="562" y="322"/>
                    </a:cubicBezTo>
                    <a:close/>
                    <a:moveTo>
                      <a:pt x="552" y="464"/>
                    </a:moveTo>
                    <a:cubicBezTo>
                      <a:pt x="552" y="446"/>
                      <a:pt x="549" y="428"/>
                      <a:pt x="545" y="414"/>
                    </a:cubicBezTo>
                    <a:lnTo>
                      <a:pt x="478" y="411"/>
                    </a:lnTo>
                    <a:cubicBezTo>
                      <a:pt x="474" y="431"/>
                      <a:pt x="470" y="451"/>
                      <a:pt x="469" y="470"/>
                    </a:cubicBezTo>
                    <a:lnTo>
                      <a:pt x="552" y="464"/>
                    </a:lnTo>
                    <a:close/>
                    <a:moveTo>
                      <a:pt x="574" y="415"/>
                    </a:moveTo>
                    <a:cubicBezTo>
                      <a:pt x="577" y="432"/>
                      <a:pt x="577" y="448"/>
                      <a:pt x="576" y="463"/>
                    </a:cubicBezTo>
                    <a:lnTo>
                      <a:pt x="641" y="459"/>
                    </a:lnTo>
                    <a:cubicBezTo>
                      <a:pt x="640" y="444"/>
                      <a:pt x="636" y="430"/>
                      <a:pt x="629" y="416"/>
                    </a:cubicBezTo>
                    <a:lnTo>
                      <a:pt x="574" y="415"/>
                    </a:lnTo>
                    <a:close/>
                    <a:moveTo>
                      <a:pt x="541" y="394"/>
                    </a:moveTo>
                    <a:cubicBezTo>
                      <a:pt x="534" y="370"/>
                      <a:pt x="526" y="354"/>
                      <a:pt x="521" y="346"/>
                    </a:cubicBezTo>
                    <a:lnTo>
                      <a:pt x="513" y="346"/>
                    </a:lnTo>
                    <a:cubicBezTo>
                      <a:pt x="509" y="346"/>
                      <a:pt x="504" y="346"/>
                      <a:pt x="500" y="347"/>
                    </a:cubicBezTo>
                    <a:cubicBezTo>
                      <a:pt x="493" y="363"/>
                      <a:pt x="488" y="380"/>
                      <a:pt x="484" y="398"/>
                    </a:cubicBezTo>
                    <a:lnTo>
                      <a:pt x="541" y="394"/>
                    </a:lnTo>
                    <a:close/>
                    <a:moveTo>
                      <a:pt x="560" y="354"/>
                    </a:moveTo>
                    <a:cubicBezTo>
                      <a:pt x="565" y="367"/>
                      <a:pt x="568" y="379"/>
                      <a:pt x="570" y="392"/>
                    </a:cubicBezTo>
                    <a:lnTo>
                      <a:pt x="610" y="390"/>
                    </a:lnTo>
                    <a:cubicBezTo>
                      <a:pt x="597" y="374"/>
                      <a:pt x="580" y="360"/>
                      <a:pt x="560" y="354"/>
                    </a:cubicBezTo>
                    <a:close/>
                    <a:moveTo>
                      <a:pt x="633" y="523"/>
                    </a:moveTo>
                    <a:cubicBezTo>
                      <a:pt x="638" y="511"/>
                      <a:pt x="641" y="500"/>
                      <a:pt x="641" y="487"/>
                    </a:cubicBezTo>
                    <a:lnTo>
                      <a:pt x="573" y="483"/>
                    </a:lnTo>
                    <a:cubicBezTo>
                      <a:pt x="570" y="502"/>
                      <a:pt x="565" y="519"/>
                      <a:pt x="560" y="532"/>
                    </a:cubicBezTo>
                    <a:lnTo>
                      <a:pt x="633" y="523"/>
                    </a:lnTo>
                    <a:close/>
                    <a:moveTo>
                      <a:pt x="464" y="356"/>
                    </a:moveTo>
                    <a:cubicBezTo>
                      <a:pt x="441" y="367"/>
                      <a:pt x="425" y="380"/>
                      <a:pt x="410" y="400"/>
                    </a:cubicBezTo>
                    <a:lnTo>
                      <a:pt x="457" y="398"/>
                    </a:lnTo>
                    <a:cubicBezTo>
                      <a:pt x="460" y="376"/>
                      <a:pt x="462" y="363"/>
                      <a:pt x="464" y="3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grpSp>
      <p:grpSp>
        <p:nvGrpSpPr>
          <p:cNvPr id="232" name="Group 231">
            <a:extLst>
              <a:ext uri="{FF2B5EF4-FFF2-40B4-BE49-F238E27FC236}">
                <a16:creationId xmlns:a16="http://schemas.microsoft.com/office/drawing/2014/main" id="{23DE5063-7941-2502-BF03-4618710BCB1F}"/>
              </a:ext>
            </a:extLst>
          </p:cNvPr>
          <p:cNvGrpSpPr/>
          <p:nvPr/>
        </p:nvGrpSpPr>
        <p:grpSpPr>
          <a:xfrm>
            <a:off x="10845815" y="1629665"/>
            <a:ext cx="380334" cy="382254"/>
            <a:chOff x="8985558" y="2300659"/>
            <a:chExt cx="419100" cy="420688"/>
          </a:xfrm>
        </p:grpSpPr>
        <p:sp>
          <p:nvSpPr>
            <p:cNvPr id="233" name="Oval 232">
              <a:extLst>
                <a:ext uri="{FF2B5EF4-FFF2-40B4-BE49-F238E27FC236}">
                  <a16:creationId xmlns:a16="http://schemas.microsoft.com/office/drawing/2014/main" id="{49F4CE57-A0AD-1E0D-B45B-FC31D927E707}"/>
                </a:ext>
              </a:extLst>
            </p:cNvPr>
            <p:cNvSpPr/>
            <p:nvPr/>
          </p:nvSpPr>
          <p:spPr>
            <a:xfrm>
              <a:off x="8985558" y="2300659"/>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34" name="Picture 10" descr="How to do your Wealthsimple Taxes | CoinLedger">
              <a:extLst>
                <a:ext uri="{FF2B5EF4-FFF2-40B4-BE49-F238E27FC236}">
                  <a16:creationId xmlns:a16="http://schemas.microsoft.com/office/drawing/2014/main" id="{BBB8BF99-EFC6-C189-C961-51FC27AF64C3}"/>
                </a:ext>
              </a:extLst>
            </p:cNvPr>
            <p:cNvPicPr>
              <a:picLocks noChangeAspect="1" noChangeArrowheads="1"/>
            </p:cNvPicPr>
            <p:nvPr/>
          </p:nvPicPr>
          <p:blipFill rotWithShape="1">
            <a:blip r:embed="rId6">
              <a:lum bright="70000" contrast="-70000"/>
              <a:alphaModFix/>
              <a:extLst>
                <a:ext uri="{BEBA8EAE-BF5A-486C-A8C5-ECC9F3942E4B}">
                  <a14:imgProps xmlns:a14="http://schemas.microsoft.com/office/drawing/2010/main">
                    <a14:imgLayer r:embed="rId7">
                      <a14:imgEffect>
                        <a14:backgroundRemoval t="28711" b="72461" l="14648" r="85547">
                          <a14:foregroundMark x1="18359" y1="29688" x2="18359" y2="29688"/>
                          <a14:foregroundMark x1="53516" y1="29102" x2="53516" y2="29102"/>
                          <a14:foregroundMark x1="82813" y1="29688" x2="82813" y2="29688"/>
                          <a14:foregroundMark x1="85742" y1="28711" x2="85742" y2="28711"/>
                          <a14:foregroundMark x1="14648" y1="29297" x2="14648" y2="29297"/>
                          <a14:foregroundMark x1="42578" y1="28906" x2="42578" y2="28906"/>
                        </a14:backgroundRemoval>
                      </a14:imgEffect>
                      <a14:imgEffect>
                        <a14:brightnessContrast bright="-20000" contrast="40000"/>
                      </a14:imgEffect>
                    </a14:imgLayer>
                  </a14:imgProps>
                </a:ext>
                <a:ext uri="{28A0092B-C50C-407E-A947-70E740481C1C}">
                  <a14:useLocalDpi xmlns:a14="http://schemas.microsoft.com/office/drawing/2010/main" val="0"/>
                </a:ext>
              </a:extLst>
            </a:blip>
            <a:srcRect l="10534" t="24631" r="9798" b="26650"/>
            <a:stretch/>
          </p:blipFill>
          <p:spPr bwMode="auto">
            <a:xfrm>
              <a:off x="9022739" y="2418333"/>
              <a:ext cx="358593" cy="219290"/>
            </a:xfrm>
            <a:prstGeom prst="rect">
              <a:avLst/>
            </a:prstGeom>
            <a:noFill/>
            <a:extLst>
              <a:ext uri="{909E8E84-426E-40DD-AFC4-6F175D3DCCD1}">
                <a14:hiddenFill xmlns:a14="http://schemas.microsoft.com/office/drawing/2010/main">
                  <a:solidFill>
                    <a:srgbClr val="FFFFFF"/>
                  </a:solidFill>
                </a14:hiddenFill>
              </a:ext>
            </a:extLst>
          </p:spPr>
        </p:pic>
      </p:grpSp>
      <p:sp>
        <p:nvSpPr>
          <p:cNvPr id="511" name="Rectangle 510">
            <a:extLst>
              <a:ext uri="{FF2B5EF4-FFF2-40B4-BE49-F238E27FC236}">
                <a16:creationId xmlns:a16="http://schemas.microsoft.com/office/drawing/2014/main" id="{4F9B61D4-AB70-832E-EB83-4AD1115B67B2}"/>
              </a:ext>
            </a:extLst>
          </p:cNvPr>
          <p:cNvSpPr/>
          <p:nvPr/>
        </p:nvSpPr>
        <p:spPr>
          <a:xfrm>
            <a:off x="639902" y="2848128"/>
            <a:ext cx="1406402" cy="530868"/>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FFFFFF"/>
                </a:solidFill>
                <a:effectLst/>
                <a:uLnTx/>
                <a:uFillTx/>
                <a:latin typeface="Scotia"/>
                <a:ea typeface="+mn-ea"/>
                <a:cs typeface="+mn-cs"/>
              </a:rPr>
              <a:t>Equity Commission</a:t>
            </a:r>
            <a:endParaRPr kumimoji="0" lang="en-CA" sz="1000" b="0" i="0" u="none" strike="noStrike" kern="1200" cap="none" spc="300" normalizeH="0" baseline="0" noProof="0">
              <a:ln>
                <a:noFill/>
              </a:ln>
              <a:solidFill>
                <a:srgbClr val="FFFFFF"/>
              </a:solidFill>
              <a:effectLst/>
              <a:uLnTx/>
              <a:uFillTx/>
              <a:latin typeface="Scotia"/>
              <a:ea typeface="+mn-ea"/>
              <a:cs typeface="+mn-cs"/>
            </a:endParaRPr>
          </a:p>
        </p:txBody>
      </p:sp>
      <p:sp>
        <p:nvSpPr>
          <p:cNvPr id="559" name="Rectangle 558">
            <a:extLst>
              <a:ext uri="{FF2B5EF4-FFF2-40B4-BE49-F238E27FC236}">
                <a16:creationId xmlns:a16="http://schemas.microsoft.com/office/drawing/2014/main" id="{EC39D281-068A-5CEF-8E9B-66BE2EA1F46C}"/>
              </a:ext>
            </a:extLst>
          </p:cNvPr>
          <p:cNvSpPr/>
          <p:nvPr/>
        </p:nvSpPr>
        <p:spPr>
          <a:xfrm>
            <a:off x="639902" y="4293904"/>
            <a:ext cx="1406402" cy="530868"/>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FFFFFF"/>
                </a:solidFill>
                <a:effectLst/>
                <a:uLnTx/>
                <a:uFillTx/>
                <a:latin typeface="Scotia"/>
                <a:ea typeface="+mn-ea"/>
                <a:cs typeface="+mn-cs"/>
              </a:rPr>
              <a:t>Product Suite</a:t>
            </a:r>
            <a:endParaRPr kumimoji="0" lang="en-CA" sz="800" b="0" i="0" u="none" strike="noStrike" kern="1200" cap="none" spc="300" normalizeH="0" baseline="0" noProof="0">
              <a:ln>
                <a:noFill/>
              </a:ln>
              <a:solidFill>
                <a:srgbClr val="FFFFFF"/>
              </a:solidFill>
              <a:effectLst/>
              <a:uLnTx/>
              <a:uFillTx/>
              <a:latin typeface="Scotia"/>
              <a:ea typeface="+mn-ea"/>
              <a:cs typeface="+mn-cs"/>
            </a:endParaRPr>
          </a:p>
        </p:txBody>
      </p:sp>
      <p:sp>
        <p:nvSpPr>
          <p:cNvPr id="378" name="Rectangle 377">
            <a:extLst>
              <a:ext uri="{FF2B5EF4-FFF2-40B4-BE49-F238E27FC236}">
                <a16:creationId xmlns:a16="http://schemas.microsoft.com/office/drawing/2014/main" id="{861BECCD-E23D-441F-3B03-ECA04A030CEC}"/>
              </a:ext>
            </a:extLst>
          </p:cNvPr>
          <p:cNvSpPr/>
          <p:nvPr/>
        </p:nvSpPr>
        <p:spPr>
          <a:xfrm>
            <a:off x="639902" y="5016794"/>
            <a:ext cx="1406402" cy="530868"/>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FFFFFF"/>
                </a:solidFill>
                <a:effectLst/>
                <a:uLnTx/>
                <a:uFillTx/>
                <a:latin typeface="Scotia"/>
                <a:ea typeface="+mn-ea"/>
                <a:cs typeface="+mn-cs"/>
              </a:rPr>
              <a:t>Advanced Features</a:t>
            </a:r>
            <a:endParaRPr kumimoji="0" lang="en-CA" sz="800" b="0" i="0" u="none" strike="noStrike" kern="1200" cap="none" spc="300" normalizeH="0" baseline="0" noProof="0">
              <a:ln>
                <a:noFill/>
              </a:ln>
              <a:solidFill>
                <a:srgbClr val="FFFFFF"/>
              </a:solidFill>
              <a:effectLst/>
              <a:uLnTx/>
              <a:uFillTx/>
              <a:latin typeface="Scotia"/>
              <a:ea typeface="+mn-ea"/>
              <a:cs typeface="+mn-cs"/>
            </a:endParaRPr>
          </a:p>
        </p:txBody>
      </p:sp>
      <p:sp>
        <p:nvSpPr>
          <p:cNvPr id="453" name="Rectangle 452">
            <a:extLst>
              <a:ext uri="{FF2B5EF4-FFF2-40B4-BE49-F238E27FC236}">
                <a16:creationId xmlns:a16="http://schemas.microsoft.com/office/drawing/2014/main" id="{B7354CFB-C9D2-E754-B1A6-E04B612F91CA}"/>
              </a:ext>
            </a:extLst>
          </p:cNvPr>
          <p:cNvSpPr/>
          <p:nvPr/>
        </p:nvSpPr>
        <p:spPr>
          <a:xfrm>
            <a:off x="639902" y="3571016"/>
            <a:ext cx="1406402" cy="530868"/>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FFFFFF"/>
                </a:solidFill>
                <a:effectLst/>
                <a:uLnTx/>
                <a:uFillTx/>
                <a:latin typeface="Scotia"/>
                <a:ea typeface="+mn-ea"/>
                <a:cs typeface="+mn-cs"/>
              </a:rPr>
              <a:t>Onboarding Experience</a:t>
            </a:r>
            <a:endParaRPr kumimoji="0" lang="en-CA" sz="1000" b="0" i="0" u="none" strike="noStrike" kern="1200" cap="none" spc="300" normalizeH="0" baseline="0" noProof="0">
              <a:ln>
                <a:noFill/>
              </a:ln>
              <a:solidFill>
                <a:srgbClr val="FFFFFF"/>
              </a:solidFill>
              <a:effectLst/>
              <a:uLnTx/>
              <a:uFillTx/>
              <a:latin typeface="Scotia"/>
              <a:ea typeface="+mn-ea"/>
              <a:cs typeface="+mn-cs"/>
            </a:endParaRPr>
          </a:p>
        </p:txBody>
      </p:sp>
      <p:sp>
        <p:nvSpPr>
          <p:cNvPr id="563" name="Rectangle 562">
            <a:extLst>
              <a:ext uri="{FF2B5EF4-FFF2-40B4-BE49-F238E27FC236}">
                <a16:creationId xmlns:a16="http://schemas.microsoft.com/office/drawing/2014/main" id="{29C7C696-8747-F63D-3F46-931A9D664733}"/>
              </a:ext>
            </a:extLst>
          </p:cNvPr>
          <p:cNvSpPr/>
          <p:nvPr/>
        </p:nvSpPr>
        <p:spPr>
          <a:xfrm>
            <a:off x="4951917"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208" name="Group 207">
            <a:extLst>
              <a:ext uri="{FF2B5EF4-FFF2-40B4-BE49-F238E27FC236}">
                <a16:creationId xmlns:a16="http://schemas.microsoft.com/office/drawing/2014/main" id="{AB11D91D-43A1-3947-558C-B9DDCB522884}"/>
              </a:ext>
            </a:extLst>
          </p:cNvPr>
          <p:cNvGrpSpPr/>
          <p:nvPr/>
        </p:nvGrpSpPr>
        <p:grpSpPr>
          <a:xfrm>
            <a:off x="5378529" y="1629665"/>
            <a:ext cx="380334" cy="382254"/>
            <a:chOff x="6095607" y="2308758"/>
            <a:chExt cx="419100" cy="420688"/>
          </a:xfrm>
        </p:grpSpPr>
        <p:sp>
          <p:nvSpPr>
            <p:cNvPr id="209" name="Oval 208">
              <a:extLst>
                <a:ext uri="{FF2B5EF4-FFF2-40B4-BE49-F238E27FC236}">
                  <a16:creationId xmlns:a16="http://schemas.microsoft.com/office/drawing/2014/main" id="{16FD10BB-F5D6-2E44-06C4-AB86EBC29294}"/>
                </a:ext>
              </a:extLst>
            </p:cNvPr>
            <p:cNvSpPr/>
            <p:nvPr/>
          </p:nvSpPr>
          <p:spPr>
            <a:xfrm>
              <a:off x="6095607" y="2308758"/>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50">
              <a:extLst>
                <a:ext uri="{FF2B5EF4-FFF2-40B4-BE49-F238E27FC236}">
                  <a16:creationId xmlns:a16="http://schemas.microsoft.com/office/drawing/2014/main" id="{4F6F1650-A8FB-1717-3911-B84BDF2313C6}"/>
                </a:ext>
              </a:extLst>
            </p:cNvPr>
            <p:cNvSpPr>
              <a:spLocks noEditPoints="1"/>
            </p:cNvSpPr>
            <p:nvPr/>
          </p:nvSpPr>
          <p:spPr bwMode="auto">
            <a:xfrm>
              <a:off x="6185511" y="2375241"/>
              <a:ext cx="236222" cy="264712"/>
            </a:xfrm>
            <a:custGeom>
              <a:avLst/>
              <a:gdLst>
                <a:gd name="T0" fmla="*/ 528 w 1129"/>
                <a:gd name="T1" fmla="*/ 290 h 1176"/>
                <a:gd name="T2" fmla="*/ 320 w 1129"/>
                <a:gd name="T3" fmla="*/ 19 h 1176"/>
                <a:gd name="T4" fmla="*/ 282 w 1129"/>
                <a:gd name="T5" fmla="*/ 0 h 1176"/>
                <a:gd name="T6" fmla="*/ 246 w 1129"/>
                <a:gd name="T7" fmla="*/ 18 h 1176"/>
                <a:gd name="T8" fmla="*/ 0 w 1129"/>
                <a:gd name="T9" fmla="*/ 330 h 1176"/>
                <a:gd name="T10" fmla="*/ 0 w 1129"/>
                <a:gd name="T11" fmla="*/ 818 h 1176"/>
                <a:gd name="T12" fmla="*/ 245 w 1129"/>
                <a:gd name="T13" fmla="*/ 503 h 1176"/>
                <a:gd name="T14" fmla="*/ 282 w 1129"/>
                <a:gd name="T15" fmla="*/ 484 h 1176"/>
                <a:gd name="T16" fmla="*/ 320 w 1129"/>
                <a:gd name="T17" fmla="*/ 503 h 1176"/>
                <a:gd name="T18" fmla="*/ 529 w 1129"/>
                <a:gd name="T19" fmla="*/ 776 h 1176"/>
                <a:gd name="T20" fmla="*/ 564 w 1129"/>
                <a:gd name="T21" fmla="*/ 794 h 1176"/>
                <a:gd name="T22" fmla="*/ 598 w 1129"/>
                <a:gd name="T23" fmla="*/ 776 h 1176"/>
                <a:gd name="T24" fmla="*/ 806 w 1129"/>
                <a:gd name="T25" fmla="*/ 503 h 1176"/>
                <a:gd name="T26" fmla="*/ 844 w 1129"/>
                <a:gd name="T27" fmla="*/ 484 h 1176"/>
                <a:gd name="T28" fmla="*/ 881 w 1129"/>
                <a:gd name="T29" fmla="*/ 503 h 1176"/>
                <a:gd name="T30" fmla="*/ 1126 w 1129"/>
                <a:gd name="T31" fmla="*/ 818 h 1176"/>
                <a:gd name="T32" fmla="*/ 1126 w 1129"/>
                <a:gd name="T33" fmla="*/ 330 h 1176"/>
                <a:gd name="T34" fmla="*/ 880 w 1129"/>
                <a:gd name="T35" fmla="*/ 18 h 1176"/>
                <a:gd name="T36" fmla="*/ 844 w 1129"/>
                <a:gd name="T37" fmla="*/ 0 h 1176"/>
                <a:gd name="T38" fmla="*/ 806 w 1129"/>
                <a:gd name="T39" fmla="*/ 19 h 1176"/>
                <a:gd name="T40" fmla="*/ 601 w 1129"/>
                <a:gd name="T41" fmla="*/ 290 h 1176"/>
                <a:gd name="T42" fmla="*/ 565 w 1129"/>
                <a:gd name="T43" fmla="*/ 307 h 1176"/>
                <a:gd name="T44" fmla="*/ 528 w 1129"/>
                <a:gd name="T45" fmla="*/ 290 h 1176"/>
                <a:gd name="T46" fmla="*/ 1129 w 1129"/>
                <a:gd name="T47" fmla="*/ 1176 h 1176"/>
                <a:gd name="T48" fmla="*/ 0 w 1129"/>
                <a:gd name="T49" fmla="*/ 1176 h 1176"/>
                <a:gd name="T50" fmla="*/ 1 w 1129"/>
                <a:gd name="T51" fmla="*/ 1175 h 1176"/>
                <a:gd name="T52" fmla="*/ 0 w 1129"/>
                <a:gd name="T53" fmla="*/ 1176 h 1176"/>
                <a:gd name="T54" fmla="*/ 0 w 1129"/>
                <a:gd name="T55" fmla="*/ 818 h 1176"/>
                <a:gd name="T56" fmla="*/ 1129 w 1129"/>
                <a:gd name="T57" fmla="*/ 818 h 1176"/>
                <a:gd name="T58" fmla="*/ 1128 w 1129"/>
                <a:gd name="T59" fmla="*/ 819 h 1176"/>
                <a:gd name="T60" fmla="*/ 1129 w 1129"/>
                <a:gd name="T61" fmla="*/ 818 h 1176"/>
                <a:gd name="T62" fmla="*/ 1129 w 1129"/>
                <a:gd name="T63" fmla="*/ 11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9" h="1176">
                  <a:moveTo>
                    <a:pt x="528" y="290"/>
                  </a:moveTo>
                  <a:lnTo>
                    <a:pt x="320" y="19"/>
                  </a:lnTo>
                  <a:cubicBezTo>
                    <a:pt x="312" y="8"/>
                    <a:pt x="298" y="0"/>
                    <a:pt x="282" y="0"/>
                  </a:cubicBezTo>
                  <a:cubicBezTo>
                    <a:pt x="268" y="0"/>
                    <a:pt x="254" y="7"/>
                    <a:pt x="246" y="18"/>
                  </a:cubicBezTo>
                  <a:lnTo>
                    <a:pt x="0" y="330"/>
                  </a:lnTo>
                  <a:lnTo>
                    <a:pt x="0" y="818"/>
                  </a:lnTo>
                  <a:lnTo>
                    <a:pt x="245" y="503"/>
                  </a:lnTo>
                  <a:cubicBezTo>
                    <a:pt x="254" y="492"/>
                    <a:pt x="268" y="484"/>
                    <a:pt x="282" y="484"/>
                  </a:cubicBezTo>
                  <a:cubicBezTo>
                    <a:pt x="298" y="484"/>
                    <a:pt x="312" y="492"/>
                    <a:pt x="320" y="503"/>
                  </a:cubicBezTo>
                  <a:lnTo>
                    <a:pt x="529" y="776"/>
                  </a:lnTo>
                  <a:cubicBezTo>
                    <a:pt x="537" y="787"/>
                    <a:pt x="549" y="794"/>
                    <a:pt x="564" y="794"/>
                  </a:cubicBezTo>
                  <a:cubicBezTo>
                    <a:pt x="578" y="794"/>
                    <a:pt x="590" y="787"/>
                    <a:pt x="598" y="776"/>
                  </a:cubicBezTo>
                  <a:lnTo>
                    <a:pt x="806" y="503"/>
                  </a:lnTo>
                  <a:cubicBezTo>
                    <a:pt x="816" y="492"/>
                    <a:pt x="829" y="484"/>
                    <a:pt x="844" y="484"/>
                  </a:cubicBezTo>
                  <a:cubicBezTo>
                    <a:pt x="858" y="484"/>
                    <a:pt x="873" y="491"/>
                    <a:pt x="881" y="503"/>
                  </a:cubicBezTo>
                  <a:lnTo>
                    <a:pt x="1126" y="818"/>
                  </a:lnTo>
                  <a:lnTo>
                    <a:pt x="1126" y="330"/>
                  </a:lnTo>
                  <a:lnTo>
                    <a:pt x="880" y="18"/>
                  </a:lnTo>
                  <a:cubicBezTo>
                    <a:pt x="872" y="7"/>
                    <a:pt x="858" y="0"/>
                    <a:pt x="844" y="0"/>
                  </a:cubicBezTo>
                  <a:cubicBezTo>
                    <a:pt x="829" y="0"/>
                    <a:pt x="816" y="7"/>
                    <a:pt x="806" y="19"/>
                  </a:cubicBezTo>
                  <a:lnTo>
                    <a:pt x="601" y="290"/>
                  </a:lnTo>
                  <a:cubicBezTo>
                    <a:pt x="593" y="300"/>
                    <a:pt x="580" y="307"/>
                    <a:pt x="565" y="307"/>
                  </a:cubicBezTo>
                  <a:cubicBezTo>
                    <a:pt x="549" y="307"/>
                    <a:pt x="536" y="300"/>
                    <a:pt x="528" y="290"/>
                  </a:cubicBezTo>
                  <a:moveTo>
                    <a:pt x="1129" y="1176"/>
                  </a:moveTo>
                  <a:lnTo>
                    <a:pt x="0" y="1176"/>
                  </a:lnTo>
                  <a:lnTo>
                    <a:pt x="1" y="1175"/>
                  </a:lnTo>
                  <a:lnTo>
                    <a:pt x="0" y="1176"/>
                  </a:lnTo>
                  <a:lnTo>
                    <a:pt x="0" y="818"/>
                  </a:lnTo>
                  <a:lnTo>
                    <a:pt x="1129" y="818"/>
                  </a:lnTo>
                  <a:lnTo>
                    <a:pt x="1128" y="819"/>
                  </a:lnTo>
                  <a:lnTo>
                    <a:pt x="1129" y="818"/>
                  </a:lnTo>
                  <a:lnTo>
                    <a:pt x="1129" y="1176"/>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0" cap="none" spc="0" normalizeH="0" baseline="0" noProof="0">
                <a:ln>
                  <a:noFill/>
                </a:ln>
                <a:solidFill>
                  <a:srgbClr val="515151"/>
                </a:solidFill>
                <a:effectLst/>
                <a:uLnTx/>
                <a:uFillTx/>
                <a:latin typeface="Arial"/>
                <a:ea typeface="+mn-ea"/>
                <a:cs typeface="+mn-cs"/>
              </a:endParaRPr>
            </a:p>
          </p:txBody>
        </p:sp>
      </p:grpSp>
      <p:sp>
        <p:nvSpPr>
          <p:cNvPr id="565" name="Rectangle 564">
            <a:extLst>
              <a:ext uri="{FF2B5EF4-FFF2-40B4-BE49-F238E27FC236}">
                <a16:creationId xmlns:a16="http://schemas.microsoft.com/office/drawing/2014/main" id="{FE17DE0D-786A-7242-5C27-42AC002A0FF2}"/>
              </a:ext>
            </a:extLst>
          </p:cNvPr>
          <p:cNvSpPr/>
          <p:nvPr/>
        </p:nvSpPr>
        <p:spPr>
          <a:xfrm>
            <a:off x="7662260" y="1825068"/>
            <a:ext cx="1280160" cy="3787654"/>
          </a:xfrm>
          <a:prstGeom prst="rect">
            <a:avLst/>
          </a:prstGeom>
          <a:solidFill>
            <a:schemeClr val="bg1"/>
          </a:solidFill>
          <a:ln>
            <a:solidFill>
              <a:srgbClr val="E1111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223" name="Group 222">
            <a:extLst>
              <a:ext uri="{FF2B5EF4-FFF2-40B4-BE49-F238E27FC236}">
                <a16:creationId xmlns:a16="http://schemas.microsoft.com/office/drawing/2014/main" id="{1F25E893-5579-6D60-79AF-30EFC59F515A}"/>
              </a:ext>
            </a:extLst>
          </p:cNvPr>
          <p:cNvGrpSpPr/>
          <p:nvPr/>
        </p:nvGrpSpPr>
        <p:grpSpPr>
          <a:xfrm>
            <a:off x="8112173" y="1629665"/>
            <a:ext cx="380334" cy="382254"/>
            <a:chOff x="4593976" y="2308758"/>
            <a:chExt cx="419100" cy="420688"/>
          </a:xfrm>
        </p:grpSpPr>
        <p:sp>
          <p:nvSpPr>
            <p:cNvPr id="224" name="Oval 223">
              <a:extLst>
                <a:ext uri="{FF2B5EF4-FFF2-40B4-BE49-F238E27FC236}">
                  <a16:creationId xmlns:a16="http://schemas.microsoft.com/office/drawing/2014/main" id="{ECC7C62B-6E5C-712E-7295-7801AE23931E}"/>
                </a:ext>
              </a:extLst>
            </p:cNvPr>
            <p:cNvSpPr/>
            <p:nvPr/>
          </p:nvSpPr>
          <p:spPr>
            <a:xfrm>
              <a:off x="4593976" y="2308758"/>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25" name="Picture 224">
              <a:extLst>
                <a:ext uri="{FF2B5EF4-FFF2-40B4-BE49-F238E27FC236}">
                  <a16:creationId xmlns:a16="http://schemas.microsoft.com/office/drawing/2014/main" id="{097CEF14-1C3B-A356-B4B0-9B71589D6C0F}"/>
                </a:ext>
              </a:extLst>
            </p:cNvPr>
            <p:cNvPicPr>
              <a:picLocks noChangeAspect="1" noChangeArrowheads="1"/>
            </p:cNvPicPr>
            <p:nvPr/>
          </p:nvPicPr>
          <p:blipFill rotWithShape="1">
            <a:blip r:embed="rId8" cstate="email">
              <a:extLst>
                <a:ext uri="{28A0092B-C50C-407E-A947-70E740481C1C}">
                  <a14:useLocalDpi xmlns:a14="http://schemas.microsoft.com/office/drawing/2010/main"/>
                </a:ext>
              </a:extLst>
            </a:blip>
            <a:srcRect l="7082" r="8482"/>
            <a:stretch/>
          </p:blipFill>
          <p:spPr bwMode="auto">
            <a:xfrm>
              <a:off x="4695034" y="2392214"/>
              <a:ext cx="213108" cy="261475"/>
            </a:xfrm>
            <a:prstGeom prst="rect">
              <a:avLst/>
            </a:prstGeom>
            <a:noFill/>
            <a:ln>
              <a:noFill/>
            </a:ln>
          </p:spPr>
        </p:pic>
      </p:grpSp>
      <p:sp>
        <p:nvSpPr>
          <p:cNvPr id="564" name="Rectangle 563">
            <a:extLst>
              <a:ext uri="{FF2B5EF4-FFF2-40B4-BE49-F238E27FC236}">
                <a16:creationId xmlns:a16="http://schemas.microsoft.com/office/drawing/2014/main" id="{AF3E0AF3-FE8B-954D-461A-A98F631B6330}"/>
              </a:ext>
            </a:extLst>
          </p:cNvPr>
          <p:cNvSpPr/>
          <p:nvPr/>
        </p:nvSpPr>
        <p:spPr>
          <a:xfrm>
            <a:off x="6295438"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200" name="Group 199">
            <a:extLst>
              <a:ext uri="{FF2B5EF4-FFF2-40B4-BE49-F238E27FC236}">
                <a16:creationId xmlns:a16="http://schemas.microsoft.com/office/drawing/2014/main" id="{D6A8670B-BF3F-ED6D-D876-020F7D22E35C}"/>
              </a:ext>
            </a:extLst>
          </p:cNvPr>
          <p:cNvGrpSpPr/>
          <p:nvPr/>
        </p:nvGrpSpPr>
        <p:grpSpPr>
          <a:xfrm>
            <a:off x="6744391" y="1629665"/>
            <a:ext cx="382254" cy="382254"/>
            <a:chOff x="5335652" y="2308758"/>
            <a:chExt cx="419100" cy="420688"/>
          </a:xfrm>
        </p:grpSpPr>
        <p:sp>
          <p:nvSpPr>
            <p:cNvPr id="201" name="Oval 200">
              <a:extLst>
                <a:ext uri="{FF2B5EF4-FFF2-40B4-BE49-F238E27FC236}">
                  <a16:creationId xmlns:a16="http://schemas.microsoft.com/office/drawing/2014/main" id="{D5695954-3BF7-37CC-414B-958F48DED968}"/>
                </a:ext>
              </a:extLst>
            </p:cNvPr>
            <p:cNvSpPr/>
            <p:nvPr/>
          </p:nvSpPr>
          <p:spPr>
            <a:xfrm>
              <a:off x="5335652" y="2308758"/>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2" name="Group 201">
              <a:extLst>
                <a:ext uri="{FF2B5EF4-FFF2-40B4-BE49-F238E27FC236}">
                  <a16:creationId xmlns:a16="http://schemas.microsoft.com/office/drawing/2014/main" id="{2F526E8B-E3AC-30F1-E926-FB01B8302140}"/>
                </a:ext>
              </a:extLst>
            </p:cNvPr>
            <p:cNvGrpSpPr/>
            <p:nvPr/>
          </p:nvGrpSpPr>
          <p:grpSpPr>
            <a:xfrm>
              <a:off x="5397714" y="2379393"/>
              <a:ext cx="300266" cy="279419"/>
              <a:chOff x="6169730" y="2899412"/>
              <a:chExt cx="300266" cy="279419"/>
            </a:xfrm>
          </p:grpSpPr>
          <p:sp>
            <p:nvSpPr>
              <p:cNvPr id="203" name="Freeform: Shape 202">
                <a:extLst>
                  <a:ext uri="{FF2B5EF4-FFF2-40B4-BE49-F238E27FC236}">
                    <a16:creationId xmlns:a16="http://schemas.microsoft.com/office/drawing/2014/main" id="{C9BE59F8-1C89-B66B-E61E-5FC85B402A42}"/>
                  </a:ext>
                </a:extLst>
              </p:cNvPr>
              <p:cNvSpPr/>
              <p:nvPr/>
            </p:nvSpPr>
            <p:spPr>
              <a:xfrm>
                <a:off x="6277546" y="2899418"/>
                <a:ext cx="192450" cy="279413"/>
              </a:xfrm>
              <a:custGeom>
                <a:avLst/>
                <a:gdLst>
                  <a:gd name="connsiteX0" fmla="*/ 167745 w 307360"/>
                  <a:gd name="connsiteY0" fmla="*/ 15747 h 410286"/>
                  <a:gd name="connsiteX1" fmla="*/ 135212 w 307360"/>
                  <a:gd name="connsiteY1" fmla="*/ 33 h 410286"/>
                  <a:gd name="connsiteX2" fmla="*/ 0 w 307360"/>
                  <a:gd name="connsiteY2" fmla="*/ 33 h 410286"/>
                  <a:gd name="connsiteX3" fmla="*/ 32849 w 307360"/>
                  <a:gd name="connsiteY3" fmla="*/ 16196 h 410286"/>
                  <a:gd name="connsiteX4" fmla="*/ 172216 w 307360"/>
                  <a:gd name="connsiteY4" fmla="*/ 205166 h 410286"/>
                  <a:gd name="connsiteX5" fmla="*/ 32849 w 307360"/>
                  <a:gd name="connsiteY5" fmla="*/ 394153 h 410286"/>
                  <a:gd name="connsiteX6" fmla="*/ 0 w 307360"/>
                  <a:gd name="connsiteY6" fmla="*/ 410252 h 410286"/>
                  <a:gd name="connsiteX7" fmla="*/ 135212 w 307360"/>
                  <a:gd name="connsiteY7" fmla="*/ 410252 h 410286"/>
                  <a:gd name="connsiteX8" fmla="*/ 167745 w 307360"/>
                  <a:gd name="connsiteY8" fmla="*/ 394602 h 410286"/>
                  <a:gd name="connsiteX9" fmla="*/ 307361 w 307360"/>
                  <a:gd name="connsiteY9" fmla="*/ 205166 h 410286"/>
                  <a:gd name="connsiteX10" fmla="*/ 167745 w 307360"/>
                  <a:gd name="connsiteY10" fmla="*/ 15747 h 41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360" h="410286">
                    <a:moveTo>
                      <a:pt x="167745" y="15747"/>
                    </a:moveTo>
                    <a:cubicBezTo>
                      <a:pt x="160224" y="5404"/>
                      <a:pt x="148006" y="-496"/>
                      <a:pt x="135212" y="33"/>
                    </a:cubicBezTo>
                    <a:lnTo>
                      <a:pt x="0" y="33"/>
                    </a:lnTo>
                    <a:cubicBezTo>
                      <a:pt x="13009" y="-496"/>
                      <a:pt x="25362" y="5581"/>
                      <a:pt x="32849" y="16196"/>
                    </a:cubicBezTo>
                    <a:cubicBezTo>
                      <a:pt x="46501" y="34331"/>
                      <a:pt x="172216" y="205166"/>
                      <a:pt x="172216" y="205166"/>
                    </a:cubicBezTo>
                    <a:cubicBezTo>
                      <a:pt x="172216" y="205166"/>
                      <a:pt x="46501" y="375953"/>
                      <a:pt x="32849" y="394153"/>
                    </a:cubicBezTo>
                    <a:cubicBezTo>
                      <a:pt x="25351" y="404736"/>
                      <a:pt x="12986" y="410797"/>
                      <a:pt x="0" y="410252"/>
                    </a:cubicBezTo>
                    <a:lnTo>
                      <a:pt x="135212" y="410252"/>
                    </a:lnTo>
                    <a:cubicBezTo>
                      <a:pt x="148006" y="410797"/>
                      <a:pt x="160202" y="404913"/>
                      <a:pt x="167745" y="394602"/>
                    </a:cubicBezTo>
                    <a:lnTo>
                      <a:pt x="307361" y="205166"/>
                    </a:lnTo>
                    <a:lnTo>
                      <a:pt x="167745" y="15747"/>
                    </a:lnTo>
                    <a:close/>
                  </a:path>
                </a:pathLst>
              </a:custGeom>
              <a:solidFill>
                <a:schemeClr val="bg1">
                  <a:lumMod val="75000"/>
                </a:schemeClr>
              </a:solidFill>
              <a:ln w="1126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Freeform: Shape 203">
                <a:extLst>
                  <a:ext uri="{FF2B5EF4-FFF2-40B4-BE49-F238E27FC236}">
                    <a16:creationId xmlns:a16="http://schemas.microsoft.com/office/drawing/2014/main" id="{63BE9C67-6A81-9649-492D-2B949D74BBF1}"/>
                  </a:ext>
                </a:extLst>
              </p:cNvPr>
              <p:cNvSpPr/>
              <p:nvPr/>
            </p:nvSpPr>
            <p:spPr>
              <a:xfrm>
                <a:off x="6169730" y="2899412"/>
                <a:ext cx="150153" cy="279382"/>
              </a:xfrm>
              <a:custGeom>
                <a:avLst/>
                <a:gdLst>
                  <a:gd name="connsiteX0" fmla="*/ 239809 w 239808"/>
                  <a:gd name="connsiteY0" fmla="*/ 63098 h 410240"/>
                  <a:gd name="connsiteX1" fmla="*/ 239809 w 239808"/>
                  <a:gd name="connsiteY1" fmla="*/ 63098 h 410240"/>
                  <a:gd name="connsiteX2" fmla="*/ 205040 w 239808"/>
                  <a:gd name="connsiteY2" fmla="*/ 16196 h 410240"/>
                  <a:gd name="connsiteX3" fmla="*/ 172214 w 239808"/>
                  <a:gd name="connsiteY3" fmla="*/ 33 h 410240"/>
                  <a:gd name="connsiteX4" fmla="*/ 139614 w 239808"/>
                  <a:gd name="connsiteY4" fmla="*/ 15763 h 410240"/>
                  <a:gd name="connsiteX5" fmla="*/ 0 w 239808"/>
                  <a:gd name="connsiteY5" fmla="*/ 205183 h 410240"/>
                  <a:gd name="connsiteX6" fmla="*/ 139614 w 239808"/>
                  <a:gd name="connsiteY6" fmla="*/ 394554 h 410240"/>
                  <a:gd name="connsiteX7" fmla="*/ 172214 w 239808"/>
                  <a:gd name="connsiteY7" fmla="*/ 410204 h 410240"/>
                  <a:gd name="connsiteX8" fmla="*/ 205040 w 239808"/>
                  <a:gd name="connsiteY8" fmla="*/ 394105 h 410240"/>
                  <a:gd name="connsiteX9" fmla="*/ 239809 w 239808"/>
                  <a:gd name="connsiteY9" fmla="*/ 347138 h 410240"/>
                  <a:gd name="connsiteX10" fmla="*/ 135142 w 239808"/>
                  <a:gd name="connsiteY10" fmla="*/ 205183 h 410240"/>
                  <a:gd name="connsiteX11" fmla="*/ 239809 w 239808"/>
                  <a:gd name="connsiteY11" fmla="*/ 63098 h 410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808" h="410240">
                    <a:moveTo>
                      <a:pt x="239809" y="63098"/>
                    </a:moveTo>
                    <a:lnTo>
                      <a:pt x="239809" y="63098"/>
                    </a:lnTo>
                    <a:cubicBezTo>
                      <a:pt x="222656" y="39943"/>
                      <a:pt x="209128" y="21616"/>
                      <a:pt x="205040" y="16196"/>
                    </a:cubicBezTo>
                    <a:cubicBezTo>
                      <a:pt x="197565" y="5597"/>
                      <a:pt x="185200" y="-496"/>
                      <a:pt x="172214" y="33"/>
                    </a:cubicBezTo>
                    <a:cubicBezTo>
                      <a:pt x="159386" y="-496"/>
                      <a:pt x="147157" y="5404"/>
                      <a:pt x="139614" y="15763"/>
                    </a:cubicBezTo>
                    <a:lnTo>
                      <a:pt x="0" y="205183"/>
                    </a:lnTo>
                    <a:lnTo>
                      <a:pt x="139614" y="394554"/>
                    </a:lnTo>
                    <a:cubicBezTo>
                      <a:pt x="147168" y="404881"/>
                      <a:pt x="159398" y="410765"/>
                      <a:pt x="172214" y="410204"/>
                    </a:cubicBezTo>
                    <a:cubicBezTo>
                      <a:pt x="185178" y="410749"/>
                      <a:pt x="197554" y="404688"/>
                      <a:pt x="205040" y="394105"/>
                    </a:cubicBezTo>
                    <a:lnTo>
                      <a:pt x="239809" y="347138"/>
                    </a:lnTo>
                    <a:lnTo>
                      <a:pt x="135142" y="205183"/>
                    </a:lnTo>
                    <a:lnTo>
                      <a:pt x="239809" y="63098"/>
                    </a:lnTo>
                    <a:close/>
                  </a:path>
                </a:pathLst>
              </a:custGeom>
              <a:solidFill>
                <a:schemeClr val="bg1">
                  <a:lumMod val="75000"/>
                </a:schemeClr>
              </a:solidFill>
              <a:ln w="1126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66" name="Rectangle 565">
            <a:extLst>
              <a:ext uri="{FF2B5EF4-FFF2-40B4-BE49-F238E27FC236}">
                <a16:creationId xmlns:a16="http://schemas.microsoft.com/office/drawing/2014/main" id="{85B9C7CD-8F24-301D-7C25-BE23B60F4DEF}"/>
              </a:ext>
            </a:extLst>
          </p:cNvPr>
          <p:cNvSpPr/>
          <p:nvPr/>
        </p:nvSpPr>
        <p:spPr>
          <a:xfrm>
            <a:off x="9029082" y="1825068"/>
            <a:ext cx="1280160" cy="3787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226" name="Group 225">
            <a:extLst>
              <a:ext uri="{FF2B5EF4-FFF2-40B4-BE49-F238E27FC236}">
                <a16:creationId xmlns:a16="http://schemas.microsoft.com/office/drawing/2014/main" id="{7D8E454A-E0E0-BBBC-84E2-4FA82C4300E9}"/>
              </a:ext>
            </a:extLst>
          </p:cNvPr>
          <p:cNvGrpSpPr/>
          <p:nvPr/>
        </p:nvGrpSpPr>
        <p:grpSpPr>
          <a:xfrm>
            <a:off x="9478035" y="1629665"/>
            <a:ext cx="382254" cy="382254"/>
            <a:chOff x="6993158" y="2300659"/>
            <a:chExt cx="419100" cy="420688"/>
          </a:xfrm>
        </p:grpSpPr>
        <p:sp>
          <p:nvSpPr>
            <p:cNvPr id="227" name="Oval 226">
              <a:extLst>
                <a:ext uri="{FF2B5EF4-FFF2-40B4-BE49-F238E27FC236}">
                  <a16:creationId xmlns:a16="http://schemas.microsoft.com/office/drawing/2014/main" id="{D38F5C4E-2456-897F-D2F1-6E9EBE45A440}"/>
                </a:ext>
              </a:extLst>
            </p:cNvPr>
            <p:cNvSpPr/>
            <p:nvPr/>
          </p:nvSpPr>
          <p:spPr>
            <a:xfrm>
              <a:off x="6993158" y="2300659"/>
              <a:ext cx="419100" cy="420688"/>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28" name="Picture 2">
              <a:extLst>
                <a:ext uri="{FF2B5EF4-FFF2-40B4-BE49-F238E27FC236}">
                  <a16:creationId xmlns:a16="http://schemas.microsoft.com/office/drawing/2014/main" id="{EF72DE9D-E47D-316D-CBDA-6384035D5C97}"/>
                </a:ext>
              </a:extLst>
            </p:cNvPr>
            <p:cNvPicPr>
              <a:picLocks noChangeAspect="1" noChangeArrowheads="1"/>
            </p:cNvPicPr>
            <p:nvPr/>
          </p:nvPicPr>
          <p:blipFill rotWithShape="1">
            <a:blip r:embed="rId9">
              <a:duotone>
                <a:schemeClr val="bg2">
                  <a:shade val="45000"/>
                  <a:satMod val="135000"/>
                </a:schemeClr>
                <a:prstClr val="white"/>
              </a:duotone>
              <a:extLst>
                <a:ext uri="{BEBA8EAE-BF5A-486C-A8C5-ECC9F3942E4B}">
                  <a14:imgProps xmlns:a14="http://schemas.microsoft.com/office/drawing/2010/main">
                    <a14:imgLayer r:embed="rId10">
                      <a14:imgEffect>
                        <a14:saturation sat="400000"/>
                      </a14:imgEffect>
                    </a14:imgLayer>
                  </a14:imgProps>
                </a:ext>
                <a:ext uri="{28A0092B-C50C-407E-A947-70E740481C1C}">
                  <a14:useLocalDpi xmlns:a14="http://schemas.microsoft.com/office/drawing/2010/main" val="0"/>
                </a:ext>
              </a:extLst>
            </a:blip>
            <a:srcRect l="31402" r="29389" b="35978"/>
            <a:stretch/>
          </p:blipFill>
          <p:spPr bwMode="auto">
            <a:xfrm>
              <a:off x="7034568" y="2383196"/>
              <a:ext cx="336281" cy="255614"/>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 name="Group 19">
            <a:extLst>
              <a:ext uri="{FF2B5EF4-FFF2-40B4-BE49-F238E27FC236}">
                <a16:creationId xmlns:a16="http://schemas.microsoft.com/office/drawing/2014/main" id="{CC77CED9-0B8B-5112-F373-2A5A957B2E59}"/>
              </a:ext>
            </a:extLst>
          </p:cNvPr>
          <p:cNvGrpSpPr/>
          <p:nvPr/>
        </p:nvGrpSpPr>
        <p:grpSpPr>
          <a:xfrm>
            <a:off x="2474896" y="3043665"/>
            <a:ext cx="8921243" cy="139795"/>
            <a:chOff x="2474896" y="3177149"/>
            <a:chExt cx="8921243" cy="139795"/>
          </a:xfrm>
        </p:grpSpPr>
        <p:grpSp>
          <p:nvGrpSpPr>
            <p:cNvPr id="576" name="Group 575">
              <a:extLst>
                <a:ext uri="{FF2B5EF4-FFF2-40B4-BE49-F238E27FC236}">
                  <a16:creationId xmlns:a16="http://schemas.microsoft.com/office/drawing/2014/main" id="{BC143811-4FF5-434B-2365-ADEEDE4128E8}"/>
                </a:ext>
              </a:extLst>
            </p:cNvPr>
            <p:cNvGrpSpPr/>
            <p:nvPr/>
          </p:nvGrpSpPr>
          <p:grpSpPr>
            <a:xfrm>
              <a:off x="2474896" y="3177149"/>
              <a:ext cx="720313" cy="139795"/>
              <a:chOff x="2606714" y="2858424"/>
              <a:chExt cx="720313" cy="642351"/>
            </a:xfrm>
          </p:grpSpPr>
          <p:sp>
            <p:nvSpPr>
              <p:cNvPr id="573" name="Rectangle 572">
                <a:extLst>
                  <a:ext uri="{FF2B5EF4-FFF2-40B4-BE49-F238E27FC236}">
                    <a16:creationId xmlns:a16="http://schemas.microsoft.com/office/drawing/2014/main" id="{0D947EA1-66D2-2950-5D6C-9E5379341A6F}"/>
                  </a:ext>
                </a:extLst>
              </p:cNvPr>
              <p:cNvSpPr/>
              <p:nvPr/>
            </p:nvSpPr>
            <p:spPr>
              <a:xfrm>
                <a:off x="2606714" y="2858424"/>
                <a:ext cx="239831" cy="642351"/>
              </a:xfrm>
              <a:prstGeom prst="rect">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74" name="Rectangle 573">
                <a:extLst>
                  <a:ext uri="{FF2B5EF4-FFF2-40B4-BE49-F238E27FC236}">
                    <a16:creationId xmlns:a16="http://schemas.microsoft.com/office/drawing/2014/main" id="{471504A4-A1B9-A7F0-DD68-1EF519C2B413}"/>
                  </a:ext>
                </a:extLst>
              </p:cNvPr>
              <p:cNvSpPr/>
              <p:nvPr/>
            </p:nvSpPr>
            <p:spPr>
              <a:xfrm>
                <a:off x="2846545"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75" name="Rectangle 574">
                <a:extLst>
                  <a:ext uri="{FF2B5EF4-FFF2-40B4-BE49-F238E27FC236}">
                    <a16:creationId xmlns:a16="http://schemas.microsoft.com/office/drawing/2014/main" id="{3B23020A-C252-1B5D-1928-99132E8C4A38}"/>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577" name="Group 576">
              <a:extLst>
                <a:ext uri="{FF2B5EF4-FFF2-40B4-BE49-F238E27FC236}">
                  <a16:creationId xmlns:a16="http://schemas.microsoft.com/office/drawing/2014/main" id="{52F63804-4087-3197-C9F8-7FFB818E855B}"/>
                </a:ext>
              </a:extLst>
            </p:cNvPr>
            <p:cNvGrpSpPr/>
            <p:nvPr/>
          </p:nvGrpSpPr>
          <p:grpSpPr>
            <a:xfrm>
              <a:off x="3841718" y="3177149"/>
              <a:ext cx="720313" cy="139795"/>
              <a:chOff x="2606714" y="2858424"/>
              <a:chExt cx="720313" cy="642351"/>
            </a:xfrm>
          </p:grpSpPr>
          <p:sp>
            <p:nvSpPr>
              <p:cNvPr id="578" name="Rectangle 577">
                <a:extLst>
                  <a:ext uri="{FF2B5EF4-FFF2-40B4-BE49-F238E27FC236}">
                    <a16:creationId xmlns:a16="http://schemas.microsoft.com/office/drawing/2014/main" id="{C0AF595F-157A-AA23-5025-C25F0B0AA0A8}"/>
                  </a:ext>
                </a:extLst>
              </p:cNvPr>
              <p:cNvSpPr/>
              <p:nvPr/>
            </p:nvSpPr>
            <p:spPr>
              <a:xfrm>
                <a:off x="2606714" y="2858424"/>
                <a:ext cx="239831" cy="642351"/>
              </a:xfrm>
              <a:prstGeom prst="rect">
                <a:avLst/>
              </a:prstGeom>
              <a:solidFill>
                <a:srgbClr val="E1111A"/>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79" name="Rectangle 578">
                <a:extLst>
                  <a:ext uri="{FF2B5EF4-FFF2-40B4-BE49-F238E27FC236}">
                    <a16:creationId xmlns:a16="http://schemas.microsoft.com/office/drawing/2014/main" id="{BE795EA5-D6B8-07B7-E63A-FD7D8DFD5CF6}"/>
                  </a:ext>
                </a:extLst>
              </p:cNvPr>
              <p:cNvSpPr/>
              <p:nvPr/>
            </p:nvSpPr>
            <p:spPr>
              <a:xfrm>
                <a:off x="2846545"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80" name="Rectangle 579">
                <a:extLst>
                  <a:ext uri="{FF2B5EF4-FFF2-40B4-BE49-F238E27FC236}">
                    <a16:creationId xmlns:a16="http://schemas.microsoft.com/office/drawing/2014/main" id="{A920EA1B-504E-5825-2CE1-0DAA1E31A115}"/>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05" name="Group 604">
              <a:extLst>
                <a:ext uri="{FF2B5EF4-FFF2-40B4-BE49-F238E27FC236}">
                  <a16:creationId xmlns:a16="http://schemas.microsoft.com/office/drawing/2014/main" id="{B5F471C0-B4EB-2D4F-B175-6BFEAC44F005}"/>
                </a:ext>
              </a:extLst>
            </p:cNvPr>
            <p:cNvGrpSpPr/>
            <p:nvPr/>
          </p:nvGrpSpPr>
          <p:grpSpPr>
            <a:xfrm>
              <a:off x="10675826" y="3177149"/>
              <a:ext cx="720313" cy="139795"/>
              <a:chOff x="2606714" y="2858424"/>
              <a:chExt cx="720313" cy="642351"/>
            </a:xfrm>
            <a:solidFill>
              <a:srgbClr val="00A467"/>
            </a:solidFill>
          </p:grpSpPr>
          <p:sp>
            <p:nvSpPr>
              <p:cNvPr id="606" name="Rectangle 605">
                <a:extLst>
                  <a:ext uri="{FF2B5EF4-FFF2-40B4-BE49-F238E27FC236}">
                    <a16:creationId xmlns:a16="http://schemas.microsoft.com/office/drawing/2014/main" id="{87B97EE1-61E0-E1AD-C304-D7A910DA3787}"/>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07" name="Rectangle 606">
                <a:extLst>
                  <a:ext uri="{FF2B5EF4-FFF2-40B4-BE49-F238E27FC236}">
                    <a16:creationId xmlns:a16="http://schemas.microsoft.com/office/drawing/2014/main" id="{64670B6C-09FA-74DA-2BA6-341AC8C4EA60}"/>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08" name="Rectangle 607">
                <a:extLst>
                  <a:ext uri="{FF2B5EF4-FFF2-40B4-BE49-F238E27FC236}">
                    <a16:creationId xmlns:a16="http://schemas.microsoft.com/office/drawing/2014/main" id="{2D7E4347-FBFC-B558-7F15-DA90FC7CEF3E}"/>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581" name="Group 580">
              <a:extLst>
                <a:ext uri="{FF2B5EF4-FFF2-40B4-BE49-F238E27FC236}">
                  <a16:creationId xmlns:a16="http://schemas.microsoft.com/office/drawing/2014/main" id="{2013B153-92C3-1CAC-AEEF-9BADE988CE25}"/>
                </a:ext>
              </a:extLst>
            </p:cNvPr>
            <p:cNvGrpSpPr/>
            <p:nvPr/>
          </p:nvGrpSpPr>
          <p:grpSpPr>
            <a:xfrm>
              <a:off x="5202510" y="3177149"/>
              <a:ext cx="720313" cy="139795"/>
              <a:chOff x="2606714" y="2858424"/>
              <a:chExt cx="720313" cy="642351"/>
            </a:xfrm>
          </p:grpSpPr>
          <p:sp>
            <p:nvSpPr>
              <p:cNvPr id="582" name="Rectangle 581">
                <a:extLst>
                  <a:ext uri="{FF2B5EF4-FFF2-40B4-BE49-F238E27FC236}">
                    <a16:creationId xmlns:a16="http://schemas.microsoft.com/office/drawing/2014/main" id="{83CEC628-42CD-CA51-45B0-6DFDD3124466}"/>
                  </a:ext>
                </a:extLst>
              </p:cNvPr>
              <p:cNvSpPr/>
              <p:nvPr/>
            </p:nvSpPr>
            <p:spPr>
              <a:xfrm>
                <a:off x="2606714" y="2858424"/>
                <a:ext cx="239831" cy="642351"/>
              </a:xfrm>
              <a:prstGeom prst="rect">
                <a:avLst/>
              </a:prstGeom>
              <a:solidFill>
                <a:srgbClr val="E1111A"/>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83" name="Rectangle 582">
                <a:extLst>
                  <a:ext uri="{FF2B5EF4-FFF2-40B4-BE49-F238E27FC236}">
                    <a16:creationId xmlns:a16="http://schemas.microsoft.com/office/drawing/2014/main" id="{CABAD8BF-EC5F-0B3A-A206-0B1B8C5EF124}"/>
                  </a:ext>
                </a:extLst>
              </p:cNvPr>
              <p:cNvSpPr/>
              <p:nvPr/>
            </p:nvSpPr>
            <p:spPr>
              <a:xfrm>
                <a:off x="2846545"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84" name="Rectangle 583">
                <a:extLst>
                  <a:ext uri="{FF2B5EF4-FFF2-40B4-BE49-F238E27FC236}">
                    <a16:creationId xmlns:a16="http://schemas.microsoft.com/office/drawing/2014/main" id="{24D0002A-A689-E31C-2ABD-CA46BF3596AB}"/>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593" name="Group 592">
              <a:extLst>
                <a:ext uri="{FF2B5EF4-FFF2-40B4-BE49-F238E27FC236}">
                  <a16:creationId xmlns:a16="http://schemas.microsoft.com/office/drawing/2014/main" id="{F46DC520-061E-83C9-8920-38CEB5720F0E}"/>
                </a:ext>
              </a:extLst>
            </p:cNvPr>
            <p:cNvGrpSpPr/>
            <p:nvPr/>
          </p:nvGrpSpPr>
          <p:grpSpPr>
            <a:xfrm>
              <a:off x="7942184" y="3177149"/>
              <a:ext cx="720313" cy="139795"/>
              <a:chOff x="2606714" y="2858424"/>
              <a:chExt cx="720313" cy="642351"/>
            </a:xfrm>
            <a:solidFill>
              <a:schemeClr val="bg1"/>
            </a:solidFill>
          </p:grpSpPr>
          <p:sp>
            <p:nvSpPr>
              <p:cNvPr id="594" name="Rectangle 593">
                <a:extLst>
                  <a:ext uri="{FF2B5EF4-FFF2-40B4-BE49-F238E27FC236}">
                    <a16:creationId xmlns:a16="http://schemas.microsoft.com/office/drawing/2014/main" id="{3AEA4FBD-4948-602C-1131-BA9126413745}"/>
                  </a:ext>
                </a:extLst>
              </p:cNvPr>
              <p:cNvSpPr/>
              <p:nvPr/>
            </p:nvSpPr>
            <p:spPr>
              <a:xfrm>
                <a:off x="2606714" y="2858424"/>
                <a:ext cx="239831" cy="642351"/>
              </a:xfrm>
              <a:prstGeom prst="rect">
                <a:avLst/>
              </a:prstGeom>
              <a:solidFill>
                <a:srgbClr val="E1111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95" name="Rectangle 594">
                <a:extLst>
                  <a:ext uri="{FF2B5EF4-FFF2-40B4-BE49-F238E27FC236}">
                    <a16:creationId xmlns:a16="http://schemas.microsoft.com/office/drawing/2014/main" id="{B5725D94-6B98-C3B2-5090-1C74A843A30D}"/>
                  </a:ext>
                </a:extLst>
              </p:cNvPr>
              <p:cNvSpPr/>
              <p:nvPr/>
            </p:nvSpPr>
            <p:spPr>
              <a:xfrm>
                <a:off x="2846545" y="2858424"/>
                <a:ext cx="239831" cy="642351"/>
              </a:xfrm>
              <a:prstGeom prst="rect">
                <a:avLst/>
              </a:prstGeom>
              <a:solidFill>
                <a:schemeClr val="bg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96" name="Rectangle 595">
                <a:extLst>
                  <a:ext uri="{FF2B5EF4-FFF2-40B4-BE49-F238E27FC236}">
                    <a16:creationId xmlns:a16="http://schemas.microsoft.com/office/drawing/2014/main" id="{27381CCE-C845-4A01-0BB6-8F85F7B61C84}"/>
                  </a:ext>
                </a:extLst>
              </p:cNvPr>
              <p:cNvSpPr/>
              <p:nvPr/>
            </p:nvSpPr>
            <p:spPr>
              <a:xfrm>
                <a:off x="3087196" y="2858424"/>
                <a:ext cx="239831" cy="642351"/>
              </a:xfrm>
              <a:prstGeom prst="rect">
                <a:avLst/>
              </a:prstGeom>
              <a:solidFill>
                <a:schemeClr val="bg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589" name="Group 588">
              <a:extLst>
                <a:ext uri="{FF2B5EF4-FFF2-40B4-BE49-F238E27FC236}">
                  <a16:creationId xmlns:a16="http://schemas.microsoft.com/office/drawing/2014/main" id="{1600869F-1781-983E-F026-8767C87986B2}"/>
                </a:ext>
              </a:extLst>
            </p:cNvPr>
            <p:cNvGrpSpPr/>
            <p:nvPr/>
          </p:nvGrpSpPr>
          <p:grpSpPr>
            <a:xfrm>
              <a:off x="6575362" y="3177149"/>
              <a:ext cx="720313" cy="139795"/>
              <a:chOff x="2606714" y="2858424"/>
              <a:chExt cx="720313" cy="642351"/>
            </a:xfrm>
          </p:grpSpPr>
          <p:sp>
            <p:nvSpPr>
              <p:cNvPr id="590" name="Rectangle 589">
                <a:extLst>
                  <a:ext uri="{FF2B5EF4-FFF2-40B4-BE49-F238E27FC236}">
                    <a16:creationId xmlns:a16="http://schemas.microsoft.com/office/drawing/2014/main" id="{E9AA0004-D2E7-D201-B55D-579F434CBE39}"/>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91" name="Rectangle 590">
                <a:extLst>
                  <a:ext uri="{FF2B5EF4-FFF2-40B4-BE49-F238E27FC236}">
                    <a16:creationId xmlns:a16="http://schemas.microsoft.com/office/drawing/2014/main" id="{2D266D0F-CDF2-8D5E-E9BB-21981D0A6E5C}"/>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92" name="Rectangle 591">
                <a:extLst>
                  <a:ext uri="{FF2B5EF4-FFF2-40B4-BE49-F238E27FC236}">
                    <a16:creationId xmlns:a16="http://schemas.microsoft.com/office/drawing/2014/main" id="{DA686BDC-0750-4532-F24C-7676D735C902}"/>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597" name="Group 596">
              <a:extLst>
                <a:ext uri="{FF2B5EF4-FFF2-40B4-BE49-F238E27FC236}">
                  <a16:creationId xmlns:a16="http://schemas.microsoft.com/office/drawing/2014/main" id="{B5D826F9-943D-2F2A-D8E6-BBBE1089F05E}"/>
                </a:ext>
              </a:extLst>
            </p:cNvPr>
            <p:cNvGrpSpPr/>
            <p:nvPr/>
          </p:nvGrpSpPr>
          <p:grpSpPr>
            <a:xfrm>
              <a:off x="9309006" y="3177149"/>
              <a:ext cx="720313" cy="139795"/>
              <a:chOff x="2606714" y="2858424"/>
              <a:chExt cx="720313" cy="642351"/>
            </a:xfrm>
            <a:solidFill>
              <a:schemeClr val="accent5"/>
            </a:solidFill>
          </p:grpSpPr>
          <p:sp>
            <p:nvSpPr>
              <p:cNvPr id="598" name="Rectangle 597">
                <a:extLst>
                  <a:ext uri="{FF2B5EF4-FFF2-40B4-BE49-F238E27FC236}">
                    <a16:creationId xmlns:a16="http://schemas.microsoft.com/office/drawing/2014/main" id="{89C37C31-90A7-6285-3766-0DE9F296EBD6}"/>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599" name="Rectangle 598">
                <a:extLst>
                  <a:ext uri="{FF2B5EF4-FFF2-40B4-BE49-F238E27FC236}">
                    <a16:creationId xmlns:a16="http://schemas.microsoft.com/office/drawing/2014/main" id="{3255F062-2F0C-13ED-5A82-A8EFBD3DF62F}"/>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00" name="Rectangle 599">
                <a:extLst>
                  <a:ext uri="{FF2B5EF4-FFF2-40B4-BE49-F238E27FC236}">
                    <a16:creationId xmlns:a16="http://schemas.microsoft.com/office/drawing/2014/main" id="{02372352-3627-53CA-6925-EE4FD34533E6}"/>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grpSp>
        <p:nvGrpSpPr>
          <p:cNvPr id="641" name="Group 640">
            <a:extLst>
              <a:ext uri="{FF2B5EF4-FFF2-40B4-BE49-F238E27FC236}">
                <a16:creationId xmlns:a16="http://schemas.microsoft.com/office/drawing/2014/main" id="{5F79DEB2-2AF4-3030-2719-4A7B728A8942}"/>
              </a:ext>
            </a:extLst>
          </p:cNvPr>
          <p:cNvGrpSpPr/>
          <p:nvPr/>
        </p:nvGrpSpPr>
        <p:grpSpPr>
          <a:xfrm>
            <a:off x="2474896" y="5212331"/>
            <a:ext cx="720313" cy="139795"/>
            <a:chOff x="2606714" y="2858424"/>
            <a:chExt cx="720313" cy="642351"/>
          </a:xfrm>
          <a:solidFill>
            <a:srgbClr val="00A467"/>
          </a:solidFill>
        </p:grpSpPr>
        <p:sp>
          <p:nvSpPr>
            <p:cNvPr id="642" name="Rectangle 641">
              <a:extLst>
                <a:ext uri="{FF2B5EF4-FFF2-40B4-BE49-F238E27FC236}">
                  <a16:creationId xmlns:a16="http://schemas.microsoft.com/office/drawing/2014/main" id="{5638F034-3C80-2588-5734-C4ED85F5CF57}"/>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43" name="Rectangle 642">
              <a:extLst>
                <a:ext uri="{FF2B5EF4-FFF2-40B4-BE49-F238E27FC236}">
                  <a16:creationId xmlns:a16="http://schemas.microsoft.com/office/drawing/2014/main" id="{B38CBED0-621C-A4A6-4B1C-53BA0426E436}"/>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44" name="Rectangle 643">
              <a:extLst>
                <a:ext uri="{FF2B5EF4-FFF2-40B4-BE49-F238E27FC236}">
                  <a16:creationId xmlns:a16="http://schemas.microsoft.com/office/drawing/2014/main" id="{AE53FE63-3AE0-5AC1-6B7D-F41E9EFD9933}"/>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69" name="Group 668">
            <a:extLst>
              <a:ext uri="{FF2B5EF4-FFF2-40B4-BE49-F238E27FC236}">
                <a16:creationId xmlns:a16="http://schemas.microsoft.com/office/drawing/2014/main" id="{FEFF8908-6225-92DF-5B7D-0237FA8C6CD0}"/>
              </a:ext>
            </a:extLst>
          </p:cNvPr>
          <p:cNvGrpSpPr/>
          <p:nvPr/>
        </p:nvGrpSpPr>
        <p:grpSpPr>
          <a:xfrm>
            <a:off x="10675826" y="5212331"/>
            <a:ext cx="720313" cy="139795"/>
            <a:chOff x="2606714" y="2858424"/>
            <a:chExt cx="720313" cy="642351"/>
          </a:xfrm>
        </p:grpSpPr>
        <p:sp>
          <p:nvSpPr>
            <p:cNvPr id="670" name="Rectangle 669">
              <a:extLst>
                <a:ext uri="{FF2B5EF4-FFF2-40B4-BE49-F238E27FC236}">
                  <a16:creationId xmlns:a16="http://schemas.microsoft.com/office/drawing/2014/main" id="{D549C1F3-E26C-142B-1B37-B3F7AA0F9E8F}"/>
                </a:ext>
              </a:extLst>
            </p:cNvPr>
            <p:cNvSpPr/>
            <p:nvPr/>
          </p:nvSpPr>
          <p:spPr>
            <a:xfrm>
              <a:off x="2606714" y="2858424"/>
              <a:ext cx="239831" cy="642351"/>
            </a:xfrm>
            <a:prstGeom prst="rect">
              <a:avLst/>
            </a:prstGeom>
            <a:solidFill>
              <a:srgbClr val="E1111A"/>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71" name="Rectangle 670">
              <a:extLst>
                <a:ext uri="{FF2B5EF4-FFF2-40B4-BE49-F238E27FC236}">
                  <a16:creationId xmlns:a16="http://schemas.microsoft.com/office/drawing/2014/main" id="{41AF47C9-0B3D-CC6B-40F3-C4629B1B61DD}"/>
                </a:ext>
              </a:extLst>
            </p:cNvPr>
            <p:cNvSpPr/>
            <p:nvPr/>
          </p:nvSpPr>
          <p:spPr>
            <a:xfrm>
              <a:off x="2846545"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72" name="Rectangle 671">
              <a:extLst>
                <a:ext uri="{FF2B5EF4-FFF2-40B4-BE49-F238E27FC236}">
                  <a16:creationId xmlns:a16="http://schemas.microsoft.com/office/drawing/2014/main" id="{6AC26E0B-E88B-AB5E-B922-98E70FCE46CC}"/>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49" name="Group 648">
            <a:extLst>
              <a:ext uri="{FF2B5EF4-FFF2-40B4-BE49-F238E27FC236}">
                <a16:creationId xmlns:a16="http://schemas.microsoft.com/office/drawing/2014/main" id="{9953713A-F989-43B2-11DA-5EB632570C85}"/>
              </a:ext>
            </a:extLst>
          </p:cNvPr>
          <p:cNvGrpSpPr/>
          <p:nvPr/>
        </p:nvGrpSpPr>
        <p:grpSpPr>
          <a:xfrm>
            <a:off x="5202510" y="5212331"/>
            <a:ext cx="720313" cy="139795"/>
            <a:chOff x="2606714" y="2858424"/>
            <a:chExt cx="720313" cy="642351"/>
          </a:xfrm>
          <a:solidFill>
            <a:schemeClr val="bg2">
              <a:lumMod val="20000"/>
              <a:lumOff val="80000"/>
            </a:schemeClr>
          </a:solidFill>
        </p:grpSpPr>
        <p:sp>
          <p:nvSpPr>
            <p:cNvPr id="650" name="Rectangle 649">
              <a:extLst>
                <a:ext uri="{FF2B5EF4-FFF2-40B4-BE49-F238E27FC236}">
                  <a16:creationId xmlns:a16="http://schemas.microsoft.com/office/drawing/2014/main" id="{35A097CA-203B-CBE2-F52C-AA783BCBC01A}"/>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51" name="Rectangle 650">
              <a:extLst>
                <a:ext uri="{FF2B5EF4-FFF2-40B4-BE49-F238E27FC236}">
                  <a16:creationId xmlns:a16="http://schemas.microsoft.com/office/drawing/2014/main" id="{C8D62569-C287-9511-6151-D2EDF5DFFF58}"/>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52" name="Rectangle 651">
              <a:extLst>
                <a:ext uri="{FF2B5EF4-FFF2-40B4-BE49-F238E27FC236}">
                  <a16:creationId xmlns:a16="http://schemas.microsoft.com/office/drawing/2014/main" id="{C6135C20-3E83-8C94-B48E-9167C6EBEE21}"/>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57" name="Group 656">
            <a:extLst>
              <a:ext uri="{FF2B5EF4-FFF2-40B4-BE49-F238E27FC236}">
                <a16:creationId xmlns:a16="http://schemas.microsoft.com/office/drawing/2014/main" id="{1F33F926-C6BD-5044-8834-B5E85FEECEE7}"/>
              </a:ext>
            </a:extLst>
          </p:cNvPr>
          <p:cNvGrpSpPr/>
          <p:nvPr/>
        </p:nvGrpSpPr>
        <p:grpSpPr>
          <a:xfrm>
            <a:off x="7942184" y="5212331"/>
            <a:ext cx="720313" cy="139795"/>
            <a:chOff x="2606714" y="2858424"/>
            <a:chExt cx="720313" cy="642351"/>
          </a:xfrm>
          <a:solidFill>
            <a:schemeClr val="bg2">
              <a:lumMod val="20000"/>
              <a:lumOff val="80000"/>
            </a:schemeClr>
          </a:solidFill>
        </p:grpSpPr>
        <p:sp>
          <p:nvSpPr>
            <p:cNvPr id="658" name="Rectangle 657">
              <a:extLst>
                <a:ext uri="{FF2B5EF4-FFF2-40B4-BE49-F238E27FC236}">
                  <a16:creationId xmlns:a16="http://schemas.microsoft.com/office/drawing/2014/main" id="{155BEF64-C573-1DBD-CBC6-061B51E54C12}"/>
                </a:ext>
              </a:extLst>
            </p:cNvPr>
            <p:cNvSpPr/>
            <p:nvPr/>
          </p:nvSpPr>
          <p:spPr>
            <a:xfrm>
              <a:off x="2606714" y="2858424"/>
              <a:ext cx="239831" cy="642351"/>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59" name="Rectangle 658">
              <a:extLst>
                <a:ext uri="{FF2B5EF4-FFF2-40B4-BE49-F238E27FC236}">
                  <a16:creationId xmlns:a16="http://schemas.microsoft.com/office/drawing/2014/main" id="{61EA6F15-55AB-3D69-461B-8867003F0460}"/>
                </a:ext>
              </a:extLst>
            </p:cNvPr>
            <p:cNvSpPr/>
            <p:nvPr/>
          </p:nvSpPr>
          <p:spPr>
            <a:xfrm>
              <a:off x="2846545" y="2858424"/>
              <a:ext cx="239831" cy="642351"/>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60" name="Rectangle 659">
              <a:extLst>
                <a:ext uri="{FF2B5EF4-FFF2-40B4-BE49-F238E27FC236}">
                  <a16:creationId xmlns:a16="http://schemas.microsoft.com/office/drawing/2014/main" id="{FCF0638B-ABBA-CC24-5066-DB48048B8E35}"/>
                </a:ext>
              </a:extLst>
            </p:cNvPr>
            <p:cNvSpPr/>
            <p:nvPr/>
          </p:nvSpPr>
          <p:spPr>
            <a:xfrm>
              <a:off x="3087196" y="2858424"/>
              <a:ext cx="239831" cy="642351"/>
            </a:xfrm>
            <a:prstGeom prst="rect">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53" name="Group 652">
            <a:extLst>
              <a:ext uri="{FF2B5EF4-FFF2-40B4-BE49-F238E27FC236}">
                <a16:creationId xmlns:a16="http://schemas.microsoft.com/office/drawing/2014/main" id="{66DA85DC-BBB2-CF76-96F7-7BDF736EAF0F}"/>
              </a:ext>
            </a:extLst>
          </p:cNvPr>
          <p:cNvGrpSpPr/>
          <p:nvPr/>
        </p:nvGrpSpPr>
        <p:grpSpPr>
          <a:xfrm>
            <a:off x="6575362" y="5212331"/>
            <a:ext cx="720313" cy="139795"/>
            <a:chOff x="2606714" y="2858424"/>
            <a:chExt cx="720313" cy="642351"/>
          </a:xfrm>
          <a:solidFill>
            <a:schemeClr val="bg2">
              <a:lumMod val="20000"/>
              <a:lumOff val="80000"/>
            </a:schemeClr>
          </a:solidFill>
        </p:grpSpPr>
        <p:sp>
          <p:nvSpPr>
            <p:cNvPr id="654" name="Rectangle 653">
              <a:extLst>
                <a:ext uri="{FF2B5EF4-FFF2-40B4-BE49-F238E27FC236}">
                  <a16:creationId xmlns:a16="http://schemas.microsoft.com/office/drawing/2014/main" id="{6979E0BF-AD5F-ECD6-1287-45F9B6E53A1D}"/>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55" name="Rectangle 654">
              <a:extLst>
                <a:ext uri="{FF2B5EF4-FFF2-40B4-BE49-F238E27FC236}">
                  <a16:creationId xmlns:a16="http://schemas.microsoft.com/office/drawing/2014/main" id="{D58B6BA3-FD86-902B-4440-EF15F75C6F92}"/>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56" name="Rectangle 655">
              <a:extLst>
                <a:ext uri="{FF2B5EF4-FFF2-40B4-BE49-F238E27FC236}">
                  <a16:creationId xmlns:a16="http://schemas.microsoft.com/office/drawing/2014/main" id="{B81F3A55-641C-8DCA-48AA-4E890E42E915}"/>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859" name="Group 858">
            <a:extLst>
              <a:ext uri="{FF2B5EF4-FFF2-40B4-BE49-F238E27FC236}">
                <a16:creationId xmlns:a16="http://schemas.microsoft.com/office/drawing/2014/main" id="{EBF5C980-FB55-47A3-20C8-04FB86F59BD8}"/>
              </a:ext>
            </a:extLst>
          </p:cNvPr>
          <p:cNvGrpSpPr/>
          <p:nvPr/>
        </p:nvGrpSpPr>
        <p:grpSpPr>
          <a:xfrm>
            <a:off x="9309006" y="5212331"/>
            <a:ext cx="720313" cy="139795"/>
            <a:chOff x="2606714" y="2858424"/>
            <a:chExt cx="720313" cy="642351"/>
          </a:xfrm>
          <a:solidFill>
            <a:srgbClr val="92D050"/>
          </a:solidFill>
        </p:grpSpPr>
        <p:sp>
          <p:nvSpPr>
            <p:cNvPr id="860" name="Rectangle 859">
              <a:extLst>
                <a:ext uri="{FF2B5EF4-FFF2-40B4-BE49-F238E27FC236}">
                  <a16:creationId xmlns:a16="http://schemas.microsoft.com/office/drawing/2014/main" id="{8E217954-E0AD-37DA-C2CF-535C6C4A365D}"/>
                </a:ext>
              </a:extLst>
            </p:cNvPr>
            <p:cNvSpPr/>
            <p:nvPr/>
          </p:nvSpPr>
          <p:spPr>
            <a:xfrm>
              <a:off x="2606714"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61" name="Rectangle 860">
              <a:extLst>
                <a:ext uri="{FF2B5EF4-FFF2-40B4-BE49-F238E27FC236}">
                  <a16:creationId xmlns:a16="http://schemas.microsoft.com/office/drawing/2014/main" id="{BFA59933-A023-409C-47C1-D26EE0580BE9}"/>
                </a:ext>
              </a:extLst>
            </p:cNvPr>
            <p:cNvSpPr/>
            <p:nvPr/>
          </p:nvSpPr>
          <p:spPr>
            <a:xfrm>
              <a:off x="2846545"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62" name="Rectangle 861">
              <a:extLst>
                <a:ext uri="{FF2B5EF4-FFF2-40B4-BE49-F238E27FC236}">
                  <a16:creationId xmlns:a16="http://schemas.microsoft.com/office/drawing/2014/main" id="{72E7BF22-812B-99CD-E7BE-D934DBF053F0}"/>
                </a:ext>
              </a:extLst>
            </p:cNvPr>
            <p:cNvSpPr/>
            <p:nvPr/>
          </p:nvSpPr>
          <p:spPr>
            <a:xfrm>
              <a:off x="3087196"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17" name="Group 616">
            <a:extLst>
              <a:ext uri="{FF2B5EF4-FFF2-40B4-BE49-F238E27FC236}">
                <a16:creationId xmlns:a16="http://schemas.microsoft.com/office/drawing/2014/main" id="{FEB7339D-81EC-2486-41A0-5025867F23E8}"/>
              </a:ext>
            </a:extLst>
          </p:cNvPr>
          <p:cNvGrpSpPr/>
          <p:nvPr/>
        </p:nvGrpSpPr>
        <p:grpSpPr>
          <a:xfrm>
            <a:off x="5202510" y="3766552"/>
            <a:ext cx="720313" cy="139795"/>
            <a:chOff x="2606714" y="2858424"/>
            <a:chExt cx="720313" cy="642351"/>
          </a:xfrm>
          <a:solidFill>
            <a:schemeClr val="bg2">
              <a:lumMod val="20000"/>
              <a:lumOff val="80000"/>
            </a:schemeClr>
          </a:solidFill>
        </p:grpSpPr>
        <p:sp>
          <p:nvSpPr>
            <p:cNvPr id="618" name="Rectangle 617">
              <a:extLst>
                <a:ext uri="{FF2B5EF4-FFF2-40B4-BE49-F238E27FC236}">
                  <a16:creationId xmlns:a16="http://schemas.microsoft.com/office/drawing/2014/main" id="{B8551BE5-1788-72D6-46B7-B6BF1F64DAEE}"/>
                </a:ext>
              </a:extLst>
            </p:cNvPr>
            <p:cNvSpPr/>
            <p:nvPr/>
          </p:nvSpPr>
          <p:spPr>
            <a:xfrm>
              <a:off x="2606714" y="2858424"/>
              <a:ext cx="239831" cy="642351"/>
            </a:xfrm>
            <a:prstGeom prst="rect">
              <a:avLst/>
            </a:prstGeom>
            <a:solidFill>
              <a:srgbClr val="E1111A"/>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19" name="Rectangle 618">
              <a:extLst>
                <a:ext uri="{FF2B5EF4-FFF2-40B4-BE49-F238E27FC236}">
                  <a16:creationId xmlns:a16="http://schemas.microsoft.com/office/drawing/2014/main" id="{61683F42-7D94-41C6-E125-A4CE348EC650}"/>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20" name="Rectangle 619">
              <a:extLst>
                <a:ext uri="{FF2B5EF4-FFF2-40B4-BE49-F238E27FC236}">
                  <a16:creationId xmlns:a16="http://schemas.microsoft.com/office/drawing/2014/main" id="{5531C29C-C503-3CA4-72A3-1E4F3B293194}"/>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25" name="Group 624">
            <a:extLst>
              <a:ext uri="{FF2B5EF4-FFF2-40B4-BE49-F238E27FC236}">
                <a16:creationId xmlns:a16="http://schemas.microsoft.com/office/drawing/2014/main" id="{7D2BFCA0-E236-98F3-C9C5-E898F0BC4D94}"/>
              </a:ext>
            </a:extLst>
          </p:cNvPr>
          <p:cNvGrpSpPr/>
          <p:nvPr/>
        </p:nvGrpSpPr>
        <p:grpSpPr>
          <a:xfrm>
            <a:off x="7942184" y="3766552"/>
            <a:ext cx="720313" cy="139795"/>
            <a:chOff x="2606714" y="2858424"/>
            <a:chExt cx="720313" cy="642351"/>
          </a:xfrm>
          <a:solidFill>
            <a:schemeClr val="bg2">
              <a:lumMod val="20000"/>
              <a:lumOff val="80000"/>
            </a:schemeClr>
          </a:solidFill>
        </p:grpSpPr>
        <p:sp>
          <p:nvSpPr>
            <p:cNvPr id="626" name="Rectangle 625">
              <a:extLst>
                <a:ext uri="{FF2B5EF4-FFF2-40B4-BE49-F238E27FC236}">
                  <a16:creationId xmlns:a16="http://schemas.microsoft.com/office/drawing/2014/main" id="{1125264C-6981-EF40-D4BC-7F245BE7EBAD}"/>
                </a:ext>
              </a:extLst>
            </p:cNvPr>
            <p:cNvSpPr/>
            <p:nvPr/>
          </p:nvSpPr>
          <p:spPr>
            <a:xfrm>
              <a:off x="2606714" y="2858424"/>
              <a:ext cx="239831" cy="642351"/>
            </a:xfrm>
            <a:prstGeom prst="rect">
              <a:avLst/>
            </a:prstGeom>
            <a:solidFill>
              <a:srgbClr val="E1111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27" name="Rectangle 626">
              <a:extLst>
                <a:ext uri="{FF2B5EF4-FFF2-40B4-BE49-F238E27FC236}">
                  <a16:creationId xmlns:a16="http://schemas.microsoft.com/office/drawing/2014/main" id="{A46B83C3-CCC1-C4DC-344A-73AFEBDB4369}"/>
                </a:ext>
              </a:extLst>
            </p:cNvPr>
            <p:cNvSpPr/>
            <p:nvPr/>
          </p:nvSpPr>
          <p:spPr>
            <a:xfrm>
              <a:off x="2846545" y="2858424"/>
              <a:ext cx="239831" cy="642351"/>
            </a:xfrm>
            <a:prstGeom prst="rect">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28" name="Rectangle 627">
              <a:extLst>
                <a:ext uri="{FF2B5EF4-FFF2-40B4-BE49-F238E27FC236}">
                  <a16:creationId xmlns:a16="http://schemas.microsoft.com/office/drawing/2014/main" id="{DF293716-F985-BE96-7C96-A9402DF953E0}"/>
                </a:ext>
              </a:extLst>
            </p:cNvPr>
            <p:cNvSpPr/>
            <p:nvPr/>
          </p:nvSpPr>
          <p:spPr>
            <a:xfrm>
              <a:off x="3087196" y="2858424"/>
              <a:ext cx="239831" cy="642351"/>
            </a:xfrm>
            <a:prstGeom prst="rect">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37" name="Group 636">
            <a:extLst>
              <a:ext uri="{FF2B5EF4-FFF2-40B4-BE49-F238E27FC236}">
                <a16:creationId xmlns:a16="http://schemas.microsoft.com/office/drawing/2014/main" id="{2B0829ED-1BCD-EA08-5F34-01FDA305CD69}"/>
              </a:ext>
            </a:extLst>
          </p:cNvPr>
          <p:cNvGrpSpPr/>
          <p:nvPr/>
        </p:nvGrpSpPr>
        <p:grpSpPr>
          <a:xfrm>
            <a:off x="10675826" y="3766552"/>
            <a:ext cx="720313" cy="139795"/>
            <a:chOff x="2606714" y="2858424"/>
            <a:chExt cx="720313" cy="642351"/>
          </a:xfrm>
          <a:solidFill>
            <a:srgbClr val="00A467"/>
          </a:solidFill>
        </p:grpSpPr>
        <p:sp>
          <p:nvSpPr>
            <p:cNvPr id="638" name="Rectangle 637">
              <a:extLst>
                <a:ext uri="{FF2B5EF4-FFF2-40B4-BE49-F238E27FC236}">
                  <a16:creationId xmlns:a16="http://schemas.microsoft.com/office/drawing/2014/main" id="{21868B9A-4358-EE14-850C-C2E3E8ED4592}"/>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39" name="Rectangle 638">
              <a:extLst>
                <a:ext uri="{FF2B5EF4-FFF2-40B4-BE49-F238E27FC236}">
                  <a16:creationId xmlns:a16="http://schemas.microsoft.com/office/drawing/2014/main" id="{5A3E0B4A-CBDA-7C63-A3FF-A98D00E1E5E9}"/>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40" name="Rectangle 639">
              <a:extLst>
                <a:ext uri="{FF2B5EF4-FFF2-40B4-BE49-F238E27FC236}">
                  <a16:creationId xmlns:a16="http://schemas.microsoft.com/office/drawing/2014/main" id="{BB143AB4-2C01-44FB-7433-584D069BE5A3}"/>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846" name="Group 845">
            <a:extLst>
              <a:ext uri="{FF2B5EF4-FFF2-40B4-BE49-F238E27FC236}">
                <a16:creationId xmlns:a16="http://schemas.microsoft.com/office/drawing/2014/main" id="{96EE983F-55CE-A770-F3DF-4013902E035E}"/>
              </a:ext>
            </a:extLst>
          </p:cNvPr>
          <p:cNvGrpSpPr/>
          <p:nvPr/>
        </p:nvGrpSpPr>
        <p:grpSpPr>
          <a:xfrm>
            <a:off x="6575362" y="3766552"/>
            <a:ext cx="720313" cy="139795"/>
            <a:chOff x="2606714" y="2858424"/>
            <a:chExt cx="720313" cy="642351"/>
          </a:xfrm>
        </p:grpSpPr>
        <p:sp>
          <p:nvSpPr>
            <p:cNvPr id="847" name="Rectangle 846">
              <a:extLst>
                <a:ext uri="{FF2B5EF4-FFF2-40B4-BE49-F238E27FC236}">
                  <a16:creationId xmlns:a16="http://schemas.microsoft.com/office/drawing/2014/main" id="{109C146E-560B-1380-4DAD-0BFE89A0849F}"/>
                </a:ext>
              </a:extLst>
            </p:cNvPr>
            <p:cNvSpPr/>
            <p:nvPr/>
          </p:nvSpPr>
          <p:spPr>
            <a:xfrm>
              <a:off x="2606714" y="2858424"/>
              <a:ext cx="239831" cy="642351"/>
            </a:xfrm>
            <a:prstGeom prst="rect">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48" name="Rectangle 847">
              <a:extLst>
                <a:ext uri="{FF2B5EF4-FFF2-40B4-BE49-F238E27FC236}">
                  <a16:creationId xmlns:a16="http://schemas.microsoft.com/office/drawing/2014/main" id="{22A7705D-ADC9-D48F-1BB9-723E13F5E6C3}"/>
                </a:ext>
              </a:extLst>
            </p:cNvPr>
            <p:cNvSpPr/>
            <p:nvPr/>
          </p:nvSpPr>
          <p:spPr>
            <a:xfrm>
              <a:off x="2846545"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49" name="Rectangle 848">
              <a:extLst>
                <a:ext uri="{FF2B5EF4-FFF2-40B4-BE49-F238E27FC236}">
                  <a16:creationId xmlns:a16="http://schemas.microsoft.com/office/drawing/2014/main" id="{5ED7FCF3-48EA-3D23-5E22-0D4956B9C220}"/>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864" name="Group 863">
            <a:extLst>
              <a:ext uri="{FF2B5EF4-FFF2-40B4-BE49-F238E27FC236}">
                <a16:creationId xmlns:a16="http://schemas.microsoft.com/office/drawing/2014/main" id="{F9520F72-3FDF-B3B8-F7A3-6FCA9AEB53D8}"/>
              </a:ext>
            </a:extLst>
          </p:cNvPr>
          <p:cNvGrpSpPr/>
          <p:nvPr/>
        </p:nvGrpSpPr>
        <p:grpSpPr>
          <a:xfrm>
            <a:off x="9309006" y="3766552"/>
            <a:ext cx="720313" cy="139795"/>
            <a:chOff x="2606714" y="2858424"/>
            <a:chExt cx="720313" cy="642351"/>
          </a:xfrm>
          <a:solidFill>
            <a:srgbClr val="92D050"/>
          </a:solidFill>
        </p:grpSpPr>
        <p:sp>
          <p:nvSpPr>
            <p:cNvPr id="865" name="Rectangle 864">
              <a:extLst>
                <a:ext uri="{FF2B5EF4-FFF2-40B4-BE49-F238E27FC236}">
                  <a16:creationId xmlns:a16="http://schemas.microsoft.com/office/drawing/2014/main" id="{53FE9264-4597-F575-D0C8-66EC133592AE}"/>
                </a:ext>
              </a:extLst>
            </p:cNvPr>
            <p:cNvSpPr/>
            <p:nvPr/>
          </p:nvSpPr>
          <p:spPr>
            <a:xfrm>
              <a:off x="2606714"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66" name="Rectangle 865">
              <a:extLst>
                <a:ext uri="{FF2B5EF4-FFF2-40B4-BE49-F238E27FC236}">
                  <a16:creationId xmlns:a16="http://schemas.microsoft.com/office/drawing/2014/main" id="{CDBF395C-6142-FDF1-4112-29389A0A2CC8}"/>
                </a:ext>
              </a:extLst>
            </p:cNvPr>
            <p:cNvSpPr/>
            <p:nvPr/>
          </p:nvSpPr>
          <p:spPr>
            <a:xfrm>
              <a:off x="2846545"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67" name="Rectangle 866">
              <a:extLst>
                <a:ext uri="{FF2B5EF4-FFF2-40B4-BE49-F238E27FC236}">
                  <a16:creationId xmlns:a16="http://schemas.microsoft.com/office/drawing/2014/main" id="{617F1FBD-D823-6964-067C-CA586CA313D7}"/>
                </a:ext>
              </a:extLst>
            </p:cNvPr>
            <p:cNvSpPr/>
            <p:nvPr/>
          </p:nvSpPr>
          <p:spPr>
            <a:xfrm>
              <a:off x="3087196" y="2858424"/>
              <a:ext cx="239831" cy="642351"/>
            </a:xfrm>
            <a:prstGeom prst="rect">
              <a:avLst/>
            </a:prstGeom>
            <a:solidFill>
              <a:srgbClr val="00A467"/>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68" name="Rectangle 867">
              <a:extLst>
                <a:ext uri="{FF2B5EF4-FFF2-40B4-BE49-F238E27FC236}">
                  <a16:creationId xmlns:a16="http://schemas.microsoft.com/office/drawing/2014/main" id="{FC2AC568-E9BC-6D79-F075-560890D3696B}"/>
                </a:ext>
              </a:extLst>
            </p:cNvPr>
            <p:cNvSpPr/>
            <p:nvPr/>
          </p:nvSpPr>
          <p:spPr>
            <a:xfrm>
              <a:off x="3213718" y="2858424"/>
              <a:ext cx="113309"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18" name="Rectangle 17">
            <a:extLst>
              <a:ext uri="{FF2B5EF4-FFF2-40B4-BE49-F238E27FC236}">
                <a16:creationId xmlns:a16="http://schemas.microsoft.com/office/drawing/2014/main" id="{4C042962-6EE9-E472-58CE-1C653A7749B5}"/>
              </a:ext>
            </a:extLst>
          </p:cNvPr>
          <p:cNvSpPr/>
          <p:nvPr/>
        </p:nvSpPr>
        <p:spPr>
          <a:xfrm>
            <a:off x="639902" y="2125240"/>
            <a:ext cx="1406402" cy="5308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000000"/>
                </a:solidFill>
                <a:effectLst/>
                <a:uLnTx/>
                <a:uFillTx/>
                <a:latin typeface="Scotia"/>
                <a:ea typeface="+mn-ea"/>
                <a:cs typeface="+mn-cs"/>
              </a:rPr>
              <a:t>Key Value Proposition</a:t>
            </a:r>
            <a:endParaRPr kumimoji="0" lang="en-CA" sz="1000" b="0" i="0" u="none" strike="noStrike" kern="1200" cap="none" spc="300" normalizeH="0" baseline="0" noProof="0">
              <a:ln>
                <a:noFill/>
              </a:ln>
              <a:solidFill>
                <a:srgbClr val="000000"/>
              </a:solidFill>
              <a:effectLst/>
              <a:uLnTx/>
              <a:uFillTx/>
              <a:latin typeface="Scotia"/>
              <a:ea typeface="+mn-ea"/>
              <a:cs typeface="+mn-cs"/>
            </a:endParaRPr>
          </a:p>
        </p:txBody>
      </p:sp>
      <p:sp>
        <p:nvSpPr>
          <p:cNvPr id="24" name="TextBox 23">
            <a:extLst>
              <a:ext uri="{FF2B5EF4-FFF2-40B4-BE49-F238E27FC236}">
                <a16:creationId xmlns:a16="http://schemas.microsoft.com/office/drawing/2014/main" id="{35B6CD94-E0F5-6BB8-D907-9C475ACEDDAD}"/>
              </a:ext>
            </a:extLst>
          </p:cNvPr>
          <p:cNvSpPr txBox="1"/>
          <p:nvPr/>
        </p:nvSpPr>
        <p:spPr>
          <a:xfrm>
            <a:off x="2210984" y="2159841"/>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Advanced platforms; banking integration; fractional shares</a:t>
            </a:r>
          </a:p>
        </p:txBody>
      </p:sp>
      <p:sp>
        <p:nvSpPr>
          <p:cNvPr id="25" name="TextBox 24">
            <a:extLst>
              <a:ext uri="{FF2B5EF4-FFF2-40B4-BE49-F238E27FC236}">
                <a16:creationId xmlns:a16="http://schemas.microsoft.com/office/drawing/2014/main" id="{1474D077-8FC0-537A-12D9-D525DAFCC90B}"/>
              </a:ext>
            </a:extLst>
          </p:cNvPr>
          <p:cNvSpPr txBox="1"/>
          <p:nvPr/>
        </p:nvSpPr>
        <p:spPr>
          <a:xfrm>
            <a:off x="3576839" y="2159841"/>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Integrated application, portfolio dashboards</a:t>
            </a:r>
          </a:p>
        </p:txBody>
      </p:sp>
      <p:sp>
        <p:nvSpPr>
          <p:cNvPr id="26" name="TextBox 25">
            <a:extLst>
              <a:ext uri="{FF2B5EF4-FFF2-40B4-BE49-F238E27FC236}">
                <a16:creationId xmlns:a16="http://schemas.microsoft.com/office/drawing/2014/main" id="{35A4793D-AB7C-18CA-5BC1-31CFB102DF19}"/>
              </a:ext>
            </a:extLst>
          </p:cNvPr>
          <p:cNvSpPr txBox="1"/>
          <p:nvPr/>
        </p:nvSpPr>
        <p:spPr>
          <a:xfrm>
            <a:off x="4942694" y="2159841"/>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~110 commission free ETFs, OLB with advice offering</a:t>
            </a:r>
          </a:p>
        </p:txBody>
      </p:sp>
      <p:sp>
        <p:nvSpPr>
          <p:cNvPr id="27" name="TextBox 26">
            <a:extLst>
              <a:ext uri="{FF2B5EF4-FFF2-40B4-BE49-F238E27FC236}">
                <a16:creationId xmlns:a16="http://schemas.microsoft.com/office/drawing/2014/main" id="{7208A4D1-B064-CBCD-8F65-3A70775F14F4}"/>
              </a:ext>
            </a:extLst>
          </p:cNvPr>
          <p:cNvSpPr txBox="1"/>
          <p:nvPr/>
        </p:nvSpPr>
        <p:spPr>
          <a:xfrm>
            <a:off x="6308549" y="2159841"/>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Strong research library; lowest fees among Big-Five</a:t>
            </a:r>
          </a:p>
        </p:txBody>
      </p:sp>
      <p:sp>
        <p:nvSpPr>
          <p:cNvPr id="28" name="TextBox 27">
            <a:extLst>
              <a:ext uri="{FF2B5EF4-FFF2-40B4-BE49-F238E27FC236}">
                <a16:creationId xmlns:a16="http://schemas.microsoft.com/office/drawing/2014/main" id="{5429C378-1006-9CCF-8D21-BFE1B8A65084}"/>
              </a:ext>
            </a:extLst>
          </p:cNvPr>
          <p:cNvSpPr txBox="1"/>
          <p:nvPr/>
        </p:nvSpPr>
        <p:spPr>
          <a:xfrm>
            <a:off x="7674404" y="2159842"/>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Strong research library; 120+ commission free ETFs</a:t>
            </a:r>
          </a:p>
        </p:txBody>
      </p:sp>
      <p:sp>
        <p:nvSpPr>
          <p:cNvPr id="29" name="TextBox 28">
            <a:extLst>
              <a:ext uri="{FF2B5EF4-FFF2-40B4-BE49-F238E27FC236}">
                <a16:creationId xmlns:a16="http://schemas.microsoft.com/office/drawing/2014/main" id="{CB4389B3-B303-4710-6AEC-71C34368EE9D}"/>
              </a:ext>
            </a:extLst>
          </p:cNvPr>
          <p:cNvSpPr txBox="1"/>
          <p:nvPr/>
        </p:nvSpPr>
        <p:spPr>
          <a:xfrm>
            <a:off x="9040259" y="2236785"/>
            <a:ext cx="1259741" cy="307777"/>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Advanced platforms with free trading; </a:t>
            </a:r>
          </a:p>
        </p:txBody>
      </p:sp>
      <p:sp>
        <p:nvSpPr>
          <p:cNvPr id="31" name="TextBox 30">
            <a:extLst>
              <a:ext uri="{FF2B5EF4-FFF2-40B4-BE49-F238E27FC236}">
                <a16:creationId xmlns:a16="http://schemas.microsoft.com/office/drawing/2014/main" id="{1BDAFF02-B72D-BD6C-F225-1E1F9AAB20C8}"/>
              </a:ext>
            </a:extLst>
          </p:cNvPr>
          <p:cNvSpPr txBox="1"/>
          <p:nvPr/>
        </p:nvSpPr>
        <p:spPr>
          <a:xfrm>
            <a:off x="10406112" y="2159841"/>
            <a:ext cx="1259741" cy="461665"/>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Free, simple &amp; easy; fractional shares; crypto</a:t>
            </a:r>
          </a:p>
        </p:txBody>
      </p:sp>
      <p:sp>
        <p:nvSpPr>
          <p:cNvPr id="9" name="TextBox 8">
            <a:extLst>
              <a:ext uri="{FF2B5EF4-FFF2-40B4-BE49-F238E27FC236}">
                <a16:creationId xmlns:a16="http://schemas.microsoft.com/office/drawing/2014/main" id="{655938EE-C8BF-B9E4-70A6-B4EF898CA5C3}"/>
              </a:ext>
            </a:extLst>
          </p:cNvPr>
          <p:cNvSpPr txBox="1"/>
          <p:nvPr/>
        </p:nvSpPr>
        <p:spPr>
          <a:xfrm>
            <a:off x="2367623" y="3199464"/>
            <a:ext cx="946462"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($9.99 /trade)</a:t>
            </a:r>
            <a:r>
              <a:rPr kumimoji="0" lang="en-CA" sz="800" b="0" i="0" u="none" strike="noStrike" kern="1200" cap="none" spc="0" normalizeH="0" baseline="30000" noProof="0">
                <a:ln>
                  <a:noFill/>
                </a:ln>
                <a:solidFill>
                  <a:srgbClr val="FFFFFF">
                    <a:lumMod val="65000"/>
                  </a:srgbClr>
                </a:solidFill>
                <a:effectLst/>
                <a:uLnTx/>
                <a:uFillTx/>
                <a:latin typeface="Scotia"/>
                <a:ea typeface="+mn-ea"/>
                <a:cs typeface="+mn-cs"/>
              </a:rPr>
              <a:t>1</a:t>
            </a:r>
          </a:p>
        </p:txBody>
      </p:sp>
      <p:grpSp>
        <p:nvGrpSpPr>
          <p:cNvPr id="673" name="Group 672">
            <a:extLst>
              <a:ext uri="{FF2B5EF4-FFF2-40B4-BE49-F238E27FC236}">
                <a16:creationId xmlns:a16="http://schemas.microsoft.com/office/drawing/2014/main" id="{EAC6E7E3-EA42-8AF7-252E-160CD164A353}"/>
              </a:ext>
            </a:extLst>
          </p:cNvPr>
          <p:cNvGrpSpPr/>
          <p:nvPr/>
        </p:nvGrpSpPr>
        <p:grpSpPr>
          <a:xfrm>
            <a:off x="2474896" y="4489440"/>
            <a:ext cx="720313" cy="139795"/>
            <a:chOff x="2606714" y="2858424"/>
            <a:chExt cx="720313" cy="642351"/>
          </a:xfrm>
          <a:solidFill>
            <a:srgbClr val="00A467"/>
          </a:solidFill>
        </p:grpSpPr>
        <p:sp>
          <p:nvSpPr>
            <p:cNvPr id="674" name="Rectangle 673">
              <a:extLst>
                <a:ext uri="{FF2B5EF4-FFF2-40B4-BE49-F238E27FC236}">
                  <a16:creationId xmlns:a16="http://schemas.microsoft.com/office/drawing/2014/main" id="{6C713D67-A45D-BD95-9771-13F69DD87F39}"/>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75" name="Rectangle 674">
              <a:extLst>
                <a:ext uri="{FF2B5EF4-FFF2-40B4-BE49-F238E27FC236}">
                  <a16:creationId xmlns:a16="http://schemas.microsoft.com/office/drawing/2014/main" id="{BD2B0403-93AD-4249-59C3-80B6B241401B}"/>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76" name="Rectangle 675">
              <a:extLst>
                <a:ext uri="{FF2B5EF4-FFF2-40B4-BE49-F238E27FC236}">
                  <a16:creationId xmlns:a16="http://schemas.microsoft.com/office/drawing/2014/main" id="{7CCEF2CB-9005-FB1D-8EB2-FDEF4492C77B}"/>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77" name="Group 676">
            <a:extLst>
              <a:ext uri="{FF2B5EF4-FFF2-40B4-BE49-F238E27FC236}">
                <a16:creationId xmlns:a16="http://schemas.microsoft.com/office/drawing/2014/main" id="{77B60194-9B7F-F789-CCB1-38484394A241}"/>
              </a:ext>
            </a:extLst>
          </p:cNvPr>
          <p:cNvGrpSpPr/>
          <p:nvPr/>
        </p:nvGrpSpPr>
        <p:grpSpPr>
          <a:xfrm>
            <a:off x="3841718" y="4489440"/>
            <a:ext cx="720313" cy="139795"/>
            <a:chOff x="2606714" y="2858424"/>
            <a:chExt cx="720313" cy="642351"/>
          </a:xfrm>
          <a:solidFill>
            <a:schemeClr val="bg1">
              <a:lumMod val="75000"/>
            </a:schemeClr>
          </a:solidFill>
        </p:grpSpPr>
        <p:sp>
          <p:nvSpPr>
            <p:cNvPr id="678" name="Rectangle 677">
              <a:extLst>
                <a:ext uri="{FF2B5EF4-FFF2-40B4-BE49-F238E27FC236}">
                  <a16:creationId xmlns:a16="http://schemas.microsoft.com/office/drawing/2014/main" id="{A28B7614-1239-C7D7-E87F-6C47E8373993}"/>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79" name="Rectangle 678">
              <a:extLst>
                <a:ext uri="{FF2B5EF4-FFF2-40B4-BE49-F238E27FC236}">
                  <a16:creationId xmlns:a16="http://schemas.microsoft.com/office/drawing/2014/main" id="{C3676B01-0815-724F-C052-224D2B8E59D1}"/>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80" name="Rectangle 679">
              <a:extLst>
                <a:ext uri="{FF2B5EF4-FFF2-40B4-BE49-F238E27FC236}">
                  <a16:creationId xmlns:a16="http://schemas.microsoft.com/office/drawing/2014/main" id="{97861E7A-4E63-C06F-1113-89B61031FB69}"/>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757" name="Group 756">
            <a:extLst>
              <a:ext uri="{FF2B5EF4-FFF2-40B4-BE49-F238E27FC236}">
                <a16:creationId xmlns:a16="http://schemas.microsoft.com/office/drawing/2014/main" id="{0DACF07B-00CF-0219-95CF-EBFB7C1CCA69}"/>
              </a:ext>
            </a:extLst>
          </p:cNvPr>
          <p:cNvGrpSpPr/>
          <p:nvPr/>
        </p:nvGrpSpPr>
        <p:grpSpPr>
          <a:xfrm>
            <a:off x="5202510" y="4489440"/>
            <a:ext cx="720313" cy="139795"/>
            <a:chOff x="2606714" y="2858424"/>
            <a:chExt cx="720313" cy="642351"/>
          </a:xfrm>
          <a:solidFill>
            <a:schemeClr val="bg1">
              <a:lumMod val="75000"/>
            </a:schemeClr>
          </a:solidFill>
        </p:grpSpPr>
        <p:sp>
          <p:nvSpPr>
            <p:cNvPr id="758" name="Rectangle 757">
              <a:extLst>
                <a:ext uri="{FF2B5EF4-FFF2-40B4-BE49-F238E27FC236}">
                  <a16:creationId xmlns:a16="http://schemas.microsoft.com/office/drawing/2014/main" id="{64E0F873-918C-441D-A420-7BF4DA830C01}"/>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59" name="Rectangle 758">
              <a:extLst>
                <a:ext uri="{FF2B5EF4-FFF2-40B4-BE49-F238E27FC236}">
                  <a16:creationId xmlns:a16="http://schemas.microsoft.com/office/drawing/2014/main" id="{E21A5DDC-896E-A8EC-89C3-EB0DF8337086}"/>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60" name="Rectangle 759">
              <a:extLst>
                <a:ext uri="{FF2B5EF4-FFF2-40B4-BE49-F238E27FC236}">
                  <a16:creationId xmlns:a16="http://schemas.microsoft.com/office/drawing/2014/main" id="{A10C1E67-FE21-343F-1150-6783B3CDDBA7}"/>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89" name="Group 688">
            <a:extLst>
              <a:ext uri="{FF2B5EF4-FFF2-40B4-BE49-F238E27FC236}">
                <a16:creationId xmlns:a16="http://schemas.microsoft.com/office/drawing/2014/main" id="{4C1EB2D9-52FE-96E8-1A4B-6E8C447FE2E3}"/>
              </a:ext>
            </a:extLst>
          </p:cNvPr>
          <p:cNvGrpSpPr/>
          <p:nvPr/>
        </p:nvGrpSpPr>
        <p:grpSpPr>
          <a:xfrm>
            <a:off x="7942184" y="4489440"/>
            <a:ext cx="720313" cy="139795"/>
            <a:chOff x="2606714" y="2858424"/>
            <a:chExt cx="720313" cy="642351"/>
          </a:xfrm>
          <a:solidFill>
            <a:schemeClr val="bg1"/>
          </a:solidFill>
        </p:grpSpPr>
        <p:sp>
          <p:nvSpPr>
            <p:cNvPr id="690" name="Rectangle 689">
              <a:extLst>
                <a:ext uri="{FF2B5EF4-FFF2-40B4-BE49-F238E27FC236}">
                  <a16:creationId xmlns:a16="http://schemas.microsoft.com/office/drawing/2014/main" id="{46CBD361-B404-C99C-49B2-863BC2601875}"/>
                </a:ext>
              </a:extLst>
            </p:cNvPr>
            <p:cNvSpPr/>
            <p:nvPr/>
          </p:nvSpPr>
          <p:spPr>
            <a:xfrm>
              <a:off x="2606714" y="2858424"/>
              <a:ext cx="239831" cy="642351"/>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91" name="Rectangle 690">
              <a:extLst>
                <a:ext uri="{FF2B5EF4-FFF2-40B4-BE49-F238E27FC236}">
                  <a16:creationId xmlns:a16="http://schemas.microsoft.com/office/drawing/2014/main" id="{46440B8D-7340-7775-092A-C62656EC90A9}"/>
                </a:ext>
              </a:extLst>
            </p:cNvPr>
            <p:cNvSpPr/>
            <p:nvPr/>
          </p:nvSpPr>
          <p:spPr>
            <a:xfrm>
              <a:off x="2846545" y="2858424"/>
              <a:ext cx="239831" cy="642351"/>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92" name="Rectangle 691">
              <a:extLst>
                <a:ext uri="{FF2B5EF4-FFF2-40B4-BE49-F238E27FC236}">
                  <a16:creationId xmlns:a16="http://schemas.microsoft.com/office/drawing/2014/main" id="{D5E4C302-4C8C-BDD8-8FBE-9000CD6B648C}"/>
                </a:ext>
              </a:extLst>
            </p:cNvPr>
            <p:cNvSpPr/>
            <p:nvPr/>
          </p:nvSpPr>
          <p:spPr>
            <a:xfrm>
              <a:off x="3087196" y="2858424"/>
              <a:ext cx="239831" cy="642351"/>
            </a:xfrm>
            <a:prstGeom prst="rect">
              <a:avLst/>
            </a:prstGeom>
            <a:solidFill>
              <a:schemeClr val="bg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761" name="Group 760">
            <a:extLst>
              <a:ext uri="{FF2B5EF4-FFF2-40B4-BE49-F238E27FC236}">
                <a16:creationId xmlns:a16="http://schemas.microsoft.com/office/drawing/2014/main" id="{FFDA6543-49D7-2F62-DA4C-F54E89395503}"/>
              </a:ext>
            </a:extLst>
          </p:cNvPr>
          <p:cNvGrpSpPr/>
          <p:nvPr/>
        </p:nvGrpSpPr>
        <p:grpSpPr>
          <a:xfrm>
            <a:off x="6575362" y="4489440"/>
            <a:ext cx="720313" cy="139795"/>
            <a:chOff x="2606714" y="2858424"/>
            <a:chExt cx="720313" cy="642351"/>
          </a:xfrm>
          <a:solidFill>
            <a:schemeClr val="bg1">
              <a:lumMod val="75000"/>
            </a:schemeClr>
          </a:solidFill>
        </p:grpSpPr>
        <p:sp>
          <p:nvSpPr>
            <p:cNvPr id="762" name="Rectangle 761">
              <a:extLst>
                <a:ext uri="{FF2B5EF4-FFF2-40B4-BE49-F238E27FC236}">
                  <a16:creationId xmlns:a16="http://schemas.microsoft.com/office/drawing/2014/main" id="{B9177353-4B20-AA81-77AA-7FFB37CB7D3B}"/>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63" name="Rectangle 762">
              <a:extLst>
                <a:ext uri="{FF2B5EF4-FFF2-40B4-BE49-F238E27FC236}">
                  <a16:creationId xmlns:a16="http://schemas.microsoft.com/office/drawing/2014/main" id="{4970250A-EC71-B8C5-C7B9-420940D24C31}"/>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64" name="Rectangle 763">
              <a:extLst>
                <a:ext uri="{FF2B5EF4-FFF2-40B4-BE49-F238E27FC236}">
                  <a16:creationId xmlns:a16="http://schemas.microsoft.com/office/drawing/2014/main" id="{6C09BF61-BDAC-6D6B-1853-BA8D54127533}"/>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693" name="Group 692">
            <a:extLst>
              <a:ext uri="{FF2B5EF4-FFF2-40B4-BE49-F238E27FC236}">
                <a16:creationId xmlns:a16="http://schemas.microsoft.com/office/drawing/2014/main" id="{C30B323E-F68E-DC6F-1023-A07145863C0D}"/>
              </a:ext>
            </a:extLst>
          </p:cNvPr>
          <p:cNvGrpSpPr/>
          <p:nvPr/>
        </p:nvGrpSpPr>
        <p:grpSpPr>
          <a:xfrm>
            <a:off x="9309006" y="4489440"/>
            <a:ext cx="720313" cy="139795"/>
            <a:chOff x="2606714" y="2858424"/>
            <a:chExt cx="720313" cy="642351"/>
          </a:xfrm>
          <a:solidFill>
            <a:schemeClr val="accent5"/>
          </a:solidFill>
        </p:grpSpPr>
        <p:sp>
          <p:nvSpPr>
            <p:cNvPr id="694" name="Rectangle 693">
              <a:extLst>
                <a:ext uri="{FF2B5EF4-FFF2-40B4-BE49-F238E27FC236}">
                  <a16:creationId xmlns:a16="http://schemas.microsoft.com/office/drawing/2014/main" id="{288746E4-33C7-43EF-DBFB-3D182524B77E}"/>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95" name="Rectangle 694">
              <a:extLst>
                <a:ext uri="{FF2B5EF4-FFF2-40B4-BE49-F238E27FC236}">
                  <a16:creationId xmlns:a16="http://schemas.microsoft.com/office/drawing/2014/main" id="{71974736-374D-9E53-3E3F-4BBED4D199AE}"/>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696" name="Rectangle 695">
              <a:extLst>
                <a:ext uri="{FF2B5EF4-FFF2-40B4-BE49-F238E27FC236}">
                  <a16:creationId xmlns:a16="http://schemas.microsoft.com/office/drawing/2014/main" id="{05446A3B-2106-BD52-94EC-3EC6237E8C1F}"/>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197" name="Group 196">
            <a:extLst>
              <a:ext uri="{FF2B5EF4-FFF2-40B4-BE49-F238E27FC236}">
                <a16:creationId xmlns:a16="http://schemas.microsoft.com/office/drawing/2014/main" id="{D674A369-9B3D-CF16-6B70-97902C8B50D8}"/>
              </a:ext>
            </a:extLst>
          </p:cNvPr>
          <p:cNvGrpSpPr/>
          <p:nvPr/>
        </p:nvGrpSpPr>
        <p:grpSpPr>
          <a:xfrm>
            <a:off x="10675415" y="4489440"/>
            <a:ext cx="720313" cy="139795"/>
            <a:chOff x="10675415" y="5047452"/>
            <a:chExt cx="720313" cy="139795"/>
          </a:xfrm>
        </p:grpSpPr>
        <p:sp>
          <p:nvSpPr>
            <p:cNvPr id="193" name="Rectangle 192">
              <a:extLst>
                <a:ext uri="{FF2B5EF4-FFF2-40B4-BE49-F238E27FC236}">
                  <a16:creationId xmlns:a16="http://schemas.microsoft.com/office/drawing/2014/main" id="{BF56C326-4029-2DFF-8B4E-67F088ADA900}"/>
                </a:ext>
              </a:extLst>
            </p:cNvPr>
            <p:cNvSpPr/>
            <p:nvPr/>
          </p:nvSpPr>
          <p:spPr>
            <a:xfrm>
              <a:off x="10675415" y="5047452"/>
              <a:ext cx="239831" cy="139795"/>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194" name="Rectangle 193">
              <a:extLst>
                <a:ext uri="{FF2B5EF4-FFF2-40B4-BE49-F238E27FC236}">
                  <a16:creationId xmlns:a16="http://schemas.microsoft.com/office/drawing/2014/main" id="{437A9DBE-4B86-E6D5-91CC-E5E00BC55A95}"/>
                </a:ext>
              </a:extLst>
            </p:cNvPr>
            <p:cNvSpPr/>
            <p:nvPr/>
          </p:nvSpPr>
          <p:spPr>
            <a:xfrm>
              <a:off x="10915246" y="5047452"/>
              <a:ext cx="239831" cy="139795"/>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195" name="Rectangle 194">
              <a:extLst>
                <a:ext uri="{FF2B5EF4-FFF2-40B4-BE49-F238E27FC236}">
                  <a16:creationId xmlns:a16="http://schemas.microsoft.com/office/drawing/2014/main" id="{AF9795F3-3497-4526-CB9C-589FFCA8A6F3}"/>
                </a:ext>
              </a:extLst>
            </p:cNvPr>
            <p:cNvSpPr/>
            <p:nvPr/>
          </p:nvSpPr>
          <p:spPr>
            <a:xfrm>
              <a:off x="11155897" y="5047452"/>
              <a:ext cx="239831" cy="139795"/>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cxnSp>
        <p:nvCxnSpPr>
          <p:cNvPr id="557" name="Straight Connector 556">
            <a:extLst>
              <a:ext uri="{FF2B5EF4-FFF2-40B4-BE49-F238E27FC236}">
                <a16:creationId xmlns:a16="http://schemas.microsoft.com/office/drawing/2014/main" id="{257CF86A-32D9-B76C-EF7E-3BD9728FC01E}"/>
              </a:ext>
            </a:extLst>
          </p:cNvPr>
          <p:cNvCxnSpPr>
            <a:cxnSpLocks/>
          </p:cNvCxnSpPr>
          <p:nvPr/>
        </p:nvCxnSpPr>
        <p:spPr>
          <a:xfrm flipV="1">
            <a:off x="639901" y="3475006"/>
            <a:ext cx="10972800" cy="0"/>
          </a:xfrm>
          <a:prstGeom prst="line">
            <a:avLst/>
          </a:prstGeom>
          <a:ln w="1587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8" name="Straight Connector 557">
            <a:extLst>
              <a:ext uri="{FF2B5EF4-FFF2-40B4-BE49-F238E27FC236}">
                <a16:creationId xmlns:a16="http://schemas.microsoft.com/office/drawing/2014/main" id="{42295D69-25D8-8540-2AF9-C40E8FBC0E70}"/>
              </a:ext>
            </a:extLst>
          </p:cNvPr>
          <p:cNvCxnSpPr>
            <a:cxnSpLocks/>
          </p:cNvCxnSpPr>
          <p:nvPr/>
        </p:nvCxnSpPr>
        <p:spPr>
          <a:xfrm flipV="1">
            <a:off x="639901" y="4197894"/>
            <a:ext cx="10972800" cy="0"/>
          </a:xfrm>
          <a:prstGeom prst="line">
            <a:avLst/>
          </a:prstGeom>
          <a:ln w="1587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5E638E6D-02BC-804A-DBE7-3D224CF70813}"/>
              </a:ext>
            </a:extLst>
          </p:cNvPr>
          <p:cNvCxnSpPr>
            <a:cxnSpLocks/>
          </p:cNvCxnSpPr>
          <p:nvPr/>
        </p:nvCxnSpPr>
        <p:spPr>
          <a:xfrm flipV="1">
            <a:off x="639901" y="4920782"/>
            <a:ext cx="10972800" cy="0"/>
          </a:xfrm>
          <a:prstGeom prst="line">
            <a:avLst/>
          </a:prstGeom>
          <a:ln w="1587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17F3D6-194C-CE22-EC65-C0C7635DB267}"/>
              </a:ext>
            </a:extLst>
          </p:cNvPr>
          <p:cNvCxnSpPr>
            <a:cxnSpLocks/>
          </p:cNvCxnSpPr>
          <p:nvPr/>
        </p:nvCxnSpPr>
        <p:spPr>
          <a:xfrm flipV="1">
            <a:off x="639901" y="2752118"/>
            <a:ext cx="10972800" cy="0"/>
          </a:xfrm>
          <a:prstGeom prst="line">
            <a:avLst/>
          </a:prstGeom>
          <a:ln w="1587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1" name="TextBox 230">
            <a:extLst>
              <a:ext uri="{FF2B5EF4-FFF2-40B4-BE49-F238E27FC236}">
                <a16:creationId xmlns:a16="http://schemas.microsoft.com/office/drawing/2014/main" id="{2BC3A86B-3B90-C4AC-D7A5-CB5E1F09A231}"/>
              </a:ext>
            </a:extLst>
          </p:cNvPr>
          <p:cNvSpPr txBox="1"/>
          <p:nvPr/>
        </p:nvSpPr>
        <p:spPr>
          <a:xfrm>
            <a:off x="2210984" y="4645283"/>
            <a:ext cx="1259741"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(Online Global Trading,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Fractional trading)</a:t>
            </a:r>
          </a:p>
        </p:txBody>
      </p:sp>
      <p:sp>
        <p:nvSpPr>
          <p:cNvPr id="236" name="TextBox 235">
            <a:extLst>
              <a:ext uri="{FF2B5EF4-FFF2-40B4-BE49-F238E27FC236}">
                <a16:creationId xmlns:a16="http://schemas.microsoft.com/office/drawing/2014/main" id="{4033C60C-0808-DDFE-63E7-6604F5EBD311}"/>
              </a:ext>
            </a:extLst>
          </p:cNvPr>
          <p:cNvSpPr txBox="1"/>
          <p:nvPr/>
        </p:nvSpPr>
        <p:spPr>
          <a:xfrm>
            <a:off x="10406112" y="4645283"/>
            <a:ext cx="1259741"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(Fractional , Alternatives, But no MF/FI)</a:t>
            </a:r>
          </a:p>
        </p:txBody>
      </p:sp>
      <p:grpSp>
        <p:nvGrpSpPr>
          <p:cNvPr id="237" name="Group 236">
            <a:extLst>
              <a:ext uri="{FF2B5EF4-FFF2-40B4-BE49-F238E27FC236}">
                <a16:creationId xmlns:a16="http://schemas.microsoft.com/office/drawing/2014/main" id="{94BBDBFA-DE6B-A382-E5BE-5430FF968CD3}"/>
              </a:ext>
            </a:extLst>
          </p:cNvPr>
          <p:cNvGrpSpPr/>
          <p:nvPr/>
        </p:nvGrpSpPr>
        <p:grpSpPr>
          <a:xfrm>
            <a:off x="2474896" y="3766552"/>
            <a:ext cx="720313" cy="139795"/>
            <a:chOff x="2606714" y="2858424"/>
            <a:chExt cx="720313" cy="642351"/>
          </a:xfrm>
          <a:solidFill>
            <a:schemeClr val="accent5"/>
          </a:solidFill>
        </p:grpSpPr>
        <p:sp>
          <p:nvSpPr>
            <p:cNvPr id="238" name="Rectangle 237">
              <a:extLst>
                <a:ext uri="{FF2B5EF4-FFF2-40B4-BE49-F238E27FC236}">
                  <a16:creationId xmlns:a16="http://schemas.microsoft.com/office/drawing/2014/main" id="{4009C850-3878-9C48-4FFF-5ADC59EB2472}"/>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39" name="Rectangle 238">
              <a:extLst>
                <a:ext uri="{FF2B5EF4-FFF2-40B4-BE49-F238E27FC236}">
                  <a16:creationId xmlns:a16="http://schemas.microsoft.com/office/drawing/2014/main" id="{A4C37453-1A2D-8071-4CA9-F3F182443B72}"/>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40" name="Rectangle 239">
              <a:extLst>
                <a:ext uri="{FF2B5EF4-FFF2-40B4-BE49-F238E27FC236}">
                  <a16:creationId xmlns:a16="http://schemas.microsoft.com/office/drawing/2014/main" id="{541CC6E6-F2E5-1EB4-1867-A1C707898A36}"/>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41" name="Rectangle 240">
              <a:extLst>
                <a:ext uri="{FF2B5EF4-FFF2-40B4-BE49-F238E27FC236}">
                  <a16:creationId xmlns:a16="http://schemas.microsoft.com/office/drawing/2014/main" id="{B649FB6F-5620-001E-2EA1-D546328C9F77}"/>
                </a:ext>
              </a:extLst>
            </p:cNvPr>
            <p:cNvSpPr/>
            <p:nvPr/>
          </p:nvSpPr>
          <p:spPr>
            <a:xfrm>
              <a:off x="3213718" y="2858424"/>
              <a:ext cx="113309"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242" name="TextBox 241">
            <a:extLst>
              <a:ext uri="{FF2B5EF4-FFF2-40B4-BE49-F238E27FC236}">
                <a16:creationId xmlns:a16="http://schemas.microsoft.com/office/drawing/2014/main" id="{4AE8C2BB-59C3-DF41-4276-CEBDC23A1847}"/>
              </a:ext>
            </a:extLst>
          </p:cNvPr>
          <p:cNvSpPr txBox="1"/>
          <p:nvPr/>
        </p:nvSpPr>
        <p:spPr>
          <a:xfrm>
            <a:off x="10515428" y="3932874"/>
            <a:ext cx="1041108" cy="123111"/>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(Same-day Trading)</a:t>
            </a:r>
          </a:p>
        </p:txBody>
      </p:sp>
      <p:sp>
        <p:nvSpPr>
          <p:cNvPr id="243" name="TextBox 242">
            <a:extLst>
              <a:ext uri="{FF2B5EF4-FFF2-40B4-BE49-F238E27FC236}">
                <a16:creationId xmlns:a16="http://schemas.microsoft.com/office/drawing/2014/main" id="{CC509B96-215A-B73A-7492-6D3FEC95A594}"/>
              </a:ext>
            </a:extLst>
          </p:cNvPr>
          <p:cNvSpPr txBox="1"/>
          <p:nvPr/>
        </p:nvSpPr>
        <p:spPr>
          <a:xfrm>
            <a:off x="6612035"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($6.95 /trade)</a:t>
            </a:r>
          </a:p>
        </p:txBody>
      </p:sp>
      <p:sp>
        <p:nvSpPr>
          <p:cNvPr id="246" name="TextBox 245">
            <a:extLst>
              <a:ext uri="{FF2B5EF4-FFF2-40B4-BE49-F238E27FC236}">
                <a16:creationId xmlns:a16="http://schemas.microsoft.com/office/drawing/2014/main" id="{C2D1D35D-272A-9959-58D0-908743AED51C}"/>
              </a:ext>
            </a:extLst>
          </p:cNvPr>
          <p:cNvSpPr txBox="1"/>
          <p:nvPr/>
        </p:nvSpPr>
        <p:spPr>
          <a:xfrm>
            <a:off x="9039292" y="4645283"/>
            <a:ext cx="1259741" cy="24622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(Online Forex Trading, Robo, Fractional in 2025)</a:t>
            </a:r>
          </a:p>
        </p:txBody>
      </p:sp>
      <p:sp>
        <p:nvSpPr>
          <p:cNvPr id="248" name="TextBox 247">
            <a:extLst>
              <a:ext uri="{FF2B5EF4-FFF2-40B4-BE49-F238E27FC236}">
                <a16:creationId xmlns:a16="http://schemas.microsoft.com/office/drawing/2014/main" id="{0499D415-EDC4-3E15-F7A6-A06E01D65B80}"/>
              </a:ext>
            </a:extLst>
          </p:cNvPr>
          <p:cNvSpPr txBox="1"/>
          <p:nvPr/>
        </p:nvSpPr>
        <p:spPr>
          <a:xfrm>
            <a:off x="2205182" y="5362252"/>
            <a:ext cx="1259741"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(Analyst center, screener)</a:t>
            </a:r>
          </a:p>
        </p:txBody>
      </p:sp>
      <p:sp>
        <p:nvSpPr>
          <p:cNvPr id="249" name="TextBox 248">
            <a:extLst>
              <a:ext uri="{FF2B5EF4-FFF2-40B4-BE49-F238E27FC236}">
                <a16:creationId xmlns:a16="http://schemas.microsoft.com/office/drawing/2014/main" id="{885B5E21-DE00-ED4F-5D05-04A1CC99CC7F}"/>
              </a:ext>
            </a:extLst>
          </p:cNvPr>
          <p:cNvSpPr txBox="1"/>
          <p:nvPr/>
        </p:nvSpPr>
        <p:spPr>
          <a:xfrm>
            <a:off x="9039292" y="5362252"/>
            <a:ext cx="1259741"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(SmartScore</a:t>
            </a:r>
            <a:r>
              <a:rPr kumimoji="0" lang="en-CA" sz="800" b="0" i="0" u="none" strike="noStrike" kern="1200" cap="none" spc="0" normalizeH="0" baseline="30000" noProof="0">
                <a:ln>
                  <a:noFill/>
                </a:ln>
                <a:solidFill>
                  <a:srgbClr val="FFFFFF">
                    <a:lumMod val="65000"/>
                  </a:srgbClr>
                </a:solidFill>
                <a:effectLst/>
                <a:uLnTx/>
                <a:uFillTx/>
                <a:latin typeface="Scotia"/>
                <a:ea typeface="+mn-ea"/>
                <a:cs typeface="+mn-cs"/>
              </a:rPr>
              <a:t>2</a:t>
            </a: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a:t>
            </a:r>
          </a:p>
        </p:txBody>
      </p:sp>
      <p:sp>
        <p:nvSpPr>
          <p:cNvPr id="251" name="TextBox 250">
            <a:extLst>
              <a:ext uri="{FF2B5EF4-FFF2-40B4-BE49-F238E27FC236}">
                <a16:creationId xmlns:a16="http://schemas.microsoft.com/office/drawing/2014/main" id="{8A647BDE-CFB5-CE75-DAD6-D26E49F50748}"/>
              </a:ext>
            </a:extLst>
          </p:cNvPr>
          <p:cNvSpPr txBox="1"/>
          <p:nvPr/>
        </p:nvSpPr>
        <p:spPr>
          <a:xfrm>
            <a:off x="3881866"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($9.99 /trade)</a:t>
            </a:r>
          </a:p>
        </p:txBody>
      </p:sp>
      <p:sp>
        <p:nvSpPr>
          <p:cNvPr id="252" name="TextBox 251">
            <a:extLst>
              <a:ext uri="{FF2B5EF4-FFF2-40B4-BE49-F238E27FC236}">
                <a16:creationId xmlns:a16="http://schemas.microsoft.com/office/drawing/2014/main" id="{16F094EF-38D1-7041-4542-D3F26B8E6013}"/>
              </a:ext>
            </a:extLst>
          </p:cNvPr>
          <p:cNvSpPr txBox="1"/>
          <p:nvPr/>
        </p:nvSpPr>
        <p:spPr>
          <a:xfrm>
            <a:off x="5268774"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($9.99 /trade)</a:t>
            </a:r>
          </a:p>
        </p:txBody>
      </p:sp>
      <p:sp>
        <p:nvSpPr>
          <p:cNvPr id="253" name="TextBox 252">
            <a:extLst>
              <a:ext uri="{FF2B5EF4-FFF2-40B4-BE49-F238E27FC236}">
                <a16:creationId xmlns:a16="http://schemas.microsoft.com/office/drawing/2014/main" id="{8A87BBC2-FC60-C12D-4E8F-EC8D29AB35D8}"/>
              </a:ext>
            </a:extLst>
          </p:cNvPr>
          <p:cNvSpPr txBox="1"/>
          <p:nvPr/>
        </p:nvSpPr>
        <p:spPr>
          <a:xfrm>
            <a:off x="7979117"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($9.99 /trade)</a:t>
            </a:r>
          </a:p>
        </p:txBody>
      </p:sp>
      <p:sp>
        <p:nvSpPr>
          <p:cNvPr id="254" name="TextBox 253">
            <a:extLst>
              <a:ext uri="{FF2B5EF4-FFF2-40B4-BE49-F238E27FC236}">
                <a16:creationId xmlns:a16="http://schemas.microsoft.com/office/drawing/2014/main" id="{54B2317B-D342-4533-2503-419F2F7D778A}"/>
              </a:ext>
            </a:extLst>
          </p:cNvPr>
          <p:cNvSpPr txBox="1"/>
          <p:nvPr/>
        </p:nvSpPr>
        <p:spPr>
          <a:xfrm>
            <a:off x="10712759"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(Free)</a:t>
            </a:r>
          </a:p>
        </p:txBody>
      </p:sp>
      <p:sp>
        <p:nvSpPr>
          <p:cNvPr id="352" name="TextBox 351">
            <a:extLst>
              <a:ext uri="{FF2B5EF4-FFF2-40B4-BE49-F238E27FC236}">
                <a16:creationId xmlns:a16="http://schemas.microsoft.com/office/drawing/2014/main" id="{E182CA39-2DD0-74EF-635E-D402B68D0C5D}"/>
              </a:ext>
            </a:extLst>
          </p:cNvPr>
          <p:cNvSpPr txBox="1"/>
          <p:nvPr/>
        </p:nvSpPr>
        <p:spPr>
          <a:xfrm>
            <a:off x="9350582" y="3199464"/>
            <a:ext cx="646446"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(Free)</a:t>
            </a:r>
          </a:p>
        </p:txBody>
      </p:sp>
      <p:grpSp>
        <p:nvGrpSpPr>
          <p:cNvPr id="354" name="Group 353">
            <a:extLst>
              <a:ext uri="{FF2B5EF4-FFF2-40B4-BE49-F238E27FC236}">
                <a16:creationId xmlns:a16="http://schemas.microsoft.com/office/drawing/2014/main" id="{8618FACB-29B2-4A4D-CAAE-82B4CCE9E5E5}"/>
              </a:ext>
            </a:extLst>
          </p:cNvPr>
          <p:cNvGrpSpPr/>
          <p:nvPr/>
        </p:nvGrpSpPr>
        <p:grpSpPr>
          <a:xfrm>
            <a:off x="3841718" y="3766552"/>
            <a:ext cx="720313" cy="139795"/>
            <a:chOff x="2606714" y="2858424"/>
            <a:chExt cx="720313" cy="642351"/>
          </a:xfrm>
          <a:solidFill>
            <a:schemeClr val="accent2"/>
          </a:solidFill>
        </p:grpSpPr>
        <p:sp>
          <p:nvSpPr>
            <p:cNvPr id="355" name="Rectangle 354">
              <a:extLst>
                <a:ext uri="{FF2B5EF4-FFF2-40B4-BE49-F238E27FC236}">
                  <a16:creationId xmlns:a16="http://schemas.microsoft.com/office/drawing/2014/main" id="{A90B7E26-2766-A131-7608-45EC219CBE3E}"/>
                </a:ext>
              </a:extLst>
            </p:cNvPr>
            <p:cNvSpPr/>
            <p:nvPr/>
          </p:nvSpPr>
          <p:spPr>
            <a:xfrm>
              <a:off x="2606714"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356" name="Rectangle 355">
              <a:extLst>
                <a:ext uri="{FF2B5EF4-FFF2-40B4-BE49-F238E27FC236}">
                  <a16:creationId xmlns:a16="http://schemas.microsoft.com/office/drawing/2014/main" id="{9D17193D-4FE5-5428-9AC8-22851195CE18}"/>
                </a:ext>
              </a:extLst>
            </p:cNvPr>
            <p:cNvSpPr/>
            <p:nvPr/>
          </p:nvSpPr>
          <p:spPr>
            <a:xfrm>
              <a:off x="2846545"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357" name="Rectangle 356">
              <a:extLst>
                <a:ext uri="{FF2B5EF4-FFF2-40B4-BE49-F238E27FC236}">
                  <a16:creationId xmlns:a16="http://schemas.microsoft.com/office/drawing/2014/main" id="{87BEF70D-C114-BC13-309B-A4B216117F92}"/>
                </a:ext>
              </a:extLst>
            </p:cNvPr>
            <p:cNvSpPr/>
            <p:nvPr/>
          </p:nvSpPr>
          <p:spPr>
            <a:xfrm>
              <a:off x="3087196" y="2858424"/>
              <a:ext cx="239831" cy="642351"/>
            </a:xfrm>
            <a:prstGeom prst="rect">
              <a:avLst/>
            </a:prstGeom>
            <a:solidFill>
              <a:schemeClr val="bg2">
                <a:lumMod val="20000"/>
                <a:lumOff val="80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358" name="TextBox 357">
            <a:extLst>
              <a:ext uri="{FF2B5EF4-FFF2-40B4-BE49-F238E27FC236}">
                <a16:creationId xmlns:a16="http://schemas.microsoft.com/office/drawing/2014/main" id="{5ECA3044-1FB0-6A8C-21FA-CBAD6E2A969C}"/>
              </a:ext>
            </a:extLst>
          </p:cNvPr>
          <p:cNvSpPr txBox="1"/>
          <p:nvPr/>
        </p:nvSpPr>
        <p:spPr>
          <a:xfrm>
            <a:off x="3601375" y="3939030"/>
            <a:ext cx="1259741" cy="123111"/>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a:ln>
                  <a:noFill/>
                </a:ln>
                <a:solidFill>
                  <a:srgbClr val="FFFFFF">
                    <a:lumMod val="65000"/>
                  </a:srgbClr>
                </a:solidFill>
                <a:effectLst/>
                <a:uLnTx/>
                <a:uFillTx/>
                <a:latin typeface="Scotia"/>
                <a:ea typeface="+mn-ea"/>
                <a:cs typeface="+mn-cs"/>
              </a:rPr>
              <a:t>(Opened via banking app)</a:t>
            </a:r>
          </a:p>
        </p:txBody>
      </p:sp>
      <p:grpSp>
        <p:nvGrpSpPr>
          <p:cNvPr id="359" name="Group 358">
            <a:extLst>
              <a:ext uri="{FF2B5EF4-FFF2-40B4-BE49-F238E27FC236}">
                <a16:creationId xmlns:a16="http://schemas.microsoft.com/office/drawing/2014/main" id="{F2918D04-7AFE-8BAE-3982-0617C7A8116F}"/>
              </a:ext>
            </a:extLst>
          </p:cNvPr>
          <p:cNvGrpSpPr/>
          <p:nvPr/>
        </p:nvGrpSpPr>
        <p:grpSpPr>
          <a:xfrm>
            <a:off x="3841718" y="5212331"/>
            <a:ext cx="720313" cy="139795"/>
            <a:chOff x="2606714" y="2858424"/>
            <a:chExt cx="720313" cy="642351"/>
          </a:xfrm>
          <a:solidFill>
            <a:schemeClr val="bg2">
              <a:lumMod val="20000"/>
              <a:lumOff val="80000"/>
            </a:schemeClr>
          </a:solidFill>
        </p:grpSpPr>
        <p:sp>
          <p:nvSpPr>
            <p:cNvPr id="360" name="Rectangle 359">
              <a:extLst>
                <a:ext uri="{FF2B5EF4-FFF2-40B4-BE49-F238E27FC236}">
                  <a16:creationId xmlns:a16="http://schemas.microsoft.com/office/drawing/2014/main" id="{AF4E08A1-40C4-FECA-7EA6-70AFE8BBC527}"/>
                </a:ext>
              </a:extLst>
            </p:cNvPr>
            <p:cNvSpPr/>
            <p:nvPr/>
          </p:nvSpPr>
          <p:spPr>
            <a:xfrm>
              <a:off x="2606714"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361" name="Rectangle 360">
              <a:extLst>
                <a:ext uri="{FF2B5EF4-FFF2-40B4-BE49-F238E27FC236}">
                  <a16:creationId xmlns:a16="http://schemas.microsoft.com/office/drawing/2014/main" id="{2C5655A3-31D0-5BA2-8781-337B7E4C63E5}"/>
                </a:ext>
              </a:extLst>
            </p:cNvPr>
            <p:cNvSpPr/>
            <p:nvPr/>
          </p:nvSpPr>
          <p:spPr>
            <a:xfrm>
              <a:off x="2846545" y="2858424"/>
              <a:ext cx="239831" cy="642351"/>
            </a:xfrm>
            <a:prstGeom prst="rect">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362" name="Rectangle 361">
              <a:extLst>
                <a:ext uri="{FF2B5EF4-FFF2-40B4-BE49-F238E27FC236}">
                  <a16:creationId xmlns:a16="http://schemas.microsoft.com/office/drawing/2014/main" id="{D03BD525-9016-9FC2-3BD9-1C2BA45E8E67}"/>
                </a:ext>
              </a:extLst>
            </p:cNvPr>
            <p:cNvSpPr/>
            <p:nvPr/>
          </p:nvSpPr>
          <p:spPr>
            <a:xfrm>
              <a:off x="3087196" y="2858424"/>
              <a:ext cx="239831" cy="642351"/>
            </a:xfrm>
            <a:prstGeom prst="rect">
              <a:avLst/>
            </a:prstGeom>
            <a:grp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363" name="Speech Bubble: Rectangle 362">
            <a:extLst>
              <a:ext uri="{FF2B5EF4-FFF2-40B4-BE49-F238E27FC236}">
                <a16:creationId xmlns:a16="http://schemas.microsoft.com/office/drawing/2014/main" id="{BCE5C952-9F8E-E9AA-170B-F59BCE06EAFB}"/>
              </a:ext>
            </a:extLst>
          </p:cNvPr>
          <p:cNvSpPr/>
          <p:nvPr/>
        </p:nvSpPr>
        <p:spPr>
          <a:xfrm>
            <a:off x="9878776" y="5679254"/>
            <a:ext cx="1797286" cy="430169"/>
          </a:xfrm>
          <a:prstGeom prst="wedgeRectCallout">
            <a:avLst>
              <a:gd name="adj1" fmla="val 21942"/>
              <a:gd name="adj2" fmla="val -6412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err="1">
                <a:ln>
                  <a:noFill/>
                </a:ln>
                <a:solidFill>
                  <a:srgbClr val="000000"/>
                </a:solidFill>
                <a:effectLst/>
                <a:uLnTx/>
                <a:uFillTx/>
                <a:latin typeface="Scotia"/>
                <a:ea typeface="+mn-ea"/>
                <a:cs typeface="+mn-cs"/>
              </a:rPr>
              <a:t>Wealthsimple</a:t>
            </a:r>
            <a:r>
              <a:rPr kumimoji="0" lang="en-CA" sz="1000" b="0" i="0" u="none" strike="noStrike" kern="1200" cap="none" spc="0" normalizeH="0" baseline="0" noProof="0">
                <a:ln>
                  <a:noFill/>
                </a:ln>
                <a:solidFill>
                  <a:srgbClr val="000000"/>
                </a:solidFill>
                <a:effectLst/>
                <a:uLnTx/>
                <a:uFillTx/>
                <a:latin typeface="Scotia"/>
                <a:ea typeface="+mn-ea"/>
                <a:cs typeface="+mn-cs"/>
              </a:rPr>
              <a:t> offers </a:t>
            </a:r>
            <a:r>
              <a:rPr kumimoji="0" lang="en-CA" sz="1000" b="1" i="0" u="none" strike="noStrike" kern="1200" cap="none" spc="0" normalizeH="0" baseline="0" noProof="0">
                <a:ln>
                  <a:noFill/>
                </a:ln>
                <a:solidFill>
                  <a:srgbClr val="000000"/>
                </a:solidFill>
                <a:effectLst/>
                <a:uLnTx/>
                <a:uFillTx/>
                <a:latin typeface="Scotia"/>
                <a:ea typeface="+mn-ea"/>
                <a:cs typeface="+mn-cs"/>
              </a:rPr>
              <a:t>free advice to $100M+ </a:t>
            </a:r>
            <a:r>
              <a:rPr kumimoji="0" lang="en-CA" sz="1000" b="0" i="0" u="none" strike="noStrike" kern="1200" cap="none" spc="0" normalizeH="0" baseline="0" noProof="0">
                <a:ln>
                  <a:noFill/>
                </a:ln>
                <a:solidFill>
                  <a:srgbClr val="000000"/>
                </a:solidFill>
                <a:effectLst/>
                <a:uLnTx/>
                <a:uFillTx/>
                <a:latin typeface="Scotia"/>
                <a:ea typeface="+mn-ea"/>
                <a:cs typeface="+mn-cs"/>
              </a:rPr>
              <a:t>clients</a:t>
            </a:r>
          </a:p>
        </p:txBody>
      </p:sp>
      <p:sp>
        <p:nvSpPr>
          <p:cNvPr id="366" name="Speech Bubble: Rectangle 365">
            <a:extLst>
              <a:ext uri="{FF2B5EF4-FFF2-40B4-BE49-F238E27FC236}">
                <a16:creationId xmlns:a16="http://schemas.microsoft.com/office/drawing/2014/main" id="{3DAD3332-3E57-3CF5-5444-8CE6D80C0B63}"/>
              </a:ext>
            </a:extLst>
          </p:cNvPr>
          <p:cNvSpPr/>
          <p:nvPr/>
        </p:nvSpPr>
        <p:spPr>
          <a:xfrm>
            <a:off x="4528312" y="5679254"/>
            <a:ext cx="2532807" cy="430169"/>
          </a:xfrm>
          <a:prstGeom prst="wedgeRectCallout">
            <a:avLst>
              <a:gd name="adj1" fmla="val -20335"/>
              <a:gd name="adj2" fmla="val -63225"/>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BMO Direct Investing offers </a:t>
            </a:r>
            <a:r>
              <a:rPr kumimoji="0" lang="en-CA" sz="1000" b="1" i="0" u="none" strike="noStrike" kern="1200" cap="none" spc="0" normalizeH="0" baseline="0" noProof="0" err="1">
                <a:ln>
                  <a:noFill/>
                </a:ln>
                <a:solidFill>
                  <a:srgbClr val="000000"/>
                </a:solidFill>
                <a:effectLst/>
                <a:uLnTx/>
                <a:uFillTx/>
                <a:latin typeface="Scotia"/>
                <a:ea typeface="+mn-ea"/>
                <a:cs typeface="+mn-cs"/>
              </a:rPr>
              <a:t>adviceDirect</a:t>
            </a:r>
            <a:r>
              <a:rPr kumimoji="0" lang="en-CA" sz="1000" b="1" i="0" u="none" strike="noStrike" kern="1200" cap="none" spc="0" normalizeH="0" baseline="0" noProof="0">
                <a:ln>
                  <a:noFill/>
                </a:ln>
                <a:solidFill>
                  <a:srgbClr val="000000"/>
                </a:solidFill>
                <a:effectLst/>
                <a:uLnTx/>
                <a:uFillTx/>
                <a:latin typeface="Scotia"/>
                <a:ea typeface="+mn-ea"/>
                <a:cs typeface="+mn-cs"/>
              </a:rPr>
              <a:t> to $10-500M+ </a:t>
            </a:r>
            <a:r>
              <a:rPr kumimoji="0" lang="en-CA" sz="1000" b="0" i="0" u="none" strike="noStrike" kern="1200" cap="none" spc="0" normalizeH="0" baseline="0" noProof="0">
                <a:ln>
                  <a:noFill/>
                </a:ln>
                <a:solidFill>
                  <a:srgbClr val="000000"/>
                </a:solidFill>
                <a:effectLst/>
                <a:uLnTx/>
                <a:uFillTx/>
                <a:latin typeface="Scotia"/>
                <a:ea typeface="+mn-ea"/>
                <a:cs typeface="+mn-cs"/>
              </a:rPr>
              <a:t>clients at 75bps /yr</a:t>
            </a:r>
          </a:p>
        </p:txBody>
      </p:sp>
    </p:spTree>
    <p:extLst>
      <p:ext uri="{BB962C8B-B14F-4D97-AF65-F5344CB8AC3E}">
        <p14:creationId xmlns:p14="http://schemas.microsoft.com/office/powerpoint/2010/main" val="392893430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15835D-50B7-AA76-B870-A1D3375E3800}"/>
            </a:ext>
          </a:extLst>
        </p:cNvPr>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A6C0DB4A-BBA0-C29C-98E1-8310B3F927B1}"/>
              </a:ext>
            </a:extLst>
          </p:cNvPr>
          <p:cNvSpPr>
            <a:spLocks noGrp="1"/>
          </p:cNvSpPr>
          <p:nvPr>
            <p:ph type="sldNum" sz="quarter" idx="10"/>
          </p:nvPr>
        </p:nvSpPr>
        <p:spPr/>
        <p:txBody>
          <a:bodyPr/>
          <a:lstStyle/>
          <a:p>
            <a:pPr defTabSz="914411">
              <a:defRPr/>
            </a:pPr>
            <a:fld id="{95D835A7-12B2-4074-8DA2-469A8808C237}" type="slidenum">
              <a:rPr lang="en-US">
                <a:solidFill>
                  <a:srgbClr val="000000"/>
                </a:solidFill>
              </a:rPr>
              <a:pPr defTabSz="914411">
                <a:defRPr/>
              </a:pPr>
              <a:t>38</a:t>
            </a:fld>
            <a:endParaRPr lang="en-US">
              <a:solidFill>
                <a:srgbClr val="000000"/>
              </a:solidFill>
            </a:endParaRPr>
          </a:p>
        </p:txBody>
      </p:sp>
      <p:sp>
        <p:nvSpPr>
          <p:cNvPr id="4" name="Text Placeholder 3">
            <a:extLst>
              <a:ext uri="{FF2B5EF4-FFF2-40B4-BE49-F238E27FC236}">
                <a16:creationId xmlns:a16="http://schemas.microsoft.com/office/drawing/2014/main" id="{4FFA248F-9D33-9AE8-A673-61B3C7DE392D}"/>
              </a:ext>
            </a:extLst>
          </p:cNvPr>
          <p:cNvSpPr>
            <a:spLocks noGrp="1"/>
          </p:cNvSpPr>
          <p:nvPr>
            <p:ph type="body" sz="quarter" idx="11"/>
          </p:nvPr>
        </p:nvSpPr>
        <p:spPr>
          <a:xfrm>
            <a:off x="515934" y="6322497"/>
            <a:ext cx="10620000" cy="144000"/>
          </a:xfrm>
        </p:spPr>
        <p:txBody>
          <a:bodyPr anchor="t"/>
          <a:lstStyle/>
          <a:p>
            <a:r>
              <a:rPr lang="en-US" noProof="0"/>
              <a:t>Source: Mexican banking and securities commission as of December 2025; 1. Proxy calculated as: adjuster × number of unique active contracts per bank (with balances greater than zero), considering that a client may have more than one unique contract; 2. </a:t>
            </a:r>
            <a:r>
              <a:rPr lang="en-US" noProof="0" err="1"/>
              <a:t>Multired</a:t>
            </a:r>
            <a:r>
              <a:rPr lang="en-US" noProof="0"/>
              <a:t> is an alliance with 8 banks that gives free access to all ATMs in the network. 3. Front-to-back ratio refers to the amount of frontline workers (Branches, distribution teams) compared to the corporative amount of workers. Based on AMB report as of Sep 2025, considering Business &amp; Branches functions</a:t>
            </a:r>
          </a:p>
        </p:txBody>
      </p:sp>
      <p:sp>
        <p:nvSpPr>
          <p:cNvPr id="2" name="Title 1">
            <a:extLst>
              <a:ext uri="{FF2B5EF4-FFF2-40B4-BE49-F238E27FC236}">
                <a16:creationId xmlns:a16="http://schemas.microsoft.com/office/drawing/2014/main" id="{F18DEFF5-C18E-A2D8-092B-F39192EB64A0}"/>
              </a:ext>
            </a:extLst>
          </p:cNvPr>
          <p:cNvSpPr>
            <a:spLocks noGrp="1"/>
          </p:cNvSpPr>
          <p:nvPr>
            <p:ph type="title"/>
          </p:nvPr>
        </p:nvSpPr>
        <p:spPr/>
        <p:txBody>
          <a:bodyPr vert="horz" lIns="0" tIns="0" rIns="0" bIns="0" rtlCol="0" anchor="t">
            <a:noAutofit/>
          </a:bodyPr>
          <a:lstStyle/>
          <a:p>
            <a:r>
              <a:rPr lang="en-US" noProof="0">
                <a:solidFill>
                  <a:srgbClr val="EC111A"/>
                </a:solidFill>
              </a:rPr>
              <a:t>Competitive Overview | </a:t>
            </a:r>
            <a:r>
              <a:rPr lang="en-US" noProof="0"/>
              <a:t>Six players lead the banking landscape</a:t>
            </a:r>
          </a:p>
        </p:txBody>
      </p:sp>
      <p:sp>
        <p:nvSpPr>
          <p:cNvPr id="10" name="Text Placeholder 6">
            <a:extLst>
              <a:ext uri="{FF2B5EF4-FFF2-40B4-BE49-F238E27FC236}">
                <a16:creationId xmlns:a16="http://schemas.microsoft.com/office/drawing/2014/main" id="{9127B168-30BB-8229-E076-2501637566A3}"/>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14" name="Text Placeholder 6">
            <a:extLst>
              <a:ext uri="{FF2B5EF4-FFF2-40B4-BE49-F238E27FC236}">
                <a16:creationId xmlns:a16="http://schemas.microsoft.com/office/drawing/2014/main" id="{FB9DB85D-5634-346A-AAEA-63E5D02DDE70}"/>
              </a:ext>
            </a:extLst>
          </p:cNvPr>
          <p:cNvSpPr txBox="1">
            <a:spLocks/>
          </p:cNvSpPr>
          <p:nvPr/>
        </p:nvSpPr>
        <p:spPr>
          <a:xfrm>
            <a:off x="792212" y="0"/>
            <a:ext cx="194658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000000"/>
                </a:solidFill>
                <a:latin typeface="Scotia"/>
              </a:rPr>
              <a:t>INDUSTRY OVERVIEW</a:t>
            </a:r>
          </a:p>
        </p:txBody>
      </p:sp>
      <p:sp>
        <p:nvSpPr>
          <p:cNvPr id="19" name="Rectangle 18">
            <a:extLst>
              <a:ext uri="{FF2B5EF4-FFF2-40B4-BE49-F238E27FC236}">
                <a16:creationId xmlns:a16="http://schemas.microsoft.com/office/drawing/2014/main" id="{399DFEC4-F9B7-4649-7AD3-ECE0A0D3F9FA}"/>
              </a:ext>
            </a:extLst>
          </p:cNvPr>
          <p:cNvSpPr/>
          <p:nvPr/>
        </p:nvSpPr>
        <p:spPr>
          <a:xfrm>
            <a:off x="1606613" y="1412876"/>
            <a:ext cx="1620000" cy="48600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sp>
        <p:nvSpPr>
          <p:cNvPr id="20" name="Rectangle 19">
            <a:extLst>
              <a:ext uri="{FF2B5EF4-FFF2-40B4-BE49-F238E27FC236}">
                <a16:creationId xmlns:a16="http://schemas.microsoft.com/office/drawing/2014/main" id="{F8C16F96-B6FA-4497-7C5A-F2D4CAFD5DB7}"/>
              </a:ext>
            </a:extLst>
          </p:cNvPr>
          <p:cNvSpPr/>
          <p:nvPr/>
        </p:nvSpPr>
        <p:spPr>
          <a:xfrm>
            <a:off x="3294994" y="1412876"/>
            <a:ext cx="1620000" cy="486000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sp>
        <p:nvSpPr>
          <p:cNvPr id="23" name="Rectangle 22">
            <a:extLst>
              <a:ext uri="{FF2B5EF4-FFF2-40B4-BE49-F238E27FC236}">
                <a16:creationId xmlns:a16="http://schemas.microsoft.com/office/drawing/2014/main" id="{C0DF40F7-320B-30BB-CEFE-D135C8A8300E}"/>
              </a:ext>
            </a:extLst>
          </p:cNvPr>
          <p:cNvSpPr/>
          <p:nvPr/>
        </p:nvSpPr>
        <p:spPr>
          <a:xfrm>
            <a:off x="4983372" y="1412876"/>
            <a:ext cx="1620000" cy="486000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sp>
        <p:nvSpPr>
          <p:cNvPr id="24" name="Rectangle 23">
            <a:extLst>
              <a:ext uri="{FF2B5EF4-FFF2-40B4-BE49-F238E27FC236}">
                <a16:creationId xmlns:a16="http://schemas.microsoft.com/office/drawing/2014/main" id="{C86761CE-4855-2F71-89CB-B4BBB330DFCA}"/>
              </a:ext>
            </a:extLst>
          </p:cNvPr>
          <p:cNvSpPr/>
          <p:nvPr/>
        </p:nvSpPr>
        <p:spPr>
          <a:xfrm>
            <a:off x="6671753" y="1412876"/>
            <a:ext cx="1620000" cy="486000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sp>
        <p:nvSpPr>
          <p:cNvPr id="25" name="Rectangle 24">
            <a:extLst>
              <a:ext uri="{FF2B5EF4-FFF2-40B4-BE49-F238E27FC236}">
                <a16:creationId xmlns:a16="http://schemas.microsoft.com/office/drawing/2014/main" id="{A44670F9-4D1E-D205-0972-8BE017365402}"/>
              </a:ext>
            </a:extLst>
          </p:cNvPr>
          <p:cNvSpPr/>
          <p:nvPr/>
        </p:nvSpPr>
        <p:spPr>
          <a:xfrm>
            <a:off x="8360133" y="1412876"/>
            <a:ext cx="1620000" cy="486000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sp>
        <p:nvSpPr>
          <p:cNvPr id="26" name="Rectangle 25">
            <a:extLst>
              <a:ext uri="{FF2B5EF4-FFF2-40B4-BE49-F238E27FC236}">
                <a16:creationId xmlns:a16="http://schemas.microsoft.com/office/drawing/2014/main" id="{3CD669D6-99F8-B95B-E013-FBA78136DA66}"/>
              </a:ext>
            </a:extLst>
          </p:cNvPr>
          <p:cNvSpPr/>
          <p:nvPr/>
        </p:nvSpPr>
        <p:spPr>
          <a:xfrm>
            <a:off x="10048514" y="1412876"/>
            <a:ext cx="1620000" cy="486000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defTabSz="914411">
              <a:defRPr/>
            </a:pPr>
            <a:endParaRPr lang="en-US" sz="1001">
              <a:solidFill>
                <a:srgbClr val="000000"/>
              </a:solidFill>
              <a:latin typeface="Scotia"/>
            </a:endParaRPr>
          </a:p>
        </p:txBody>
      </p:sp>
      <p:graphicFrame>
        <p:nvGraphicFramePr>
          <p:cNvPr id="9" name="Table 8">
            <a:extLst>
              <a:ext uri="{FF2B5EF4-FFF2-40B4-BE49-F238E27FC236}">
                <a16:creationId xmlns:a16="http://schemas.microsoft.com/office/drawing/2014/main" id="{9ECCD3B2-7ED6-DE14-40B0-C02611D0C1CF}"/>
              </a:ext>
            </a:extLst>
          </p:cNvPr>
          <p:cNvGraphicFramePr>
            <a:graphicFrameLocks noGrp="1"/>
          </p:cNvGraphicFramePr>
          <p:nvPr/>
        </p:nvGraphicFramePr>
        <p:xfrm>
          <a:off x="515936" y="1560944"/>
          <a:ext cx="11151139" cy="4820733"/>
        </p:xfrm>
        <a:graphic>
          <a:graphicData uri="http://schemas.openxmlformats.org/drawingml/2006/table">
            <a:tbl>
              <a:tblPr firstRow="1" bandRow="1">
                <a:tableStyleId>{5C22544A-7EE6-4342-B048-85BDC9FD1C3A}</a:tableStyleId>
              </a:tblPr>
              <a:tblGrid>
                <a:gridCol w="1099801">
                  <a:extLst>
                    <a:ext uri="{9D8B030D-6E8A-4147-A177-3AD203B41FA5}">
                      <a16:colId xmlns:a16="http://schemas.microsoft.com/office/drawing/2014/main" val="4116153068"/>
                    </a:ext>
                  </a:extLst>
                </a:gridCol>
                <a:gridCol w="1675223">
                  <a:extLst>
                    <a:ext uri="{9D8B030D-6E8A-4147-A177-3AD203B41FA5}">
                      <a16:colId xmlns:a16="http://schemas.microsoft.com/office/drawing/2014/main" val="1987004068"/>
                    </a:ext>
                  </a:extLst>
                </a:gridCol>
                <a:gridCol w="1675223">
                  <a:extLst>
                    <a:ext uri="{9D8B030D-6E8A-4147-A177-3AD203B41FA5}">
                      <a16:colId xmlns:a16="http://schemas.microsoft.com/office/drawing/2014/main" val="1155259265"/>
                    </a:ext>
                  </a:extLst>
                </a:gridCol>
                <a:gridCol w="1675223">
                  <a:extLst>
                    <a:ext uri="{9D8B030D-6E8A-4147-A177-3AD203B41FA5}">
                      <a16:colId xmlns:a16="http://schemas.microsoft.com/office/drawing/2014/main" val="2171850815"/>
                    </a:ext>
                  </a:extLst>
                </a:gridCol>
                <a:gridCol w="1675223">
                  <a:extLst>
                    <a:ext uri="{9D8B030D-6E8A-4147-A177-3AD203B41FA5}">
                      <a16:colId xmlns:a16="http://schemas.microsoft.com/office/drawing/2014/main" val="2442701330"/>
                    </a:ext>
                  </a:extLst>
                </a:gridCol>
                <a:gridCol w="1675223">
                  <a:extLst>
                    <a:ext uri="{9D8B030D-6E8A-4147-A177-3AD203B41FA5}">
                      <a16:colId xmlns:a16="http://schemas.microsoft.com/office/drawing/2014/main" val="3427033184"/>
                    </a:ext>
                  </a:extLst>
                </a:gridCol>
                <a:gridCol w="1675223">
                  <a:extLst>
                    <a:ext uri="{9D8B030D-6E8A-4147-A177-3AD203B41FA5}">
                      <a16:colId xmlns:a16="http://schemas.microsoft.com/office/drawing/2014/main" val="539958829"/>
                    </a:ext>
                  </a:extLst>
                </a:gridCol>
              </a:tblGrid>
              <a:tr h="472981">
                <a:tc>
                  <a:txBody>
                    <a:bodyPr/>
                    <a:lstStyle/>
                    <a:p>
                      <a:pPr rtl="0"/>
                      <a:endParaRPr lang="en-US" sz="1100" b="1" i="1"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noProof="0">
                        <a:solidFill>
                          <a:schemeClr val="tx1"/>
                        </a:solidFill>
                      </a:endParaRPr>
                    </a:p>
                    <a:p>
                      <a:pPr algn="ctr" rtl="0"/>
                      <a:r>
                        <a:rPr lang="en-US" sz="1100" b="0" i="1" noProof="0">
                          <a:solidFill>
                            <a:schemeClr val="tx1"/>
                          </a:solidFill>
                        </a:rPr>
                        <a:t>SBM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b="0" i="1" noProof="0">
                        <a:solidFill>
                          <a:schemeClr val="tx1"/>
                        </a:solidFill>
                      </a:endParaRPr>
                    </a:p>
                    <a:p>
                      <a:pPr algn="ctr" rtl="0"/>
                      <a:r>
                        <a:rPr lang="en-US" sz="1100" b="0" i="1" noProof="0">
                          <a:solidFill>
                            <a:schemeClr val="tx1"/>
                          </a:solidFill>
                        </a:rPr>
                        <a:t>Best in class</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b="0" i="1" noProof="0">
                        <a:solidFill>
                          <a:schemeClr val="tx1"/>
                        </a:solidFill>
                      </a:endParaRPr>
                    </a:p>
                    <a:p>
                      <a:pPr algn="ctr" rtl="0"/>
                      <a:r>
                        <a:rPr lang="en-US" sz="1100" b="0" i="1" noProof="0">
                          <a:solidFill>
                            <a:schemeClr val="tx1"/>
                          </a:solidFill>
                        </a:rPr>
                        <a:t>Peer</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b="0" i="1" noProof="0">
                        <a:solidFill>
                          <a:schemeClr val="tx1"/>
                        </a:solidFill>
                      </a:endParaRPr>
                    </a:p>
                    <a:p>
                      <a:pPr algn="ctr" rtl="0"/>
                      <a:r>
                        <a:rPr lang="en-US" sz="1100" b="0" i="1" noProof="0">
                          <a:solidFill>
                            <a:schemeClr val="tx1"/>
                          </a:solidFill>
                        </a:rPr>
                        <a:t>Peer</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b="0" i="1" noProof="0">
                        <a:solidFill>
                          <a:schemeClr val="tx1"/>
                        </a:solidFill>
                      </a:endParaRPr>
                    </a:p>
                    <a:p>
                      <a:pPr algn="ctr" rtl="0"/>
                      <a:r>
                        <a:rPr lang="en-US" sz="1100" b="0" i="1" noProof="0">
                          <a:solidFill>
                            <a:schemeClr val="tx1"/>
                          </a:solidFill>
                        </a:rPr>
                        <a:t>Peer</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n-US" sz="1100" b="0" i="1" noProof="0">
                        <a:solidFill>
                          <a:schemeClr val="tx1"/>
                        </a:solidFill>
                      </a:endParaRPr>
                    </a:p>
                    <a:p>
                      <a:pPr algn="ctr" rtl="0"/>
                      <a:r>
                        <a:rPr lang="en-US" sz="1100" b="0" i="1" noProof="0">
                          <a:solidFill>
                            <a:schemeClr val="tx1"/>
                          </a:solidFill>
                        </a:rPr>
                        <a:t>Peer</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2059054"/>
                  </a:ext>
                </a:extLst>
              </a:tr>
              <a:tr h="456085">
                <a:tc>
                  <a:txBody>
                    <a:bodyPr/>
                    <a:lstStyle/>
                    <a:p>
                      <a:pPr rtl="0"/>
                      <a:r>
                        <a:rPr lang="en-US" sz="1100" b="1" i="0" noProof="0">
                          <a:solidFill>
                            <a:schemeClr val="tx1"/>
                          </a:solidFill>
                        </a:rPr>
                        <a:t>Deposits</a:t>
                      </a:r>
                      <a:endParaRPr lang="en-US" sz="1100" b="1" i="0" baseline="30000" noProof="0">
                        <a:solidFill>
                          <a:schemeClr val="tx1"/>
                        </a:solidFill>
                      </a:endParaRPr>
                    </a:p>
                    <a:p>
                      <a:pPr marL="0" marR="0" lvl="0" indent="0" algn="l" defTabSz="914411" rtl="0" eaLnBrk="1" fontAlgn="auto" latinLnBrk="0" hangingPunct="1">
                        <a:lnSpc>
                          <a:spcPct val="100000"/>
                        </a:lnSpc>
                        <a:spcBef>
                          <a:spcPts val="0"/>
                        </a:spcBef>
                        <a:spcAft>
                          <a:spcPts val="0"/>
                        </a:spcAft>
                        <a:buClrTx/>
                        <a:buSzTx/>
                        <a:buFontTx/>
                        <a:buNone/>
                        <a:tabLst/>
                        <a:defRPr/>
                      </a:pPr>
                      <a:r>
                        <a:rPr lang="en-US" sz="1100" b="0" i="0" noProof="0">
                          <a:solidFill>
                            <a:schemeClr val="tx1"/>
                          </a:solidFill>
                        </a:rPr>
                        <a:t>MS % &amp; Rank</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6% | 6th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24% | 1st</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15% | 2nd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11% | 3rd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 8% | 4th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7% | 5th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1948366"/>
                  </a:ext>
                </a:extLst>
              </a:tr>
              <a:tr h="456085">
                <a:tc>
                  <a:txBody>
                    <a:bodyPr/>
                    <a:lstStyle/>
                    <a:p>
                      <a:pPr rtl="0"/>
                      <a:r>
                        <a:rPr lang="en-US" sz="1100" b="1" i="0" noProof="0">
                          <a:solidFill>
                            <a:schemeClr val="tx1"/>
                          </a:solidFill>
                        </a:rPr>
                        <a:t>Loans</a:t>
                      </a:r>
                      <a:endParaRPr lang="en-US" sz="1100" b="1" i="0" baseline="30000" noProof="0">
                        <a:solidFill>
                          <a:schemeClr val="tx1"/>
                        </a:solidFill>
                      </a:endParaRPr>
                    </a:p>
                    <a:p>
                      <a:pPr rtl="0"/>
                      <a:r>
                        <a:rPr lang="en-US" sz="1100" b="0" i="0" noProof="0">
                          <a:solidFill>
                            <a:schemeClr val="tx1"/>
                          </a:solidFill>
                        </a:rPr>
                        <a:t>MS % &amp; Rank</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7% | 4th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25% | 1st</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15% | 2nd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12% | 3rd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6% | 5th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6% | 7th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85168"/>
                  </a:ext>
                </a:extLst>
              </a:tr>
              <a:tr h="456085">
                <a:tc>
                  <a:txBody>
                    <a:bodyPr/>
                    <a:lstStyle/>
                    <a:p>
                      <a:pPr rtl="0"/>
                      <a:r>
                        <a:rPr lang="en-US" sz="1100" b="1" i="0" noProof="0">
                          <a:solidFill>
                            <a:schemeClr val="tx1"/>
                          </a:solidFill>
                        </a:rPr>
                        <a:t>AUMs</a:t>
                      </a:r>
                      <a:endParaRPr lang="en-US" sz="1100" b="1" i="0" baseline="30000" noProof="0">
                        <a:solidFill>
                          <a:schemeClr val="tx1"/>
                        </a:solidFill>
                      </a:endParaRPr>
                    </a:p>
                    <a:p>
                      <a:pPr marL="0" marR="0" lvl="0" indent="0" algn="l" defTabSz="914411" rtl="0" eaLnBrk="1" fontAlgn="auto" latinLnBrk="0" hangingPunct="1">
                        <a:lnSpc>
                          <a:spcPct val="100000"/>
                        </a:lnSpc>
                        <a:spcBef>
                          <a:spcPts val="0"/>
                        </a:spcBef>
                        <a:spcAft>
                          <a:spcPts val="0"/>
                        </a:spcAft>
                        <a:buClrTx/>
                        <a:buSzTx/>
                        <a:buFontTx/>
                        <a:buNone/>
                        <a:tabLst/>
                        <a:defRPr/>
                      </a:pPr>
                      <a:r>
                        <a:rPr lang="en-US" sz="1100" b="0" i="0" noProof="0">
                          <a:solidFill>
                            <a:schemeClr val="tx1"/>
                          </a:solidFill>
                        </a:rPr>
                        <a:t>MS % &amp; Rank</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5% | 6th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24% | 1st</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9% | 4th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10% | 3rd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19% | 2nd</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kumimoji="0" lang="en-US" sz="1100" b="0" i="0" u="none" strike="noStrike" kern="1200" cap="none" spc="0" normalizeH="0" baseline="0" noProof="0">
                          <a:ln>
                            <a:noFill/>
                          </a:ln>
                          <a:solidFill>
                            <a:srgbClr val="000000"/>
                          </a:solidFill>
                          <a:effectLst/>
                          <a:uLnTx/>
                          <a:uFillTx/>
                          <a:latin typeface="Scotia"/>
                          <a:ea typeface="+mn-ea"/>
                          <a:cs typeface="+mn-cs"/>
                        </a:rPr>
                        <a:t>6% | 5th</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442328"/>
                  </a:ext>
                </a:extLst>
              </a:tr>
              <a:tr h="456085">
                <a:tc>
                  <a:txBody>
                    <a:bodyPr/>
                    <a:lstStyle/>
                    <a:p>
                      <a:pPr rtl="0"/>
                      <a:r>
                        <a:rPr lang="en-US" sz="1100" b="1" noProof="0">
                          <a:solidFill>
                            <a:schemeClr val="tx1"/>
                          </a:solidFill>
                        </a:rPr>
                        <a:t>Current accounts</a:t>
                      </a:r>
                      <a:r>
                        <a:rPr lang="en-US" sz="1100" b="1" baseline="30000" noProof="0">
                          <a:solidFill>
                            <a:schemeClr val="tx1"/>
                          </a:solidFill>
                        </a:rPr>
                        <a:t>1</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noProof="0">
                          <a:solidFill>
                            <a:schemeClr val="tx1"/>
                          </a:solidFill>
                        </a:rPr>
                        <a:t>2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noProof="0">
                          <a:solidFill>
                            <a:schemeClr val="tx1"/>
                          </a:solidFill>
                        </a:rPr>
                        <a:t>29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noProof="0">
                          <a:solidFill>
                            <a:schemeClr val="tx1"/>
                          </a:solidFill>
                        </a:rPr>
                        <a:t>10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noProof="0">
                          <a:solidFill>
                            <a:schemeClr val="tx1"/>
                          </a:solidFill>
                        </a:rPr>
                        <a:t>10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11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7 MM</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15063156"/>
                  </a:ext>
                </a:extLst>
              </a:tr>
              <a:tr h="456085">
                <a:tc>
                  <a:txBody>
                    <a:bodyPr/>
                    <a:lstStyle/>
                    <a:p>
                      <a:pPr rtl="0"/>
                      <a:r>
                        <a:rPr lang="en-US" sz="1100" b="1" noProof="0">
                          <a:solidFill>
                            <a:schemeClr val="tx1"/>
                          </a:solidFill>
                        </a:rPr>
                        <a:t>Branches</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latin typeface="Scotia" panose="020B0503020203020204" pitchFamily="34" charset="0"/>
                          <a:ea typeface="Scotia" panose="020B0503020203020204" pitchFamily="34" charset="0"/>
                        </a:rPr>
                        <a:t>407</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1,632</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1,208</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999</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1,260</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noProof="0">
                          <a:solidFill>
                            <a:schemeClr val="tx1"/>
                          </a:solidFill>
                        </a:rPr>
                        <a:t>747</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4623257"/>
                  </a:ext>
                </a:extLst>
              </a:tr>
              <a:tr h="456085">
                <a:tc>
                  <a:txBody>
                    <a:bodyPr/>
                    <a:lstStyle/>
                    <a:p>
                      <a:pPr rtl="0"/>
                      <a:r>
                        <a:rPr lang="en-US" sz="1100" b="1" noProof="0">
                          <a:solidFill>
                            <a:schemeClr val="tx1"/>
                          </a:solidFill>
                        </a:rPr>
                        <a:t>ATMs</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SBM + Cardtronics: 2,117</a:t>
                      </a:r>
                      <a:endParaRPr lang="en-US" sz="1100" baseline="30000" noProof="0">
                        <a:solidFill>
                          <a:schemeClr val="tx1"/>
                        </a:solidFill>
                      </a:endParaRPr>
                    </a:p>
                    <a:p>
                      <a:pPr marL="0" marR="0" lvl="0" indent="0" algn="ctr" defTabSz="914411" rtl="0" eaLnBrk="1" fontAlgn="auto" latinLnBrk="0" hangingPunct="1">
                        <a:lnSpc>
                          <a:spcPct val="100000"/>
                        </a:lnSpc>
                        <a:spcBef>
                          <a:spcPts val="0"/>
                        </a:spcBef>
                        <a:spcAft>
                          <a:spcPts val="0"/>
                        </a:spcAft>
                        <a:buClrTx/>
                        <a:buSzTx/>
                        <a:buFontTx/>
                        <a:buNone/>
                        <a:tabLst/>
                        <a:defRPr/>
                      </a:pPr>
                      <a:r>
                        <a:rPr lang="en-US" sz="900" baseline="0" noProof="0">
                          <a:solidFill>
                            <a:schemeClr val="tx1"/>
                          </a:solidFill>
                        </a:rPr>
                        <a:t>Multired</a:t>
                      </a:r>
                      <a:r>
                        <a:rPr lang="en-US" sz="900" baseline="30000" noProof="0">
                          <a:solidFill>
                            <a:schemeClr val="tx1"/>
                          </a:solidFill>
                        </a:rPr>
                        <a:t>2</a:t>
                      </a:r>
                      <a:r>
                        <a:rPr lang="en-US" sz="900" baseline="0" noProof="0">
                          <a:solidFill>
                            <a:schemeClr val="tx1"/>
                          </a:solidFill>
                        </a:rPr>
                        <a:t>: 11,938</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14,381</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12,168</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11,049</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9,113</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noProof="0">
                          <a:solidFill>
                            <a:schemeClr val="tx1"/>
                          </a:solidFill>
                        </a:rPr>
                        <a:t>HSBC: 5,475</a:t>
                      </a:r>
                      <a:endParaRPr lang="en-US" sz="1100" baseline="30000" noProof="0">
                        <a:solidFill>
                          <a:schemeClr val="tx1"/>
                        </a:solidFill>
                      </a:endParaRPr>
                    </a:p>
                    <a:p>
                      <a:pPr marL="0" marR="0" lvl="0" indent="0" algn="ctr" defTabSz="914411" rtl="0" eaLnBrk="1" fontAlgn="auto" latinLnBrk="0" hangingPunct="1">
                        <a:lnSpc>
                          <a:spcPct val="100000"/>
                        </a:lnSpc>
                        <a:spcBef>
                          <a:spcPts val="0"/>
                        </a:spcBef>
                        <a:spcAft>
                          <a:spcPts val="0"/>
                        </a:spcAft>
                        <a:buClrTx/>
                        <a:buSzTx/>
                        <a:buFontTx/>
                        <a:buNone/>
                        <a:tabLst/>
                        <a:defRPr/>
                      </a:pPr>
                      <a:r>
                        <a:rPr lang="en-US" sz="900" baseline="0" noProof="0">
                          <a:solidFill>
                            <a:schemeClr val="tx1"/>
                          </a:solidFill>
                        </a:rPr>
                        <a:t>Multired</a:t>
                      </a:r>
                      <a:r>
                        <a:rPr lang="en-US" sz="900" baseline="30000" noProof="0">
                          <a:solidFill>
                            <a:schemeClr val="tx1"/>
                          </a:solidFill>
                        </a:rPr>
                        <a:t>2</a:t>
                      </a:r>
                      <a:r>
                        <a:rPr lang="en-US" sz="900" baseline="0" noProof="0">
                          <a:solidFill>
                            <a:schemeClr val="tx1"/>
                          </a:solidFill>
                        </a:rPr>
                        <a:t>: 11,938</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548918"/>
                  </a:ext>
                </a:extLst>
              </a:tr>
              <a:tr h="456085">
                <a:tc>
                  <a:txBody>
                    <a:bodyPr/>
                    <a:lstStyle/>
                    <a:p>
                      <a:pPr rtl="0"/>
                      <a:r>
                        <a:rPr lang="en-US" sz="1100" b="1" noProof="0">
                          <a:solidFill>
                            <a:schemeClr val="tx1"/>
                          </a:solidFill>
                        </a:rPr>
                        <a:t>FTEs</a:t>
                      </a:r>
                    </a:p>
                    <a:p>
                      <a:pPr rtl="0"/>
                      <a:r>
                        <a:rPr lang="en-US" sz="900" b="0" i="1" noProof="0">
                          <a:solidFill>
                            <a:schemeClr val="tx1"/>
                          </a:solidFill>
                        </a:rPr>
                        <a:t>Front-to-back ratio</a:t>
                      </a:r>
                      <a:r>
                        <a:rPr lang="en-US" sz="900" b="0" i="1" baseline="30000" noProof="0">
                          <a:solidFill>
                            <a:schemeClr val="tx1"/>
                          </a:solidFill>
                        </a:rPr>
                        <a:t>3</a:t>
                      </a:r>
                    </a:p>
                  </a:txBody>
                  <a:tcPr marL="0" marR="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latin typeface="Scotia" panose="020B0503020203020204" pitchFamily="34" charset="0"/>
                          <a:ea typeface="Scotia" panose="020B0503020203020204" pitchFamily="34" charset="0"/>
                        </a:rPr>
                        <a:t>8,387</a:t>
                      </a:r>
                    </a:p>
                    <a:p>
                      <a:pPr algn="ctr" rtl="0"/>
                      <a:r>
                        <a:rPr lang="en-US" sz="1100" b="0" i="1" noProof="0">
                          <a:solidFill>
                            <a:schemeClr val="tx1"/>
                          </a:solidFill>
                          <a:latin typeface="Scotia" panose="020B0503020203020204" pitchFamily="34" charset="0"/>
                          <a:ea typeface="Scotia" panose="020B0503020203020204" pitchFamily="34" charset="0"/>
                        </a:rPr>
                        <a:t>0.7</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100" b="0" i="0" u="none" strike="noStrike" noProof="0">
                          <a:solidFill>
                            <a:srgbClr val="000000"/>
                          </a:solidFill>
                          <a:effectLst/>
                          <a:latin typeface="Scotia" panose="020B0503020203020204" pitchFamily="34" charset="0"/>
                        </a:rPr>
                        <a:t>44,469</a:t>
                      </a:r>
                    </a:p>
                    <a:p>
                      <a:pPr algn="ctr" rtl="0" fontAlgn="b">
                        <a:buNone/>
                      </a:pPr>
                      <a:r>
                        <a:rPr lang="en-US" sz="1100" b="0" i="1" u="none" strike="noStrike" noProof="0">
                          <a:solidFill>
                            <a:srgbClr val="000000"/>
                          </a:solidFill>
                          <a:effectLst/>
                          <a:latin typeface="Scotia" panose="020B0503020203020204" pitchFamily="34" charset="0"/>
                        </a:rPr>
                        <a:t>1.4</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100" b="0" i="0" u="none" strike="noStrike" noProof="0">
                          <a:solidFill>
                            <a:srgbClr val="000000"/>
                          </a:solidFill>
                          <a:effectLst/>
                          <a:latin typeface="Scotia" panose="020B0503020203020204" pitchFamily="34" charset="0"/>
                        </a:rPr>
                        <a:t>29,554</a:t>
                      </a:r>
                    </a:p>
                    <a:p>
                      <a:pPr algn="ctr" rtl="0" fontAlgn="b">
                        <a:buNone/>
                      </a:pPr>
                      <a:r>
                        <a:rPr lang="en-US" sz="1100" b="0" i="1" u="none" strike="noStrike" noProof="0">
                          <a:solidFill>
                            <a:srgbClr val="000000"/>
                          </a:solidFill>
                          <a:effectLst/>
                          <a:latin typeface="Scotia" panose="020B0503020203020204" pitchFamily="34" charset="0"/>
                        </a:rPr>
                        <a:t>1.6</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i="0" u="none" strike="noStrike" noProof="0">
                          <a:solidFill>
                            <a:srgbClr val="000000"/>
                          </a:solidFill>
                          <a:effectLst/>
                          <a:latin typeface="Scotia" panose="020B0503020203020204" pitchFamily="34" charset="0"/>
                        </a:rPr>
                        <a:t>24,480</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i="1" u="none" strike="noStrike" noProof="0">
                          <a:solidFill>
                            <a:srgbClr val="000000"/>
                          </a:solidFill>
                          <a:effectLst/>
                          <a:latin typeface="Scotia" panose="020B0503020203020204" pitchFamily="34" charset="0"/>
                        </a:rPr>
                        <a:t>1.1</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i="0" u="none" strike="noStrike" noProof="0">
                          <a:solidFill>
                            <a:srgbClr val="000000"/>
                          </a:solidFill>
                          <a:effectLst/>
                          <a:latin typeface="Scotia" panose="020B0503020203020204" pitchFamily="34" charset="0"/>
                        </a:rPr>
                        <a:t>31,051</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i="1" u="none" strike="noStrike" noProof="0">
                          <a:solidFill>
                            <a:srgbClr val="000000"/>
                          </a:solidFill>
                          <a:effectLst/>
                          <a:latin typeface="Scotia" panose="020B0503020203020204" pitchFamily="34" charset="0"/>
                        </a:rPr>
                        <a:t>1.4</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100" b="0" i="0" u="none" strike="noStrike" noProof="0">
                          <a:solidFill>
                            <a:srgbClr val="000000"/>
                          </a:solidFill>
                          <a:effectLst/>
                          <a:latin typeface="Scotia" panose="020B0503020203020204" pitchFamily="34" charset="0"/>
                        </a:rPr>
                        <a:t>13,229</a:t>
                      </a:r>
                    </a:p>
                    <a:p>
                      <a:pPr algn="ctr" rtl="0" fontAlgn="b">
                        <a:buNone/>
                      </a:pPr>
                      <a:r>
                        <a:rPr lang="en-US" sz="1100" b="0" i="1" u="none" strike="noStrike" noProof="0">
                          <a:solidFill>
                            <a:srgbClr val="000000"/>
                          </a:solidFill>
                          <a:effectLst/>
                          <a:latin typeface="Scotia" panose="020B0503020203020204" pitchFamily="34" charset="0"/>
                        </a:rPr>
                        <a:t>3.5</a:t>
                      </a:r>
                    </a:p>
                  </a:txBody>
                  <a:tcPr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2267335"/>
                  </a:ext>
                </a:extLst>
              </a:tr>
              <a:tr h="1047360">
                <a:tc>
                  <a:txBody>
                    <a:bodyPr/>
                    <a:lstStyle/>
                    <a:p>
                      <a:pPr rtl="0"/>
                      <a:r>
                        <a:rPr lang="en-US" sz="1100" b="1" noProof="0">
                          <a:solidFill>
                            <a:schemeClr val="tx1"/>
                          </a:solidFill>
                        </a:rPr>
                        <a:t>Known for</a:t>
                      </a:r>
                    </a:p>
                  </a:txBody>
                  <a:tcPr marL="0" marT="45721" marB="45721"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rtl="0">
                        <a:buFont typeface="Wingdings" panose="05000000000000000000" pitchFamily="2" charset="2"/>
                        <a:buChar char="§"/>
                      </a:pPr>
                      <a:r>
                        <a:rPr lang="en-US" sz="1100" noProof="0">
                          <a:solidFill>
                            <a:schemeClr val="tx1"/>
                          </a:solidFill>
                        </a:rPr>
                        <a:t>Secured loan portfolio</a:t>
                      </a:r>
                    </a:p>
                    <a:p>
                      <a:pPr marL="171450" indent="-171450" algn="l" rtl="0">
                        <a:buFont typeface="Wingdings" panose="05000000000000000000" pitchFamily="2" charset="2"/>
                        <a:buChar char="§"/>
                      </a:pPr>
                      <a:r>
                        <a:rPr lang="en-US" sz="1100" noProof="0">
                          <a:solidFill>
                            <a:schemeClr val="tx1"/>
                          </a:solidFill>
                        </a:rPr>
                        <a:t>Private banking value proposition</a:t>
                      </a:r>
                    </a:p>
                  </a:txBody>
                  <a:tcPr marL="72000" marR="72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Strong digital capabilities (#1 App)</a:t>
                      </a:r>
                    </a:p>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High payroll and mass-market penetration</a:t>
                      </a:r>
                    </a:p>
                  </a:txBody>
                  <a:tcPr marL="136800" marR="90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Largest local bank</a:t>
                      </a:r>
                    </a:p>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#1 in Small Business and Corporate Banking</a:t>
                      </a:r>
                    </a:p>
                  </a:txBody>
                  <a:tcPr marL="90000" marR="90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Strong consumer lending</a:t>
                      </a:r>
                    </a:p>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Focus on digital transformation</a:t>
                      </a:r>
                    </a:p>
                  </a:txBody>
                  <a:tcPr marL="100800" marR="90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Affluent client base</a:t>
                      </a:r>
                    </a:p>
                    <a:p>
                      <a:pPr marL="171450" indent="-171450" algn="l" defTabSz="914411" rtl="0" eaLnBrk="1" latinLnBrk="0" hangingPunct="1">
                        <a:buFont typeface="Wingdings" panose="05000000000000000000" pitchFamily="2" charset="2"/>
                        <a:buChar char="§"/>
                      </a:pPr>
                      <a:r>
                        <a:rPr lang="en-US" sz="1100" b="0" kern="1200" noProof="0">
                          <a:solidFill>
                            <a:schemeClr val="tx1"/>
                          </a:solidFill>
                          <a:latin typeface="Scotia" panose="020B0503020203020204" pitchFamily="34" charset="0"/>
                          <a:ea typeface="Scotia" panose="020B0503020203020204" pitchFamily="34" charset="0"/>
                          <a:cs typeface="+mn-cs"/>
                        </a:rPr>
                        <a:t>Franchise leader in transaction banking</a:t>
                      </a:r>
                    </a:p>
                  </a:txBody>
                  <a:tcPr marL="108000" marR="90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rtl="0">
                        <a:buFont typeface="Wingdings" panose="05000000000000000000" pitchFamily="2" charset="2"/>
                        <a:buChar char="§"/>
                      </a:pPr>
                      <a:r>
                        <a:rPr lang="en-US" sz="1100" noProof="0">
                          <a:solidFill>
                            <a:schemeClr val="tx1"/>
                          </a:solidFill>
                        </a:rPr>
                        <a:t>Strong cross-border and trade finance capabilities</a:t>
                      </a:r>
                    </a:p>
                    <a:p>
                      <a:pPr marL="171450" indent="-171450" algn="l" rtl="0">
                        <a:buFont typeface="Wingdings" panose="05000000000000000000" pitchFamily="2" charset="2"/>
                        <a:buChar char="§"/>
                      </a:pPr>
                      <a:r>
                        <a:rPr lang="en-US" sz="1100" noProof="0">
                          <a:solidFill>
                            <a:schemeClr val="tx1"/>
                          </a:solidFill>
                        </a:rPr>
                        <a:t>Focus on corporates</a:t>
                      </a:r>
                    </a:p>
                  </a:txBody>
                  <a:tcPr marL="126000" marR="90000" marT="72000" marB="0">
                    <a:lnL w="9525" cap="flat" cmpd="sng" algn="ctr">
                      <a:noFill/>
                      <a:prstDash val="sysDot"/>
                      <a:round/>
                      <a:headEnd type="none" w="med" len="med"/>
                      <a:tailEnd type="none" w="med" len="med"/>
                    </a:lnL>
                    <a:lnR w="9525" cap="flat" cmpd="sng" algn="ctr">
                      <a:no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1694405"/>
                  </a:ext>
                </a:extLst>
              </a:tr>
            </a:tbl>
          </a:graphicData>
        </a:graphic>
      </p:graphicFrame>
      <p:grpSp>
        <p:nvGrpSpPr>
          <p:cNvPr id="13" name="Group 4">
            <a:extLst>
              <a:ext uri="{FF2B5EF4-FFF2-40B4-BE49-F238E27FC236}">
                <a16:creationId xmlns:a16="http://schemas.microsoft.com/office/drawing/2014/main" id="{28B6B8BE-ED81-A121-6C84-C08FF6286238}"/>
              </a:ext>
            </a:extLst>
          </p:cNvPr>
          <p:cNvGrpSpPr>
            <a:grpSpLocks noChangeAspect="1"/>
          </p:cNvGrpSpPr>
          <p:nvPr/>
        </p:nvGrpSpPr>
        <p:grpSpPr bwMode="auto">
          <a:xfrm>
            <a:off x="2352004" y="1519017"/>
            <a:ext cx="232948" cy="239350"/>
            <a:chOff x="7312" y="4020"/>
            <a:chExt cx="143" cy="157"/>
          </a:xfrm>
          <a:solidFill>
            <a:srgbClr val="EC111A"/>
          </a:solidFill>
        </p:grpSpPr>
        <p:sp>
          <p:nvSpPr>
            <p:cNvPr id="16" name="Freeform 5">
              <a:extLst>
                <a:ext uri="{FF2B5EF4-FFF2-40B4-BE49-F238E27FC236}">
                  <a16:creationId xmlns:a16="http://schemas.microsoft.com/office/drawing/2014/main" id="{6B7C7869-3933-B770-2DF9-A9F73B0FBD77}"/>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801">
                <a:solidFill>
                  <a:prstClr val="black"/>
                </a:solidFill>
                <a:latin typeface="Arial" panose="020B0604020202020204" pitchFamily="34" charset="0"/>
                <a:cs typeface="Arial" panose="020B0604020202020204" pitchFamily="34" charset="0"/>
              </a:endParaRPr>
            </a:p>
          </p:txBody>
        </p:sp>
        <p:sp>
          <p:nvSpPr>
            <p:cNvPr id="17" name="Freeform 6">
              <a:extLst>
                <a:ext uri="{FF2B5EF4-FFF2-40B4-BE49-F238E27FC236}">
                  <a16:creationId xmlns:a16="http://schemas.microsoft.com/office/drawing/2014/main" id="{C8A1A41D-29E7-407A-D5D0-7983D1EE1D11}"/>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801">
                <a:solidFill>
                  <a:prstClr val="black"/>
                </a:solidFill>
                <a:latin typeface="Arial" panose="020B0604020202020204" pitchFamily="34" charset="0"/>
                <a:cs typeface="Arial" panose="020B0604020202020204" pitchFamily="34" charset="0"/>
              </a:endParaRPr>
            </a:p>
          </p:txBody>
        </p:sp>
        <p:sp>
          <p:nvSpPr>
            <p:cNvPr id="18" name="Oval 7">
              <a:extLst>
                <a:ext uri="{FF2B5EF4-FFF2-40B4-BE49-F238E27FC236}">
                  <a16:creationId xmlns:a16="http://schemas.microsoft.com/office/drawing/2014/main" id="{669EAAF5-A89E-F0D7-3B26-101433B5AE8F}"/>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801">
                <a:solidFill>
                  <a:prstClr val="black"/>
                </a:solidFill>
                <a:latin typeface="Arial" panose="020B0604020202020204" pitchFamily="34" charset="0"/>
                <a:cs typeface="Arial" panose="020B0604020202020204" pitchFamily="34" charset="0"/>
              </a:endParaRPr>
            </a:p>
          </p:txBody>
        </p:sp>
      </p:grpSp>
      <p:pic>
        <p:nvPicPr>
          <p:cNvPr id="6" name="Picture 19">
            <a:extLst>
              <a:ext uri="{FF2B5EF4-FFF2-40B4-BE49-F238E27FC236}">
                <a16:creationId xmlns:a16="http://schemas.microsoft.com/office/drawing/2014/main" id="{F550C65B-AAD6-4F94-CEE0-84D912A5E64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11333" y="1601671"/>
            <a:ext cx="456569" cy="147856"/>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4" descr="Banorte">
            <a:extLst>
              <a:ext uri="{FF2B5EF4-FFF2-40B4-BE49-F238E27FC236}">
                <a16:creationId xmlns:a16="http://schemas.microsoft.com/office/drawing/2014/main" id="{5D29689E-1278-DD1E-7F78-C5C1A1E0A7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96154" y="1628341"/>
            <a:ext cx="1008581" cy="123316"/>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6">
            <a:extLst>
              <a:ext uri="{FF2B5EF4-FFF2-40B4-BE49-F238E27FC236}">
                <a16:creationId xmlns:a16="http://schemas.microsoft.com/office/drawing/2014/main" id="{A4307FB3-7866-450F-5A59-08853C24C4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43568" y="1588718"/>
            <a:ext cx="945721" cy="16513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8">
            <a:extLst>
              <a:ext uri="{FF2B5EF4-FFF2-40B4-BE49-F238E27FC236}">
                <a16:creationId xmlns:a16="http://schemas.microsoft.com/office/drawing/2014/main" id="{57AE9344-A3CE-0502-CC70-D5D038263E1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03602" y="1593659"/>
            <a:ext cx="819893" cy="18042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8">
            <a:extLst>
              <a:ext uri="{FF2B5EF4-FFF2-40B4-BE49-F238E27FC236}">
                <a16:creationId xmlns:a16="http://schemas.microsoft.com/office/drawing/2014/main" id="{5BDE0E15-B521-7F9B-D8D8-E2275D5E9F3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74261" y="1591949"/>
            <a:ext cx="635225" cy="1712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784427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60459E-BD91-9457-B3AC-3C4C381A6FC4}"/>
            </a:ext>
          </a:extLst>
        </p:cNvPr>
        <p:cNvGrpSpPr/>
        <p:nvPr/>
      </p:nvGrpSpPr>
      <p:grpSpPr>
        <a:xfrm>
          <a:off x="0" y="0"/>
          <a:ext cx="0" cy="0"/>
          <a:chOff x="0" y="0"/>
          <a:chExt cx="0" cy="0"/>
        </a:xfrm>
      </p:grpSpPr>
      <p:graphicFrame>
        <p:nvGraphicFramePr>
          <p:cNvPr id="11" name="Table 10">
            <a:extLst>
              <a:ext uri="{FF2B5EF4-FFF2-40B4-BE49-F238E27FC236}">
                <a16:creationId xmlns:a16="http://schemas.microsoft.com/office/drawing/2014/main" id="{F9DE7EB6-BD52-0299-E5BD-F874F7FB4A68}"/>
              </a:ext>
            </a:extLst>
          </p:cNvPr>
          <p:cNvGraphicFramePr>
            <a:graphicFrameLocks noGrp="1"/>
          </p:cNvGraphicFramePr>
          <p:nvPr/>
        </p:nvGraphicFramePr>
        <p:xfrm>
          <a:off x="573089" y="2022265"/>
          <a:ext cx="11026772" cy="4122907"/>
        </p:xfrm>
        <a:graphic>
          <a:graphicData uri="http://schemas.openxmlformats.org/drawingml/2006/table">
            <a:tbl>
              <a:tblPr firstRow="1" bandRow="1">
                <a:tableStyleId>{5C22544A-7EE6-4342-B048-85BDC9FD1C3A}</a:tableStyleId>
              </a:tblPr>
              <a:tblGrid>
                <a:gridCol w="1043492">
                  <a:extLst>
                    <a:ext uri="{9D8B030D-6E8A-4147-A177-3AD203B41FA5}">
                      <a16:colId xmlns:a16="http://schemas.microsoft.com/office/drawing/2014/main" val="2154718430"/>
                    </a:ext>
                  </a:extLst>
                </a:gridCol>
                <a:gridCol w="2070748">
                  <a:extLst>
                    <a:ext uri="{9D8B030D-6E8A-4147-A177-3AD203B41FA5}">
                      <a16:colId xmlns:a16="http://schemas.microsoft.com/office/drawing/2014/main" val="3688268121"/>
                    </a:ext>
                  </a:extLst>
                </a:gridCol>
                <a:gridCol w="2334544">
                  <a:extLst>
                    <a:ext uri="{9D8B030D-6E8A-4147-A177-3AD203B41FA5}">
                      <a16:colId xmlns:a16="http://schemas.microsoft.com/office/drawing/2014/main" val="2230759872"/>
                    </a:ext>
                  </a:extLst>
                </a:gridCol>
                <a:gridCol w="1851982">
                  <a:extLst>
                    <a:ext uri="{9D8B030D-6E8A-4147-A177-3AD203B41FA5}">
                      <a16:colId xmlns:a16="http://schemas.microsoft.com/office/drawing/2014/main" val="925307697"/>
                    </a:ext>
                  </a:extLst>
                </a:gridCol>
                <a:gridCol w="696450">
                  <a:extLst>
                    <a:ext uri="{9D8B030D-6E8A-4147-A177-3AD203B41FA5}">
                      <a16:colId xmlns:a16="http://schemas.microsoft.com/office/drawing/2014/main" val="2978390683"/>
                    </a:ext>
                  </a:extLst>
                </a:gridCol>
                <a:gridCol w="812524">
                  <a:extLst>
                    <a:ext uri="{9D8B030D-6E8A-4147-A177-3AD203B41FA5}">
                      <a16:colId xmlns:a16="http://schemas.microsoft.com/office/drawing/2014/main" val="2760448592"/>
                    </a:ext>
                  </a:extLst>
                </a:gridCol>
                <a:gridCol w="696450">
                  <a:extLst>
                    <a:ext uri="{9D8B030D-6E8A-4147-A177-3AD203B41FA5}">
                      <a16:colId xmlns:a16="http://schemas.microsoft.com/office/drawing/2014/main" val="3305697183"/>
                    </a:ext>
                  </a:extLst>
                </a:gridCol>
                <a:gridCol w="824132">
                  <a:extLst>
                    <a:ext uri="{9D8B030D-6E8A-4147-A177-3AD203B41FA5}">
                      <a16:colId xmlns:a16="http://schemas.microsoft.com/office/drawing/2014/main" val="1109014206"/>
                    </a:ext>
                  </a:extLst>
                </a:gridCol>
                <a:gridCol w="696450">
                  <a:extLst>
                    <a:ext uri="{9D8B030D-6E8A-4147-A177-3AD203B41FA5}">
                      <a16:colId xmlns:a16="http://schemas.microsoft.com/office/drawing/2014/main" val="2537484785"/>
                    </a:ext>
                  </a:extLst>
                </a:gridCol>
              </a:tblGrid>
              <a:tr h="375675">
                <a:tc>
                  <a:txBody>
                    <a:bodyPr/>
                    <a:lstStyle/>
                    <a:p>
                      <a:pPr rtl="0"/>
                      <a:endParaRPr lang="en-US" sz="1100" noProof="0">
                        <a:solidFill>
                          <a:schemeClr val="tx1"/>
                        </a:solidFill>
                      </a:endParaRPr>
                    </a:p>
                  </a:txBody>
                  <a:tcPr marT="45721" marB="45721">
                    <a:lnB w="6350" cap="flat" cmpd="sng" algn="ctr">
                      <a:noFill/>
                      <a:prstDash val="solid"/>
                      <a:round/>
                      <a:headEnd type="none" w="med" len="med"/>
                      <a:tailEnd type="none" w="med" len="med"/>
                    </a:lnB>
                    <a:noFill/>
                  </a:tcPr>
                </a:tc>
                <a:tc>
                  <a:txBody>
                    <a:bodyPr/>
                    <a:lstStyle/>
                    <a:p>
                      <a:pPr algn="l" rtl="0"/>
                      <a:r>
                        <a:rPr lang="en-US" sz="1100" noProof="0">
                          <a:solidFill>
                            <a:schemeClr val="tx1"/>
                          </a:solidFill>
                        </a:rPr>
                        <a:t>Total Loans</a:t>
                      </a:r>
                      <a:endParaRPr lang="en-US" sz="1100" baseline="30000" noProof="0">
                        <a:solidFill>
                          <a:schemeClr val="tx1"/>
                        </a:solidFill>
                      </a:endParaRPr>
                    </a:p>
                  </a:txBody>
                  <a:tcPr marL="45721" marR="45721" marT="45721" marB="45721" anchor="ctr">
                    <a:lnB w="6350" cap="flat" cmpd="sng" algn="ctr">
                      <a:noFill/>
                      <a:prstDash val="solid"/>
                      <a:round/>
                      <a:headEnd type="none" w="med" len="med"/>
                      <a:tailEnd type="none" w="med" len="med"/>
                    </a:lnB>
                    <a:noFill/>
                  </a:tcPr>
                </a:tc>
                <a:tc>
                  <a:txBody>
                    <a:bodyPr/>
                    <a:lstStyle/>
                    <a:p>
                      <a:pPr algn="l" rtl="0"/>
                      <a:r>
                        <a:rPr lang="en-US" sz="1100" noProof="0">
                          <a:solidFill>
                            <a:schemeClr val="tx1"/>
                          </a:solidFill>
                        </a:rPr>
                        <a:t>    Total Deposits</a:t>
                      </a:r>
                      <a:endParaRPr lang="en-US" sz="1100" baseline="30000" noProof="0">
                        <a:solidFill>
                          <a:schemeClr val="tx1"/>
                        </a:solidFill>
                        <a:highlight>
                          <a:srgbClr val="FFFF00"/>
                        </a:highlight>
                      </a:endParaRPr>
                    </a:p>
                  </a:txBody>
                  <a:tcPr marL="45721" marR="45721" marT="45721" marB="45721" anchor="ctr">
                    <a:lnB w="6350" cap="flat" cmpd="sng" algn="ctr">
                      <a:noFill/>
                      <a:prstDash val="solid"/>
                      <a:round/>
                      <a:headEnd type="none" w="med" len="med"/>
                      <a:tailEnd type="none" w="med" len="med"/>
                    </a:lnB>
                    <a:noFill/>
                  </a:tcPr>
                </a:tc>
                <a:tc>
                  <a:txBody>
                    <a:bodyPr/>
                    <a:lstStyle/>
                    <a:p>
                      <a:pPr algn="l" rtl="0"/>
                      <a:r>
                        <a:rPr lang="en-US" sz="1100" baseline="0" noProof="0">
                          <a:solidFill>
                            <a:schemeClr val="tx1"/>
                          </a:solidFill>
                        </a:rPr>
                        <a:t>Total AUMs</a:t>
                      </a:r>
                      <a:r>
                        <a:rPr lang="en-US" sz="1100" baseline="30000" noProof="0">
                          <a:solidFill>
                            <a:schemeClr val="tx1"/>
                          </a:solidFill>
                        </a:rPr>
                        <a:t>2</a:t>
                      </a:r>
                    </a:p>
                  </a:txBody>
                  <a:tcPr marL="45721" marR="45721" marT="45721" marB="45721" anchor="ctr">
                    <a:lnR w="12700" cap="flat" cmpd="sng" algn="ctr">
                      <a:noFill/>
                      <a:prstDash val="solid"/>
                      <a:round/>
                      <a:headEnd type="none" w="med" len="med"/>
                      <a:tailEnd type="none" w="med" len="med"/>
                    </a:lnR>
                    <a:lnB w="6350" cap="flat" cmpd="sng" algn="ctr">
                      <a:noFill/>
                      <a:prstDash val="solid"/>
                      <a:round/>
                      <a:headEnd type="none" w="med" len="med"/>
                      <a:tailEnd type="none" w="med" len="med"/>
                    </a:lnB>
                    <a:noFill/>
                  </a:tcPr>
                </a:tc>
                <a:tc>
                  <a:txBody>
                    <a:bodyPr/>
                    <a:lstStyle/>
                    <a:p>
                      <a:pPr algn="ctr" rtl="0"/>
                      <a:r>
                        <a:rPr lang="en-US" sz="1100" noProof="0">
                          <a:solidFill>
                            <a:schemeClr val="tx1"/>
                          </a:solidFill>
                        </a:rPr>
                        <a:t>NIM</a:t>
                      </a:r>
                    </a:p>
                  </a:txBody>
                  <a:tcPr marL="0" marR="0" marT="0" marB="0" anchor="ctr">
                    <a:lnL w="9525" cap="flat" cmpd="sng" algn="ctr">
                      <a:noFill/>
                      <a:prstDash val="sysDot"/>
                      <a:round/>
                      <a:headEnd type="none" w="med" len="med"/>
                      <a:tailEnd type="none" w="med" len="med"/>
                    </a:lnL>
                    <a:lnB w="6350" cap="flat" cmpd="sng" algn="ctr">
                      <a:noFill/>
                      <a:prstDash val="solid"/>
                      <a:round/>
                      <a:headEnd type="none" w="med" len="med"/>
                      <a:tailEnd type="none" w="med" len="med"/>
                    </a:lnB>
                    <a:noFill/>
                  </a:tcPr>
                </a:tc>
                <a:tc>
                  <a:txBody>
                    <a:bodyPr/>
                    <a:lstStyle/>
                    <a:p>
                      <a:pPr algn="ctr" rtl="0"/>
                      <a:r>
                        <a:rPr lang="en-US" sz="1100" noProof="0">
                          <a:solidFill>
                            <a:schemeClr val="tx1"/>
                          </a:solidFill>
                        </a:rPr>
                        <a:t>PCL Ratio</a:t>
                      </a:r>
                    </a:p>
                  </a:txBody>
                  <a:tcPr marL="0" marR="0" marT="0" marB="0" anchor="ctr">
                    <a:lnB w="6350" cap="flat" cmpd="sng" algn="ctr">
                      <a:noFill/>
                      <a:prstDash val="solid"/>
                      <a:round/>
                      <a:headEnd type="none" w="med" len="med"/>
                      <a:tailEnd type="none" w="med" len="med"/>
                    </a:lnB>
                    <a:noFill/>
                  </a:tcPr>
                </a:tc>
                <a:tc>
                  <a:txBody>
                    <a:bodyPr/>
                    <a:lstStyle/>
                    <a:p>
                      <a:pPr algn="ctr" rtl="0"/>
                      <a:r>
                        <a:rPr lang="en-US" sz="1100" noProof="0">
                          <a:solidFill>
                            <a:schemeClr val="tx1"/>
                          </a:solidFill>
                        </a:rPr>
                        <a:t>RAM</a:t>
                      </a:r>
                    </a:p>
                  </a:txBody>
                  <a:tcPr marL="0" marR="0" marT="0" marB="0" anchor="ctr">
                    <a:lnB w="6350" cap="flat" cmpd="sng" algn="ctr">
                      <a:noFill/>
                      <a:prstDash val="solid"/>
                      <a:round/>
                      <a:headEnd type="none" w="med" len="med"/>
                      <a:tailEnd type="none" w="med" len="med"/>
                    </a:lnB>
                    <a:noFill/>
                  </a:tcPr>
                </a:tc>
                <a:tc>
                  <a:txBody>
                    <a:bodyPr/>
                    <a:lstStyle/>
                    <a:p>
                      <a:pPr algn="ctr" rtl="0"/>
                      <a:r>
                        <a:rPr lang="en-US" sz="1100" noProof="0">
                          <a:solidFill>
                            <a:schemeClr val="tx1"/>
                          </a:solidFill>
                        </a:rPr>
                        <a:t>Prod. Ratio</a:t>
                      </a:r>
                    </a:p>
                  </a:txBody>
                  <a:tcPr marL="0" marR="0" marT="0" marB="0" anchor="ctr">
                    <a:lnB w="6350" cap="flat" cmpd="sng" algn="ctr">
                      <a:noFill/>
                      <a:prstDash val="solid"/>
                      <a:round/>
                      <a:headEnd type="none" w="med" len="med"/>
                      <a:tailEnd type="none" w="med" len="med"/>
                    </a:lnB>
                    <a:noFill/>
                  </a:tcPr>
                </a:tc>
                <a:tc>
                  <a:txBody>
                    <a:bodyPr/>
                    <a:lstStyle/>
                    <a:p>
                      <a:pPr algn="ctr" rtl="0"/>
                      <a:r>
                        <a:rPr lang="en-US" sz="1100" noProof="0">
                          <a:solidFill>
                            <a:schemeClr val="tx1"/>
                          </a:solidFill>
                        </a:rPr>
                        <a:t>ROE</a:t>
                      </a:r>
                    </a:p>
                  </a:txBody>
                  <a:tcPr marL="0" marR="0" marT="0" marB="0" anchor="ctr">
                    <a:lnB w="6350" cap="flat" cmpd="sng" algn="ctr">
                      <a:noFill/>
                      <a:prstDash val="solid"/>
                      <a:round/>
                      <a:headEnd type="none" w="med" len="med"/>
                      <a:tailEnd type="none" w="med" len="med"/>
                    </a:lnB>
                    <a:noFill/>
                  </a:tcPr>
                </a:tc>
                <a:extLst>
                  <a:ext uri="{0D108BD9-81ED-4DB2-BD59-A6C34878D82A}">
                    <a16:rowId xmlns:a16="http://schemas.microsoft.com/office/drawing/2014/main" val="3205626317"/>
                  </a:ext>
                </a:extLst>
              </a:tr>
              <a:tr h="468404">
                <a:tc>
                  <a:txBody>
                    <a:bodyPr/>
                    <a:lstStyle/>
                    <a:p>
                      <a:pPr rtl="0"/>
                      <a:r>
                        <a:rPr lang="en-US" sz="1100" noProof="0">
                          <a:solidFill>
                            <a:schemeClr val="tx1"/>
                          </a:solidFill>
                        </a:rPr>
                        <a:t>BBVA</a:t>
                      </a:r>
                    </a:p>
                  </a:txBody>
                  <a:tcPr marL="0" marR="0" marT="45721" marB="45721"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7.5%</a:t>
                      </a:r>
                    </a:p>
                  </a:txBody>
                  <a:tcPr marL="0" marR="0" marT="0" marB="0" anchor="ctr">
                    <a:lnL w="9525" cap="flat" cmpd="sng" algn="ctr">
                      <a:noFill/>
                      <a:prstDash val="sysDot"/>
                      <a:round/>
                      <a:headEnd type="none" w="med" len="med"/>
                      <a:tailEnd type="none" w="med" len="med"/>
                    </a:lnL>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3.0%</a:t>
                      </a:r>
                    </a:p>
                  </a:txBody>
                  <a:tcPr marL="0" marR="0" marT="0" marB="0"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8.7%</a:t>
                      </a:r>
                    </a:p>
                  </a:txBody>
                  <a:tcPr marL="0" marR="0" marT="0" marB="0"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32.6%</a:t>
                      </a:r>
                    </a:p>
                  </a:txBody>
                  <a:tcPr marL="0" marR="0" marT="0" marB="0"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25.8%</a:t>
                      </a:r>
                    </a:p>
                  </a:txBody>
                  <a:tcPr marL="0" marR="0" marT="0" marB="0" anchor="ctr">
                    <a:lnT w="6350" cap="flat" cmpd="sng" algn="ctr">
                      <a:no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1446279904"/>
                  </a:ext>
                </a:extLst>
              </a:tr>
              <a:tr h="468404">
                <a:tc>
                  <a:txBody>
                    <a:bodyPr/>
                    <a:lstStyle/>
                    <a:p>
                      <a:pPr rtl="0"/>
                      <a:r>
                        <a:rPr lang="en-US" sz="1100" noProof="0">
                          <a:solidFill>
                            <a:schemeClr val="tx1"/>
                          </a:solidFill>
                        </a:rPr>
                        <a:t>Banorte</a:t>
                      </a:r>
                    </a:p>
                  </a:txBody>
                  <a:tcPr marL="0" marR="0"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5.9%</a:t>
                      </a:r>
                    </a:p>
                  </a:txBody>
                  <a:tcPr marL="0" marR="0" marT="0" marB="0" anchor="ctr">
                    <a:lnL w="9525" cap="flat" cmpd="sng" algn="ctr">
                      <a:no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1.8%</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8.1%</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40.2%</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28.0%</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1366285467"/>
                  </a:ext>
                </a:extLst>
              </a:tr>
              <a:tr h="468404">
                <a:tc>
                  <a:txBody>
                    <a:bodyPr/>
                    <a:lstStyle/>
                    <a:p>
                      <a:pPr rtl="0"/>
                      <a:r>
                        <a:rPr lang="en-US" sz="1100" noProof="0">
                          <a:solidFill>
                            <a:schemeClr val="tx1"/>
                          </a:solidFill>
                        </a:rPr>
                        <a:t>Santander</a:t>
                      </a:r>
                    </a:p>
                  </a:txBody>
                  <a:tcPr marL="0" marR="0"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5.2%</a:t>
                      </a:r>
                    </a:p>
                  </a:txBody>
                  <a:tcPr marL="0" marR="0" marT="0" marB="0" anchor="ctr">
                    <a:lnL w="9525" cap="flat" cmpd="sng" algn="ctr">
                      <a:no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2.7%</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7.6%</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43.3%</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19.4%</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1551836444"/>
                  </a:ext>
                </a:extLst>
              </a:tr>
              <a:tr h="468404">
                <a:tc>
                  <a:txBody>
                    <a:bodyPr/>
                    <a:lstStyle/>
                    <a:p>
                      <a:pPr rtl="0"/>
                      <a:r>
                        <a:rPr lang="en-US" sz="1100" b="1" noProof="0">
                          <a:solidFill>
                            <a:srgbClr val="EC111A"/>
                          </a:solidFill>
                        </a:rPr>
                        <a:t>Scotiabank</a:t>
                      </a:r>
                    </a:p>
                  </a:txBody>
                  <a:tcPr marL="0" marR="0"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3.7%</a:t>
                      </a:r>
                    </a:p>
                  </a:txBody>
                  <a:tcPr marL="0" marR="0" marT="0" marB="0" anchor="ctr">
                    <a:lnL w="9525" cap="flat" cmpd="sng" algn="ctr">
                      <a:no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1.4%</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4.6%</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48.1%</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11.2%</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488803998"/>
                  </a:ext>
                </a:extLst>
              </a:tr>
              <a:tr h="468404">
                <a:tc>
                  <a:txBody>
                    <a:bodyPr/>
                    <a:lstStyle/>
                    <a:p>
                      <a:pPr rtl="0"/>
                      <a:r>
                        <a:rPr lang="en-US" sz="1100" noProof="0">
                          <a:solidFill>
                            <a:schemeClr val="tx1"/>
                          </a:solidFill>
                        </a:rPr>
                        <a:t>Banamex</a:t>
                      </a:r>
                    </a:p>
                  </a:txBody>
                  <a:tcPr marL="0" marR="0"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b="0" i="1" noProof="0">
                        <a:solidFill>
                          <a:srgbClr val="EC111A"/>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9.7%</a:t>
                      </a:r>
                    </a:p>
                  </a:txBody>
                  <a:tcPr marL="0" marR="0" marT="0" marB="0" anchor="ctr">
                    <a:lnL w="9525" cap="flat" cmpd="sng" algn="ctr">
                      <a:no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5.5%</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13.7%</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61.3%</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8.4%</a:t>
                      </a:r>
                    </a:p>
                  </a:txBody>
                  <a:tcPr marL="0" marR="0" marT="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630205970"/>
                  </a:ext>
                </a:extLst>
              </a:tr>
              <a:tr h="468404">
                <a:tc>
                  <a:txBody>
                    <a:bodyPr/>
                    <a:lstStyle/>
                    <a:p>
                      <a:pPr marL="0" algn="l" defTabSz="914411" rtl="0" eaLnBrk="1" latinLnBrk="0" hangingPunct="1"/>
                      <a:r>
                        <a:rPr lang="en-US" sz="1100" kern="1200" noProof="0">
                          <a:solidFill>
                            <a:schemeClr val="tx1"/>
                          </a:solidFill>
                          <a:latin typeface="+mn-lt"/>
                          <a:ea typeface="+mn-ea"/>
                          <a:cs typeface="+mn-cs"/>
                        </a:rPr>
                        <a:t>HSBC</a:t>
                      </a:r>
                    </a:p>
                  </a:txBody>
                  <a:tcPr marL="0" marR="0" marT="45721" marB="45721"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rtl="0"/>
                      <a:endParaRPr lang="en-US" sz="1100" noProof="0">
                        <a:solidFill>
                          <a:schemeClr val="tx1"/>
                        </a:solidFill>
                      </a:endParaRPr>
                    </a:p>
                  </a:txBody>
                  <a:tcPr marT="45721" marB="45721"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rtl="0"/>
                      <a:endParaRPr lang="en-US" sz="1100" noProof="0">
                        <a:solidFill>
                          <a:schemeClr val="tx1"/>
                        </a:solidFill>
                      </a:endParaRPr>
                    </a:p>
                  </a:txBody>
                  <a:tcPr marT="45721" marB="45721" anchor="ctr">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5.8%</a:t>
                      </a:r>
                    </a:p>
                  </a:txBody>
                  <a:tcPr marL="0" marR="0" marT="0" marB="0" anchor="ctr">
                    <a:lnL w="9525" cap="flat" cmpd="sng" algn="ctr">
                      <a:no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2.8%</a:t>
                      </a:r>
                    </a:p>
                  </a:txBody>
                  <a:tcPr marL="0" marR="0" marT="0" marB="0"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7.0%</a:t>
                      </a:r>
                    </a:p>
                  </a:txBody>
                  <a:tcPr marL="0" marR="0" marT="0" marB="0"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58.3%</a:t>
                      </a:r>
                    </a:p>
                  </a:txBody>
                  <a:tcPr marL="0" marR="0" marT="0" marB="0"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9.8%</a:t>
                      </a:r>
                    </a:p>
                  </a:txBody>
                  <a:tcPr marL="0" marR="0" marT="0" marB="0" anchor="ctr">
                    <a:lnT w="12700" cap="flat" cmpd="sng" algn="ctr">
                      <a:solidFill>
                        <a:schemeClr val="bg1">
                          <a:lumMod val="85000"/>
                        </a:schemeClr>
                      </a:solidFill>
                      <a:prstDash val="sysDot"/>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978863651"/>
                  </a:ext>
                </a:extLst>
              </a:tr>
              <a:tr h="468404">
                <a:tc>
                  <a:txBody>
                    <a:bodyPr/>
                    <a:lstStyle/>
                    <a:p>
                      <a:pPr algn="l" rtl="0"/>
                      <a:r>
                        <a:rPr lang="en-US" sz="1100" b="1" noProof="0">
                          <a:solidFill>
                            <a:schemeClr val="tx1"/>
                          </a:solidFill>
                        </a:rPr>
                        <a:t>Industry</a:t>
                      </a:r>
                    </a:p>
                  </a:txBody>
                  <a:tcPr marL="0" marR="0" marT="45721" marB="45721"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algn="l" rtl="0"/>
                      <a:r>
                        <a:rPr lang="en-US" sz="1100" noProof="0">
                          <a:solidFill>
                            <a:schemeClr val="tx1"/>
                          </a:solidFill>
                        </a:rPr>
                        <a:t>$607</a:t>
                      </a:r>
                    </a:p>
                  </a:txBody>
                  <a:tcPr marT="45721" marB="45721"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algn="l" rtl="0"/>
                      <a:r>
                        <a:rPr lang="en-US" sz="1100" noProof="0">
                          <a:solidFill>
                            <a:schemeClr val="tx1"/>
                          </a:solidFill>
                        </a:rPr>
                        <a:t>$600</a:t>
                      </a:r>
                    </a:p>
                  </a:txBody>
                  <a:tcPr marT="45721" marB="45721"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algn="l" rtl="0"/>
                      <a:r>
                        <a:rPr lang="en-US" sz="1100" noProof="0">
                          <a:solidFill>
                            <a:schemeClr val="tx1"/>
                          </a:solidFill>
                        </a:rPr>
                        <a:t>$350</a:t>
                      </a:r>
                    </a:p>
                  </a:txBody>
                  <a:tcPr marT="45721" marB="45721" anchor="ctr">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6.1%</a:t>
                      </a:r>
                    </a:p>
                  </a:txBody>
                  <a:tcPr marL="0" marR="0" marT="0" marB="0" anchor="ctr">
                    <a:lnL w="9525" cap="flat" cmpd="sng" algn="ctr">
                      <a:noFill/>
                      <a:prstDash val="sysDot"/>
                      <a:round/>
                      <a:headEnd type="none" w="med" len="med"/>
                      <a:tailEnd type="none" w="med" len="med"/>
                    </a:lnL>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2.7%</a:t>
                      </a:r>
                    </a:p>
                  </a:txBody>
                  <a:tcPr marL="0" marR="0" marT="0" marB="0"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9.0%</a:t>
                      </a:r>
                    </a:p>
                  </a:txBody>
                  <a:tcPr marL="0" marR="0" marT="0" marB="0"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47.2%</a:t>
                      </a:r>
                    </a:p>
                  </a:txBody>
                  <a:tcPr marL="0" marR="0" marT="0" marB="0"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chemeClr val="tx1"/>
                          </a:solidFill>
                          <a:effectLst/>
                          <a:uLnTx/>
                          <a:uFillTx/>
                          <a:latin typeface="Scotia" panose="020B0503020203020204" pitchFamily="34" charset="0"/>
                          <a:ea typeface="+mn-ea"/>
                          <a:cs typeface="+mn-cs"/>
                        </a:rPr>
                        <a:t>17.0%</a:t>
                      </a:r>
                    </a:p>
                  </a:txBody>
                  <a:tcPr marL="0" marR="0" marT="0" marB="0" anchor="ctr">
                    <a:lnT w="9525" cap="flat" cmpd="sng" algn="ctr">
                      <a:solidFill>
                        <a:schemeClr val="bg1">
                          <a:lumMod val="75000"/>
                        </a:schemeClr>
                      </a:solidFill>
                      <a:prstDash val="solid"/>
                      <a:round/>
                      <a:headEnd type="none" w="med" len="med"/>
                      <a:tailEnd type="none" w="med" len="med"/>
                    </a:lnT>
                    <a:lnB w="9525" cap="flat" cmpd="sng" algn="ctr">
                      <a:solidFill>
                        <a:srgbClr val="E0E0E0"/>
                      </a:solidFill>
                      <a:prstDash val="sysDot"/>
                      <a:round/>
                      <a:headEnd type="none" w="med" len="med"/>
                      <a:tailEnd type="none" w="med" len="med"/>
                    </a:lnB>
                    <a:noFill/>
                  </a:tcPr>
                </a:tc>
                <a:extLst>
                  <a:ext uri="{0D108BD9-81ED-4DB2-BD59-A6C34878D82A}">
                    <a16:rowId xmlns:a16="http://schemas.microsoft.com/office/drawing/2014/main" val="15400916"/>
                  </a:ext>
                </a:extLst>
              </a:tr>
              <a:tr h="468404">
                <a:tc>
                  <a:txBody>
                    <a:bodyPr/>
                    <a:lstStyle/>
                    <a:p>
                      <a:pPr algn="l" rtl="0"/>
                      <a:r>
                        <a:rPr lang="en-US" sz="1100" b="1" noProof="0">
                          <a:solidFill>
                            <a:schemeClr val="tx1"/>
                          </a:solidFill>
                        </a:rPr>
                        <a:t>Peers</a:t>
                      </a:r>
                    </a:p>
                  </a:txBody>
                  <a:tcPr marL="0" marR="0" marT="45721" marB="45721"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a:r>
                        <a:rPr kumimoji="0" lang="en-US" sz="1100" b="0" i="0" u="none" strike="noStrike" kern="1200" cap="none" spc="0" normalizeH="0" baseline="0" noProof="0">
                          <a:ln>
                            <a:noFill/>
                          </a:ln>
                          <a:solidFill>
                            <a:srgbClr val="000000"/>
                          </a:solidFill>
                          <a:effectLst/>
                          <a:uLnTx/>
                          <a:uFillTx/>
                          <a:latin typeface="Scotia"/>
                          <a:ea typeface="+mn-ea"/>
                          <a:cs typeface="+mn-cs"/>
                        </a:rPr>
                        <a:t>$394</a:t>
                      </a:r>
                      <a:endParaRPr lang="en-US" sz="1100" noProof="0">
                        <a:solidFill>
                          <a:schemeClr val="tx1"/>
                        </a:solidFill>
                      </a:endParaRPr>
                    </a:p>
                  </a:txBody>
                  <a:tcPr marT="45721" marB="45721"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a:r>
                        <a:rPr kumimoji="0" lang="en-US" sz="1100" b="0" i="0" u="none" strike="noStrike" kern="1200" cap="none" spc="0" normalizeH="0" baseline="0" noProof="0">
                          <a:ln>
                            <a:noFill/>
                          </a:ln>
                          <a:solidFill>
                            <a:srgbClr val="000000"/>
                          </a:solidFill>
                          <a:effectLst/>
                          <a:uLnTx/>
                          <a:uFillTx/>
                          <a:latin typeface="Scotia"/>
                          <a:ea typeface="+mn-ea"/>
                          <a:cs typeface="+mn-cs"/>
                        </a:rPr>
                        <a:t>$390</a:t>
                      </a:r>
                      <a:endParaRPr lang="en-US" sz="1100" noProof="0">
                        <a:solidFill>
                          <a:schemeClr val="tx1"/>
                        </a:solidFill>
                      </a:endParaRPr>
                    </a:p>
                  </a:txBody>
                  <a:tcPr marT="45721" marB="45721" anchor="ctr">
                    <a:lnL w="9525" cap="flat" cmpd="sng" algn="ctr">
                      <a:noFill/>
                      <a:prstDash val="sysDot"/>
                      <a:round/>
                      <a:headEnd type="none" w="med" len="med"/>
                      <a:tailEnd type="none" w="med" len="med"/>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a:r>
                        <a:rPr lang="en-US" sz="1100" noProof="0">
                          <a:solidFill>
                            <a:schemeClr val="tx1"/>
                          </a:solidFill>
                        </a:rPr>
                        <a:t>$239</a:t>
                      </a:r>
                    </a:p>
                  </a:txBody>
                  <a:tcPr marT="45721" marB="45721" anchor="ctr">
                    <a:lnL w="9525" cap="flat" cmpd="sng" algn="ctr">
                      <a:noFill/>
                      <a:prstDash val="sysDot"/>
                      <a:round/>
                      <a:headEnd type="none" w="med" len="med"/>
                      <a:tailEnd type="none" w="med" len="med"/>
                    </a:lnL>
                    <a:lnR w="12700" cap="flat" cmpd="sng" algn="ctr">
                      <a:noFill/>
                      <a:prstDash val="solid"/>
                      <a:round/>
                      <a:headEnd type="none" w="med" len="med"/>
                      <a:tailEnd type="none" w="med" len="med"/>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6.7%</a:t>
                      </a:r>
                    </a:p>
                  </a:txBody>
                  <a:tcPr marL="0" marR="0" marT="0" marB="0" anchor="ctr">
                    <a:lnL w="9525" cap="flat" cmpd="sng" algn="ctr">
                      <a:noFill/>
                      <a:prstDash val="sysDot"/>
                      <a:round/>
                      <a:headEnd type="none" w="med" len="med"/>
                      <a:tailEnd type="none" w="med" len="med"/>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2.9%</a:t>
                      </a:r>
                    </a:p>
                  </a:txBody>
                  <a:tcPr marL="0" marR="0" marT="0" marB="0"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8.7%</a:t>
                      </a:r>
                    </a:p>
                  </a:txBody>
                  <a:tcPr marL="0" marR="0" marT="0" marB="0"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42.7%</a:t>
                      </a:r>
                    </a:p>
                  </a:txBody>
                  <a:tcPr marL="0" marR="0" marT="0" marB="0"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20.5%</a:t>
                      </a:r>
                    </a:p>
                  </a:txBody>
                  <a:tcPr marL="0" marR="0" marT="0" marB="0" anchor="ctr">
                    <a:lnL w="12700" cmpd="sng">
                      <a:noFill/>
                    </a:lnL>
                    <a:lnR w="12700" cmpd="sng">
                      <a:noFill/>
                    </a:lnR>
                    <a:lnT w="9525" cap="flat" cmpd="sng" algn="ctr">
                      <a:solidFill>
                        <a:srgbClr val="E0E0E0"/>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048240"/>
                  </a:ext>
                </a:extLst>
              </a:tr>
            </a:tbl>
          </a:graphicData>
        </a:graphic>
      </p:graphicFrame>
      <p:sp>
        <p:nvSpPr>
          <p:cNvPr id="2" name="Title 1">
            <a:extLst>
              <a:ext uri="{FF2B5EF4-FFF2-40B4-BE49-F238E27FC236}">
                <a16:creationId xmlns:a16="http://schemas.microsoft.com/office/drawing/2014/main" id="{F9443C4B-2053-1D56-910C-1E7714A2186F}"/>
              </a:ext>
            </a:extLst>
          </p:cNvPr>
          <p:cNvSpPr>
            <a:spLocks noGrp="1"/>
          </p:cNvSpPr>
          <p:nvPr>
            <p:ph type="title"/>
          </p:nvPr>
        </p:nvSpPr>
        <p:spPr/>
        <p:txBody>
          <a:bodyPr vert="horz" lIns="0" tIns="0" rIns="0" bIns="0" rtlCol="0" anchor="t">
            <a:noAutofit/>
          </a:bodyPr>
          <a:lstStyle/>
          <a:p>
            <a:r>
              <a:rPr lang="en-US" noProof="0">
                <a:solidFill>
                  <a:srgbClr val="EC111A"/>
                </a:solidFill>
              </a:rPr>
              <a:t>Competitive Overview | </a:t>
            </a:r>
            <a:r>
              <a:rPr lang="en-US" noProof="0"/>
              <a:t>Among top players, SBM has the highest concentration in mortgages loans and price sensitive deposits resulting in below industry profitability</a:t>
            </a:r>
          </a:p>
        </p:txBody>
      </p:sp>
      <p:sp>
        <p:nvSpPr>
          <p:cNvPr id="3" name="Slide Number Placeholder 2">
            <a:extLst>
              <a:ext uri="{FF2B5EF4-FFF2-40B4-BE49-F238E27FC236}">
                <a16:creationId xmlns:a16="http://schemas.microsoft.com/office/drawing/2014/main" id="{7DA76D16-9608-C1FF-FEC5-26E7CBF20D78}"/>
              </a:ext>
            </a:extLst>
          </p:cNvPr>
          <p:cNvSpPr>
            <a:spLocks noGrp="1"/>
          </p:cNvSpPr>
          <p:nvPr>
            <p:ph type="sldNum" sz="quarter" idx="10"/>
          </p:nvPr>
        </p:nvSpPr>
        <p:spPr/>
        <p:txBody>
          <a:bodyPr/>
          <a:lstStyle/>
          <a:p>
            <a:fld id="{95D835A7-12B2-4074-8DA2-469A8808C237}" type="slidenum">
              <a:rPr lang="en-US" noProof="0" smtClean="0"/>
              <a:pPr/>
              <a:t>39</a:t>
            </a:fld>
            <a:endParaRPr lang="en-US" noProof="0"/>
          </a:p>
        </p:txBody>
      </p:sp>
      <p:sp>
        <p:nvSpPr>
          <p:cNvPr id="27" name="Text Placeholder 26">
            <a:extLst>
              <a:ext uri="{FF2B5EF4-FFF2-40B4-BE49-F238E27FC236}">
                <a16:creationId xmlns:a16="http://schemas.microsoft.com/office/drawing/2014/main" id="{B8F4B67B-883E-59F1-0DFD-C2ACB615FEB7}"/>
              </a:ext>
            </a:extLst>
          </p:cNvPr>
          <p:cNvSpPr>
            <a:spLocks noGrp="1"/>
          </p:cNvSpPr>
          <p:nvPr>
            <p:ph type="body" sz="quarter" idx="11"/>
          </p:nvPr>
        </p:nvSpPr>
        <p:spPr>
          <a:xfrm>
            <a:off x="515940" y="6324483"/>
            <a:ext cx="10620000" cy="144000"/>
          </a:xfrm>
        </p:spPr>
        <p:txBody>
          <a:bodyPr anchor="t"/>
          <a:lstStyle/>
          <a:p>
            <a:r>
              <a:rPr lang="en-US" noProof="0"/>
              <a:t>Source: CNBV, Statement of Financial Position Report as of  December 2025; Note: FX rate as of Jan 16</a:t>
            </a:r>
            <a:r>
              <a:rPr lang="en-US" baseline="30000" noProof="0"/>
              <a:t>th</a:t>
            </a:r>
            <a:r>
              <a:rPr lang="en-US" noProof="0"/>
              <a:t>, 2026: 13.3645; 1. Non-Mortgage loans includes Corporate, Commercial, Auto, Credit Card, Payroll, Personal and Other consumer loans; 2. AUMs from non-taxpayers excluded</a:t>
            </a:r>
            <a:r>
              <a:rPr lang="en-US" i="1" noProof="0"/>
              <a:t>. </a:t>
            </a:r>
          </a:p>
        </p:txBody>
      </p:sp>
      <p:sp>
        <p:nvSpPr>
          <p:cNvPr id="6" name="Text Placeholder 5">
            <a:extLst>
              <a:ext uri="{FF2B5EF4-FFF2-40B4-BE49-F238E27FC236}">
                <a16:creationId xmlns:a16="http://schemas.microsoft.com/office/drawing/2014/main" id="{7CEE562E-F752-61C5-DAAC-72AA1C92E574}"/>
              </a:ext>
            </a:extLst>
          </p:cNvPr>
          <p:cNvSpPr>
            <a:spLocks noGrp="1"/>
          </p:cNvSpPr>
          <p:nvPr>
            <p:ph type="body" sz="quarter" idx="14"/>
          </p:nvPr>
        </p:nvSpPr>
        <p:spPr>
          <a:xfrm>
            <a:off x="515938" y="1494561"/>
            <a:ext cx="5400000" cy="279872"/>
          </a:xfrm>
        </p:spPr>
        <p:txBody>
          <a:bodyPr anchor="t">
            <a:normAutofit fontScale="92500" lnSpcReduction="20000"/>
          </a:bodyPr>
          <a:lstStyle/>
          <a:p>
            <a:r>
              <a:rPr lang="en-US" sz="1200"/>
              <a:t>BENCHMARK VS PEERS, LOCAL GAAP IN CAD $MM</a:t>
            </a:r>
          </a:p>
          <a:p>
            <a:r>
              <a:rPr lang="en-US" spc="0"/>
              <a:t>Financials as of 2025</a:t>
            </a:r>
            <a:endParaRPr lang="en-US" sz="1001"/>
          </a:p>
        </p:txBody>
      </p:sp>
      <p:sp>
        <p:nvSpPr>
          <p:cNvPr id="14" name="TextBox 13">
            <a:extLst>
              <a:ext uri="{FF2B5EF4-FFF2-40B4-BE49-F238E27FC236}">
                <a16:creationId xmlns:a16="http://schemas.microsoft.com/office/drawing/2014/main" id="{BA459CFD-2A12-BFD9-3F94-0EB29B437AF7}"/>
              </a:ext>
            </a:extLst>
          </p:cNvPr>
          <p:cNvSpPr txBox="1"/>
          <p:nvPr/>
        </p:nvSpPr>
        <p:spPr>
          <a:xfrm>
            <a:off x="9385523" y="1494562"/>
            <a:ext cx="1100139" cy="230832"/>
          </a:xfrm>
          <a:prstGeom prst="rect">
            <a:avLst/>
          </a:prstGeom>
          <a:noFill/>
        </p:spPr>
        <p:txBody>
          <a:bodyPr wrap="square" rtlCol="0">
            <a:noAutofit/>
          </a:bodyPr>
          <a:lstStyle/>
          <a:p>
            <a:pPr algn="ctr" defTabSz="914422" fontAlgn="b"/>
            <a:r>
              <a:rPr lang="en-US" sz="1001" i="1">
                <a:solidFill>
                  <a:schemeClr val="accent5"/>
                </a:solidFill>
                <a:latin typeface="Scotia" panose="020B0503020203020204" pitchFamily="34" charset="0"/>
              </a:rPr>
              <a:t>Above industry</a:t>
            </a:r>
          </a:p>
        </p:txBody>
      </p:sp>
      <p:sp>
        <p:nvSpPr>
          <p:cNvPr id="15" name="TextBox 14">
            <a:extLst>
              <a:ext uri="{FF2B5EF4-FFF2-40B4-BE49-F238E27FC236}">
                <a16:creationId xmlns:a16="http://schemas.microsoft.com/office/drawing/2014/main" id="{6A8B2E1C-92D5-052D-9280-E82209D02940}"/>
              </a:ext>
            </a:extLst>
          </p:cNvPr>
          <p:cNvSpPr txBox="1"/>
          <p:nvPr/>
        </p:nvSpPr>
        <p:spPr>
          <a:xfrm>
            <a:off x="10458472" y="1494562"/>
            <a:ext cx="1100404" cy="246349"/>
          </a:xfrm>
          <a:prstGeom prst="rect">
            <a:avLst/>
          </a:prstGeom>
          <a:noFill/>
        </p:spPr>
        <p:txBody>
          <a:bodyPr wrap="square" rtlCol="0">
            <a:spAutoFit/>
          </a:bodyPr>
          <a:lstStyle/>
          <a:p>
            <a:r>
              <a:rPr lang="en-US" sz="1001" i="1">
                <a:solidFill>
                  <a:srgbClr val="EC111A"/>
                </a:solidFill>
              </a:rPr>
              <a:t>Below industry</a:t>
            </a:r>
          </a:p>
        </p:txBody>
      </p:sp>
      <p:grpSp>
        <p:nvGrpSpPr>
          <p:cNvPr id="52" name="Group 51">
            <a:extLst>
              <a:ext uri="{FF2B5EF4-FFF2-40B4-BE49-F238E27FC236}">
                <a16:creationId xmlns:a16="http://schemas.microsoft.com/office/drawing/2014/main" id="{3487FC8D-A5F2-B382-9DDE-CDDF756FB5EC}"/>
              </a:ext>
            </a:extLst>
          </p:cNvPr>
          <p:cNvGrpSpPr/>
          <p:nvPr/>
        </p:nvGrpSpPr>
        <p:grpSpPr>
          <a:xfrm>
            <a:off x="8012115" y="1812003"/>
            <a:ext cx="3478213" cy="206862"/>
            <a:chOff x="7775994" y="1863006"/>
            <a:chExt cx="3706091" cy="206862"/>
          </a:xfrm>
        </p:grpSpPr>
        <p:sp>
          <p:nvSpPr>
            <p:cNvPr id="226" name="Right Bracket 225">
              <a:extLst>
                <a:ext uri="{FF2B5EF4-FFF2-40B4-BE49-F238E27FC236}">
                  <a16:creationId xmlns:a16="http://schemas.microsoft.com/office/drawing/2014/main" id="{1343C41D-5DCD-3A9B-4706-71FC55396E29}"/>
                </a:ext>
              </a:extLst>
            </p:cNvPr>
            <p:cNvSpPr/>
            <p:nvPr/>
          </p:nvSpPr>
          <p:spPr>
            <a:xfrm rot="5400000" flipH="1">
              <a:off x="9587022" y="149431"/>
              <a:ext cx="84036" cy="3706091"/>
            </a:xfrm>
            <a:prstGeom prst="rightBracket">
              <a:avLst>
                <a:gd name="adj" fmla="val 0"/>
              </a:avLst>
            </a:prstGeom>
            <a:ln w="12700">
              <a:solidFill>
                <a:srgbClr val="E1111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1">
                <a:solidFill>
                  <a:srgbClr val="EC111A"/>
                </a:solidFill>
              </a:endParaRPr>
            </a:p>
          </p:txBody>
        </p:sp>
        <p:sp>
          <p:nvSpPr>
            <p:cNvPr id="227" name="Rectangle 226">
              <a:extLst>
                <a:ext uri="{FF2B5EF4-FFF2-40B4-BE49-F238E27FC236}">
                  <a16:creationId xmlns:a16="http://schemas.microsoft.com/office/drawing/2014/main" id="{4ED865FB-496D-46FE-B2DC-FBB380297CBE}"/>
                </a:ext>
              </a:extLst>
            </p:cNvPr>
            <p:cNvSpPr/>
            <p:nvPr/>
          </p:nvSpPr>
          <p:spPr>
            <a:xfrm>
              <a:off x="8384202" y="1863006"/>
              <a:ext cx="2570024" cy="2068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90000" rtlCol="0" anchor="ctr"/>
            <a:lstStyle/>
            <a:p>
              <a:pPr algn="ctr">
                <a:spcBef>
                  <a:spcPts val="601"/>
                </a:spcBef>
              </a:pPr>
              <a:r>
                <a:rPr lang="en-US" sz="1001" b="1" spc="201">
                  <a:solidFill>
                    <a:srgbClr val="EC111A"/>
                  </a:solidFill>
                </a:rPr>
                <a:t>KEY P&amp;L RATIOS ’21-’25 AVG </a:t>
              </a:r>
              <a:endParaRPr lang="en-US" sz="1001" b="1" spc="201" baseline="30000">
                <a:solidFill>
                  <a:srgbClr val="EC111A"/>
                </a:solidFill>
              </a:endParaRPr>
            </a:p>
          </p:txBody>
        </p:sp>
      </p:grpSp>
      <p:graphicFrame>
        <p:nvGraphicFramePr>
          <p:cNvPr id="40" name="Chart 39">
            <a:extLst>
              <a:ext uri="{FF2B5EF4-FFF2-40B4-BE49-F238E27FC236}">
                <a16:creationId xmlns:a16="http://schemas.microsoft.com/office/drawing/2014/main" id="{BC407BC4-0357-E19E-A303-F94478FD775B}"/>
              </a:ext>
            </a:extLst>
          </p:cNvPr>
          <p:cNvGraphicFramePr/>
          <p:nvPr>
            <p:custDataLst>
              <p:tags r:id="rId1"/>
            </p:custDataLst>
          </p:nvPr>
        </p:nvGraphicFramePr>
        <p:xfrm>
          <a:off x="3765550" y="2355850"/>
          <a:ext cx="1363662" cy="2911476"/>
        </p:xfrm>
        <a:graphic>
          <a:graphicData uri="http://schemas.openxmlformats.org/drawingml/2006/chart">
            <c:chart xmlns:c="http://schemas.openxmlformats.org/drawingml/2006/chart" xmlns:r="http://schemas.openxmlformats.org/officeDocument/2006/relationships" r:id="rId60"/>
          </a:graphicData>
        </a:graphic>
      </p:graphicFrame>
      <p:sp>
        <p:nvSpPr>
          <p:cNvPr id="146" name="Text Placeholder 2">
            <a:extLst>
              <a:ext uri="{FF2B5EF4-FFF2-40B4-BE49-F238E27FC236}">
                <a16:creationId xmlns:a16="http://schemas.microsoft.com/office/drawing/2014/main" id="{23FB5557-88EB-52BC-11B2-7E2F38D52245}"/>
              </a:ext>
            </a:extLst>
          </p:cNvPr>
          <p:cNvSpPr>
            <a:spLocks/>
          </p:cNvSpPr>
          <p:nvPr>
            <p:custDataLst>
              <p:tags r:id="rId2"/>
            </p:custDataLst>
          </p:nvPr>
        </p:nvSpPr>
        <p:spPr bwMode="gray">
          <a:xfrm>
            <a:off x="4829176" y="2598742"/>
            <a:ext cx="244475" cy="136524"/>
          </a:xfrm>
          <a:prstGeom prst="rect">
            <a:avLst/>
          </a:prstGeom>
          <a:solidFill>
            <a:srgbClr val="BCB8A4"/>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65CB110D-1300-4D63-916A-CFD853622E6B}" type="datetime'''''1''''6''''''''''''''%'">
              <a:rPr lang="en-US" sz="900">
                <a:solidFill>
                  <a:srgbClr val="000000"/>
                </a:solidFill>
              </a:rPr>
              <a:pPr marL="0" indent="0" algn="ctr">
                <a:spcBef>
                  <a:spcPct val="0"/>
                </a:spcBef>
                <a:spcAft>
                  <a:spcPct val="0"/>
                </a:spcAft>
                <a:buClr>
                  <a:srgbClr val="000000"/>
                </a:buClr>
                <a:buNone/>
                <a:defRPr/>
              </a:pPr>
              <a:t>16%</a:t>
            </a:fld>
            <a:endParaRPr lang="en-US" sz="900">
              <a:solidFill>
                <a:srgbClr val="000000"/>
              </a:solidFill>
            </a:endParaRPr>
          </a:p>
        </p:txBody>
      </p:sp>
      <p:sp>
        <p:nvSpPr>
          <p:cNvPr id="58" name="Text Placeholder 2">
            <a:extLst>
              <a:ext uri="{FF2B5EF4-FFF2-40B4-BE49-F238E27FC236}">
                <a16:creationId xmlns:a16="http://schemas.microsoft.com/office/drawing/2014/main" id="{EBD3A113-F2AE-F8BF-2093-D5C637C8B532}"/>
              </a:ext>
            </a:extLst>
          </p:cNvPr>
          <p:cNvSpPr>
            <a:spLocks/>
          </p:cNvSpPr>
          <p:nvPr>
            <p:custDataLst>
              <p:tags r:id="rId3"/>
            </p:custDataLst>
          </p:nvPr>
        </p:nvSpPr>
        <p:spPr bwMode="gray">
          <a:xfrm>
            <a:off x="4222751" y="2598742"/>
            <a:ext cx="26035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E2E9A3E8-D1DB-48E6-9F91-EC0A4CC4A9C1}" type="datetime'''''''''''''8''''''''''''''''4%'''''''''''''">
              <a:rPr lang="en-US" sz="900">
                <a:solidFill>
                  <a:srgbClr val="000000"/>
                </a:solidFill>
              </a:rPr>
              <a:pPr marL="0" indent="0" algn="ctr">
                <a:spcBef>
                  <a:spcPct val="0"/>
                </a:spcBef>
                <a:spcAft>
                  <a:spcPct val="0"/>
                </a:spcAft>
                <a:buClr>
                  <a:srgbClr val="000000"/>
                </a:buClr>
                <a:buNone/>
                <a:defRPr/>
              </a:pPr>
              <a:t>84%</a:t>
            </a:fld>
            <a:endParaRPr lang="en-US" sz="900">
              <a:solidFill>
                <a:srgbClr val="000000"/>
              </a:solidFill>
            </a:endParaRPr>
          </a:p>
        </p:txBody>
      </p:sp>
      <p:sp>
        <p:nvSpPr>
          <p:cNvPr id="147" name="Text Placeholder 2">
            <a:extLst>
              <a:ext uri="{FF2B5EF4-FFF2-40B4-BE49-F238E27FC236}">
                <a16:creationId xmlns:a16="http://schemas.microsoft.com/office/drawing/2014/main" id="{4AF0D07B-F175-8655-07ED-163EFD12C9DB}"/>
              </a:ext>
            </a:extLst>
          </p:cNvPr>
          <p:cNvSpPr>
            <a:spLocks/>
          </p:cNvSpPr>
          <p:nvPr>
            <p:custDataLst>
              <p:tags r:id="rId4"/>
            </p:custDataLst>
          </p:nvPr>
        </p:nvSpPr>
        <p:spPr bwMode="gray">
          <a:xfrm>
            <a:off x="4329114" y="3055942"/>
            <a:ext cx="254000" cy="136524"/>
          </a:xfrm>
          <a:prstGeom prst="rect">
            <a:avLst/>
          </a:prstGeom>
          <a:no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CC19830F-4FC8-47D9-834E-2FA8A3BA1726}" type="datetime'''''''''''3''3''%'''''''''''''''">
              <a:rPr lang="en-US" sz="900">
                <a:solidFill>
                  <a:srgbClr val="000000"/>
                </a:solidFill>
              </a:rPr>
              <a:pPr marL="0" indent="0" algn="ctr">
                <a:spcBef>
                  <a:spcPct val="0"/>
                </a:spcBef>
                <a:spcAft>
                  <a:spcPct val="0"/>
                </a:spcAft>
                <a:buClr>
                  <a:srgbClr val="000000"/>
                </a:buClr>
                <a:buNone/>
                <a:defRPr/>
              </a:pPr>
              <a:t>33%</a:t>
            </a:fld>
            <a:endParaRPr lang="en-US" sz="900">
              <a:solidFill>
                <a:srgbClr val="000000"/>
              </a:solidFill>
            </a:endParaRPr>
          </a:p>
        </p:txBody>
      </p:sp>
      <p:sp>
        <p:nvSpPr>
          <p:cNvPr id="63" name="Text Placeholder 2">
            <a:extLst>
              <a:ext uri="{FF2B5EF4-FFF2-40B4-BE49-F238E27FC236}">
                <a16:creationId xmlns:a16="http://schemas.microsoft.com/office/drawing/2014/main" id="{04608BC6-75C2-FB20-1995-A8BAC84051D9}"/>
              </a:ext>
            </a:extLst>
          </p:cNvPr>
          <p:cNvSpPr>
            <a:spLocks/>
          </p:cNvSpPr>
          <p:nvPr>
            <p:custDataLst>
              <p:tags r:id="rId5"/>
            </p:custDataLst>
          </p:nvPr>
        </p:nvSpPr>
        <p:spPr bwMode="gray">
          <a:xfrm>
            <a:off x="3962401" y="3055942"/>
            <a:ext cx="26035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E5363054-6E7F-4A7B-9D35-7F7067D8505B}" type="datetime'''''''''''''''''''''''''''6''''''''''''7''''''''''''''''%'''">
              <a:rPr lang="en-US" sz="900">
                <a:solidFill>
                  <a:srgbClr val="000000"/>
                </a:solidFill>
              </a:rPr>
              <a:pPr marL="0" indent="0" algn="ctr">
                <a:spcBef>
                  <a:spcPct val="0"/>
                </a:spcBef>
                <a:spcAft>
                  <a:spcPct val="0"/>
                </a:spcAft>
                <a:buClr>
                  <a:srgbClr val="000000"/>
                </a:buClr>
                <a:buNone/>
                <a:defRPr/>
              </a:pPr>
              <a:t>67%</a:t>
            </a:fld>
            <a:endParaRPr lang="en-US" sz="900">
              <a:solidFill>
                <a:srgbClr val="000000"/>
              </a:solidFill>
            </a:endParaRPr>
          </a:p>
        </p:txBody>
      </p:sp>
      <p:sp>
        <p:nvSpPr>
          <p:cNvPr id="148" name="Text Placeholder 2">
            <a:extLst>
              <a:ext uri="{FF2B5EF4-FFF2-40B4-BE49-F238E27FC236}">
                <a16:creationId xmlns:a16="http://schemas.microsoft.com/office/drawing/2014/main" id="{A0D8C36A-5532-D6A0-39C0-CE204EC4905B}"/>
              </a:ext>
            </a:extLst>
          </p:cNvPr>
          <p:cNvSpPr>
            <a:spLocks/>
          </p:cNvSpPr>
          <p:nvPr>
            <p:custDataLst>
              <p:tags r:id="rId6"/>
            </p:custDataLst>
          </p:nvPr>
        </p:nvSpPr>
        <p:spPr bwMode="gray">
          <a:xfrm>
            <a:off x="4210051" y="3514727"/>
            <a:ext cx="260350" cy="136524"/>
          </a:xfrm>
          <a:prstGeom prst="rect">
            <a:avLst/>
          </a:prstGeom>
          <a:solidFill>
            <a:srgbClr val="BCB8A4"/>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B1277756-2260-447D-9B46-991D73549C42}" type="datetime'''2''''''9''''''''''''''''''''''''''''''''''''''%'''''''">
              <a:rPr lang="en-US" sz="900">
                <a:solidFill>
                  <a:srgbClr val="000000"/>
                </a:solidFill>
              </a:rPr>
              <a:pPr marL="0" indent="0" algn="ctr">
                <a:spcBef>
                  <a:spcPct val="0"/>
                </a:spcBef>
                <a:spcAft>
                  <a:spcPct val="0"/>
                </a:spcAft>
                <a:buClr>
                  <a:srgbClr val="000000"/>
                </a:buClr>
                <a:buNone/>
                <a:defRPr/>
              </a:pPr>
              <a:t>29%</a:t>
            </a:fld>
            <a:endParaRPr lang="en-US" sz="900">
              <a:solidFill>
                <a:srgbClr val="000000"/>
              </a:solidFill>
            </a:endParaRPr>
          </a:p>
        </p:txBody>
      </p:sp>
      <p:sp>
        <p:nvSpPr>
          <p:cNvPr id="128" name="Text Placeholder 2">
            <a:extLst>
              <a:ext uri="{FF2B5EF4-FFF2-40B4-BE49-F238E27FC236}">
                <a16:creationId xmlns:a16="http://schemas.microsoft.com/office/drawing/2014/main" id="{89A7D0B0-1F8D-164E-3002-A1C7C504AE5C}"/>
              </a:ext>
            </a:extLst>
          </p:cNvPr>
          <p:cNvSpPr>
            <a:spLocks/>
          </p:cNvSpPr>
          <p:nvPr>
            <p:custDataLst>
              <p:tags r:id="rId7"/>
            </p:custDataLst>
          </p:nvPr>
        </p:nvSpPr>
        <p:spPr bwMode="gray">
          <a:xfrm>
            <a:off x="3932239" y="3514727"/>
            <a:ext cx="238124"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9340FF12-3E69-4C04-A327-57CBE03DE35B}" type="datetime'''''''''''''''''''''''''''''''''''''7''''''''''''''''1''''''%'">
              <a:rPr lang="en-US" sz="900">
                <a:solidFill>
                  <a:srgbClr val="000000"/>
                </a:solidFill>
              </a:rPr>
              <a:pPr marL="0" indent="0" algn="ctr">
                <a:spcBef>
                  <a:spcPct val="0"/>
                </a:spcBef>
                <a:spcAft>
                  <a:spcPct val="0"/>
                </a:spcAft>
                <a:buClr>
                  <a:srgbClr val="000000"/>
                </a:buClr>
                <a:buNone/>
                <a:defRPr/>
              </a:pPr>
              <a:t>71%</a:t>
            </a:fld>
            <a:endParaRPr lang="en-US" sz="900">
              <a:solidFill>
                <a:srgbClr val="000000"/>
              </a:solidFill>
            </a:endParaRPr>
          </a:p>
        </p:txBody>
      </p:sp>
      <p:sp>
        <p:nvSpPr>
          <p:cNvPr id="150" name="Text Placeholder 2">
            <a:extLst>
              <a:ext uri="{FF2B5EF4-FFF2-40B4-BE49-F238E27FC236}">
                <a16:creationId xmlns:a16="http://schemas.microsoft.com/office/drawing/2014/main" id="{2F1EE19B-FDEA-67E3-0284-A6DA05F1AAEC}"/>
              </a:ext>
            </a:extLst>
          </p:cNvPr>
          <p:cNvSpPr>
            <a:spLocks/>
          </p:cNvSpPr>
          <p:nvPr>
            <p:custDataLst>
              <p:tags r:id="rId8"/>
            </p:custDataLst>
          </p:nvPr>
        </p:nvSpPr>
        <p:spPr bwMode="gray">
          <a:xfrm>
            <a:off x="3952876" y="3908427"/>
            <a:ext cx="260350" cy="136524"/>
          </a:xfrm>
          <a:prstGeom prst="rect">
            <a:avLst/>
          </a:prstGeom>
          <a:solidFill>
            <a:srgbClr val="BCB8A4"/>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A3D4A05-956B-49D6-8F24-FEDCB570D149}" type="datetime'''''''''''''''''''''''''3''''''''''''9''''''%'">
              <a:rPr lang="en-US" sz="900">
                <a:solidFill>
                  <a:srgbClr val="000000"/>
                </a:solidFill>
              </a:rPr>
              <a:pPr marL="0" indent="0" algn="ctr">
                <a:spcBef>
                  <a:spcPct val="0"/>
                </a:spcBef>
                <a:spcAft>
                  <a:spcPct val="0"/>
                </a:spcAft>
                <a:buClr>
                  <a:srgbClr val="000000"/>
                </a:buClr>
                <a:buNone/>
                <a:defRPr/>
              </a:pPr>
              <a:t>39%</a:t>
            </a:fld>
            <a:endParaRPr lang="en-US" sz="900">
              <a:solidFill>
                <a:srgbClr val="000000"/>
              </a:solidFill>
            </a:endParaRPr>
          </a:p>
        </p:txBody>
      </p:sp>
      <p:sp>
        <p:nvSpPr>
          <p:cNvPr id="130" name="Text Placeholder 2">
            <a:extLst>
              <a:ext uri="{FF2B5EF4-FFF2-40B4-BE49-F238E27FC236}">
                <a16:creationId xmlns:a16="http://schemas.microsoft.com/office/drawing/2014/main" id="{B8C38CCC-2E3B-D22A-D6A0-58FAA0B74752}"/>
              </a:ext>
            </a:extLst>
          </p:cNvPr>
          <p:cNvSpPr>
            <a:spLocks/>
          </p:cNvSpPr>
          <p:nvPr>
            <p:custDataLst>
              <p:tags r:id="rId9"/>
            </p:custDataLst>
          </p:nvPr>
        </p:nvSpPr>
        <p:spPr bwMode="gray">
          <a:xfrm>
            <a:off x="3814765" y="4035428"/>
            <a:ext cx="244475" cy="136524"/>
          </a:xfrm>
          <a:prstGeom prst="rect">
            <a:avLst/>
          </a:prstGeom>
          <a:solidFill>
            <a:srgbClr val="EBDFD1"/>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A85BACAB-8F4D-47BF-A3B6-EF7DB15AED06}" type="datetime'6''''''''''''''''''''''''''''''''''''''''''''1''''%'''''''''''">
              <a:rPr lang="en-US" sz="900">
                <a:solidFill>
                  <a:srgbClr val="000000"/>
                </a:solidFill>
              </a:rPr>
              <a:pPr marL="0" indent="0" algn="ctr">
                <a:spcBef>
                  <a:spcPct val="0"/>
                </a:spcBef>
                <a:spcAft>
                  <a:spcPct val="0"/>
                </a:spcAft>
                <a:buClr>
                  <a:srgbClr val="000000"/>
                </a:buClr>
                <a:buNone/>
                <a:defRPr/>
              </a:pPr>
              <a:t>61%</a:t>
            </a:fld>
            <a:endParaRPr lang="en-US" sz="900">
              <a:solidFill>
                <a:srgbClr val="000000"/>
              </a:solidFill>
            </a:endParaRPr>
          </a:p>
        </p:txBody>
      </p:sp>
      <p:sp>
        <p:nvSpPr>
          <p:cNvPr id="152" name="Text Placeholder 2">
            <a:extLst>
              <a:ext uri="{FF2B5EF4-FFF2-40B4-BE49-F238E27FC236}">
                <a16:creationId xmlns:a16="http://schemas.microsoft.com/office/drawing/2014/main" id="{D6A68A8C-8869-5FBC-43D7-2C87A7DF958B}"/>
              </a:ext>
            </a:extLst>
          </p:cNvPr>
          <p:cNvSpPr>
            <a:spLocks/>
          </p:cNvSpPr>
          <p:nvPr>
            <p:custDataLst>
              <p:tags r:id="rId10"/>
            </p:custDataLst>
          </p:nvPr>
        </p:nvSpPr>
        <p:spPr bwMode="gray">
          <a:xfrm>
            <a:off x="4111626" y="4365627"/>
            <a:ext cx="241300" cy="136524"/>
          </a:xfrm>
          <a:prstGeom prst="rect">
            <a:avLst/>
          </a:prstGeom>
          <a:solidFill>
            <a:srgbClr val="BCB8A4"/>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9BDD966-B8C3-47C1-A74E-EE2583D53934}" type="datetime'''''''''''''''1''''''''''''''''''''''''''''''8''''''''''''%'''">
              <a:rPr lang="en-US" sz="900">
                <a:solidFill>
                  <a:srgbClr val="000000"/>
                </a:solidFill>
              </a:rPr>
              <a:pPr marL="0" indent="0" algn="ctr">
                <a:spcBef>
                  <a:spcPct val="0"/>
                </a:spcBef>
                <a:spcAft>
                  <a:spcPct val="0"/>
                </a:spcAft>
                <a:buClr>
                  <a:srgbClr val="000000"/>
                </a:buClr>
                <a:buNone/>
                <a:defRPr/>
              </a:pPr>
              <a:t>18%</a:t>
            </a:fld>
            <a:endParaRPr lang="en-US" sz="900">
              <a:solidFill>
                <a:srgbClr val="000000"/>
              </a:solidFill>
            </a:endParaRPr>
          </a:p>
        </p:txBody>
      </p:sp>
      <p:sp>
        <p:nvSpPr>
          <p:cNvPr id="131" name="Text Placeholder 2">
            <a:extLst>
              <a:ext uri="{FF2B5EF4-FFF2-40B4-BE49-F238E27FC236}">
                <a16:creationId xmlns:a16="http://schemas.microsoft.com/office/drawing/2014/main" id="{86F0A803-B0DA-F4D7-A753-F0486B961466}"/>
              </a:ext>
            </a:extLst>
          </p:cNvPr>
          <p:cNvSpPr>
            <a:spLocks/>
          </p:cNvSpPr>
          <p:nvPr>
            <p:custDataLst>
              <p:tags r:id="rId11"/>
            </p:custDataLst>
          </p:nvPr>
        </p:nvSpPr>
        <p:spPr bwMode="gray">
          <a:xfrm>
            <a:off x="3892552" y="4494215"/>
            <a:ext cx="257175"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E38E5A2-88A8-4031-969D-27A51A0D5716}" type="datetime'''''''''''''''''''''8''''''''''''''''2''''''''''''''''''%'">
              <a:rPr lang="en-US" sz="900">
                <a:solidFill>
                  <a:srgbClr val="000000"/>
                </a:solidFill>
              </a:rPr>
              <a:pPr marL="0" indent="0" algn="ctr">
                <a:spcBef>
                  <a:spcPct val="0"/>
                </a:spcBef>
                <a:spcAft>
                  <a:spcPct val="0"/>
                </a:spcAft>
                <a:buClr>
                  <a:srgbClr val="000000"/>
                </a:buClr>
                <a:buNone/>
                <a:defRPr/>
              </a:pPr>
              <a:t>82%</a:t>
            </a:fld>
            <a:endParaRPr lang="en-US" sz="900">
              <a:solidFill>
                <a:srgbClr val="000000"/>
              </a:solidFill>
            </a:endParaRPr>
          </a:p>
        </p:txBody>
      </p:sp>
      <p:sp>
        <p:nvSpPr>
          <p:cNvPr id="153" name="Text Placeholder 2">
            <a:extLst>
              <a:ext uri="{FF2B5EF4-FFF2-40B4-BE49-F238E27FC236}">
                <a16:creationId xmlns:a16="http://schemas.microsoft.com/office/drawing/2014/main" id="{8DB06FFB-C53A-93D4-A152-731D91D6F65F}"/>
              </a:ext>
            </a:extLst>
          </p:cNvPr>
          <p:cNvSpPr>
            <a:spLocks/>
          </p:cNvSpPr>
          <p:nvPr>
            <p:custDataLst>
              <p:tags r:id="rId12"/>
            </p:custDataLst>
          </p:nvPr>
        </p:nvSpPr>
        <p:spPr bwMode="gray">
          <a:xfrm>
            <a:off x="3998915" y="4824414"/>
            <a:ext cx="260350" cy="136524"/>
          </a:xfrm>
          <a:prstGeom prst="rect">
            <a:avLst/>
          </a:prstGeom>
          <a:solidFill>
            <a:srgbClr val="BCB8A4"/>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9D3A67F2-7B39-49FF-9E03-EFBA1DE6A1DC}" type="datetime'''29''''''''''''''''''''%'''''''''''''''''">
              <a:rPr lang="en-US" sz="900">
                <a:solidFill>
                  <a:srgbClr val="000000"/>
                </a:solidFill>
              </a:rPr>
              <a:pPr marL="0" indent="0" algn="ctr">
                <a:spcBef>
                  <a:spcPct val="0"/>
                </a:spcBef>
                <a:spcAft>
                  <a:spcPct val="0"/>
                </a:spcAft>
                <a:buClr>
                  <a:srgbClr val="000000"/>
                </a:buClr>
                <a:buNone/>
                <a:defRPr/>
              </a:pPr>
              <a:t>29%</a:t>
            </a:fld>
            <a:endParaRPr lang="en-US" sz="900">
              <a:solidFill>
                <a:srgbClr val="000000"/>
              </a:solidFill>
            </a:endParaRPr>
          </a:p>
        </p:txBody>
      </p:sp>
      <p:sp>
        <p:nvSpPr>
          <p:cNvPr id="132" name="Text Placeholder 2">
            <a:extLst>
              <a:ext uri="{FF2B5EF4-FFF2-40B4-BE49-F238E27FC236}">
                <a16:creationId xmlns:a16="http://schemas.microsoft.com/office/drawing/2014/main" id="{F1E46B04-015E-23A5-7366-7ECC1CD0FEB4}"/>
              </a:ext>
            </a:extLst>
          </p:cNvPr>
          <p:cNvSpPr>
            <a:spLocks/>
          </p:cNvSpPr>
          <p:nvPr>
            <p:custDataLst>
              <p:tags r:id="rId13"/>
            </p:custDataLst>
          </p:nvPr>
        </p:nvSpPr>
        <p:spPr bwMode="gray">
          <a:xfrm>
            <a:off x="3844927" y="4951415"/>
            <a:ext cx="238124" cy="136524"/>
          </a:xfrm>
          <a:prstGeom prst="rect">
            <a:avLst/>
          </a:prstGeom>
          <a:no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8A6B98E-2134-44B6-9224-6A2D8E8E4565}" type="datetime'''''''''''''''''''''''''71''''''''''''%'''''''''''''''''''''">
              <a:rPr lang="en-US" sz="900">
                <a:solidFill>
                  <a:srgbClr val="000000"/>
                </a:solidFill>
              </a:rPr>
              <a:pPr marL="0" indent="0" algn="ctr">
                <a:spcBef>
                  <a:spcPct val="0"/>
                </a:spcBef>
                <a:spcAft>
                  <a:spcPct val="0"/>
                </a:spcAft>
                <a:buClr>
                  <a:srgbClr val="000000"/>
                </a:buClr>
                <a:buNone/>
                <a:defRPr/>
              </a:pPr>
              <a:t>71%</a:t>
            </a:fld>
            <a:endParaRPr lang="en-US" sz="900">
              <a:solidFill>
                <a:srgbClr val="000000"/>
              </a:solidFill>
            </a:endParaRPr>
          </a:p>
        </p:txBody>
      </p:sp>
      <p:sp>
        <p:nvSpPr>
          <p:cNvPr id="20" name="Text Placeholder 2">
            <a:extLst>
              <a:ext uri="{FF2B5EF4-FFF2-40B4-BE49-F238E27FC236}">
                <a16:creationId xmlns:a16="http://schemas.microsoft.com/office/drawing/2014/main" id="{5B13C01C-3E85-4A93-17EE-B72E3D469CD0}"/>
              </a:ext>
            </a:extLst>
          </p:cNvPr>
          <p:cNvSpPr>
            <a:spLocks/>
          </p:cNvSpPr>
          <p:nvPr>
            <p:custDataLst>
              <p:tags r:id="rId14"/>
            </p:custDataLst>
          </p:nvPr>
        </p:nvSpPr>
        <p:spPr bwMode="gray">
          <a:xfrm>
            <a:off x="5092701" y="2598742"/>
            <a:ext cx="276226"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E890B339-C852-46FA-985A-BE5E7EC91DC1}" type="datetime'''''''''''''''''''''$''''1''''''''''''''4''''''''''''''4'''''">
              <a:rPr lang="en-US" sz="900">
                <a:solidFill>
                  <a:srgbClr val="000000"/>
                </a:solidFill>
              </a:rPr>
              <a:pPr marL="0" indent="0">
                <a:spcBef>
                  <a:spcPct val="0"/>
                </a:spcBef>
                <a:spcAft>
                  <a:spcPct val="0"/>
                </a:spcAft>
                <a:buClr>
                  <a:srgbClr val="000000"/>
                </a:buClr>
                <a:buNone/>
                <a:defRPr/>
              </a:pPr>
              <a:t>$144</a:t>
            </a:fld>
            <a:endParaRPr lang="en-US" sz="900">
              <a:solidFill>
                <a:srgbClr val="000000"/>
              </a:solidFill>
            </a:endParaRPr>
          </a:p>
        </p:txBody>
      </p:sp>
      <p:sp>
        <p:nvSpPr>
          <p:cNvPr id="23" name="Text Placeholder 2">
            <a:extLst>
              <a:ext uri="{FF2B5EF4-FFF2-40B4-BE49-F238E27FC236}">
                <a16:creationId xmlns:a16="http://schemas.microsoft.com/office/drawing/2014/main" id="{40FCCE3C-8F61-2249-B9FC-E7A788D4669C}"/>
              </a:ext>
            </a:extLst>
          </p:cNvPr>
          <p:cNvSpPr>
            <a:spLocks/>
          </p:cNvSpPr>
          <p:nvPr>
            <p:custDataLst>
              <p:tags r:id="rId15"/>
            </p:custDataLst>
          </p:nvPr>
        </p:nvSpPr>
        <p:spPr bwMode="gray">
          <a:xfrm>
            <a:off x="4600577" y="3055942"/>
            <a:ext cx="227013"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E9B663A5-7F7B-42A0-AF37-FA2807801E86}" type="datetime'''''''$''''''''''''''''''8''''''''''''7'''''''''''''''''''''">
              <a:rPr lang="en-US" sz="900">
                <a:solidFill>
                  <a:srgbClr val="000000"/>
                </a:solidFill>
              </a:rPr>
              <a:pPr marL="0" indent="0">
                <a:spcBef>
                  <a:spcPct val="0"/>
                </a:spcBef>
                <a:spcAft>
                  <a:spcPct val="0"/>
                </a:spcAft>
                <a:buClr>
                  <a:srgbClr val="000000"/>
                </a:buClr>
                <a:buNone/>
                <a:defRPr/>
              </a:pPr>
              <a:t>$87</a:t>
            </a:fld>
            <a:endParaRPr lang="en-US" sz="900">
              <a:solidFill>
                <a:srgbClr val="000000"/>
              </a:solidFill>
            </a:endParaRPr>
          </a:p>
        </p:txBody>
      </p:sp>
      <p:sp>
        <p:nvSpPr>
          <p:cNvPr id="26" name="Text Placeholder 2">
            <a:extLst>
              <a:ext uri="{FF2B5EF4-FFF2-40B4-BE49-F238E27FC236}">
                <a16:creationId xmlns:a16="http://schemas.microsoft.com/office/drawing/2014/main" id="{74DBC9CB-690B-A8E0-08B7-83E5536C3D5A}"/>
              </a:ext>
            </a:extLst>
          </p:cNvPr>
          <p:cNvSpPr>
            <a:spLocks/>
          </p:cNvSpPr>
          <p:nvPr>
            <p:custDataLst>
              <p:tags r:id="rId16"/>
            </p:custDataLst>
          </p:nvPr>
        </p:nvSpPr>
        <p:spPr bwMode="gray">
          <a:xfrm>
            <a:off x="4489450" y="3514727"/>
            <a:ext cx="236539"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E5E46169-893F-4BD9-B6F6-480B8701A8F4}" type="datetime'''''$''''6''''''''''''''''''9'''''''''''''''''''">
              <a:rPr lang="en-US" sz="900">
                <a:solidFill>
                  <a:srgbClr val="000000"/>
                </a:solidFill>
              </a:rPr>
              <a:pPr marL="0" indent="0">
                <a:spcBef>
                  <a:spcPct val="0"/>
                </a:spcBef>
                <a:spcAft>
                  <a:spcPct val="0"/>
                </a:spcAft>
                <a:buClr>
                  <a:srgbClr val="000000"/>
                </a:buClr>
                <a:buNone/>
                <a:defRPr/>
              </a:pPr>
              <a:t>$69</a:t>
            </a:fld>
            <a:endParaRPr lang="en-US" sz="900">
              <a:solidFill>
                <a:srgbClr val="000000"/>
              </a:solidFill>
            </a:endParaRPr>
          </a:p>
        </p:txBody>
      </p:sp>
      <p:sp>
        <p:nvSpPr>
          <p:cNvPr id="30" name="Text Placeholder 2">
            <a:extLst>
              <a:ext uri="{FF2B5EF4-FFF2-40B4-BE49-F238E27FC236}">
                <a16:creationId xmlns:a16="http://schemas.microsoft.com/office/drawing/2014/main" id="{1514488B-2C5B-CBF8-BAC6-85B37EF40CA2}"/>
              </a:ext>
            </a:extLst>
          </p:cNvPr>
          <p:cNvSpPr>
            <a:spLocks/>
          </p:cNvSpPr>
          <p:nvPr>
            <p:custDataLst>
              <p:tags r:id="rId17"/>
            </p:custDataLst>
          </p:nvPr>
        </p:nvSpPr>
        <p:spPr bwMode="gray">
          <a:xfrm>
            <a:off x="4232275" y="3971927"/>
            <a:ext cx="222251"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12E61186-BCEB-4E5D-B77D-CDB9E5A16C90}" type="datetime'''''''''''''''''''$3''5'">
              <a:rPr lang="en-US" sz="900">
                <a:solidFill>
                  <a:srgbClr val="000000"/>
                </a:solidFill>
              </a:rPr>
              <a:pPr marL="0" indent="0">
                <a:spcBef>
                  <a:spcPct val="0"/>
                </a:spcBef>
                <a:spcAft>
                  <a:spcPct val="0"/>
                </a:spcAft>
                <a:buClr>
                  <a:srgbClr val="000000"/>
                </a:buClr>
                <a:buNone/>
                <a:defRPr/>
              </a:pPr>
              <a:t>$35</a:t>
            </a:fld>
            <a:endParaRPr lang="en-US" sz="900">
              <a:solidFill>
                <a:srgbClr val="000000"/>
              </a:solidFill>
            </a:endParaRPr>
          </a:p>
        </p:txBody>
      </p:sp>
      <p:sp>
        <p:nvSpPr>
          <p:cNvPr id="34" name="Text Placeholder 2">
            <a:extLst>
              <a:ext uri="{FF2B5EF4-FFF2-40B4-BE49-F238E27FC236}">
                <a16:creationId xmlns:a16="http://schemas.microsoft.com/office/drawing/2014/main" id="{EB38F343-E538-B6F5-273E-F30E6D75C907}"/>
              </a:ext>
            </a:extLst>
          </p:cNvPr>
          <p:cNvSpPr>
            <a:spLocks/>
          </p:cNvSpPr>
          <p:nvPr>
            <p:custDataLst>
              <p:tags r:id="rId18"/>
            </p:custDataLst>
          </p:nvPr>
        </p:nvSpPr>
        <p:spPr bwMode="gray">
          <a:xfrm>
            <a:off x="4371975" y="4429127"/>
            <a:ext cx="206375"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45BF28DB-8560-4F46-A1B2-457AF5785F3E}" type="datetime'''''''''''''''''''''''$''''''5''1'''">
              <a:rPr lang="en-US" sz="900">
                <a:solidFill>
                  <a:srgbClr val="000000"/>
                </a:solidFill>
              </a:rPr>
              <a:pPr marL="0" indent="0">
                <a:spcBef>
                  <a:spcPct val="0"/>
                </a:spcBef>
                <a:spcAft>
                  <a:spcPct val="0"/>
                </a:spcAft>
                <a:buClr>
                  <a:srgbClr val="000000"/>
                </a:buClr>
                <a:buNone/>
                <a:defRPr/>
              </a:pPr>
              <a:t>$51</a:t>
            </a:fld>
            <a:endParaRPr lang="en-US" sz="900">
              <a:solidFill>
                <a:srgbClr val="000000"/>
              </a:solidFill>
            </a:endParaRPr>
          </a:p>
        </p:txBody>
      </p:sp>
      <p:sp>
        <p:nvSpPr>
          <p:cNvPr id="42" name="Text Placeholder 2">
            <a:extLst>
              <a:ext uri="{FF2B5EF4-FFF2-40B4-BE49-F238E27FC236}">
                <a16:creationId xmlns:a16="http://schemas.microsoft.com/office/drawing/2014/main" id="{F23A6A52-0D10-5142-242A-EC521EC492AF}"/>
              </a:ext>
            </a:extLst>
          </p:cNvPr>
          <p:cNvSpPr>
            <a:spLocks/>
          </p:cNvSpPr>
          <p:nvPr>
            <p:custDataLst>
              <p:tags r:id="rId19"/>
            </p:custDataLst>
          </p:nvPr>
        </p:nvSpPr>
        <p:spPr bwMode="gray">
          <a:xfrm>
            <a:off x="4278316" y="4887917"/>
            <a:ext cx="238124"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728EC624-8DD0-4D28-9EB3-9C6D938C681F}" type="datetime'''''''''''''''$''''''''4''''''''''''''0'''''''''''''">
              <a:rPr lang="en-US" sz="900">
                <a:solidFill>
                  <a:srgbClr val="000000"/>
                </a:solidFill>
              </a:rPr>
              <a:pPr marL="0" indent="0">
                <a:spcBef>
                  <a:spcPct val="0"/>
                </a:spcBef>
                <a:spcAft>
                  <a:spcPct val="0"/>
                </a:spcAft>
                <a:buClr>
                  <a:srgbClr val="000000"/>
                </a:buClr>
                <a:buNone/>
                <a:defRPr/>
              </a:pPr>
              <a:t>$40</a:t>
            </a:fld>
            <a:endParaRPr lang="en-US" sz="900">
              <a:solidFill>
                <a:srgbClr val="000000"/>
              </a:solidFill>
            </a:endParaRPr>
          </a:p>
        </p:txBody>
      </p:sp>
      <p:graphicFrame>
        <p:nvGraphicFramePr>
          <p:cNvPr id="32" name="Chart 31">
            <a:extLst>
              <a:ext uri="{FF2B5EF4-FFF2-40B4-BE49-F238E27FC236}">
                <a16:creationId xmlns:a16="http://schemas.microsoft.com/office/drawing/2014/main" id="{760FA01F-2754-CD83-D101-8E6DC9B57EED}"/>
              </a:ext>
            </a:extLst>
          </p:cNvPr>
          <p:cNvGraphicFramePr/>
          <p:nvPr>
            <p:custDataLst>
              <p:tags r:id="rId20"/>
            </p:custDataLst>
          </p:nvPr>
        </p:nvGraphicFramePr>
        <p:xfrm>
          <a:off x="1633539" y="2355850"/>
          <a:ext cx="1693861" cy="2911476"/>
        </p:xfrm>
        <a:graphic>
          <a:graphicData uri="http://schemas.openxmlformats.org/drawingml/2006/chart">
            <c:chart xmlns:c="http://schemas.openxmlformats.org/drawingml/2006/chart" xmlns:r="http://schemas.openxmlformats.org/officeDocument/2006/relationships" r:id="rId61"/>
          </a:graphicData>
        </a:graphic>
      </p:graphicFrame>
      <p:sp>
        <p:nvSpPr>
          <p:cNvPr id="230" name="Text Placeholder 2">
            <a:extLst>
              <a:ext uri="{FF2B5EF4-FFF2-40B4-BE49-F238E27FC236}">
                <a16:creationId xmlns:a16="http://schemas.microsoft.com/office/drawing/2014/main" id="{D5725AFE-498B-8A2A-4D22-0C6C25E4263E}"/>
              </a:ext>
            </a:extLst>
          </p:cNvPr>
          <p:cNvSpPr>
            <a:spLocks/>
          </p:cNvSpPr>
          <p:nvPr>
            <p:custDataLst>
              <p:tags r:id="rId21"/>
            </p:custDataLst>
          </p:nvPr>
        </p:nvSpPr>
        <p:spPr bwMode="gray">
          <a:xfrm>
            <a:off x="2506664" y="2598740"/>
            <a:ext cx="24130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AF297BC-4E8C-4B4A-9320-6916B971CB6E}" type="datetime'''''''''''''''''''''''''''''8''''''1%'''''''''''''''''''''''''">
              <a:rPr lang="en-US" sz="900">
                <a:solidFill>
                  <a:schemeClr val="bg1"/>
                </a:solidFill>
              </a:rPr>
              <a:pPr marL="0" indent="0" algn="ctr">
                <a:spcBef>
                  <a:spcPct val="0"/>
                </a:spcBef>
                <a:spcAft>
                  <a:spcPct val="0"/>
                </a:spcAft>
                <a:buClr>
                  <a:srgbClr val="000000"/>
                </a:buClr>
                <a:buNone/>
                <a:defRPr/>
              </a:pPr>
              <a:t>81%</a:t>
            </a:fld>
            <a:endParaRPr lang="en-US" sz="900">
              <a:solidFill>
                <a:schemeClr val="bg1"/>
              </a:solidFill>
            </a:endParaRPr>
          </a:p>
        </p:txBody>
      </p:sp>
      <p:sp>
        <p:nvSpPr>
          <p:cNvPr id="219" name="Text Placeholder 2">
            <a:extLst>
              <a:ext uri="{FF2B5EF4-FFF2-40B4-BE49-F238E27FC236}">
                <a16:creationId xmlns:a16="http://schemas.microsoft.com/office/drawing/2014/main" id="{6F07CC3D-18FB-20A2-CC81-067654A0C03C}"/>
              </a:ext>
            </a:extLst>
          </p:cNvPr>
          <p:cNvSpPr>
            <a:spLocks/>
          </p:cNvSpPr>
          <p:nvPr>
            <p:custDataLst>
              <p:tags r:id="rId22"/>
            </p:custDataLst>
          </p:nvPr>
        </p:nvSpPr>
        <p:spPr bwMode="gray">
          <a:xfrm>
            <a:off x="1739901" y="2598740"/>
            <a:ext cx="244475" cy="136524"/>
          </a:xfrm>
          <a:prstGeom prst="rect">
            <a:avLst/>
          </a:prstGeom>
          <a:no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1843D234-B7CD-4AFB-95D5-3871ADDA06A4}" type="datetime'''''''''''''''''''19''''''''''''''''''''''''%'''''''''''">
              <a:rPr lang="en-US" sz="900">
                <a:solidFill>
                  <a:schemeClr val="bg1"/>
                </a:solidFill>
              </a:rPr>
              <a:pPr marL="0" indent="0" algn="ctr">
                <a:spcBef>
                  <a:spcPct val="0"/>
                </a:spcBef>
                <a:spcAft>
                  <a:spcPct val="0"/>
                </a:spcAft>
                <a:buClr>
                  <a:srgbClr val="000000"/>
                </a:buClr>
                <a:buNone/>
                <a:defRPr/>
              </a:pPr>
              <a:t>19%</a:t>
            </a:fld>
            <a:endParaRPr lang="en-US" sz="900">
              <a:solidFill>
                <a:schemeClr val="bg1"/>
              </a:solidFill>
            </a:endParaRPr>
          </a:p>
        </p:txBody>
      </p:sp>
      <p:sp>
        <p:nvSpPr>
          <p:cNvPr id="235" name="Text Placeholder 2">
            <a:extLst>
              <a:ext uri="{FF2B5EF4-FFF2-40B4-BE49-F238E27FC236}">
                <a16:creationId xmlns:a16="http://schemas.microsoft.com/office/drawing/2014/main" id="{BD015F02-D7E7-64DE-42FD-C0FED0A3B4C7}"/>
              </a:ext>
            </a:extLst>
          </p:cNvPr>
          <p:cNvSpPr>
            <a:spLocks/>
          </p:cNvSpPr>
          <p:nvPr>
            <p:custDataLst>
              <p:tags r:id="rId23"/>
            </p:custDataLst>
          </p:nvPr>
        </p:nvSpPr>
        <p:spPr bwMode="gray">
          <a:xfrm>
            <a:off x="2152652" y="3055940"/>
            <a:ext cx="26035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009EF6E-9DAC-40EC-8164-7D63166BB96B}" type="datetime'''''''''''''''''''''''''''''7''''''''''6''''''''''''''%'">
              <a:rPr lang="en-US" sz="900">
                <a:solidFill>
                  <a:schemeClr val="bg1"/>
                </a:solidFill>
              </a:rPr>
              <a:pPr marL="0" indent="0" algn="ctr">
                <a:spcBef>
                  <a:spcPct val="0"/>
                </a:spcBef>
                <a:spcAft>
                  <a:spcPct val="0"/>
                </a:spcAft>
                <a:buClr>
                  <a:srgbClr val="000000"/>
                </a:buClr>
                <a:buNone/>
                <a:defRPr/>
              </a:pPr>
              <a:t>76%</a:t>
            </a:fld>
            <a:endParaRPr lang="en-US" sz="900">
              <a:solidFill>
                <a:schemeClr val="bg1"/>
              </a:solidFill>
            </a:endParaRPr>
          </a:p>
        </p:txBody>
      </p:sp>
      <p:sp>
        <p:nvSpPr>
          <p:cNvPr id="234" name="Text Placeholder 2">
            <a:extLst>
              <a:ext uri="{FF2B5EF4-FFF2-40B4-BE49-F238E27FC236}">
                <a16:creationId xmlns:a16="http://schemas.microsoft.com/office/drawing/2014/main" id="{6B4E7F4E-CE0C-CDAE-069A-CB4AC6312CB6}"/>
              </a:ext>
            </a:extLst>
          </p:cNvPr>
          <p:cNvSpPr>
            <a:spLocks/>
          </p:cNvSpPr>
          <p:nvPr>
            <p:custDataLst>
              <p:tags r:id="rId24"/>
            </p:custDataLst>
          </p:nvPr>
        </p:nvSpPr>
        <p:spPr bwMode="gray">
          <a:xfrm>
            <a:off x="1695452" y="3055940"/>
            <a:ext cx="257175" cy="136524"/>
          </a:xfrm>
          <a:prstGeom prst="rect">
            <a:avLst/>
          </a:prstGeom>
          <a:solidFill>
            <a:srgbClr val="B10D13"/>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D082165C-3A64-4904-89B9-EEBEFE790E45}" type="datetime'''''''''2''''''''''''''''4''''''%'''''''''''''''''''''">
              <a:rPr lang="en-US" sz="900">
                <a:solidFill>
                  <a:schemeClr val="bg1"/>
                </a:solidFill>
              </a:rPr>
              <a:pPr marL="0" indent="0" algn="ctr">
                <a:spcBef>
                  <a:spcPct val="0"/>
                </a:spcBef>
                <a:spcAft>
                  <a:spcPct val="0"/>
                </a:spcAft>
                <a:buClr>
                  <a:srgbClr val="000000"/>
                </a:buClr>
                <a:buNone/>
                <a:defRPr/>
              </a:pPr>
              <a:t>24%</a:t>
            </a:fld>
            <a:endParaRPr lang="en-US" sz="900">
              <a:solidFill>
                <a:schemeClr val="bg1"/>
              </a:solidFill>
            </a:endParaRPr>
          </a:p>
        </p:txBody>
      </p:sp>
      <p:sp>
        <p:nvSpPr>
          <p:cNvPr id="238" name="Text Placeholder 2">
            <a:extLst>
              <a:ext uri="{FF2B5EF4-FFF2-40B4-BE49-F238E27FC236}">
                <a16:creationId xmlns:a16="http://schemas.microsoft.com/office/drawing/2014/main" id="{2DDCE634-BC8B-79F7-D857-EF82893C2432}"/>
              </a:ext>
            </a:extLst>
          </p:cNvPr>
          <p:cNvSpPr>
            <a:spLocks/>
          </p:cNvSpPr>
          <p:nvPr>
            <p:custDataLst>
              <p:tags r:id="rId25"/>
            </p:custDataLst>
          </p:nvPr>
        </p:nvSpPr>
        <p:spPr bwMode="gray">
          <a:xfrm>
            <a:off x="2033588" y="3514727"/>
            <a:ext cx="25400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4EDF6EC-AF18-4DFC-9179-47658AF938D4}" type="datetime'''''''''''7''3''''''%'''''''''''''''''''''">
              <a:rPr lang="en-US" sz="900">
                <a:solidFill>
                  <a:schemeClr val="bg1"/>
                </a:solidFill>
              </a:rPr>
              <a:pPr marL="0" indent="0" algn="ctr">
                <a:spcBef>
                  <a:spcPct val="0"/>
                </a:spcBef>
                <a:spcAft>
                  <a:spcPct val="0"/>
                </a:spcAft>
                <a:buClr>
                  <a:srgbClr val="000000"/>
                </a:buClr>
                <a:buNone/>
                <a:defRPr/>
              </a:pPr>
              <a:t>73%</a:t>
            </a:fld>
            <a:endParaRPr lang="en-US" sz="900">
              <a:solidFill>
                <a:schemeClr val="bg1"/>
              </a:solidFill>
            </a:endParaRPr>
          </a:p>
        </p:txBody>
      </p:sp>
      <p:sp>
        <p:nvSpPr>
          <p:cNvPr id="237" name="Text Placeholder 2">
            <a:extLst>
              <a:ext uri="{FF2B5EF4-FFF2-40B4-BE49-F238E27FC236}">
                <a16:creationId xmlns:a16="http://schemas.microsoft.com/office/drawing/2014/main" id="{5FD75995-4218-CE45-60F6-D0831CF7CB7B}"/>
              </a:ext>
            </a:extLst>
          </p:cNvPr>
          <p:cNvSpPr>
            <a:spLocks/>
          </p:cNvSpPr>
          <p:nvPr>
            <p:custDataLst>
              <p:tags r:id="rId26"/>
            </p:custDataLst>
          </p:nvPr>
        </p:nvSpPr>
        <p:spPr bwMode="gray">
          <a:xfrm>
            <a:off x="1682751" y="3514727"/>
            <a:ext cx="254000" cy="136524"/>
          </a:xfrm>
          <a:prstGeom prst="rect">
            <a:avLst/>
          </a:prstGeom>
          <a:solidFill>
            <a:srgbClr val="B10D13"/>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B0EB0827-7579-42C1-9BD9-3521D91C0D79}" type="datetime'''''''''2''''''''''''''''''''''''''''''''7''''''''''%'">
              <a:rPr lang="en-US" sz="900">
                <a:solidFill>
                  <a:schemeClr val="bg1"/>
                </a:solidFill>
              </a:rPr>
              <a:pPr marL="0" indent="0" algn="ctr">
                <a:spcBef>
                  <a:spcPct val="0"/>
                </a:spcBef>
                <a:spcAft>
                  <a:spcPct val="0"/>
                </a:spcAft>
                <a:buClr>
                  <a:srgbClr val="000000"/>
                </a:buClr>
                <a:buNone/>
                <a:defRPr/>
              </a:pPr>
              <a:t>27%</a:t>
            </a:fld>
            <a:endParaRPr lang="en-US" sz="900">
              <a:solidFill>
                <a:schemeClr val="bg1"/>
              </a:solidFill>
            </a:endParaRPr>
          </a:p>
        </p:txBody>
      </p:sp>
      <p:sp>
        <p:nvSpPr>
          <p:cNvPr id="244" name="Text Placeholder 2">
            <a:extLst>
              <a:ext uri="{FF2B5EF4-FFF2-40B4-BE49-F238E27FC236}">
                <a16:creationId xmlns:a16="http://schemas.microsoft.com/office/drawing/2014/main" id="{7A696F55-9A5E-9FE0-4D43-47549B06F4E9}"/>
              </a:ext>
            </a:extLst>
          </p:cNvPr>
          <p:cNvSpPr>
            <a:spLocks/>
          </p:cNvSpPr>
          <p:nvPr>
            <p:custDataLst>
              <p:tags r:id="rId27"/>
            </p:custDataLst>
          </p:nvPr>
        </p:nvSpPr>
        <p:spPr bwMode="gray">
          <a:xfrm>
            <a:off x="1881190" y="3908427"/>
            <a:ext cx="252412" cy="136524"/>
          </a:xfrm>
          <a:prstGeom prst="rect">
            <a:avLst/>
          </a:prstGeom>
          <a:solidFill>
            <a:schemeClr val="accent1"/>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51BE127-9B77-4431-BC9B-88807CA220FD}" type="datetime'''''''''''5''''''2''''''''''''''''''''''''''%'''''''''''''''">
              <a:rPr lang="en-US" sz="900">
                <a:solidFill>
                  <a:schemeClr val="bg1"/>
                </a:solidFill>
              </a:rPr>
              <a:pPr marL="0" indent="0" algn="ctr">
                <a:spcBef>
                  <a:spcPct val="0"/>
                </a:spcBef>
                <a:spcAft>
                  <a:spcPct val="0"/>
                </a:spcAft>
                <a:buClr>
                  <a:srgbClr val="000000"/>
                </a:buClr>
                <a:buNone/>
                <a:defRPr/>
              </a:pPr>
              <a:t>52%</a:t>
            </a:fld>
            <a:endParaRPr lang="en-US" sz="900">
              <a:solidFill>
                <a:schemeClr val="bg1"/>
              </a:solidFill>
            </a:endParaRPr>
          </a:p>
        </p:txBody>
      </p:sp>
      <p:sp>
        <p:nvSpPr>
          <p:cNvPr id="239" name="Text Placeholder 2">
            <a:extLst>
              <a:ext uri="{FF2B5EF4-FFF2-40B4-BE49-F238E27FC236}">
                <a16:creationId xmlns:a16="http://schemas.microsoft.com/office/drawing/2014/main" id="{60FB2610-BAB6-CA52-5BFC-31EC72D9EBD0}"/>
              </a:ext>
            </a:extLst>
          </p:cNvPr>
          <p:cNvSpPr>
            <a:spLocks/>
          </p:cNvSpPr>
          <p:nvPr>
            <p:custDataLst>
              <p:tags r:id="rId28"/>
            </p:custDataLst>
          </p:nvPr>
        </p:nvSpPr>
        <p:spPr bwMode="gray">
          <a:xfrm>
            <a:off x="1679576" y="4035428"/>
            <a:ext cx="260350" cy="136524"/>
          </a:xfrm>
          <a:prstGeom prst="rect">
            <a:avLst/>
          </a:prstGeom>
          <a:solidFill>
            <a:srgbClr val="B10D13"/>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A31ED230-FD66-4AC4-A6B5-F49D1A5B060B}" type="datetime'4''''''''''''''''''''''8''''''''%'''''''''''''">
              <a:rPr lang="en-US" sz="900">
                <a:solidFill>
                  <a:schemeClr val="bg1"/>
                </a:solidFill>
              </a:rPr>
              <a:pPr marL="0" indent="0" algn="ctr">
                <a:spcBef>
                  <a:spcPct val="0"/>
                </a:spcBef>
                <a:spcAft>
                  <a:spcPct val="0"/>
                </a:spcAft>
                <a:buClr>
                  <a:srgbClr val="000000"/>
                </a:buClr>
                <a:buNone/>
                <a:defRPr/>
              </a:pPr>
              <a:t>48%</a:t>
            </a:fld>
            <a:endParaRPr lang="en-US" sz="900">
              <a:solidFill>
                <a:schemeClr val="bg1"/>
              </a:solidFill>
            </a:endParaRPr>
          </a:p>
        </p:txBody>
      </p:sp>
      <p:sp>
        <p:nvSpPr>
          <p:cNvPr id="246" name="Text Placeholder 2">
            <a:extLst>
              <a:ext uri="{FF2B5EF4-FFF2-40B4-BE49-F238E27FC236}">
                <a16:creationId xmlns:a16="http://schemas.microsoft.com/office/drawing/2014/main" id="{6312A8D3-E0CE-7417-B097-DFB245BB57A8}"/>
              </a:ext>
            </a:extLst>
          </p:cNvPr>
          <p:cNvSpPr>
            <a:spLocks/>
          </p:cNvSpPr>
          <p:nvPr>
            <p:custDataLst>
              <p:tags r:id="rId29"/>
            </p:custDataLst>
          </p:nvPr>
        </p:nvSpPr>
        <p:spPr bwMode="gray">
          <a:xfrm>
            <a:off x="1812924" y="4365627"/>
            <a:ext cx="255588" cy="136524"/>
          </a:xfrm>
          <a:prstGeom prst="rect">
            <a:avLst/>
          </a:prstGeom>
          <a:no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19C4DA3F-A378-4FC7-B26E-73ED799F8413}" type="datetime'''''''''''''''''85''''''''''''%'''''''''''''''''''''''''''">
              <a:rPr lang="en-US" sz="900">
                <a:solidFill>
                  <a:schemeClr val="bg1"/>
                </a:solidFill>
              </a:rPr>
              <a:pPr marL="0" indent="0" algn="ctr">
                <a:spcBef>
                  <a:spcPct val="0"/>
                </a:spcBef>
                <a:spcAft>
                  <a:spcPct val="0"/>
                </a:spcAft>
                <a:buClr>
                  <a:srgbClr val="000000"/>
                </a:buClr>
                <a:buNone/>
                <a:defRPr/>
              </a:pPr>
              <a:t>85%</a:t>
            </a:fld>
            <a:endParaRPr lang="en-US" sz="900">
              <a:solidFill>
                <a:schemeClr val="bg1"/>
              </a:solidFill>
            </a:endParaRPr>
          </a:p>
        </p:txBody>
      </p:sp>
      <p:sp>
        <p:nvSpPr>
          <p:cNvPr id="245" name="Text Placeholder 2">
            <a:extLst>
              <a:ext uri="{FF2B5EF4-FFF2-40B4-BE49-F238E27FC236}">
                <a16:creationId xmlns:a16="http://schemas.microsoft.com/office/drawing/2014/main" id="{79524167-1824-7B22-1602-2640FF5265F3}"/>
              </a:ext>
            </a:extLst>
          </p:cNvPr>
          <p:cNvSpPr>
            <a:spLocks/>
          </p:cNvSpPr>
          <p:nvPr>
            <p:custDataLst>
              <p:tags r:id="rId30"/>
            </p:custDataLst>
          </p:nvPr>
        </p:nvSpPr>
        <p:spPr bwMode="gray">
          <a:xfrm>
            <a:off x="1627188" y="4494215"/>
            <a:ext cx="236539" cy="136524"/>
          </a:xfrm>
          <a:prstGeom prst="rect">
            <a:avLst/>
          </a:prstGeom>
          <a:solidFill>
            <a:srgbClr val="B10D13"/>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BE6A71EF-EEE7-459C-B2A8-CCEA3B04701A}" type="datetime'''''''1''''''5''''%'''''''''''''''''''''''''''''''''''''''''''">
              <a:rPr lang="en-US" sz="900">
                <a:solidFill>
                  <a:schemeClr val="bg1"/>
                </a:solidFill>
              </a:rPr>
              <a:pPr marL="0" indent="0" algn="ctr">
                <a:spcBef>
                  <a:spcPct val="0"/>
                </a:spcBef>
                <a:spcAft>
                  <a:spcPct val="0"/>
                </a:spcAft>
                <a:buClr>
                  <a:srgbClr val="000000"/>
                </a:buClr>
                <a:buNone/>
                <a:defRPr/>
              </a:pPr>
              <a:t>15%</a:t>
            </a:fld>
            <a:endParaRPr lang="en-US" sz="900">
              <a:solidFill>
                <a:schemeClr val="bg1"/>
              </a:solidFill>
            </a:endParaRPr>
          </a:p>
        </p:txBody>
      </p:sp>
      <p:sp>
        <p:nvSpPr>
          <p:cNvPr id="248" name="Text Placeholder 2">
            <a:extLst>
              <a:ext uri="{FF2B5EF4-FFF2-40B4-BE49-F238E27FC236}">
                <a16:creationId xmlns:a16="http://schemas.microsoft.com/office/drawing/2014/main" id="{7E60A53F-789A-8533-E48A-E1E4427B99A5}"/>
              </a:ext>
            </a:extLst>
          </p:cNvPr>
          <p:cNvSpPr>
            <a:spLocks/>
          </p:cNvSpPr>
          <p:nvPr>
            <p:custDataLst>
              <p:tags r:id="rId31"/>
            </p:custDataLst>
          </p:nvPr>
        </p:nvSpPr>
        <p:spPr bwMode="gray">
          <a:xfrm>
            <a:off x="1814513" y="4824414"/>
            <a:ext cx="266700" cy="136524"/>
          </a:xfrm>
          <a:prstGeom prst="rect">
            <a:avLst/>
          </a:prstGeom>
          <a:no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F43D7D16-6978-430A-B6DA-1A85F377ADAF}" type="datetime'''6''''''''''''''''''''''''''''''9''%'''''''">
              <a:rPr lang="en-US" sz="900">
                <a:solidFill>
                  <a:schemeClr val="bg1"/>
                </a:solidFill>
              </a:rPr>
              <a:pPr marL="0" indent="0" algn="ctr">
                <a:spcBef>
                  <a:spcPct val="0"/>
                </a:spcBef>
                <a:spcAft>
                  <a:spcPct val="0"/>
                </a:spcAft>
                <a:buClr>
                  <a:srgbClr val="000000"/>
                </a:buClr>
                <a:buNone/>
                <a:defRPr/>
              </a:pPr>
              <a:t>69%</a:t>
            </a:fld>
            <a:endParaRPr lang="en-US" sz="900">
              <a:solidFill>
                <a:schemeClr val="bg1"/>
              </a:solidFill>
            </a:endParaRPr>
          </a:p>
        </p:txBody>
      </p:sp>
      <p:sp>
        <p:nvSpPr>
          <p:cNvPr id="247" name="Text Placeholder 2">
            <a:extLst>
              <a:ext uri="{FF2B5EF4-FFF2-40B4-BE49-F238E27FC236}">
                <a16:creationId xmlns:a16="http://schemas.microsoft.com/office/drawing/2014/main" id="{D4EDA37C-9BC2-104A-4082-6FD77284E47B}"/>
              </a:ext>
            </a:extLst>
          </p:cNvPr>
          <p:cNvSpPr>
            <a:spLocks/>
          </p:cNvSpPr>
          <p:nvPr>
            <p:custDataLst>
              <p:tags r:id="rId32"/>
            </p:custDataLst>
          </p:nvPr>
        </p:nvSpPr>
        <p:spPr bwMode="gray">
          <a:xfrm>
            <a:off x="1651002" y="4951415"/>
            <a:ext cx="238124" cy="136524"/>
          </a:xfrm>
          <a:prstGeom prst="rect">
            <a:avLst/>
          </a:prstGeom>
          <a:solidFill>
            <a:srgbClr val="B10D13"/>
          </a:solidFill>
          <a:ln>
            <a:noFill/>
          </a:ln>
          <a:effec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54A2CE12-9B2D-4B7F-B6C7-04B8CEB72E97}" type="datetime'3''1''''''''''''''''''''''''%'''''''''''''''''''''''''''">
              <a:rPr lang="en-US" sz="900">
                <a:solidFill>
                  <a:schemeClr val="bg1"/>
                </a:solidFill>
              </a:rPr>
              <a:pPr marL="0" indent="0" algn="ctr">
                <a:spcBef>
                  <a:spcPct val="0"/>
                </a:spcBef>
                <a:spcAft>
                  <a:spcPct val="0"/>
                </a:spcAft>
                <a:buClr>
                  <a:srgbClr val="000000"/>
                </a:buClr>
                <a:buNone/>
                <a:defRPr/>
              </a:pPr>
              <a:t>31%</a:t>
            </a:fld>
            <a:endParaRPr lang="en-US" sz="900">
              <a:solidFill>
                <a:schemeClr val="bg1"/>
              </a:solidFill>
            </a:endParaRPr>
          </a:p>
        </p:txBody>
      </p:sp>
      <p:sp>
        <p:nvSpPr>
          <p:cNvPr id="33" name="Text Placeholder 2">
            <a:extLst>
              <a:ext uri="{FF2B5EF4-FFF2-40B4-BE49-F238E27FC236}">
                <a16:creationId xmlns:a16="http://schemas.microsoft.com/office/drawing/2014/main" id="{441B70BC-28FD-7F4B-B159-9367433646F6}"/>
              </a:ext>
            </a:extLst>
          </p:cNvPr>
          <p:cNvSpPr>
            <a:spLocks/>
          </p:cNvSpPr>
          <p:nvPr>
            <p:custDataLst>
              <p:tags r:id="rId33"/>
            </p:custDataLst>
          </p:nvPr>
        </p:nvSpPr>
        <p:spPr bwMode="gray">
          <a:xfrm>
            <a:off x="3270252" y="2598740"/>
            <a:ext cx="26670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9C23983A-06DE-4845-ACA7-9D8542013DF1}" type="datetime'''''''''''''''''''$''''''''''1''''''''''''''5''''''5'''''">
              <a:rPr lang="en-US" sz="900">
                <a:solidFill>
                  <a:srgbClr val="000000"/>
                </a:solidFill>
              </a:rPr>
              <a:pPr marL="0" indent="0">
                <a:spcBef>
                  <a:spcPct val="0"/>
                </a:spcBef>
                <a:spcAft>
                  <a:spcPct val="0"/>
                </a:spcAft>
                <a:buClr>
                  <a:srgbClr val="000000"/>
                </a:buClr>
                <a:buNone/>
                <a:defRPr/>
              </a:pPr>
              <a:t>$155</a:t>
            </a:fld>
            <a:endParaRPr lang="en-US" sz="900">
              <a:solidFill>
                <a:srgbClr val="000000"/>
              </a:solidFill>
            </a:endParaRPr>
          </a:p>
        </p:txBody>
      </p:sp>
      <p:sp>
        <p:nvSpPr>
          <p:cNvPr id="35" name="Text Placeholder 2">
            <a:extLst>
              <a:ext uri="{FF2B5EF4-FFF2-40B4-BE49-F238E27FC236}">
                <a16:creationId xmlns:a16="http://schemas.microsoft.com/office/drawing/2014/main" id="{FA4184A2-BDC0-DAFE-5268-971AE65F5CD7}"/>
              </a:ext>
            </a:extLst>
          </p:cNvPr>
          <p:cNvSpPr>
            <a:spLocks/>
          </p:cNvSpPr>
          <p:nvPr>
            <p:custDataLst>
              <p:tags r:id="rId34"/>
            </p:custDataLst>
          </p:nvPr>
        </p:nvSpPr>
        <p:spPr bwMode="gray">
          <a:xfrm>
            <a:off x="2657477" y="3055940"/>
            <a:ext cx="2301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BEA16F81-B5A5-4100-9AE2-D92A32C1DA7A}" type="datetime'''''''''''$''''9''''''''''''''''''''''''''''''''3'''">
              <a:rPr lang="en-US" sz="900">
                <a:solidFill>
                  <a:srgbClr val="000000"/>
                </a:solidFill>
              </a:rPr>
              <a:pPr marL="0" indent="0">
                <a:spcBef>
                  <a:spcPct val="0"/>
                </a:spcBef>
                <a:spcAft>
                  <a:spcPct val="0"/>
                </a:spcAft>
                <a:buClr>
                  <a:srgbClr val="000000"/>
                </a:buClr>
                <a:buNone/>
                <a:defRPr/>
              </a:pPr>
              <a:t>$93</a:t>
            </a:fld>
            <a:endParaRPr lang="en-US" sz="900">
              <a:solidFill>
                <a:srgbClr val="000000"/>
              </a:solidFill>
            </a:endParaRPr>
          </a:p>
        </p:txBody>
      </p:sp>
      <p:sp>
        <p:nvSpPr>
          <p:cNvPr id="36" name="Text Placeholder 2">
            <a:extLst>
              <a:ext uri="{FF2B5EF4-FFF2-40B4-BE49-F238E27FC236}">
                <a16:creationId xmlns:a16="http://schemas.microsoft.com/office/drawing/2014/main" id="{6099DEF0-EBBD-2426-1423-1CDE78BF2474}"/>
              </a:ext>
            </a:extLst>
          </p:cNvPr>
          <p:cNvSpPr>
            <a:spLocks/>
          </p:cNvSpPr>
          <p:nvPr>
            <p:custDataLst>
              <p:tags r:id="rId35"/>
            </p:custDataLst>
          </p:nvPr>
        </p:nvSpPr>
        <p:spPr bwMode="gray">
          <a:xfrm>
            <a:off x="2443165" y="3514727"/>
            <a:ext cx="207963"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B6EF689A-3E84-4D18-9175-AA9A9264F56E}" type="datetime'''''''''''$71'''''''''''">
              <a:rPr lang="en-US" sz="900">
                <a:solidFill>
                  <a:srgbClr val="000000"/>
                </a:solidFill>
              </a:rPr>
              <a:pPr marL="0" indent="0">
                <a:spcBef>
                  <a:spcPct val="0"/>
                </a:spcBef>
                <a:spcAft>
                  <a:spcPct val="0"/>
                </a:spcAft>
                <a:buClr>
                  <a:srgbClr val="000000"/>
                </a:buClr>
                <a:buNone/>
                <a:defRPr/>
              </a:pPr>
              <a:t>$71</a:t>
            </a:fld>
            <a:endParaRPr lang="en-US" sz="900">
              <a:solidFill>
                <a:srgbClr val="000000"/>
              </a:solidFill>
            </a:endParaRPr>
          </a:p>
        </p:txBody>
      </p:sp>
      <p:sp>
        <p:nvSpPr>
          <p:cNvPr id="56" name="Text Placeholder 2">
            <a:extLst>
              <a:ext uri="{FF2B5EF4-FFF2-40B4-BE49-F238E27FC236}">
                <a16:creationId xmlns:a16="http://schemas.microsoft.com/office/drawing/2014/main" id="{02ADC18A-C6AB-F6DA-7F8F-035574A87F33}"/>
              </a:ext>
            </a:extLst>
          </p:cNvPr>
          <p:cNvSpPr>
            <a:spLocks/>
          </p:cNvSpPr>
          <p:nvPr>
            <p:custDataLst>
              <p:tags r:id="rId36"/>
            </p:custDataLst>
          </p:nvPr>
        </p:nvSpPr>
        <p:spPr bwMode="gray">
          <a:xfrm>
            <a:off x="2152652" y="3971927"/>
            <a:ext cx="238124"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8FF24CC4-F002-4F01-B935-AB26CE4AF245}" type="datetime'''$''''''''''''''''''''''''''''''''4''''''''''''0'''">
              <a:rPr lang="en-US" sz="900">
                <a:solidFill>
                  <a:srgbClr val="000000"/>
                </a:solidFill>
              </a:rPr>
              <a:pPr marL="0" indent="0">
                <a:spcBef>
                  <a:spcPct val="0"/>
                </a:spcBef>
                <a:spcAft>
                  <a:spcPct val="0"/>
                </a:spcAft>
                <a:buClr>
                  <a:srgbClr val="000000"/>
                </a:buClr>
                <a:buNone/>
                <a:defRPr/>
              </a:pPr>
              <a:t>$40</a:t>
            </a:fld>
            <a:endParaRPr lang="en-US" sz="900">
              <a:solidFill>
                <a:srgbClr val="000000"/>
              </a:solidFill>
            </a:endParaRPr>
          </a:p>
        </p:txBody>
      </p:sp>
      <p:sp>
        <p:nvSpPr>
          <p:cNvPr id="37" name="Text Placeholder 2">
            <a:extLst>
              <a:ext uri="{FF2B5EF4-FFF2-40B4-BE49-F238E27FC236}">
                <a16:creationId xmlns:a16="http://schemas.microsoft.com/office/drawing/2014/main" id="{6376CF6F-F0DB-E18B-2E5E-C30EE76106F4}"/>
              </a:ext>
            </a:extLst>
          </p:cNvPr>
          <p:cNvSpPr>
            <a:spLocks/>
          </p:cNvSpPr>
          <p:nvPr>
            <p:custDataLst>
              <p:tags r:id="rId37"/>
            </p:custDataLst>
          </p:nvPr>
        </p:nvSpPr>
        <p:spPr bwMode="gray">
          <a:xfrm>
            <a:off x="2132014" y="4429127"/>
            <a:ext cx="2301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DB695E87-7BF8-4F20-BEB1-001F9CA921D7}" type="datetime'$''''''''''''''''''''''3''''''''''''9'''''''''''''''''''''''''">
              <a:rPr lang="en-US" sz="900">
                <a:solidFill>
                  <a:srgbClr val="000000"/>
                </a:solidFill>
              </a:rPr>
              <a:pPr marL="0" indent="0">
                <a:spcBef>
                  <a:spcPct val="0"/>
                </a:spcBef>
                <a:spcAft>
                  <a:spcPct val="0"/>
                </a:spcAft>
                <a:buClr>
                  <a:srgbClr val="000000"/>
                </a:buClr>
                <a:buNone/>
                <a:defRPr/>
              </a:pPr>
              <a:t>$39</a:t>
            </a:fld>
            <a:endParaRPr lang="en-US" sz="900">
              <a:solidFill>
                <a:srgbClr val="000000"/>
              </a:solidFill>
            </a:endParaRPr>
          </a:p>
        </p:txBody>
      </p:sp>
      <p:sp>
        <p:nvSpPr>
          <p:cNvPr id="39" name="Text Placeholder 2">
            <a:extLst>
              <a:ext uri="{FF2B5EF4-FFF2-40B4-BE49-F238E27FC236}">
                <a16:creationId xmlns:a16="http://schemas.microsoft.com/office/drawing/2014/main" id="{1664B16B-3672-09B0-CF8E-07F210886CBD}"/>
              </a:ext>
            </a:extLst>
          </p:cNvPr>
          <p:cNvSpPr>
            <a:spLocks/>
          </p:cNvSpPr>
          <p:nvPr>
            <p:custDataLst>
              <p:tags r:id="rId38"/>
            </p:custDataLst>
          </p:nvPr>
        </p:nvSpPr>
        <p:spPr bwMode="gray">
          <a:xfrm>
            <a:off x="2097089" y="4887915"/>
            <a:ext cx="2301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455B1DF8-9229-4326-BFA2-90D242FBF4CA}" type="datetime'''''$''''''3''''''6'''''''''''''''''''''''''''''''''''''''''''">
              <a:rPr lang="en-US" sz="900">
                <a:solidFill>
                  <a:srgbClr val="000000"/>
                </a:solidFill>
              </a:rPr>
              <a:pPr marL="0" indent="0">
                <a:spcBef>
                  <a:spcPct val="0"/>
                </a:spcBef>
                <a:spcAft>
                  <a:spcPct val="0"/>
                </a:spcAft>
                <a:buClr>
                  <a:srgbClr val="000000"/>
                </a:buClr>
                <a:buNone/>
                <a:defRPr/>
              </a:pPr>
              <a:t>$36</a:t>
            </a:fld>
            <a:endParaRPr lang="en-US" sz="900">
              <a:solidFill>
                <a:srgbClr val="000000"/>
              </a:solidFill>
            </a:endParaRPr>
          </a:p>
        </p:txBody>
      </p:sp>
      <p:graphicFrame>
        <p:nvGraphicFramePr>
          <p:cNvPr id="43" name="Chart 42">
            <a:extLst>
              <a:ext uri="{FF2B5EF4-FFF2-40B4-BE49-F238E27FC236}">
                <a16:creationId xmlns:a16="http://schemas.microsoft.com/office/drawing/2014/main" id="{A4DDE84C-6466-CABE-B770-80F121ACC0F8}"/>
              </a:ext>
            </a:extLst>
          </p:cNvPr>
          <p:cNvGraphicFramePr/>
          <p:nvPr>
            <p:custDataLst>
              <p:tags r:id="rId39"/>
            </p:custDataLst>
          </p:nvPr>
        </p:nvGraphicFramePr>
        <p:xfrm>
          <a:off x="5965826" y="2355850"/>
          <a:ext cx="1363662" cy="2911476"/>
        </p:xfrm>
        <a:graphic>
          <a:graphicData uri="http://schemas.openxmlformats.org/drawingml/2006/chart">
            <c:chart xmlns:c="http://schemas.openxmlformats.org/drawingml/2006/chart" xmlns:r="http://schemas.openxmlformats.org/officeDocument/2006/relationships" r:id="rId62"/>
          </a:graphicData>
        </a:graphic>
      </p:graphicFrame>
      <p:sp>
        <p:nvSpPr>
          <p:cNvPr id="175" name="Text Placeholder 2">
            <a:extLst>
              <a:ext uri="{FF2B5EF4-FFF2-40B4-BE49-F238E27FC236}">
                <a16:creationId xmlns:a16="http://schemas.microsoft.com/office/drawing/2014/main" id="{B258C23D-08F2-D5C1-4209-0A5DCE52683B}"/>
              </a:ext>
            </a:extLst>
          </p:cNvPr>
          <p:cNvSpPr>
            <a:spLocks/>
          </p:cNvSpPr>
          <p:nvPr>
            <p:custDataLst>
              <p:tags r:id="rId40"/>
            </p:custDataLst>
          </p:nvPr>
        </p:nvSpPr>
        <p:spPr bwMode="gray">
          <a:xfrm>
            <a:off x="6923089" y="2590802"/>
            <a:ext cx="2476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80457455-390A-467E-B4DB-D8737B9A56D7}" type="datetime'''''''''''$''''''''''''''''''2''''5'''''''''''''">
              <a:rPr lang="en-US" sz="1001">
                <a:solidFill>
                  <a:srgbClr val="000000"/>
                </a:solidFill>
              </a:rPr>
              <a:pPr marL="0" indent="0" algn="ctr">
                <a:spcBef>
                  <a:spcPct val="0"/>
                </a:spcBef>
                <a:spcAft>
                  <a:spcPct val="0"/>
                </a:spcAft>
                <a:buClr>
                  <a:srgbClr val="000000"/>
                </a:buClr>
                <a:buNone/>
                <a:defRPr/>
              </a:pPr>
              <a:t>$25</a:t>
            </a:fld>
            <a:endParaRPr lang="en-US" sz="1001">
              <a:solidFill>
                <a:srgbClr val="000000"/>
              </a:solidFill>
            </a:endParaRPr>
          </a:p>
        </p:txBody>
      </p:sp>
      <p:sp>
        <p:nvSpPr>
          <p:cNvPr id="149" name="Text Placeholder 2">
            <a:extLst>
              <a:ext uri="{FF2B5EF4-FFF2-40B4-BE49-F238E27FC236}">
                <a16:creationId xmlns:a16="http://schemas.microsoft.com/office/drawing/2014/main" id="{69589BD5-0279-058F-7684-914F492CD8EF}"/>
              </a:ext>
            </a:extLst>
          </p:cNvPr>
          <p:cNvSpPr>
            <a:spLocks/>
          </p:cNvSpPr>
          <p:nvPr>
            <p:custDataLst>
              <p:tags r:id="rId41"/>
            </p:custDataLst>
          </p:nvPr>
        </p:nvSpPr>
        <p:spPr bwMode="gray">
          <a:xfrm>
            <a:off x="6318252" y="2590802"/>
            <a:ext cx="260350" cy="152400"/>
          </a:xfrm>
          <a:prstGeom prst="rect">
            <a:avLst/>
          </a:prstGeom>
          <a:noFill/>
          <a:ln>
            <a:noFill/>
          </a:ln>
          <a:effectLst/>
          <a:extLst>
            <a:ext uri="{909E8E84-426E-40DD-AFC4-6F175D3DCCD1}">
              <a14:hiddenFill xmlns:a14="http://schemas.microsoft.com/office/drawing/2010/main">
                <a:solidFill>
                  <a:schemeClr val="accent3"/>
                </a:solidFill>
              </a14:hiddenFill>
            </a:ext>
          </a:ex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4FD9A469-8DBE-4783-B172-872C852BA00B}" type="datetime'''''''''$''''''''''''5''''''''''''''''0'''''">
              <a:rPr lang="en-US" sz="1001">
                <a:solidFill>
                  <a:srgbClr val="000000"/>
                </a:solidFill>
              </a:rPr>
              <a:pPr marL="0" indent="0" algn="ctr">
                <a:spcBef>
                  <a:spcPct val="0"/>
                </a:spcBef>
                <a:spcAft>
                  <a:spcPct val="0"/>
                </a:spcAft>
                <a:buClr>
                  <a:srgbClr val="000000"/>
                </a:buClr>
                <a:buNone/>
                <a:defRPr/>
              </a:pPr>
              <a:t>$50</a:t>
            </a:fld>
            <a:endParaRPr lang="en-US" sz="1001">
              <a:solidFill>
                <a:srgbClr val="000000"/>
              </a:solidFill>
            </a:endParaRPr>
          </a:p>
        </p:txBody>
      </p:sp>
      <p:sp>
        <p:nvSpPr>
          <p:cNvPr id="187" name="Text Placeholder 2">
            <a:extLst>
              <a:ext uri="{FF2B5EF4-FFF2-40B4-BE49-F238E27FC236}">
                <a16:creationId xmlns:a16="http://schemas.microsoft.com/office/drawing/2014/main" id="{9EF6C24A-8A45-D017-4E4B-FE5CEF350534}"/>
              </a:ext>
            </a:extLst>
          </p:cNvPr>
          <p:cNvSpPr>
            <a:spLocks/>
          </p:cNvSpPr>
          <p:nvPr>
            <p:custDataLst>
              <p:tags r:id="rId42"/>
            </p:custDataLst>
          </p:nvPr>
        </p:nvSpPr>
        <p:spPr bwMode="gray">
          <a:xfrm>
            <a:off x="6256340" y="2984501"/>
            <a:ext cx="180974" cy="152400"/>
          </a:xfrm>
          <a:prstGeom prst="rect">
            <a:avLst/>
          </a:prstGeom>
          <a:solidFill>
            <a:srgbClr val="C0C0C0"/>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BACFC1A9-0C2F-40A5-9729-C5FED80A86CF}" type="datetime'''$''''''7'''''''''''''''''''''''''''''''''''''">
              <a:rPr lang="en-US" sz="1001">
                <a:solidFill>
                  <a:srgbClr val="000000"/>
                </a:solidFill>
              </a:rPr>
              <a:pPr marL="0" indent="0" algn="ctr">
                <a:spcBef>
                  <a:spcPct val="0"/>
                </a:spcBef>
                <a:spcAft>
                  <a:spcPct val="0"/>
                </a:spcAft>
                <a:buClr>
                  <a:srgbClr val="000000"/>
                </a:buClr>
                <a:buNone/>
                <a:defRPr/>
              </a:pPr>
              <a:t>$7</a:t>
            </a:fld>
            <a:endParaRPr lang="en-US" sz="1001">
              <a:solidFill>
                <a:srgbClr val="000000"/>
              </a:solidFill>
            </a:endParaRPr>
          </a:p>
        </p:txBody>
      </p:sp>
      <p:sp>
        <p:nvSpPr>
          <p:cNvPr id="154" name="Text Placeholder 2">
            <a:extLst>
              <a:ext uri="{FF2B5EF4-FFF2-40B4-BE49-F238E27FC236}">
                <a16:creationId xmlns:a16="http://schemas.microsoft.com/office/drawing/2014/main" id="{01C4D345-DB68-2374-F675-EDD58CD9201C}"/>
              </a:ext>
            </a:extLst>
          </p:cNvPr>
          <p:cNvSpPr>
            <a:spLocks/>
          </p:cNvSpPr>
          <p:nvPr>
            <p:custDataLst>
              <p:tags r:id="rId43"/>
            </p:custDataLst>
          </p:nvPr>
        </p:nvSpPr>
        <p:spPr bwMode="gray">
          <a:xfrm>
            <a:off x="6054726" y="3113090"/>
            <a:ext cx="231774" cy="152400"/>
          </a:xfrm>
          <a:prstGeom prst="rect">
            <a:avLst/>
          </a:prstGeom>
          <a:solidFill>
            <a:srgbClr val="D6D7D9"/>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0B5EF2C1-5A21-4B56-9AC4-B175D5E957EA}" type="datetime'''''''''''''''$''''1''''''''''''''''''''''''''''''5'''''">
              <a:rPr lang="en-US" sz="1001">
                <a:solidFill>
                  <a:srgbClr val="000000"/>
                </a:solidFill>
              </a:rPr>
              <a:pPr marL="0" indent="0" algn="ctr">
                <a:spcBef>
                  <a:spcPct val="0"/>
                </a:spcBef>
                <a:spcAft>
                  <a:spcPct val="0"/>
                </a:spcAft>
                <a:buClr>
                  <a:srgbClr val="000000"/>
                </a:buClr>
                <a:buNone/>
                <a:defRPr/>
              </a:pPr>
              <a:t>$15</a:t>
            </a:fld>
            <a:endParaRPr lang="en-US" sz="1001">
              <a:solidFill>
                <a:srgbClr val="000000"/>
              </a:solidFill>
            </a:endParaRPr>
          </a:p>
        </p:txBody>
      </p:sp>
      <p:sp>
        <p:nvSpPr>
          <p:cNvPr id="188" name="Text Placeholder 2">
            <a:extLst>
              <a:ext uri="{FF2B5EF4-FFF2-40B4-BE49-F238E27FC236}">
                <a16:creationId xmlns:a16="http://schemas.microsoft.com/office/drawing/2014/main" id="{3F3AC5FE-2D9E-C89B-3D07-D980AA65C58B}"/>
              </a:ext>
            </a:extLst>
          </p:cNvPr>
          <p:cNvSpPr>
            <a:spLocks/>
          </p:cNvSpPr>
          <p:nvPr>
            <p:custDataLst>
              <p:tags r:id="rId44"/>
            </p:custDataLst>
          </p:nvPr>
        </p:nvSpPr>
        <p:spPr bwMode="gray">
          <a:xfrm>
            <a:off x="6378576" y="3506789"/>
            <a:ext cx="187324" cy="152400"/>
          </a:xfrm>
          <a:prstGeom prst="rect">
            <a:avLst/>
          </a:prstGeom>
          <a:solidFill>
            <a:srgbClr val="C0C0C0"/>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9F94CFF5-BA89-45AA-91F9-23CD6636ADE9}" type="datetime'''''''''''$''''''''''''''''''''''''''''''''''''6'''">
              <a:rPr lang="en-US" sz="1001">
                <a:solidFill>
                  <a:srgbClr val="000000"/>
                </a:solidFill>
              </a:rPr>
              <a:pPr marL="0" indent="0" algn="ctr">
                <a:spcBef>
                  <a:spcPct val="0"/>
                </a:spcBef>
                <a:spcAft>
                  <a:spcPct val="0"/>
                </a:spcAft>
                <a:buClr>
                  <a:srgbClr val="000000"/>
                </a:buClr>
                <a:buNone/>
                <a:defRPr/>
              </a:pPr>
              <a:t>$6</a:t>
            </a:fld>
            <a:endParaRPr lang="en-US" sz="1001">
              <a:solidFill>
                <a:srgbClr val="000000"/>
              </a:solidFill>
            </a:endParaRPr>
          </a:p>
        </p:txBody>
      </p:sp>
      <p:sp>
        <p:nvSpPr>
          <p:cNvPr id="155" name="Text Placeholder 2">
            <a:extLst>
              <a:ext uri="{FF2B5EF4-FFF2-40B4-BE49-F238E27FC236}">
                <a16:creationId xmlns:a16="http://schemas.microsoft.com/office/drawing/2014/main" id="{A99BE445-F4F3-1A40-AC5F-34854CA93E3E}"/>
              </a:ext>
            </a:extLst>
          </p:cNvPr>
          <p:cNvSpPr>
            <a:spLocks/>
          </p:cNvSpPr>
          <p:nvPr>
            <p:custDataLst>
              <p:tags r:id="rId45"/>
            </p:custDataLst>
          </p:nvPr>
        </p:nvSpPr>
        <p:spPr bwMode="gray">
          <a:xfrm>
            <a:off x="6111876" y="3506789"/>
            <a:ext cx="252412" cy="152400"/>
          </a:xfrm>
          <a:prstGeom prst="rect">
            <a:avLst/>
          </a:prstGeom>
          <a:noFill/>
          <a:ln>
            <a:noFill/>
          </a:ln>
          <a:effectLst/>
          <a:extLst>
            <a:ext uri="{909E8E84-426E-40DD-AFC4-6F175D3DCCD1}">
              <a14:hiddenFill xmlns:a14="http://schemas.microsoft.com/office/drawing/2010/main">
                <a:solidFill>
                  <a:srgbClr val="D8D6CA"/>
                </a:solidFill>
              </a14:hiddenFill>
            </a:ext>
          </a:ex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6B43E74-4D90-4D90-975B-30CF17F2BA80}" type="datetime'''''''$2''''4'''''''''''''''''''''''''''''">
              <a:rPr lang="en-US" sz="1001">
                <a:solidFill>
                  <a:srgbClr val="000000"/>
                </a:solidFill>
              </a:rPr>
              <a:pPr marL="0" indent="0" algn="ctr">
                <a:spcBef>
                  <a:spcPct val="0"/>
                </a:spcBef>
                <a:spcAft>
                  <a:spcPct val="0"/>
                </a:spcAft>
                <a:buClr>
                  <a:srgbClr val="000000"/>
                </a:buClr>
                <a:buNone/>
                <a:defRPr/>
              </a:pPr>
              <a:t>$24</a:t>
            </a:fld>
            <a:endParaRPr lang="en-US" sz="1001">
              <a:solidFill>
                <a:srgbClr val="000000"/>
              </a:solidFill>
            </a:endParaRPr>
          </a:p>
        </p:txBody>
      </p:sp>
      <p:sp>
        <p:nvSpPr>
          <p:cNvPr id="194" name="Text Placeholder 2">
            <a:extLst>
              <a:ext uri="{FF2B5EF4-FFF2-40B4-BE49-F238E27FC236}">
                <a16:creationId xmlns:a16="http://schemas.microsoft.com/office/drawing/2014/main" id="{04EE238F-3613-04FC-0DFB-9999A683AF1D}"/>
              </a:ext>
            </a:extLst>
          </p:cNvPr>
          <p:cNvSpPr>
            <a:spLocks/>
          </p:cNvSpPr>
          <p:nvPr>
            <p:custDataLst>
              <p:tags r:id="rId46"/>
            </p:custDataLst>
          </p:nvPr>
        </p:nvSpPr>
        <p:spPr bwMode="gray">
          <a:xfrm>
            <a:off x="6167438" y="3900489"/>
            <a:ext cx="179388" cy="152400"/>
          </a:xfrm>
          <a:prstGeom prst="rect">
            <a:avLst/>
          </a:prstGeom>
          <a:solidFill>
            <a:srgbClr val="C0C0C0"/>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4BB58A6-3310-4D3E-8A5F-F525856E9F6A}" type="datetime'''''''''''''''$''''''''''''''''''''''''''''3'''''''''''">
              <a:rPr lang="en-US" sz="1001">
                <a:solidFill>
                  <a:srgbClr val="000000"/>
                </a:solidFill>
              </a:rPr>
              <a:pPr marL="0" indent="0" algn="ctr">
                <a:spcBef>
                  <a:spcPct val="0"/>
                </a:spcBef>
                <a:spcAft>
                  <a:spcPct val="0"/>
                </a:spcAft>
                <a:buClr>
                  <a:srgbClr val="000000"/>
                </a:buClr>
                <a:buNone/>
                <a:defRPr/>
              </a:pPr>
              <a:t>$3</a:t>
            </a:fld>
            <a:endParaRPr lang="en-US" sz="1001">
              <a:solidFill>
                <a:srgbClr val="000000"/>
              </a:solidFill>
            </a:endParaRPr>
          </a:p>
        </p:txBody>
      </p:sp>
      <p:sp>
        <p:nvSpPr>
          <p:cNvPr id="156" name="Text Placeholder 2">
            <a:extLst>
              <a:ext uri="{FF2B5EF4-FFF2-40B4-BE49-F238E27FC236}">
                <a16:creationId xmlns:a16="http://schemas.microsoft.com/office/drawing/2014/main" id="{D4ED3F0C-E60D-B387-EC53-1960A8A2E1CC}"/>
              </a:ext>
            </a:extLst>
          </p:cNvPr>
          <p:cNvSpPr>
            <a:spLocks/>
          </p:cNvSpPr>
          <p:nvPr>
            <p:custDataLst>
              <p:tags r:id="rId47"/>
            </p:custDataLst>
          </p:nvPr>
        </p:nvSpPr>
        <p:spPr bwMode="gray">
          <a:xfrm>
            <a:off x="6024565" y="4027490"/>
            <a:ext cx="231774" cy="152400"/>
          </a:xfrm>
          <a:prstGeom prst="rect">
            <a:avLst/>
          </a:prstGeom>
          <a:solidFill>
            <a:srgbClr val="D6D7D9"/>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992A82C-BE58-476F-91B0-348350CD32D0}" type="datetime'''$1''''2'''''''''''''''''''''''''''''''''''''''''">
              <a:rPr lang="en-US" sz="1001">
                <a:solidFill>
                  <a:srgbClr val="000000"/>
                </a:solidFill>
              </a:rPr>
              <a:pPr marL="0" indent="0" algn="ctr">
                <a:spcBef>
                  <a:spcPct val="0"/>
                </a:spcBef>
                <a:spcAft>
                  <a:spcPct val="0"/>
                </a:spcAft>
                <a:buClr>
                  <a:srgbClr val="000000"/>
                </a:buClr>
                <a:buNone/>
                <a:defRPr/>
              </a:pPr>
              <a:t>$12</a:t>
            </a:fld>
            <a:endParaRPr lang="en-US" sz="1001">
              <a:solidFill>
                <a:srgbClr val="000000"/>
              </a:solidFill>
            </a:endParaRPr>
          </a:p>
        </p:txBody>
      </p:sp>
      <p:sp>
        <p:nvSpPr>
          <p:cNvPr id="195" name="Text Placeholder 2">
            <a:extLst>
              <a:ext uri="{FF2B5EF4-FFF2-40B4-BE49-F238E27FC236}">
                <a16:creationId xmlns:a16="http://schemas.microsoft.com/office/drawing/2014/main" id="{820D87A1-4F0C-7006-B837-8205990DA0E9}"/>
              </a:ext>
            </a:extLst>
          </p:cNvPr>
          <p:cNvSpPr>
            <a:spLocks/>
          </p:cNvSpPr>
          <p:nvPr>
            <p:custDataLst>
              <p:tags r:id="rId48"/>
            </p:custDataLst>
          </p:nvPr>
        </p:nvSpPr>
        <p:spPr bwMode="gray">
          <a:xfrm>
            <a:off x="6713540" y="4421189"/>
            <a:ext cx="187324" cy="152400"/>
          </a:xfrm>
          <a:prstGeom prst="rect">
            <a:avLst/>
          </a:prstGeom>
          <a:solidFill>
            <a:srgbClr val="C0C0C0"/>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50015B89-827D-4358-A7D9-8FF0607F3222}" type="datetime'''''''''''''''$''''''''''''6'''''''''''''''''''''''''''''''">
              <a:rPr lang="en-US" sz="1001">
                <a:solidFill>
                  <a:srgbClr val="000000"/>
                </a:solidFill>
              </a:rPr>
              <a:pPr marL="0" indent="0" algn="ctr">
                <a:spcBef>
                  <a:spcPct val="0"/>
                </a:spcBef>
                <a:spcAft>
                  <a:spcPct val="0"/>
                </a:spcAft>
                <a:buClr>
                  <a:srgbClr val="000000"/>
                </a:buClr>
                <a:buNone/>
                <a:defRPr/>
              </a:pPr>
              <a:t>$6</a:t>
            </a:fld>
            <a:endParaRPr lang="en-US" sz="1001">
              <a:solidFill>
                <a:srgbClr val="000000"/>
              </a:solidFill>
            </a:endParaRPr>
          </a:p>
        </p:txBody>
      </p:sp>
      <p:sp>
        <p:nvSpPr>
          <p:cNvPr id="157" name="Text Placeholder 2">
            <a:extLst>
              <a:ext uri="{FF2B5EF4-FFF2-40B4-BE49-F238E27FC236}">
                <a16:creationId xmlns:a16="http://schemas.microsoft.com/office/drawing/2014/main" id="{BF9EEA3B-C1D9-9B5D-9214-3D976B0DE896}"/>
              </a:ext>
            </a:extLst>
          </p:cNvPr>
          <p:cNvSpPr>
            <a:spLocks/>
          </p:cNvSpPr>
          <p:nvPr>
            <p:custDataLst>
              <p:tags r:id="rId49"/>
            </p:custDataLst>
          </p:nvPr>
        </p:nvSpPr>
        <p:spPr bwMode="gray">
          <a:xfrm>
            <a:off x="6278564" y="4421189"/>
            <a:ext cx="252412" cy="152400"/>
          </a:xfrm>
          <a:prstGeom prst="rect">
            <a:avLst/>
          </a:prstGeom>
          <a:noFill/>
          <a:ln>
            <a:noFill/>
          </a:ln>
          <a:effectLst/>
          <a:extLst>
            <a:ext uri="{909E8E84-426E-40DD-AFC4-6F175D3DCCD1}">
              <a14:hiddenFill xmlns:a14="http://schemas.microsoft.com/office/drawing/2010/main">
                <a:solidFill>
                  <a:srgbClr val="D8D6CA"/>
                </a:solidFill>
              </a14:hiddenFill>
            </a:ext>
          </a:ex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4D8ED47D-6DA6-42A4-AD05-44A11FBCF67C}" type="datetime'''''''''''''$''''''''4''''''''''5'''''''''''''''">
              <a:rPr lang="en-US" sz="1001">
                <a:solidFill>
                  <a:srgbClr val="000000"/>
                </a:solidFill>
              </a:rPr>
              <a:pPr marL="0" indent="0" algn="ctr">
                <a:spcBef>
                  <a:spcPct val="0"/>
                </a:spcBef>
                <a:spcAft>
                  <a:spcPct val="0"/>
                </a:spcAft>
                <a:buClr>
                  <a:srgbClr val="000000"/>
                </a:buClr>
                <a:buNone/>
                <a:defRPr/>
              </a:pPr>
              <a:t>$45</a:t>
            </a:fld>
            <a:endParaRPr lang="en-US" sz="1001">
              <a:solidFill>
                <a:srgbClr val="000000"/>
              </a:solidFill>
            </a:endParaRPr>
          </a:p>
        </p:txBody>
      </p:sp>
      <p:sp>
        <p:nvSpPr>
          <p:cNvPr id="206" name="Text Placeholder 2">
            <a:extLst>
              <a:ext uri="{FF2B5EF4-FFF2-40B4-BE49-F238E27FC236}">
                <a16:creationId xmlns:a16="http://schemas.microsoft.com/office/drawing/2014/main" id="{D03CF774-46D2-0497-3F39-5E0F5E10CB20}"/>
              </a:ext>
            </a:extLst>
          </p:cNvPr>
          <p:cNvSpPr>
            <a:spLocks/>
          </p:cNvSpPr>
          <p:nvPr>
            <p:custDataLst>
              <p:tags r:id="rId50"/>
            </p:custDataLst>
          </p:nvPr>
        </p:nvSpPr>
        <p:spPr bwMode="gray">
          <a:xfrm>
            <a:off x="6249988" y="4816476"/>
            <a:ext cx="179388" cy="152400"/>
          </a:xfrm>
          <a:prstGeom prst="rect">
            <a:avLst/>
          </a:prstGeom>
          <a:solidFill>
            <a:srgbClr val="C0C0C0"/>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EC4EE96-E917-4CD8-BBA2-10C59B7D4346}" type="datetime'''$''''''''''''''''''''''''''''5'''''''''''''''''''''''''">
              <a:rPr lang="en-US" sz="1001">
                <a:solidFill>
                  <a:srgbClr val="000000"/>
                </a:solidFill>
              </a:rPr>
              <a:pPr marL="0" indent="0" algn="ctr">
                <a:spcBef>
                  <a:spcPct val="0"/>
                </a:spcBef>
                <a:spcAft>
                  <a:spcPct val="0"/>
                </a:spcAft>
                <a:buClr>
                  <a:srgbClr val="000000"/>
                </a:buClr>
                <a:buNone/>
                <a:defRPr/>
              </a:pPr>
              <a:t>$5</a:t>
            </a:fld>
            <a:endParaRPr lang="en-US" sz="1001">
              <a:solidFill>
                <a:srgbClr val="000000"/>
              </a:solidFill>
            </a:endParaRPr>
          </a:p>
        </p:txBody>
      </p:sp>
      <p:sp>
        <p:nvSpPr>
          <p:cNvPr id="164" name="Text Placeholder 2">
            <a:extLst>
              <a:ext uri="{FF2B5EF4-FFF2-40B4-BE49-F238E27FC236}">
                <a16:creationId xmlns:a16="http://schemas.microsoft.com/office/drawing/2014/main" id="{3B152027-D602-E134-6D66-91CBF4D5A6FC}"/>
              </a:ext>
            </a:extLst>
          </p:cNvPr>
          <p:cNvSpPr>
            <a:spLocks/>
          </p:cNvSpPr>
          <p:nvPr>
            <p:custDataLst>
              <p:tags r:id="rId51"/>
            </p:custDataLst>
          </p:nvPr>
        </p:nvSpPr>
        <p:spPr bwMode="gray">
          <a:xfrm>
            <a:off x="6056314" y="4943476"/>
            <a:ext cx="239714" cy="152400"/>
          </a:xfrm>
          <a:prstGeom prst="rect">
            <a:avLst/>
          </a:prstGeom>
          <a:solidFill>
            <a:srgbClr val="D6D7D9"/>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53C95898-A350-4EE9-B9EE-342535EC77F7}" type="datetime'''''''''''''''''''''''''''''''''$''1''''''''''''6'''''''''''">
              <a:rPr lang="en-US" sz="1001">
                <a:solidFill>
                  <a:srgbClr val="000000"/>
                </a:solidFill>
              </a:rPr>
              <a:pPr marL="0" indent="0" algn="ctr">
                <a:spcBef>
                  <a:spcPct val="0"/>
                </a:spcBef>
                <a:spcAft>
                  <a:spcPct val="0"/>
                </a:spcAft>
                <a:buClr>
                  <a:srgbClr val="000000"/>
                </a:buClr>
                <a:buNone/>
                <a:defRPr/>
              </a:pPr>
              <a:t>$16</a:t>
            </a:fld>
            <a:endParaRPr lang="en-US" sz="1001">
              <a:solidFill>
                <a:srgbClr val="000000"/>
              </a:solidFill>
            </a:endParaRPr>
          </a:p>
        </p:txBody>
      </p:sp>
      <p:sp>
        <p:nvSpPr>
          <p:cNvPr id="49" name="Text Placeholder 2">
            <a:extLst>
              <a:ext uri="{FF2B5EF4-FFF2-40B4-BE49-F238E27FC236}">
                <a16:creationId xmlns:a16="http://schemas.microsoft.com/office/drawing/2014/main" id="{D2E8E04A-CA4D-BE05-DC63-8E7C3F5228B3}"/>
              </a:ext>
            </a:extLst>
          </p:cNvPr>
          <p:cNvSpPr>
            <a:spLocks/>
          </p:cNvSpPr>
          <p:nvPr>
            <p:custDataLst>
              <p:tags r:id="rId52"/>
            </p:custDataLst>
          </p:nvPr>
        </p:nvSpPr>
        <p:spPr bwMode="gray">
          <a:xfrm>
            <a:off x="7272338" y="2598742"/>
            <a:ext cx="222251"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F14CDD06-34CD-4E9D-AC82-9E7F74BCE5D4}" type="datetime'''''''''''''$''''''''7''''''5'''">
              <a:rPr lang="en-US" sz="900">
                <a:solidFill>
                  <a:srgbClr val="000000"/>
                </a:solidFill>
              </a:rPr>
              <a:pPr marL="0" indent="0">
                <a:spcBef>
                  <a:spcPct val="0"/>
                </a:spcBef>
                <a:spcAft>
                  <a:spcPct val="0"/>
                </a:spcAft>
                <a:buClr>
                  <a:srgbClr val="000000"/>
                </a:buClr>
                <a:buNone/>
                <a:defRPr/>
              </a:pPr>
              <a:t>$75</a:t>
            </a:fld>
            <a:endParaRPr lang="en-US" sz="900">
              <a:solidFill>
                <a:srgbClr val="000000"/>
              </a:solidFill>
            </a:endParaRPr>
          </a:p>
        </p:txBody>
      </p:sp>
      <p:sp>
        <p:nvSpPr>
          <p:cNvPr id="50" name="Text Placeholder 2">
            <a:extLst>
              <a:ext uri="{FF2B5EF4-FFF2-40B4-BE49-F238E27FC236}">
                <a16:creationId xmlns:a16="http://schemas.microsoft.com/office/drawing/2014/main" id="{811E3ED4-74D0-CD10-CA9B-1FEB4E5C699D}"/>
              </a:ext>
            </a:extLst>
          </p:cNvPr>
          <p:cNvSpPr>
            <a:spLocks/>
          </p:cNvSpPr>
          <p:nvPr>
            <p:custDataLst>
              <p:tags r:id="rId53"/>
            </p:custDataLst>
          </p:nvPr>
        </p:nvSpPr>
        <p:spPr bwMode="gray">
          <a:xfrm>
            <a:off x="6456364" y="3055942"/>
            <a:ext cx="22383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84CF2D8E-A6A9-48BA-AF6B-56226AC909CA}" type="datetime'''''''''''''''''''''''''''''''''''''$''''''''''''''''22'">
              <a:rPr lang="en-US" sz="900">
                <a:solidFill>
                  <a:srgbClr val="000000"/>
                </a:solidFill>
              </a:rPr>
              <a:pPr marL="0" indent="0">
                <a:spcBef>
                  <a:spcPct val="0"/>
                </a:spcBef>
                <a:spcAft>
                  <a:spcPct val="0"/>
                </a:spcAft>
                <a:buClr>
                  <a:srgbClr val="000000"/>
                </a:buClr>
                <a:buNone/>
                <a:defRPr/>
              </a:pPr>
              <a:t>$22</a:t>
            </a:fld>
            <a:endParaRPr lang="en-US" sz="900">
              <a:solidFill>
                <a:srgbClr val="000000"/>
              </a:solidFill>
            </a:endParaRPr>
          </a:p>
        </p:txBody>
      </p:sp>
      <p:sp>
        <p:nvSpPr>
          <p:cNvPr id="51" name="Text Placeholder 2">
            <a:extLst>
              <a:ext uri="{FF2B5EF4-FFF2-40B4-BE49-F238E27FC236}">
                <a16:creationId xmlns:a16="http://schemas.microsoft.com/office/drawing/2014/main" id="{BB0430CD-563C-4A7E-F106-96AD2D5D0DA8}"/>
              </a:ext>
            </a:extLst>
          </p:cNvPr>
          <p:cNvSpPr>
            <a:spLocks/>
          </p:cNvSpPr>
          <p:nvPr>
            <p:custDataLst>
              <p:tags r:id="rId54"/>
            </p:custDataLst>
          </p:nvPr>
        </p:nvSpPr>
        <p:spPr bwMode="gray">
          <a:xfrm>
            <a:off x="6584950" y="3514727"/>
            <a:ext cx="2301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DD7ADA9B-ED54-4332-9B9D-32DEF3225AA4}" type="datetime'''''''''''''$''''2''''''''''''9'''''''''''''''''''''''''''''">
              <a:rPr lang="en-US" sz="900">
                <a:solidFill>
                  <a:srgbClr val="000000"/>
                </a:solidFill>
              </a:rPr>
              <a:pPr marL="0" indent="0">
                <a:spcBef>
                  <a:spcPct val="0"/>
                </a:spcBef>
                <a:spcAft>
                  <a:spcPct val="0"/>
                </a:spcAft>
                <a:buClr>
                  <a:srgbClr val="000000"/>
                </a:buClr>
                <a:buNone/>
                <a:defRPr/>
              </a:pPr>
              <a:t>$29</a:t>
            </a:fld>
            <a:endParaRPr lang="en-US" sz="900">
              <a:solidFill>
                <a:srgbClr val="000000"/>
              </a:solidFill>
            </a:endParaRPr>
          </a:p>
        </p:txBody>
      </p:sp>
      <p:sp>
        <p:nvSpPr>
          <p:cNvPr id="144" name="Text Placeholder 2">
            <a:extLst>
              <a:ext uri="{FF2B5EF4-FFF2-40B4-BE49-F238E27FC236}">
                <a16:creationId xmlns:a16="http://schemas.microsoft.com/office/drawing/2014/main" id="{FE78A039-79A1-1225-CC21-1FFF5F933122}"/>
              </a:ext>
            </a:extLst>
          </p:cNvPr>
          <p:cNvSpPr>
            <a:spLocks/>
          </p:cNvSpPr>
          <p:nvPr>
            <p:custDataLst>
              <p:tags r:id="rId55"/>
            </p:custDataLst>
          </p:nvPr>
        </p:nvSpPr>
        <p:spPr bwMode="gray">
          <a:xfrm>
            <a:off x="6365876" y="3971927"/>
            <a:ext cx="206375"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AB0AF9D2-B060-43BD-B7FF-D65681A9226D}" type="datetime'''''''''''$''''''''''''''''1''''''''''''5'''">
              <a:rPr lang="en-US" sz="900">
                <a:solidFill>
                  <a:srgbClr val="000000"/>
                </a:solidFill>
              </a:rPr>
              <a:pPr marL="0" indent="0">
                <a:spcBef>
                  <a:spcPct val="0"/>
                </a:spcBef>
                <a:spcAft>
                  <a:spcPct val="0"/>
                </a:spcAft>
                <a:buClr>
                  <a:srgbClr val="000000"/>
                </a:buClr>
                <a:buNone/>
                <a:defRPr/>
              </a:pPr>
              <a:t>$15</a:t>
            </a:fld>
            <a:endParaRPr lang="en-US" sz="900">
              <a:solidFill>
                <a:srgbClr val="000000"/>
              </a:solidFill>
            </a:endParaRPr>
          </a:p>
        </p:txBody>
      </p:sp>
      <p:sp>
        <p:nvSpPr>
          <p:cNvPr id="53" name="Text Placeholder 2">
            <a:extLst>
              <a:ext uri="{FF2B5EF4-FFF2-40B4-BE49-F238E27FC236}">
                <a16:creationId xmlns:a16="http://schemas.microsoft.com/office/drawing/2014/main" id="{091AED27-077C-1041-4C03-2071629F03B0}"/>
              </a:ext>
            </a:extLst>
          </p:cNvPr>
          <p:cNvSpPr>
            <a:spLocks/>
          </p:cNvSpPr>
          <p:nvPr>
            <p:custDataLst>
              <p:tags r:id="rId56"/>
            </p:custDataLst>
          </p:nvPr>
        </p:nvSpPr>
        <p:spPr bwMode="gray">
          <a:xfrm>
            <a:off x="6919913" y="4429127"/>
            <a:ext cx="206375"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1BF7A668-AE4A-4E9A-9EE2-88D68175D1FA}" type="datetime'''''''''''''''''''''''$''''''''''''''''''''''51'''''">
              <a:rPr lang="en-US" sz="900">
                <a:solidFill>
                  <a:srgbClr val="000000"/>
                </a:solidFill>
              </a:rPr>
              <a:pPr marL="0" indent="0">
                <a:spcBef>
                  <a:spcPct val="0"/>
                </a:spcBef>
                <a:spcAft>
                  <a:spcPct val="0"/>
                </a:spcAft>
                <a:buClr>
                  <a:srgbClr val="000000"/>
                </a:buClr>
                <a:buNone/>
                <a:defRPr/>
              </a:pPr>
              <a:t>$51</a:t>
            </a:fld>
            <a:endParaRPr lang="en-US" sz="900">
              <a:solidFill>
                <a:srgbClr val="000000"/>
              </a:solidFill>
            </a:endParaRPr>
          </a:p>
        </p:txBody>
      </p:sp>
      <p:sp>
        <p:nvSpPr>
          <p:cNvPr id="54" name="Text Placeholder 2">
            <a:extLst>
              <a:ext uri="{FF2B5EF4-FFF2-40B4-BE49-F238E27FC236}">
                <a16:creationId xmlns:a16="http://schemas.microsoft.com/office/drawing/2014/main" id="{26EEB939-CB73-6985-11CB-A0FF553547D1}"/>
              </a:ext>
            </a:extLst>
          </p:cNvPr>
          <p:cNvSpPr>
            <a:spLocks/>
          </p:cNvSpPr>
          <p:nvPr>
            <p:custDataLst>
              <p:tags r:id="rId57"/>
            </p:custDataLst>
          </p:nvPr>
        </p:nvSpPr>
        <p:spPr bwMode="gray">
          <a:xfrm>
            <a:off x="6448426" y="4887917"/>
            <a:ext cx="207963"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76" tIns="0" rIns="15876"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38119269-C1B7-4B0D-8F6C-F8DF178CFAC6}" type="datetime'''''$''''''''''''''''''''''''''''''''''2''1'''''''''''">
              <a:rPr lang="en-US" sz="900">
                <a:solidFill>
                  <a:srgbClr val="000000"/>
                </a:solidFill>
              </a:rPr>
              <a:pPr marL="0" indent="0">
                <a:spcBef>
                  <a:spcPct val="0"/>
                </a:spcBef>
                <a:spcAft>
                  <a:spcPct val="0"/>
                </a:spcAft>
                <a:buClr>
                  <a:srgbClr val="000000"/>
                </a:buClr>
                <a:buNone/>
                <a:defRPr/>
              </a:pPr>
              <a:t>$21</a:t>
            </a:fld>
            <a:endParaRPr lang="en-US" sz="900">
              <a:solidFill>
                <a:srgbClr val="000000"/>
              </a:solidFill>
            </a:endParaRPr>
          </a:p>
        </p:txBody>
      </p:sp>
      <p:sp>
        <p:nvSpPr>
          <p:cNvPr id="165" name="Rectangle 164">
            <a:extLst>
              <a:ext uri="{FF2B5EF4-FFF2-40B4-BE49-F238E27FC236}">
                <a16:creationId xmlns:a16="http://schemas.microsoft.com/office/drawing/2014/main" id="{B3F71044-AFA3-2E29-9A67-A660F89CE662}"/>
              </a:ext>
            </a:extLst>
          </p:cNvPr>
          <p:cNvSpPr/>
          <p:nvPr/>
        </p:nvSpPr>
        <p:spPr>
          <a:xfrm>
            <a:off x="8034339" y="3919499"/>
            <a:ext cx="365125" cy="227013"/>
          </a:xfrm>
          <a:prstGeom prst="rect">
            <a:avLst/>
          </a:prstGeom>
          <a:noFill/>
          <a:ln>
            <a:solidFill>
              <a:srgbClr val="E1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166" name="Rectangle 165">
            <a:extLst>
              <a:ext uri="{FF2B5EF4-FFF2-40B4-BE49-F238E27FC236}">
                <a16:creationId xmlns:a16="http://schemas.microsoft.com/office/drawing/2014/main" id="{FAFF450F-15DD-2F18-360C-F3C05433CC00}"/>
              </a:ext>
            </a:extLst>
          </p:cNvPr>
          <p:cNvSpPr/>
          <p:nvPr/>
        </p:nvSpPr>
        <p:spPr>
          <a:xfrm>
            <a:off x="8783639" y="3919499"/>
            <a:ext cx="366713" cy="227013"/>
          </a:xfrm>
          <a:prstGeom prst="rect">
            <a:avLst/>
          </a:prstGeom>
          <a:noFill/>
          <a:ln>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167" name="Rectangle 166">
            <a:extLst>
              <a:ext uri="{FF2B5EF4-FFF2-40B4-BE49-F238E27FC236}">
                <a16:creationId xmlns:a16="http://schemas.microsoft.com/office/drawing/2014/main" id="{0E64EC33-1244-79D4-EB7A-CE825BF4BEA1}"/>
              </a:ext>
            </a:extLst>
          </p:cNvPr>
          <p:cNvSpPr/>
          <p:nvPr/>
        </p:nvSpPr>
        <p:spPr>
          <a:xfrm>
            <a:off x="9531351" y="3919499"/>
            <a:ext cx="366713" cy="227013"/>
          </a:xfrm>
          <a:prstGeom prst="rect">
            <a:avLst/>
          </a:prstGeom>
          <a:noFill/>
          <a:ln>
            <a:solidFill>
              <a:srgbClr val="E1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168" name="Rectangle 167">
            <a:extLst>
              <a:ext uri="{FF2B5EF4-FFF2-40B4-BE49-F238E27FC236}">
                <a16:creationId xmlns:a16="http://schemas.microsoft.com/office/drawing/2014/main" id="{974BE1AF-5E11-7FA7-8A69-1AA4E629B75B}"/>
              </a:ext>
            </a:extLst>
          </p:cNvPr>
          <p:cNvSpPr/>
          <p:nvPr/>
        </p:nvSpPr>
        <p:spPr>
          <a:xfrm>
            <a:off x="10304464" y="3919499"/>
            <a:ext cx="366713" cy="227013"/>
          </a:xfrm>
          <a:prstGeom prst="rect">
            <a:avLst/>
          </a:prstGeom>
          <a:noFill/>
          <a:ln>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169" name="Rectangle 168">
            <a:extLst>
              <a:ext uri="{FF2B5EF4-FFF2-40B4-BE49-F238E27FC236}">
                <a16:creationId xmlns:a16="http://schemas.microsoft.com/office/drawing/2014/main" id="{FE2AF543-CB36-288F-7441-FA6687F6407A}"/>
              </a:ext>
            </a:extLst>
          </p:cNvPr>
          <p:cNvSpPr/>
          <p:nvPr/>
        </p:nvSpPr>
        <p:spPr>
          <a:xfrm>
            <a:off x="11060114" y="3919499"/>
            <a:ext cx="366713" cy="227013"/>
          </a:xfrm>
          <a:prstGeom prst="rect">
            <a:avLst/>
          </a:prstGeom>
          <a:noFill/>
          <a:ln>
            <a:solidFill>
              <a:srgbClr val="E1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177" name="Rectangle 176">
            <a:extLst>
              <a:ext uri="{FF2B5EF4-FFF2-40B4-BE49-F238E27FC236}">
                <a16:creationId xmlns:a16="http://schemas.microsoft.com/office/drawing/2014/main" id="{7B87B7BC-8DF7-258F-FC05-AD318113D942}"/>
              </a:ext>
            </a:extLst>
          </p:cNvPr>
          <p:cNvSpPr/>
          <p:nvPr/>
        </p:nvSpPr>
        <p:spPr>
          <a:xfrm>
            <a:off x="3854451" y="2374542"/>
            <a:ext cx="600075"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1"/>
              </a:spcBef>
            </a:pPr>
            <a:r>
              <a:rPr lang="en-US" sz="900" i="1">
                <a:solidFill>
                  <a:srgbClr val="BEBBA6"/>
                </a:solidFill>
              </a:rPr>
              <a:t>Core</a:t>
            </a:r>
          </a:p>
        </p:txBody>
      </p:sp>
      <p:sp>
        <p:nvSpPr>
          <p:cNvPr id="178" name="Rectangle 177">
            <a:extLst>
              <a:ext uri="{FF2B5EF4-FFF2-40B4-BE49-F238E27FC236}">
                <a16:creationId xmlns:a16="http://schemas.microsoft.com/office/drawing/2014/main" id="{94EE6B46-FF3E-3B5D-0827-4A180EE7B09E}"/>
              </a:ext>
            </a:extLst>
          </p:cNvPr>
          <p:cNvSpPr/>
          <p:nvPr/>
        </p:nvSpPr>
        <p:spPr>
          <a:xfrm>
            <a:off x="4664077" y="2374542"/>
            <a:ext cx="549275"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US" sz="900" i="1">
                <a:solidFill>
                  <a:srgbClr val="BEBBA6"/>
                </a:solidFill>
              </a:rPr>
              <a:t>Non-Core</a:t>
            </a:r>
          </a:p>
        </p:txBody>
      </p:sp>
      <p:sp>
        <p:nvSpPr>
          <p:cNvPr id="179" name="Rectangle 178">
            <a:extLst>
              <a:ext uri="{FF2B5EF4-FFF2-40B4-BE49-F238E27FC236}">
                <a16:creationId xmlns:a16="http://schemas.microsoft.com/office/drawing/2014/main" id="{48F976F4-3A79-C3CE-CF8F-CF0CD76EDA5F}"/>
              </a:ext>
            </a:extLst>
          </p:cNvPr>
          <p:cNvSpPr/>
          <p:nvPr/>
        </p:nvSpPr>
        <p:spPr>
          <a:xfrm>
            <a:off x="1673225" y="2374542"/>
            <a:ext cx="366713"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US" sz="900" i="1">
                <a:solidFill>
                  <a:srgbClr val="C00000"/>
                </a:solidFill>
              </a:rPr>
              <a:t>Mortg.</a:t>
            </a:r>
          </a:p>
        </p:txBody>
      </p:sp>
      <p:sp>
        <p:nvSpPr>
          <p:cNvPr id="180" name="Rectangle 179">
            <a:extLst>
              <a:ext uri="{FF2B5EF4-FFF2-40B4-BE49-F238E27FC236}">
                <a16:creationId xmlns:a16="http://schemas.microsoft.com/office/drawing/2014/main" id="{3859C2FC-C469-2CA2-CF18-050CD5A715A0}"/>
              </a:ext>
            </a:extLst>
          </p:cNvPr>
          <p:cNvSpPr/>
          <p:nvPr/>
        </p:nvSpPr>
        <p:spPr>
          <a:xfrm>
            <a:off x="2043114" y="2374542"/>
            <a:ext cx="823913"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US" sz="900" i="1">
                <a:solidFill>
                  <a:srgbClr val="EC111A"/>
                </a:solidFill>
              </a:rPr>
              <a:t>Non-Mortg.</a:t>
            </a:r>
            <a:r>
              <a:rPr lang="en-US" sz="900" i="1" baseline="30000">
                <a:solidFill>
                  <a:srgbClr val="EC111A"/>
                </a:solidFill>
              </a:rPr>
              <a:t>1</a:t>
            </a:r>
          </a:p>
        </p:txBody>
      </p:sp>
      <p:sp>
        <p:nvSpPr>
          <p:cNvPr id="221" name="Rectangle 220">
            <a:extLst>
              <a:ext uri="{FF2B5EF4-FFF2-40B4-BE49-F238E27FC236}">
                <a16:creationId xmlns:a16="http://schemas.microsoft.com/office/drawing/2014/main" id="{9BEACFCC-E7A3-1E0C-E058-047A0D3A2531}"/>
              </a:ext>
            </a:extLst>
          </p:cNvPr>
          <p:cNvSpPr/>
          <p:nvPr/>
        </p:nvSpPr>
        <p:spPr>
          <a:xfrm>
            <a:off x="6053139" y="2374542"/>
            <a:ext cx="600075"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US" sz="900" i="1">
                <a:solidFill>
                  <a:schemeClr val="bg1">
                    <a:lumMod val="65000"/>
                  </a:schemeClr>
                </a:solidFill>
              </a:rPr>
              <a:t>Individuals</a:t>
            </a:r>
          </a:p>
        </p:txBody>
      </p:sp>
      <p:sp>
        <p:nvSpPr>
          <p:cNvPr id="222" name="Rectangle 221">
            <a:extLst>
              <a:ext uri="{FF2B5EF4-FFF2-40B4-BE49-F238E27FC236}">
                <a16:creationId xmlns:a16="http://schemas.microsoft.com/office/drawing/2014/main" id="{6835CEC1-9E9D-7BB2-1C53-A2196FFD9371}"/>
              </a:ext>
            </a:extLst>
          </p:cNvPr>
          <p:cNvSpPr/>
          <p:nvPr/>
        </p:nvSpPr>
        <p:spPr>
          <a:xfrm>
            <a:off x="6780213" y="2374542"/>
            <a:ext cx="600075" cy="152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US" sz="900" i="1">
                <a:solidFill>
                  <a:schemeClr val="bg1">
                    <a:lumMod val="50000"/>
                  </a:schemeClr>
                </a:solidFill>
              </a:rPr>
              <a:t>Companies</a:t>
            </a:r>
          </a:p>
        </p:txBody>
      </p:sp>
      <p:sp>
        <p:nvSpPr>
          <p:cNvPr id="5" name="Text Placeholder 6">
            <a:extLst>
              <a:ext uri="{FF2B5EF4-FFF2-40B4-BE49-F238E27FC236}">
                <a16:creationId xmlns:a16="http://schemas.microsoft.com/office/drawing/2014/main" id="{F9C14816-D7D7-1D38-1A61-75CFAD8B177C}"/>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7" name="Text Placeholder 6">
            <a:extLst>
              <a:ext uri="{FF2B5EF4-FFF2-40B4-BE49-F238E27FC236}">
                <a16:creationId xmlns:a16="http://schemas.microsoft.com/office/drawing/2014/main" id="{DD660356-25CA-89D2-7F21-528E6ACE5895}"/>
              </a:ext>
            </a:extLst>
          </p:cNvPr>
          <p:cNvSpPr txBox="1">
            <a:spLocks/>
          </p:cNvSpPr>
          <p:nvPr/>
        </p:nvSpPr>
        <p:spPr>
          <a:xfrm>
            <a:off x="792212" y="0"/>
            <a:ext cx="194658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000000"/>
                </a:solidFill>
                <a:latin typeface="Scotia"/>
              </a:rPr>
              <a:t>INDUSTRY OVERVIEW</a:t>
            </a:r>
          </a:p>
        </p:txBody>
      </p:sp>
      <p:grpSp>
        <p:nvGrpSpPr>
          <p:cNvPr id="8" name="Group 7">
            <a:extLst>
              <a:ext uri="{FF2B5EF4-FFF2-40B4-BE49-F238E27FC236}">
                <a16:creationId xmlns:a16="http://schemas.microsoft.com/office/drawing/2014/main" id="{E8AE820C-F655-D820-9559-088B0F3EB30A}"/>
              </a:ext>
            </a:extLst>
          </p:cNvPr>
          <p:cNvGrpSpPr/>
          <p:nvPr/>
        </p:nvGrpSpPr>
        <p:grpSpPr>
          <a:xfrm>
            <a:off x="1616074" y="1798319"/>
            <a:ext cx="2019300" cy="234179"/>
            <a:chOff x="7775992" y="1878218"/>
            <a:chExt cx="3706091" cy="166273"/>
          </a:xfrm>
        </p:grpSpPr>
        <p:sp>
          <p:nvSpPr>
            <p:cNvPr id="10" name="Right Bracket 9">
              <a:extLst>
                <a:ext uri="{FF2B5EF4-FFF2-40B4-BE49-F238E27FC236}">
                  <a16:creationId xmlns:a16="http://schemas.microsoft.com/office/drawing/2014/main" id="{812D2348-5C42-517E-A06B-9C352DAE9D00}"/>
                </a:ext>
              </a:extLst>
            </p:cNvPr>
            <p:cNvSpPr/>
            <p:nvPr/>
          </p:nvSpPr>
          <p:spPr>
            <a:xfrm rot="5400000" flipH="1">
              <a:off x="9599643" y="136806"/>
              <a:ext cx="58790" cy="3706091"/>
            </a:xfrm>
            <a:prstGeom prst="rightBracket">
              <a:avLst>
                <a:gd name="adj" fmla="val 0"/>
              </a:avLst>
            </a:prstGeom>
            <a:ln w="12700">
              <a:solidFill>
                <a:srgbClr val="E1111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1">
                <a:solidFill>
                  <a:srgbClr val="EC111A"/>
                </a:solidFill>
              </a:endParaRPr>
            </a:p>
          </p:txBody>
        </p:sp>
        <p:sp>
          <p:nvSpPr>
            <p:cNvPr id="13" name="Rectangle 12">
              <a:extLst>
                <a:ext uri="{FF2B5EF4-FFF2-40B4-BE49-F238E27FC236}">
                  <a16:creationId xmlns:a16="http://schemas.microsoft.com/office/drawing/2014/main" id="{59B730AD-2A54-307D-2AFA-A4A124988D9D}"/>
                </a:ext>
              </a:extLst>
            </p:cNvPr>
            <p:cNvSpPr/>
            <p:nvPr/>
          </p:nvSpPr>
          <p:spPr>
            <a:xfrm>
              <a:off x="8849633" y="1878218"/>
              <a:ext cx="1558811" cy="1662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90000" rtlCol="0" anchor="ctr"/>
            <a:lstStyle/>
            <a:p>
              <a:pPr algn="ctr">
                <a:spcBef>
                  <a:spcPts val="601"/>
                </a:spcBef>
              </a:pPr>
              <a:r>
                <a:rPr lang="en-US" sz="1001" b="1" spc="201">
                  <a:solidFill>
                    <a:srgbClr val="EC111A"/>
                  </a:solidFill>
                </a:rPr>
                <a:t>LOANS’25</a:t>
              </a:r>
              <a:endParaRPr lang="en-US" sz="1001" b="1" spc="201" baseline="30000">
                <a:solidFill>
                  <a:srgbClr val="EC111A"/>
                </a:solidFill>
              </a:endParaRPr>
            </a:p>
          </p:txBody>
        </p:sp>
      </p:grpSp>
      <p:grpSp>
        <p:nvGrpSpPr>
          <p:cNvPr id="16" name="Group 15">
            <a:extLst>
              <a:ext uri="{FF2B5EF4-FFF2-40B4-BE49-F238E27FC236}">
                <a16:creationId xmlns:a16="http://schemas.microsoft.com/office/drawing/2014/main" id="{89D0CFA9-F10B-B3EE-95D5-50A3CA3367DD}"/>
              </a:ext>
            </a:extLst>
          </p:cNvPr>
          <p:cNvGrpSpPr/>
          <p:nvPr/>
        </p:nvGrpSpPr>
        <p:grpSpPr>
          <a:xfrm>
            <a:off x="3738563" y="1787626"/>
            <a:ext cx="2019300" cy="255594"/>
            <a:chOff x="7775992" y="1872808"/>
            <a:chExt cx="3706091" cy="181478"/>
          </a:xfrm>
        </p:grpSpPr>
        <p:sp>
          <p:nvSpPr>
            <p:cNvPr id="17" name="Right Bracket 16">
              <a:extLst>
                <a:ext uri="{FF2B5EF4-FFF2-40B4-BE49-F238E27FC236}">
                  <a16:creationId xmlns:a16="http://schemas.microsoft.com/office/drawing/2014/main" id="{EDECF083-AC5F-3A70-73AC-1F8FF548EBBF}"/>
                </a:ext>
              </a:extLst>
            </p:cNvPr>
            <p:cNvSpPr/>
            <p:nvPr/>
          </p:nvSpPr>
          <p:spPr>
            <a:xfrm rot="5400000" flipH="1">
              <a:off x="9599643" y="136806"/>
              <a:ext cx="58790" cy="3706091"/>
            </a:xfrm>
            <a:prstGeom prst="rightBracket">
              <a:avLst>
                <a:gd name="adj" fmla="val 0"/>
              </a:avLst>
            </a:prstGeom>
            <a:ln w="12700">
              <a:solidFill>
                <a:srgbClr val="E1111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1">
                <a:solidFill>
                  <a:srgbClr val="EC111A"/>
                </a:solidFill>
              </a:endParaRPr>
            </a:p>
          </p:txBody>
        </p:sp>
        <p:sp>
          <p:nvSpPr>
            <p:cNvPr id="18" name="Rectangle 17">
              <a:extLst>
                <a:ext uri="{FF2B5EF4-FFF2-40B4-BE49-F238E27FC236}">
                  <a16:creationId xmlns:a16="http://schemas.microsoft.com/office/drawing/2014/main" id="{557A47FF-023B-A121-1A54-EAD8463EE4A6}"/>
                </a:ext>
              </a:extLst>
            </p:cNvPr>
            <p:cNvSpPr/>
            <p:nvPr/>
          </p:nvSpPr>
          <p:spPr>
            <a:xfrm>
              <a:off x="8671808" y="1872808"/>
              <a:ext cx="1982161" cy="1814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90000" rtlCol="0" anchor="ctr"/>
            <a:lstStyle/>
            <a:p>
              <a:pPr algn="ctr">
                <a:spcBef>
                  <a:spcPts val="601"/>
                </a:spcBef>
              </a:pPr>
              <a:r>
                <a:rPr lang="en-US" sz="1001" b="1" spc="201">
                  <a:solidFill>
                    <a:srgbClr val="EC111A"/>
                  </a:solidFill>
                </a:rPr>
                <a:t>DEPOSITS’25</a:t>
              </a:r>
              <a:endParaRPr lang="en-US" sz="1001" b="1" spc="201" baseline="30000">
                <a:solidFill>
                  <a:srgbClr val="EC111A"/>
                </a:solidFill>
              </a:endParaRPr>
            </a:p>
          </p:txBody>
        </p:sp>
      </p:grpSp>
      <p:grpSp>
        <p:nvGrpSpPr>
          <p:cNvPr id="19" name="Group 18">
            <a:extLst>
              <a:ext uri="{FF2B5EF4-FFF2-40B4-BE49-F238E27FC236}">
                <a16:creationId xmlns:a16="http://schemas.microsoft.com/office/drawing/2014/main" id="{F8F7316F-C635-8D76-E733-DCF895B1AEAC}"/>
              </a:ext>
            </a:extLst>
          </p:cNvPr>
          <p:cNvGrpSpPr/>
          <p:nvPr/>
        </p:nvGrpSpPr>
        <p:grpSpPr>
          <a:xfrm>
            <a:off x="5875338" y="1790713"/>
            <a:ext cx="2019300" cy="234179"/>
            <a:chOff x="7775992" y="1875513"/>
            <a:chExt cx="3706091" cy="166273"/>
          </a:xfrm>
        </p:grpSpPr>
        <p:sp>
          <p:nvSpPr>
            <p:cNvPr id="21" name="Right Bracket 20">
              <a:extLst>
                <a:ext uri="{FF2B5EF4-FFF2-40B4-BE49-F238E27FC236}">
                  <a16:creationId xmlns:a16="http://schemas.microsoft.com/office/drawing/2014/main" id="{5BB6552C-8A72-8999-4AD4-5D3E71FB9577}"/>
                </a:ext>
              </a:extLst>
            </p:cNvPr>
            <p:cNvSpPr/>
            <p:nvPr/>
          </p:nvSpPr>
          <p:spPr>
            <a:xfrm rot="5400000" flipH="1">
              <a:off x="9599643" y="136806"/>
              <a:ext cx="58790" cy="3706091"/>
            </a:xfrm>
            <a:prstGeom prst="rightBracket">
              <a:avLst>
                <a:gd name="adj" fmla="val 0"/>
              </a:avLst>
            </a:prstGeom>
            <a:ln w="12700">
              <a:solidFill>
                <a:srgbClr val="E1111A"/>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1">
                <a:solidFill>
                  <a:srgbClr val="EC111A"/>
                </a:solidFill>
              </a:endParaRPr>
            </a:p>
          </p:txBody>
        </p:sp>
        <p:sp>
          <p:nvSpPr>
            <p:cNvPr id="22" name="Rectangle 21">
              <a:extLst>
                <a:ext uri="{FF2B5EF4-FFF2-40B4-BE49-F238E27FC236}">
                  <a16:creationId xmlns:a16="http://schemas.microsoft.com/office/drawing/2014/main" id="{16E32972-12ED-2D24-1FC0-6DFA4461EEA9}"/>
                </a:ext>
              </a:extLst>
            </p:cNvPr>
            <p:cNvSpPr/>
            <p:nvPr/>
          </p:nvSpPr>
          <p:spPr>
            <a:xfrm>
              <a:off x="8849633" y="1875513"/>
              <a:ext cx="1558811" cy="1662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0000" rIns="0" bIns="90000" rtlCol="0" anchor="ctr"/>
            <a:lstStyle/>
            <a:p>
              <a:pPr algn="ctr">
                <a:spcBef>
                  <a:spcPts val="601"/>
                </a:spcBef>
              </a:pPr>
              <a:r>
                <a:rPr lang="en-US" sz="1001" b="1" spc="201">
                  <a:solidFill>
                    <a:srgbClr val="EC111A"/>
                  </a:solidFill>
                </a:rPr>
                <a:t>AUMS’25</a:t>
              </a:r>
              <a:endParaRPr lang="en-US" sz="1001" b="1" spc="201" baseline="30000">
                <a:solidFill>
                  <a:srgbClr val="EC111A"/>
                </a:solidFill>
              </a:endParaRPr>
            </a:p>
          </p:txBody>
        </p:sp>
      </p:grpSp>
    </p:spTree>
    <p:extLst>
      <p:ext uri="{BB962C8B-B14F-4D97-AF65-F5344CB8AC3E}">
        <p14:creationId xmlns:p14="http://schemas.microsoft.com/office/powerpoint/2010/main" val="237835367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F11A7F-B18F-E9F1-B1E8-74461D11CE5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B8443D6-11F4-3127-A261-6E9BC9904E56}"/>
              </a:ext>
            </a:extLst>
          </p:cNvPr>
          <p:cNvSpPr>
            <a:spLocks noGrp="1"/>
          </p:cNvSpPr>
          <p:nvPr>
            <p:ph type="title"/>
          </p:nvPr>
        </p:nvSpPr>
        <p:spPr>
          <a:xfrm>
            <a:off x="515938" y="661850"/>
            <a:ext cx="11160124" cy="720000"/>
          </a:xfrm>
        </p:spPr>
        <p:txBody>
          <a:bodyPr vert="horz" lIns="0" tIns="0" rIns="0" bIns="0" rtlCol="0" anchor="t">
            <a:noAutofit/>
          </a:bodyPr>
          <a:lstStyle/>
          <a:p>
            <a:r>
              <a:rPr lang="en-US" noProof="0">
                <a:solidFill>
                  <a:srgbClr val="EC111A"/>
                </a:solidFill>
              </a:rPr>
              <a:t>Balance sheet gaps | </a:t>
            </a:r>
            <a:r>
              <a:rPr lang="en-US" noProof="0"/>
              <a:t>High secured-loan and non-core deposits concentration are impacting all-bank yield</a:t>
            </a:r>
          </a:p>
        </p:txBody>
      </p:sp>
      <p:sp>
        <p:nvSpPr>
          <p:cNvPr id="3" name="Slide Number Placeholder 2">
            <a:extLst>
              <a:ext uri="{FF2B5EF4-FFF2-40B4-BE49-F238E27FC236}">
                <a16:creationId xmlns:a16="http://schemas.microsoft.com/office/drawing/2014/main" id="{EB2612FB-2B85-E421-D8A3-5C2D94C35B13}"/>
              </a:ext>
            </a:extLst>
          </p:cNvPr>
          <p:cNvSpPr>
            <a:spLocks noGrp="1"/>
          </p:cNvSpPr>
          <p:nvPr>
            <p:ph type="sldNum" sz="quarter" idx="10"/>
          </p:nvPr>
        </p:nvSpPr>
        <p:spPr/>
        <p:txBody>
          <a:bodyPr/>
          <a:lstStyle/>
          <a:p>
            <a:fld id="{95D835A7-12B2-4074-8DA2-469A8808C237}" type="slidenum">
              <a:rPr lang="en-US" noProof="0" smtClean="0"/>
              <a:pPr/>
              <a:t>40</a:t>
            </a:fld>
            <a:endParaRPr lang="en-US" noProof="0"/>
          </a:p>
        </p:txBody>
      </p:sp>
      <p:sp>
        <p:nvSpPr>
          <p:cNvPr id="4" name="Text Placeholder 3">
            <a:extLst>
              <a:ext uri="{FF2B5EF4-FFF2-40B4-BE49-F238E27FC236}">
                <a16:creationId xmlns:a16="http://schemas.microsoft.com/office/drawing/2014/main" id="{4D363444-170E-6154-4945-D3E692DD7413}"/>
              </a:ext>
            </a:extLst>
          </p:cNvPr>
          <p:cNvSpPr>
            <a:spLocks noGrp="1"/>
          </p:cNvSpPr>
          <p:nvPr>
            <p:ph type="body" sz="quarter" idx="11"/>
          </p:nvPr>
        </p:nvSpPr>
        <p:spPr/>
        <p:txBody>
          <a:bodyPr/>
          <a:lstStyle/>
          <a:p>
            <a:r>
              <a:rPr lang="en-US" noProof="0"/>
              <a:t>Source: CNBV, Reporte de Estado de Situación Financiera as of December 2025</a:t>
            </a:r>
          </a:p>
        </p:txBody>
      </p:sp>
      <p:sp>
        <p:nvSpPr>
          <p:cNvPr id="6" name="Text Placeholder 5">
            <a:extLst>
              <a:ext uri="{FF2B5EF4-FFF2-40B4-BE49-F238E27FC236}">
                <a16:creationId xmlns:a16="http://schemas.microsoft.com/office/drawing/2014/main" id="{4216D4C5-6549-1E1C-E0C4-3CF04A34309E}"/>
              </a:ext>
            </a:extLst>
          </p:cNvPr>
          <p:cNvSpPr>
            <a:spLocks noGrp="1"/>
          </p:cNvSpPr>
          <p:nvPr>
            <p:ph type="body" sz="quarter" idx="14"/>
          </p:nvPr>
        </p:nvSpPr>
        <p:spPr>
          <a:xfrm>
            <a:off x="515941" y="1672753"/>
            <a:ext cx="5213349" cy="180000"/>
          </a:xfrm>
        </p:spPr>
        <p:txBody>
          <a:bodyPr>
            <a:normAutofit/>
          </a:bodyPr>
          <a:lstStyle/>
          <a:p>
            <a:r>
              <a:rPr lang="en-US" b="1" noProof="0"/>
              <a:t>LOANS MIX</a:t>
            </a:r>
            <a:r>
              <a:rPr lang="en-US" noProof="0"/>
              <a:t>, LOCAL GAAP BENCHMARK</a:t>
            </a:r>
          </a:p>
        </p:txBody>
      </p:sp>
      <p:sp>
        <p:nvSpPr>
          <p:cNvPr id="7" name="Text Placeholder 6">
            <a:extLst>
              <a:ext uri="{FF2B5EF4-FFF2-40B4-BE49-F238E27FC236}">
                <a16:creationId xmlns:a16="http://schemas.microsoft.com/office/drawing/2014/main" id="{9B65F9EE-7CDE-868F-EF81-CE87E7A2DCF3}"/>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t>MEXICO</a:t>
            </a:r>
          </a:p>
        </p:txBody>
      </p:sp>
      <p:sp>
        <p:nvSpPr>
          <p:cNvPr id="8" name="Text Placeholder 6">
            <a:extLst>
              <a:ext uri="{FF2B5EF4-FFF2-40B4-BE49-F238E27FC236}">
                <a16:creationId xmlns:a16="http://schemas.microsoft.com/office/drawing/2014/main" id="{6429AFC2-15A3-17C6-6E46-6E2241CAA59C}"/>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l">
              <a:defRPr/>
            </a:pPr>
            <a:r>
              <a:rPr lang="en-US" sz="1001">
                <a:solidFill>
                  <a:srgbClr val="000000"/>
                </a:solidFill>
              </a:rPr>
              <a:t>ALL BANK</a:t>
            </a:r>
          </a:p>
        </p:txBody>
      </p:sp>
      <p:sp>
        <p:nvSpPr>
          <p:cNvPr id="11" name="Text Placeholder 5">
            <a:extLst>
              <a:ext uri="{FF2B5EF4-FFF2-40B4-BE49-F238E27FC236}">
                <a16:creationId xmlns:a16="http://schemas.microsoft.com/office/drawing/2014/main" id="{5BDF34DE-1481-579E-C87E-1F361DD17DFC}"/>
              </a:ext>
            </a:extLst>
          </p:cNvPr>
          <p:cNvSpPr txBox="1">
            <a:spLocks/>
          </p:cNvSpPr>
          <p:nvPr/>
        </p:nvSpPr>
        <p:spPr>
          <a:xfrm>
            <a:off x="6235794" y="1667724"/>
            <a:ext cx="5440267" cy="180000"/>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US" b="1"/>
              <a:t>DEPOSITS MIX</a:t>
            </a:r>
            <a:r>
              <a:rPr lang="en-US"/>
              <a:t>,</a:t>
            </a:r>
            <a:r>
              <a:rPr lang="en-US" b="1"/>
              <a:t> </a:t>
            </a:r>
            <a:r>
              <a:rPr lang="en-US"/>
              <a:t>LOCAL GAAP BENCHMARK</a:t>
            </a:r>
          </a:p>
        </p:txBody>
      </p:sp>
      <p:graphicFrame>
        <p:nvGraphicFramePr>
          <p:cNvPr id="17" name="Chart 16">
            <a:extLst>
              <a:ext uri="{FF2B5EF4-FFF2-40B4-BE49-F238E27FC236}">
                <a16:creationId xmlns:a16="http://schemas.microsoft.com/office/drawing/2014/main" id="{3A16BE23-88BE-2590-753D-498E60BEAD27}"/>
              </a:ext>
            </a:extLst>
          </p:cNvPr>
          <p:cNvGraphicFramePr/>
          <p:nvPr>
            <p:custDataLst>
              <p:tags r:id="rId1"/>
            </p:custDataLst>
          </p:nvPr>
        </p:nvGraphicFramePr>
        <p:xfrm>
          <a:off x="433388" y="2185989"/>
          <a:ext cx="5378450" cy="2517774"/>
        </p:xfrm>
        <a:graphic>
          <a:graphicData uri="http://schemas.openxmlformats.org/drawingml/2006/chart">
            <c:chart xmlns:c="http://schemas.openxmlformats.org/drawingml/2006/chart" xmlns:r="http://schemas.openxmlformats.org/officeDocument/2006/relationships" r:id="rId27"/>
          </a:graphicData>
        </a:graphic>
      </p:graphicFrame>
      <p:sp>
        <p:nvSpPr>
          <p:cNvPr id="170" name="Text Placeholder 2">
            <a:extLst>
              <a:ext uri="{FF2B5EF4-FFF2-40B4-BE49-F238E27FC236}">
                <a16:creationId xmlns:a16="http://schemas.microsoft.com/office/drawing/2014/main" id="{FEFC0FFF-6456-CA60-2E8B-DAFBE3DACBD3}"/>
              </a:ext>
            </a:extLst>
          </p:cNvPr>
          <p:cNvSpPr>
            <a:spLocks/>
          </p:cNvSpPr>
          <p:nvPr>
            <p:custDataLst>
              <p:tags r:id="rId2"/>
            </p:custDataLst>
          </p:nvPr>
        </p:nvSpPr>
        <p:spPr bwMode="gray">
          <a:xfrm>
            <a:off x="963613" y="2384427"/>
            <a:ext cx="212725" cy="152400"/>
          </a:xfrm>
          <a:prstGeom prst="rect">
            <a:avLst/>
          </a:prstGeom>
          <a:solidFill>
            <a:schemeClr val="accent1"/>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8B9BAC9C-C7D0-4B5F-BB24-5ABC8E15F3E4}" type="datetime'5''''''''''''''''''''''''''''%'''''''">
              <a:rPr lang="en-US" sz="1001">
                <a:solidFill>
                  <a:schemeClr val="bg1"/>
                </a:solidFill>
              </a:rPr>
              <a:pPr marL="0" indent="0" algn="ctr" defTabSz="914422">
                <a:spcBef>
                  <a:spcPct val="0"/>
                </a:spcBef>
                <a:spcAft>
                  <a:spcPct val="0"/>
                </a:spcAft>
                <a:buClr>
                  <a:srgbClr val="000000"/>
                </a:buClr>
                <a:buNone/>
                <a:defRPr/>
              </a:pPr>
              <a:t>5%</a:t>
            </a:fld>
            <a:endParaRPr lang="en-US" sz="1001">
              <a:solidFill>
                <a:schemeClr val="bg1"/>
              </a:solidFill>
            </a:endParaRPr>
          </a:p>
        </p:txBody>
      </p:sp>
      <p:sp>
        <p:nvSpPr>
          <p:cNvPr id="214" name="Text Placeholder 2">
            <a:extLst>
              <a:ext uri="{FF2B5EF4-FFF2-40B4-BE49-F238E27FC236}">
                <a16:creationId xmlns:a16="http://schemas.microsoft.com/office/drawing/2014/main" id="{F51366FE-EEF9-887C-6A62-3B1F428157F9}"/>
              </a:ext>
            </a:extLst>
          </p:cNvPr>
          <p:cNvSpPr>
            <a:spLocks/>
          </p:cNvSpPr>
          <p:nvPr>
            <p:custDataLst>
              <p:tags r:id="rId3"/>
            </p:custDataLst>
          </p:nvPr>
        </p:nvSpPr>
        <p:spPr bwMode="gray">
          <a:xfrm>
            <a:off x="1709739" y="2870201"/>
            <a:ext cx="217488" cy="152400"/>
          </a:xfrm>
          <a:prstGeom prst="rect">
            <a:avLst/>
          </a:prstGeom>
          <a:solidFill>
            <a:srgbClr val="B10D13"/>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500BC9B3-338E-4D00-A3C1-520781408042}" type="datetime'''''''''''''''''''''4''''''%'''">
              <a:rPr lang="en-US" sz="1001">
                <a:solidFill>
                  <a:schemeClr val="bg1"/>
                </a:solidFill>
              </a:rPr>
              <a:pPr marL="0" indent="0" algn="ctr" defTabSz="914422">
                <a:spcBef>
                  <a:spcPct val="0"/>
                </a:spcBef>
                <a:spcAft>
                  <a:spcPct val="0"/>
                </a:spcAft>
                <a:buClr>
                  <a:srgbClr val="000000"/>
                </a:buClr>
                <a:buNone/>
                <a:defRPr/>
              </a:pPr>
              <a:t>4%</a:t>
            </a:fld>
            <a:endParaRPr lang="en-US" sz="1001">
              <a:solidFill>
                <a:schemeClr val="bg1"/>
              </a:solidFill>
            </a:endParaRPr>
          </a:p>
        </p:txBody>
      </p:sp>
      <p:sp>
        <p:nvSpPr>
          <p:cNvPr id="455" name="Text Placeholder 2">
            <a:extLst>
              <a:ext uri="{FF2B5EF4-FFF2-40B4-BE49-F238E27FC236}">
                <a16:creationId xmlns:a16="http://schemas.microsoft.com/office/drawing/2014/main" id="{B5881B82-F02D-0472-DF94-287CB1915C82}"/>
              </a:ext>
            </a:extLst>
          </p:cNvPr>
          <p:cNvSpPr>
            <a:spLocks/>
          </p:cNvSpPr>
          <p:nvPr>
            <p:custDataLst>
              <p:tags r:id="rId4"/>
            </p:custDataLst>
          </p:nvPr>
        </p:nvSpPr>
        <p:spPr bwMode="gray">
          <a:xfrm>
            <a:off x="2581275" y="2724151"/>
            <a:ext cx="212725" cy="152400"/>
          </a:xfrm>
          <a:prstGeom prst="rect">
            <a:avLst/>
          </a:prstGeom>
          <a:solidFill>
            <a:srgbClr val="B10D13"/>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45F7AB1-13B6-4200-9779-1F1EAA995575}" type="datetime'''''''''''''''''''''''''2''''''''''''''''''''''%'''''''''''''">
              <a:rPr lang="en-US" sz="1001">
                <a:solidFill>
                  <a:schemeClr val="bg1"/>
                </a:solidFill>
              </a:rPr>
              <a:pPr marL="0" indent="0" algn="ctr" defTabSz="914422">
                <a:spcBef>
                  <a:spcPct val="0"/>
                </a:spcBef>
                <a:spcAft>
                  <a:spcPct val="0"/>
                </a:spcAft>
                <a:buClr>
                  <a:srgbClr val="000000"/>
                </a:buClr>
                <a:buNone/>
                <a:defRPr/>
              </a:pPr>
              <a:t>2%</a:t>
            </a:fld>
            <a:endParaRPr lang="en-US" sz="1001">
              <a:solidFill>
                <a:schemeClr val="bg1"/>
              </a:solidFill>
            </a:endParaRPr>
          </a:p>
        </p:txBody>
      </p:sp>
      <p:sp>
        <p:nvSpPr>
          <p:cNvPr id="514" name="Text Placeholder 2">
            <a:extLst>
              <a:ext uri="{FF2B5EF4-FFF2-40B4-BE49-F238E27FC236}">
                <a16:creationId xmlns:a16="http://schemas.microsoft.com/office/drawing/2014/main" id="{6C746086-3E7A-BA97-11E9-416B082B321C}"/>
              </a:ext>
            </a:extLst>
          </p:cNvPr>
          <p:cNvSpPr>
            <a:spLocks/>
          </p:cNvSpPr>
          <p:nvPr>
            <p:custDataLst>
              <p:tags r:id="rId5"/>
            </p:custDataLst>
          </p:nvPr>
        </p:nvSpPr>
        <p:spPr bwMode="gray">
          <a:xfrm>
            <a:off x="4314825" y="2687639"/>
            <a:ext cx="220663" cy="152400"/>
          </a:xfrm>
          <a:prstGeom prst="rect">
            <a:avLst/>
          </a:prstGeom>
          <a:solidFill>
            <a:srgbClr val="B10D13"/>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5167BD9-3A4B-4B0C-A5BE-3F51ABCC34CF}" type="datetime'''6''''''''''''''''''''''''''%'''''''''''''''''">
              <a:rPr lang="en-US" sz="1001">
                <a:solidFill>
                  <a:schemeClr val="bg1"/>
                </a:solidFill>
              </a:rPr>
              <a:pPr marL="0" indent="0" algn="ctr" defTabSz="914422">
                <a:spcBef>
                  <a:spcPct val="0"/>
                </a:spcBef>
                <a:spcAft>
                  <a:spcPct val="0"/>
                </a:spcAft>
                <a:buClr>
                  <a:srgbClr val="000000"/>
                </a:buClr>
                <a:buNone/>
                <a:defRPr/>
              </a:pPr>
              <a:t>6%</a:t>
            </a:fld>
            <a:endParaRPr lang="en-US" sz="1001">
              <a:solidFill>
                <a:schemeClr val="bg1"/>
              </a:solidFill>
            </a:endParaRPr>
          </a:p>
        </p:txBody>
      </p:sp>
      <p:sp>
        <p:nvSpPr>
          <p:cNvPr id="217" name="Text Placeholder 2">
            <a:extLst>
              <a:ext uri="{FF2B5EF4-FFF2-40B4-BE49-F238E27FC236}">
                <a16:creationId xmlns:a16="http://schemas.microsoft.com/office/drawing/2014/main" id="{1CB1203C-F796-77E7-DE43-849D81BE4B19}"/>
              </a:ext>
            </a:extLst>
          </p:cNvPr>
          <p:cNvSpPr>
            <a:spLocks/>
          </p:cNvSpPr>
          <p:nvPr>
            <p:custDataLst>
              <p:tags r:id="rId6"/>
            </p:custDataLst>
          </p:nvPr>
        </p:nvSpPr>
        <p:spPr bwMode="gray">
          <a:xfrm>
            <a:off x="5186363" y="2789239"/>
            <a:ext cx="217488" cy="152400"/>
          </a:xfrm>
          <a:prstGeom prst="rect">
            <a:avLst/>
          </a:prstGeom>
          <a:solidFill>
            <a:srgbClr val="B10D13"/>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E17C0C9C-8EE3-4684-A7C0-BE31A0B2A613}" type="datetime'''''''''''''''''''''''''4%'''''''''''''''''''''''''">
              <a:rPr lang="en-US" sz="1001">
                <a:solidFill>
                  <a:schemeClr val="bg1"/>
                </a:solidFill>
              </a:rPr>
              <a:pPr marL="0" indent="0" algn="ctr" defTabSz="914422">
                <a:spcBef>
                  <a:spcPct val="0"/>
                </a:spcBef>
                <a:spcAft>
                  <a:spcPct val="0"/>
                </a:spcAft>
                <a:buClr>
                  <a:srgbClr val="000000"/>
                </a:buClr>
                <a:buNone/>
                <a:defRPr/>
              </a:pPr>
              <a:t>4%</a:t>
            </a:fld>
            <a:endParaRPr lang="en-US" sz="1001">
              <a:solidFill>
                <a:schemeClr val="bg1"/>
              </a:solidFill>
            </a:endParaRPr>
          </a:p>
        </p:txBody>
      </p:sp>
      <p:sp>
        <p:nvSpPr>
          <p:cNvPr id="73" name="Text Placeholder 2">
            <a:extLst>
              <a:ext uri="{FF2B5EF4-FFF2-40B4-BE49-F238E27FC236}">
                <a16:creationId xmlns:a16="http://schemas.microsoft.com/office/drawing/2014/main" id="{311EC08E-0FBF-145C-91B9-67AA8D883C54}"/>
              </a:ext>
            </a:extLst>
          </p:cNvPr>
          <p:cNvSpPr>
            <a:spLocks/>
          </p:cNvSpPr>
          <p:nvPr>
            <p:custDataLst>
              <p:tags r:id="rId7"/>
            </p:custDataLst>
          </p:nvPr>
        </p:nvSpPr>
        <p:spPr bwMode="auto">
          <a:xfrm>
            <a:off x="5078412" y="4521202"/>
            <a:ext cx="431801"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8D5781D2-27E7-4D4A-86DB-B65DBBB945DA}" type="datetime'''S''ys''''t''''e''''''''''''m'''''''''''''">
              <a:rPr lang="en-US" sz="1001">
                <a:solidFill>
                  <a:srgbClr val="000000"/>
                </a:solidFill>
              </a:rPr>
              <a:pPr marL="0" indent="0" algn="ctr">
                <a:spcBef>
                  <a:spcPct val="0"/>
                </a:spcBef>
                <a:spcAft>
                  <a:spcPct val="0"/>
                </a:spcAft>
                <a:buClr>
                  <a:srgbClr val="000000"/>
                </a:buClr>
                <a:buNone/>
                <a:defRPr/>
              </a:pPr>
              <a:t>System</a:t>
            </a:fld>
            <a:endParaRPr lang="en-US" sz="1001">
              <a:solidFill>
                <a:srgbClr val="000000"/>
              </a:solidFill>
            </a:endParaRPr>
          </a:p>
        </p:txBody>
      </p:sp>
      <p:sp>
        <p:nvSpPr>
          <p:cNvPr id="14" name="Text Placeholder 2">
            <a:extLst>
              <a:ext uri="{FF2B5EF4-FFF2-40B4-BE49-F238E27FC236}">
                <a16:creationId xmlns:a16="http://schemas.microsoft.com/office/drawing/2014/main" id="{B6AEB0CC-F0A5-375B-E6EE-A793BBE13BB4}"/>
              </a:ext>
            </a:extLst>
          </p:cNvPr>
          <p:cNvSpPr>
            <a:spLocks/>
          </p:cNvSpPr>
          <p:nvPr>
            <p:custDataLst>
              <p:tags r:id="rId8"/>
            </p:custDataLst>
          </p:nvPr>
        </p:nvSpPr>
        <p:spPr bwMode="gray">
          <a:xfrm>
            <a:off x="719138" y="2497140"/>
            <a:ext cx="220663" cy="152400"/>
          </a:xfrm>
          <a:prstGeom prst="rect">
            <a:avLst/>
          </a:prstGeom>
          <a:solidFill>
            <a:srgbClr val="B10D13"/>
          </a:solidFill>
          <a:ln>
            <a:noFill/>
          </a:ln>
          <a:effectLst/>
        </p:spPr>
        <p:txBody>
          <a:bodyPr vert="horz" wrap="none" lIns="17463" tIns="0" rIns="17463"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47C52A71-D069-44C9-9B0D-9733ED52F8BC}" type="datetime'''''''''''''''''''''6''''''''''''%'''''''''''">
              <a:rPr lang="en-US" altLang="en-US" sz="1001">
                <a:solidFill>
                  <a:schemeClr val="bg1"/>
                </a:solidFill>
              </a:rPr>
              <a:pPr marL="0" indent="0" algn="ctr" defTabSz="914422">
                <a:spcBef>
                  <a:spcPct val="0"/>
                </a:spcBef>
                <a:spcAft>
                  <a:spcPct val="0"/>
                </a:spcAft>
                <a:buClr>
                  <a:srgbClr val="000000"/>
                </a:buClr>
                <a:buNone/>
                <a:defRPr/>
              </a:pPr>
              <a:t>6%</a:t>
            </a:fld>
            <a:endParaRPr lang="en-US" sz="1001">
              <a:solidFill>
                <a:schemeClr val="bg1"/>
              </a:solidFill>
            </a:endParaRPr>
          </a:p>
        </p:txBody>
      </p:sp>
      <p:graphicFrame>
        <p:nvGraphicFramePr>
          <p:cNvPr id="20" name="Chart 19">
            <a:extLst>
              <a:ext uri="{FF2B5EF4-FFF2-40B4-BE49-F238E27FC236}">
                <a16:creationId xmlns:a16="http://schemas.microsoft.com/office/drawing/2014/main" id="{0F709165-9CBE-F12F-D9B4-3455682597E7}"/>
              </a:ext>
            </a:extLst>
          </p:cNvPr>
          <p:cNvGraphicFramePr/>
          <p:nvPr>
            <p:custDataLst>
              <p:tags r:id="rId9"/>
            </p:custDataLst>
          </p:nvPr>
        </p:nvGraphicFramePr>
        <p:xfrm>
          <a:off x="6153150" y="2185989"/>
          <a:ext cx="5308601" cy="2517774"/>
        </p:xfrm>
        <a:graphic>
          <a:graphicData uri="http://schemas.openxmlformats.org/drawingml/2006/chart">
            <c:chart xmlns:c="http://schemas.openxmlformats.org/drawingml/2006/chart" xmlns:r="http://schemas.openxmlformats.org/officeDocument/2006/relationships" r:id="rId28"/>
          </a:graphicData>
        </a:graphic>
      </p:graphicFrame>
      <p:sp>
        <p:nvSpPr>
          <p:cNvPr id="232" name="Text Placeholder 2">
            <a:extLst>
              <a:ext uri="{FF2B5EF4-FFF2-40B4-BE49-F238E27FC236}">
                <a16:creationId xmlns:a16="http://schemas.microsoft.com/office/drawing/2014/main" id="{F7F175B8-BD83-DB2A-A179-1BD1CFB70D6C}"/>
              </a:ext>
            </a:extLst>
          </p:cNvPr>
          <p:cNvSpPr>
            <a:spLocks/>
          </p:cNvSpPr>
          <p:nvPr>
            <p:custDataLst>
              <p:tags r:id="rId10"/>
            </p:custDataLst>
          </p:nvPr>
        </p:nvSpPr>
        <p:spPr bwMode="auto">
          <a:xfrm>
            <a:off x="10734674" y="4521202"/>
            <a:ext cx="431801"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AC93A3BA-9D5F-4B31-9802-1D31BE519D87}" type="datetime'S''y''''''''st''''''''''''''e''''''''''''''''m'''''''''''">
              <a:rPr lang="en-US" sz="1001">
                <a:solidFill>
                  <a:srgbClr val="000000"/>
                </a:solidFill>
              </a:rPr>
              <a:pPr marL="0" indent="0" algn="ctr">
                <a:spcBef>
                  <a:spcPct val="0"/>
                </a:spcBef>
                <a:spcAft>
                  <a:spcPct val="0"/>
                </a:spcAft>
                <a:buClr>
                  <a:srgbClr val="000000"/>
                </a:buClr>
                <a:buNone/>
                <a:defRPr/>
              </a:pPr>
              <a:t>System</a:t>
            </a:fld>
            <a:endParaRPr lang="en-US" sz="1001">
              <a:solidFill>
                <a:srgbClr val="000000"/>
              </a:solidFill>
            </a:endParaRPr>
          </a:p>
        </p:txBody>
      </p:sp>
      <p:sp>
        <p:nvSpPr>
          <p:cNvPr id="240" name="Rectangle 239">
            <a:extLst>
              <a:ext uri="{FF2B5EF4-FFF2-40B4-BE49-F238E27FC236}">
                <a16:creationId xmlns:a16="http://schemas.microsoft.com/office/drawing/2014/main" id="{076BB5C5-79FE-D01E-A87A-5401247BE803}"/>
              </a:ext>
            </a:extLst>
          </p:cNvPr>
          <p:cNvSpPr/>
          <p:nvPr>
            <p:custDataLst>
              <p:tags r:id="rId11"/>
            </p:custDataLst>
          </p:nvPr>
        </p:nvSpPr>
        <p:spPr bwMode="auto">
          <a:xfrm>
            <a:off x="6235700" y="1905001"/>
            <a:ext cx="179388" cy="133349"/>
          </a:xfrm>
          <a:prstGeom prst="rect">
            <a:avLst/>
          </a:prstGeom>
          <a:solidFill>
            <a:srgbClr val="E1111A"/>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450" name="Rectangle 449">
            <a:extLst>
              <a:ext uri="{FF2B5EF4-FFF2-40B4-BE49-F238E27FC236}">
                <a16:creationId xmlns:a16="http://schemas.microsoft.com/office/drawing/2014/main" id="{CE787FC5-0832-7AC3-45FC-4F54B029D030}"/>
              </a:ext>
            </a:extLst>
          </p:cNvPr>
          <p:cNvSpPr/>
          <p:nvPr>
            <p:custDataLst>
              <p:tags r:id="rId12"/>
            </p:custDataLst>
          </p:nvPr>
        </p:nvSpPr>
        <p:spPr bwMode="auto">
          <a:xfrm>
            <a:off x="7054850" y="1905001"/>
            <a:ext cx="179388" cy="133349"/>
          </a:xfrm>
          <a:prstGeom prst="rect">
            <a:avLst/>
          </a:prstGeom>
          <a:solidFill>
            <a:srgbClr val="BCB8A4"/>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sp>
        <p:nvSpPr>
          <p:cNvPr id="466" name="Rectangle 465">
            <a:extLst>
              <a:ext uri="{FF2B5EF4-FFF2-40B4-BE49-F238E27FC236}">
                <a16:creationId xmlns:a16="http://schemas.microsoft.com/office/drawing/2014/main" id="{D0BF18CD-5F6F-A66F-3309-4B52B7A41F1F}"/>
              </a:ext>
            </a:extLst>
          </p:cNvPr>
          <p:cNvSpPr/>
          <p:nvPr>
            <p:custDataLst>
              <p:tags r:id="rId13"/>
            </p:custDataLst>
          </p:nvPr>
        </p:nvSpPr>
        <p:spPr bwMode="auto">
          <a:xfrm>
            <a:off x="7820025" y="1905001"/>
            <a:ext cx="179388" cy="133349"/>
          </a:xfrm>
          <a:prstGeom prst="rect">
            <a:avLst/>
          </a:prstGeom>
          <a:solidFill>
            <a:srgbClr val="EBDFD1"/>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sp>
        <p:nvSpPr>
          <p:cNvPr id="249" name="Text Placeholder 2">
            <a:extLst>
              <a:ext uri="{FF2B5EF4-FFF2-40B4-BE49-F238E27FC236}">
                <a16:creationId xmlns:a16="http://schemas.microsoft.com/office/drawing/2014/main" id="{DB8F9820-4C97-8576-659A-F7A5A23C15D4}"/>
              </a:ext>
            </a:extLst>
          </p:cNvPr>
          <p:cNvSpPr>
            <a:spLocks/>
          </p:cNvSpPr>
          <p:nvPr>
            <p:custDataLst>
              <p:tags r:id="rId14"/>
            </p:custDataLst>
          </p:nvPr>
        </p:nvSpPr>
        <p:spPr bwMode="auto">
          <a:xfrm>
            <a:off x="6465890" y="1900238"/>
            <a:ext cx="4873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93B5E08B-A1EE-4084-B2E3-3869B1B66096}" type="datetime'''''''''''D''em''''''''''''''''''an''''d'''''''''''''''''''">
              <a:rPr lang="en-US" sz="1001">
                <a:solidFill>
                  <a:srgbClr val="000000"/>
                </a:solidFill>
              </a:rPr>
              <a:pPr marL="0" indent="0">
                <a:spcBef>
                  <a:spcPct val="0"/>
                </a:spcBef>
                <a:spcAft>
                  <a:spcPct val="0"/>
                </a:spcAft>
                <a:buClr>
                  <a:srgbClr val="000000"/>
                </a:buClr>
                <a:buNone/>
                <a:defRPr/>
              </a:pPr>
              <a:t>Demand</a:t>
            </a:fld>
            <a:endParaRPr lang="en-US" sz="1001">
              <a:solidFill>
                <a:srgbClr val="000000"/>
              </a:solidFill>
            </a:endParaRPr>
          </a:p>
        </p:txBody>
      </p:sp>
      <p:sp>
        <p:nvSpPr>
          <p:cNvPr id="62" name="Text Placeholder 2">
            <a:extLst>
              <a:ext uri="{FF2B5EF4-FFF2-40B4-BE49-F238E27FC236}">
                <a16:creationId xmlns:a16="http://schemas.microsoft.com/office/drawing/2014/main" id="{580E88A9-F447-DEFD-83F5-04A835A3EB5D}"/>
              </a:ext>
            </a:extLst>
          </p:cNvPr>
          <p:cNvSpPr>
            <a:spLocks/>
          </p:cNvSpPr>
          <p:nvPr>
            <p:custDataLst>
              <p:tags r:id="rId15"/>
            </p:custDataLst>
          </p:nvPr>
        </p:nvSpPr>
        <p:spPr bwMode="auto">
          <a:xfrm>
            <a:off x="7285038" y="1900238"/>
            <a:ext cx="4333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60D72309-44D4-49C1-B8BB-6530449A8137}" type="datetime'S''''''a''v''''''''''''''''''''''''''i''''''''ngs'''''">
              <a:rPr lang="en-US" sz="1001">
                <a:solidFill>
                  <a:srgbClr val="000000"/>
                </a:solidFill>
              </a:rPr>
              <a:pPr marL="0" indent="0">
                <a:spcBef>
                  <a:spcPct val="0"/>
                </a:spcBef>
                <a:spcAft>
                  <a:spcPct val="0"/>
                </a:spcAft>
                <a:buClr>
                  <a:srgbClr val="000000"/>
                </a:buClr>
                <a:buNone/>
                <a:defRPr/>
              </a:pPr>
              <a:t>Savings</a:t>
            </a:fld>
            <a:endParaRPr lang="en-US" sz="1001">
              <a:solidFill>
                <a:srgbClr val="000000"/>
              </a:solidFill>
            </a:endParaRPr>
          </a:p>
        </p:txBody>
      </p:sp>
      <p:sp>
        <p:nvSpPr>
          <p:cNvPr id="463" name="Text Placeholder 2">
            <a:extLst>
              <a:ext uri="{FF2B5EF4-FFF2-40B4-BE49-F238E27FC236}">
                <a16:creationId xmlns:a16="http://schemas.microsoft.com/office/drawing/2014/main" id="{B5301DF8-A366-98C7-0F07-B642E4AF8B71}"/>
              </a:ext>
            </a:extLst>
          </p:cNvPr>
          <p:cNvSpPr>
            <a:spLocks/>
          </p:cNvSpPr>
          <p:nvPr>
            <p:custDataLst>
              <p:tags r:id="rId16"/>
            </p:custDataLst>
          </p:nvPr>
        </p:nvSpPr>
        <p:spPr bwMode="auto">
          <a:xfrm>
            <a:off x="8050213" y="1900238"/>
            <a:ext cx="3016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9A431218-58CD-4DD8-A69E-FF9E67809F70}" type="datetime'T''''''e''''''''''''''''r''m'''''''''''''''">
              <a:rPr lang="en-US" sz="1001">
                <a:solidFill>
                  <a:srgbClr val="000000"/>
                </a:solidFill>
              </a:rPr>
              <a:pPr marL="0" indent="0">
                <a:spcBef>
                  <a:spcPct val="0"/>
                </a:spcBef>
                <a:spcAft>
                  <a:spcPct val="0"/>
                </a:spcAft>
                <a:buClr>
                  <a:srgbClr val="000000"/>
                </a:buClr>
                <a:buNone/>
                <a:defRPr/>
              </a:pPr>
              <a:t>Term</a:t>
            </a:fld>
            <a:endParaRPr lang="en-US" sz="1001">
              <a:solidFill>
                <a:srgbClr val="000000"/>
              </a:solidFill>
            </a:endParaRPr>
          </a:p>
        </p:txBody>
      </p:sp>
      <p:cxnSp>
        <p:nvCxnSpPr>
          <p:cNvPr id="419" name="Straight Connector 418">
            <a:extLst>
              <a:ext uri="{FF2B5EF4-FFF2-40B4-BE49-F238E27FC236}">
                <a16:creationId xmlns:a16="http://schemas.microsoft.com/office/drawing/2014/main" id="{8A1E6C01-C96F-65F4-494D-730EA8A0B163}"/>
              </a:ext>
            </a:extLst>
          </p:cNvPr>
          <p:cNvCxnSpPr>
            <a:cxnSpLocks/>
          </p:cNvCxnSpPr>
          <p:nvPr/>
        </p:nvCxnSpPr>
        <p:spPr>
          <a:xfrm>
            <a:off x="5986670" y="1667724"/>
            <a:ext cx="0" cy="4408738"/>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aphicFrame>
        <p:nvGraphicFramePr>
          <p:cNvPr id="429" name="Table 428">
            <a:extLst>
              <a:ext uri="{FF2B5EF4-FFF2-40B4-BE49-F238E27FC236}">
                <a16:creationId xmlns:a16="http://schemas.microsoft.com/office/drawing/2014/main" id="{3653F460-6395-D1F9-4E3F-8D0D3A54789F}"/>
              </a:ext>
            </a:extLst>
          </p:cNvPr>
          <p:cNvGraphicFramePr>
            <a:graphicFrameLocks noGrp="1"/>
          </p:cNvGraphicFramePr>
          <p:nvPr/>
        </p:nvGraphicFramePr>
        <p:xfrm>
          <a:off x="515939" y="4810954"/>
          <a:ext cx="5213346" cy="1177742"/>
        </p:xfrm>
        <a:graphic>
          <a:graphicData uri="http://schemas.openxmlformats.org/drawingml/2006/table">
            <a:tbl>
              <a:tblPr firstRow="1" bandRow="1">
                <a:tableStyleId>{5C22544A-7EE6-4342-B048-85BDC9FD1C3A}</a:tableStyleId>
              </a:tblPr>
              <a:tblGrid>
                <a:gridCol w="868891">
                  <a:extLst>
                    <a:ext uri="{9D8B030D-6E8A-4147-A177-3AD203B41FA5}">
                      <a16:colId xmlns:a16="http://schemas.microsoft.com/office/drawing/2014/main" val="2368468642"/>
                    </a:ext>
                  </a:extLst>
                </a:gridCol>
                <a:gridCol w="868891">
                  <a:extLst>
                    <a:ext uri="{9D8B030D-6E8A-4147-A177-3AD203B41FA5}">
                      <a16:colId xmlns:a16="http://schemas.microsoft.com/office/drawing/2014/main" val="2679483814"/>
                    </a:ext>
                  </a:extLst>
                </a:gridCol>
                <a:gridCol w="868891">
                  <a:extLst>
                    <a:ext uri="{9D8B030D-6E8A-4147-A177-3AD203B41FA5}">
                      <a16:colId xmlns:a16="http://schemas.microsoft.com/office/drawing/2014/main" val="1937357735"/>
                    </a:ext>
                  </a:extLst>
                </a:gridCol>
                <a:gridCol w="868891">
                  <a:extLst>
                    <a:ext uri="{9D8B030D-6E8A-4147-A177-3AD203B41FA5}">
                      <a16:colId xmlns:a16="http://schemas.microsoft.com/office/drawing/2014/main" val="2097354659"/>
                    </a:ext>
                  </a:extLst>
                </a:gridCol>
                <a:gridCol w="868891">
                  <a:extLst>
                    <a:ext uri="{9D8B030D-6E8A-4147-A177-3AD203B41FA5}">
                      <a16:colId xmlns:a16="http://schemas.microsoft.com/office/drawing/2014/main" val="140310234"/>
                    </a:ext>
                  </a:extLst>
                </a:gridCol>
                <a:gridCol w="868891">
                  <a:extLst>
                    <a:ext uri="{9D8B030D-6E8A-4147-A177-3AD203B41FA5}">
                      <a16:colId xmlns:a16="http://schemas.microsoft.com/office/drawing/2014/main" val="813406535"/>
                    </a:ext>
                  </a:extLst>
                </a:gridCol>
              </a:tblGrid>
              <a:tr h="196290">
                <a:tc gridSpan="2">
                  <a:txBody>
                    <a:bodyPr/>
                    <a:lstStyle/>
                    <a:p>
                      <a:pPr rtl="0"/>
                      <a:r>
                        <a:rPr lang="en-US" sz="1100" b="1" noProof="0">
                          <a:solidFill>
                            <a:schemeClr val="tx1"/>
                          </a:solidFill>
                        </a:rPr>
                        <a:t>Loans Yield &amp; Y/Y Var.</a:t>
                      </a:r>
                    </a:p>
                  </a:txBody>
                  <a:tcPr marL="9000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000" b="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7632605"/>
                  </a:ext>
                </a:extLst>
              </a:tr>
              <a:tr h="392581">
                <a:tc>
                  <a:txBody>
                    <a:bodyPr/>
                    <a:lstStyle/>
                    <a:p>
                      <a:pPr algn="ctr" rtl="0"/>
                      <a:r>
                        <a:rPr lang="en-US" sz="1100" b="1" noProof="0">
                          <a:solidFill>
                            <a:schemeClr val="tx1"/>
                          </a:solidFill>
                        </a:rPr>
                        <a:t>10.8%</a:t>
                      </a:r>
                    </a:p>
                    <a:p>
                      <a:pPr algn="ctr" rtl="0"/>
                      <a:r>
                        <a:rPr lang="en-US" sz="1100" b="1" noProof="0">
                          <a:solidFill>
                            <a:srgbClr val="EC111A"/>
                          </a:solidFill>
                        </a:rPr>
                        <a:t>-79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13.4%</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-94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12.9%</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-85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13.4%</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-113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12.3%</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-125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14.1%</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-99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8684946"/>
                  </a:ext>
                </a:extLst>
              </a:tr>
              <a:tr h="196290">
                <a:tc gridSpan="2">
                  <a:txBody>
                    <a:bodyPr/>
                    <a:lstStyle/>
                    <a:p>
                      <a:pPr rtl="0"/>
                      <a:r>
                        <a:rPr lang="en-US" sz="1100" b="1" noProof="0">
                          <a:solidFill>
                            <a:schemeClr val="tx1"/>
                          </a:solidFill>
                        </a:rPr>
                        <a:t>PCL Ratio &amp; Y/Y Var.</a:t>
                      </a:r>
                    </a:p>
                  </a:txBody>
                  <a:tcPr marL="9000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000" b="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5325205"/>
                  </a:ext>
                </a:extLst>
              </a:tr>
              <a:tr h="392581">
                <a:tc>
                  <a:txBody>
                    <a:bodyPr/>
                    <a:lstStyle/>
                    <a:p>
                      <a:pPr algn="ctr" rtl="0"/>
                      <a:r>
                        <a:rPr lang="en-US" sz="1100" b="1" noProof="0"/>
                        <a:t>1.4%</a:t>
                      </a:r>
                    </a:p>
                    <a:p>
                      <a:pPr algn="ctr" rtl="0"/>
                      <a:r>
                        <a:rPr lang="en-US" sz="1100" b="1" noProof="0">
                          <a:solidFill>
                            <a:srgbClr val="EC111A"/>
                          </a:solidFill>
                        </a:rPr>
                        <a:t>+44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3.0%</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-2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2.8%</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-16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2.7%</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-15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1.8%</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-0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2.7%</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+11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5493631"/>
                  </a:ext>
                </a:extLst>
              </a:tr>
            </a:tbl>
          </a:graphicData>
        </a:graphic>
      </p:graphicFrame>
      <p:sp>
        <p:nvSpPr>
          <p:cNvPr id="445" name="Rectangle 444">
            <a:extLst>
              <a:ext uri="{FF2B5EF4-FFF2-40B4-BE49-F238E27FC236}">
                <a16:creationId xmlns:a16="http://schemas.microsoft.com/office/drawing/2014/main" id="{FEDC04AE-F7DA-044A-635F-6F5A61360704}"/>
              </a:ext>
            </a:extLst>
          </p:cNvPr>
          <p:cNvSpPr/>
          <p:nvPr>
            <p:custDataLst>
              <p:tags r:id="rId17"/>
            </p:custDataLst>
          </p:nvPr>
        </p:nvSpPr>
        <p:spPr bwMode="auto">
          <a:xfrm>
            <a:off x="515938" y="1905001"/>
            <a:ext cx="179388" cy="133349"/>
          </a:xfrm>
          <a:prstGeom prst="rect">
            <a:avLst/>
          </a:prstGeom>
          <a:solidFill>
            <a:schemeClr val="accent1"/>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446" name="Rectangle 445">
            <a:extLst>
              <a:ext uri="{FF2B5EF4-FFF2-40B4-BE49-F238E27FC236}">
                <a16:creationId xmlns:a16="http://schemas.microsoft.com/office/drawing/2014/main" id="{299D89D0-F9D5-B877-5B04-4FC019DCC3EC}"/>
              </a:ext>
            </a:extLst>
          </p:cNvPr>
          <p:cNvSpPr/>
          <p:nvPr>
            <p:custDataLst>
              <p:tags r:id="rId18"/>
            </p:custDataLst>
          </p:nvPr>
        </p:nvSpPr>
        <p:spPr bwMode="auto">
          <a:xfrm>
            <a:off x="1458913" y="1905001"/>
            <a:ext cx="179388" cy="133349"/>
          </a:xfrm>
          <a:prstGeom prst="rect">
            <a:avLst/>
          </a:prstGeom>
          <a:solidFill>
            <a:srgbClr val="B10D13"/>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447" name="Rectangle 446">
            <a:extLst>
              <a:ext uri="{FF2B5EF4-FFF2-40B4-BE49-F238E27FC236}">
                <a16:creationId xmlns:a16="http://schemas.microsoft.com/office/drawing/2014/main" id="{5162C880-E2F6-6014-861E-E156AA227309}"/>
              </a:ext>
            </a:extLst>
          </p:cNvPr>
          <p:cNvSpPr/>
          <p:nvPr>
            <p:custDataLst>
              <p:tags r:id="rId19"/>
            </p:custDataLst>
          </p:nvPr>
        </p:nvSpPr>
        <p:spPr bwMode="auto">
          <a:xfrm>
            <a:off x="2066925" y="1905001"/>
            <a:ext cx="179388" cy="133349"/>
          </a:xfrm>
          <a:prstGeom prst="rect">
            <a:avLst/>
          </a:prstGeom>
          <a:solidFill>
            <a:srgbClr val="BCB8A4"/>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448" name="Rectangle 447">
            <a:extLst>
              <a:ext uri="{FF2B5EF4-FFF2-40B4-BE49-F238E27FC236}">
                <a16:creationId xmlns:a16="http://schemas.microsoft.com/office/drawing/2014/main" id="{72C79B37-6511-55B3-1AE8-C082837D5275}"/>
              </a:ext>
            </a:extLst>
          </p:cNvPr>
          <p:cNvSpPr/>
          <p:nvPr>
            <p:custDataLst>
              <p:tags r:id="rId20"/>
            </p:custDataLst>
          </p:nvPr>
        </p:nvSpPr>
        <p:spPr bwMode="auto">
          <a:xfrm>
            <a:off x="2941638" y="1905001"/>
            <a:ext cx="179388" cy="133349"/>
          </a:xfrm>
          <a:prstGeom prst="rect">
            <a:avLst/>
          </a:prstGeom>
          <a:solidFill>
            <a:srgbClr val="EBDFD1"/>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212" name="Text Placeholder 2">
            <a:extLst>
              <a:ext uri="{FF2B5EF4-FFF2-40B4-BE49-F238E27FC236}">
                <a16:creationId xmlns:a16="http://schemas.microsoft.com/office/drawing/2014/main" id="{94990F00-AC8A-13EC-F3B2-7FB5C7CE2FA9}"/>
              </a:ext>
            </a:extLst>
          </p:cNvPr>
          <p:cNvSpPr>
            <a:spLocks/>
          </p:cNvSpPr>
          <p:nvPr>
            <p:custDataLst>
              <p:tags r:id="rId21"/>
            </p:custDataLst>
          </p:nvPr>
        </p:nvSpPr>
        <p:spPr bwMode="auto">
          <a:xfrm>
            <a:off x="746127" y="1900238"/>
            <a:ext cx="6111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307AFDA4-0758-4958-9B52-DFF2628573E1}" type="datetime'''Uns''e''''''''''''cu''r''''''e''''d'''''''''''''''''''''''">
              <a:rPr lang="en-US" sz="1001">
                <a:solidFill>
                  <a:srgbClr val="000000"/>
                </a:solidFill>
              </a:rPr>
              <a:pPr marL="0" indent="0" defTabSz="914422">
                <a:spcBef>
                  <a:spcPct val="0"/>
                </a:spcBef>
                <a:spcAft>
                  <a:spcPct val="0"/>
                </a:spcAft>
                <a:buClr>
                  <a:srgbClr val="000000"/>
                </a:buClr>
                <a:buNone/>
                <a:defRPr/>
              </a:pPr>
              <a:t>Unsecured</a:t>
            </a:fld>
            <a:endParaRPr lang="en-US" sz="1001">
              <a:solidFill>
                <a:srgbClr val="000000"/>
              </a:solidFill>
            </a:endParaRPr>
          </a:p>
        </p:txBody>
      </p:sp>
      <p:sp>
        <p:nvSpPr>
          <p:cNvPr id="210" name="Text Placeholder 2">
            <a:extLst>
              <a:ext uri="{FF2B5EF4-FFF2-40B4-BE49-F238E27FC236}">
                <a16:creationId xmlns:a16="http://schemas.microsoft.com/office/drawing/2014/main" id="{D4CCC3EE-463F-E305-3589-9EEBB2A46EEC}"/>
              </a:ext>
            </a:extLst>
          </p:cNvPr>
          <p:cNvSpPr>
            <a:spLocks/>
          </p:cNvSpPr>
          <p:nvPr>
            <p:custDataLst>
              <p:tags r:id="rId22"/>
            </p:custDataLst>
          </p:nvPr>
        </p:nvSpPr>
        <p:spPr bwMode="auto">
          <a:xfrm>
            <a:off x="1689100" y="1900238"/>
            <a:ext cx="276226"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11FF8B8F-0AB2-48E7-B4F7-FF6BF25F5F1F}" type="datetime'''''''''''''''''''''''''''A''''''''u''to'''''''''''''''">
              <a:rPr lang="en-US" sz="1001">
                <a:solidFill>
                  <a:srgbClr val="000000"/>
                </a:solidFill>
              </a:rPr>
              <a:pPr marL="0" indent="0" defTabSz="914422">
                <a:spcBef>
                  <a:spcPct val="0"/>
                </a:spcBef>
                <a:spcAft>
                  <a:spcPct val="0"/>
                </a:spcAft>
                <a:buClr>
                  <a:srgbClr val="000000"/>
                </a:buClr>
                <a:buNone/>
                <a:defRPr/>
              </a:pPr>
              <a:t>Auto</a:t>
            </a:fld>
            <a:endParaRPr lang="en-US" sz="1001">
              <a:solidFill>
                <a:srgbClr val="000000"/>
              </a:solidFill>
            </a:endParaRPr>
          </a:p>
        </p:txBody>
      </p:sp>
      <p:sp>
        <p:nvSpPr>
          <p:cNvPr id="18" name="Text Placeholder 2">
            <a:extLst>
              <a:ext uri="{FF2B5EF4-FFF2-40B4-BE49-F238E27FC236}">
                <a16:creationId xmlns:a16="http://schemas.microsoft.com/office/drawing/2014/main" id="{A2FB7EE0-8AC7-F47A-1EA5-3D82BC814E04}"/>
              </a:ext>
            </a:extLst>
          </p:cNvPr>
          <p:cNvSpPr>
            <a:spLocks/>
          </p:cNvSpPr>
          <p:nvPr>
            <p:custDataLst>
              <p:tags r:id="rId23"/>
            </p:custDataLst>
          </p:nvPr>
        </p:nvSpPr>
        <p:spPr bwMode="auto">
          <a:xfrm>
            <a:off x="2297113" y="1900238"/>
            <a:ext cx="542924"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F32BB598-EC1B-4DBB-88A3-30CF2412B9B9}" type="datetime'''M''''''o''''''rt''g''''''''a''''''g''''''''''''''''e'''">
              <a:rPr lang="en-US" sz="1001">
                <a:solidFill>
                  <a:srgbClr val="000000"/>
                </a:solidFill>
              </a:rPr>
              <a:pPr marL="0" indent="0">
                <a:spcBef>
                  <a:spcPct val="0"/>
                </a:spcBef>
                <a:spcAft>
                  <a:spcPct val="0"/>
                </a:spcAft>
                <a:buClr>
                  <a:srgbClr val="000000"/>
                </a:buClr>
                <a:buNone/>
                <a:defRPr/>
              </a:pPr>
              <a:t>Mortgage</a:t>
            </a:fld>
            <a:endParaRPr lang="en-US" sz="1001">
              <a:solidFill>
                <a:srgbClr val="000000"/>
              </a:solidFill>
            </a:endParaRPr>
          </a:p>
        </p:txBody>
      </p:sp>
      <p:sp>
        <p:nvSpPr>
          <p:cNvPr id="208" name="Text Placeholder 2">
            <a:extLst>
              <a:ext uri="{FF2B5EF4-FFF2-40B4-BE49-F238E27FC236}">
                <a16:creationId xmlns:a16="http://schemas.microsoft.com/office/drawing/2014/main" id="{9B568708-A77A-A39B-B9DF-24113DA84E63}"/>
              </a:ext>
            </a:extLst>
          </p:cNvPr>
          <p:cNvSpPr>
            <a:spLocks/>
          </p:cNvSpPr>
          <p:nvPr>
            <p:custDataLst>
              <p:tags r:id="rId24"/>
            </p:custDataLst>
          </p:nvPr>
        </p:nvSpPr>
        <p:spPr bwMode="auto">
          <a:xfrm>
            <a:off x="3171825" y="1900238"/>
            <a:ext cx="784226"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71880CB1-21FB-43D7-A0D3-6E9B49118D04}" type="datetime'''G''''''''''''''B''''''''M +'' ''''C''''o''m''''''''''m'">
              <a:rPr lang="en-US" sz="1001">
                <a:solidFill>
                  <a:srgbClr val="000000"/>
                </a:solidFill>
              </a:rPr>
              <a:pPr marL="0" indent="0">
                <a:spcBef>
                  <a:spcPct val="0"/>
                </a:spcBef>
                <a:spcAft>
                  <a:spcPct val="0"/>
                </a:spcAft>
                <a:buClr>
                  <a:srgbClr val="000000"/>
                </a:buClr>
                <a:buNone/>
                <a:defRPr/>
              </a:pPr>
              <a:t>GBM + Comm</a:t>
            </a:fld>
            <a:endParaRPr lang="en-US" sz="1001">
              <a:solidFill>
                <a:srgbClr val="000000"/>
              </a:solidFill>
            </a:endParaRPr>
          </a:p>
        </p:txBody>
      </p:sp>
      <p:graphicFrame>
        <p:nvGraphicFramePr>
          <p:cNvPr id="460" name="Table 459">
            <a:extLst>
              <a:ext uri="{FF2B5EF4-FFF2-40B4-BE49-F238E27FC236}">
                <a16:creationId xmlns:a16="http://schemas.microsoft.com/office/drawing/2014/main" id="{E497C4DA-9B54-7EC8-0459-EB7847F5ECA3}"/>
              </a:ext>
            </a:extLst>
          </p:cNvPr>
          <p:cNvGraphicFramePr>
            <a:graphicFrameLocks noGrp="1"/>
          </p:cNvGraphicFramePr>
          <p:nvPr/>
        </p:nvGraphicFramePr>
        <p:xfrm>
          <a:off x="6235795" y="4810954"/>
          <a:ext cx="5213346" cy="1177742"/>
        </p:xfrm>
        <a:graphic>
          <a:graphicData uri="http://schemas.openxmlformats.org/drawingml/2006/table">
            <a:tbl>
              <a:tblPr firstRow="1" bandRow="1">
                <a:tableStyleId>{5C22544A-7EE6-4342-B048-85BDC9FD1C3A}</a:tableStyleId>
              </a:tblPr>
              <a:tblGrid>
                <a:gridCol w="868891">
                  <a:extLst>
                    <a:ext uri="{9D8B030D-6E8A-4147-A177-3AD203B41FA5}">
                      <a16:colId xmlns:a16="http://schemas.microsoft.com/office/drawing/2014/main" val="2368468642"/>
                    </a:ext>
                  </a:extLst>
                </a:gridCol>
                <a:gridCol w="868891">
                  <a:extLst>
                    <a:ext uri="{9D8B030D-6E8A-4147-A177-3AD203B41FA5}">
                      <a16:colId xmlns:a16="http://schemas.microsoft.com/office/drawing/2014/main" val="2679483814"/>
                    </a:ext>
                  </a:extLst>
                </a:gridCol>
                <a:gridCol w="868891">
                  <a:extLst>
                    <a:ext uri="{9D8B030D-6E8A-4147-A177-3AD203B41FA5}">
                      <a16:colId xmlns:a16="http://schemas.microsoft.com/office/drawing/2014/main" val="1937357735"/>
                    </a:ext>
                  </a:extLst>
                </a:gridCol>
                <a:gridCol w="868891">
                  <a:extLst>
                    <a:ext uri="{9D8B030D-6E8A-4147-A177-3AD203B41FA5}">
                      <a16:colId xmlns:a16="http://schemas.microsoft.com/office/drawing/2014/main" val="2097354659"/>
                    </a:ext>
                  </a:extLst>
                </a:gridCol>
                <a:gridCol w="868891">
                  <a:extLst>
                    <a:ext uri="{9D8B030D-6E8A-4147-A177-3AD203B41FA5}">
                      <a16:colId xmlns:a16="http://schemas.microsoft.com/office/drawing/2014/main" val="140310234"/>
                    </a:ext>
                  </a:extLst>
                </a:gridCol>
                <a:gridCol w="868891">
                  <a:extLst>
                    <a:ext uri="{9D8B030D-6E8A-4147-A177-3AD203B41FA5}">
                      <a16:colId xmlns:a16="http://schemas.microsoft.com/office/drawing/2014/main" val="813406535"/>
                    </a:ext>
                  </a:extLst>
                </a:gridCol>
              </a:tblGrid>
              <a:tr h="196290">
                <a:tc gridSpan="2">
                  <a:txBody>
                    <a:bodyPr/>
                    <a:lstStyle/>
                    <a:p>
                      <a:pPr rtl="0"/>
                      <a:r>
                        <a:rPr lang="en-US" sz="1100" b="1" noProof="0">
                          <a:solidFill>
                            <a:schemeClr val="tx1"/>
                          </a:solidFill>
                        </a:rPr>
                        <a:t>Deposits CoF &amp; Y/Y Var.</a:t>
                      </a:r>
                    </a:p>
                  </a:txBody>
                  <a:tcPr marL="9000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000" b="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7632605"/>
                  </a:ext>
                </a:extLst>
              </a:tr>
              <a:tr h="392581">
                <a:tc>
                  <a:txBody>
                    <a:bodyPr/>
                    <a:lstStyle/>
                    <a:p>
                      <a:pPr algn="ctr" rtl="0"/>
                      <a:r>
                        <a:rPr lang="en-US" sz="1100" b="1" noProof="0">
                          <a:solidFill>
                            <a:schemeClr val="tx1"/>
                          </a:solidFill>
                        </a:rPr>
                        <a:t>6.1%</a:t>
                      </a:r>
                    </a:p>
                    <a:p>
                      <a:pPr algn="ctr" rtl="0"/>
                      <a:r>
                        <a:rPr lang="en-US" sz="1100" b="1" noProof="0">
                          <a:solidFill>
                            <a:srgbClr val="EC111A"/>
                          </a:solidFill>
                        </a:rPr>
                        <a:t>-172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4.0%</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-85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5.4%</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-103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5.9%</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-142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14.1%</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-95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t>7.1%</a:t>
                      </a:r>
                    </a:p>
                    <a:p>
                      <a:pPr marL="0" marR="0" lvl="0" indent="0" algn="ctr" defTabSz="914411" rtl="0" eaLnBrk="1" fontAlgn="auto" latinLnBrk="0" hangingPunct="1">
                        <a:lnSpc>
                          <a:spcPct val="100000"/>
                        </a:lnSpc>
                        <a:spcBef>
                          <a:spcPts val="0"/>
                        </a:spcBef>
                        <a:spcAft>
                          <a:spcPts val="0"/>
                        </a:spcAft>
                        <a:buClrTx/>
                        <a:buSzTx/>
                        <a:buFontTx/>
                        <a:buNone/>
                        <a:tabLst/>
                        <a:defRPr/>
                      </a:pPr>
                      <a:r>
                        <a:rPr lang="en-US" sz="1100" b="0" noProof="0">
                          <a:solidFill>
                            <a:schemeClr val="tx1"/>
                          </a:solidFill>
                        </a:rPr>
                        <a:t>-130 bps</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8684946"/>
                  </a:ext>
                </a:extLst>
              </a:tr>
              <a:tr h="196290">
                <a:tc>
                  <a:txBody>
                    <a:bodyPr/>
                    <a:lstStyle/>
                    <a:p>
                      <a:pPr rtl="0"/>
                      <a:r>
                        <a:rPr lang="en-US" sz="1100" b="1" noProof="0">
                          <a:solidFill>
                            <a:schemeClr val="tx1"/>
                          </a:solidFill>
                        </a:rPr>
                        <a:t>LDR</a:t>
                      </a:r>
                    </a:p>
                  </a:txBody>
                  <a:tcPr marL="9000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rtl="0"/>
                      <a:endParaRPr lang="en-US" sz="1100" b="0" noProof="0"/>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5325205"/>
                  </a:ext>
                </a:extLst>
              </a:tr>
              <a:tr h="392581">
                <a:tc>
                  <a:txBody>
                    <a:bodyPr/>
                    <a:lstStyle/>
                    <a:p>
                      <a:pPr algn="ctr" rtl="0"/>
                      <a:r>
                        <a:rPr lang="en-US" sz="1100" b="1" noProof="0"/>
                        <a:t>1.17</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rPr>
                        <a:t>1.05</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rPr>
                        <a:t>0.89</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rPr>
                        <a:t>1.05</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rPr>
                        <a:t>1.03</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rtl="0"/>
                      <a:r>
                        <a:rPr lang="en-US" sz="1100" b="0" noProof="0">
                          <a:solidFill>
                            <a:schemeClr val="tx1"/>
                          </a:solidFill>
                        </a:rPr>
                        <a:t>1.00</a:t>
                      </a:r>
                    </a:p>
                  </a:txBody>
                  <a:tcPr marL="0" marR="0" marT="0" marB="0" anchor="ctr">
                    <a:lnL w="9525" cap="flat" cmpd="sng" algn="ctr">
                      <a:noFill/>
                      <a:prstDash val="sysDot"/>
                      <a:round/>
                      <a:headEnd type="none" w="med" len="med"/>
                      <a:tailEnd type="none" w="med" len="med"/>
                    </a:lnL>
                    <a:lnR w="9525" cap="flat" cmpd="sng" algn="ctr">
                      <a:noFill/>
                      <a:prstDash val="sysDot"/>
                      <a:round/>
                      <a:headEnd type="none" w="med" len="med"/>
                      <a:tailEnd type="none" w="med" len="med"/>
                    </a:lnR>
                    <a:lnT w="9525" cap="flat" cmpd="sng" algn="ctr">
                      <a:no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5493631"/>
                  </a:ext>
                </a:extLst>
              </a:tr>
            </a:tbl>
          </a:graphicData>
        </a:graphic>
      </p:graphicFrame>
      <p:sp>
        <p:nvSpPr>
          <p:cNvPr id="470" name="Rectangle 469">
            <a:extLst>
              <a:ext uri="{FF2B5EF4-FFF2-40B4-BE49-F238E27FC236}">
                <a16:creationId xmlns:a16="http://schemas.microsoft.com/office/drawing/2014/main" id="{D07D2DD1-B36D-FBBB-0694-92260C77DB6D}"/>
              </a:ext>
            </a:extLst>
          </p:cNvPr>
          <p:cNvSpPr/>
          <p:nvPr/>
        </p:nvSpPr>
        <p:spPr>
          <a:xfrm>
            <a:off x="593852" y="5040455"/>
            <a:ext cx="721182" cy="329669"/>
          </a:xfrm>
          <a:prstGeom prst="rect">
            <a:avLst/>
          </a:prstGeom>
          <a:noFill/>
          <a:ln w="1270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rgbClr val="EC111A"/>
              </a:solidFill>
            </a:endParaRPr>
          </a:p>
        </p:txBody>
      </p:sp>
      <p:sp>
        <p:nvSpPr>
          <p:cNvPr id="471" name="Rectangle 470">
            <a:extLst>
              <a:ext uri="{FF2B5EF4-FFF2-40B4-BE49-F238E27FC236}">
                <a16:creationId xmlns:a16="http://schemas.microsoft.com/office/drawing/2014/main" id="{154868B1-7F6A-43F2-E718-661B333F49AC}"/>
              </a:ext>
            </a:extLst>
          </p:cNvPr>
          <p:cNvSpPr/>
          <p:nvPr/>
        </p:nvSpPr>
        <p:spPr>
          <a:xfrm>
            <a:off x="589528" y="5627965"/>
            <a:ext cx="721182" cy="329669"/>
          </a:xfrm>
          <a:prstGeom prst="rect">
            <a:avLst/>
          </a:prstGeom>
          <a:noFill/>
          <a:ln w="1270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rgbClr val="EC111A"/>
              </a:solidFill>
            </a:endParaRPr>
          </a:p>
        </p:txBody>
      </p:sp>
      <p:sp>
        <p:nvSpPr>
          <p:cNvPr id="472" name="Rectangle 471">
            <a:extLst>
              <a:ext uri="{FF2B5EF4-FFF2-40B4-BE49-F238E27FC236}">
                <a16:creationId xmlns:a16="http://schemas.microsoft.com/office/drawing/2014/main" id="{EB2E93FC-B150-62A9-C4A1-521F19B6F800}"/>
              </a:ext>
            </a:extLst>
          </p:cNvPr>
          <p:cNvSpPr/>
          <p:nvPr/>
        </p:nvSpPr>
        <p:spPr>
          <a:xfrm>
            <a:off x="6300645" y="5040455"/>
            <a:ext cx="721182" cy="329669"/>
          </a:xfrm>
          <a:prstGeom prst="rect">
            <a:avLst/>
          </a:prstGeom>
          <a:noFill/>
          <a:ln w="1270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rgbClr val="EC111A"/>
              </a:solidFill>
            </a:endParaRPr>
          </a:p>
        </p:txBody>
      </p:sp>
      <p:pic>
        <p:nvPicPr>
          <p:cNvPr id="473" name="Picture 33" descr="Scotiabank Logo | Letra S | Logos &amp; Types | Real Letter Logos">
            <a:extLst>
              <a:ext uri="{FF2B5EF4-FFF2-40B4-BE49-F238E27FC236}">
                <a16:creationId xmlns:a16="http://schemas.microsoft.com/office/drawing/2014/main" id="{0F4EEF2E-11E2-6B8A-B21F-A3012383735A}"/>
              </a:ext>
            </a:extLst>
          </p:cNvPr>
          <p:cNvPicPr>
            <a:picLocks noChangeAspect="1" noChangeArrowheads="1"/>
          </p:cNvPicPr>
          <p:nvPr/>
        </p:nvPicPr>
        <p:blipFill rotWithShape="1">
          <a:blip r:embed="rId29" cstate="print">
            <a:extLst>
              <a:ext uri="{28A0092B-C50C-407E-A947-70E740481C1C}">
                <a14:useLocalDpi xmlns:a14="http://schemas.microsoft.com/office/drawing/2010/main" val="0"/>
              </a:ext>
            </a:extLst>
          </a:blip>
          <a:srcRect l="24967" t="18773" r="22597" b="20887"/>
          <a:stretch/>
        </p:blipFill>
        <p:spPr bwMode="auto">
          <a:xfrm>
            <a:off x="861996" y="4520656"/>
            <a:ext cx="176722" cy="203358"/>
          </a:xfrm>
          <a:prstGeom prst="rect">
            <a:avLst/>
          </a:prstGeom>
          <a:noFill/>
          <a:extLst>
            <a:ext uri="{909E8E84-426E-40DD-AFC4-6F175D3DCCD1}">
              <a14:hiddenFill xmlns:a14="http://schemas.microsoft.com/office/drawing/2010/main">
                <a:solidFill>
                  <a:srgbClr val="FFFFFF"/>
                </a:solidFill>
              </a14:hiddenFill>
            </a:ext>
          </a:extLst>
        </p:spPr>
      </p:pic>
      <p:pic>
        <p:nvPicPr>
          <p:cNvPr id="474" name="Picture 16" descr="Logo HSBC: la historia y el significado del logotipo, la marca y ...">
            <a:extLst>
              <a:ext uri="{FF2B5EF4-FFF2-40B4-BE49-F238E27FC236}">
                <a16:creationId xmlns:a16="http://schemas.microsoft.com/office/drawing/2014/main" id="{9E9495A2-D24C-393E-C2CC-936887C85D72}"/>
              </a:ext>
            </a:extLst>
          </p:cNvPr>
          <p:cNvPicPr>
            <a:picLocks noChangeAspect="1" noChangeArrowheads="1"/>
          </p:cNvPicPr>
          <p:nvPr/>
        </p:nvPicPr>
        <p:blipFill rotWithShape="1">
          <a:blip r:embed="rId30" cstate="print">
            <a:extLst>
              <a:ext uri="{28A0092B-C50C-407E-A947-70E740481C1C}">
                <a14:useLocalDpi xmlns:a14="http://schemas.microsoft.com/office/drawing/2010/main" val="0"/>
              </a:ext>
            </a:extLst>
          </a:blip>
          <a:srcRect t="24213" r="42603" b="21062"/>
          <a:stretch/>
        </p:blipFill>
        <p:spPr bwMode="auto">
          <a:xfrm>
            <a:off x="2551222" y="4542960"/>
            <a:ext cx="296002" cy="158750"/>
          </a:xfrm>
          <a:prstGeom prst="rect">
            <a:avLst/>
          </a:prstGeom>
          <a:noFill/>
          <a:extLst>
            <a:ext uri="{909E8E84-426E-40DD-AFC4-6F175D3DCCD1}">
              <a14:hiddenFill xmlns:a14="http://schemas.microsoft.com/office/drawing/2010/main">
                <a:solidFill>
                  <a:srgbClr val="FFFFFF"/>
                </a:solidFill>
              </a14:hiddenFill>
            </a:ext>
          </a:extLst>
        </p:spPr>
      </p:pic>
      <p:pic>
        <p:nvPicPr>
          <p:cNvPr id="475" name="Picture 242">
            <a:extLst>
              <a:ext uri="{FF2B5EF4-FFF2-40B4-BE49-F238E27FC236}">
                <a16:creationId xmlns:a16="http://schemas.microsoft.com/office/drawing/2014/main" id="{45ED64D0-218F-9689-C839-E82127FC5E9B}"/>
              </a:ext>
            </a:extLst>
          </p:cNvPr>
          <p:cNvPicPr>
            <a:picLocks noChangeAspect="1" noChangeArrowheads="1"/>
          </p:cNvPicPr>
          <p:nvPr/>
        </p:nvPicPr>
        <p:blipFill rotWithShape="1">
          <a:blip r:embed="rId31" cstate="print">
            <a:extLst>
              <a:ext uri="{28A0092B-C50C-407E-A947-70E740481C1C}">
                <a14:useLocalDpi xmlns:a14="http://schemas.microsoft.com/office/drawing/2010/main" val="0"/>
              </a:ext>
            </a:extLst>
          </a:blip>
          <a:srcRect t="33681" r="79520" b="38550"/>
          <a:stretch/>
        </p:blipFill>
        <p:spPr bwMode="auto">
          <a:xfrm>
            <a:off x="3453935" y="4518035"/>
            <a:ext cx="202555" cy="208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6" name="Imagen 197">
            <a:extLst>
              <a:ext uri="{FF2B5EF4-FFF2-40B4-BE49-F238E27FC236}">
                <a16:creationId xmlns:a16="http://schemas.microsoft.com/office/drawing/2014/main" id="{0AF14669-4689-931D-8B4B-E3E559019728}"/>
              </a:ext>
            </a:extLst>
          </p:cNvPr>
          <p:cNvPicPr>
            <a:picLocks noChangeAspect="1"/>
          </p:cNvPicPr>
          <p:nvPr/>
        </p:nvPicPr>
        <p:blipFill rotWithShape="1">
          <a:blip r:embed="rId32"/>
          <a:srcRect l="12767" t="21506" r="13721" b="19450"/>
          <a:stretch/>
        </p:blipFill>
        <p:spPr>
          <a:xfrm>
            <a:off x="1623129" y="4531152"/>
            <a:ext cx="403644" cy="182366"/>
          </a:xfrm>
          <a:prstGeom prst="rect">
            <a:avLst/>
          </a:prstGeom>
        </p:spPr>
      </p:pic>
      <p:pic>
        <p:nvPicPr>
          <p:cNvPr id="477" name="Picture 236" descr="Image result for Banorte">
            <a:extLst>
              <a:ext uri="{FF2B5EF4-FFF2-40B4-BE49-F238E27FC236}">
                <a16:creationId xmlns:a16="http://schemas.microsoft.com/office/drawing/2014/main" id="{6FE9ED51-C4C2-21DF-9FDA-B48A600D3F4B}"/>
              </a:ext>
            </a:extLst>
          </p:cNvPr>
          <p:cNvPicPr>
            <a:picLocks noChangeAspect="1" noChangeArrowheads="1"/>
          </p:cNvPicPr>
          <p:nvPr/>
        </p:nvPicPr>
        <p:blipFill rotWithShape="1">
          <a:blip r:embed="rId33" cstate="print">
            <a:extLst>
              <a:ext uri="{28A0092B-C50C-407E-A947-70E740481C1C}">
                <a14:useLocalDpi xmlns:a14="http://schemas.microsoft.com/office/drawing/2010/main" val="0"/>
              </a:ext>
            </a:extLst>
          </a:blip>
          <a:srcRect t="38706" r="79188" b="40031"/>
          <a:stretch/>
        </p:blipFill>
        <p:spPr bwMode="auto">
          <a:xfrm>
            <a:off x="4302120" y="4528528"/>
            <a:ext cx="247113" cy="187614"/>
          </a:xfrm>
          <a:prstGeom prst="rect">
            <a:avLst/>
          </a:prstGeom>
          <a:noFill/>
          <a:extLst>
            <a:ext uri="{909E8E84-426E-40DD-AFC4-6F175D3DCCD1}">
              <a14:hiddenFill xmlns:a14="http://schemas.microsoft.com/office/drawing/2010/main">
                <a:solidFill>
                  <a:srgbClr val="FFFFFF"/>
                </a:solidFill>
              </a14:hiddenFill>
            </a:ext>
          </a:extLst>
        </p:spPr>
      </p:pic>
      <p:pic>
        <p:nvPicPr>
          <p:cNvPr id="480" name="Picture 33" descr="Scotiabank Logo | Letra S | Logos &amp; Types | Real Letter Logos">
            <a:extLst>
              <a:ext uri="{FF2B5EF4-FFF2-40B4-BE49-F238E27FC236}">
                <a16:creationId xmlns:a16="http://schemas.microsoft.com/office/drawing/2014/main" id="{55CA902D-39F8-34B5-36B4-C94E412FE797}"/>
              </a:ext>
            </a:extLst>
          </p:cNvPr>
          <p:cNvPicPr>
            <a:picLocks noChangeAspect="1" noChangeArrowheads="1"/>
          </p:cNvPicPr>
          <p:nvPr/>
        </p:nvPicPr>
        <p:blipFill rotWithShape="1">
          <a:blip r:embed="rId29" cstate="print">
            <a:extLst>
              <a:ext uri="{28A0092B-C50C-407E-A947-70E740481C1C}">
                <a14:useLocalDpi xmlns:a14="http://schemas.microsoft.com/office/drawing/2010/main" val="0"/>
              </a:ext>
            </a:extLst>
          </a:blip>
          <a:srcRect l="24967" t="18773" r="22597" b="20887"/>
          <a:stretch/>
        </p:blipFill>
        <p:spPr bwMode="auto">
          <a:xfrm>
            <a:off x="6572153" y="4528528"/>
            <a:ext cx="176722" cy="203358"/>
          </a:xfrm>
          <a:prstGeom prst="rect">
            <a:avLst/>
          </a:prstGeom>
          <a:noFill/>
          <a:extLst>
            <a:ext uri="{909E8E84-426E-40DD-AFC4-6F175D3DCCD1}">
              <a14:hiddenFill xmlns:a14="http://schemas.microsoft.com/office/drawing/2010/main">
                <a:solidFill>
                  <a:srgbClr val="FFFFFF"/>
                </a:solidFill>
              </a14:hiddenFill>
            </a:ext>
          </a:extLst>
        </p:spPr>
      </p:pic>
      <p:pic>
        <p:nvPicPr>
          <p:cNvPr id="481" name="Picture 16" descr="Logo HSBC: la historia y el significado del logotipo, la marca y ...">
            <a:extLst>
              <a:ext uri="{FF2B5EF4-FFF2-40B4-BE49-F238E27FC236}">
                <a16:creationId xmlns:a16="http://schemas.microsoft.com/office/drawing/2014/main" id="{9F40BC65-D72D-CC17-E781-A8FF49A2C382}"/>
              </a:ext>
            </a:extLst>
          </p:cNvPr>
          <p:cNvPicPr>
            <a:picLocks noChangeAspect="1" noChangeArrowheads="1"/>
          </p:cNvPicPr>
          <p:nvPr/>
        </p:nvPicPr>
        <p:blipFill rotWithShape="1">
          <a:blip r:embed="rId30" cstate="print">
            <a:extLst>
              <a:ext uri="{28A0092B-C50C-407E-A947-70E740481C1C}">
                <a14:useLocalDpi xmlns:a14="http://schemas.microsoft.com/office/drawing/2010/main" val="0"/>
              </a:ext>
            </a:extLst>
          </a:blip>
          <a:srcRect t="24213" r="42603" b="21062"/>
          <a:stretch/>
        </p:blipFill>
        <p:spPr bwMode="auto">
          <a:xfrm>
            <a:off x="8253627" y="4550832"/>
            <a:ext cx="296002" cy="158750"/>
          </a:xfrm>
          <a:prstGeom prst="rect">
            <a:avLst/>
          </a:prstGeom>
          <a:noFill/>
          <a:extLst>
            <a:ext uri="{909E8E84-426E-40DD-AFC4-6F175D3DCCD1}">
              <a14:hiddenFill xmlns:a14="http://schemas.microsoft.com/office/drawing/2010/main">
                <a:solidFill>
                  <a:srgbClr val="FFFFFF"/>
                </a:solidFill>
              </a14:hiddenFill>
            </a:ext>
          </a:extLst>
        </p:spPr>
      </p:pic>
      <p:pic>
        <p:nvPicPr>
          <p:cNvPr id="482" name="Picture 242">
            <a:extLst>
              <a:ext uri="{FF2B5EF4-FFF2-40B4-BE49-F238E27FC236}">
                <a16:creationId xmlns:a16="http://schemas.microsoft.com/office/drawing/2014/main" id="{EE03C5C8-4D08-114A-B166-B4C333F30141}"/>
              </a:ext>
            </a:extLst>
          </p:cNvPr>
          <p:cNvPicPr>
            <a:picLocks noChangeAspect="1" noChangeArrowheads="1"/>
          </p:cNvPicPr>
          <p:nvPr/>
        </p:nvPicPr>
        <p:blipFill rotWithShape="1">
          <a:blip r:embed="rId31" cstate="print">
            <a:extLst>
              <a:ext uri="{28A0092B-C50C-407E-A947-70E740481C1C}">
                <a14:useLocalDpi xmlns:a14="http://schemas.microsoft.com/office/drawing/2010/main" val="0"/>
              </a:ext>
            </a:extLst>
          </a:blip>
          <a:srcRect t="33681" r="79520" b="38550"/>
          <a:stretch/>
        </p:blipFill>
        <p:spPr bwMode="auto">
          <a:xfrm>
            <a:off x="9140842" y="4525907"/>
            <a:ext cx="202555" cy="208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3" name="Imagen 197">
            <a:extLst>
              <a:ext uri="{FF2B5EF4-FFF2-40B4-BE49-F238E27FC236}">
                <a16:creationId xmlns:a16="http://schemas.microsoft.com/office/drawing/2014/main" id="{7CB285E5-3001-391D-FCB8-1472CFA3668E}"/>
              </a:ext>
            </a:extLst>
          </p:cNvPr>
          <p:cNvPicPr>
            <a:picLocks noChangeAspect="1"/>
          </p:cNvPicPr>
          <p:nvPr/>
        </p:nvPicPr>
        <p:blipFill rotWithShape="1">
          <a:blip r:embed="rId32"/>
          <a:srcRect l="12767" t="21506" r="13721" b="19450"/>
          <a:stretch/>
        </p:blipFill>
        <p:spPr>
          <a:xfrm>
            <a:off x="7333284" y="4539024"/>
            <a:ext cx="403644" cy="182366"/>
          </a:xfrm>
          <a:prstGeom prst="rect">
            <a:avLst/>
          </a:prstGeom>
        </p:spPr>
      </p:pic>
      <p:pic>
        <p:nvPicPr>
          <p:cNvPr id="484" name="Picture 236" descr="Image result for Banorte">
            <a:extLst>
              <a:ext uri="{FF2B5EF4-FFF2-40B4-BE49-F238E27FC236}">
                <a16:creationId xmlns:a16="http://schemas.microsoft.com/office/drawing/2014/main" id="{84ECCA6D-F0B6-0DF3-E0B3-B0BF04B3EA69}"/>
              </a:ext>
            </a:extLst>
          </p:cNvPr>
          <p:cNvPicPr>
            <a:picLocks noChangeAspect="1" noChangeArrowheads="1"/>
          </p:cNvPicPr>
          <p:nvPr/>
        </p:nvPicPr>
        <p:blipFill rotWithShape="1">
          <a:blip r:embed="rId33" cstate="print">
            <a:extLst>
              <a:ext uri="{28A0092B-C50C-407E-A947-70E740481C1C}">
                <a14:useLocalDpi xmlns:a14="http://schemas.microsoft.com/office/drawing/2010/main" val="0"/>
              </a:ext>
            </a:extLst>
          </a:blip>
          <a:srcRect t="38706" r="79188" b="40031"/>
          <a:stretch/>
        </p:blipFill>
        <p:spPr bwMode="auto">
          <a:xfrm>
            <a:off x="9973530" y="4536400"/>
            <a:ext cx="247113" cy="1876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013792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50960917-B672-4D37-E5C6-8A1F29F7851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425" imgH="425" progId="TCLayout.ActiveDocument.1">
                  <p:embed/>
                </p:oleObj>
              </mc:Choice>
              <mc:Fallback>
                <p:oleObj name="think-cell Slide" r:id="rId24" imgW="425" imgH="425" progId="TCLayout.ActiveDocument.1">
                  <p:embed/>
                  <p:pic>
                    <p:nvPicPr>
                      <p:cNvPr id="10" name="think-cell data - do not delete" hidden="1">
                        <a:extLst>
                          <a:ext uri="{FF2B5EF4-FFF2-40B4-BE49-F238E27FC236}">
                            <a16:creationId xmlns:a16="http://schemas.microsoft.com/office/drawing/2014/main" id="{50960917-B672-4D37-E5C6-8A1F29F78518}"/>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3D961798-0B27-F3AB-A086-214DCFE11D7B}"/>
              </a:ext>
            </a:extLst>
          </p:cNvPr>
          <p:cNvSpPr>
            <a:spLocks noGrp="1"/>
          </p:cNvSpPr>
          <p:nvPr>
            <p:ph type="title"/>
          </p:nvPr>
        </p:nvSpPr>
        <p:spPr/>
        <p:txBody>
          <a:bodyPr vert="horz" rIns="0"/>
          <a:lstStyle/>
          <a:p>
            <a:r>
              <a:rPr lang="en-US">
                <a:solidFill>
                  <a:srgbClr val="EC111A"/>
                </a:solidFill>
              </a:rPr>
              <a:t>Asset Market Overview | </a:t>
            </a:r>
            <a:r>
              <a:rPr lang="en-US"/>
              <a:t>O</a:t>
            </a:r>
            <a:r>
              <a:rPr lang="en-US" sz="2400"/>
              <a:t>ur market share has improved over 5 years within the $25-100MM band; however, we have fallen behind in the $1-25MM band </a:t>
            </a:r>
            <a:endParaRPr lang="en-US">
              <a:solidFill>
                <a:srgbClr val="EC111A"/>
              </a:solidFill>
            </a:endParaRPr>
          </a:p>
        </p:txBody>
      </p:sp>
      <p:sp>
        <p:nvSpPr>
          <p:cNvPr id="3" name="Slide Number Placeholder 2">
            <a:extLst>
              <a:ext uri="{FF2B5EF4-FFF2-40B4-BE49-F238E27FC236}">
                <a16:creationId xmlns:a16="http://schemas.microsoft.com/office/drawing/2014/main" id="{9D0FEB40-36B7-5E22-926D-205436B13B91}"/>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4" name="Text Placeholder 3">
            <a:extLst>
              <a:ext uri="{FF2B5EF4-FFF2-40B4-BE49-F238E27FC236}">
                <a16:creationId xmlns:a16="http://schemas.microsoft.com/office/drawing/2014/main" id="{C1999545-E4B4-E885-C593-7DE83B2F95CF}"/>
              </a:ext>
            </a:extLst>
          </p:cNvPr>
          <p:cNvSpPr>
            <a:spLocks noGrp="1"/>
          </p:cNvSpPr>
          <p:nvPr>
            <p:ph type="body" sz="quarter" idx="11"/>
          </p:nvPr>
        </p:nvSpPr>
        <p:spPr/>
        <p:txBody>
          <a:bodyPr anchor="t"/>
          <a:lstStyle/>
          <a:p>
            <a:r>
              <a:rPr lang="en-CA"/>
              <a:t>Source: CBA Lending Data provided by CB Finance (Q3 2023)</a:t>
            </a:r>
          </a:p>
        </p:txBody>
      </p:sp>
      <p:sp>
        <p:nvSpPr>
          <p:cNvPr id="7" name="Text Placeholder 6">
            <a:extLst>
              <a:ext uri="{FF2B5EF4-FFF2-40B4-BE49-F238E27FC236}">
                <a16:creationId xmlns:a16="http://schemas.microsoft.com/office/drawing/2014/main" id="{A900CBE4-F271-B6D7-5840-E7F5AAABC9AA}"/>
              </a:ext>
            </a:extLst>
          </p:cNvPr>
          <p:cNvSpPr>
            <a:spLocks noGrp="1"/>
          </p:cNvSpPr>
          <p:nvPr>
            <p:ph type="body" sz="quarter" idx="14"/>
          </p:nvPr>
        </p:nvSpPr>
        <p:spPr/>
        <p:txBody>
          <a:bodyPr/>
          <a:lstStyle/>
          <a:p>
            <a:r>
              <a:rPr lang="en-US"/>
              <a:t>ASSET COMPETITIVE LANDSCAPE</a:t>
            </a:r>
          </a:p>
        </p:txBody>
      </p:sp>
      <p:cxnSp>
        <p:nvCxnSpPr>
          <p:cNvPr id="195" name="Straight Connector 194">
            <a:extLst>
              <a:ext uri="{FF2B5EF4-FFF2-40B4-BE49-F238E27FC236}">
                <a16:creationId xmlns:a16="http://schemas.microsoft.com/office/drawing/2014/main" id="{FD8D3660-8C07-7520-959A-5EE86BF44518}"/>
              </a:ext>
            </a:extLst>
          </p:cNvPr>
          <p:cNvCxnSpPr>
            <a:cxnSpLocks/>
          </p:cNvCxnSpPr>
          <p:nvPr/>
        </p:nvCxnSpPr>
        <p:spPr>
          <a:xfrm>
            <a:off x="3086462" y="3343267"/>
            <a:ext cx="780657"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6A5A3504-C766-CF4F-0C45-B5948C0C0E5F}"/>
              </a:ext>
            </a:extLst>
          </p:cNvPr>
          <p:cNvCxnSpPr>
            <a:cxnSpLocks/>
          </p:cNvCxnSpPr>
          <p:nvPr/>
        </p:nvCxnSpPr>
        <p:spPr>
          <a:xfrm>
            <a:off x="3086462" y="3725863"/>
            <a:ext cx="780657"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C83E5D28-9255-6B23-81E7-82CFD97E7D6B}"/>
              </a:ext>
            </a:extLst>
          </p:cNvPr>
          <p:cNvCxnSpPr>
            <a:cxnSpLocks/>
          </p:cNvCxnSpPr>
          <p:nvPr/>
        </p:nvCxnSpPr>
        <p:spPr>
          <a:xfrm>
            <a:off x="3086462" y="4116388"/>
            <a:ext cx="780657"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303C59FC-E8B6-DA2A-B215-C8A5A69B568E}"/>
              </a:ext>
            </a:extLst>
          </p:cNvPr>
          <p:cNvCxnSpPr>
            <a:cxnSpLocks/>
          </p:cNvCxnSpPr>
          <p:nvPr/>
        </p:nvCxnSpPr>
        <p:spPr>
          <a:xfrm>
            <a:off x="3086462" y="4511675"/>
            <a:ext cx="780657"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9" name="Oval 198">
            <a:extLst>
              <a:ext uri="{FF2B5EF4-FFF2-40B4-BE49-F238E27FC236}">
                <a16:creationId xmlns:a16="http://schemas.microsoft.com/office/drawing/2014/main" id="{563302BF-4C00-9372-0F8B-3CC7275A7BDE}"/>
              </a:ext>
            </a:extLst>
          </p:cNvPr>
          <p:cNvSpPr/>
          <p:nvPr/>
        </p:nvSpPr>
        <p:spPr>
          <a:xfrm>
            <a:off x="3516014" y="4979514"/>
            <a:ext cx="245904" cy="247650"/>
          </a:xfrm>
          <a:prstGeom prst="ellipse">
            <a:avLst/>
          </a:prstGeom>
          <a:blipFill dpi="0" rotWithShape="1">
            <a:blip r:embed="rId2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200" name="Oval 199">
            <a:extLst>
              <a:ext uri="{FF2B5EF4-FFF2-40B4-BE49-F238E27FC236}">
                <a16:creationId xmlns:a16="http://schemas.microsoft.com/office/drawing/2014/main" id="{812F62A6-1CED-E889-8989-092857FEC073}"/>
              </a:ext>
            </a:extLst>
          </p:cNvPr>
          <p:cNvSpPr/>
          <p:nvPr/>
        </p:nvSpPr>
        <p:spPr>
          <a:xfrm>
            <a:off x="3516014" y="3424238"/>
            <a:ext cx="245904" cy="246063"/>
          </a:xfrm>
          <a:prstGeom prst="ellipse">
            <a:avLst/>
          </a:prstGeom>
          <a:blipFill dpi="0" rotWithShape="1">
            <a:blip r:embed="rId27">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201" name="Oval 200">
            <a:extLst>
              <a:ext uri="{FF2B5EF4-FFF2-40B4-BE49-F238E27FC236}">
                <a16:creationId xmlns:a16="http://schemas.microsoft.com/office/drawing/2014/main" id="{89129193-7CC3-4485-4E11-ADCD5A1C1B0D}"/>
              </a:ext>
            </a:extLst>
          </p:cNvPr>
          <p:cNvSpPr/>
          <p:nvPr/>
        </p:nvSpPr>
        <p:spPr>
          <a:xfrm>
            <a:off x="3516014" y="3810000"/>
            <a:ext cx="245904" cy="250825"/>
          </a:xfrm>
          <a:prstGeom prst="ellipse">
            <a:avLst/>
          </a:prstGeom>
          <a:blipFill dpi="0" rotWithShape="1">
            <a:blip r:embed="rId28">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202" name="Oval 201">
            <a:extLst>
              <a:ext uri="{FF2B5EF4-FFF2-40B4-BE49-F238E27FC236}">
                <a16:creationId xmlns:a16="http://schemas.microsoft.com/office/drawing/2014/main" id="{3FD0F849-A271-B813-69B8-A218D2A1C343}"/>
              </a:ext>
            </a:extLst>
          </p:cNvPr>
          <p:cNvSpPr/>
          <p:nvPr/>
        </p:nvSpPr>
        <p:spPr>
          <a:xfrm>
            <a:off x="3516014" y="3016250"/>
            <a:ext cx="245904" cy="246063"/>
          </a:xfrm>
          <a:prstGeom prst="ellipse">
            <a:avLst/>
          </a:prstGeom>
          <a:blipFill dpi="0" rotWithShape="1">
            <a:blip r:embed="rId29">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203" name="Rectangle 202">
            <a:extLst>
              <a:ext uri="{FF2B5EF4-FFF2-40B4-BE49-F238E27FC236}">
                <a16:creationId xmlns:a16="http://schemas.microsoft.com/office/drawing/2014/main" id="{465B0B1B-AF51-CA39-2C49-6131B8D901E3}"/>
              </a:ext>
            </a:extLst>
          </p:cNvPr>
          <p:cNvSpPr/>
          <p:nvPr/>
        </p:nvSpPr>
        <p:spPr>
          <a:xfrm>
            <a:off x="3144744" y="3056128"/>
            <a:ext cx="268511" cy="182563"/>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1</a:t>
            </a:r>
            <a:r>
              <a:rPr kumimoji="0" lang="en-CA" sz="1100" b="0" i="0" u="none" strike="noStrike" kern="1200" cap="none" spc="0" normalizeH="0" baseline="30000" noProof="0">
                <a:ln>
                  <a:noFill/>
                </a:ln>
                <a:solidFill>
                  <a:srgbClr val="000000"/>
                </a:solidFill>
                <a:effectLst/>
                <a:uLnTx/>
                <a:uFillTx/>
                <a:latin typeface="Scotia"/>
                <a:ea typeface="+mn-ea"/>
                <a:cs typeface="+mn-cs"/>
              </a:rPr>
              <a:t>st</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204" name="Rectangle 203">
            <a:extLst>
              <a:ext uri="{FF2B5EF4-FFF2-40B4-BE49-F238E27FC236}">
                <a16:creationId xmlns:a16="http://schemas.microsoft.com/office/drawing/2014/main" id="{EC7C1F5E-4733-25FD-DA1B-9B70FBD10297}"/>
              </a:ext>
            </a:extLst>
          </p:cNvPr>
          <p:cNvSpPr/>
          <p:nvPr/>
        </p:nvSpPr>
        <p:spPr>
          <a:xfrm>
            <a:off x="3144744" y="3447843"/>
            <a:ext cx="268511" cy="182563"/>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2</a:t>
            </a:r>
            <a:r>
              <a:rPr kumimoji="0" lang="en-CA" sz="1100" b="0" i="0" u="none" strike="noStrike" kern="1200" cap="none" spc="0" normalizeH="0" baseline="30000" noProof="0">
                <a:ln>
                  <a:noFill/>
                </a:ln>
                <a:solidFill>
                  <a:srgbClr val="000000"/>
                </a:solidFill>
                <a:effectLst/>
                <a:uLnTx/>
                <a:uFillTx/>
                <a:latin typeface="Scotia"/>
                <a:ea typeface="+mn-ea"/>
                <a:cs typeface="+mn-cs"/>
              </a:rPr>
              <a:t>nd</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205" name="Rectangle 204">
            <a:extLst>
              <a:ext uri="{FF2B5EF4-FFF2-40B4-BE49-F238E27FC236}">
                <a16:creationId xmlns:a16="http://schemas.microsoft.com/office/drawing/2014/main" id="{AFC61350-217A-4EF0-BBEC-3F15D4C8564C}"/>
              </a:ext>
            </a:extLst>
          </p:cNvPr>
          <p:cNvSpPr/>
          <p:nvPr/>
        </p:nvSpPr>
        <p:spPr>
          <a:xfrm>
            <a:off x="3144744" y="3832225"/>
            <a:ext cx="268511" cy="182563"/>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3</a:t>
            </a:r>
            <a:r>
              <a:rPr kumimoji="0" lang="en-CA" sz="1100" b="0" i="0" u="none" strike="noStrike" kern="1200" cap="none" spc="0" normalizeH="0" baseline="30000" noProof="0">
                <a:ln>
                  <a:noFill/>
                </a:ln>
                <a:solidFill>
                  <a:srgbClr val="000000"/>
                </a:solidFill>
                <a:effectLst/>
                <a:uLnTx/>
                <a:uFillTx/>
                <a:latin typeface="Scotia"/>
                <a:ea typeface="+mn-ea"/>
                <a:cs typeface="+mn-cs"/>
              </a:rPr>
              <a:t>rd</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206" name="Rectangle 205">
            <a:extLst>
              <a:ext uri="{FF2B5EF4-FFF2-40B4-BE49-F238E27FC236}">
                <a16:creationId xmlns:a16="http://schemas.microsoft.com/office/drawing/2014/main" id="{5ABF9345-0AB7-A33A-63E2-129264D0BDE1}"/>
              </a:ext>
            </a:extLst>
          </p:cNvPr>
          <p:cNvSpPr/>
          <p:nvPr/>
        </p:nvSpPr>
        <p:spPr>
          <a:xfrm>
            <a:off x="3144744" y="4224338"/>
            <a:ext cx="268511" cy="1825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4</a:t>
            </a:r>
            <a:r>
              <a:rPr kumimoji="0" lang="en-CA" sz="1100" b="0" i="0" u="none" strike="noStrike" kern="1200" cap="none" spc="0" normalizeH="0" baseline="30000" noProof="0">
                <a:ln>
                  <a:noFill/>
                </a:ln>
                <a:solidFill>
                  <a:srgbClr val="000000"/>
                </a:solidFill>
                <a:effectLst/>
                <a:uLnTx/>
                <a:uFillTx/>
                <a:latin typeface="Scotia"/>
                <a:ea typeface="+mn-ea"/>
                <a:cs typeface="+mn-cs"/>
              </a:rPr>
              <a:t>th</a:t>
            </a:r>
            <a:r>
              <a:rPr kumimoji="0" lang="en-CA" sz="1100" b="0" i="0" u="none" strike="noStrike" kern="1200" cap="none" spc="0" normalizeH="0" baseline="0" noProof="0">
                <a:ln>
                  <a:noFill/>
                </a:ln>
                <a:solidFill>
                  <a:srgbClr val="000000"/>
                </a:solidFill>
                <a:effectLst/>
                <a:uLnTx/>
                <a:uFillTx/>
                <a:latin typeface="Scotia"/>
                <a:ea typeface="+mn-ea"/>
                <a:cs typeface="+mn-cs"/>
              </a:rPr>
              <a:t> </a:t>
            </a:r>
          </a:p>
        </p:txBody>
      </p:sp>
      <p:sp>
        <p:nvSpPr>
          <p:cNvPr id="207" name="Rectangle 206">
            <a:extLst>
              <a:ext uri="{FF2B5EF4-FFF2-40B4-BE49-F238E27FC236}">
                <a16:creationId xmlns:a16="http://schemas.microsoft.com/office/drawing/2014/main" id="{2881C8C0-4652-0904-97E2-9CF08CF604E8}"/>
              </a:ext>
            </a:extLst>
          </p:cNvPr>
          <p:cNvSpPr/>
          <p:nvPr/>
        </p:nvSpPr>
        <p:spPr>
          <a:xfrm>
            <a:off x="3144744" y="4614863"/>
            <a:ext cx="268511" cy="18415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5</a:t>
            </a:r>
            <a:r>
              <a:rPr kumimoji="0" lang="en-CA" sz="1100" b="0" i="0" u="none" strike="noStrike" kern="1200" cap="none" spc="0" normalizeH="0" baseline="30000" noProof="0">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211" name="TextBox 210">
            <a:extLst>
              <a:ext uri="{FF2B5EF4-FFF2-40B4-BE49-F238E27FC236}">
                <a16:creationId xmlns:a16="http://schemas.microsoft.com/office/drawing/2014/main" id="{84362318-0088-1270-8F0C-8B3773EB832B}"/>
              </a:ext>
            </a:extLst>
          </p:cNvPr>
          <p:cNvSpPr txBox="1"/>
          <p:nvPr/>
        </p:nvSpPr>
        <p:spPr>
          <a:xfrm>
            <a:off x="3237004" y="2687638"/>
            <a:ext cx="423998" cy="246063"/>
          </a:xfrm>
          <a:prstGeom prst="rect">
            <a:avLst/>
          </a:prstGeom>
          <a:solidFill>
            <a:schemeClr val="bg1"/>
          </a:solidFill>
        </p:spPr>
        <p:txBody>
          <a:bodyPr wrap="square" lIns="36000" rIns="36000" rtlCol="0">
            <a:spAutoFit/>
          </a:bodyP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2023</a:t>
            </a:r>
          </a:p>
        </p:txBody>
      </p:sp>
      <p:graphicFrame>
        <p:nvGraphicFramePr>
          <p:cNvPr id="20" name="Chart 19">
            <a:extLst>
              <a:ext uri="{FF2B5EF4-FFF2-40B4-BE49-F238E27FC236}">
                <a16:creationId xmlns:a16="http://schemas.microsoft.com/office/drawing/2014/main" id="{106FB7C5-34CF-22AB-F44A-610B74CF8C8C}"/>
              </a:ext>
            </a:extLst>
          </p:cNvPr>
          <p:cNvGraphicFramePr/>
          <p:nvPr>
            <p:custDataLst>
              <p:tags r:id="rId2"/>
            </p:custDataLst>
          </p:nvPr>
        </p:nvGraphicFramePr>
        <p:xfrm>
          <a:off x="4632325" y="2665413"/>
          <a:ext cx="2044700" cy="2835275"/>
        </p:xfrm>
        <a:graphic>
          <a:graphicData uri="http://schemas.openxmlformats.org/drawingml/2006/chart">
            <c:chart xmlns:c="http://schemas.openxmlformats.org/drawingml/2006/chart" xmlns:r="http://schemas.openxmlformats.org/officeDocument/2006/relationships" r:id="rId30"/>
          </a:graphicData>
        </a:graphic>
      </p:graphicFrame>
      <p:sp>
        <p:nvSpPr>
          <p:cNvPr id="465" name="Text Placeholder 2">
            <a:extLst>
              <a:ext uri="{FF2B5EF4-FFF2-40B4-BE49-F238E27FC236}">
                <a16:creationId xmlns:a16="http://schemas.microsoft.com/office/drawing/2014/main" id="{1249D617-B884-E7A4-52F4-669974954371}"/>
              </a:ext>
            </a:extLst>
          </p:cNvPr>
          <p:cNvSpPr>
            <a:spLocks/>
          </p:cNvSpPr>
          <p:nvPr>
            <p:custDataLst>
              <p:tags r:id="rId3"/>
            </p:custDataLst>
          </p:nvPr>
        </p:nvSpPr>
        <p:spPr bwMode="gray">
          <a:xfrm>
            <a:off x="5059363" y="5065713"/>
            <a:ext cx="247650"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820975C2-9A44-43A1-B36D-B0A3300F010B}" type="datetime'''''''1''1''''''''''''''''''''''''''''''''''%'''''''''''''''''">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11%</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14" name="Text Placeholder 2">
            <a:extLst>
              <a:ext uri="{FF2B5EF4-FFF2-40B4-BE49-F238E27FC236}">
                <a16:creationId xmlns:a16="http://schemas.microsoft.com/office/drawing/2014/main" id="{17F734C3-39C7-B105-50AE-9E3AC8EABF59}"/>
              </a:ext>
            </a:extLst>
          </p:cNvPr>
          <p:cNvSpPr>
            <a:spLocks/>
          </p:cNvSpPr>
          <p:nvPr>
            <p:custDataLst>
              <p:tags r:id="rId4"/>
            </p:custDataLst>
          </p:nvPr>
        </p:nvSpPr>
        <p:spPr bwMode="auto">
          <a:xfrm>
            <a:off x="5040313" y="5318125"/>
            <a:ext cx="2873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r>
              <a:rPr kumimoji="0" lang="en-CA" altLang="en-US" sz="1000" b="0" i="0" u="none" strike="noStrike" kern="1200" cap="none" spc="0" normalizeH="0" baseline="0" noProof="0">
                <a:ln>
                  <a:noFill/>
                </a:ln>
                <a:solidFill>
                  <a:srgbClr val="000000"/>
                </a:solidFill>
                <a:effectLst/>
                <a:uLnTx/>
                <a:uFillTx/>
                <a:latin typeface="Scotia"/>
                <a:ea typeface="+mn-ea"/>
                <a:cs typeface="+mn-cs"/>
              </a:rPr>
              <a:t>2018</a:t>
            </a: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15" name="Text Placeholder 2">
            <a:extLst>
              <a:ext uri="{FF2B5EF4-FFF2-40B4-BE49-F238E27FC236}">
                <a16:creationId xmlns:a16="http://schemas.microsoft.com/office/drawing/2014/main" id="{9A0477FA-6BC5-2E0F-6865-1E5C05A54290}"/>
              </a:ext>
            </a:extLst>
          </p:cNvPr>
          <p:cNvSpPr>
            <a:spLocks/>
          </p:cNvSpPr>
          <p:nvPr>
            <p:custDataLst>
              <p:tags r:id="rId5"/>
            </p:custDataLst>
          </p:nvPr>
        </p:nvSpPr>
        <p:spPr bwMode="gray">
          <a:xfrm>
            <a:off x="5999163" y="5067300"/>
            <a:ext cx="247650"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68677C02-638A-413B-A114-18D62981DF3C}" type="datetime'''''''''''''1''''''''''1''''%'''''''''''''''''''''''''''''''">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11%</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16" name="Text Placeholder 2">
            <a:extLst>
              <a:ext uri="{FF2B5EF4-FFF2-40B4-BE49-F238E27FC236}">
                <a16:creationId xmlns:a16="http://schemas.microsoft.com/office/drawing/2014/main" id="{91B29C50-A51D-B50F-192C-E0E038F60F9E}"/>
              </a:ext>
            </a:extLst>
          </p:cNvPr>
          <p:cNvSpPr>
            <a:spLocks/>
          </p:cNvSpPr>
          <p:nvPr>
            <p:custDataLst>
              <p:tags r:id="rId6"/>
            </p:custDataLst>
          </p:nvPr>
        </p:nvSpPr>
        <p:spPr bwMode="auto">
          <a:xfrm>
            <a:off x="5973763" y="5318125"/>
            <a:ext cx="2984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FCC04684-3428-4B0B-94E1-CB2DF565AA91}" type="datetime'''2''''''''''''''''''''''''''''''''''''0''23'">
              <a:rPr kumimoji="0" lang="en-US"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2023</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17" name="Text Placeholder 2">
            <a:extLst>
              <a:ext uri="{FF2B5EF4-FFF2-40B4-BE49-F238E27FC236}">
                <a16:creationId xmlns:a16="http://schemas.microsoft.com/office/drawing/2014/main" id="{0C151178-E416-560A-4630-315E6656CA7F}"/>
              </a:ext>
            </a:extLst>
          </p:cNvPr>
          <p:cNvSpPr>
            <a:spLocks/>
          </p:cNvSpPr>
          <p:nvPr>
            <p:custDataLst>
              <p:tags r:id="rId7"/>
            </p:custDataLst>
          </p:nvPr>
        </p:nvSpPr>
        <p:spPr bwMode="gray">
          <a:xfrm>
            <a:off x="4986338" y="2713038"/>
            <a:ext cx="3937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1AA8CDE2-F382-47D7-8EC0-4296216FB153}" type="datetime'''''''''''''$''''1''''''''2''''''9''''''''''''''''''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$129B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218" name="Text Placeholder 2">
            <a:extLst>
              <a:ext uri="{FF2B5EF4-FFF2-40B4-BE49-F238E27FC236}">
                <a16:creationId xmlns:a16="http://schemas.microsoft.com/office/drawing/2014/main" id="{9AD80A68-87DC-7C81-85E3-4179960086D4}"/>
              </a:ext>
            </a:extLst>
          </p:cNvPr>
          <p:cNvSpPr>
            <a:spLocks/>
          </p:cNvSpPr>
          <p:nvPr>
            <p:custDataLst>
              <p:tags r:id="rId8"/>
            </p:custDataLst>
          </p:nvPr>
        </p:nvSpPr>
        <p:spPr bwMode="gray">
          <a:xfrm>
            <a:off x="5924551" y="2713038"/>
            <a:ext cx="3968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CC7C2354-B7D0-45DA-ACFC-828E8C6E0226}" type="datetime'$''''1''8''''''''''''''''''''''''''''''4''''''''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$184B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graphicFrame>
        <p:nvGraphicFramePr>
          <p:cNvPr id="9" name="Chart 8">
            <a:extLst>
              <a:ext uri="{FF2B5EF4-FFF2-40B4-BE49-F238E27FC236}">
                <a16:creationId xmlns:a16="http://schemas.microsoft.com/office/drawing/2014/main" id="{D010F629-8A89-D1D4-BA6E-9C160B352872}"/>
              </a:ext>
            </a:extLst>
          </p:cNvPr>
          <p:cNvGraphicFramePr/>
          <p:nvPr>
            <p:custDataLst>
              <p:tags r:id="rId9"/>
            </p:custDataLst>
          </p:nvPr>
        </p:nvGraphicFramePr>
        <p:xfrm>
          <a:off x="8361363" y="2665413"/>
          <a:ext cx="2044700" cy="2835275"/>
        </p:xfrm>
        <a:graphic>
          <a:graphicData uri="http://schemas.openxmlformats.org/drawingml/2006/chart">
            <c:chart xmlns:c="http://schemas.openxmlformats.org/drawingml/2006/chart" xmlns:r="http://schemas.openxmlformats.org/officeDocument/2006/relationships" r:id="rId31"/>
          </a:graphicData>
        </a:graphic>
      </p:graphicFrame>
      <p:sp>
        <p:nvSpPr>
          <p:cNvPr id="220" name="Text Placeholder 2">
            <a:extLst>
              <a:ext uri="{FF2B5EF4-FFF2-40B4-BE49-F238E27FC236}">
                <a16:creationId xmlns:a16="http://schemas.microsoft.com/office/drawing/2014/main" id="{47C59D8C-8F43-75F7-6A8C-236387155508}"/>
              </a:ext>
            </a:extLst>
          </p:cNvPr>
          <p:cNvSpPr>
            <a:spLocks/>
          </p:cNvSpPr>
          <p:nvPr>
            <p:custDataLst>
              <p:tags r:id="rId10"/>
            </p:custDataLst>
          </p:nvPr>
        </p:nvSpPr>
        <p:spPr bwMode="gray">
          <a:xfrm>
            <a:off x="8780464" y="5014913"/>
            <a:ext cx="263525"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400C5DF7-199F-48CF-8046-2382479D28D1}" type="datetime'''''1''''''''''''''''''''5''''''''''''''''''''''''''''''%'''''">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15%</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21" name="Text Placeholder 2">
            <a:extLst>
              <a:ext uri="{FF2B5EF4-FFF2-40B4-BE49-F238E27FC236}">
                <a16:creationId xmlns:a16="http://schemas.microsoft.com/office/drawing/2014/main" id="{3D12D2F0-2D1A-86E1-E390-FEC6B232EB88}"/>
              </a:ext>
            </a:extLst>
          </p:cNvPr>
          <p:cNvSpPr>
            <a:spLocks/>
          </p:cNvSpPr>
          <p:nvPr>
            <p:custDataLst>
              <p:tags r:id="rId11"/>
            </p:custDataLst>
          </p:nvPr>
        </p:nvSpPr>
        <p:spPr bwMode="auto">
          <a:xfrm>
            <a:off x="8769350" y="53181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r>
              <a:rPr kumimoji="0" lang="en-CA" altLang="en-US" sz="1000" b="0" i="0" u="none" strike="noStrike" kern="1200" cap="none" spc="0" normalizeH="0" baseline="0" noProof="0">
                <a:ln>
                  <a:noFill/>
                </a:ln>
                <a:solidFill>
                  <a:srgbClr val="000000"/>
                </a:solidFill>
                <a:effectLst/>
                <a:uLnTx/>
                <a:uFillTx/>
                <a:latin typeface="Scotia"/>
                <a:ea typeface="+mn-ea"/>
                <a:cs typeface="+mn-cs"/>
              </a:rPr>
              <a:t>2018</a:t>
            </a:r>
            <a:endParaRPr kumimoji="0" lang="en-CA" sz="1000" b="0" i="0" u="none" strike="noStrike" kern="1200" cap="none" spc="0" normalizeH="0" baseline="0" noProof="0">
              <a:ln>
                <a:noFill/>
              </a:ln>
              <a:solidFill>
                <a:srgbClr val="000000"/>
              </a:solidFill>
              <a:effectLst/>
              <a:uLnTx/>
              <a:uFillTx/>
              <a:latin typeface="Scotia"/>
              <a:ea typeface="+mn-ea"/>
              <a:cs typeface="+mn-cs"/>
            </a:endParaRPr>
          </a:p>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22" name="Text Placeholder 2">
            <a:extLst>
              <a:ext uri="{FF2B5EF4-FFF2-40B4-BE49-F238E27FC236}">
                <a16:creationId xmlns:a16="http://schemas.microsoft.com/office/drawing/2014/main" id="{921CD5EC-45B8-1377-FD01-5A2D6A17C20B}"/>
              </a:ext>
            </a:extLst>
          </p:cNvPr>
          <p:cNvSpPr>
            <a:spLocks/>
          </p:cNvSpPr>
          <p:nvPr>
            <p:custDataLst>
              <p:tags r:id="rId12"/>
            </p:custDataLst>
          </p:nvPr>
        </p:nvSpPr>
        <p:spPr bwMode="gray">
          <a:xfrm>
            <a:off x="9718674" y="5030788"/>
            <a:ext cx="268288"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AEC0BDD0-B89C-43F1-BD21-0E02E79EE6DD}" type="datetime'''''''''''''1''''4%'''''''''''''''''''''''''''">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14%</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23" name="Text Placeholder 2">
            <a:extLst>
              <a:ext uri="{FF2B5EF4-FFF2-40B4-BE49-F238E27FC236}">
                <a16:creationId xmlns:a16="http://schemas.microsoft.com/office/drawing/2014/main" id="{93C23195-10CA-AE5B-9DE5-E4991D3D2872}"/>
              </a:ext>
            </a:extLst>
          </p:cNvPr>
          <p:cNvSpPr>
            <a:spLocks/>
          </p:cNvSpPr>
          <p:nvPr>
            <p:custDataLst>
              <p:tags r:id="rId13"/>
            </p:custDataLst>
          </p:nvPr>
        </p:nvSpPr>
        <p:spPr bwMode="auto">
          <a:xfrm>
            <a:off x="9702800" y="5318125"/>
            <a:ext cx="2984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2A271146-EAA1-4226-9164-C0F220C28CC0}" type="datetime'''''''''''''''''''''2''''0''''''''23'''''''''''''''">
              <a:rPr kumimoji="0" lang="en-US"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2023</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24" name="Text Placeholder 2">
            <a:extLst>
              <a:ext uri="{FF2B5EF4-FFF2-40B4-BE49-F238E27FC236}">
                <a16:creationId xmlns:a16="http://schemas.microsoft.com/office/drawing/2014/main" id="{B53308A3-8090-CA74-3B82-D0C62FA65B1C}"/>
              </a:ext>
            </a:extLst>
          </p:cNvPr>
          <p:cNvSpPr>
            <a:spLocks/>
          </p:cNvSpPr>
          <p:nvPr>
            <p:custDataLst>
              <p:tags r:id="rId14"/>
            </p:custDataLst>
          </p:nvPr>
        </p:nvSpPr>
        <p:spPr bwMode="gray">
          <a:xfrm>
            <a:off x="8718550" y="2713038"/>
            <a:ext cx="3889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BE118BC9-CC42-4FB3-81DE-E43D595865FE}" type="datetime'''''''''''''''''''$''''''1''''''8''''''''''5''''''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$185B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225" name="Text Placeholder 2">
            <a:extLst>
              <a:ext uri="{FF2B5EF4-FFF2-40B4-BE49-F238E27FC236}">
                <a16:creationId xmlns:a16="http://schemas.microsoft.com/office/drawing/2014/main" id="{6D4EA91C-DDCA-70AB-9ACC-AAFDC8C3A5B5}"/>
              </a:ext>
            </a:extLst>
          </p:cNvPr>
          <p:cNvSpPr>
            <a:spLocks/>
          </p:cNvSpPr>
          <p:nvPr>
            <p:custDataLst>
              <p:tags r:id="rId15"/>
            </p:custDataLst>
          </p:nvPr>
        </p:nvSpPr>
        <p:spPr bwMode="gray">
          <a:xfrm>
            <a:off x="9647238" y="2713038"/>
            <a:ext cx="4111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666F49FB-59AE-47FD-AD5F-E2D748AF625D}" type="datetime'''''''''$''''''''3''0''''''''''''''''''''''7''''''''''''''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$307B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graphicFrame>
        <p:nvGraphicFramePr>
          <p:cNvPr id="19" name="Chart 18">
            <a:extLst>
              <a:ext uri="{FF2B5EF4-FFF2-40B4-BE49-F238E27FC236}">
                <a16:creationId xmlns:a16="http://schemas.microsoft.com/office/drawing/2014/main" id="{51BF9CCD-AC67-99A7-E346-A2B34C0EDF6E}"/>
              </a:ext>
            </a:extLst>
          </p:cNvPr>
          <p:cNvGraphicFramePr/>
          <p:nvPr>
            <p:custDataLst>
              <p:tags r:id="rId16"/>
            </p:custDataLst>
          </p:nvPr>
        </p:nvGraphicFramePr>
        <p:xfrm>
          <a:off x="828675" y="2665413"/>
          <a:ext cx="2044700" cy="2835275"/>
        </p:xfrm>
        <a:graphic>
          <a:graphicData uri="http://schemas.openxmlformats.org/drawingml/2006/chart">
            <c:chart xmlns:c="http://schemas.openxmlformats.org/drawingml/2006/chart" xmlns:r="http://schemas.openxmlformats.org/officeDocument/2006/relationships" r:id="rId32"/>
          </a:graphicData>
        </a:graphic>
      </p:graphicFrame>
      <p:sp>
        <p:nvSpPr>
          <p:cNvPr id="265" name="Text Placeholder 2">
            <a:extLst>
              <a:ext uri="{FF2B5EF4-FFF2-40B4-BE49-F238E27FC236}">
                <a16:creationId xmlns:a16="http://schemas.microsoft.com/office/drawing/2014/main" id="{328057B9-6411-1EA1-3437-C34B8DF9DABE}"/>
              </a:ext>
            </a:extLst>
          </p:cNvPr>
          <p:cNvSpPr>
            <a:spLocks/>
          </p:cNvSpPr>
          <p:nvPr>
            <p:custDataLst>
              <p:tags r:id="rId17"/>
            </p:custDataLst>
          </p:nvPr>
        </p:nvSpPr>
        <p:spPr bwMode="gray">
          <a:xfrm>
            <a:off x="1246188" y="4979988"/>
            <a:ext cx="268288"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36E572A5-E26A-4437-B9BE-0B5611EF24E6}" type="datetime'''''''''''''1''8''%'''''''''">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18%</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66" name="Text Placeholder 2">
            <a:extLst>
              <a:ext uri="{FF2B5EF4-FFF2-40B4-BE49-F238E27FC236}">
                <a16:creationId xmlns:a16="http://schemas.microsoft.com/office/drawing/2014/main" id="{8AABC68E-E3BE-0F12-E3B4-A5E21AFAEF83}"/>
              </a:ext>
            </a:extLst>
          </p:cNvPr>
          <p:cNvSpPr>
            <a:spLocks/>
          </p:cNvSpPr>
          <p:nvPr>
            <p:custDataLst>
              <p:tags r:id="rId18"/>
            </p:custDataLst>
          </p:nvPr>
        </p:nvSpPr>
        <p:spPr bwMode="auto">
          <a:xfrm>
            <a:off x="1236663" y="5318125"/>
            <a:ext cx="2873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r>
              <a:rPr kumimoji="0" lang="en-CA" altLang="en-US" sz="1000" b="0" i="0" u="none" strike="noStrike" kern="1200" cap="none" spc="0" normalizeH="0" baseline="0" noProof="0">
                <a:ln>
                  <a:noFill/>
                </a:ln>
                <a:solidFill>
                  <a:srgbClr val="000000"/>
                </a:solidFill>
                <a:effectLst/>
                <a:uLnTx/>
                <a:uFillTx/>
                <a:latin typeface="Scotia"/>
                <a:ea typeface="+mn-ea"/>
                <a:cs typeface="+mn-cs"/>
              </a:rPr>
              <a:t>2018</a:t>
            </a: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67" name="Text Placeholder 2">
            <a:extLst>
              <a:ext uri="{FF2B5EF4-FFF2-40B4-BE49-F238E27FC236}">
                <a16:creationId xmlns:a16="http://schemas.microsoft.com/office/drawing/2014/main" id="{F7DBEF8C-AD81-B7CE-E121-D0CD24F591B6}"/>
              </a:ext>
            </a:extLst>
          </p:cNvPr>
          <p:cNvSpPr>
            <a:spLocks/>
          </p:cNvSpPr>
          <p:nvPr>
            <p:custDataLst>
              <p:tags r:id="rId19"/>
            </p:custDataLst>
          </p:nvPr>
        </p:nvSpPr>
        <p:spPr bwMode="gray">
          <a:xfrm>
            <a:off x="2187576" y="5018088"/>
            <a:ext cx="263525" cy="152400"/>
          </a:xfrm>
          <a:prstGeom prst="rect">
            <a:avLst/>
          </a:prstGeom>
          <a:solidFill>
            <a:schemeClr val="bg1"/>
          </a:solidFill>
          <a:ln>
            <a:noFill/>
          </a:ln>
          <a:effectLst/>
        </p:spPr>
        <p:txBody>
          <a:bodyPr vert="horz" wrap="none" lIns="17463" tIns="0" rIns="17463" bIns="0" rtlCol="0" anchor="ctr">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17E1DC69-29F5-4A96-981C-6C5C157E557B}" type="datetime'''''''''''1''''''''''''''''''''''''''''''5''''%'''">
              <a:rPr kumimoji="0" lang="en-CA"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15%</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68" name="Text Placeholder 2">
            <a:extLst>
              <a:ext uri="{FF2B5EF4-FFF2-40B4-BE49-F238E27FC236}">
                <a16:creationId xmlns:a16="http://schemas.microsoft.com/office/drawing/2014/main" id="{C03B05D9-E913-8FC8-BFE3-D4DCC5648A3B}"/>
              </a:ext>
            </a:extLst>
          </p:cNvPr>
          <p:cNvSpPr>
            <a:spLocks/>
          </p:cNvSpPr>
          <p:nvPr>
            <p:custDataLst>
              <p:tags r:id="rId20"/>
            </p:custDataLst>
          </p:nvPr>
        </p:nvSpPr>
        <p:spPr bwMode="auto">
          <a:xfrm>
            <a:off x="2170113" y="5318125"/>
            <a:ext cx="2984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182C50C1-5980-458A-9D58-A1AE88D4A36B}" type="datetime'''2''''''''''''0''''''''''2''''''''''''''3'''''''''''''">
              <a:rPr kumimoji="0" lang="en-US" altLang="en-US" sz="1000" b="0"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2023</a:t>
            </a:fld>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69" name="Text Placeholder 2">
            <a:extLst>
              <a:ext uri="{FF2B5EF4-FFF2-40B4-BE49-F238E27FC236}">
                <a16:creationId xmlns:a16="http://schemas.microsoft.com/office/drawing/2014/main" id="{215DF843-8F96-D572-0B4F-46965FC3AD09}"/>
              </a:ext>
            </a:extLst>
          </p:cNvPr>
          <p:cNvSpPr>
            <a:spLocks/>
          </p:cNvSpPr>
          <p:nvPr>
            <p:custDataLst>
              <p:tags r:id="rId21"/>
            </p:custDataLst>
          </p:nvPr>
        </p:nvSpPr>
        <p:spPr bwMode="gray">
          <a:xfrm>
            <a:off x="1185863" y="2713038"/>
            <a:ext cx="3873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DDB845B7-9C07-4E1F-8656-99A94A6EDF20}" type="datetime'''''$''''''''''1''''''0''''''''''1''''''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$101B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270" name="Text Placeholder 2">
            <a:extLst>
              <a:ext uri="{FF2B5EF4-FFF2-40B4-BE49-F238E27FC236}">
                <a16:creationId xmlns:a16="http://schemas.microsoft.com/office/drawing/2014/main" id="{740F72B1-CCB0-0F9D-7522-B7A70D295921}"/>
              </a:ext>
            </a:extLst>
          </p:cNvPr>
          <p:cNvSpPr>
            <a:spLocks/>
          </p:cNvSpPr>
          <p:nvPr>
            <p:custDataLst>
              <p:tags r:id="rId22"/>
            </p:custDataLst>
          </p:nvPr>
        </p:nvSpPr>
        <p:spPr bwMode="gray">
          <a:xfrm>
            <a:off x="2127251" y="2713038"/>
            <a:ext cx="3857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75" indent="-447675"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fld id="{00F6D3AE-889A-43FE-909A-21096D11A40E}" type="datetime'''''''''''$1''2''''''''''5''''''''''''''''''''B'''''''''">
              <a:rPr kumimoji="0" lang="en-US" altLang="en-US" sz="1000" b="1" i="0" u="none" strike="noStrike" kern="1200" cap="none" spc="0" normalizeH="0" baseline="0" noProof="0" smtClean="0">
                <a:ln>
                  <a:noFill/>
                </a:ln>
                <a:solidFill>
                  <a:srgbClr val="000000"/>
                </a:solidFill>
                <a:effectLst/>
                <a:uLnTx/>
                <a:uFillTx/>
                <a:latin typeface="Scotia"/>
                <a:ea typeface="+mn-ea"/>
                <a:cs typeface="+mn-cs"/>
              </a:rPr>
              <a:pPr marL="0" marR="0" lvl="0" indent="0" algn="ctr" defTabSz="914400" rtl="0" eaLnBrk="1" fontAlgn="auto" latinLnBrk="0" hangingPunct="1">
                <a:lnSpc>
                  <a:spcPct val="100000"/>
                </a:lnSpc>
                <a:spcBef>
                  <a:spcPct val="0"/>
                </a:spcBef>
                <a:spcAft>
                  <a:spcPct val="0"/>
                </a:spcAft>
                <a:buClr>
                  <a:srgbClr val="000000"/>
                </a:buClr>
                <a:buSzTx/>
                <a:buFont typeface="Arial" panose="020B0604020202020204" pitchFamily="34" charset="0"/>
                <a:buNone/>
                <a:tabLst/>
                <a:defRPr/>
              </a:pPr>
              <a:t>$125B</a:t>
            </a:fld>
            <a:endParaRPr kumimoji="0" lang="en-US" sz="1000" b="1" i="0" u="none" strike="noStrike" kern="1200" cap="none" spc="0" normalizeH="0" baseline="0" noProof="0">
              <a:ln>
                <a:noFill/>
              </a:ln>
              <a:solidFill>
                <a:srgbClr val="000000"/>
              </a:solidFill>
              <a:effectLst/>
              <a:uLnTx/>
              <a:uFillTx/>
              <a:latin typeface="Scotia"/>
              <a:ea typeface="+mn-ea"/>
              <a:cs typeface="+mn-cs"/>
            </a:endParaRPr>
          </a:p>
        </p:txBody>
      </p:sp>
      <p:sp>
        <p:nvSpPr>
          <p:cNvPr id="306" name="Rectangle 305">
            <a:extLst>
              <a:ext uri="{FF2B5EF4-FFF2-40B4-BE49-F238E27FC236}">
                <a16:creationId xmlns:a16="http://schemas.microsoft.com/office/drawing/2014/main" id="{1196CF47-AF75-0EF3-6174-309C31A820FC}"/>
              </a:ext>
            </a:extLst>
          </p:cNvPr>
          <p:cNvSpPr/>
          <p:nvPr/>
        </p:nvSpPr>
        <p:spPr>
          <a:xfrm>
            <a:off x="530224" y="5616578"/>
            <a:ext cx="7347776" cy="460371"/>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Although market share has remained the same, Scotiabank </a:t>
            </a:r>
            <a:r>
              <a:rPr kumimoji="0" lang="en-US" sz="1100" b="1" i="0" u="none" strike="noStrike" kern="1200" cap="none" spc="0" normalizeH="0" baseline="0" noProof="0">
                <a:ln>
                  <a:noFill/>
                </a:ln>
                <a:solidFill>
                  <a:srgbClr val="000000"/>
                </a:solidFill>
                <a:effectLst/>
                <a:uLnTx/>
                <a:uFillTx/>
                <a:latin typeface="Scotia"/>
                <a:ea typeface="+mn-ea"/>
                <a:cs typeface="+mn-cs"/>
              </a:rPr>
              <a:t>improved its rank </a:t>
            </a:r>
            <a:r>
              <a:rPr kumimoji="0" lang="en-US" sz="1100" b="0" i="0" u="none" strike="noStrike" kern="1200" cap="none" spc="0" normalizeH="0" baseline="0" noProof="0">
                <a:ln>
                  <a:noFill/>
                </a:ln>
                <a:solidFill>
                  <a:srgbClr val="000000"/>
                </a:solidFill>
                <a:effectLst/>
                <a:uLnTx/>
                <a:uFillTx/>
                <a:latin typeface="Scotia"/>
                <a:ea typeface="+mn-ea"/>
                <a:cs typeface="+mn-cs"/>
              </a:rPr>
              <a:t>from 7</a:t>
            </a:r>
            <a:r>
              <a:rPr kumimoji="0" lang="en-US" sz="1100" b="0" i="0" u="none" strike="noStrike" kern="1200" cap="none" spc="0" normalizeH="0" baseline="30000" noProof="0">
                <a:ln>
                  <a:noFill/>
                </a:ln>
                <a:solidFill>
                  <a:srgbClr val="000000"/>
                </a:solidFill>
                <a:effectLst/>
                <a:uLnTx/>
                <a:uFillTx/>
                <a:latin typeface="Scotia"/>
                <a:ea typeface="+mn-ea"/>
                <a:cs typeface="+mn-cs"/>
              </a:rPr>
              <a:t>th</a:t>
            </a:r>
            <a:r>
              <a:rPr kumimoji="0" lang="en-US" sz="1100" b="0" i="0" u="none" strike="noStrike" kern="1200" cap="none" spc="0" normalizeH="0" baseline="0" noProof="0">
                <a:ln>
                  <a:noFill/>
                </a:ln>
                <a:solidFill>
                  <a:srgbClr val="000000"/>
                </a:solidFill>
                <a:effectLst/>
                <a:uLnTx/>
                <a:uFillTx/>
                <a:latin typeface="Scotia"/>
                <a:ea typeface="+mn-ea"/>
                <a:cs typeface="+mn-cs"/>
              </a:rPr>
              <a:t> in 2018 to 6</a:t>
            </a:r>
            <a:r>
              <a:rPr kumimoji="0" lang="en-US" sz="1100" b="0" i="0" u="none" strike="noStrike" kern="1200" cap="none" spc="0" normalizeH="0" baseline="30000" noProof="0">
                <a:ln>
                  <a:noFill/>
                </a:ln>
                <a:solidFill>
                  <a:srgbClr val="000000"/>
                </a:solidFill>
                <a:effectLst/>
                <a:uLnTx/>
                <a:uFillTx/>
                <a:latin typeface="Scotia"/>
                <a:ea typeface="+mn-ea"/>
                <a:cs typeface="+mn-cs"/>
              </a:rPr>
              <a:t>th</a:t>
            </a:r>
            <a:r>
              <a:rPr kumimoji="0" lang="en-US" sz="1100" b="0" i="0" u="none" strike="noStrike" kern="1200" cap="none" spc="0" normalizeH="0" baseline="0" noProof="0">
                <a:ln>
                  <a:noFill/>
                </a:ln>
                <a:solidFill>
                  <a:srgbClr val="000000"/>
                </a:solidFill>
                <a:effectLst/>
                <a:uLnTx/>
                <a:uFillTx/>
                <a:latin typeface="Scotia"/>
                <a:ea typeface="+mn-ea"/>
                <a:cs typeface="+mn-cs"/>
              </a:rPr>
              <a:t> in the $1-5MM </a:t>
            </a:r>
            <a:r>
              <a:rPr lang="en-US" sz="1100">
                <a:solidFill>
                  <a:srgbClr val="000000"/>
                </a:solidFill>
                <a:latin typeface="Scotia"/>
              </a:rPr>
              <a:t>asset</a:t>
            </a:r>
            <a:r>
              <a:rPr kumimoji="0" lang="en-US" sz="1100" b="0" i="0" u="none" strike="noStrike" kern="1200" cap="none" spc="0" normalizeH="0" baseline="0" noProof="0">
                <a:ln>
                  <a:noFill/>
                </a:ln>
                <a:solidFill>
                  <a:srgbClr val="000000"/>
                </a:solidFill>
                <a:effectLst/>
                <a:uLnTx/>
                <a:uFillTx/>
                <a:latin typeface="Scotia"/>
                <a:ea typeface="+mn-ea"/>
                <a:cs typeface="+mn-cs"/>
              </a:rPr>
              <a:t> band; market share improved by 1% in the $5-25MM band over a 5Y period </a:t>
            </a:r>
          </a:p>
        </p:txBody>
      </p:sp>
      <p:sp>
        <p:nvSpPr>
          <p:cNvPr id="307" name="Rectangle 306">
            <a:extLst>
              <a:ext uri="{FF2B5EF4-FFF2-40B4-BE49-F238E27FC236}">
                <a16:creationId xmlns:a16="http://schemas.microsoft.com/office/drawing/2014/main" id="{6283D30F-68E5-B72F-00CE-5345742BC652}"/>
              </a:ext>
            </a:extLst>
          </p:cNvPr>
          <p:cNvSpPr/>
          <p:nvPr/>
        </p:nvSpPr>
        <p:spPr>
          <a:xfrm>
            <a:off x="8097774" y="5616578"/>
            <a:ext cx="3564001" cy="460371"/>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Scotiabank's </a:t>
            </a:r>
            <a:r>
              <a:rPr kumimoji="0" lang="en-US" sz="1100" b="1" i="0" u="none" strike="noStrike" kern="1200" cap="none" spc="0" normalizeH="0" baseline="0" noProof="0">
                <a:ln>
                  <a:noFill/>
                </a:ln>
                <a:solidFill>
                  <a:srgbClr val="000000"/>
                </a:solidFill>
                <a:effectLst/>
                <a:uLnTx/>
                <a:uFillTx/>
                <a:latin typeface="Scotia"/>
                <a:ea typeface="+mn-ea"/>
                <a:cs typeface="+mn-cs"/>
              </a:rPr>
              <a:t>market share and rank has improved 3% </a:t>
            </a:r>
            <a:r>
              <a:rPr kumimoji="0" lang="en-US" sz="1100" b="0" i="0" u="none" strike="noStrike" kern="1200" cap="none" spc="0" normalizeH="0" baseline="0" noProof="0">
                <a:ln>
                  <a:noFill/>
                </a:ln>
                <a:solidFill>
                  <a:srgbClr val="000000"/>
                </a:solidFill>
                <a:effectLst/>
                <a:uLnTx/>
                <a:uFillTx/>
                <a:latin typeface="Scotia"/>
                <a:ea typeface="+mn-ea"/>
                <a:cs typeface="+mn-cs"/>
              </a:rPr>
              <a:t>in the $25-100MM band since 2018</a:t>
            </a:r>
          </a:p>
        </p:txBody>
      </p:sp>
      <p:cxnSp>
        <p:nvCxnSpPr>
          <p:cNvPr id="452" name="Straight Connector 451">
            <a:extLst>
              <a:ext uri="{FF2B5EF4-FFF2-40B4-BE49-F238E27FC236}">
                <a16:creationId xmlns:a16="http://schemas.microsoft.com/office/drawing/2014/main" id="{A09FD906-F19C-45B9-1A82-EA5711878874}"/>
              </a:ext>
            </a:extLst>
          </p:cNvPr>
          <p:cNvCxnSpPr>
            <a:cxnSpLocks/>
          </p:cNvCxnSpPr>
          <p:nvPr/>
        </p:nvCxnSpPr>
        <p:spPr>
          <a:xfrm>
            <a:off x="6899275" y="3343267"/>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75FA2B70-676F-0CC8-5E4C-F4B6E27C339E}"/>
              </a:ext>
            </a:extLst>
          </p:cNvPr>
          <p:cNvCxnSpPr>
            <a:cxnSpLocks/>
          </p:cNvCxnSpPr>
          <p:nvPr/>
        </p:nvCxnSpPr>
        <p:spPr>
          <a:xfrm>
            <a:off x="6899275" y="3734982"/>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752A4F3B-6720-2598-B9E2-7CCDE52D8985}"/>
              </a:ext>
            </a:extLst>
          </p:cNvPr>
          <p:cNvCxnSpPr>
            <a:cxnSpLocks/>
          </p:cNvCxnSpPr>
          <p:nvPr/>
        </p:nvCxnSpPr>
        <p:spPr>
          <a:xfrm>
            <a:off x="6899275" y="4126697"/>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A55F4109-8127-B659-5615-E2A7349E8CEA}"/>
              </a:ext>
            </a:extLst>
          </p:cNvPr>
          <p:cNvCxnSpPr>
            <a:cxnSpLocks/>
          </p:cNvCxnSpPr>
          <p:nvPr/>
        </p:nvCxnSpPr>
        <p:spPr>
          <a:xfrm>
            <a:off x="6899275" y="4518412"/>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8" name="Oval 457">
            <a:extLst>
              <a:ext uri="{FF2B5EF4-FFF2-40B4-BE49-F238E27FC236}">
                <a16:creationId xmlns:a16="http://schemas.microsoft.com/office/drawing/2014/main" id="{BC7EDD78-2DF1-031C-F757-0F1431811DDE}"/>
              </a:ext>
            </a:extLst>
          </p:cNvPr>
          <p:cNvSpPr/>
          <p:nvPr/>
        </p:nvSpPr>
        <p:spPr>
          <a:xfrm>
            <a:off x="7343775" y="3016250"/>
            <a:ext cx="246063" cy="246063"/>
          </a:xfrm>
          <a:prstGeom prst="ellipse">
            <a:avLst/>
          </a:prstGeom>
          <a:blipFill dpi="0" rotWithShape="1">
            <a:blip r:embed="rId29">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61" name="Rectangle 460">
            <a:extLst>
              <a:ext uri="{FF2B5EF4-FFF2-40B4-BE49-F238E27FC236}">
                <a16:creationId xmlns:a16="http://schemas.microsoft.com/office/drawing/2014/main" id="{A213A32F-4200-3739-73BE-14BDC5170B90}"/>
              </a:ext>
            </a:extLst>
          </p:cNvPr>
          <p:cNvSpPr/>
          <p:nvPr/>
        </p:nvSpPr>
        <p:spPr>
          <a:xfrm>
            <a:off x="6956425" y="3056128"/>
            <a:ext cx="268288" cy="182563"/>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1</a:t>
            </a:r>
            <a:r>
              <a:rPr kumimoji="0" lang="en-CA" sz="1100" b="0" i="0" u="none" strike="noStrike" kern="1200" cap="none" spc="0" normalizeH="0" baseline="30000" noProof="0">
                <a:ln>
                  <a:noFill/>
                </a:ln>
                <a:solidFill>
                  <a:srgbClr val="000000"/>
                </a:solidFill>
                <a:effectLst/>
                <a:uLnTx/>
                <a:uFillTx/>
                <a:latin typeface="Scotia"/>
                <a:ea typeface="+mn-ea"/>
                <a:cs typeface="+mn-cs"/>
              </a:rPr>
              <a:t>st</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62" name="Rectangle 461">
            <a:extLst>
              <a:ext uri="{FF2B5EF4-FFF2-40B4-BE49-F238E27FC236}">
                <a16:creationId xmlns:a16="http://schemas.microsoft.com/office/drawing/2014/main" id="{C8B27C89-CA09-CEF2-912A-8D738ACF412B}"/>
              </a:ext>
            </a:extLst>
          </p:cNvPr>
          <p:cNvSpPr/>
          <p:nvPr/>
        </p:nvSpPr>
        <p:spPr>
          <a:xfrm>
            <a:off x="6956425" y="3447843"/>
            <a:ext cx="268288" cy="182563"/>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2</a:t>
            </a:r>
            <a:r>
              <a:rPr kumimoji="0" lang="en-CA" sz="1100" b="0" i="0" u="none" strike="noStrike" kern="1200" cap="none" spc="0" normalizeH="0" baseline="30000" noProof="0">
                <a:ln>
                  <a:noFill/>
                </a:ln>
                <a:solidFill>
                  <a:srgbClr val="000000"/>
                </a:solidFill>
                <a:effectLst/>
                <a:uLnTx/>
                <a:uFillTx/>
                <a:latin typeface="Scotia"/>
                <a:ea typeface="+mn-ea"/>
                <a:cs typeface="+mn-cs"/>
              </a:rPr>
              <a:t>nd</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63" name="Rectangle 462">
            <a:extLst>
              <a:ext uri="{FF2B5EF4-FFF2-40B4-BE49-F238E27FC236}">
                <a16:creationId xmlns:a16="http://schemas.microsoft.com/office/drawing/2014/main" id="{65561882-A3A7-F9E2-CBF0-FFEA42F47CB8}"/>
              </a:ext>
            </a:extLst>
          </p:cNvPr>
          <p:cNvSpPr/>
          <p:nvPr/>
        </p:nvSpPr>
        <p:spPr>
          <a:xfrm>
            <a:off x="6956425" y="3839558"/>
            <a:ext cx="268288" cy="1825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3</a:t>
            </a:r>
            <a:r>
              <a:rPr kumimoji="0" lang="en-CA" sz="1100" b="0" i="0" u="none" strike="noStrike" kern="1200" cap="none" spc="0" normalizeH="0" baseline="30000" noProof="0">
                <a:ln>
                  <a:noFill/>
                </a:ln>
                <a:solidFill>
                  <a:srgbClr val="000000"/>
                </a:solidFill>
                <a:effectLst/>
                <a:uLnTx/>
                <a:uFillTx/>
                <a:latin typeface="Scotia"/>
                <a:ea typeface="+mn-ea"/>
                <a:cs typeface="+mn-cs"/>
              </a:rPr>
              <a:t>rd</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66" name="TextBox 465">
            <a:extLst>
              <a:ext uri="{FF2B5EF4-FFF2-40B4-BE49-F238E27FC236}">
                <a16:creationId xmlns:a16="http://schemas.microsoft.com/office/drawing/2014/main" id="{9E738BCF-F67F-0B21-F445-ED6D2043D98E}"/>
              </a:ext>
            </a:extLst>
          </p:cNvPr>
          <p:cNvSpPr txBox="1"/>
          <p:nvPr/>
        </p:nvSpPr>
        <p:spPr>
          <a:xfrm>
            <a:off x="7092950" y="2743390"/>
            <a:ext cx="423863" cy="246063"/>
          </a:xfrm>
          <a:prstGeom prst="rect">
            <a:avLst/>
          </a:prstGeom>
          <a:solidFill>
            <a:schemeClr val="bg1"/>
          </a:solidFill>
        </p:spPr>
        <p:txBody>
          <a:bodyPr wrap="square" lIns="36000" rIns="36000" rtlCol="0">
            <a:spAutoFit/>
          </a:bodyP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2023</a:t>
            </a:r>
          </a:p>
        </p:txBody>
      </p:sp>
      <p:sp>
        <p:nvSpPr>
          <p:cNvPr id="467" name="Oval 466">
            <a:extLst>
              <a:ext uri="{FF2B5EF4-FFF2-40B4-BE49-F238E27FC236}">
                <a16:creationId xmlns:a16="http://schemas.microsoft.com/office/drawing/2014/main" id="{BD37AA9F-BEA5-3FFE-9A1B-FE09EA919D70}"/>
              </a:ext>
            </a:extLst>
          </p:cNvPr>
          <p:cNvSpPr/>
          <p:nvPr/>
        </p:nvSpPr>
        <p:spPr>
          <a:xfrm>
            <a:off x="7343775" y="3822890"/>
            <a:ext cx="244475" cy="246063"/>
          </a:xfrm>
          <a:prstGeom prst="ellipse">
            <a:avLst/>
          </a:prstGeom>
          <a:blipFill dpi="0" rotWithShape="1">
            <a:blip r:embed="rId27">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68" name="Oval 467">
            <a:extLst>
              <a:ext uri="{FF2B5EF4-FFF2-40B4-BE49-F238E27FC236}">
                <a16:creationId xmlns:a16="http://schemas.microsoft.com/office/drawing/2014/main" id="{A673AAC0-AD0F-2797-001D-617B45BB8194}"/>
              </a:ext>
            </a:extLst>
          </p:cNvPr>
          <p:cNvSpPr/>
          <p:nvPr/>
        </p:nvSpPr>
        <p:spPr>
          <a:xfrm>
            <a:off x="7343775" y="3432366"/>
            <a:ext cx="244475" cy="250825"/>
          </a:xfrm>
          <a:prstGeom prst="ellipse">
            <a:avLst/>
          </a:prstGeom>
          <a:blipFill dpi="0" rotWithShape="1">
            <a:blip r:embed="rId28">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76" name="Oval 475">
            <a:extLst>
              <a:ext uri="{FF2B5EF4-FFF2-40B4-BE49-F238E27FC236}">
                <a16:creationId xmlns:a16="http://schemas.microsoft.com/office/drawing/2014/main" id="{EC648017-82DF-55D0-81EC-5404CED95171}"/>
              </a:ext>
            </a:extLst>
          </p:cNvPr>
          <p:cNvSpPr/>
          <p:nvPr/>
        </p:nvSpPr>
        <p:spPr>
          <a:xfrm>
            <a:off x="7342346" y="4189032"/>
            <a:ext cx="245904" cy="247650"/>
          </a:xfrm>
          <a:prstGeom prst="ellipse">
            <a:avLst/>
          </a:prstGeom>
          <a:blipFill dpi="0" rotWithShape="1">
            <a:blip r:embed="rId2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77" name="Rectangle 476">
            <a:extLst>
              <a:ext uri="{FF2B5EF4-FFF2-40B4-BE49-F238E27FC236}">
                <a16:creationId xmlns:a16="http://schemas.microsoft.com/office/drawing/2014/main" id="{DA4B3F40-5984-F41F-4EB3-C23C1D705F8B}"/>
              </a:ext>
            </a:extLst>
          </p:cNvPr>
          <p:cNvSpPr/>
          <p:nvPr/>
        </p:nvSpPr>
        <p:spPr>
          <a:xfrm>
            <a:off x="6956202" y="4232466"/>
            <a:ext cx="268511" cy="182563"/>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FFFFFF"/>
                </a:solidFill>
                <a:effectLst/>
                <a:uLnTx/>
                <a:uFillTx/>
                <a:latin typeface="Scotia"/>
                <a:ea typeface="+mn-ea"/>
                <a:cs typeface="+mn-cs"/>
              </a:rPr>
              <a:t>4</a:t>
            </a:r>
            <a:r>
              <a:rPr kumimoji="0" lang="en-CA" sz="1100" b="1" i="0" u="none" strike="noStrike" kern="1200" cap="none" spc="0" normalizeH="0" baseline="30000" noProof="0">
                <a:ln>
                  <a:noFill/>
                </a:ln>
                <a:solidFill>
                  <a:srgbClr val="FFFFFF"/>
                </a:solidFill>
                <a:effectLst/>
                <a:uLnTx/>
                <a:uFillTx/>
                <a:latin typeface="Scotia"/>
                <a:ea typeface="+mn-ea"/>
                <a:cs typeface="+mn-cs"/>
              </a:rPr>
              <a:t>th</a:t>
            </a:r>
            <a:endParaRPr kumimoji="0" lang="en-CA" sz="1100" b="1" i="0" u="none" strike="noStrike" kern="1200" cap="none" spc="0" normalizeH="0" baseline="0" noProof="0">
              <a:ln>
                <a:noFill/>
              </a:ln>
              <a:solidFill>
                <a:srgbClr val="FFFFFF"/>
              </a:solidFill>
              <a:effectLst/>
              <a:uLnTx/>
              <a:uFillTx/>
              <a:latin typeface="Scotia"/>
              <a:ea typeface="+mn-ea"/>
              <a:cs typeface="+mn-cs"/>
            </a:endParaRPr>
          </a:p>
        </p:txBody>
      </p:sp>
      <p:sp>
        <p:nvSpPr>
          <p:cNvPr id="478" name="Rectangle 477">
            <a:extLst>
              <a:ext uri="{FF2B5EF4-FFF2-40B4-BE49-F238E27FC236}">
                <a16:creationId xmlns:a16="http://schemas.microsoft.com/office/drawing/2014/main" id="{31CC05FD-C4F0-C6D1-C53B-4FF09C3CD83B}"/>
              </a:ext>
            </a:extLst>
          </p:cNvPr>
          <p:cNvSpPr/>
          <p:nvPr/>
        </p:nvSpPr>
        <p:spPr>
          <a:xfrm>
            <a:off x="6956202" y="4622991"/>
            <a:ext cx="268511" cy="18415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5</a:t>
            </a:r>
            <a:r>
              <a:rPr kumimoji="0" lang="en-CA" sz="1100" b="0" i="0" u="none" strike="noStrike" kern="1200" cap="none" spc="0" normalizeH="0" baseline="30000" noProof="0">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grpSp>
        <p:nvGrpSpPr>
          <p:cNvPr id="479" name="Group 478">
            <a:extLst>
              <a:ext uri="{FF2B5EF4-FFF2-40B4-BE49-F238E27FC236}">
                <a16:creationId xmlns:a16="http://schemas.microsoft.com/office/drawing/2014/main" id="{4A84F207-CAF8-B15E-6C0D-DF2A55DB9B28}"/>
              </a:ext>
            </a:extLst>
          </p:cNvPr>
          <p:cNvGrpSpPr/>
          <p:nvPr/>
        </p:nvGrpSpPr>
        <p:grpSpPr>
          <a:xfrm>
            <a:off x="7341278" y="4591241"/>
            <a:ext cx="246972" cy="247650"/>
            <a:chOff x="3495904" y="4475163"/>
            <a:chExt cx="246972" cy="247650"/>
          </a:xfrm>
        </p:grpSpPr>
        <p:sp>
          <p:nvSpPr>
            <p:cNvPr id="480" name="Oval 479">
              <a:extLst>
                <a:ext uri="{FF2B5EF4-FFF2-40B4-BE49-F238E27FC236}">
                  <a16:creationId xmlns:a16="http://schemas.microsoft.com/office/drawing/2014/main" id="{03C8ECAE-A3F0-6062-D273-980E8C7425A5}"/>
                </a:ext>
              </a:extLst>
            </p:cNvPr>
            <p:cNvSpPr/>
            <p:nvPr/>
          </p:nvSpPr>
          <p:spPr>
            <a:xfrm>
              <a:off x="3495904" y="4475163"/>
              <a:ext cx="246972" cy="247650"/>
            </a:xfrm>
            <a:prstGeom prst="ellipse">
              <a:avLst/>
            </a:prstGeom>
            <a:solidFill>
              <a:srgbClr val="C019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481" name="Graphic 480">
              <a:extLst>
                <a:ext uri="{FF2B5EF4-FFF2-40B4-BE49-F238E27FC236}">
                  <a16:creationId xmlns:a16="http://schemas.microsoft.com/office/drawing/2014/main" id="{044C2001-6015-BE4C-329F-716EB4EF93F4}"/>
                </a:ext>
              </a:extLst>
            </p:cNvPr>
            <p:cNvPicPr>
              <a:picLocks noChangeAspect="1"/>
            </p:cNvPicPr>
            <p:nvPr/>
          </p:nvPicPr>
          <p:blipFill rotWithShape="1">
            <a:blip>
              <a:extLst>
                <a:ext uri="{96DAC541-7B7A-43D3-8B79-37D633B846F1}">
                  <asvg:svgBlip xmlns:asvg="http://schemas.microsoft.com/office/drawing/2016/SVG/main" r:embed="rId33"/>
                </a:ext>
              </a:extLst>
            </a:blip>
            <a:srcRect l="68303"/>
            <a:stretch/>
          </p:blipFill>
          <p:spPr>
            <a:xfrm>
              <a:off x="3534053" y="4530725"/>
              <a:ext cx="170675" cy="136525"/>
            </a:xfrm>
            <a:prstGeom prst="rect">
              <a:avLst/>
            </a:prstGeom>
          </p:spPr>
        </p:pic>
      </p:grpSp>
      <p:cxnSp>
        <p:nvCxnSpPr>
          <p:cNvPr id="482" name="Straight Connector 481">
            <a:extLst>
              <a:ext uri="{FF2B5EF4-FFF2-40B4-BE49-F238E27FC236}">
                <a16:creationId xmlns:a16="http://schemas.microsoft.com/office/drawing/2014/main" id="{0ADD8C03-7849-EFAD-C408-61E0DC1BCF3D}"/>
              </a:ext>
            </a:extLst>
          </p:cNvPr>
          <p:cNvCxnSpPr>
            <a:cxnSpLocks/>
          </p:cNvCxnSpPr>
          <p:nvPr/>
        </p:nvCxnSpPr>
        <p:spPr>
          <a:xfrm>
            <a:off x="10636441" y="3343267"/>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C83F49D2-5717-D415-5261-010CC0F1AABF}"/>
              </a:ext>
            </a:extLst>
          </p:cNvPr>
          <p:cNvCxnSpPr>
            <a:cxnSpLocks/>
          </p:cNvCxnSpPr>
          <p:nvPr/>
        </p:nvCxnSpPr>
        <p:spPr>
          <a:xfrm>
            <a:off x="10636441" y="3734982"/>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C51B2069-729C-0242-FBC1-15607075932D}"/>
              </a:ext>
            </a:extLst>
          </p:cNvPr>
          <p:cNvCxnSpPr>
            <a:cxnSpLocks/>
          </p:cNvCxnSpPr>
          <p:nvPr/>
        </p:nvCxnSpPr>
        <p:spPr>
          <a:xfrm>
            <a:off x="10636441" y="4126697"/>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1C561683-6441-F29A-673D-DCDA3549BC3E}"/>
              </a:ext>
            </a:extLst>
          </p:cNvPr>
          <p:cNvCxnSpPr>
            <a:cxnSpLocks/>
          </p:cNvCxnSpPr>
          <p:nvPr/>
        </p:nvCxnSpPr>
        <p:spPr>
          <a:xfrm>
            <a:off x="10636441" y="4518412"/>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486" name="Graphic 485">
            <a:extLst>
              <a:ext uri="{FF2B5EF4-FFF2-40B4-BE49-F238E27FC236}">
                <a16:creationId xmlns:a16="http://schemas.microsoft.com/office/drawing/2014/main" id="{C6126CE7-6A7F-48B4-847C-60695ED4AC4B}"/>
              </a:ext>
            </a:extLst>
          </p:cNvPr>
          <p:cNvPicPr>
            <a:picLocks noChangeAspect="1"/>
          </p:cNvPicPr>
          <p:nvPr/>
        </p:nvPicPr>
        <p:blipFill rotWithShape="1">
          <a:blip>
            <a:extLst>
              <a:ext uri="{96DAC541-7B7A-43D3-8B79-37D633B846F1}">
                <asvg:svgBlip xmlns:asvg="http://schemas.microsoft.com/office/drawing/2016/SVG/main" r:embed="rId33"/>
              </a:ext>
            </a:extLst>
          </a:blip>
          <a:srcRect l="68303"/>
          <a:stretch/>
        </p:blipFill>
        <p:spPr>
          <a:xfrm>
            <a:off x="11094525" y="4681727"/>
            <a:ext cx="171144" cy="136525"/>
          </a:xfrm>
          <a:prstGeom prst="rect">
            <a:avLst/>
          </a:prstGeom>
        </p:spPr>
      </p:pic>
      <p:sp>
        <p:nvSpPr>
          <p:cNvPr id="487" name="Oval 486">
            <a:extLst>
              <a:ext uri="{FF2B5EF4-FFF2-40B4-BE49-F238E27FC236}">
                <a16:creationId xmlns:a16="http://schemas.microsoft.com/office/drawing/2014/main" id="{10751C7A-B30E-0687-0A08-CAFD8F402980}"/>
              </a:ext>
            </a:extLst>
          </p:cNvPr>
          <p:cNvSpPr/>
          <p:nvPr/>
        </p:nvSpPr>
        <p:spPr>
          <a:xfrm>
            <a:off x="11056272" y="3432366"/>
            <a:ext cx="246063" cy="247650"/>
          </a:xfrm>
          <a:prstGeom prst="ellipse">
            <a:avLst/>
          </a:prstGeom>
          <a:blipFill dpi="0" rotWithShape="1">
            <a:blip r:embed="rId2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88" name="TextBox 487">
            <a:extLst>
              <a:ext uri="{FF2B5EF4-FFF2-40B4-BE49-F238E27FC236}">
                <a16:creationId xmlns:a16="http://schemas.microsoft.com/office/drawing/2014/main" id="{11B7BD0E-7B15-55DB-DDF5-077F4DB3AA1D}"/>
              </a:ext>
            </a:extLst>
          </p:cNvPr>
          <p:cNvSpPr txBox="1"/>
          <p:nvPr/>
        </p:nvSpPr>
        <p:spPr>
          <a:xfrm>
            <a:off x="10803131" y="2756090"/>
            <a:ext cx="423863" cy="246063"/>
          </a:xfrm>
          <a:prstGeom prst="rect">
            <a:avLst/>
          </a:prstGeom>
          <a:solidFill>
            <a:schemeClr val="bg1"/>
          </a:solidFill>
        </p:spPr>
        <p:txBody>
          <a:bodyPr wrap="square" lIns="36000" rIns="36000" rtlCol="0">
            <a:spAutoFit/>
          </a:bodyP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2023</a:t>
            </a:r>
          </a:p>
        </p:txBody>
      </p:sp>
      <p:sp>
        <p:nvSpPr>
          <p:cNvPr id="489" name="Rectangle 488">
            <a:extLst>
              <a:ext uri="{FF2B5EF4-FFF2-40B4-BE49-F238E27FC236}">
                <a16:creationId xmlns:a16="http://schemas.microsoft.com/office/drawing/2014/main" id="{F670190F-6197-60BE-0C5A-8AC26A8CB060}"/>
              </a:ext>
            </a:extLst>
          </p:cNvPr>
          <p:cNvSpPr/>
          <p:nvPr/>
        </p:nvSpPr>
        <p:spPr>
          <a:xfrm>
            <a:off x="10695180" y="3056128"/>
            <a:ext cx="268288" cy="182563"/>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1</a:t>
            </a:r>
            <a:r>
              <a:rPr kumimoji="0" lang="en-CA" sz="1100" b="0" i="0" u="none" strike="noStrike" kern="1200" cap="none" spc="0" normalizeH="0" baseline="30000" noProof="0">
                <a:ln>
                  <a:noFill/>
                </a:ln>
                <a:solidFill>
                  <a:srgbClr val="000000"/>
                </a:solidFill>
                <a:effectLst/>
                <a:uLnTx/>
                <a:uFillTx/>
                <a:latin typeface="Scotia"/>
                <a:ea typeface="+mn-ea"/>
                <a:cs typeface="+mn-cs"/>
              </a:rPr>
              <a:t>st</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90" name="Rectangle 489">
            <a:extLst>
              <a:ext uri="{FF2B5EF4-FFF2-40B4-BE49-F238E27FC236}">
                <a16:creationId xmlns:a16="http://schemas.microsoft.com/office/drawing/2014/main" id="{FCFCF696-4C4C-BA16-D4EC-46C8CCB1BC02}"/>
              </a:ext>
            </a:extLst>
          </p:cNvPr>
          <p:cNvSpPr/>
          <p:nvPr/>
        </p:nvSpPr>
        <p:spPr>
          <a:xfrm>
            <a:off x="10695180" y="3447843"/>
            <a:ext cx="268288" cy="182563"/>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FFFFFF"/>
                </a:solidFill>
                <a:effectLst/>
                <a:uLnTx/>
                <a:uFillTx/>
                <a:latin typeface="Scotia"/>
                <a:ea typeface="+mn-ea"/>
                <a:cs typeface="+mn-cs"/>
              </a:rPr>
              <a:t>2</a:t>
            </a:r>
            <a:r>
              <a:rPr kumimoji="0" lang="en-CA" sz="1100" b="1" i="0" u="none" strike="noStrike" kern="1200" cap="none" spc="0" normalizeH="0" baseline="30000" noProof="0">
                <a:ln>
                  <a:noFill/>
                </a:ln>
                <a:solidFill>
                  <a:srgbClr val="FFFFFF"/>
                </a:solidFill>
                <a:effectLst/>
                <a:uLnTx/>
                <a:uFillTx/>
                <a:latin typeface="Scotia"/>
                <a:ea typeface="+mn-ea"/>
                <a:cs typeface="+mn-cs"/>
              </a:rPr>
              <a:t>nd</a:t>
            </a:r>
            <a:endParaRPr kumimoji="0" lang="en-CA" sz="1100" b="1" i="0" u="none" strike="noStrike" kern="1200" cap="none" spc="0" normalizeH="0" baseline="0" noProof="0">
              <a:ln>
                <a:noFill/>
              </a:ln>
              <a:solidFill>
                <a:srgbClr val="FFFFFF"/>
              </a:solidFill>
              <a:effectLst/>
              <a:uLnTx/>
              <a:uFillTx/>
              <a:latin typeface="Scotia"/>
              <a:ea typeface="+mn-ea"/>
              <a:cs typeface="+mn-cs"/>
            </a:endParaRPr>
          </a:p>
        </p:txBody>
      </p:sp>
      <p:sp>
        <p:nvSpPr>
          <p:cNvPr id="491" name="Rectangle 490">
            <a:extLst>
              <a:ext uri="{FF2B5EF4-FFF2-40B4-BE49-F238E27FC236}">
                <a16:creationId xmlns:a16="http://schemas.microsoft.com/office/drawing/2014/main" id="{56DFCE7B-45FC-0BE9-15B8-940832FBB921}"/>
              </a:ext>
            </a:extLst>
          </p:cNvPr>
          <p:cNvSpPr/>
          <p:nvPr/>
        </p:nvSpPr>
        <p:spPr>
          <a:xfrm>
            <a:off x="10695180" y="3839558"/>
            <a:ext cx="268288" cy="182563"/>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3</a:t>
            </a:r>
            <a:r>
              <a:rPr kumimoji="0" lang="en-CA" sz="1100" b="0" i="0" u="none" strike="noStrike" kern="1200" cap="none" spc="0" normalizeH="0" baseline="30000" noProof="0">
                <a:ln>
                  <a:noFill/>
                </a:ln>
                <a:solidFill>
                  <a:srgbClr val="000000"/>
                </a:solidFill>
                <a:effectLst/>
                <a:uLnTx/>
                <a:uFillTx/>
                <a:latin typeface="Scotia"/>
                <a:ea typeface="+mn-ea"/>
                <a:cs typeface="+mn-cs"/>
              </a:rPr>
              <a:t>rd</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92" name="Rectangle 491">
            <a:extLst>
              <a:ext uri="{FF2B5EF4-FFF2-40B4-BE49-F238E27FC236}">
                <a16:creationId xmlns:a16="http://schemas.microsoft.com/office/drawing/2014/main" id="{91C443AF-5D8A-05B3-EED1-873ECE6E117D}"/>
              </a:ext>
            </a:extLst>
          </p:cNvPr>
          <p:cNvSpPr/>
          <p:nvPr/>
        </p:nvSpPr>
        <p:spPr>
          <a:xfrm>
            <a:off x="10695180" y="4231273"/>
            <a:ext cx="268288" cy="1825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4</a:t>
            </a:r>
            <a:r>
              <a:rPr kumimoji="0" lang="en-CA" sz="1100" b="0" i="0" u="none" strike="noStrike" kern="1200" cap="none" spc="0" normalizeH="0" baseline="30000" noProof="0">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93" name="Rectangle 492">
            <a:extLst>
              <a:ext uri="{FF2B5EF4-FFF2-40B4-BE49-F238E27FC236}">
                <a16:creationId xmlns:a16="http://schemas.microsoft.com/office/drawing/2014/main" id="{176D94DB-017E-3005-A915-A47EA82A4AA4}"/>
              </a:ext>
            </a:extLst>
          </p:cNvPr>
          <p:cNvSpPr/>
          <p:nvPr/>
        </p:nvSpPr>
        <p:spPr>
          <a:xfrm>
            <a:off x="10695180" y="4622991"/>
            <a:ext cx="268288" cy="18415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5</a:t>
            </a:r>
            <a:r>
              <a:rPr kumimoji="0" lang="en-CA" sz="1100" b="0" i="0" u="none" strike="noStrike" kern="1200" cap="none" spc="0" normalizeH="0" baseline="30000" noProof="0">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494" name="Oval 493">
            <a:extLst>
              <a:ext uri="{FF2B5EF4-FFF2-40B4-BE49-F238E27FC236}">
                <a16:creationId xmlns:a16="http://schemas.microsoft.com/office/drawing/2014/main" id="{8B52CA8D-F79B-6C66-0F03-1877F8BD91D4}"/>
              </a:ext>
            </a:extLst>
          </p:cNvPr>
          <p:cNvSpPr/>
          <p:nvPr/>
        </p:nvSpPr>
        <p:spPr>
          <a:xfrm>
            <a:off x="11056272" y="3822890"/>
            <a:ext cx="245904" cy="246063"/>
          </a:xfrm>
          <a:prstGeom prst="ellipse">
            <a:avLst/>
          </a:prstGeom>
          <a:blipFill dpi="0" rotWithShape="1">
            <a:blip r:embed="rId29">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495" name="Oval 494">
            <a:extLst>
              <a:ext uri="{FF2B5EF4-FFF2-40B4-BE49-F238E27FC236}">
                <a16:creationId xmlns:a16="http://schemas.microsoft.com/office/drawing/2014/main" id="{DF72136E-6370-766E-7E11-20CD9CDFAC35}"/>
              </a:ext>
            </a:extLst>
          </p:cNvPr>
          <p:cNvSpPr/>
          <p:nvPr/>
        </p:nvSpPr>
        <p:spPr>
          <a:xfrm>
            <a:off x="11049646" y="4205905"/>
            <a:ext cx="245904" cy="250825"/>
          </a:xfrm>
          <a:prstGeom prst="ellipse">
            <a:avLst/>
          </a:prstGeom>
          <a:blipFill dpi="0" rotWithShape="1">
            <a:blip r:embed="rId28">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grpSp>
        <p:nvGrpSpPr>
          <p:cNvPr id="496" name="Group 495">
            <a:extLst>
              <a:ext uri="{FF2B5EF4-FFF2-40B4-BE49-F238E27FC236}">
                <a16:creationId xmlns:a16="http://schemas.microsoft.com/office/drawing/2014/main" id="{71810C1D-ACF9-E940-DB95-9D341D438F92}"/>
              </a:ext>
            </a:extLst>
          </p:cNvPr>
          <p:cNvGrpSpPr/>
          <p:nvPr/>
        </p:nvGrpSpPr>
        <p:grpSpPr>
          <a:xfrm>
            <a:off x="11053663" y="4591749"/>
            <a:ext cx="246972" cy="247650"/>
            <a:chOff x="3495904" y="4475163"/>
            <a:chExt cx="246972" cy="247650"/>
          </a:xfrm>
        </p:grpSpPr>
        <p:sp>
          <p:nvSpPr>
            <p:cNvPr id="497" name="Oval 496">
              <a:extLst>
                <a:ext uri="{FF2B5EF4-FFF2-40B4-BE49-F238E27FC236}">
                  <a16:creationId xmlns:a16="http://schemas.microsoft.com/office/drawing/2014/main" id="{E8216389-3F93-69DE-0A92-C64A9A28545C}"/>
                </a:ext>
              </a:extLst>
            </p:cNvPr>
            <p:cNvSpPr/>
            <p:nvPr/>
          </p:nvSpPr>
          <p:spPr>
            <a:xfrm>
              <a:off x="3495904" y="4475163"/>
              <a:ext cx="246972" cy="247650"/>
            </a:xfrm>
            <a:prstGeom prst="ellipse">
              <a:avLst/>
            </a:prstGeom>
            <a:solidFill>
              <a:srgbClr val="C019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Scotia"/>
                <a:ea typeface="+mn-ea"/>
                <a:cs typeface="+mn-cs"/>
              </a:endParaRPr>
            </a:p>
          </p:txBody>
        </p:sp>
        <p:pic>
          <p:nvPicPr>
            <p:cNvPr id="498" name="Graphic 497">
              <a:extLst>
                <a:ext uri="{FF2B5EF4-FFF2-40B4-BE49-F238E27FC236}">
                  <a16:creationId xmlns:a16="http://schemas.microsoft.com/office/drawing/2014/main" id="{ADFC54CA-2138-6839-D33C-B8ACE2B174BF}"/>
                </a:ext>
              </a:extLst>
            </p:cNvPr>
            <p:cNvPicPr>
              <a:picLocks noChangeAspect="1"/>
            </p:cNvPicPr>
            <p:nvPr/>
          </p:nvPicPr>
          <p:blipFill rotWithShape="1">
            <a:blip>
              <a:extLst>
                <a:ext uri="{96DAC541-7B7A-43D3-8B79-37D633B846F1}">
                  <asvg:svgBlip xmlns:asvg="http://schemas.microsoft.com/office/drawing/2016/SVG/main" r:embed="rId33"/>
                </a:ext>
              </a:extLst>
            </a:blip>
            <a:srcRect l="68303"/>
            <a:stretch/>
          </p:blipFill>
          <p:spPr>
            <a:xfrm>
              <a:off x="3534053" y="4530725"/>
              <a:ext cx="170675" cy="136525"/>
            </a:xfrm>
            <a:prstGeom prst="rect">
              <a:avLst/>
            </a:prstGeom>
          </p:spPr>
        </p:pic>
      </p:grpSp>
      <p:sp>
        <p:nvSpPr>
          <p:cNvPr id="500" name="Oval 499">
            <a:extLst>
              <a:ext uri="{FF2B5EF4-FFF2-40B4-BE49-F238E27FC236}">
                <a16:creationId xmlns:a16="http://schemas.microsoft.com/office/drawing/2014/main" id="{614B7D73-B4D8-66EF-06E2-F2715C189867}"/>
              </a:ext>
            </a:extLst>
          </p:cNvPr>
          <p:cNvSpPr/>
          <p:nvPr/>
        </p:nvSpPr>
        <p:spPr>
          <a:xfrm>
            <a:off x="11056272" y="3016250"/>
            <a:ext cx="244475" cy="246063"/>
          </a:xfrm>
          <a:prstGeom prst="ellipse">
            <a:avLst/>
          </a:prstGeom>
          <a:blipFill dpi="0" rotWithShape="1">
            <a:blip r:embed="rId27">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cxnSp>
        <p:nvCxnSpPr>
          <p:cNvPr id="504" name="Straight Connector 503">
            <a:extLst>
              <a:ext uri="{FF2B5EF4-FFF2-40B4-BE49-F238E27FC236}">
                <a16:creationId xmlns:a16="http://schemas.microsoft.com/office/drawing/2014/main" id="{4D068D39-820D-DF5C-4A7E-1FF45E1467A9}"/>
              </a:ext>
            </a:extLst>
          </p:cNvPr>
          <p:cNvCxnSpPr>
            <a:cxnSpLocks/>
          </p:cNvCxnSpPr>
          <p:nvPr/>
        </p:nvCxnSpPr>
        <p:spPr>
          <a:xfrm>
            <a:off x="3084029" y="4908076"/>
            <a:ext cx="780657"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5" name="Rectangle 504">
            <a:extLst>
              <a:ext uri="{FF2B5EF4-FFF2-40B4-BE49-F238E27FC236}">
                <a16:creationId xmlns:a16="http://schemas.microsoft.com/office/drawing/2014/main" id="{9C93DBE8-4F2A-CFD6-E181-444154A7304E}"/>
              </a:ext>
            </a:extLst>
          </p:cNvPr>
          <p:cNvSpPr/>
          <p:nvPr/>
        </p:nvSpPr>
        <p:spPr>
          <a:xfrm>
            <a:off x="3142311" y="5011264"/>
            <a:ext cx="268511" cy="18415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1" i="0" u="none" strike="noStrike" kern="1200" cap="none" spc="0" normalizeH="0" baseline="0" noProof="0">
                <a:ln>
                  <a:noFill/>
                </a:ln>
                <a:solidFill>
                  <a:srgbClr val="FFFFFF"/>
                </a:solidFill>
                <a:effectLst/>
                <a:uLnTx/>
                <a:uFillTx/>
                <a:latin typeface="Scotia"/>
                <a:ea typeface="+mn-ea"/>
                <a:cs typeface="+mn-cs"/>
              </a:rPr>
              <a:t>6</a:t>
            </a:r>
            <a:r>
              <a:rPr kumimoji="0" lang="en-CA" sz="1100" b="1" i="0" u="none" strike="noStrike" kern="1200" cap="none" spc="0" normalizeH="0" baseline="30000" noProof="0">
                <a:ln>
                  <a:noFill/>
                </a:ln>
                <a:solidFill>
                  <a:srgbClr val="FFFFFF"/>
                </a:solidFill>
                <a:effectLst/>
                <a:uLnTx/>
                <a:uFillTx/>
                <a:latin typeface="Scotia"/>
                <a:ea typeface="+mn-ea"/>
                <a:cs typeface="+mn-cs"/>
              </a:rPr>
              <a:t>th</a:t>
            </a:r>
            <a:endParaRPr kumimoji="0" lang="en-CA" sz="1100" b="1" i="0" u="none" strike="noStrike" kern="1200" cap="none" spc="0" normalizeH="0" baseline="0" noProof="0">
              <a:ln>
                <a:noFill/>
              </a:ln>
              <a:solidFill>
                <a:srgbClr val="FFFFFF"/>
              </a:solidFill>
              <a:effectLst/>
              <a:uLnTx/>
              <a:uFillTx/>
              <a:latin typeface="Scotia"/>
              <a:ea typeface="+mn-ea"/>
              <a:cs typeface="+mn-cs"/>
            </a:endParaRPr>
          </a:p>
        </p:txBody>
      </p:sp>
      <p:pic>
        <p:nvPicPr>
          <p:cNvPr id="516" name="Picture 2" descr="Desjardins Group">
            <a:extLst>
              <a:ext uri="{FF2B5EF4-FFF2-40B4-BE49-F238E27FC236}">
                <a16:creationId xmlns:a16="http://schemas.microsoft.com/office/drawing/2014/main" id="{7F0BF53D-B5B8-2164-DFEB-4ABDE0D5CC2A}"/>
              </a:ext>
            </a:extLst>
          </p:cNvPr>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515549" y="4183444"/>
            <a:ext cx="246063" cy="250825"/>
          </a:xfrm>
          <a:prstGeom prst="ellipse">
            <a:avLst/>
          </a:prstGeom>
          <a:noFill/>
          <a:extLst>
            <a:ext uri="{909E8E84-426E-40DD-AFC4-6F175D3DCCD1}">
              <a14:hiddenFill xmlns:a14="http://schemas.microsoft.com/office/drawing/2010/main">
                <a:solidFill>
                  <a:srgbClr val="FFFFFF"/>
                </a:solidFill>
              </a14:hiddenFill>
            </a:ext>
          </a:extLst>
        </p:spPr>
      </p:pic>
      <p:pic>
        <p:nvPicPr>
          <p:cNvPr id="1028" name="Picture 4" descr="Canadian Western Bank Mobile - Apps on Google Play">
            <a:extLst>
              <a:ext uri="{FF2B5EF4-FFF2-40B4-BE49-F238E27FC236}">
                <a16:creationId xmlns:a16="http://schemas.microsoft.com/office/drawing/2014/main" id="{FD981CA8-DE24-03E8-0B85-E2A6508E5E02}"/>
              </a:ext>
            </a:extLst>
          </p:cNvPr>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3515549" y="4578668"/>
            <a:ext cx="246063" cy="250825"/>
          </a:xfrm>
          <a:prstGeom prst="ellipse">
            <a:avLst/>
          </a:prstGeom>
          <a:noFill/>
          <a:extLst>
            <a:ext uri="{909E8E84-426E-40DD-AFC4-6F175D3DCCD1}">
              <a14:hiddenFill xmlns:a14="http://schemas.microsoft.com/office/drawing/2010/main">
                <a:solidFill>
                  <a:srgbClr val="FFFFFF"/>
                </a:solidFill>
              </a14:hiddenFill>
            </a:ext>
          </a:extLst>
        </p:spPr>
      </p:pic>
      <p:cxnSp>
        <p:nvCxnSpPr>
          <p:cNvPr id="517" name="Straight Connector 516">
            <a:extLst>
              <a:ext uri="{FF2B5EF4-FFF2-40B4-BE49-F238E27FC236}">
                <a16:creationId xmlns:a16="http://schemas.microsoft.com/office/drawing/2014/main" id="{3CAF4928-2BA2-C9C6-2686-746A89282E6B}"/>
              </a:ext>
            </a:extLst>
          </p:cNvPr>
          <p:cNvCxnSpPr>
            <a:cxnSpLocks/>
          </p:cNvCxnSpPr>
          <p:nvPr/>
        </p:nvCxnSpPr>
        <p:spPr>
          <a:xfrm>
            <a:off x="6899275" y="4909159"/>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18" name="Rectangle 517">
            <a:extLst>
              <a:ext uri="{FF2B5EF4-FFF2-40B4-BE49-F238E27FC236}">
                <a16:creationId xmlns:a16="http://schemas.microsoft.com/office/drawing/2014/main" id="{46E9A220-B6F0-3027-3D1B-A865CF99F8C2}"/>
              </a:ext>
            </a:extLst>
          </p:cNvPr>
          <p:cNvSpPr/>
          <p:nvPr/>
        </p:nvSpPr>
        <p:spPr>
          <a:xfrm>
            <a:off x="6956202" y="5013738"/>
            <a:ext cx="268511" cy="18415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6</a:t>
            </a:r>
            <a:r>
              <a:rPr kumimoji="0" lang="en-CA" sz="1100" b="0" i="0" u="none" strike="noStrike" kern="1200" cap="none" spc="0" normalizeH="0" baseline="30000" noProof="0" err="1">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cxnSp>
        <p:nvCxnSpPr>
          <p:cNvPr id="522" name="Straight Connector 521">
            <a:extLst>
              <a:ext uri="{FF2B5EF4-FFF2-40B4-BE49-F238E27FC236}">
                <a16:creationId xmlns:a16="http://schemas.microsoft.com/office/drawing/2014/main" id="{947C72EE-6BFC-B929-92D6-B28909DFAE69}"/>
              </a:ext>
            </a:extLst>
          </p:cNvPr>
          <p:cNvCxnSpPr>
            <a:cxnSpLocks/>
          </p:cNvCxnSpPr>
          <p:nvPr/>
        </p:nvCxnSpPr>
        <p:spPr>
          <a:xfrm>
            <a:off x="10631536" y="4907510"/>
            <a:ext cx="781050"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E9D7E818-6AD7-C223-53CD-D22491322032}"/>
              </a:ext>
            </a:extLst>
          </p:cNvPr>
          <p:cNvSpPr/>
          <p:nvPr/>
        </p:nvSpPr>
        <p:spPr>
          <a:xfrm>
            <a:off x="10688463" y="5012089"/>
            <a:ext cx="268511" cy="18415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6</a:t>
            </a:r>
            <a:r>
              <a:rPr kumimoji="0" lang="en-CA" sz="1100" b="0" i="0" u="none" strike="noStrike" kern="1200" cap="none" spc="0" normalizeH="0" baseline="30000" noProof="0" err="1">
                <a:ln>
                  <a:noFill/>
                </a:ln>
                <a:solidFill>
                  <a:srgbClr val="000000"/>
                </a:solidFill>
                <a:effectLst/>
                <a:uLnTx/>
                <a:uFillTx/>
                <a:latin typeface="Scotia"/>
                <a:ea typeface="+mn-ea"/>
                <a:cs typeface="+mn-cs"/>
              </a:rPr>
              <a:t>th</a:t>
            </a: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grpSp>
        <p:nvGrpSpPr>
          <p:cNvPr id="529" name="Group 528">
            <a:extLst>
              <a:ext uri="{FF2B5EF4-FFF2-40B4-BE49-F238E27FC236}">
                <a16:creationId xmlns:a16="http://schemas.microsoft.com/office/drawing/2014/main" id="{43F8CF62-D87B-DDA1-53D0-8E2D1CDD53CC}"/>
              </a:ext>
            </a:extLst>
          </p:cNvPr>
          <p:cNvGrpSpPr/>
          <p:nvPr/>
        </p:nvGrpSpPr>
        <p:grpSpPr>
          <a:xfrm>
            <a:off x="7323381" y="4964769"/>
            <a:ext cx="264869" cy="264869"/>
            <a:chOff x="3655355" y="4535079"/>
            <a:chExt cx="914400" cy="914400"/>
          </a:xfrm>
        </p:grpSpPr>
        <p:sp>
          <p:nvSpPr>
            <p:cNvPr id="530" name="Oval 529">
              <a:extLst>
                <a:ext uri="{FF2B5EF4-FFF2-40B4-BE49-F238E27FC236}">
                  <a16:creationId xmlns:a16="http://schemas.microsoft.com/office/drawing/2014/main" id="{D6499D4A-F90A-0530-9BD6-D00A5F73F436}"/>
                </a:ext>
              </a:extLst>
            </p:cNvPr>
            <p:cNvSpPr/>
            <p:nvPr/>
          </p:nvSpPr>
          <p:spPr>
            <a:xfrm>
              <a:off x="3655355" y="4535079"/>
              <a:ext cx="914400" cy="914400"/>
            </a:xfrm>
            <a:prstGeom prst="ellipse">
              <a:avLst/>
            </a:prstGeom>
            <a:solidFill>
              <a:srgbClr val="002E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pic>
          <p:nvPicPr>
            <p:cNvPr id="531" name="Picture 6" descr="National Bank Build - 36 Forbes Street - Habitat for Humanity">
              <a:extLst>
                <a:ext uri="{FF2B5EF4-FFF2-40B4-BE49-F238E27FC236}">
                  <a16:creationId xmlns:a16="http://schemas.microsoft.com/office/drawing/2014/main" id="{D4DE06BD-7069-7A3D-AD29-6A98E10CDBD4}"/>
                </a:ext>
              </a:extLst>
            </p:cNvPr>
            <p:cNvPicPr>
              <a:picLocks noChangeAspect="1" noChangeArrowheads="1"/>
            </p:cNvPicPr>
            <p:nvPr/>
          </p:nvPicPr>
          <p:blipFill rotWithShape="1">
            <a:blip r:embed="rId36">
              <a:extLst>
                <a:ext uri="{28A0092B-C50C-407E-A947-70E740481C1C}">
                  <a14:useLocalDpi xmlns:a14="http://schemas.microsoft.com/office/drawing/2010/main" val="0"/>
                </a:ext>
              </a:extLst>
            </a:blip>
            <a:srcRect l="7983" t="12945" r="62784" b="15657"/>
            <a:stretch/>
          </p:blipFill>
          <p:spPr bwMode="auto">
            <a:xfrm>
              <a:off x="3821185" y="4738383"/>
              <a:ext cx="582744" cy="50779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32" name="Group 531">
            <a:extLst>
              <a:ext uri="{FF2B5EF4-FFF2-40B4-BE49-F238E27FC236}">
                <a16:creationId xmlns:a16="http://schemas.microsoft.com/office/drawing/2014/main" id="{6CFC08EB-D02D-0241-9207-823122031FE2}"/>
              </a:ext>
            </a:extLst>
          </p:cNvPr>
          <p:cNvGrpSpPr/>
          <p:nvPr/>
        </p:nvGrpSpPr>
        <p:grpSpPr>
          <a:xfrm>
            <a:off x="11035766" y="4964769"/>
            <a:ext cx="264869" cy="264869"/>
            <a:chOff x="3655355" y="4535079"/>
            <a:chExt cx="914400" cy="914400"/>
          </a:xfrm>
        </p:grpSpPr>
        <p:sp>
          <p:nvSpPr>
            <p:cNvPr id="533" name="Oval 532">
              <a:extLst>
                <a:ext uri="{FF2B5EF4-FFF2-40B4-BE49-F238E27FC236}">
                  <a16:creationId xmlns:a16="http://schemas.microsoft.com/office/drawing/2014/main" id="{95887D80-E37D-24A7-9D82-5C0DD35B1E7D}"/>
                </a:ext>
              </a:extLst>
            </p:cNvPr>
            <p:cNvSpPr/>
            <p:nvPr/>
          </p:nvSpPr>
          <p:spPr>
            <a:xfrm>
              <a:off x="3655355" y="4535079"/>
              <a:ext cx="914400" cy="914400"/>
            </a:xfrm>
            <a:prstGeom prst="ellipse">
              <a:avLst/>
            </a:prstGeom>
            <a:solidFill>
              <a:srgbClr val="002E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Scotia"/>
                <a:ea typeface="+mn-ea"/>
                <a:cs typeface="+mn-cs"/>
              </a:endParaRPr>
            </a:p>
          </p:txBody>
        </p:sp>
        <p:pic>
          <p:nvPicPr>
            <p:cNvPr id="534" name="Picture 6" descr="National Bank Build - 36 Forbes Street - Habitat for Humanity">
              <a:extLst>
                <a:ext uri="{FF2B5EF4-FFF2-40B4-BE49-F238E27FC236}">
                  <a16:creationId xmlns:a16="http://schemas.microsoft.com/office/drawing/2014/main" id="{5E445BAF-CCCA-C0C4-6B84-68BF11579D41}"/>
                </a:ext>
              </a:extLst>
            </p:cNvPr>
            <p:cNvPicPr>
              <a:picLocks noChangeAspect="1" noChangeArrowheads="1"/>
            </p:cNvPicPr>
            <p:nvPr/>
          </p:nvPicPr>
          <p:blipFill rotWithShape="1">
            <a:blip r:embed="rId36">
              <a:extLst>
                <a:ext uri="{28A0092B-C50C-407E-A947-70E740481C1C}">
                  <a14:useLocalDpi xmlns:a14="http://schemas.microsoft.com/office/drawing/2010/main" val="0"/>
                </a:ext>
              </a:extLst>
            </a:blip>
            <a:srcRect l="7983" t="12945" r="62784" b="15657"/>
            <a:stretch/>
          </p:blipFill>
          <p:spPr bwMode="auto">
            <a:xfrm>
              <a:off x="3821185" y="4738383"/>
              <a:ext cx="582744" cy="507791"/>
            </a:xfrm>
            <a:prstGeom prst="rect">
              <a:avLst/>
            </a:prstGeom>
            <a:noFill/>
            <a:extLst>
              <a:ext uri="{909E8E84-426E-40DD-AFC4-6F175D3DCCD1}">
                <a14:hiddenFill xmlns:a14="http://schemas.microsoft.com/office/drawing/2010/main">
                  <a:solidFill>
                    <a:srgbClr val="FFFFFF"/>
                  </a:solidFill>
                </a14:hiddenFill>
              </a:ext>
            </a:extLst>
          </p:spPr>
        </p:pic>
      </p:grpSp>
      <p:sp>
        <p:nvSpPr>
          <p:cNvPr id="535" name="Rectangle 534">
            <a:extLst>
              <a:ext uri="{FF2B5EF4-FFF2-40B4-BE49-F238E27FC236}">
                <a16:creationId xmlns:a16="http://schemas.microsoft.com/office/drawing/2014/main" id="{AD98B44C-CE8B-5C39-D5FD-6D5D0039EB0D}"/>
              </a:ext>
            </a:extLst>
          </p:cNvPr>
          <p:cNvSpPr/>
          <p:nvPr/>
        </p:nvSpPr>
        <p:spPr>
          <a:xfrm>
            <a:off x="530225" y="2103438"/>
            <a:ext cx="3564000" cy="444500"/>
          </a:xfrm>
          <a:prstGeom prst="rect">
            <a:avLst/>
          </a:prstGeom>
          <a:solidFill>
            <a:srgbClr val="4D4D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200" normalizeH="0" noProof="0">
                <a:ln>
                  <a:noFill/>
                </a:ln>
                <a:solidFill>
                  <a:srgbClr val="FFFFFF"/>
                </a:solidFill>
                <a:effectLst/>
                <a:uLnTx/>
                <a:uFillTx/>
                <a:latin typeface="Scotia"/>
                <a:ea typeface="+mn-ea"/>
                <a:cs typeface="+mn-cs"/>
              </a:rPr>
              <a:t>$1-5MM</a:t>
            </a:r>
            <a:endParaRPr kumimoji="0" lang="en-CA" sz="900" b="1" i="0" u="none" strike="noStrike" kern="1200" cap="none" spc="0" normalizeH="0" noProof="0">
              <a:ln>
                <a:noFill/>
              </a:ln>
              <a:solidFill>
                <a:srgbClr val="FFFFFF"/>
              </a:solidFill>
              <a:effectLst/>
              <a:uLnTx/>
              <a:uFillTx/>
              <a:latin typeface="Scotia"/>
              <a:ea typeface="+mn-ea"/>
              <a:cs typeface="+mn-cs"/>
            </a:endParaRPr>
          </a:p>
        </p:txBody>
      </p:sp>
      <p:sp>
        <p:nvSpPr>
          <p:cNvPr id="536" name="Rectangle 535">
            <a:extLst>
              <a:ext uri="{FF2B5EF4-FFF2-40B4-BE49-F238E27FC236}">
                <a16:creationId xmlns:a16="http://schemas.microsoft.com/office/drawing/2014/main" id="{DFCBB3E5-21B3-0E4F-9152-D3D2F3C528F9}"/>
              </a:ext>
            </a:extLst>
          </p:cNvPr>
          <p:cNvSpPr/>
          <p:nvPr/>
        </p:nvSpPr>
        <p:spPr>
          <a:xfrm>
            <a:off x="4314000" y="2103438"/>
            <a:ext cx="3564000" cy="449263"/>
          </a:xfrm>
          <a:prstGeom prst="rect">
            <a:avLst/>
          </a:prstGeom>
          <a:solidFill>
            <a:srgbClr val="4D4D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200" normalizeH="0" noProof="0">
                <a:ln>
                  <a:noFill/>
                </a:ln>
                <a:solidFill>
                  <a:srgbClr val="FFFFFF"/>
                </a:solidFill>
                <a:effectLst/>
                <a:uLnTx/>
                <a:uFillTx/>
                <a:latin typeface="Scotia"/>
                <a:ea typeface="+mn-ea"/>
                <a:cs typeface="+mn-cs"/>
              </a:rPr>
              <a:t>$5-25MM</a:t>
            </a:r>
            <a:endParaRPr kumimoji="0" lang="en-CA" sz="900" b="1" i="0" u="none" strike="noStrike" kern="1200" cap="none" spc="200" normalizeH="0" noProof="0">
              <a:ln>
                <a:noFill/>
              </a:ln>
              <a:solidFill>
                <a:srgbClr val="FFFFFF"/>
              </a:solidFill>
              <a:effectLst/>
              <a:uLnTx/>
              <a:uFillTx/>
              <a:latin typeface="Scotia"/>
              <a:ea typeface="+mn-ea"/>
              <a:cs typeface="+mn-cs"/>
            </a:endParaRPr>
          </a:p>
        </p:txBody>
      </p:sp>
      <p:sp>
        <p:nvSpPr>
          <p:cNvPr id="537" name="Rectangle 536">
            <a:extLst>
              <a:ext uri="{FF2B5EF4-FFF2-40B4-BE49-F238E27FC236}">
                <a16:creationId xmlns:a16="http://schemas.microsoft.com/office/drawing/2014/main" id="{E17046AC-D255-165F-AFE0-8D6A9D48B598}"/>
              </a:ext>
            </a:extLst>
          </p:cNvPr>
          <p:cNvSpPr/>
          <p:nvPr/>
        </p:nvSpPr>
        <p:spPr>
          <a:xfrm>
            <a:off x="8097775" y="2103438"/>
            <a:ext cx="3564000" cy="444500"/>
          </a:xfrm>
          <a:prstGeom prst="rect">
            <a:avLst/>
          </a:prstGeom>
          <a:solidFill>
            <a:srgbClr val="4D4D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5" rtl="0" eaLnBrk="1" fontAlgn="auto" latinLnBrk="0" hangingPunct="1">
              <a:lnSpc>
                <a:spcPct val="100000"/>
              </a:lnSpc>
              <a:spcBef>
                <a:spcPts val="0"/>
              </a:spcBef>
              <a:spcAft>
                <a:spcPts val="0"/>
              </a:spcAft>
              <a:buClrTx/>
              <a:buSzTx/>
              <a:buFontTx/>
              <a:buNone/>
              <a:tabLst/>
              <a:defRPr/>
            </a:pPr>
            <a:r>
              <a:rPr kumimoji="0" lang="en-CA" sz="1000" b="1" i="0" u="none" strike="noStrike" kern="1200" cap="none" spc="200" normalizeH="0" noProof="0">
                <a:ln>
                  <a:noFill/>
                </a:ln>
                <a:solidFill>
                  <a:srgbClr val="FFFFFF"/>
                </a:solidFill>
                <a:effectLst/>
                <a:uLnTx/>
                <a:uFillTx/>
                <a:latin typeface="Scotia"/>
                <a:ea typeface="+mn-ea"/>
                <a:cs typeface="+mn-cs"/>
              </a:rPr>
              <a:t>$25-100MM</a:t>
            </a:r>
            <a:endParaRPr kumimoji="0" lang="en-CA" sz="900" b="1" i="0" u="none" strike="noStrike" kern="1200" cap="none" spc="200" normalizeH="0" noProof="0">
              <a:ln>
                <a:noFill/>
              </a:ln>
              <a:solidFill>
                <a:srgbClr val="FFFFFF"/>
              </a:solidFill>
              <a:effectLst/>
              <a:uLnTx/>
              <a:uFillTx/>
              <a:latin typeface="Scotia"/>
              <a:ea typeface="+mn-ea"/>
              <a:cs typeface="+mn-cs"/>
            </a:endParaRPr>
          </a:p>
        </p:txBody>
      </p:sp>
      <p:sp>
        <p:nvSpPr>
          <p:cNvPr id="8" name="Text Placeholder 7">
            <a:extLst>
              <a:ext uri="{FF2B5EF4-FFF2-40B4-BE49-F238E27FC236}">
                <a16:creationId xmlns:a16="http://schemas.microsoft.com/office/drawing/2014/main" id="{8A076269-6F9B-3623-C0CA-7E7B37991D60}"/>
              </a:ext>
            </a:extLst>
          </p:cNvPr>
          <p:cNvSpPr>
            <a:spLocks noGrp="1"/>
          </p:cNvSpPr>
          <p:nvPr>
            <p:ph type="body" sz="quarter" idx="13"/>
          </p:nvPr>
        </p:nvSpPr>
        <p:spPr/>
        <p:txBody>
          <a:bodyPr/>
          <a:lstStyle/>
          <a:p>
            <a:endParaRPr lang="en-CA"/>
          </a:p>
        </p:txBody>
      </p:sp>
    </p:spTree>
    <p:extLst>
      <p:ext uri="{BB962C8B-B14F-4D97-AF65-F5344CB8AC3E}">
        <p14:creationId xmlns:p14="http://schemas.microsoft.com/office/powerpoint/2010/main" val="121128019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936052-96D2-1C04-C2F7-3189F1D2BAFC}"/>
            </a:ext>
          </a:extLst>
        </p:cNvPr>
        <p:cNvGrpSpPr/>
        <p:nvPr/>
      </p:nvGrpSpPr>
      <p:grpSpPr>
        <a:xfrm>
          <a:off x="0" y="0"/>
          <a:ext cx="0" cy="0"/>
          <a:chOff x="0" y="0"/>
          <a:chExt cx="0" cy="0"/>
        </a:xfrm>
      </p:grpSpPr>
      <p:graphicFrame>
        <p:nvGraphicFramePr>
          <p:cNvPr id="13" name="think-cell data - do not delete" hidden="1">
            <a:extLst>
              <a:ext uri="{FF2B5EF4-FFF2-40B4-BE49-F238E27FC236}">
                <a16:creationId xmlns:a16="http://schemas.microsoft.com/office/drawing/2014/main" id="{8D3688BD-471F-BC16-9A4C-8B25335637C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13" name="think-cell data - do not delete" hidden="1">
                        <a:extLst>
                          <a:ext uri="{FF2B5EF4-FFF2-40B4-BE49-F238E27FC236}">
                            <a16:creationId xmlns:a16="http://schemas.microsoft.com/office/drawing/2014/main" id="{8D3688BD-471F-BC16-9A4C-8B25335637C4}"/>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C3DDB97C-F621-F8F6-635E-7C3B22495C73}"/>
              </a:ext>
            </a:extLst>
          </p:cNvPr>
          <p:cNvSpPr>
            <a:spLocks noGrp="1"/>
          </p:cNvSpPr>
          <p:nvPr>
            <p:ph type="title"/>
          </p:nvPr>
        </p:nvSpPr>
        <p:spPr/>
        <p:txBody>
          <a:bodyPr vert="horz"/>
          <a:lstStyle/>
          <a:p>
            <a:r>
              <a:rPr lang="en-CA">
                <a:solidFill>
                  <a:srgbClr val="EC111A"/>
                </a:solidFill>
              </a:rPr>
              <a:t>Our competitive relationship | </a:t>
            </a:r>
            <a:r>
              <a:rPr lang="en-CA" err="1"/>
              <a:t>Wealthsimple</a:t>
            </a:r>
            <a:r>
              <a:rPr lang="en-CA"/>
              <a:t> has evolved its product offerings beyond </a:t>
            </a:r>
            <a:r>
              <a:rPr lang="en-CA" err="1"/>
              <a:t>robo</a:t>
            </a:r>
            <a:r>
              <a:rPr lang="en-CA"/>
              <a:t>, now competing with us across key products that drive primacy</a:t>
            </a:r>
            <a:endParaRPr lang="en-US"/>
          </a:p>
        </p:txBody>
      </p:sp>
      <p:sp>
        <p:nvSpPr>
          <p:cNvPr id="3" name="Slide Number Placeholder 2">
            <a:extLst>
              <a:ext uri="{FF2B5EF4-FFF2-40B4-BE49-F238E27FC236}">
                <a16:creationId xmlns:a16="http://schemas.microsoft.com/office/drawing/2014/main" id="{E32F566B-F5D5-0BC1-7BAE-72C0BD323388}"/>
              </a:ext>
            </a:extLst>
          </p:cNvPr>
          <p:cNvSpPr>
            <a:spLocks noGrp="1"/>
          </p:cNvSpPr>
          <p:nvPr>
            <p:ph type="sldNum" sz="quarter" idx="10"/>
          </p:nvPr>
        </p:nvSpPr>
        <p:spPr/>
        <p:txBody>
          <a:bodyPr/>
          <a:lstStyle/>
          <a:p>
            <a:fld id="{95D835A7-12B2-4074-8DA2-469A8808C237}" type="slidenum">
              <a:rPr lang="en-CA" smtClean="0"/>
              <a:pPr/>
              <a:t>42</a:t>
            </a:fld>
            <a:endParaRPr lang="en-CA"/>
          </a:p>
        </p:txBody>
      </p:sp>
      <p:sp>
        <p:nvSpPr>
          <p:cNvPr id="5" name="Text Placeholder 4">
            <a:extLst>
              <a:ext uri="{FF2B5EF4-FFF2-40B4-BE49-F238E27FC236}">
                <a16:creationId xmlns:a16="http://schemas.microsoft.com/office/drawing/2014/main" id="{085423AE-BF45-E555-9FBA-F1ECA054FA03}"/>
              </a:ext>
            </a:extLst>
          </p:cNvPr>
          <p:cNvSpPr>
            <a:spLocks noGrp="1"/>
          </p:cNvSpPr>
          <p:nvPr>
            <p:ph type="body" sz="quarter" idx="13"/>
          </p:nvPr>
        </p:nvSpPr>
        <p:spPr/>
        <p:txBody>
          <a:bodyPr/>
          <a:lstStyle/>
          <a:p>
            <a:endParaRPr lang="en-US"/>
          </a:p>
        </p:txBody>
      </p:sp>
      <p:sp>
        <p:nvSpPr>
          <p:cNvPr id="7" name="Rectangle 6">
            <a:extLst>
              <a:ext uri="{FF2B5EF4-FFF2-40B4-BE49-F238E27FC236}">
                <a16:creationId xmlns:a16="http://schemas.microsoft.com/office/drawing/2014/main" id="{DB2CE4E6-8E05-DE5B-DFD5-A4A4D1C481B6}"/>
              </a:ext>
            </a:extLst>
          </p:cNvPr>
          <p:cNvSpPr/>
          <p:nvPr/>
        </p:nvSpPr>
        <p:spPr>
          <a:xfrm>
            <a:off x="3997565" y="1653455"/>
            <a:ext cx="3795614" cy="222178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DAY-TO-DAY BANKING</a:t>
            </a:r>
          </a:p>
        </p:txBody>
      </p:sp>
      <p:sp>
        <p:nvSpPr>
          <p:cNvPr id="11" name="Rectangle 10">
            <a:extLst>
              <a:ext uri="{FF2B5EF4-FFF2-40B4-BE49-F238E27FC236}">
                <a16:creationId xmlns:a16="http://schemas.microsoft.com/office/drawing/2014/main" id="{BBA32EAE-893B-63BD-8D66-E5F3C8265AA5}"/>
              </a:ext>
            </a:extLst>
          </p:cNvPr>
          <p:cNvSpPr/>
          <p:nvPr/>
        </p:nvSpPr>
        <p:spPr>
          <a:xfrm>
            <a:off x="7853813" y="1653136"/>
            <a:ext cx="3822251" cy="222178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LENDING</a:t>
            </a:r>
          </a:p>
        </p:txBody>
      </p:sp>
      <p:sp>
        <p:nvSpPr>
          <p:cNvPr id="20" name="Rectangle 19">
            <a:extLst>
              <a:ext uri="{FF2B5EF4-FFF2-40B4-BE49-F238E27FC236}">
                <a16:creationId xmlns:a16="http://schemas.microsoft.com/office/drawing/2014/main" id="{0DA4C51F-85AE-D1BD-3EC1-541682D6C046}"/>
              </a:ext>
            </a:extLst>
          </p:cNvPr>
          <p:cNvSpPr/>
          <p:nvPr/>
        </p:nvSpPr>
        <p:spPr>
          <a:xfrm>
            <a:off x="7982102" y="2081796"/>
            <a:ext cx="3573436"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Credit Card</a:t>
            </a:r>
            <a:endParaRPr lang="en-US" sz="1000" b="1" baseline="30000">
              <a:solidFill>
                <a:schemeClr val="tx1"/>
              </a:solidFill>
            </a:endParaRPr>
          </a:p>
        </p:txBody>
      </p:sp>
      <p:sp>
        <p:nvSpPr>
          <p:cNvPr id="2124" name="Oval 2123">
            <a:extLst>
              <a:ext uri="{FF2B5EF4-FFF2-40B4-BE49-F238E27FC236}">
                <a16:creationId xmlns:a16="http://schemas.microsoft.com/office/drawing/2014/main" id="{DE93FEB5-0BF5-D60B-F413-66301A0259F1}"/>
              </a:ext>
            </a:extLst>
          </p:cNvPr>
          <p:cNvSpPr>
            <a:spLocks/>
          </p:cNvSpPr>
          <p:nvPr/>
        </p:nvSpPr>
        <p:spPr>
          <a:xfrm>
            <a:off x="10725343" y="2134988"/>
            <a:ext cx="210342" cy="204766"/>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25" name="Picture 2" descr="Fintable - Tangerine - Personal API and Transaction Data (PLAID)">
            <a:extLst>
              <a:ext uri="{FF2B5EF4-FFF2-40B4-BE49-F238E27FC236}">
                <a16:creationId xmlns:a16="http://schemas.microsoft.com/office/drawing/2014/main" id="{49A71813-1242-60E8-5454-D6F28C212101}"/>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10992562" y="2134988"/>
            <a:ext cx="210342" cy="204766"/>
          </a:xfrm>
          <a:prstGeom prst="ellipse">
            <a:avLst/>
          </a:prstGeom>
          <a:noFill/>
          <a:extLst>
            <a:ext uri="{909E8E84-426E-40DD-AFC4-6F175D3DCCD1}">
              <a14:hiddenFill xmlns:a14="http://schemas.microsoft.com/office/drawing/2010/main">
                <a:solidFill>
                  <a:srgbClr val="FFFFFF"/>
                </a:solidFill>
              </a14:hiddenFill>
            </a:ext>
          </a:extLst>
        </p:spPr>
      </p:pic>
      <p:pic>
        <p:nvPicPr>
          <p:cNvPr id="2126" name="Picture 4" descr="Wealthsimple | Logopedia | Fandom">
            <a:extLst>
              <a:ext uri="{FF2B5EF4-FFF2-40B4-BE49-F238E27FC236}">
                <a16:creationId xmlns:a16="http://schemas.microsoft.com/office/drawing/2014/main" id="{48ECC9F3-1F1D-3C4B-0955-3F105A8F7176}"/>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11264156" y="2134988"/>
            <a:ext cx="210342" cy="204766"/>
          </a:xfrm>
          <a:prstGeom prst="ellipse">
            <a:avLst/>
          </a:prstGeom>
          <a:solidFill>
            <a:schemeClr val="bg2"/>
          </a:solidFill>
          <a:ln>
            <a:noFill/>
            <a:prstDash val="dash"/>
          </a:ln>
        </p:spPr>
      </p:pic>
      <p:sp>
        <p:nvSpPr>
          <p:cNvPr id="21" name="Rectangle 20">
            <a:extLst>
              <a:ext uri="{FF2B5EF4-FFF2-40B4-BE49-F238E27FC236}">
                <a16:creationId xmlns:a16="http://schemas.microsoft.com/office/drawing/2014/main" id="{2754F0E8-C172-E887-DBBD-830216CB3C8D}"/>
              </a:ext>
            </a:extLst>
          </p:cNvPr>
          <p:cNvSpPr/>
          <p:nvPr/>
        </p:nvSpPr>
        <p:spPr>
          <a:xfrm>
            <a:off x="7982102" y="3469933"/>
            <a:ext cx="3573436"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Business Banking </a:t>
            </a:r>
          </a:p>
        </p:txBody>
      </p:sp>
      <p:sp>
        <p:nvSpPr>
          <p:cNvPr id="2128" name="Oval 2127">
            <a:extLst>
              <a:ext uri="{FF2B5EF4-FFF2-40B4-BE49-F238E27FC236}">
                <a16:creationId xmlns:a16="http://schemas.microsoft.com/office/drawing/2014/main" id="{6A2D89ED-F741-76B3-A8FE-D8AA23E7275D}"/>
              </a:ext>
            </a:extLst>
          </p:cNvPr>
          <p:cNvSpPr>
            <a:spLocks/>
          </p:cNvSpPr>
          <p:nvPr/>
        </p:nvSpPr>
        <p:spPr>
          <a:xfrm>
            <a:off x="10725343" y="3523125"/>
            <a:ext cx="210342" cy="204766"/>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29" name="Picture 2" descr="Fintable - Tangerine - Personal API and Transaction Data (PLAID)">
            <a:extLst>
              <a:ext uri="{FF2B5EF4-FFF2-40B4-BE49-F238E27FC236}">
                <a16:creationId xmlns:a16="http://schemas.microsoft.com/office/drawing/2014/main" id="{FDB8FC27-D772-314E-1C39-E6673A8A3EB7}"/>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10992562" y="3523125"/>
            <a:ext cx="210342" cy="204766"/>
          </a:xfrm>
          <a:prstGeom prst="ellipse">
            <a:avLst/>
          </a:prstGeom>
          <a:noFill/>
          <a:extLst>
            <a:ext uri="{909E8E84-426E-40DD-AFC4-6F175D3DCCD1}">
              <a14:hiddenFill xmlns:a14="http://schemas.microsoft.com/office/drawing/2010/main">
                <a:solidFill>
                  <a:srgbClr val="FFFFFF"/>
                </a:solidFill>
              </a14:hiddenFill>
            </a:ext>
          </a:extLst>
        </p:spPr>
      </p:pic>
      <p:pic>
        <p:nvPicPr>
          <p:cNvPr id="2130" name="Picture 4" descr="Wealthsimple | Logopedia | Fandom">
            <a:extLst>
              <a:ext uri="{FF2B5EF4-FFF2-40B4-BE49-F238E27FC236}">
                <a16:creationId xmlns:a16="http://schemas.microsoft.com/office/drawing/2014/main" id="{5A408463-DC06-299F-1FCB-D8DAAF61179D}"/>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11264156" y="3523125"/>
            <a:ext cx="210342" cy="204766"/>
          </a:xfrm>
          <a:prstGeom prst="ellipse">
            <a:avLst/>
          </a:prstGeom>
          <a:noFill/>
          <a:extLst>
            <a:ext uri="{909E8E84-426E-40DD-AFC4-6F175D3DCCD1}">
              <a14:hiddenFill xmlns:a14="http://schemas.microsoft.com/office/drawing/2010/main">
                <a:solidFill>
                  <a:srgbClr val="FFFFFF"/>
                </a:solidFill>
              </a14:hiddenFill>
            </a:ext>
          </a:extLst>
        </p:spPr>
      </p:pic>
      <p:sp>
        <p:nvSpPr>
          <p:cNvPr id="22" name="Rectangle 21">
            <a:extLst>
              <a:ext uri="{FF2B5EF4-FFF2-40B4-BE49-F238E27FC236}">
                <a16:creationId xmlns:a16="http://schemas.microsoft.com/office/drawing/2014/main" id="{70CCF590-D4B9-0F0E-2637-14A3771F1FC8}"/>
              </a:ext>
            </a:extLst>
          </p:cNvPr>
          <p:cNvSpPr/>
          <p:nvPr/>
        </p:nvSpPr>
        <p:spPr>
          <a:xfrm>
            <a:off x="7982102" y="3122898"/>
            <a:ext cx="3573436"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Automotive </a:t>
            </a:r>
          </a:p>
        </p:txBody>
      </p:sp>
      <p:sp>
        <p:nvSpPr>
          <p:cNvPr id="2132" name="Oval 2131">
            <a:extLst>
              <a:ext uri="{FF2B5EF4-FFF2-40B4-BE49-F238E27FC236}">
                <a16:creationId xmlns:a16="http://schemas.microsoft.com/office/drawing/2014/main" id="{C7741355-20D1-EE9D-CBB9-373188579888}"/>
              </a:ext>
            </a:extLst>
          </p:cNvPr>
          <p:cNvSpPr>
            <a:spLocks/>
          </p:cNvSpPr>
          <p:nvPr/>
        </p:nvSpPr>
        <p:spPr>
          <a:xfrm>
            <a:off x="10725343" y="3182292"/>
            <a:ext cx="210342" cy="204766"/>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33" name="Picture 2" descr="Fintable - Tangerine - Personal API and Transaction Data (PLAID)">
            <a:extLst>
              <a:ext uri="{FF2B5EF4-FFF2-40B4-BE49-F238E27FC236}">
                <a16:creationId xmlns:a16="http://schemas.microsoft.com/office/drawing/2014/main" id="{67224543-EDC0-219E-BED2-0ADA1ED134F9}"/>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10992562" y="3182292"/>
            <a:ext cx="210342" cy="204766"/>
          </a:xfrm>
          <a:prstGeom prst="ellipse">
            <a:avLst/>
          </a:prstGeom>
          <a:noFill/>
          <a:extLst>
            <a:ext uri="{909E8E84-426E-40DD-AFC4-6F175D3DCCD1}">
              <a14:hiddenFill xmlns:a14="http://schemas.microsoft.com/office/drawing/2010/main">
                <a:solidFill>
                  <a:srgbClr val="FFFFFF"/>
                </a:solidFill>
              </a14:hiddenFill>
            </a:ext>
          </a:extLst>
        </p:spPr>
      </p:pic>
      <p:pic>
        <p:nvPicPr>
          <p:cNvPr id="2134" name="Picture 4" descr="Wealthsimple | Logopedia | Fandom">
            <a:extLst>
              <a:ext uri="{FF2B5EF4-FFF2-40B4-BE49-F238E27FC236}">
                <a16:creationId xmlns:a16="http://schemas.microsoft.com/office/drawing/2014/main" id="{A1B29739-8FD8-9B9C-9877-B564F07CB6C8}"/>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11264156" y="3182292"/>
            <a:ext cx="210342" cy="204766"/>
          </a:xfrm>
          <a:prstGeom prst="ellipse">
            <a:avLst/>
          </a:prstGeom>
          <a:noFill/>
          <a:extLst>
            <a:ext uri="{909E8E84-426E-40DD-AFC4-6F175D3DCCD1}">
              <a14:hiddenFill xmlns:a14="http://schemas.microsoft.com/office/drawing/2010/main">
                <a:solidFill>
                  <a:srgbClr val="FFFFFF"/>
                </a:solidFill>
              </a14:hiddenFill>
            </a:ext>
          </a:extLst>
        </p:spPr>
      </p:pic>
      <p:sp>
        <p:nvSpPr>
          <p:cNvPr id="23" name="Rectangle 22">
            <a:extLst>
              <a:ext uri="{FF2B5EF4-FFF2-40B4-BE49-F238E27FC236}">
                <a16:creationId xmlns:a16="http://schemas.microsoft.com/office/drawing/2014/main" id="{4F2CDA8D-322A-B328-ADB9-4BF6AB3DE9E3}"/>
              </a:ext>
            </a:extLst>
          </p:cNvPr>
          <p:cNvSpPr/>
          <p:nvPr/>
        </p:nvSpPr>
        <p:spPr>
          <a:xfrm>
            <a:off x="7982102" y="2775864"/>
            <a:ext cx="3573436"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Real Estate &amp; Mortgage</a:t>
            </a:r>
            <a:r>
              <a:rPr lang="en-US" sz="1000" b="1" baseline="30000">
                <a:solidFill>
                  <a:schemeClr val="tx1"/>
                </a:solidFill>
              </a:rPr>
              <a:t>3</a:t>
            </a:r>
          </a:p>
        </p:txBody>
      </p:sp>
      <p:sp>
        <p:nvSpPr>
          <p:cNvPr id="2136" name="Oval 2135">
            <a:extLst>
              <a:ext uri="{FF2B5EF4-FFF2-40B4-BE49-F238E27FC236}">
                <a16:creationId xmlns:a16="http://schemas.microsoft.com/office/drawing/2014/main" id="{4557B13B-9D47-34C9-A2D7-4E7E1C5273B5}"/>
              </a:ext>
            </a:extLst>
          </p:cNvPr>
          <p:cNvSpPr>
            <a:spLocks/>
          </p:cNvSpPr>
          <p:nvPr/>
        </p:nvSpPr>
        <p:spPr>
          <a:xfrm>
            <a:off x="10725343" y="2831432"/>
            <a:ext cx="210342" cy="204766"/>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37" name="Picture 2" descr="Fintable - Tangerine - Personal API and Transaction Data (PLAID)">
            <a:extLst>
              <a:ext uri="{FF2B5EF4-FFF2-40B4-BE49-F238E27FC236}">
                <a16:creationId xmlns:a16="http://schemas.microsoft.com/office/drawing/2014/main" id="{6CCA7BE5-02EA-3D29-8915-B2D467A7C22B}"/>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10992562" y="2831432"/>
            <a:ext cx="210342" cy="204766"/>
          </a:xfrm>
          <a:prstGeom prst="ellipse">
            <a:avLst/>
          </a:prstGeom>
          <a:noFill/>
          <a:extLst>
            <a:ext uri="{909E8E84-426E-40DD-AFC4-6F175D3DCCD1}">
              <a14:hiddenFill xmlns:a14="http://schemas.microsoft.com/office/drawing/2010/main">
                <a:solidFill>
                  <a:srgbClr val="FFFFFF"/>
                </a:solidFill>
              </a14:hiddenFill>
            </a:ext>
          </a:extLst>
        </p:spPr>
      </p:pic>
      <p:pic>
        <p:nvPicPr>
          <p:cNvPr id="2138" name="Picture 4" descr="Wealthsimple | Logopedia | Fandom">
            <a:extLst>
              <a:ext uri="{FF2B5EF4-FFF2-40B4-BE49-F238E27FC236}">
                <a16:creationId xmlns:a16="http://schemas.microsoft.com/office/drawing/2014/main" id="{0EA0687D-AD04-EFF2-27CA-61D43273F6B3}"/>
              </a:ext>
            </a:extLst>
          </p:cNvPr>
          <p:cNvPicPr>
            <a:picLocks noChangeArrowheads="1"/>
          </p:cNvPicPr>
          <p:nvPr/>
        </p:nvPicPr>
        <p:blipFill rotWithShape="1">
          <a:blip r:embed="rId8">
            <a:alphaModFix amt="25000"/>
            <a:extLst>
              <a:ext uri="{28A0092B-C50C-407E-A947-70E740481C1C}">
                <a14:useLocalDpi xmlns:a14="http://schemas.microsoft.com/office/drawing/2010/main" val="0"/>
              </a:ext>
            </a:extLst>
          </a:blip>
          <a:srcRect/>
          <a:stretch/>
        </p:blipFill>
        <p:spPr bwMode="auto">
          <a:xfrm>
            <a:off x="11264156" y="2831432"/>
            <a:ext cx="210342" cy="204766"/>
          </a:xfrm>
          <a:prstGeom prst="ellipse">
            <a:avLst/>
          </a:prstGeom>
          <a:solidFill>
            <a:schemeClr val="bg2"/>
          </a:solidFill>
          <a:ln>
            <a:solidFill>
              <a:schemeClr val="tx1"/>
            </a:solidFill>
            <a:prstDash val="dash"/>
          </a:ln>
        </p:spPr>
      </p:pic>
      <p:sp>
        <p:nvSpPr>
          <p:cNvPr id="12" name="Rectangle 11">
            <a:extLst>
              <a:ext uri="{FF2B5EF4-FFF2-40B4-BE49-F238E27FC236}">
                <a16:creationId xmlns:a16="http://schemas.microsoft.com/office/drawing/2014/main" id="{58BB4520-9FD6-52B0-EEA5-F87669A5AF35}"/>
              </a:ext>
            </a:extLst>
          </p:cNvPr>
          <p:cNvSpPr/>
          <p:nvPr/>
        </p:nvSpPr>
        <p:spPr>
          <a:xfrm>
            <a:off x="3988576" y="3974365"/>
            <a:ext cx="2505900" cy="222178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PAYMENTS</a:t>
            </a:r>
          </a:p>
        </p:txBody>
      </p:sp>
      <p:sp>
        <p:nvSpPr>
          <p:cNvPr id="14" name="Rectangle 13">
            <a:extLst>
              <a:ext uri="{FF2B5EF4-FFF2-40B4-BE49-F238E27FC236}">
                <a16:creationId xmlns:a16="http://schemas.microsoft.com/office/drawing/2014/main" id="{F7F85AAE-300E-B028-0228-F07204FD5681}"/>
              </a:ext>
            </a:extLst>
          </p:cNvPr>
          <p:cNvSpPr/>
          <p:nvPr/>
        </p:nvSpPr>
        <p:spPr>
          <a:xfrm>
            <a:off x="6574876" y="3975215"/>
            <a:ext cx="2505900" cy="222178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PERSONAL FINANCE</a:t>
            </a:r>
          </a:p>
        </p:txBody>
      </p:sp>
      <p:sp>
        <p:nvSpPr>
          <p:cNvPr id="17" name="Rectangle 16">
            <a:extLst>
              <a:ext uri="{FF2B5EF4-FFF2-40B4-BE49-F238E27FC236}">
                <a16:creationId xmlns:a16="http://schemas.microsoft.com/office/drawing/2014/main" id="{644473B9-A887-9B25-3B69-0F62BB05B7BE}"/>
              </a:ext>
            </a:extLst>
          </p:cNvPr>
          <p:cNvSpPr/>
          <p:nvPr/>
        </p:nvSpPr>
        <p:spPr>
          <a:xfrm>
            <a:off x="9161176" y="3974365"/>
            <a:ext cx="2505900" cy="2221784"/>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INSURANCE</a:t>
            </a:r>
            <a:endParaRPr lang="en-US" sz="1000" spc="200" baseline="30000">
              <a:solidFill>
                <a:schemeClr val="tx1"/>
              </a:solidFill>
            </a:endParaRPr>
          </a:p>
        </p:txBody>
      </p:sp>
      <p:sp>
        <p:nvSpPr>
          <p:cNvPr id="31" name="Rectangle 30">
            <a:extLst>
              <a:ext uri="{FF2B5EF4-FFF2-40B4-BE49-F238E27FC236}">
                <a16:creationId xmlns:a16="http://schemas.microsoft.com/office/drawing/2014/main" id="{53E7FB1F-4B0C-C029-67FF-6CC7BEB174F5}"/>
              </a:ext>
            </a:extLst>
          </p:cNvPr>
          <p:cNvSpPr/>
          <p:nvPr/>
        </p:nvSpPr>
        <p:spPr>
          <a:xfrm>
            <a:off x="6668738" y="4371408"/>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Tax Planning &amp; Filing</a:t>
            </a:r>
          </a:p>
        </p:txBody>
      </p:sp>
      <p:sp>
        <p:nvSpPr>
          <p:cNvPr id="2140" name="Oval 2139">
            <a:extLst>
              <a:ext uri="{FF2B5EF4-FFF2-40B4-BE49-F238E27FC236}">
                <a16:creationId xmlns:a16="http://schemas.microsoft.com/office/drawing/2014/main" id="{E267D0D1-41BB-7198-939C-C9D4955C10B5}"/>
              </a:ext>
            </a:extLst>
          </p:cNvPr>
          <p:cNvSpPr>
            <a:spLocks/>
          </p:cNvSpPr>
          <p:nvPr/>
        </p:nvSpPr>
        <p:spPr>
          <a:xfrm>
            <a:off x="8127176" y="4421827"/>
            <a:ext cx="210312" cy="210312"/>
          </a:xfrm>
          <a:prstGeom prst="ellipse">
            <a:avLst/>
          </a:prstGeom>
          <a:blipFill dpi="0" rotWithShape="1">
            <a:blip r:embed="rId6">
              <a:alphaModFix amt="15000"/>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41" name="Picture 2" descr="Fintable - Tangerine - Personal API and Transaction Data (PLAID)">
            <a:extLst>
              <a:ext uri="{FF2B5EF4-FFF2-40B4-BE49-F238E27FC236}">
                <a16:creationId xmlns:a16="http://schemas.microsoft.com/office/drawing/2014/main" id="{E9461271-430C-2C60-3D70-1E6162A76347}"/>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8394123"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42" name="Picture 4" descr="Wealthsimple | Logopedia | Fandom">
            <a:extLst>
              <a:ext uri="{FF2B5EF4-FFF2-40B4-BE49-F238E27FC236}">
                <a16:creationId xmlns:a16="http://schemas.microsoft.com/office/drawing/2014/main" id="{7FAF8731-8AEA-E7A0-59D9-3D22A7A1E7C3}"/>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8661073"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6FD02134-27E7-9BE9-508F-E160D06078A7}"/>
              </a:ext>
            </a:extLst>
          </p:cNvPr>
          <p:cNvSpPr/>
          <p:nvPr/>
        </p:nvSpPr>
        <p:spPr>
          <a:xfrm>
            <a:off x="6668738" y="4759659"/>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Expense Management</a:t>
            </a:r>
          </a:p>
        </p:txBody>
      </p:sp>
      <p:sp>
        <p:nvSpPr>
          <p:cNvPr id="2144" name="Oval 2143">
            <a:extLst>
              <a:ext uri="{FF2B5EF4-FFF2-40B4-BE49-F238E27FC236}">
                <a16:creationId xmlns:a16="http://schemas.microsoft.com/office/drawing/2014/main" id="{910E9353-BA36-9E03-7B35-BEBF9A02A0FB}"/>
              </a:ext>
            </a:extLst>
          </p:cNvPr>
          <p:cNvSpPr>
            <a:spLocks/>
          </p:cNvSpPr>
          <p:nvPr/>
        </p:nvSpPr>
        <p:spPr>
          <a:xfrm>
            <a:off x="8127176" y="481007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45" name="Picture 2" descr="Fintable - Tangerine - Personal API and Transaction Data (PLAID)">
            <a:extLst>
              <a:ext uri="{FF2B5EF4-FFF2-40B4-BE49-F238E27FC236}">
                <a16:creationId xmlns:a16="http://schemas.microsoft.com/office/drawing/2014/main" id="{D9115B64-B158-3843-06B0-B5D495CA401C}"/>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8394123"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46" name="Picture 4" descr="Wealthsimple | Logopedia | Fandom">
            <a:extLst>
              <a:ext uri="{FF2B5EF4-FFF2-40B4-BE49-F238E27FC236}">
                <a16:creationId xmlns:a16="http://schemas.microsoft.com/office/drawing/2014/main" id="{A1E251A6-C283-D54D-336A-919D3F8D32C5}"/>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8661073"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32" name="Rectangle 31">
            <a:extLst>
              <a:ext uri="{FF2B5EF4-FFF2-40B4-BE49-F238E27FC236}">
                <a16:creationId xmlns:a16="http://schemas.microsoft.com/office/drawing/2014/main" id="{5A0C7943-A6C2-5C7A-BAB7-0AA1F2AAB569}"/>
              </a:ext>
            </a:extLst>
          </p:cNvPr>
          <p:cNvSpPr/>
          <p:nvPr/>
        </p:nvSpPr>
        <p:spPr>
          <a:xfrm>
            <a:off x="6668738" y="5136213"/>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a:solidFill>
                  <a:schemeClr val="tx1">
                    <a:lumMod val="50000"/>
                    <a:lumOff val="50000"/>
                  </a:schemeClr>
                </a:solidFill>
              </a:rPr>
              <a:t>Accounting</a:t>
            </a:r>
          </a:p>
        </p:txBody>
      </p:sp>
      <p:sp>
        <p:nvSpPr>
          <p:cNvPr id="2148" name="Oval 2147">
            <a:extLst>
              <a:ext uri="{FF2B5EF4-FFF2-40B4-BE49-F238E27FC236}">
                <a16:creationId xmlns:a16="http://schemas.microsoft.com/office/drawing/2014/main" id="{D10B8014-6602-3601-4DDE-754E97BA1C83}"/>
              </a:ext>
            </a:extLst>
          </p:cNvPr>
          <p:cNvSpPr>
            <a:spLocks/>
          </p:cNvSpPr>
          <p:nvPr/>
        </p:nvSpPr>
        <p:spPr>
          <a:xfrm>
            <a:off x="8127176" y="5186632"/>
            <a:ext cx="210312" cy="210312"/>
          </a:xfrm>
          <a:prstGeom prst="ellipse">
            <a:avLst/>
          </a:prstGeom>
          <a:blipFill dpi="0" rotWithShape="1">
            <a:blip r:embed="rId6">
              <a:alphaModFix amt="15000"/>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49" name="Picture 2" descr="Fintable - Tangerine - Personal API and Transaction Data (PLAID)">
            <a:extLst>
              <a:ext uri="{FF2B5EF4-FFF2-40B4-BE49-F238E27FC236}">
                <a16:creationId xmlns:a16="http://schemas.microsoft.com/office/drawing/2014/main" id="{0D8F867C-4E7B-696B-D5C4-339A75692B39}"/>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8394123"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50" name="Picture 4" descr="Wealthsimple | Logopedia | Fandom">
            <a:extLst>
              <a:ext uri="{FF2B5EF4-FFF2-40B4-BE49-F238E27FC236}">
                <a16:creationId xmlns:a16="http://schemas.microsoft.com/office/drawing/2014/main" id="{9F0F0ECD-D083-36FF-A8A2-DCFA5A72FA88}"/>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8661073"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37" name="Rectangle 36">
            <a:extLst>
              <a:ext uri="{FF2B5EF4-FFF2-40B4-BE49-F238E27FC236}">
                <a16:creationId xmlns:a16="http://schemas.microsoft.com/office/drawing/2014/main" id="{81C4767A-3992-8583-83EE-BC54BAE10375}"/>
              </a:ext>
            </a:extLst>
          </p:cNvPr>
          <p:cNvSpPr/>
          <p:nvPr/>
        </p:nvSpPr>
        <p:spPr>
          <a:xfrm>
            <a:off x="4082438" y="4759786"/>
            <a:ext cx="2274312"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Money Transfer </a:t>
            </a:r>
          </a:p>
          <a:p>
            <a:r>
              <a:rPr lang="en-US" sz="1000">
                <a:solidFill>
                  <a:schemeClr val="tx1"/>
                </a:solidFill>
              </a:rPr>
              <a:t>(Incl. Cross Border)</a:t>
            </a:r>
          </a:p>
        </p:txBody>
      </p:sp>
      <p:sp>
        <p:nvSpPr>
          <p:cNvPr id="2077" name="Rectangle 2076">
            <a:extLst>
              <a:ext uri="{FF2B5EF4-FFF2-40B4-BE49-F238E27FC236}">
                <a16:creationId xmlns:a16="http://schemas.microsoft.com/office/drawing/2014/main" id="{A527EB80-4989-33A6-2B00-7F2DB0A2EC4D}"/>
              </a:ext>
            </a:extLst>
          </p:cNvPr>
          <p:cNvSpPr/>
          <p:nvPr/>
        </p:nvSpPr>
        <p:spPr>
          <a:xfrm>
            <a:off x="4082438" y="5136340"/>
            <a:ext cx="2274312"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a:solidFill>
                  <a:schemeClr val="tx1">
                    <a:lumMod val="50000"/>
                    <a:lumOff val="50000"/>
                  </a:schemeClr>
                </a:solidFill>
              </a:rPr>
              <a:t>Payment solutions</a:t>
            </a:r>
          </a:p>
        </p:txBody>
      </p:sp>
      <p:sp>
        <p:nvSpPr>
          <p:cNvPr id="36" name="Rectangle 35">
            <a:extLst>
              <a:ext uri="{FF2B5EF4-FFF2-40B4-BE49-F238E27FC236}">
                <a16:creationId xmlns:a16="http://schemas.microsoft.com/office/drawing/2014/main" id="{504460D5-1B9B-5963-7A1C-E3619D1301D5}"/>
              </a:ext>
            </a:extLst>
          </p:cNvPr>
          <p:cNvSpPr/>
          <p:nvPr/>
        </p:nvSpPr>
        <p:spPr>
          <a:xfrm>
            <a:off x="4082438" y="4371535"/>
            <a:ext cx="2274312"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Corporate payroll</a:t>
            </a:r>
          </a:p>
        </p:txBody>
      </p:sp>
      <p:sp>
        <p:nvSpPr>
          <p:cNvPr id="2152" name="Oval 2151">
            <a:extLst>
              <a:ext uri="{FF2B5EF4-FFF2-40B4-BE49-F238E27FC236}">
                <a16:creationId xmlns:a16="http://schemas.microsoft.com/office/drawing/2014/main" id="{44EB27CE-4A9D-1B4B-D384-70157E1B814C}"/>
              </a:ext>
            </a:extLst>
          </p:cNvPr>
          <p:cNvSpPr>
            <a:spLocks/>
          </p:cNvSpPr>
          <p:nvPr/>
        </p:nvSpPr>
        <p:spPr>
          <a:xfrm>
            <a:off x="5531573" y="4421827"/>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53" name="Picture 2" descr="Fintable - Tangerine - Personal API and Transaction Data (PLAID)">
            <a:extLst>
              <a:ext uri="{FF2B5EF4-FFF2-40B4-BE49-F238E27FC236}">
                <a16:creationId xmlns:a16="http://schemas.microsoft.com/office/drawing/2014/main" id="{3A975FF0-8706-F3BE-49A5-5059CDDD0362}"/>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5798520"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54" name="Picture 4" descr="Wealthsimple | Logopedia | Fandom">
            <a:extLst>
              <a:ext uri="{FF2B5EF4-FFF2-40B4-BE49-F238E27FC236}">
                <a16:creationId xmlns:a16="http://schemas.microsoft.com/office/drawing/2014/main" id="{6CD5288A-59BF-2AEC-FB9E-36E90EF89A71}"/>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6065469"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2156" name="Oval 2155">
            <a:extLst>
              <a:ext uri="{FF2B5EF4-FFF2-40B4-BE49-F238E27FC236}">
                <a16:creationId xmlns:a16="http://schemas.microsoft.com/office/drawing/2014/main" id="{7B0C8D5E-1631-6031-EF94-C1B25C92EE91}"/>
              </a:ext>
            </a:extLst>
          </p:cNvPr>
          <p:cNvSpPr>
            <a:spLocks/>
          </p:cNvSpPr>
          <p:nvPr/>
        </p:nvSpPr>
        <p:spPr>
          <a:xfrm>
            <a:off x="5531572" y="481007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57" name="Picture 2" descr="Fintable - Tangerine - Personal API and Transaction Data (PLAID)">
            <a:extLst>
              <a:ext uri="{FF2B5EF4-FFF2-40B4-BE49-F238E27FC236}">
                <a16:creationId xmlns:a16="http://schemas.microsoft.com/office/drawing/2014/main" id="{1DF91F9B-A911-6EC7-331C-7B5E3AB74E39}"/>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5798519"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58" name="Picture 4" descr="Wealthsimple | Logopedia | Fandom">
            <a:extLst>
              <a:ext uri="{FF2B5EF4-FFF2-40B4-BE49-F238E27FC236}">
                <a16:creationId xmlns:a16="http://schemas.microsoft.com/office/drawing/2014/main" id="{F021BA39-012D-4A48-BDDB-C0292A44D316}"/>
              </a:ext>
            </a:extLst>
          </p:cNvPr>
          <p:cNvPicPr>
            <a:picLocks noChangeArrowheads="1"/>
          </p:cNvPicPr>
          <p:nvPr/>
        </p:nvPicPr>
        <p:blipFill rotWithShape="1">
          <a:blip r:embed="rId8">
            <a:extLst>
              <a:ext uri="{28A0092B-C50C-407E-A947-70E740481C1C}">
                <a14:useLocalDpi xmlns:a14="http://schemas.microsoft.com/office/drawing/2010/main" val="0"/>
              </a:ext>
            </a:extLst>
          </a:blip>
          <a:srcRect/>
          <a:stretch/>
        </p:blipFill>
        <p:spPr bwMode="auto">
          <a:xfrm>
            <a:off x="6065468"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2164" name="Oval 2163">
            <a:extLst>
              <a:ext uri="{FF2B5EF4-FFF2-40B4-BE49-F238E27FC236}">
                <a16:creationId xmlns:a16="http://schemas.microsoft.com/office/drawing/2014/main" id="{3535C33D-E4E8-5602-FF7D-75B683D5198F}"/>
              </a:ext>
            </a:extLst>
          </p:cNvPr>
          <p:cNvSpPr>
            <a:spLocks/>
          </p:cNvSpPr>
          <p:nvPr/>
        </p:nvSpPr>
        <p:spPr>
          <a:xfrm>
            <a:off x="5531572" y="5186632"/>
            <a:ext cx="210312" cy="210312"/>
          </a:xfrm>
          <a:prstGeom prst="ellipse">
            <a:avLst/>
          </a:prstGeom>
          <a:blipFill dpi="0" rotWithShape="1">
            <a:blip r:embed="rId6">
              <a:alphaModFix amt="15000"/>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65" name="Picture 2" descr="Fintable - Tangerine - Personal API and Transaction Data (PLAID)">
            <a:extLst>
              <a:ext uri="{FF2B5EF4-FFF2-40B4-BE49-F238E27FC236}">
                <a16:creationId xmlns:a16="http://schemas.microsoft.com/office/drawing/2014/main" id="{AE97D99C-115B-745B-12E6-BE79E18857CF}"/>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5798519"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66" name="Picture 4" descr="Wealthsimple | Logopedia | Fandom">
            <a:extLst>
              <a:ext uri="{FF2B5EF4-FFF2-40B4-BE49-F238E27FC236}">
                <a16:creationId xmlns:a16="http://schemas.microsoft.com/office/drawing/2014/main" id="{AB8430FE-9235-F66D-205B-0B686FAE24AE}"/>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6065468"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E4C68D2D-108A-88FC-3CB1-1E530B04BAB7}"/>
              </a:ext>
            </a:extLst>
          </p:cNvPr>
          <p:cNvSpPr/>
          <p:nvPr/>
        </p:nvSpPr>
        <p:spPr>
          <a:xfrm>
            <a:off x="9255038" y="4371408"/>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Creditor</a:t>
            </a:r>
          </a:p>
        </p:txBody>
      </p:sp>
      <p:sp>
        <p:nvSpPr>
          <p:cNvPr id="2168" name="Oval 2167">
            <a:extLst>
              <a:ext uri="{FF2B5EF4-FFF2-40B4-BE49-F238E27FC236}">
                <a16:creationId xmlns:a16="http://schemas.microsoft.com/office/drawing/2014/main" id="{EEE7E3A1-8D15-98FC-04D2-E1D7A1086019}"/>
              </a:ext>
            </a:extLst>
          </p:cNvPr>
          <p:cNvSpPr>
            <a:spLocks/>
          </p:cNvSpPr>
          <p:nvPr/>
        </p:nvSpPr>
        <p:spPr>
          <a:xfrm>
            <a:off x="10677238" y="4421827"/>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69" name="Picture 2" descr="Fintable - Tangerine - Personal API and Transaction Data (PLAID)">
            <a:extLst>
              <a:ext uri="{FF2B5EF4-FFF2-40B4-BE49-F238E27FC236}">
                <a16:creationId xmlns:a16="http://schemas.microsoft.com/office/drawing/2014/main" id="{CBE68325-23CA-26DF-09E9-FD455ACF23F8}"/>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10944457"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35" name="Rectangle 34">
            <a:extLst>
              <a:ext uri="{FF2B5EF4-FFF2-40B4-BE49-F238E27FC236}">
                <a16:creationId xmlns:a16="http://schemas.microsoft.com/office/drawing/2014/main" id="{3F908850-1FD3-3C6D-B4A1-4C4B76DC9413}"/>
              </a:ext>
            </a:extLst>
          </p:cNvPr>
          <p:cNvSpPr/>
          <p:nvPr/>
        </p:nvSpPr>
        <p:spPr>
          <a:xfrm>
            <a:off x="9255038" y="4759659"/>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Non-Creditor</a:t>
            </a:r>
          </a:p>
        </p:txBody>
      </p:sp>
      <p:sp>
        <p:nvSpPr>
          <p:cNvPr id="2172" name="Oval 2171">
            <a:extLst>
              <a:ext uri="{FF2B5EF4-FFF2-40B4-BE49-F238E27FC236}">
                <a16:creationId xmlns:a16="http://schemas.microsoft.com/office/drawing/2014/main" id="{7969CF62-9F30-2406-6A36-17F758B9E1AB}"/>
              </a:ext>
            </a:extLst>
          </p:cNvPr>
          <p:cNvSpPr>
            <a:spLocks/>
          </p:cNvSpPr>
          <p:nvPr/>
        </p:nvSpPr>
        <p:spPr>
          <a:xfrm>
            <a:off x="10677238" y="481007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73" name="Picture 2" descr="Fintable - Tangerine - Personal API and Transaction Data (PLAID)">
            <a:extLst>
              <a:ext uri="{FF2B5EF4-FFF2-40B4-BE49-F238E27FC236}">
                <a16:creationId xmlns:a16="http://schemas.microsoft.com/office/drawing/2014/main" id="{DC0F4A78-C21B-A52B-020C-740B9B60611C}"/>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10944457"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2088" name="Rectangle 2087">
            <a:extLst>
              <a:ext uri="{FF2B5EF4-FFF2-40B4-BE49-F238E27FC236}">
                <a16:creationId xmlns:a16="http://schemas.microsoft.com/office/drawing/2014/main" id="{AD49E46B-27D2-A5EB-C594-E770578E4580}"/>
              </a:ext>
            </a:extLst>
          </p:cNvPr>
          <p:cNvSpPr/>
          <p:nvPr/>
        </p:nvSpPr>
        <p:spPr>
          <a:xfrm>
            <a:off x="9255038" y="5136213"/>
            <a:ext cx="2274312"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a:solidFill>
                  <a:schemeClr val="tx1">
                    <a:lumMod val="50000"/>
                    <a:lumOff val="50000"/>
                  </a:schemeClr>
                </a:solidFill>
              </a:rPr>
              <a:t>Business</a:t>
            </a:r>
          </a:p>
        </p:txBody>
      </p:sp>
      <p:sp>
        <p:nvSpPr>
          <p:cNvPr id="2176" name="Oval 2175">
            <a:extLst>
              <a:ext uri="{FF2B5EF4-FFF2-40B4-BE49-F238E27FC236}">
                <a16:creationId xmlns:a16="http://schemas.microsoft.com/office/drawing/2014/main" id="{88DFD9F2-59FE-9E8C-B624-8A5D853CEC1E}"/>
              </a:ext>
            </a:extLst>
          </p:cNvPr>
          <p:cNvSpPr>
            <a:spLocks/>
          </p:cNvSpPr>
          <p:nvPr/>
        </p:nvSpPr>
        <p:spPr>
          <a:xfrm>
            <a:off x="10677238" y="5186632"/>
            <a:ext cx="210312" cy="210312"/>
          </a:xfrm>
          <a:prstGeom prst="ellipse">
            <a:avLst/>
          </a:prstGeom>
          <a:blipFill dpi="0" rotWithShape="1">
            <a:blip r:embed="rId6">
              <a:alphaModFix amt="15000"/>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77" name="Picture 2" descr="Fintable - Tangerine - Personal API and Transaction Data (PLAID)">
            <a:extLst>
              <a:ext uri="{FF2B5EF4-FFF2-40B4-BE49-F238E27FC236}">
                <a16:creationId xmlns:a16="http://schemas.microsoft.com/office/drawing/2014/main" id="{E282AD74-428A-89AC-06A4-A22935234CF5}"/>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10944457"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78" name="Picture 4" descr="Wealthsimple | Logopedia | Fandom">
            <a:extLst>
              <a:ext uri="{FF2B5EF4-FFF2-40B4-BE49-F238E27FC236}">
                <a16:creationId xmlns:a16="http://schemas.microsoft.com/office/drawing/2014/main" id="{2E437109-7842-B40E-74C6-450863CC7773}"/>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11216051" y="5186632"/>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D6D42E5F-E405-14E1-E1DC-7FC910E3F449}"/>
              </a:ext>
            </a:extLst>
          </p:cNvPr>
          <p:cNvSpPr/>
          <p:nvPr/>
        </p:nvSpPr>
        <p:spPr>
          <a:xfrm>
            <a:off x="521170" y="1653136"/>
            <a:ext cx="3413194" cy="4543013"/>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91440" rIns="180000" bIns="180000" rtlCol="0" anchor="t"/>
          <a:lstStyle/>
          <a:p>
            <a:pPr algn="ctr">
              <a:spcBef>
                <a:spcPts val="600"/>
              </a:spcBef>
            </a:pPr>
            <a:r>
              <a:rPr lang="en-US" sz="1000" spc="200">
                <a:solidFill>
                  <a:schemeClr val="tx1"/>
                </a:solidFill>
              </a:rPr>
              <a:t>WEALTH MANAGEMENT</a:t>
            </a:r>
          </a:p>
        </p:txBody>
      </p:sp>
      <p:sp>
        <p:nvSpPr>
          <p:cNvPr id="18" name="Rectangle 17">
            <a:extLst>
              <a:ext uri="{FF2B5EF4-FFF2-40B4-BE49-F238E27FC236}">
                <a16:creationId xmlns:a16="http://schemas.microsoft.com/office/drawing/2014/main" id="{5EC5F472-CD88-5F6F-9D70-A28CCC8A279C}"/>
              </a:ext>
            </a:extLst>
          </p:cNvPr>
          <p:cNvSpPr/>
          <p:nvPr/>
        </p:nvSpPr>
        <p:spPr>
          <a:xfrm>
            <a:off x="4125840" y="2081923"/>
            <a:ext cx="3573463"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Savings Account </a:t>
            </a:r>
          </a:p>
        </p:txBody>
      </p:sp>
      <p:sp>
        <p:nvSpPr>
          <p:cNvPr id="9" name="Oval 8">
            <a:extLst>
              <a:ext uri="{FF2B5EF4-FFF2-40B4-BE49-F238E27FC236}">
                <a16:creationId xmlns:a16="http://schemas.microsoft.com/office/drawing/2014/main" id="{B26A7EE6-4E0D-C12A-372D-B3C2C98F218E}"/>
              </a:ext>
            </a:extLst>
          </p:cNvPr>
          <p:cNvSpPr>
            <a:spLocks/>
          </p:cNvSpPr>
          <p:nvPr/>
        </p:nvSpPr>
        <p:spPr>
          <a:xfrm>
            <a:off x="6797600" y="2132215"/>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10" name="Picture 2" descr="Fintable - Tangerine - Personal API and Transaction Data (PLAID)">
            <a:extLst>
              <a:ext uri="{FF2B5EF4-FFF2-40B4-BE49-F238E27FC236}">
                <a16:creationId xmlns:a16="http://schemas.microsoft.com/office/drawing/2014/main" id="{12CA449F-4FD9-5EE5-2E31-C07BF13A128B}"/>
              </a:ext>
            </a:extLst>
          </p:cNvPr>
          <p:cNvPicPr>
            <a:picLocks noChangeArrowheads="1"/>
          </p:cNvPicPr>
          <p:nvPr/>
        </p:nvPicPr>
        <p:blipFill rotWithShape="1">
          <a:blip r:embed="rId7">
            <a:extLst>
              <a:ext uri="{28A0092B-C50C-407E-A947-70E740481C1C}">
                <a14:useLocalDpi xmlns:a14="http://schemas.microsoft.com/office/drawing/2010/main" val="0"/>
              </a:ext>
            </a:extLst>
          </a:blip>
          <a:srcRect l="4237" r="4237"/>
          <a:stretch/>
        </p:blipFill>
        <p:spPr bwMode="auto">
          <a:xfrm>
            <a:off x="7099932" y="2132215"/>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15" name="Picture 4" descr="Wealthsimple | Logopedia | Fandom">
            <a:extLst>
              <a:ext uri="{FF2B5EF4-FFF2-40B4-BE49-F238E27FC236}">
                <a16:creationId xmlns:a16="http://schemas.microsoft.com/office/drawing/2014/main" id="{EA0538CD-3FC2-EE3A-0136-65AB62CD68C0}"/>
              </a:ext>
            </a:extLst>
          </p:cNvPr>
          <p:cNvPicPr>
            <a:picLocks noChangeArrowheads="1"/>
          </p:cNvPicPr>
          <p:nvPr/>
        </p:nvPicPr>
        <p:blipFill rotWithShape="1">
          <a:blip r:embed="rId8">
            <a:extLst>
              <a:ext uri="{28A0092B-C50C-407E-A947-70E740481C1C}">
                <a14:useLocalDpi xmlns:a14="http://schemas.microsoft.com/office/drawing/2010/main" val="0"/>
              </a:ext>
            </a:extLst>
          </a:blip>
          <a:srcRect/>
          <a:stretch/>
        </p:blipFill>
        <p:spPr bwMode="auto">
          <a:xfrm>
            <a:off x="7397756" y="2132215"/>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6C4A1970-A200-F929-ED66-2B3AD7DD7FE9}"/>
              </a:ext>
            </a:extLst>
          </p:cNvPr>
          <p:cNvSpPr/>
          <p:nvPr/>
        </p:nvSpPr>
        <p:spPr>
          <a:xfrm>
            <a:off x="4125840" y="2432736"/>
            <a:ext cx="3573463"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Chequing Account</a:t>
            </a:r>
          </a:p>
        </p:txBody>
      </p:sp>
      <p:sp>
        <p:nvSpPr>
          <p:cNvPr id="42" name="Oval 41">
            <a:extLst>
              <a:ext uri="{FF2B5EF4-FFF2-40B4-BE49-F238E27FC236}">
                <a16:creationId xmlns:a16="http://schemas.microsoft.com/office/drawing/2014/main" id="{989E061D-A62F-1286-A377-B724A991D89F}"/>
              </a:ext>
            </a:extLst>
          </p:cNvPr>
          <p:cNvSpPr>
            <a:spLocks/>
          </p:cNvSpPr>
          <p:nvPr/>
        </p:nvSpPr>
        <p:spPr>
          <a:xfrm>
            <a:off x="6797600" y="248302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43" name="Picture 2" descr="Fintable - Tangerine - Personal API and Transaction Data (PLAID)">
            <a:extLst>
              <a:ext uri="{FF2B5EF4-FFF2-40B4-BE49-F238E27FC236}">
                <a16:creationId xmlns:a16="http://schemas.microsoft.com/office/drawing/2014/main" id="{27D7B737-0748-FA68-2E89-3A27A25725BC}"/>
              </a:ext>
            </a:extLst>
          </p:cNvPr>
          <p:cNvPicPr>
            <a:picLocks noChangeArrowheads="1"/>
          </p:cNvPicPr>
          <p:nvPr/>
        </p:nvPicPr>
        <p:blipFill rotWithShape="1">
          <a:blip r:embed="rId7">
            <a:extLst>
              <a:ext uri="{28A0092B-C50C-407E-A947-70E740481C1C}">
                <a14:useLocalDpi xmlns:a14="http://schemas.microsoft.com/office/drawing/2010/main" val="0"/>
              </a:ext>
            </a:extLst>
          </a:blip>
          <a:srcRect l="4237" r="4237"/>
          <a:stretch/>
        </p:blipFill>
        <p:spPr bwMode="auto">
          <a:xfrm>
            <a:off x="7096468" y="248302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44" name="Picture 4" descr="Wealthsimple | Logopedia | Fandom">
            <a:extLst>
              <a:ext uri="{FF2B5EF4-FFF2-40B4-BE49-F238E27FC236}">
                <a16:creationId xmlns:a16="http://schemas.microsoft.com/office/drawing/2014/main" id="{E38F8567-682D-059A-0A31-3EAFDAA6AF98}"/>
              </a:ext>
            </a:extLst>
          </p:cNvPr>
          <p:cNvPicPr>
            <a:picLocks noChangeArrowheads="1"/>
          </p:cNvPicPr>
          <p:nvPr/>
        </p:nvPicPr>
        <p:blipFill rotWithShape="1">
          <a:blip r:embed="rId8">
            <a:extLst>
              <a:ext uri="{28A0092B-C50C-407E-A947-70E740481C1C}">
                <a14:useLocalDpi xmlns:a14="http://schemas.microsoft.com/office/drawing/2010/main" val="0"/>
              </a:ext>
            </a:extLst>
          </a:blip>
          <a:srcRect/>
          <a:stretch/>
        </p:blipFill>
        <p:spPr bwMode="auto">
          <a:xfrm>
            <a:off x="7397756" y="2483028"/>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26" name="Rectangle 25">
            <a:extLst>
              <a:ext uri="{FF2B5EF4-FFF2-40B4-BE49-F238E27FC236}">
                <a16:creationId xmlns:a16="http://schemas.microsoft.com/office/drawing/2014/main" id="{2502CA1C-576F-5CE5-7684-F2053B0F4E56}"/>
              </a:ext>
            </a:extLst>
          </p:cNvPr>
          <p:cNvSpPr/>
          <p:nvPr/>
        </p:nvSpPr>
        <p:spPr>
          <a:xfrm>
            <a:off x="4125840" y="2778367"/>
            <a:ext cx="3573463"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Direct Deposits</a:t>
            </a:r>
          </a:p>
        </p:txBody>
      </p:sp>
      <p:sp>
        <p:nvSpPr>
          <p:cNvPr id="38" name="Oval 37">
            <a:extLst>
              <a:ext uri="{FF2B5EF4-FFF2-40B4-BE49-F238E27FC236}">
                <a16:creationId xmlns:a16="http://schemas.microsoft.com/office/drawing/2014/main" id="{9EA0D1A3-6041-951A-A28C-43686CD0AD43}"/>
              </a:ext>
            </a:extLst>
          </p:cNvPr>
          <p:cNvSpPr>
            <a:spLocks/>
          </p:cNvSpPr>
          <p:nvPr/>
        </p:nvSpPr>
        <p:spPr>
          <a:xfrm>
            <a:off x="6797600" y="2828659"/>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39" name="Picture 2" descr="Fintable - Tangerine - Personal API and Transaction Data (PLAID)">
            <a:extLst>
              <a:ext uri="{FF2B5EF4-FFF2-40B4-BE49-F238E27FC236}">
                <a16:creationId xmlns:a16="http://schemas.microsoft.com/office/drawing/2014/main" id="{1CDD8834-6DED-53CA-6522-808348C28DDC}"/>
              </a:ext>
            </a:extLst>
          </p:cNvPr>
          <p:cNvPicPr>
            <a:picLocks noChangeArrowheads="1"/>
          </p:cNvPicPr>
          <p:nvPr/>
        </p:nvPicPr>
        <p:blipFill rotWithShape="1">
          <a:blip r:embed="rId7">
            <a:extLst>
              <a:ext uri="{28A0092B-C50C-407E-A947-70E740481C1C}">
                <a14:useLocalDpi xmlns:a14="http://schemas.microsoft.com/office/drawing/2010/main" val="0"/>
              </a:ext>
            </a:extLst>
          </a:blip>
          <a:srcRect l="4237" r="4237"/>
          <a:stretch/>
        </p:blipFill>
        <p:spPr bwMode="auto">
          <a:xfrm>
            <a:off x="7099968" y="2828659"/>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41" name="Picture 4" descr="Wealthsimple | Logopedia | Fandom">
            <a:extLst>
              <a:ext uri="{FF2B5EF4-FFF2-40B4-BE49-F238E27FC236}">
                <a16:creationId xmlns:a16="http://schemas.microsoft.com/office/drawing/2014/main" id="{D6365042-67D3-3242-A79C-3B928BCF7019}"/>
              </a:ext>
            </a:extLst>
          </p:cNvPr>
          <p:cNvPicPr>
            <a:picLocks noChangeArrowheads="1"/>
          </p:cNvPicPr>
          <p:nvPr/>
        </p:nvPicPr>
        <p:blipFill rotWithShape="1">
          <a:blip r:embed="rId8">
            <a:extLst>
              <a:ext uri="{28A0092B-C50C-407E-A947-70E740481C1C}">
                <a14:useLocalDpi xmlns:a14="http://schemas.microsoft.com/office/drawing/2010/main" val="0"/>
              </a:ext>
            </a:extLst>
          </a:blip>
          <a:srcRect/>
          <a:stretch/>
        </p:blipFill>
        <p:spPr bwMode="auto">
          <a:xfrm>
            <a:off x="7397756" y="2829040"/>
            <a:ext cx="210312" cy="209550"/>
          </a:xfrm>
          <a:prstGeom prst="ellipse">
            <a:avLst/>
          </a:prstGeom>
          <a:noFill/>
          <a:extLst>
            <a:ext uri="{909E8E84-426E-40DD-AFC4-6F175D3DCCD1}">
              <a14:hiddenFill xmlns:a14="http://schemas.microsoft.com/office/drawing/2010/main">
                <a:solidFill>
                  <a:srgbClr val="FFFFFF"/>
                </a:solidFill>
              </a14:hiddenFill>
            </a:ext>
          </a:extLst>
        </p:spPr>
      </p:pic>
      <p:sp>
        <p:nvSpPr>
          <p:cNvPr id="2115" name="Rectangle 2114">
            <a:extLst>
              <a:ext uri="{FF2B5EF4-FFF2-40B4-BE49-F238E27FC236}">
                <a16:creationId xmlns:a16="http://schemas.microsoft.com/office/drawing/2014/main" id="{5BB1DD2B-87C5-21BE-C552-F4AC117D3327}"/>
              </a:ext>
            </a:extLst>
          </p:cNvPr>
          <p:cNvSpPr/>
          <p:nvPr/>
        </p:nvSpPr>
        <p:spPr>
          <a:xfrm>
            <a:off x="741007" y="1867965"/>
            <a:ext cx="2808930" cy="1641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i="1">
                <a:solidFill>
                  <a:sysClr val="windowText" lastClr="000000"/>
                </a:solidFill>
              </a:rPr>
              <a:t>Self-Directed Investing</a:t>
            </a:r>
          </a:p>
        </p:txBody>
      </p:sp>
      <p:grpSp>
        <p:nvGrpSpPr>
          <p:cNvPr id="2050" name="Group 2049">
            <a:extLst>
              <a:ext uri="{FF2B5EF4-FFF2-40B4-BE49-F238E27FC236}">
                <a16:creationId xmlns:a16="http://schemas.microsoft.com/office/drawing/2014/main" id="{E9301B3B-4A2F-FAAB-1469-687607D20ACC}"/>
              </a:ext>
            </a:extLst>
          </p:cNvPr>
          <p:cNvGrpSpPr/>
          <p:nvPr/>
        </p:nvGrpSpPr>
        <p:grpSpPr>
          <a:xfrm>
            <a:off x="748296" y="2446868"/>
            <a:ext cx="2965802" cy="282633"/>
            <a:chOff x="748296" y="2093338"/>
            <a:chExt cx="2965802" cy="282633"/>
          </a:xfrm>
        </p:grpSpPr>
        <p:sp>
          <p:nvSpPr>
            <p:cNvPr id="24" name="Rectangle 23">
              <a:extLst>
                <a:ext uri="{FF2B5EF4-FFF2-40B4-BE49-F238E27FC236}">
                  <a16:creationId xmlns:a16="http://schemas.microsoft.com/office/drawing/2014/main" id="{CF5C85BD-91DB-6219-A331-C0BA0B3F536A}"/>
                </a:ext>
              </a:extLst>
            </p:cNvPr>
            <p:cNvSpPr/>
            <p:nvPr/>
          </p:nvSpPr>
          <p:spPr>
            <a:xfrm>
              <a:off x="748296" y="2093338"/>
              <a:ext cx="2965802"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Stocks, Options, ETFs</a:t>
              </a:r>
            </a:p>
          </p:txBody>
        </p:sp>
        <p:sp>
          <p:nvSpPr>
            <p:cNvPr id="2073" name="Oval 2072">
              <a:extLst>
                <a:ext uri="{FF2B5EF4-FFF2-40B4-BE49-F238E27FC236}">
                  <a16:creationId xmlns:a16="http://schemas.microsoft.com/office/drawing/2014/main" id="{CCBC2320-A2AA-69A9-47B6-CFDF1776E7C2}"/>
                </a:ext>
              </a:extLst>
            </p:cNvPr>
            <p:cNvSpPr>
              <a:spLocks/>
            </p:cNvSpPr>
            <p:nvPr/>
          </p:nvSpPr>
          <p:spPr>
            <a:xfrm>
              <a:off x="2687207" y="212949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81" name="Picture 2" descr="Fintable - Tangerine - Personal API and Transaction Data (PLAID)">
              <a:extLst>
                <a:ext uri="{FF2B5EF4-FFF2-40B4-BE49-F238E27FC236}">
                  <a16:creationId xmlns:a16="http://schemas.microsoft.com/office/drawing/2014/main" id="{349DFCFC-557A-889B-4F33-FA8D46FF31F9}"/>
                </a:ext>
              </a:extLst>
            </p:cNvPr>
            <p:cNvPicPr>
              <a:picLocks noChangeArrowheads="1"/>
            </p:cNvPicPr>
            <p:nvPr/>
          </p:nvPicPr>
          <p:blipFill rotWithShape="1">
            <a:blip r:embed="rId7">
              <a:alphaModFix amt="25000"/>
              <a:extLst>
                <a:ext uri="{28A0092B-C50C-407E-A947-70E740481C1C}">
                  <a14:useLocalDpi xmlns:a14="http://schemas.microsoft.com/office/drawing/2010/main" val="0"/>
                </a:ext>
              </a:extLst>
            </a:blip>
            <a:srcRect l="4237" r="4237"/>
            <a:stretch/>
          </p:blipFill>
          <p:spPr bwMode="auto">
            <a:xfrm>
              <a:off x="3028031" y="212949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91" name="Picture 4" descr="Wealthsimple | Logopedia | Fandom">
              <a:extLst>
                <a:ext uri="{FF2B5EF4-FFF2-40B4-BE49-F238E27FC236}">
                  <a16:creationId xmlns:a16="http://schemas.microsoft.com/office/drawing/2014/main" id="{8C86930B-24FF-6218-A67E-95015AB33D3E}"/>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3355951" y="2129498"/>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sp>
        <p:nvSpPr>
          <p:cNvPr id="25" name="Rectangle 24">
            <a:extLst>
              <a:ext uri="{FF2B5EF4-FFF2-40B4-BE49-F238E27FC236}">
                <a16:creationId xmlns:a16="http://schemas.microsoft.com/office/drawing/2014/main" id="{2071F3FA-F3D8-4C4A-7B8D-AC02D4F6969C}"/>
              </a:ext>
            </a:extLst>
          </p:cNvPr>
          <p:cNvSpPr/>
          <p:nvPr/>
        </p:nvSpPr>
        <p:spPr>
          <a:xfrm>
            <a:off x="748296" y="3143359"/>
            <a:ext cx="2965802"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Crypto Trading/Alternatives</a:t>
            </a:r>
            <a:endParaRPr lang="en-US" sz="1000" b="1" baseline="30000">
              <a:solidFill>
                <a:schemeClr val="tx1"/>
              </a:solidFill>
            </a:endParaRPr>
          </a:p>
        </p:txBody>
      </p:sp>
      <p:sp>
        <p:nvSpPr>
          <p:cNvPr id="2098" name="Oval 2097">
            <a:extLst>
              <a:ext uri="{FF2B5EF4-FFF2-40B4-BE49-F238E27FC236}">
                <a16:creationId xmlns:a16="http://schemas.microsoft.com/office/drawing/2014/main" id="{317E8F75-2C0F-8547-821A-457798923B35}"/>
              </a:ext>
            </a:extLst>
          </p:cNvPr>
          <p:cNvSpPr>
            <a:spLocks/>
          </p:cNvSpPr>
          <p:nvPr/>
        </p:nvSpPr>
        <p:spPr>
          <a:xfrm>
            <a:off x="2687207" y="3179519"/>
            <a:ext cx="210312" cy="210312"/>
          </a:xfrm>
          <a:prstGeom prst="ellipse">
            <a:avLst/>
          </a:prstGeom>
          <a:blipFill dpi="0" rotWithShape="1">
            <a:blip r:embed="rId9">
              <a:alphaModFix amt="75000"/>
              <a:duotone>
                <a:schemeClr val="accent1">
                  <a:shade val="45000"/>
                  <a:satMod val="135000"/>
                </a:schemeClr>
                <a:prstClr val="white"/>
              </a:duotone>
              <a:extLst>
                <a:ext uri="{BEBA8EAE-BF5A-486C-A8C5-ECC9F3942E4B}">
                  <a14:imgProps xmlns:a14="http://schemas.microsoft.com/office/drawing/2010/main">
                    <a14:imgLayer r:embed="rId10">
                      <a14:imgEffect>
                        <a14:brightnessContrast bright="-20000" contrast="-40000"/>
                      </a14:imgEffect>
                    </a14:imgLayer>
                  </a14:imgProps>
                </a:ext>
                <a:ext uri="{28A0092B-C50C-407E-A947-70E740481C1C}">
                  <a14:useLocalDpi xmlns:a14="http://schemas.microsoft.com/office/drawing/2010/main" val="0"/>
                </a:ext>
              </a:extLst>
            </a:blip>
            <a:srcRect/>
            <a:stretch>
              <a:fillRect/>
            </a:stretch>
          </a:blipFill>
          <a:ln w="9525">
            <a:solidFill>
              <a:srgbClr val="0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99" name="Picture 2" descr="Fintable - Tangerine - Personal API and Transaction Data (PLAID)">
            <a:extLst>
              <a:ext uri="{FF2B5EF4-FFF2-40B4-BE49-F238E27FC236}">
                <a16:creationId xmlns:a16="http://schemas.microsoft.com/office/drawing/2014/main" id="{F556FAF3-4782-D59C-A9F6-7659F4F8DAFB}"/>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3179519"/>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00" name="Picture 4" descr="Wealthsimple | Logopedia | Fandom">
            <a:extLst>
              <a:ext uri="{FF2B5EF4-FFF2-40B4-BE49-F238E27FC236}">
                <a16:creationId xmlns:a16="http://schemas.microsoft.com/office/drawing/2014/main" id="{2309AB48-A094-B3FE-DA6C-A653303939F3}"/>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3355951" y="3179519"/>
            <a:ext cx="210312" cy="210312"/>
          </a:xfrm>
          <a:prstGeom prst="ellipse">
            <a:avLst/>
          </a:prstGeom>
          <a:noFill/>
          <a:extLst>
            <a:ext uri="{909E8E84-426E-40DD-AFC4-6F175D3DCCD1}">
              <a14:hiddenFill xmlns:a14="http://schemas.microsoft.com/office/drawing/2010/main">
                <a:solidFill>
                  <a:srgbClr val="FFFFFF"/>
                </a:solidFill>
              </a14:hiddenFill>
            </a:ext>
          </a:extLst>
        </p:spPr>
      </p:pic>
      <p:sp>
        <p:nvSpPr>
          <p:cNvPr id="2116" name="Rectangle 2115">
            <a:extLst>
              <a:ext uri="{FF2B5EF4-FFF2-40B4-BE49-F238E27FC236}">
                <a16:creationId xmlns:a16="http://schemas.microsoft.com/office/drawing/2014/main" id="{0131D4AD-F42E-B5CC-DD7F-6EE0EDA253E3}"/>
              </a:ext>
            </a:extLst>
          </p:cNvPr>
          <p:cNvSpPr/>
          <p:nvPr/>
        </p:nvSpPr>
        <p:spPr>
          <a:xfrm>
            <a:off x="741007" y="3439722"/>
            <a:ext cx="2808929" cy="1641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i="1">
                <a:solidFill>
                  <a:sysClr val="windowText" lastClr="000000"/>
                </a:solidFill>
              </a:rPr>
              <a:t>Managed Investing</a:t>
            </a:r>
          </a:p>
        </p:txBody>
      </p:sp>
      <p:grpSp>
        <p:nvGrpSpPr>
          <p:cNvPr id="60" name="Group 59">
            <a:extLst>
              <a:ext uri="{FF2B5EF4-FFF2-40B4-BE49-F238E27FC236}">
                <a16:creationId xmlns:a16="http://schemas.microsoft.com/office/drawing/2014/main" id="{A5165C52-1959-4CEE-B70E-F2768EA0A267}"/>
              </a:ext>
            </a:extLst>
          </p:cNvPr>
          <p:cNvGrpSpPr/>
          <p:nvPr/>
        </p:nvGrpSpPr>
        <p:grpSpPr>
          <a:xfrm>
            <a:off x="748297" y="4331025"/>
            <a:ext cx="2966660" cy="282633"/>
            <a:chOff x="747867" y="5340813"/>
            <a:chExt cx="2966660" cy="282633"/>
          </a:xfrm>
        </p:grpSpPr>
        <p:sp>
          <p:nvSpPr>
            <p:cNvPr id="40" name="Rectangle 39">
              <a:extLst>
                <a:ext uri="{FF2B5EF4-FFF2-40B4-BE49-F238E27FC236}">
                  <a16:creationId xmlns:a16="http://schemas.microsoft.com/office/drawing/2014/main" id="{FDC61229-ED4E-3632-28FD-4074386CC6CA}"/>
                </a:ext>
              </a:extLst>
            </p:cNvPr>
            <p:cNvSpPr/>
            <p:nvPr/>
          </p:nvSpPr>
          <p:spPr>
            <a:xfrm>
              <a:off x="747867" y="5340813"/>
              <a:ext cx="2966660"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Employer Plans</a:t>
              </a:r>
            </a:p>
          </p:txBody>
        </p:sp>
        <p:sp>
          <p:nvSpPr>
            <p:cNvPr id="46" name="Oval 45">
              <a:extLst>
                <a:ext uri="{FF2B5EF4-FFF2-40B4-BE49-F238E27FC236}">
                  <a16:creationId xmlns:a16="http://schemas.microsoft.com/office/drawing/2014/main" id="{FC4EF7B0-9557-2287-F7C5-0C8A7BD31A41}"/>
                </a:ext>
              </a:extLst>
            </p:cNvPr>
            <p:cNvSpPr>
              <a:spLocks/>
            </p:cNvSpPr>
            <p:nvPr/>
          </p:nvSpPr>
          <p:spPr>
            <a:xfrm>
              <a:off x="2687207" y="5376973"/>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47" name="Picture 2" descr="Fintable - Tangerine - Personal API and Transaction Data (PLAID)">
              <a:extLst>
                <a:ext uri="{FF2B5EF4-FFF2-40B4-BE49-F238E27FC236}">
                  <a16:creationId xmlns:a16="http://schemas.microsoft.com/office/drawing/2014/main" id="{F821F96C-16A7-04E0-CCDD-820476BB8538}"/>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5376973"/>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48" name="Picture 4" descr="Wealthsimple | Logopedia | Fandom">
              <a:extLst>
                <a:ext uri="{FF2B5EF4-FFF2-40B4-BE49-F238E27FC236}">
                  <a16:creationId xmlns:a16="http://schemas.microsoft.com/office/drawing/2014/main" id="{63E669CA-C86A-B5D5-CD48-EDCAA0F0E557}"/>
                </a:ext>
              </a:extLst>
            </p:cNvPr>
            <p:cNvPicPr>
              <a:picLocks noChangeArrowheads="1"/>
            </p:cNvPicPr>
            <p:nvPr/>
          </p:nvPicPr>
          <p:blipFill rotWithShape="1">
            <a:blip r:embed="rId8">
              <a:extLst>
                <a:ext uri="{28A0092B-C50C-407E-A947-70E740481C1C}">
                  <a14:useLocalDpi xmlns:a14="http://schemas.microsoft.com/office/drawing/2010/main" val="0"/>
                </a:ext>
              </a:extLst>
            </a:blip>
            <a:srcRect/>
            <a:stretch/>
          </p:blipFill>
          <p:spPr bwMode="auto">
            <a:xfrm>
              <a:off x="3355951" y="5376973"/>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6" name="Group 55">
            <a:extLst>
              <a:ext uri="{FF2B5EF4-FFF2-40B4-BE49-F238E27FC236}">
                <a16:creationId xmlns:a16="http://schemas.microsoft.com/office/drawing/2014/main" id="{8AAEA49F-C915-6781-1FAA-52581AFE7DDA}"/>
              </a:ext>
            </a:extLst>
          </p:cNvPr>
          <p:cNvGrpSpPr/>
          <p:nvPr/>
        </p:nvGrpSpPr>
        <p:grpSpPr>
          <a:xfrm>
            <a:off x="747867" y="5340813"/>
            <a:ext cx="2965801" cy="282633"/>
            <a:chOff x="748297" y="3657833"/>
            <a:chExt cx="2965801" cy="282633"/>
          </a:xfrm>
        </p:grpSpPr>
        <p:sp>
          <p:nvSpPr>
            <p:cNvPr id="28" name="Rectangle 27">
              <a:extLst>
                <a:ext uri="{FF2B5EF4-FFF2-40B4-BE49-F238E27FC236}">
                  <a16:creationId xmlns:a16="http://schemas.microsoft.com/office/drawing/2014/main" id="{371B736B-6A6D-0188-1451-DE5D6DF5D850}"/>
                </a:ext>
              </a:extLst>
            </p:cNvPr>
            <p:cNvSpPr/>
            <p:nvPr/>
          </p:nvSpPr>
          <p:spPr>
            <a:xfrm>
              <a:off x="748297" y="3657833"/>
              <a:ext cx="2965801"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Full-Service / PIC</a:t>
              </a:r>
              <a:endParaRPr lang="en-US" sz="1000" b="1" baseline="30000">
                <a:solidFill>
                  <a:schemeClr val="tx1"/>
                </a:solidFill>
              </a:endParaRPr>
            </a:p>
          </p:txBody>
        </p:sp>
        <p:sp>
          <p:nvSpPr>
            <p:cNvPr id="2106" name="Oval 2105">
              <a:extLst>
                <a:ext uri="{FF2B5EF4-FFF2-40B4-BE49-F238E27FC236}">
                  <a16:creationId xmlns:a16="http://schemas.microsoft.com/office/drawing/2014/main" id="{82C7B0F9-5D6E-C6BF-11AD-F455F00F2DF2}"/>
                </a:ext>
              </a:extLst>
            </p:cNvPr>
            <p:cNvSpPr>
              <a:spLocks/>
            </p:cNvSpPr>
            <p:nvPr/>
          </p:nvSpPr>
          <p:spPr>
            <a:xfrm>
              <a:off x="2687207" y="3693993"/>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07" name="Picture 2" descr="Fintable - Tangerine - Personal API and Transaction Data (PLAID)">
              <a:extLst>
                <a:ext uri="{FF2B5EF4-FFF2-40B4-BE49-F238E27FC236}">
                  <a16:creationId xmlns:a16="http://schemas.microsoft.com/office/drawing/2014/main" id="{95A266A2-3B9E-8F41-E23D-0B7E80C16744}"/>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3693993"/>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108" name="Picture 4" descr="Wealthsimple | Logopedia | Fandom">
              <a:extLst>
                <a:ext uri="{FF2B5EF4-FFF2-40B4-BE49-F238E27FC236}">
                  <a16:creationId xmlns:a16="http://schemas.microsoft.com/office/drawing/2014/main" id="{4BAA3615-4321-A13E-1A72-678035A6BF56}"/>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3355951" y="3693993"/>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7" name="Group 56">
            <a:extLst>
              <a:ext uri="{FF2B5EF4-FFF2-40B4-BE49-F238E27FC236}">
                <a16:creationId xmlns:a16="http://schemas.microsoft.com/office/drawing/2014/main" id="{EBD15E0B-9458-A643-3C45-14698141B9B8}"/>
              </a:ext>
            </a:extLst>
          </p:cNvPr>
          <p:cNvGrpSpPr/>
          <p:nvPr/>
        </p:nvGrpSpPr>
        <p:grpSpPr>
          <a:xfrm>
            <a:off x="748296" y="5677408"/>
            <a:ext cx="2965801" cy="282633"/>
            <a:chOff x="748297" y="3994429"/>
            <a:chExt cx="2965801" cy="282633"/>
          </a:xfrm>
        </p:grpSpPr>
        <p:sp>
          <p:nvSpPr>
            <p:cNvPr id="51" name="Rectangle 50">
              <a:extLst>
                <a:ext uri="{FF2B5EF4-FFF2-40B4-BE49-F238E27FC236}">
                  <a16:creationId xmlns:a16="http://schemas.microsoft.com/office/drawing/2014/main" id="{E0810175-B351-A041-364B-469CAC437FF6}"/>
                </a:ext>
              </a:extLst>
            </p:cNvPr>
            <p:cNvSpPr/>
            <p:nvPr/>
          </p:nvSpPr>
          <p:spPr>
            <a:xfrm>
              <a:off x="748297" y="3994429"/>
              <a:ext cx="2965801"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r>
                <a:rPr lang="en-US" sz="1000" b="1">
                  <a:solidFill>
                    <a:schemeClr val="tx1"/>
                  </a:solidFill>
                </a:rPr>
                <a:t>Robo-Advisory</a:t>
              </a:r>
            </a:p>
          </p:txBody>
        </p:sp>
        <p:sp>
          <p:nvSpPr>
            <p:cNvPr id="62" name="Oval 61">
              <a:extLst>
                <a:ext uri="{FF2B5EF4-FFF2-40B4-BE49-F238E27FC236}">
                  <a16:creationId xmlns:a16="http://schemas.microsoft.com/office/drawing/2014/main" id="{25E0036E-7D21-4C9F-7C8E-DCD04C69A209}"/>
                </a:ext>
              </a:extLst>
            </p:cNvPr>
            <p:cNvSpPr>
              <a:spLocks/>
            </p:cNvSpPr>
            <p:nvPr/>
          </p:nvSpPr>
          <p:spPr>
            <a:xfrm>
              <a:off x="2687207" y="4030589"/>
              <a:ext cx="210312" cy="210312"/>
            </a:xfrm>
            <a:prstGeom prst="ellipse">
              <a:avLst/>
            </a:prstGeom>
            <a:blipFill dpi="0" rotWithShape="1">
              <a:blip r:embed="rId6">
                <a:alphaModFix amt="15000"/>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63" name="Picture 2" descr="Fintable - Tangerine - Personal API and Transaction Data (PLAID)">
              <a:extLst>
                <a:ext uri="{FF2B5EF4-FFF2-40B4-BE49-F238E27FC236}">
                  <a16:creationId xmlns:a16="http://schemas.microsoft.com/office/drawing/2014/main" id="{9D2FF5E3-531B-F51A-68F4-0BD7678421E3}"/>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4030589"/>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48" name="Picture 4" descr="Wealthsimple | Logopedia | Fandom">
              <a:extLst>
                <a:ext uri="{FF2B5EF4-FFF2-40B4-BE49-F238E27FC236}">
                  <a16:creationId xmlns:a16="http://schemas.microsoft.com/office/drawing/2014/main" id="{F448BC6E-B9C1-8C83-2AC6-710E8A1D9CBC}"/>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3355951" y="4030589"/>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4" name="Group 53">
            <a:extLst>
              <a:ext uri="{FF2B5EF4-FFF2-40B4-BE49-F238E27FC236}">
                <a16:creationId xmlns:a16="http://schemas.microsoft.com/office/drawing/2014/main" id="{C37D3F90-2CAD-2E4A-04E7-FE144678765A}"/>
              </a:ext>
            </a:extLst>
          </p:cNvPr>
          <p:cNvGrpSpPr/>
          <p:nvPr/>
        </p:nvGrpSpPr>
        <p:grpSpPr>
          <a:xfrm>
            <a:off x="748297" y="5004217"/>
            <a:ext cx="2965801" cy="282633"/>
            <a:chOff x="748297" y="5004217"/>
            <a:chExt cx="2965801" cy="282633"/>
          </a:xfrm>
        </p:grpSpPr>
        <p:sp>
          <p:nvSpPr>
            <p:cNvPr id="2059" name="Rectangle 2058">
              <a:extLst>
                <a:ext uri="{FF2B5EF4-FFF2-40B4-BE49-F238E27FC236}">
                  <a16:creationId xmlns:a16="http://schemas.microsoft.com/office/drawing/2014/main" id="{0CB4A70C-6C90-6021-5C1E-13F1E3DBE1AB}"/>
                </a:ext>
              </a:extLst>
            </p:cNvPr>
            <p:cNvSpPr/>
            <p:nvPr/>
          </p:nvSpPr>
          <p:spPr>
            <a:xfrm>
              <a:off x="748297" y="5004217"/>
              <a:ext cx="2965801"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Private Banking</a:t>
              </a:r>
            </a:p>
          </p:txBody>
        </p:sp>
        <p:sp>
          <p:nvSpPr>
            <p:cNvPr id="2061" name="Oval 2060">
              <a:extLst>
                <a:ext uri="{FF2B5EF4-FFF2-40B4-BE49-F238E27FC236}">
                  <a16:creationId xmlns:a16="http://schemas.microsoft.com/office/drawing/2014/main" id="{00E221B2-3F59-DBA9-ABF3-BF24C8DD32E0}"/>
                </a:ext>
              </a:extLst>
            </p:cNvPr>
            <p:cNvSpPr>
              <a:spLocks/>
            </p:cNvSpPr>
            <p:nvPr/>
          </p:nvSpPr>
          <p:spPr>
            <a:xfrm>
              <a:off x="2687207" y="5040377"/>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63" name="Picture 2" descr="Fintable - Tangerine - Personal API and Transaction Data (PLAID)">
              <a:extLst>
                <a:ext uri="{FF2B5EF4-FFF2-40B4-BE49-F238E27FC236}">
                  <a16:creationId xmlns:a16="http://schemas.microsoft.com/office/drawing/2014/main" id="{C6EE8E59-C5E3-C28D-0E69-6FF57C5695CB}"/>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5040377"/>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64" name="Picture 4" descr="Wealthsimple | Logopedia | Fandom">
              <a:extLst>
                <a:ext uri="{FF2B5EF4-FFF2-40B4-BE49-F238E27FC236}">
                  <a16:creationId xmlns:a16="http://schemas.microsoft.com/office/drawing/2014/main" id="{198A93A2-DC6F-1443-CEBB-45DA31A6A8F1}"/>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3355951" y="5040377"/>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3" name="Group 52">
            <a:extLst>
              <a:ext uri="{FF2B5EF4-FFF2-40B4-BE49-F238E27FC236}">
                <a16:creationId xmlns:a16="http://schemas.microsoft.com/office/drawing/2014/main" id="{A9FDB926-F81C-EF75-3DFC-1C7707B6E630}"/>
              </a:ext>
            </a:extLst>
          </p:cNvPr>
          <p:cNvGrpSpPr/>
          <p:nvPr/>
        </p:nvGrpSpPr>
        <p:grpSpPr>
          <a:xfrm>
            <a:off x="748297" y="4667621"/>
            <a:ext cx="2965801" cy="282633"/>
            <a:chOff x="748297" y="4667621"/>
            <a:chExt cx="2965801" cy="282633"/>
          </a:xfrm>
        </p:grpSpPr>
        <p:sp>
          <p:nvSpPr>
            <p:cNvPr id="30" name="Rectangle 29">
              <a:extLst>
                <a:ext uri="{FF2B5EF4-FFF2-40B4-BE49-F238E27FC236}">
                  <a16:creationId xmlns:a16="http://schemas.microsoft.com/office/drawing/2014/main" id="{338F3BA7-F202-460A-48A5-BD27E234CB34}"/>
                </a:ext>
              </a:extLst>
            </p:cNvPr>
            <p:cNvSpPr/>
            <p:nvPr/>
          </p:nvSpPr>
          <p:spPr>
            <a:xfrm>
              <a:off x="748297" y="4667621"/>
              <a:ext cx="2965801"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Estate &amp; Trust</a:t>
              </a:r>
              <a:endParaRPr lang="en-US" sz="1000" b="1" baseline="30000">
                <a:solidFill>
                  <a:schemeClr val="tx1"/>
                </a:solidFill>
              </a:endParaRPr>
            </a:p>
          </p:txBody>
        </p:sp>
        <p:sp>
          <p:nvSpPr>
            <p:cNvPr id="2114" name="Oval 2113">
              <a:extLst>
                <a:ext uri="{FF2B5EF4-FFF2-40B4-BE49-F238E27FC236}">
                  <a16:creationId xmlns:a16="http://schemas.microsoft.com/office/drawing/2014/main" id="{EFEC3EE0-15C0-B6A7-FB1E-42529489D231}"/>
                </a:ext>
              </a:extLst>
            </p:cNvPr>
            <p:cNvSpPr>
              <a:spLocks/>
            </p:cNvSpPr>
            <p:nvPr/>
          </p:nvSpPr>
          <p:spPr>
            <a:xfrm>
              <a:off x="2687207" y="4712055"/>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17" name="Picture 2" descr="Fintable - Tangerine - Personal API and Transaction Data (PLAID)">
              <a:extLst>
                <a:ext uri="{FF2B5EF4-FFF2-40B4-BE49-F238E27FC236}">
                  <a16:creationId xmlns:a16="http://schemas.microsoft.com/office/drawing/2014/main" id="{3197D1DB-6D13-250D-0066-6A1944F626DF}"/>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4712055"/>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6" name="Picture 4" descr="Wealthsimple | Logopedia | Fandom">
              <a:extLst>
                <a:ext uri="{FF2B5EF4-FFF2-40B4-BE49-F238E27FC236}">
                  <a16:creationId xmlns:a16="http://schemas.microsoft.com/office/drawing/2014/main" id="{11530D5D-521B-AE01-EE42-C2819BA2583C}"/>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3355951" y="4712055"/>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049" name="Group 2048">
            <a:extLst>
              <a:ext uri="{FF2B5EF4-FFF2-40B4-BE49-F238E27FC236}">
                <a16:creationId xmlns:a16="http://schemas.microsoft.com/office/drawing/2014/main" id="{0886B15E-D604-3E03-9056-9A2A9367EC94}"/>
              </a:ext>
            </a:extLst>
          </p:cNvPr>
          <p:cNvGrpSpPr/>
          <p:nvPr/>
        </p:nvGrpSpPr>
        <p:grpSpPr>
          <a:xfrm>
            <a:off x="748297" y="3994429"/>
            <a:ext cx="2965802" cy="282633"/>
            <a:chOff x="748296" y="5677408"/>
            <a:chExt cx="2965802" cy="282633"/>
          </a:xfrm>
        </p:grpSpPr>
        <p:sp>
          <p:nvSpPr>
            <p:cNvPr id="59" name="Rectangle 58">
              <a:extLst>
                <a:ext uri="{FF2B5EF4-FFF2-40B4-BE49-F238E27FC236}">
                  <a16:creationId xmlns:a16="http://schemas.microsoft.com/office/drawing/2014/main" id="{CD498215-239A-E979-B232-75DBD1A56D5E}"/>
                </a:ext>
              </a:extLst>
            </p:cNvPr>
            <p:cNvSpPr/>
            <p:nvPr/>
          </p:nvSpPr>
          <p:spPr>
            <a:xfrm>
              <a:off x="748296" y="5677408"/>
              <a:ext cx="2965802"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Alternative Investing</a:t>
              </a:r>
              <a:endParaRPr lang="en-US" sz="1000" b="1" baseline="30000">
                <a:solidFill>
                  <a:schemeClr val="tx1"/>
                </a:solidFill>
              </a:endParaRPr>
            </a:p>
          </p:txBody>
        </p:sp>
        <p:sp>
          <p:nvSpPr>
            <p:cNvPr id="61" name="Oval 60">
              <a:extLst>
                <a:ext uri="{FF2B5EF4-FFF2-40B4-BE49-F238E27FC236}">
                  <a16:creationId xmlns:a16="http://schemas.microsoft.com/office/drawing/2014/main" id="{EC5F196C-CA02-92B6-599F-DF04FF2A6FED}"/>
                </a:ext>
              </a:extLst>
            </p:cNvPr>
            <p:cNvSpPr>
              <a:spLocks/>
            </p:cNvSpPr>
            <p:nvPr/>
          </p:nvSpPr>
          <p:spPr>
            <a:xfrm>
              <a:off x="2687207" y="5713568"/>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51" name="Picture 2" descr="Fintable - Tangerine - Personal API and Transaction Data (PLAID)">
              <a:extLst>
                <a:ext uri="{FF2B5EF4-FFF2-40B4-BE49-F238E27FC236}">
                  <a16:creationId xmlns:a16="http://schemas.microsoft.com/office/drawing/2014/main" id="{FAEC9CD2-691F-606B-7C1C-1D687B44F640}"/>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8031" y="571356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52" name="Picture 4" descr="Wealthsimple | Logopedia | Fandom">
              <a:extLst>
                <a:ext uri="{FF2B5EF4-FFF2-40B4-BE49-F238E27FC236}">
                  <a16:creationId xmlns:a16="http://schemas.microsoft.com/office/drawing/2014/main" id="{3F74AB23-9BD1-310E-5A59-4FF13C09569C}"/>
                </a:ext>
              </a:extLst>
            </p:cNvPr>
            <p:cNvPicPr>
              <a:picLocks noChangeArrowheads="1"/>
            </p:cNvPicPr>
            <p:nvPr/>
          </p:nvPicPr>
          <p:blipFill rotWithShape="1">
            <a:blip r:embed="rId8">
              <a:alphaModFix/>
              <a:extLst>
                <a:ext uri="{28A0092B-C50C-407E-A947-70E740481C1C}">
                  <a14:useLocalDpi xmlns:a14="http://schemas.microsoft.com/office/drawing/2010/main" val="0"/>
                </a:ext>
              </a:extLst>
            </a:blip>
            <a:srcRect/>
            <a:stretch/>
          </p:blipFill>
          <p:spPr bwMode="auto">
            <a:xfrm>
              <a:off x="3355951" y="5713568"/>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056" name="Group 2055">
            <a:extLst>
              <a:ext uri="{FF2B5EF4-FFF2-40B4-BE49-F238E27FC236}">
                <a16:creationId xmlns:a16="http://schemas.microsoft.com/office/drawing/2014/main" id="{E5BABDED-2601-4BA1-B6E6-AE8F6A7A1A79}"/>
              </a:ext>
            </a:extLst>
          </p:cNvPr>
          <p:cNvGrpSpPr/>
          <p:nvPr/>
        </p:nvGrpSpPr>
        <p:grpSpPr>
          <a:xfrm>
            <a:off x="748296" y="2096055"/>
            <a:ext cx="2965802" cy="282633"/>
            <a:chOff x="748296" y="2429934"/>
            <a:chExt cx="2965802" cy="282633"/>
          </a:xfrm>
        </p:grpSpPr>
        <p:sp>
          <p:nvSpPr>
            <p:cNvPr id="27" name="Rectangle 26">
              <a:extLst>
                <a:ext uri="{FF2B5EF4-FFF2-40B4-BE49-F238E27FC236}">
                  <a16:creationId xmlns:a16="http://schemas.microsoft.com/office/drawing/2014/main" id="{79734DB3-1E27-DA92-9E8A-D1405A33D6BA}"/>
                </a:ext>
              </a:extLst>
            </p:cNvPr>
            <p:cNvSpPr/>
            <p:nvPr/>
          </p:nvSpPr>
          <p:spPr>
            <a:xfrm>
              <a:off x="748296" y="2429934"/>
              <a:ext cx="2965802"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Mutual Funds, GICs</a:t>
              </a:r>
            </a:p>
          </p:txBody>
        </p:sp>
        <p:sp>
          <p:nvSpPr>
            <p:cNvPr id="2093" name="Oval 2092">
              <a:extLst>
                <a:ext uri="{FF2B5EF4-FFF2-40B4-BE49-F238E27FC236}">
                  <a16:creationId xmlns:a16="http://schemas.microsoft.com/office/drawing/2014/main" id="{FF02C360-BF6B-18C4-D2FD-9B10D2428644}"/>
                </a:ext>
              </a:extLst>
            </p:cNvPr>
            <p:cNvSpPr>
              <a:spLocks/>
            </p:cNvSpPr>
            <p:nvPr/>
          </p:nvSpPr>
          <p:spPr>
            <a:xfrm>
              <a:off x="2687207" y="2466094"/>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54" name="Picture 4" descr="Wealthsimple | Logopedia | Fandom">
              <a:extLst>
                <a:ext uri="{FF2B5EF4-FFF2-40B4-BE49-F238E27FC236}">
                  <a16:creationId xmlns:a16="http://schemas.microsoft.com/office/drawing/2014/main" id="{1B138BC8-503D-7D22-8232-8B33A77A1DDD}"/>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3355951" y="2466094"/>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62" name="Picture 2" descr="Fintable - Tangerine - Personal API and Transaction Data (PLAID)">
              <a:extLst>
                <a:ext uri="{FF2B5EF4-FFF2-40B4-BE49-F238E27FC236}">
                  <a16:creationId xmlns:a16="http://schemas.microsoft.com/office/drawing/2014/main" id="{D84208A5-3410-0DC7-92F9-0AC235FB5295}"/>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3028031" y="2466094"/>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sp>
        <p:nvSpPr>
          <p:cNvPr id="16" name="Rectangle 15">
            <a:extLst>
              <a:ext uri="{FF2B5EF4-FFF2-40B4-BE49-F238E27FC236}">
                <a16:creationId xmlns:a16="http://schemas.microsoft.com/office/drawing/2014/main" id="{A1F39E09-F2D1-AC85-82A5-6FD04FF658B1}"/>
              </a:ext>
            </a:extLst>
          </p:cNvPr>
          <p:cNvSpPr/>
          <p:nvPr/>
        </p:nvSpPr>
        <p:spPr>
          <a:xfrm>
            <a:off x="748296" y="2792499"/>
            <a:ext cx="2965802"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Other Fixed Income options</a:t>
            </a:r>
            <a:r>
              <a:rPr lang="en-US" sz="1000" b="1" baseline="30000">
                <a:solidFill>
                  <a:schemeClr val="tx1"/>
                </a:solidFill>
              </a:rPr>
              <a:t>1</a:t>
            </a:r>
          </a:p>
        </p:txBody>
      </p:sp>
      <p:sp>
        <p:nvSpPr>
          <p:cNvPr id="45" name="Oval 44">
            <a:extLst>
              <a:ext uri="{FF2B5EF4-FFF2-40B4-BE49-F238E27FC236}">
                <a16:creationId xmlns:a16="http://schemas.microsoft.com/office/drawing/2014/main" id="{D81B2A8E-F189-E673-72D6-B4973F9C1959}"/>
              </a:ext>
            </a:extLst>
          </p:cNvPr>
          <p:cNvSpPr>
            <a:spLocks/>
          </p:cNvSpPr>
          <p:nvPr/>
        </p:nvSpPr>
        <p:spPr>
          <a:xfrm>
            <a:off x="2687207" y="2828659"/>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49" name="Picture 4" descr="Wealthsimple | Logopedia | Fandom">
            <a:extLst>
              <a:ext uri="{FF2B5EF4-FFF2-40B4-BE49-F238E27FC236}">
                <a16:creationId xmlns:a16="http://schemas.microsoft.com/office/drawing/2014/main" id="{CC6C9409-70D2-7E84-E91A-3924E7CCEDB9}"/>
              </a:ext>
            </a:extLst>
          </p:cNvPr>
          <p:cNvPicPr>
            <a:picLocks noChangeArrowheads="1"/>
          </p:cNvPicPr>
          <p:nvPr/>
        </p:nvPicPr>
        <p:blipFill rotWithShape="1">
          <a:blip r:embed="rId8">
            <a:alphaModFix amt="25000"/>
            <a:extLst>
              <a:ext uri="{28A0092B-C50C-407E-A947-70E740481C1C}">
                <a14:useLocalDpi xmlns:a14="http://schemas.microsoft.com/office/drawing/2010/main" val="0"/>
              </a:ext>
            </a:extLst>
          </a:blip>
          <a:srcRect/>
          <a:stretch/>
        </p:blipFill>
        <p:spPr bwMode="auto">
          <a:xfrm>
            <a:off x="3355951" y="2828659"/>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50" name="Picture 2" descr="Fintable - Tangerine - Personal API and Transaction Data (PLAID)">
            <a:extLst>
              <a:ext uri="{FF2B5EF4-FFF2-40B4-BE49-F238E27FC236}">
                <a16:creationId xmlns:a16="http://schemas.microsoft.com/office/drawing/2014/main" id="{2BD4E583-561B-0E9D-D85B-9BDA0FCB06E9}"/>
              </a:ext>
            </a:extLst>
          </p:cNvPr>
          <p:cNvPicPr>
            <a:picLocks noChangeArrowheads="1"/>
          </p:cNvPicPr>
          <p:nvPr/>
        </p:nvPicPr>
        <p:blipFill rotWithShape="1">
          <a:blip r:embed="rId7">
            <a:alphaModFix amt="25000"/>
            <a:extLst>
              <a:ext uri="{28A0092B-C50C-407E-A947-70E740481C1C}">
                <a14:useLocalDpi xmlns:a14="http://schemas.microsoft.com/office/drawing/2010/main" val="0"/>
              </a:ext>
            </a:extLst>
          </a:blip>
          <a:srcRect l="4237" r="4237"/>
          <a:stretch/>
        </p:blipFill>
        <p:spPr bwMode="auto">
          <a:xfrm>
            <a:off x="3028031" y="2828659"/>
            <a:ext cx="210312" cy="210312"/>
          </a:xfrm>
          <a:prstGeom prst="ellipse">
            <a:avLst/>
          </a:prstGeom>
          <a:noFill/>
          <a:extLst>
            <a:ext uri="{909E8E84-426E-40DD-AFC4-6F175D3DCCD1}">
              <a14:hiddenFill xmlns:a14="http://schemas.microsoft.com/office/drawing/2010/main">
                <a:solidFill>
                  <a:srgbClr val="FFFFFF"/>
                </a:solidFill>
              </a14:hiddenFill>
            </a:ext>
          </a:extLst>
        </p:spPr>
      </p:pic>
      <p:grpSp>
        <p:nvGrpSpPr>
          <p:cNvPr id="2075" name="Group 2074">
            <a:extLst>
              <a:ext uri="{FF2B5EF4-FFF2-40B4-BE49-F238E27FC236}">
                <a16:creationId xmlns:a16="http://schemas.microsoft.com/office/drawing/2014/main" id="{4A21AE37-0F20-22CA-A156-C07042BAB311}"/>
              </a:ext>
            </a:extLst>
          </p:cNvPr>
          <p:cNvGrpSpPr/>
          <p:nvPr/>
        </p:nvGrpSpPr>
        <p:grpSpPr>
          <a:xfrm>
            <a:off x="9160053" y="1448747"/>
            <a:ext cx="1447006" cy="142041"/>
            <a:chOff x="5551426" y="6237704"/>
            <a:chExt cx="1447006" cy="142041"/>
          </a:xfrm>
        </p:grpSpPr>
        <p:sp>
          <p:nvSpPr>
            <p:cNvPr id="2057" name="Rectangle 2056">
              <a:extLst>
                <a:ext uri="{FF2B5EF4-FFF2-40B4-BE49-F238E27FC236}">
                  <a16:creationId xmlns:a16="http://schemas.microsoft.com/office/drawing/2014/main" id="{CC0C26BF-808B-E48B-89DF-7F10AF245E0B}"/>
                </a:ext>
              </a:extLst>
            </p:cNvPr>
            <p:cNvSpPr/>
            <p:nvPr/>
          </p:nvSpPr>
          <p:spPr>
            <a:xfrm>
              <a:off x="5762091" y="6237704"/>
              <a:ext cx="1236341" cy="1420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a:solidFill>
                    <a:sysClr val="windowText" lastClr="000000"/>
                  </a:solidFill>
                </a:rPr>
                <a:t>Partial offering</a:t>
              </a:r>
            </a:p>
          </p:txBody>
        </p:sp>
        <p:cxnSp>
          <p:nvCxnSpPr>
            <p:cNvPr id="2058" name="Straight Connector 2057">
              <a:extLst>
                <a:ext uri="{FF2B5EF4-FFF2-40B4-BE49-F238E27FC236}">
                  <a16:creationId xmlns:a16="http://schemas.microsoft.com/office/drawing/2014/main" id="{F3D43CA7-79A1-B581-B2AF-7A4AD14A9917}"/>
                </a:ext>
              </a:extLst>
            </p:cNvPr>
            <p:cNvCxnSpPr/>
            <p:nvPr/>
          </p:nvCxnSpPr>
          <p:spPr>
            <a:xfrm>
              <a:off x="5551426" y="6308725"/>
              <a:ext cx="24723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2074" name="Text Placeholder 2073">
            <a:extLst>
              <a:ext uri="{FF2B5EF4-FFF2-40B4-BE49-F238E27FC236}">
                <a16:creationId xmlns:a16="http://schemas.microsoft.com/office/drawing/2014/main" id="{43241A26-1D67-F59E-3909-989F05148C58}"/>
              </a:ext>
            </a:extLst>
          </p:cNvPr>
          <p:cNvSpPr>
            <a:spLocks noGrp="1"/>
          </p:cNvSpPr>
          <p:nvPr>
            <p:ph type="body" sz="quarter" idx="11"/>
          </p:nvPr>
        </p:nvSpPr>
        <p:spPr>
          <a:xfrm>
            <a:off x="515939" y="6366473"/>
            <a:ext cx="10620000" cy="144000"/>
          </a:xfrm>
        </p:spPr>
        <p:txBody>
          <a:bodyPr/>
          <a:lstStyle/>
          <a:p>
            <a:r>
              <a:rPr lang="en-US"/>
              <a:t>Note: 1. WS does not offer direct purchase; 2. Offered to Premium clients (over $500M in assets); 3. Offered via Pine partnership, In-house mortgage brokers being beta tested</a:t>
            </a:r>
          </a:p>
        </p:txBody>
      </p:sp>
      <p:grpSp>
        <p:nvGrpSpPr>
          <p:cNvPr id="2078" name="Group 2077">
            <a:extLst>
              <a:ext uri="{FF2B5EF4-FFF2-40B4-BE49-F238E27FC236}">
                <a16:creationId xmlns:a16="http://schemas.microsoft.com/office/drawing/2014/main" id="{ED96BC12-9520-1CFE-DBCA-DA83EB3FD8C4}"/>
              </a:ext>
            </a:extLst>
          </p:cNvPr>
          <p:cNvGrpSpPr/>
          <p:nvPr/>
        </p:nvGrpSpPr>
        <p:grpSpPr>
          <a:xfrm>
            <a:off x="10479401" y="1448747"/>
            <a:ext cx="1447006" cy="142041"/>
            <a:chOff x="5551426" y="6237704"/>
            <a:chExt cx="1447006" cy="142041"/>
          </a:xfrm>
        </p:grpSpPr>
        <p:sp>
          <p:nvSpPr>
            <p:cNvPr id="2079" name="Rectangle 2078">
              <a:extLst>
                <a:ext uri="{FF2B5EF4-FFF2-40B4-BE49-F238E27FC236}">
                  <a16:creationId xmlns:a16="http://schemas.microsoft.com/office/drawing/2014/main" id="{8E22E5B5-E0D3-BA8C-8B71-1746FAE19606}"/>
                </a:ext>
              </a:extLst>
            </p:cNvPr>
            <p:cNvSpPr/>
            <p:nvPr/>
          </p:nvSpPr>
          <p:spPr>
            <a:xfrm>
              <a:off x="5762091" y="6237704"/>
              <a:ext cx="1236341" cy="1420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a:solidFill>
                    <a:sysClr val="windowText" lastClr="000000"/>
                  </a:solidFill>
                </a:rPr>
                <a:t>Future offering</a:t>
              </a:r>
            </a:p>
          </p:txBody>
        </p:sp>
        <p:cxnSp>
          <p:nvCxnSpPr>
            <p:cNvPr id="2080" name="Straight Connector 2079">
              <a:extLst>
                <a:ext uri="{FF2B5EF4-FFF2-40B4-BE49-F238E27FC236}">
                  <a16:creationId xmlns:a16="http://schemas.microsoft.com/office/drawing/2014/main" id="{16B526F7-76E1-908F-DC0A-0745DC041D84}"/>
                </a:ext>
              </a:extLst>
            </p:cNvPr>
            <p:cNvCxnSpPr/>
            <p:nvPr/>
          </p:nvCxnSpPr>
          <p:spPr>
            <a:xfrm>
              <a:off x="5551426" y="6308725"/>
              <a:ext cx="247234" cy="0"/>
            </a:xfrm>
            <a:prstGeom prst="line">
              <a:avLst/>
            </a:prstGeom>
            <a:ln w="19050">
              <a:solidFill>
                <a:srgbClr val="EC111A"/>
              </a:solidFill>
              <a:prstDash val="dash"/>
            </a:ln>
          </p:spPr>
          <p:style>
            <a:lnRef idx="1">
              <a:schemeClr val="accent1"/>
            </a:lnRef>
            <a:fillRef idx="0">
              <a:schemeClr val="accent1"/>
            </a:fillRef>
            <a:effectRef idx="0">
              <a:schemeClr val="accent1"/>
            </a:effectRef>
            <a:fontRef idx="minor">
              <a:schemeClr val="tx1"/>
            </a:fontRef>
          </p:style>
        </p:cxnSp>
      </p:grpSp>
      <p:sp>
        <p:nvSpPr>
          <p:cNvPr id="4" name="Rectangle 3">
            <a:extLst>
              <a:ext uri="{FF2B5EF4-FFF2-40B4-BE49-F238E27FC236}">
                <a16:creationId xmlns:a16="http://schemas.microsoft.com/office/drawing/2014/main" id="{D1A21B0B-75C7-15C1-C40C-B03DF7AFF997}"/>
              </a:ext>
            </a:extLst>
          </p:cNvPr>
          <p:cNvSpPr/>
          <p:nvPr/>
        </p:nvSpPr>
        <p:spPr>
          <a:xfrm>
            <a:off x="4125840" y="3129227"/>
            <a:ext cx="3573463" cy="3108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Cash / Bank Draft Withdrawal</a:t>
            </a:r>
          </a:p>
        </p:txBody>
      </p:sp>
      <p:sp>
        <p:nvSpPr>
          <p:cNvPr id="52" name="Oval 51">
            <a:extLst>
              <a:ext uri="{FF2B5EF4-FFF2-40B4-BE49-F238E27FC236}">
                <a16:creationId xmlns:a16="http://schemas.microsoft.com/office/drawing/2014/main" id="{FFAB7C19-0C00-4EE8-991C-7AD7978C8F43}"/>
              </a:ext>
            </a:extLst>
          </p:cNvPr>
          <p:cNvSpPr>
            <a:spLocks/>
          </p:cNvSpPr>
          <p:nvPr/>
        </p:nvSpPr>
        <p:spPr>
          <a:xfrm>
            <a:off x="6797600" y="3179519"/>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55" name="Picture 2" descr="Fintable - Tangerine - Personal API and Transaction Data (PLAID)">
            <a:extLst>
              <a:ext uri="{FF2B5EF4-FFF2-40B4-BE49-F238E27FC236}">
                <a16:creationId xmlns:a16="http://schemas.microsoft.com/office/drawing/2014/main" id="{6798B3E9-B651-7F42-2FB1-139F3C9050DD}"/>
              </a:ext>
            </a:extLst>
          </p:cNvPr>
          <p:cNvPicPr>
            <a:picLocks noChangeArrowheads="1"/>
          </p:cNvPicPr>
          <p:nvPr/>
        </p:nvPicPr>
        <p:blipFill rotWithShape="1">
          <a:blip r:embed="rId11">
            <a:alphaModFix amt="57000"/>
            <a:extLst>
              <a:ext uri="{BEBA8EAE-BF5A-486C-A8C5-ECC9F3942E4B}">
                <a14:imgProps xmlns:a14="http://schemas.microsoft.com/office/drawing/2010/main">
                  <a14:imgLayer r:embed="rId12">
                    <a14:imgEffect>
                      <a14:colorTemperature colorTemp="11200"/>
                    </a14:imgEffect>
                  </a14:imgLayer>
                </a14:imgProps>
              </a:ext>
              <a:ext uri="{28A0092B-C50C-407E-A947-70E740481C1C}">
                <a14:useLocalDpi xmlns:a14="http://schemas.microsoft.com/office/drawing/2010/main" val="0"/>
              </a:ext>
            </a:extLst>
          </a:blip>
          <a:srcRect l="4237" r="4237"/>
          <a:stretch/>
        </p:blipFill>
        <p:spPr bwMode="auto">
          <a:xfrm>
            <a:off x="7093656" y="3179519"/>
            <a:ext cx="210312" cy="210312"/>
          </a:xfrm>
          <a:prstGeom prst="ellipse">
            <a:avLst/>
          </a:prstGeom>
          <a:noFill/>
          <a:ln>
            <a:solidFill>
              <a:srgbClr val="000000"/>
            </a:solidFill>
            <a:prstDash val="dash"/>
          </a:ln>
          <a:extLst>
            <a:ext uri="{909E8E84-426E-40DD-AFC4-6F175D3DCCD1}">
              <a14:hiddenFill xmlns:a14="http://schemas.microsoft.com/office/drawing/2010/main">
                <a:solidFill>
                  <a:srgbClr val="FFFFFF"/>
                </a:solidFill>
              </a14:hiddenFill>
            </a:ext>
          </a:extLst>
        </p:spPr>
      </p:pic>
      <p:pic>
        <p:nvPicPr>
          <p:cNvPr id="2053" name="Picture 4" descr="Wealthsimple | Logopedia | Fandom">
            <a:extLst>
              <a:ext uri="{FF2B5EF4-FFF2-40B4-BE49-F238E27FC236}">
                <a16:creationId xmlns:a16="http://schemas.microsoft.com/office/drawing/2014/main" id="{157D24F8-AFA3-7ACC-91A7-86FE280D2186}"/>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11216051" y="4810078"/>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55" name="Picture 4" descr="Wealthsimple | Logopedia | Fandom">
            <a:extLst>
              <a:ext uri="{FF2B5EF4-FFF2-40B4-BE49-F238E27FC236}">
                <a16:creationId xmlns:a16="http://schemas.microsoft.com/office/drawing/2014/main" id="{D6D3C5A8-275D-F24E-F3A5-5C8EBA51CAF7}"/>
              </a:ext>
            </a:extLst>
          </p:cNvPr>
          <p:cNvPicPr>
            <a:picLocks noChangeArrowheads="1"/>
          </p:cNvPicPr>
          <p:nvPr/>
        </p:nvPicPr>
        <p:blipFill rotWithShape="1">
          <a:blip r:embed="rId8">
            <a:alphaModFix amt="15000"/>
            <a:extLst>
              <a:ext uri="{28A0092B-C50C-407E-A947-70E740481C1C}">
                <a14:useLocalDpi xmlns:a14="http://schemas.microsoft.com/office/drawing/2010/main" val="0"/>
              </a:ext>
            </a:extLst>
          </a:blip>
          <a:srcRect/>
          <a:stretch/>
        </p:blipFill>
        <p:spPr bwMode="auto">
          <a:xfrm>
            <a:off x="11216051" y="4421827"/>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60" name="Picture 4" descr="Wealthsimple | Logopedia | Fandom">
            <a:extLst>
              <a:ext uri="{FF2B5EF4-FFF2-40B4-BE49-F238E27FC236}">
                <a16:creationId xmlns:a16="http://schemas.microsoft.com/office/drawing/2014/main" id="{3E1EBAC3-1A00-F4E9-ED88-5DA52B159C02}"/>
              </a:ext>
            </a:extLst>
          </p:cNvPr>
          <p:cNvPicPr>
            <a:picLocks noChangeArrowheads="1"/>
          </p:cNvPicPr>
          <p:nvPr/>
        </p:nvPicPr>
        <p:blipFill rotWithShape="1">
          <a:blip r:embed="rId8">
            <a:alphaModFix amt="25000"/>
            <a:extLst>
              <a:ext uri="{28A0092B-C50C-407E-A947-70E740481C1C}">
                <a14:useLocalDpi xmlns:a14="http://schemas.microsoft.com/office/drawing/2010/main" val="0"/>
              </a:ext>
            </a:extLst>
          </a:blip>
          <a:srcRect/>
          <a:stretch/>
        </p:blipFill>
        <p:spPr bwMode="auto">
          <a:xfrm>
            <a:off x="7397726" y="3182292"/>
            <a:ext cx="210342" cy="204766"/>
          </a:xfrm>
          <a:prstGeom prst="ellipse">
            <a:avLst/>
          </a:prstGeom>
          <a:solidFill>
            <a:schemeClr val="bg2"/>
          </a:solidFill>
          <a:ln>
            <a:solidFill>
              <a:srgbClr val="EC111A"/>
            </a:solidFill>
            <a:prstDash val="dash"/>
          </a:ln>
        </p:spPr>
      </p:pic>
      <p:grpSp>
        <p:nvGrpSpPr>
          <p:cNvPr id="58" name="Group 57">
            <a:extLst>
              <a:ext uri="{FF2B5EF4-FFF2-40B4-BE49-F238E27FC236}">
                <a16:creationId xmlns:a16="http://schemas.microsoft.com/office/drawing/2014/main" id="{3B772693-CD4F-D0DB-8351-D05B4A1868F3}"/>
              </a:ext>
            </a:extLst>
          </p:cNvPr>
          <p:cNvGrpSpPr/>
          <p:nvPr/>
        </p:nvGrpSpPr>
        <p:grpSpPr>
          <a:xfrm>
            <a:off x="748297" y="3657833"/>
            <a:ext cx="2965801" cy="282633"/>
            <a:chOff x="748297" y="4331025"/>
            <a:chExt cx="2965801" cy="282633"/>
          </a:xfrm>
        </p:grpSpPr>
        <p:sp>
          <p:nvSpPr>
            <p:cNvPr id="29" name="Rectangle 28">
              <a:extLst>
                <a:ext uri="{FF2B5EF4-FFF2-40B4-BE49-F238E27FC236}">
                  <a16:creationId xmlns:a16="http://schemas.microsoft.com/office/drawing/2014/main" id="{743D13CD-B5D7-BD14-8013-11FED1DBA6E1}"/>
                </a:ext>
              </a:extLst>
            </p:cNvPr>
            <p:cNvSpPr/>
            <p:nvPr/>
          </p:nvSpPr>
          <p:spPr>
            <a:xfrm>
              <a:off x="748297" y="4331025"/>
              <a:ext cx="2965801" cy="282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Financial Planning</a:t>
              </a:r>
              <a:r>
                <a:rPr lang="en-US" sz="1000" b="1" baseline="30000">
                  <a:solidFill>
                    <a:schemeClr val="tx1"/>
                  </a:solidFill>
                </a:rPr>
                <a:t>2</a:t>
              </a:r>
            </a:p>
          </p:txBody>
        </p:sp>
        <p:sp>
          <p:nvSpPr>
            <p:cNvPr id="2110" name="Oval 2109">
              <a:extLst>
                <a:ext uri="{FF2B5EF4-FFF2-40B4-BE49-F238E27FC236}">
                  <a16:creationId xmlns:a16="http://schemas.microsoft.com/office/drawing/2014/main" id="{5922DFC1-4398-675C-6B1F-F49FEF5344A8}"/>
                </a:ext>
              </a:extLst>
            </p:cNvPr>
            <p:cNvSpPr>
              <a:spLocks/>
            </p:cNvSpPr>
            <p:nvPr/>
          </p:nvSpPr>
          <p:spPr>
            <a:xfrm>
              <a:off x="2687207" y="4362309"/>
              <a:ext cx="210312" cy="210312"/>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111" name="Picture 2" descr="Fintable - Tangerine - Personal API and Transaction Data (PLAID)">
              <a:extLst>
                <a:ext uri="{FF2B5EF4-FFF2-40B4-BE49-F238E27FC236}">
                  <a16:creationId xmlns:a16="http://schemas.microsoft.com/office/drawing/2014/main" id="{521DE4CD-2964-7373-6E72-EB01FEE6D197}"/>
                </a:ext>
              </a:extLst>
            </p:cNvPr>
            <p:cNvPicPr>
              <a:picLocks noChangeArrowheads="1"/>
            </p:cNvPicPr>
            <p:nvPr/>
          </p:nvPicPr>
          <p:blipFill rotWithShape="1">
            <a:blip r:embed="rId7">
              <a:alphaModFix amt="15000"/>
              <a:extLst>
                <a:ext uri="{28A0092B-C50C-407E-A947-70E740481C1C}">
                  <a14:useLocalDpi xmlns:a14="http://schemas.microsoft.com/office/drawing/2010/main" val="0"/>
                </a:ext>
              </a:extLst>
            </a:blip>
            <a:srcRect l="4237" r="4237"/>
            <a:stretch/>
          </p:blipFill>
          <p:spPr bwMode="auto">
            <a:xfrm>
              <a:off x="3021564" y="4362309"/>
              <a:ext cx="210312" cy="210312"/>
            </a:xfrm>
            <a:prstGeom prst="ellipse">
              <a:avLst/>
            </a:prstGeom>
            <a:noFill/>
            <a:extLst>
              <a:ext uri="{909E8E84-426E-40DD-AFC4-6F175D3DCCD1}">
                <a14:hiddenFill xmlns:a14="http://schemas.microsoft.com/office/drawing/2010/main">
                  <a:solidFill>
                    <a:srgbClr val="FFFFFF"/>
                  </a:solidFill>
                </a14:hiddenFill>
              </a:ext>
            </a:extLst>
          </p:spPr>
        </p:pic>
        <p:pic>
          <p:nvPicPr>
            <p:cNvPr id="2065" name="Picture 4" descr="Wealthsimple | Logopedia | Fandom">
              <a:extLst>
                <a:ext uri="{FF2B5EF4-FFF2-40B4-BE49-F238E27FC236}">
                  <a16:creationId xmlns:a16="http://schemas.microsoft.com/office/drawing/2014/main" id="{EEBDB996-9293-1FFF-D83D-8D6A96FDAF2C}"/>
                </a:ext>
              </a:extLst>
            </p:cNvPr>
            <p:cNvPicPr>
              <a:picLocks noChangeArrowheads="1"/>
            </p:cNvPicPr>
            <p:nvPr/>
          </p:nvPicPr>
          <p:blipFill rotWithShape="1">
            <a:blip r:embed="rId8">
              <a:alphaModFix amt="25000"/>
              <a:extLst>
                <a:ext uri="{28A0092B-C50C-407E-A947-70E740481C1C}">
                  <a14:useLocalDpi xmlns:a14="http://schemas.microsoft.com/office/drawing/2010/main" val="0"/>
                </a:ext>
              </a:extLst>
            </a:blip>
            <a:srcRect/>
            <a:stretch/>
          </p:blipFill>
          <p:spPr bwMode="auto">
            <a:xfrm>
              <a:off x="3355921" y="4365082"/>
              <a:ext cx="210342" cy="204766"/>
            </a:xfrm>
            <a:prstGeom prst="ellipse">
              <a:avLst/>
            </a:prstGeom>
            <a:solidFill>
              <a:schemeClr val="bg2"/>
            </a:solidFill>
            <a:ln>
              <a:solidFill>
                <a:schemeClr val="tx1"/>
              </a:solidFill>
              <a:prstDash val="dash"/>
            </a:ln>
          </p:spPr>
        </p:pic>
      </p:grpSp>
      <p:sp>
        <p:nvSpPr>
          <p:cNvPr id="2069" name="Rectangle 2068">
            <a:extLst>
              <a:ext uri="{FF2B5EF4-FFF2-40B4-BE49-F238E27FC236}">
                <a16:creationId xmlns:a16="http://schemas.microsoft.com/office/drawing/2014/main" id="{D3EE1473-EA78-05F0-06AC-5EB0006D6969}"/>
              </a:ext>
            </a:extLst>
          </p:cNvPr>
          <p:cNvSpPr/>
          <p:nvPr/>
        </p:nvSpPr>
        <p:spPr>
          <a:xfrm>
            <a:off x="7978220" y="2428830"/>
            <a:ext cx="3573436"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r>
              <a:rPr lang="en-US" sz="1000" b="1">
                <a:solidFill>
                  <a:schemeClr val="tx1"/>
                </a:solidFill>
              </a:rPr>
              <a:t>Personal Lending</a:t>
            </a:r>
            <a:endParaRPr lang="en-US" sz="1000" b="1" baseline="30000">
              <a:solidFill>
                <a:schemeClr val="tx1"/>
              </a:solidFill>
            </a:endParaRPr>
          </a:p>
        </p:txBody>
      </p:sp>
      <p:sp>
        <p:nvSpPr>
          <p:cNvPr id="2070" name="Oval 2069">
            <a:extLst>
              <a:ext uri="{FF2B5EF4-FFF2-40B4-BE49-F238E27FC236}">
                <a16:creationId xmlns:a16="http://schemas.microsoft.com/office/drawing/2014/main" id="{ACE4DE7E-2008-C4E7-73A9-5F72DC758543}"/>
              </a:ext>
            </a:extLst>
          </p:cNvPr>
          <p:cNvSpPr>
            <a:spLocks/>
          </p:cNvSpPr>
          <p:nvPr/>
        </p:nvSpPr>
        <p:spPr>
          <a:xfrm>
            <a:off x="10721461" y="2485801"/>
            <a:ext cx="210342" cy="204766"/>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CA" sz="1100">
              <a:solidFill>
                <a:schemeClr val="tx1">
                  <a:lumMod val="75000"/>
                  <a:lumOff val="25000"/>
                </a:schemeClr>
              </a:solidFill>
              <a:latin typeface="Arial" panose="020B0604020202020204" pitchFamily="34" charset="0"/>
              <a:cs typeface="Arial" panose="020B0604020202020204" pitchFamily="34" charset="0"/>
            </a:endParaRPr>
          </a:p>
        </p:txBody>
      </p:sp>
      <p:pic>
        <p:nvPicPr>
          <p:cNvPr id="2071" name="Picture 2" descr="Fintable - Tangerine - Personal API and Transaction Data (PLAID)">
            <a:extLst>
              <a:ext uri="{FF2B5EF4-FFF2-40B4-BE49-F238E27FC236}">
                <a16:creationId xmlns:a16="http://schemas.microsoft.com/office/drawing/2014/main" id="{7EF51F9F-E1BC-F95B-A61C-29E6ED5A8E7E}"/>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l="4237" r="4237"/>
          <a:stretch/>
        </p:blipFill>
        <p:spPr bwMode="auto">
          <a:xfrm>
            <a:off x="10988680" y="2485801"/>
            <a:ext cx="210342" cy="204766"/>
          </a:xfrm>
          <a:prstGeom prst="ellipse">
            <a:avLst/>
          </a:prstGeom>
          <a:noFill/>
          <a:extLst>
            <a:ext uri="{909E8E84-426E-40DD-AFC4-6F175D3DCCD1}">
              <a14:hiddenFill xmlns:a14="http://schemas.microsoft.com/office/drawing/2010/main">
                <a:solidFill>
                  <a:srgbClr val="FFFFFF"/>
                </a:solidFill>
              </a14:hiddenFill>
            </a:ext>
          </a:extLst>
        </p:spPr>
      </p:pic>
      <p:pic>
        <p:nvPicPr>
          <p:cNvPr id="2072" name="Picture 4" descr="Wealthsimple | Logopedia | Fandom">
            <a:extLst>
              <a:ext uri="{FF2B5EF4-FFF2-40B4-BE49-F238E27FC236}">
                <a16:creationId xmlns:a16="http://schemas.microsoft.com/office/drawing/2014/main" id="{9543A933-62CF-A422-A47A-40A36753024D}"/>
              </a:ext>
            </a:extLst>
          </p:cNvPr>
          <p:cNvPicPr>
            <a:picLocks noChangeArrowheads="1"/>
          </p:cNvPicPr>
          <p:nvPr/>
        </p:nvPicPr>
        <p:blipFill rotWithShape="1">
          <a:blip r:embed="rId8">
            <a:alphaModFix amt="25000"/>
            <a:extLst>
              <a:ext uri="{28A0092B-C50C-407E-A947-70E740481C1C}">
                <a14:useLocalDpi xmlns:a14="http://schemas.microsoft.com/office/drawing/2010/main" val="0"/>
              </a:ext>
            </a:extLst>
          </a:blip>
          <a:srcRect/>
          <a:stretch/>
        </p:blipFill>
        <p:spPr bwMode="auto">
          <a:xfrm>
            <a:off x="11260274" y="2485801"/>
            <a:ext cx="210342" cy="204766"/>
          </a:xfrm>
          <a:prstGeom prst="ellipse">
            <a:avLst/>
          </a:prstGeom>
          <a:solidFill>
            <a:schemeClr val="bg2"/>
          </a:solidFill>
          <a:ln>
            <a:solidFill>
              <a:srgbClr val="EC111A"/>
            </a:solidFill>
            <a:prstDash val="dash"/>
          </a:ln>
        </p:spPr>
      </p:pic>
    </p:spTree>
    <p:extLst>
      <p:ext uri="{BB962C8B-B14F-4D97-AF65-F5344CB8AC3E}">
        <p14:creationId xmlns:p14="http://schemas.microsoft.com/office/powerpoint/2010/main" val="278921467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5241B-FCE6-7080-2601-D017FEBCCB92}"/>
            </a:ext>
          </a:extLst>
        </p:cNvPr>
        <p:cNvGrpSpPr/>
        <p:nvPr/>
      </p:nvGrpSpPr>
      <p:grpSpPr>
        <a:xfrm>
          <a:off x="0" y="0"/>
          <a:ext cx="0" cy="0"/>
          <a:chOff x="0" y="0"/>
          <a:chExt cx="0" cy="0"/>
        </a:xfrm>
      </p:grpSpPr>
      <p:sp>
        <p:nvSpPr>
          <p:cNvPr id="75" name="Trapezoid 4">
            <a:extLst>
              <a:ext uri="{FF2B5EF4-FFF2-40B4-BE49-F238E27FC236}">
                <a16:creationId xmlns:a16="http://schemas.microsoft.com/office/drawing/2014/main" id="{133F8103-5AF1-7469-9D68-3E2FAA046E7B}"/>
              </a:ext>
            </a:extLst>
          </p:cNvPr>
          <p:cNvSpPr/>
          <p:nvPr/>
        </p:nvSpPr>
        <p:spPr>
          <a:xfrm rot="16200000">
            <a:off x="3299228" y="4348000"/>
            <a:ext cx="2735147" cy="795621"/>
          </a:xfrm>
          <a:custGeom>
            <a:avLst/>
            <a:gdLst>
              <a:gd name="connsiteX0" fmla="*/ 0 w 1647090"/>
              <a:gd name="connsiteY0" fmla="*/ 1216152 h 1216152"/>
              <a:gd name="connsiteX1" fmla="*/ 304038 w 1647090"/>
              <a:gd name="connsiteY1" fmla="*/ 0 h 1216152"/>
              <a:gd name="connsiteX2" fmla="*/ 1343052 w 1647090"/>
              <a:gd name="connsiteY2" fmla="*/ 0 h 1216152"/>
              <a:gd name="connsiteX3" fmla="*/ 1647090 w 1647090"/>
              <a:gd name="connsiteY3" fmla="*/ 1216152 h 1216152"/>
              <a:gd name="connsiteX4" fmla="*/ 0 w 1647090"/>
              <a:gd name="connsiteY4" fmla="*/ 1216152 h 1216152"/>
              <a:gd name="connsiteX0" fmla="*/ 0 w 2159838"/>
              <a:gd name="connsiteY0" fmla="*/ 1216152 h 3600428"/>
              <a:gd name="connsiteX1" fmla="*/ 304038 w 2159838"/>
              <a:gd name="connsiteY1" fmla="*/ 0 h 3600428"/>
              <a:gd name="connsiteX2" fmla="*/ 1343052 w 2159838"/>
              <a:gd name="connsiteY2" fmla="*/ 0 h 3600428"/>
              <a:gd name="connsiteX3" fmla="*/ 2159838 w 2159838"/>
              <a:gd name="connsiteY3" fmla="*/ 3600428 h 3600428"/>
              <a:gd name="connsiteX4" fmla="*/ 0 w 2159838"/>
              <a:gd name="connsiteY4" fmla="*/ 1216152 h 3600428"/>
              <a:gd name="connsiteX0" fmla="*/ 0 w 4381744"/>
              <a:gd name="connsiteY0" fmla="*/ 3626066 h 3626066"/>
              <a:gd name="connsiteX1" fmla="*/ 2525944 w 4381744"/>
              <a:gd name="connsiteY1" fmla="*/ 0 h 3626066"/>
              <a:gd name="connsiteX2" fmla="*/ 3564958 w 4381744"/>
              <a:gd name="connsiteY2" fmla="*/ 0 h 3626066"/>
              <a:gd name="connsiteX3" fmla="*/ 4381744 w 4381744"/>
              <a:gd name="connsiteY3" fmla="*/ 3600428 h 3626066"/>
              <a:gd name="connsiteX4" fmla="*/ 0 w 4381744"/>
              <a:gd name="connsiteY4" fmla="*/ 3626066 h 3626066"/>
              <a:gd name="connsiteX0" fmla="*/ 0 w 4381744"/>
              <a:gd name="connsiteY0" fmla="*/ 3665496 h 3665496"/>
              <a:gd name="connsiteX1" fmla="*/ 2385955 w 4381744"/>
              <a:gd name="connsiteY1" fmla="*/ -1 h 3665496"/>
              <a:gd name="connsiteX2" fmla="*/ 3564958 w 4381744"/>
              <a:gd name="connsiteY2" fmla="*/ 39430 h 3665496"/>
              <a:gd name="connsiteX3" fmla="*/ 4381744 w 4381744"/>
              <a:gd name="connsiteY3" fmla="*/ 3639858 h 3665496"/>
              <a:gd name="connsiteX4" fmla="*/ 0 w 4381744"/>
              <a:gd name="connsiteY4" fmla="*/ 3665496 h 3665496"/>
              <a:gd name="connsiteX0" fmla="*/ 0 w 4381744"/>
              <a:gd name="connsiteY0" fmla="*/ 3678646 h 3678646"/>
              <a:gd name="connsiteX1" fmla="*/ 2385955 w 4381744"/>
              <a:gd name="connsiteY1" fmla="*/ 13149 h 3678646"/>
              <a:gd name="connsiteX2" fmla="*/ 3507316 w 4381744"/>
              <a:gd name="connsiteY2" fmla="*/ 0 h 3678646"/>
              <a:gd name="connsiteX3" fmla="*/ 4381744 w 4381744"/>
              <a:gd name="connsiteY3" fmla="*/ 3653008 h 3678646"/>
              <a:gd name="connsiteX4" fmla="*/ 0 w 4381744"/>
              <a:gd name="connsiteY4" fmla="*/ 3678646 h 3678646"/>
              <a:gd name="connsiteX0" fmla="*/ 0 w 4398216"/>
              <a:gd name="connsiteY0" fmla="*/ 3678646 h 3745024"/>
              <a:gd name="connsiteX1" fmla="*/ 2385955 w 4398216"/>
              <a:gd name="connsiteY1" fmla="*/ 13149 h 3745024"/>
              <a:gd name="connsiteX2" fmla="*/ 3507316 w 4398216"/>
              <a:gd name="connsiteY2" fmla="*/ 0 h 3745024"/>
              <a:gd name="connsiteX3" fmla="*/ 4398216 w 4398216"/>
              <a:gd name="connsiteY3" fmla="*/ 3745023 h 3745024"/>
              <a:gd name="connsiteX4" fmla="*/ 0 w 4398216"/>
              <a:gd name="connsiteY4" fmla="*/ 3678646 h 3745024"/>
              <a:gd name="connsiteX0" fmla="*/ 0 w 4373512"/>
              <a:gd name="connsiteY0" fmla="*/ 3731227 h 3745022"/>
              <a:gd name="connsiteX1" fmla="*/ 2361251 w 4373512"/>
              <a:gd name="connsiteY1" fmla="*/ 13149 h 3745022"/>
              <a:gd name="connsiteX2" fmla="*/ 3482612 w 4373512"/>
              <a:gd name="connsiteY2" fmla="*/ 0 h 3745022"/>
              <a:gd name="connsiteX3" fmla="*/ 4373512 w 4373512"/>
              <a:gd name="connsiteY3" fmla="*/ 3745023 h 3745022"/>
              <a:gd name="connsiteX4" fmla="*/ 0 w 4373512"/>
              <a:gd name="connsiteY4" fmla="*/ 3731227 h 3745022"/>
              <a:gd name="connsiteX0" fmla="*/ 0 w 4538205"/>
              <a:gd name="connsiteY0" fmla="*/ 3731231 h 3745024"/>
              <a:gd name="connsiteX1" fmla="*/ 2525944 w 4538205"/>
              <a:gd name="connsiteY1" fmla="*/ 13149 h 3745024"/>
              <a:gd name="connsiteX2" fmla="*/ 3647305 w 4538205"/>
              <a:gd name="connsiteY2" fmla="*/ 0 h 3745024"/>
              <a:gd name="connsiteX3" fmla="*/ 4538205 w 4538205"/>
              <a:gd name="connsiteY3" fmla="*/ 3745023 h 3745024"/>
              <a:gd name="connsiteX4" fmla="*/ 0 w 4538205"/>
              <a:gd name="connsiteY4" fmla="*/ 3731231 h 3745024"/>
              <a:gd name="connsiteX0" fmla="*/ 0 w 4263720"/>
              <a:gd name="connsiteY0" fmla="*/ 3731231 h 3766933"/>
              <a:gd name="connsiteX1" fmla="*/ 2525944 w 4263720"/>
              <a:gd name="connsiteY1" fmla="*/ 13149 h 3766933"/>
              <a:gd name="connsiteX2" fmla="*/ 3647305 w 4263720"/>
              <a:gd name="connsiteY2" fmla="*/ 0 h 3766933"/>
              <a:gd name="connsiteX3" fmla="*/ 4263720 w 4263720"/>
              <a:gd name="connsiteY3" fmla="*/ 3766932 h 3766933"/>
              <a:gd name="connsiteX4" fmla="*/ 0 w 4263720"/>
              <a:gd name="connsiteY4" fmla="*/ 3731231 h 3766933"/>
              <a:gd name="connsiteX0" fmla="*/ 0 w 4263720"/>
              <a:gd name="connsiteY0" fmla="*/ 3783805 h 3819505"/>
              <a:gd name="connsiteX1" fmla="*/ 2731809 w 4263720"/>
              <a:gd name="connsiteY1" fmla="*/ 1 h 3819505"/>
              <a:gd name="connsiteX2" fmla="*/ 3647305 w 4263720"/>
              <a:gd name="connsiteY2" fmla="*/ 52574 h 3819505"/>
              <a:gd name="connsiteX3" fmla="*/ 4263720 w 4263720"/>
              <a:gd name="connsiteY3" fmla="*/ 3819506 h 3819505"/>
              <a:gd name="connsiteX4" fmla="*/ 0 w 4263720"/>
              <a:gd name="connsiteY4" fmla="*/ 3783805 h 3819505"/>
              <a:gd name="connsiteX0" fmla="*/ 0 w 4263720"/>
              <a:gd name="connsiteY0" fmla="*/ 3783803 h 3819505"/>
              <a:gd name="connsiteX1" fmla="*/ 2731809 w 4263720"/>
              <a:gd name="connsiteY1" fmla="*/ -1 h 3819505"/>
              <a:gd name="connsiteX2" fmla="*/ 3647305 w 4263720"/>
              <a:gd name="connsiteY2" fmla="*/ 52572 h 3819505"/>
              <a:gd name="connsiteX3" fmla="*/ 4263720 w 4263720"/>
              <a:gd name="connsiteY3" fmla="*/ 3819504 h 3819505"/>
              <a:gd name="connsiteX4" fmla="*/ 0 w 4263720"/>
              <a:gd name="connsiteY4" fmla="*/ 3783803 h 3819505"/>
              <a:gd name="connsiteX0" fmla="*/ 0 w 4442137"/>
              <a:gd name="connsiteY0" fmla="*/ 3783805 h 3819505"/>
              <a:gd name="connsiteX1" fmla="*/ 2910226 w 4442137"/>
              <a:gd name="connsiteY1" fmla="*/ 1 h 3819505"/>
              <a:gd name="connsiteX2" fmla="*/ 3825722 w 4442137"/>
              <a:gd name="connsiteY2" fmla="*/ 52574 h 3819505"/>
              <a:gd name="connsiteX3" fmla="*/ 4442137 w 4442137"/>
              <a:gd name="connsiteY3" fmla="*/ 3819506 h 3819505"/>
              <a:gd name="connsiteX4" fmla="*/ 0 w 4442137"/>
              <a:gd name="connsiteY4" fmla="*/ 3783805 h 3819505"/>
              <a:gd name="connsiteX0" fmla="*/ 0 w 4442137"/>
              <a:gd name="connsiteY0" fmla="*/ 3783805 h 3819505"/>
              <a:gd name="connsiteX1" fmla="*/ 2910226 w 4442137"/>
              <a:gd name="connsiteY1" fmla="*/ 1 h 3819505"/>
              <a:gd name="connsiteX2" fmla="*/ 3931808 w 4442137"/>
              <a:gd name="connsiteY2" fmla="*/ 52576 h 3819505"/>
              <a:gd name="connsiteX3" fmla="*/ 4442137 w 4442137"/>
              <a:gd name="connsiteY3" fmla="*/ 3819506 h 3819505"/>
              <a:gd name="connsiteX4" fmla="*/ 0 w 4442137"/>
              <a:gd name="connsiteY4" fmla="*/ 3783805 h 3819505"/>
              <a:gd name="connsiteX0" fmla="*/ 0 w 4442137"/>
              <a:gd name="connsiteY0" fmla="*/ 3783805 h 3819505"/>
              <a:gd name="connsiteX1" fmla="*/ 2955692 w 4442137"/>
              <a:gd name="connsiteY1" fmla="*/ 0 h 3819505"/>
              <a:gd name="connsiteX2" fmla="*/ 3931808 w 4442137"/>
              <a:gd name="connsiteY2" fmla="*/ 52576 h 3819505"/>
              <a:gd name="connsiteX3" fmla="*/ 4442137 w 4442137"/>
              <a:gd name="connsiteY3" fmla="*/ 3819506 h 3819505"/>
              <a:gd name="connsiteX4" fmla="*/ 0 w 4442137"/>
              <a:gd name="connsiteY4" fmla="*/ 3783805 h 3819505"/>
              <a:gd name="connsiteX0" fmla="*/ 0 w 4442137"/>
              <a:gd name="connsiteY0" fmla="*/ 3783805 h 3819505"/>
              <a:gd name="connsiteX1" fmla="*/ 2955692 w 4442137"/>
              <a:gd name="connsiteY1" fmla="*/ 0 h 3819505"/>
              <a:gd name="connsiteX2" fmla="*/ 3942543 w 4442137"/>
              <a:gd name="connsiteY2" fmla="*/ 41765 h 3819505"/>
              <a:gd name="connsiteX3" fmla="*/ 4442137 w 4442137"/>
              <a:gd name="connsiteY3" fmla="*/ 3819506 h 3819505"/>
              <a:gd name="connsiteX4" fmla="*/ 0 w 4442137"/>
              <a:gd name="connsiteY4" fmla="*/ 3783805 h 3819505"/>
              <a:gd name="connsiteX0" fmla="*/ 0 w 4442137"/>
              <a:gd name="connsiteY0" fmla="*/ 3772999 h 3808699"/>
              <a:gd name="connsiteX1" fmla="*/ 2955693 w 4442137"/>
              <a:gd name="connsiteY1" fmla="*/ 0 h 3808699"/>
              <a:gd name="connsiteX2" fmla="*/ 3942543 w 4442137"/>
              <a:gd name="connsiteY2" fmla="*/ 30959 h 3808699"/>
              <a:gd name="connsiteX3" fmla="*/ 4442137 w 4442137"/>
              <a:gd name="connsiteY3" fmla="*/ 3808700 h 3808699"/>
              <a:gd name="connsiteX4" fmla="*/ 0 w 4442137"/>
              <a:gd name="connsiteY4" fmla="*/ 3772999 h 3808699"/>
              <a:gd name="connsiteX0" fmla="*/ 0 w 4442137"/>
              <a:gd name="connsiteY0" fmla="*/ 3774465 h 3810165"/>
              <a:gd name="connsiteX1" fmla="*/ 2955693 w 4442137"/>
              <a:gd name="connsiteY1" fmla="*/ 1466 h 3810165"/>
              <a:gd name="connsiteX2" fmla="*/ 3942543 w 4442137"/>
              <a:gd name="connsiteY2" fmla="*/ 2 h 3810165"/>
              <a:gd name="connsiteX3" fmla="*/ 4442137 w 4442137"/>
              <a:gd name="connsiteY3" fmla="*/ 3810166 h 3810165"/>
              <a:gd name="connsiteX4" fmla="*/ 0 w 4442137"/>
              <a:gd name="connsiteY4" fmla="*/ 3774465 h 3810165"/>
              <a:gd name="connsiteX0" fmla="*/ 0 w 4442137"/>
              <a:gd name="connsiteY0" fmla="*/ 3783809 h 3819509"/>
              <a:gd name="connsiteX1" fmla="*/ 2961060 w 4442137"/>
              <a:gd name="connsiteY1" fmla="*/ 0 h 3819509"/>
              <a:gd name="connsiteX2" fmla="*/ 3942543 w 4442137"/>
              <a:gd name="connsiteY2" fmla="*/ 9346 h 3819509"/>
              <a:gd name="connsiteX3" fmla="*/ 4442137 w 4442137"/>
              <a:gd name="connsiteY3" fmla="*/ 3819510 h 3819509"/>
              <a:gd name="connsiteX4" fmla="*/ 0 w 4442137"/>
              <a:gd name="connsiteY4" fmla="*/ 3783809 h 3819509"/>
              <a:gd name="connsiteX0" fmla="*/ 0 w 4442138"/>
              <a:gd name="connsiteY0" fmla="*/ 3820864 h 3820866"/>
              <a:gd name="connsiteX1" fmla="*/ 2961061 w 4442138"/>
              <a:gd name="connsiteY1" fmla="*/ 0 h 3820866"/>
              <a:gd name="connsiteX2" fmla="*/ 3942544 w 4442138"/>
              <a:gd name="connsiteY2" fmla="*/ 9346 h 3820866"/>
              <a:gd name="connsiteX3" fmla="*/ 4442138 w 4442138"/>
              <a:gd name="connsiteY3" fmla="*/ 3819510 h 3820866"/>
              <a:gd name="connsiteX4" fmla="*/ 0 w 4442138"/>
              <a:gd name="connsiteY4" fmla="*/ 3820864 h 3820866"/>
              <a:gd name="connsiteX0" fmla="*/ 0 w 4492104"/>
              <a:gd name="connsiteY0" fmla="*/ 3820864 h 3820866"/>
              <a:gd name="connsiteX1" fmla="*/ 2961061 w 4492104"/>
              <a:gd name="connsiteY1" fmla="*/ 0 h 3820866"/>
              <a:gd name="connsiteX2" fmla="*/ 3942544 w 4492104"/>
              <a:gd name="connsiteY2" fmla="*/ 9346 h 3820866"/>
              <a:gd name="connsiteX3" fmla="*/ 4492104 w 4492104"/>
              <a:gd name="connsiteY3" fmla="*/ 3819520 h 3820866"/>
              <a:gd name="connsiteX4" fmla="*/ 0 w 4492104"/>
              <a:gd name="connsiteY4" fmla="*/ 3820864 h 3820866"/>
              <a:gd name="connsiteX0" fmla="*/ 0 w 4492104"/>
              <a:gd name="connsiteY0" fmla="*/ 3820864 h 3820866"/>
              <a:gd name="connsiteX1" fmla="*/ 2961061 w 4492104"/>
              <a:gd name="connsiteY1" fmla="*/ 0 h 3820866"/>
              <a:gd name="connsiteX2" fmla="*/ 3942544 w 4492104"/>
              <a:gd name="connsiteY2" fmla="*/ 9346 h 3820866"/>
              <a:gd name="connsiteX3" fmla="*/ 4492104 w 4492104"/>
              <a:gd name="connsiteY3" fmla="*/ 3819518 h 3820866"/>
              <a:gd name="connsiteX4" fmla="*/ 0 w 4492104"/>
              <a:gd name="connsiteY4" fmla="*/ 3820864 h 3820866"/>
              <a:gd name="connsiteX0" fmla="*/ 0 w 4265036"/>
              <a:gd name="connsiteY0" fmla="*/ 3820864 h 3842963"/>
              <a:gd name="connsiteX1" fmla="*/ 2961061 w 4265036"/>
              <a:gd name="connsiteY1" fmla="*/ 0 h 3842963"/>
              <a:gd name="connsiteX2" fmla="*/ 3942544 w 4265036"/>
              <a:gd name="connsiteY2" fmla="*/ 9346 h 3842963"/>
              <a:gd name="connsiteX3" fmla="*/ 4265036 w 4265036"/>
              <a:gd name="connsiteY3" fmla="*/ 3842963 h 3842963"/>
              <a:gd name="connsiteX4" fmla="*/ 0 w 4265036"/>
              <a:gd name="connsiteY4" fmla="*/ 3820864 h 3842963"/>
              <a:gd name="connsiteX0" fmla="*/ 0 w 4282502"/>
              <a:gd name="connsiteY0" fmla="*/ 3820864 h 3842972"/>
              <a:gd name="connsiteX1" fmla="*/ 2961061 w 4282502"/>
              <a:gd name="connsiteY1" fmla="*/ 0 h 3842972"/>
              <a:gd name="connsiteX2" fmla="*/ 3942544 w 4282502"/>
              <a:gd name="connsiteY2" fmla="*/ 9346 h 3842972"/>
              <a:gd name="connsiteX3" fmla="*/ 4282503 w 4282502"/>
              <a:gd name="connsiteY3" fmla="*/ 3842974 h 3842972"/>
              <a:gd name="connsiteX4" fmla="*/ 0 w 4282502"/>
              <a:gd name="connsiteY4" fmla="*/ 3820864 h 3842972"/>
              <a:gd name="connsiteX0" fmla="*/ -1 w 4423032"/>
              <a:gd name="connsiteY0" fmla="*/ 3844445 h 3844447"/>
              <a:gd name="connsiteX1" fmla="*/ 3101589 w 4423032"/>
              <a:gd name="connsiteY1" fmla="*/ 0 h 3844447"/>
              <a:gd name="connsiteX2" fmla="*/ 4083072 w 4423032"/>
              <a:gd name="connsiteY2" fmla="*/ 9346 h 3844447"/>
              <a:gd name="connsiteX3" fmla="*/ 4423031 w 4423032"/>
              <a:gd name="connsiteY3" fmla="*/ 3842974 h 3844447"/>
              <a:gd name="connsiteX4" fmla="*/ -1 w 4423032"/>
              <a:gd name="connsiteY4" fmla="*/ 3844445 h 3844447"/>
              <a:gd name="connsiteX0" fmla="*/ 0 w 4440599"/>
              <a:gd name="connsiteY0" fmla="*/ 3820871 h 3842972"/>
              <a:gd name="connsiteX1" fmla="*/ 3119157 w 4440599"/>
              <a:gd name="connsiteY1" fmla="*/ 0 h 3842972"/>
              <a:gd name="connsiteX2" fmla="*/ 4100640 w 4440599"/>
              <a:gd name="connsiteY2" fmla="*/ 9346 h 3842972"/>
              <a:gd name="connsiteX3" fmla="*/ 4440599 w 4440599"/>
              <a:gd name="connsiteY3" fmla="*/ 3842974 h 3842972"/>
              <a:gd name="connsiteX4" fmla="*/ 0 w 4440599"/>
              <a:gd name="connsiteY4" fmla="*/ 3820871 h 3842972"/>
              <a:gd name="connsiteX0" fmla="*/ 0 w 4440599"/>
              <a:gd name="connsiteY0" fmla="*/ 3820871 h 3842972"/>
              <a:gd name="connsiteX1" fmla="*/ 3119157 w 4440599"/>
              <a:gd name="connsiteY1" fmla="*/ 0 h 3842972"/>
              <a:gd name="connsiteX2" fmla="*/ 4093305 w 4440599"/>
              <a:gd name="connsiteY2" fmla="*/ 9344 h 3842972"/>
              <a:gd name="connsiteX3" fmla="*/ 4440599 w 4440599"/>
              <a:gd name="connsiteY3" fmla="*/ 3842974 h 3842972"/>
              <a:gd name="connsiteX4" fmla="*/ 0 w 4440599"/>
              <a:gd name="connsiteY4" fmla="*/ 3820871 h 3842972"/>
              <a:gd name="connsiteX0" fmla="*/ 0 w 4440599"/>
              <a:gd name="connsiteY0" fmla="*/ 3820871 h 3842972"/>
              <a:gd name="connsiteX1" fmla="*/ 3119157 w 4440599"/>
              <a:gd name="connsiteY1" fmla="*/ 0 h 3842972"/>
              <a:gd name="connsiteX2" fmla="*/ 3981561 w 4440599"/>
              <a:gd name="connsiteY2" fmla="*/ 9344 h 3842972"/>
              <a:gd name="connsiteX3" fmla="*/ 4440599 w 4440599"/>
              <a:gd name="connsiteY3" fmla="*/ 3842974 h 3842972"/>
              <a:gd name="connsiteX4" fmla="*/ 0 w 4440599"/>
              <a:gd name="connsiteY4" fmla="*/ 3820871 h 3842972"/>
              <a:gd name="connsiteX0" fmla="*/ 0 w 4397142"/>
              <a:gd name="connsiteY0" fmla="*/ 3820871 h 3867969"/>
              <a:gd name="connsiteX1" fmla="*/ 3119157 w 4397142"/>
              <a:gd name="connsiteY1" fmla="*/ 0 h 3867969"/>
              <a:gd name="connsiteX2" fmla="*/ 3981561 w 4397142"/>
              <a:gd name="connsiteY2" fmla="*/ 9344 h 3867969"/>
              <a:gd name="connsiteX3" fmla="*/ 4397142 w 4397142"/>
              <a:gd name="connsiteY3" fmla="*/ 3867969 h 3867969"/>
              <a:gd name="connsiteX4" fmla="*/ 0 w 4397142"/>
              <a:gd name="connsiteY4" fmla="*/ 3820871 h 3867969"/>
              <a:gd name="connsiteX0" fmla="*/ 0 w 4428183"/>
              <a:gd name="connsiteY0" fmla="*/ 3820873 h 3867969"/>
              <a:gd name="connsiteX1" fmla="*/ 3150198 w 4428183"/>
              <a:gd name="connsiteY1" fmla="*/ 0 h 3867969"/>
              <a:gd name="connsiteX2" fmla="*/ 4012602 w 4428183"/>
              <a:gd name="connsiteY2" fmla="*/ 9344 h 3867969"/>
              <a:gd name="connsiteX3" fmla="*/ 4428183 w 4428183"/>
              <a:gd name="connsiteY3" fmla="*/ 3867969 h 3867969"/>
              <a:gd name="connsiteX4" fmla="*/ 0 w 4428183"/>
              <a:gd name="connsiteY4" fmla="*/ 3820873 h 3867969"/>
              <a:gd name="connsiteX0" fmla="*/ 0 w 4436234"/>
              <a:gd name="connsiteY0" fmla="*/ 3810066 h 3867969"/>
              <a:gd name="connsiteX1" fmla="*/ 3158249 w 4436234"/>
              <a:gd name="connsiteY1" fmla="*/ 0 h 3867969"/>
              <a:gd name="connsiteX2" fmla="*/ 4020653 w 4436234"/>
              <a:gd name="connsiteY2" fmla="*/ 9344 h 3867969"/>
              <a:gd name="connsiteX3" fmla="*/ 4436234 w 4436234"/>
              <a:gd name="connsiteY3" fmla="*/ 3867969 h 3867969"/>
              <a:gd name="connsiteX4" fmla="*/ 0 w 4436234"/>
              <a:gd name="connsiteY4" fmla="*/ 3810066 h 3867969"/>
              <a:gd name="connsiteX0" fmla="*/ 0 w 4441602"/>
              <a:gd name="connsiteY0" fmla="*/ 3842487 h 3867969"/>
              <a:gd name="connsiteX1" fmla="*/ 3163617 w 4441602"/>
              <a:gd name="connsiteY1" fmla="*/ 0 h 3867969"/>
              <a:gd name="connsiteX2" fmla="*/ 4026021 w 4441602"/>
              <a:gd name="connsiteY2" fmla="*/ 9344 h 3867969"/>
              <a:gd name="connsiteX3" fmla="*/ 4441602 w 4441602"/>
              <a:gd name="connsiteY3" fmla="*/ 3867969 h 3867969"/>
              <a:gd name="connsiteX4" fmla="*/ 0 w 4441602"/>
              <a:gd name="connsiteY4" fmla="*/ 3842487 h 3867969"/>
              <a:gd name="connsiteX0" fmla="*/ 0 w 4433551"/>
              <a:gd name="connsiteY0" fmla="*/ 3810072 h 3867969"/>
              <a:gd name="connsiteX1" fmla="*/ 3155566 w 4433551"/>
              <a:gd name="connsiteY1" fmla="*/ 0 h 3867969"/>
              <a:gd name="connsiteX2" fmla="*/ 4017970 w 4433551"/>
              <a:gd name="connsiteY2" fmla="*/ 9344 h 3867969"/>
              <a:gd name="connsiteX3" fmla="*/ 4433551 w 4433551"/>
              <a:gd name="connsiteY3" fmla="*/ 3867969 h 3867969"/>
              <a:gd name="connsiteX4" fmla="*/ 0 w 4433551"/>
              <a:gd name="connsiteY4" fmla="*/ 3810072 h 3867969"/>
              <a:gd name="connsiteX0" fmla="*/ 0 w 4438918"/>
              <a:gd name="connsiteY0" fmla="*/ 3820878 h 3867969"/>
              <a:gd name="connsiteX1" fmla="*/ 3160933 w 4438918"/>
              <a:gd name="connsiteY1" fmla="*/ 0 h 3867969"/>
              <a:gd name="connsiteX2" fmla="*/ 4023337 w 4438918"/>
              <a:gd name="connsiteY2" fmla="*/ 9344 h 3867969"/>
              <a:gd name="connsiteX3" fmla="*/ 4438918 w 4438918"/>
              <a:gd name="connsiteY3" fmla="*/ 3867969 h 3867969"/>
              <a:gd name="connsiteX4" fmla="*/ 0 w 4438918"/>
              <a:gd name="connsiteY4" fmla="*/ 3820878 h 3867969"/>
              <a:gd name="connsiteX0" fmla="*/ 0 w 4438918"/>
              <a:gd name="connsiteY0" fmla="*/ 3820878 h 3867969"/>
              <a:gd name="connsiteX1" fmla="*/ 2843730 w 4438918"/>
              <a:gd name="connsiteY1" fmla="*/ 0 h 3867969"/>
              <a:gd name="connsiteX2" fmla="*/ 4023337 w 4438918"/>
              <a:gd name="connsiteY2" fmla="*/ 9344 h 3867969"/>
              <a:gd name="connsiteX3" fmla="*/ 4438918 w 4438918"/>
              <a:gd name="connsiteY3" fmla="*/ 3867969 h 3867969"/>
              <a:gd name="connsiteX4" fmla="*/ 0 w 4438918"/>
              <a:gd name="connsiteY4" fmla="*/ 3820878 h 3867969"/>
              <a:gd name="connsiteX0" fmla="*/ 0 w 5925809"/>
              <a:gd name="connsiteY0" fmla="*/ 3820878 h 3867969"/>
              <a:gd name="connsiteX1" fmla="*/ 2843730 w 5925809"/>
              <a:gd name="connsiteY1" fmla="*/ 0 h 3867969"/>
              <a:gd name="connsiteX2" fmla="*/ 4023337 w 5925809"/>
              <a:gd name="connsiteY2" fmla="*/ 9344 h 3867969"/>
              <a:gd name="connsiteX3" fmla="*/ 5925809 w 5925809"/>
              <a:gd name="connsiteY3" fmla="*/ 3867969 h 3867969"/>
              <a:gd name="connsiteX4" fmla="*/ 0 w 5925809"/>
              <a:gd name="connsiteY4" fmla="*/ 3820878 h 3867969"/>
              <a:gd name="connsiteX0" fmla="*/ 0 w 5934160"/>
              <a:gd name="connsiteY0" fmla="*/ 3820878 h 3842818"/>
              <a:gd name="connsiteX1" fmla="*/ 2843730 w 5934160"/>
              <a:gd name="connsiteY1" fmla="*/ 0 h 3842818"/>
              <a:gd name="connsiteX2" fmla="*/ 4023337 w 5934160"/>
              <a:gd name="connsiteY2" fmla="*/ 9344 h 3842818"/>
              <a:gd name="connsiteX3" fmla="*/ 5934160 w 5934160"/>
              <a:gd name="connsiteY3" fmla="*/ 3842818 h 3842818"/>
              <a:gd name="connsiteX4" fmla="*/ 0 w 5934160"/>
              <a:gd name="connsiteY4" fmla="*/ 3820878 h 3842818"/>
              <a:gd name="connsiteX0" fmla="*/ 0 w 5944923"/>
              <a:gd name="connsiteY0" fmla="*/ 3820878 h 3842818"/>
              <a:gd name="connsiteX1" fmla="*/ 2843730 w 5944923"/>
              <a:gd name="connsiteY1" fmla="*/ 0 h 3842818"/>
              <a:gd name="connsiteX2" fmla="*/ 4023337 w 5944923"/>
              <a:gd name="connsiteY2" fmla="*/ 9344 h 3842818"/>
              <a:gd name="connsiteX3" fmla="*/ 5944923 w 5944923"/>
              <a:gd name="connsiteY3" fmla="*/ 3842818 h 3842818"/>
              <a:gd name="connsiteX4" fmla="*/ 0 w 5944923"/>
              <a:gd name="connsiteY4" fmla="*/ 3820878 h 3842818"/>
              <a:gd name="connsiteX0" fmla="*/ 0 w 5944921"/>
              <a:gd name="connsiteY0" fmla="*/ 3820878 h 3821216"/>
              <a:gd name="connsiteX1" fmla="*/ 2843730 w 5944921"/>
              <a:gd name="connsiteY1" fmla="*/ 0 h 3821216"/>
              <a:gd name="connsiteX2" fmla="*/ 4023337 w 5944921"/>
              <a:gd name="connsiteY2" fmla="*/ 9344 h 3821216"/>
              <a:gd name="connsiteX3" fmla="*/ 5944922 w 5944921"/>
              <a:gd name="connsiteY3" fmla="*/ 3821214 h 3821216"/>
              <a:gd name="connsiteX4" fmla="*/ 0 w 5944921"/>
              <a:gd name="connsiteY4" fmla="*/ 3820878 h 3821216"/>
              <a:gd name="connsiteX0" fmla="*/ 0 w 5944923"/>
              <a:gd name="connsiteY0" fmla="*/ 3833149 h 3833487"/>
              <a:gd name="connsiteX1" fmla="*/ 2843730 w 5944923"/>
              <a:gd name="connsiteY1" fmla="*/ 12271 h 3833487"/>
              <a:gd name="connsiteX2" fmla="*/ 4023337 w 5944923"/>
              <a:gd name="connsiteY2" fmla="*/ 0 h 3833487"/>
              <a:gd name="connsiteX3" fmla="*/ 5944922 w 5944923"/>
              <a:gd name="connsiteY3" fmla="*/ 3833485 h 3833487"/>
              <a:gd name="connsiteX4" fmla="*/ 0 w 5944923"/>
              <a:gd name="connsiteY4" fmla="*/ 3833149 h 3833487"/>
              <a:gd name="connsiteX0" fmla="*/ 0 w 5944921"/>
              <a:gd name="connsiteY0" fmla="*/ 3833149 h 3833487"/>
              <a:gd name="connsiteX1" fmla="*/ 2836552 w 5944921"/>
              <a:gd name="connsiteY1" fmla="*/ 33894 h 3833487"/>
              <a:gd name="connsiteX2" fmla="*/ 4023337 w 5944921"/>
              <a:gd name="connsiteY2" fmla="*/ 0 h 3833487"/>
              <a:gd name="connsiteX3" fmla="*/ 5944922 w 5944921"/>
              <a:gd name="connsiteY3" fmla="*/ 3833485 h 3833487"/>
              <a:gd name="connsiteX4" fmla="*/ 0 w 5944921"/>
              <a:gd name="connsiteY4" fmla="*/ 3833149 h 3833487"/>
              <a:gd name="connsiteX0" fmla="*/ 0 w 5944923"/>
              <a:gd name="connsiteY0" fmla="*/ 3833149 h 3833487"/>
              <a:gd name="connsiteX1" fmla="*/ 2836553 w 5944923"/>
              <a:gd name="connsiteY1" fmla="*/ 12280 h 3833487"/>
              <a:gd name="connsiteX2" fmla="*/ 4023337 w 5944923"/>
              <a:gd name="connsiteY2" fmla="*/ 0 h 3833487"/>
              <a:gd name="connsiteX3" fmla="*/ 5944922 w 5944923"/>
              <a:gd name="connsiteY3" fmla="*/ 3833485 h 3833487"/>
              <a:gd name="connsiteX4" fmla="*/ 0 w 5944923"/>
              <a:gd name="connsiteY4" fmla="*/ 3833149 h 3833487"/>
              <a:gd name="connsiteX0" fmla="*/ 0 w 5944921"/>
              <a:gd name="connsiteY0" fmla="*/ 3833149 h 3833487"/>
              <a:gd name="connsiteX1" fmla="*/ 2832898 w 5944921"/>
              <a:gd name="connsiteY1" fmla="*/ 23302 h 3833487"/>
              <a:gd name="connsiteX2" fmla="*/ 4023337 w 5944921"/>
              <a:gd name="connsiteY2" fmla="*/ 0 h 3833487"/>
              <a:gd name="connsiteX3" fmla="*/ 5944922 w 5944921"/>
              <a:gd name="connsiteY3" fmla="*/ 3833485 h 3833487"/>
              <a:gd name="connsiteX4" fmla="*/ 0 w 5944921"/>
              <a:gd name="connsiteY4" fmla="*/ 3833149 h 3833487"/>
              <a:gd name="connsiteX0" fmla="*/ 0 w 5944921"/>
              <a:gd name="connsiteY0" fmla="*/ 3809845 h 3810183"/>
              <a:gd name="connsiteX1" fmla="*/ 2832898 w 5944921"/>
              <a:gd name="connsiteY1" fmla="*/ -2 h 3810183"/>
              <a:gd name="connsiteX2" fmla="*/ 4642573 w 5944921"/>
              <a:gd name="connsiteY2" fmla="*/ 19934 h 3810183"/>
              <a:gd name="connsiteX3" fmla="*/ 5944922 w 5944921"/>
              <a:gd name="connsiteY3" fmla="*/ 3810181 h 3810183"/>
              <a:gd name="connsiteX4" fmla="*/ 0 w 5944921"/>
              <a:gd name="connsiteY4" fmla="*/ 3809845 h 3810183"/>
              <a:gd name="connsiteX0" fmla="*/ 0 w 5944921"/>
              <a:gd name="connsiteY0" fmla="*/ 3789913 h 3790251"/>
              <a:gd name="connsiteX1" fmla="*/ 2600684 w 5944921"/>
              <a:gd name="connsiteY1" fmla="*/ 23295 h 3790251"/>
              <a:gd name="connsiteX2" fmla="*/ 4642573 w 5944921"/>
              <a:gd name="connsiteY2" fmla="*/ 2 h 3790251"/>
              <a:gd name="connsiteX3" fmla="*/ 5944922 w 5944921"/>
              <a:gd name="connsiteY3" fmla="*/ 3790249 h 3790251"/>
              <a:gd name="connsiteX4" fmla="*/ 0 w 5944921"/>
              <a:gd name="connsiteY4" fmla="*/ 3789913 h 3790251"/>
              <a:gd name="connsiteX0" fmla="*/ 0 w 5944921"/>
              <a:gd name="connsiteY0" fmla="*/ 3833126 h 3833464"/>
              <a:gd name="connsiteX1" fmla="*/ 2600684 w 5944921"/>
              <a:gd name="connsiteY1" fmla="*/ 66508 h 3833464"/>
              <a:gd name="connsiteX2" fmla="*/ 4940659 w 5944921"/>
              <a:gd name="connsiteY2" fmla="*/ -2 h 3833464"/>
              <a:gd name="connsiteX3" fmla="*/ 5944922 w 5944921"/>
              <a:gd name="connsiteY3" fmla="*/ 3833462 h 3833464"/>
              <a:gd name="connsiteX4" fmla="*/ 0 w 5944921"/>
              <a:gd name="connsiteY4" fmla="*/ 3833126 h 3833464"/>
              <a:gd name="connsiteX0" fmla="*/ 0 w 5944921"/>
              <a:gd name="connsiteY0" fmla="*/ 3842257 h 3842595"/>
              <a:gd name="connsiteX1" fmla="*/ 2808048 w 5944921"/>
              <a:gd name="connsiteY1" fmla="*/ 2 h 3842595"/>
              <a:gd name="connsiteX2" fmla="*/ 4940659 w 5944921"/>
              <a:gd name="connsiteY2" fmla="*/ 9129 h 3842595"/>
              <a:gd name="connsiteX3" fmla="*/ 5944922 w 5944921"/>
              <a:gd name="connsiteY3" fmla="*/ 3842593 h 3842595"/>
              <a:gd name="connsiteX4" fmla="*/ 0 w 5944921"/>
              <a:gd name="connsiteY4" fmla="*/ 3842257 h 3842595"/>
              <a:gd name="connsiteX0" fmla="*/ 0 w 5944921"/>
              <a:gd name="connsiteY0" fmla="*/ 3842257 h 3842595"/>
              <a:gd name="connsiteX1" fmla="*/ 2808048 w 5944921"/>
              <a:gd name="connsiteY1" fmla="*/ 2 h 3842595"/>
              <a:gd name="connsiteX2" fmla="*/ 5257315 w 5944921"/>
              <a:gd name="connsiteY2" fmla="*/ 9130 h 3842595"/>
              <a:gd name="connsiteX3" fmla="*/ 5944922 w 5944921"/>
              <a:gd name="connsiteY3" fmla="*/ 3842593 h 3842595"/>
              <a:gd name="connsiteX4" fmla="*/ 0 w 5944921"/>
              <a:gd name="connsiteY4" fmla="*/ 3842257 h 3842595"/>
              <a:gd name="connsiteX0" fmla="*/ 0 w 6340114"/>
              <a:gd name="connsiteY0" fmla="*/ 3842257 h 3858353"/>
              <a:gd name="connsiteX1" fmla="*/ 2808048 w 6340114"/>
              <a:gd name="connsiteY1" fmla="*/ 2 h 3858353"/>
              <a:gd name="connsiteX2" fmla="*/ 5257315 w 6340114"/>
              <a:gd name="connsiteY2" fmla="*/ 9130 h 3858353"/>
              <a:gd name="connsiteX3" fmla="*/ 6340114 w 6340114"/>
              <a:gd name="connsiteY3" fmla="*/ 3858353 h 3858353"/>
              <a:gd name="connsiteX4" fmla="*/ 0 w 6340114"/>
              <a:gd name="connsiteY4" fmla="*/ 3842257 h 3858353"/>
              <a:gd name="connsiteX0" fmla="*/ 0 w 6350805"/>
              <a:gd name="connsiteY0" fmla="*/ 3842257 h 3842604"/>
              <a:gd name="connsiteX1" fmla="*/ 2808048 w 6350805"/>
              <a:gd name="connsiteY1" fmla="*/ 2 h 3842604"/>
              <a:gd name="connsiteX2" fmla="*/ 5257315 w 6350805"/>
              <a:gd name="connsiteY2" fmla="*/ 9130 h 3842604"/>
              <a:gd name="connsiteX3" fmla="*/ 6350804 w 6350805"/>
              <a:gd name="connsiteY3" fmla="*/ 3842606 h 3842604"/>
              <a:gd name="connsiteX4" fmla="*/ 0 w 6350805"/>
              <a:gd name="connsiteY4" fmla="*/ 3842257 h 3842604"/>
              <a:gd name="connsiteX0" fmla="*/ 0 w 6365493"/>
              <a:gd name="connsiteY0" fmla="*/ 3842257 h 3842604"/>
              <a:gd name="connsiteX1" fmla="*/ 2808048 w 6365493"/>
              <a:gd name="connsiteY1" fmla="*/ 2 h 3842604"/>
              <a:gd name="connsiteX2" fmla="*/ 5257315 w 6365493"/>
              <a:gd name="connsiteY2" fmla="*/ 9130 h 3842604"/>
              <a:gd name="connsiteX3" fmla="*/ 6365493 w 6365493"/>
              <a:gd name="connsiteY3" fmla="*/ 3842604 h 3842604"/>
              <a:gd name="connsiteX4" fmla="*/ 0 w 6365493"/>
              <a:gd name="connsiteY4" fmla="*/ 3842257 h 3842604"/>
              <a:gd name="connsiteX0" fmla="*/ -1 w 10242642"/>
              <a:gd name="connsiteY0" fmla="*/ 3842256 h 3842604"/>
              <a:gd name="connsiteX1" fmla="*/ 6685197 w 10242642"/>
              <a:gd name="connsiteY1" fmla="*/ 2 h 3842604"/>
              <a:gd name="connsiteX2" fmla="*/ 9134464 w 10242642"/>
              <a:gd name="connsiteY2" fmla="*/ 9130 h 3842604"/>
              <a:gd name="connsiteX3" fmla="*/ 10242642 w 10242642"/>
              <a:gd name="connsiteY3" fmla="*/ 3842604 h 3842604"/>
              <a:gd name="connsiteX4" fmla="*/ -1 w 10242642"/>
              <a:gd name="connsiteY4" fmla="*/ 3842256 h 3842604"/>
              <a:gd name="connsiteX0" fmla="*/ -1 w 12166532"/>
              <a:gd name="connsiteY0" fmla="*/ 3842261 h 3842604"/>
              <a:gd name="connsiteX1" fmla="*/ 8609087 w 12166532"/>
              <a:gd name="connsiteY1" fmla="*/ 2 h 3842604"/>
              <a:gd name="connsiteX2" fmla="*/ 11058354 w 12166532"/>
              <a:gd name="connsiteY2" fmla="*/ 9130 h 3842604"/>
              <a:gd name="connsiteX3" fmla="*/ 12166532 w 12166532"/>
              <a:gd name="connsiteY3" fmla="*/ 3842604 h 3842604"/>
              <a:gd name="connsiteX4" fmla="*/ -1 w 12166532"/>
              <a:gd name="connsiteY4" fmla="*/ 3842261 h 3842604"/>
              <a:gd name="connsiteX0" fmla="*/ 2 w 10870594"/>
              <a:gd name="connsiteY0" fmla="*/ 3821253 h 3842604"/>
              <a:gd name="connsiteX1" fmla="*/ 7313149 w 10870594"/>
              <a:gd name="connsiteY1" fmla="*/ 2 h 3842604"/>
              <a:gd name="connsiteX2" fmla="*/ 9762416 w 10870594"/>
              <a:gd name="connsiteY2" fmla="*/ 9130 h 3842604"/>
              <a:gd name="connsiteX3" fmla="*/ 10870594 w 10870594"/>
              <a:gd name="connsiteY3" fmla="*/ 3842604 h 3842604"/>
              <a:gd name="connsiteX4" fmla="*/ 2 w 10870594"/>
              <a:gd name="connsiteY4" fmla="*/ 3821253 h 3842604"/>
              <a:gd name="connsiteX0" fmla="*/ 0 w 10927553"/>
              <a:gd name="connsiteY0" fmla="*/ 3842263 h 3842604"/>
              <a:gd name="connsiteX1" fmla="*/ 7370108 w 10927553"/>
              <a:gd name="connsiteY1" fmla="*/ 2 h 3842604"/>
              <a:gd name="connsiteX2" fmla="*/ 9819375 w 10927553"/>
              <a:gd name="connsiteY2" fmla="*/ 9130 h 3842604"/>
              <a:gd name="connsiteX3" fmla="*/ 10927553 w 10927553"/>
              <a:gd name="connsiteY3" fmla="*/ 3842604 h 3842604"/>
              <a:gd name="connsiteX4" fmla="*/ 0 w 10927553"/>
              <a:gd name="connsiteY4" fmla="*/ 3842263 h 3842604"/>
              <a:gd name="connsiteX0" fmla="*/ 0 w 10367462"/>
              <a:gd name="connsiteY0" fmla="*/ 3842263 h 3871104"/>
              <a:gd name="connsiteX1" fmla="*/ 7370108 w 10367462"/>
              <a:gd name="connsiteY1" fmla="*/ 2 h 3871104"/>
              <a:gd name="connsiteX2" fmla="*/ 9819375 w 10367462"/>
              <a:gd name="connsiteY2" fmla="*/ 9130 h 3871104"/>
              <a:gd name="connsiteX3" fmla="*/ 10367463 w 10367462"/>
              <a:gd name="connsiteY3" fmla="*/ 3871106 h 3871104"/>
              <a:gd name="connsiteX4" fmla="*/ 0 w 10367462"/>
              <a:gd name="connsiteY4" fmla="*/ 3842263 h 3871104"/>
              <a:gd name="connsiteX0" fmla="*/ 0 w 10270893"/>
              <a:gd name="connsiteY0" fmla="*/ 3842263 h 3871113"/>
              <a:gd name="connsiteX1" fmla="*/ 7370108 w 10270893"/>
              <a:gd name="connsiteY1" fmla="*/ 2 h 3871113"/>
              <a:gd name="connsiteX2" fmla="*/ 9819375 w 10270893"/>
              <a:gd name="connsiteY2" fmla="*/ 9130 h 3871113"/>
              <a:gd name="connsiteX3" fmla="*/ 10270894 w 10270893"/>
              <a:gd name="connsiteY3" fmla="*/ 3871115 h 3871113"/>
              <a:gd name="connsiteX4" fmla="*/ 0 w 10270893"/>
              <a:gd name="connsiteY4" fmla="*/ 3842263 h 3871113"/>
              <a:gd name="connsiteX0" fmla="*/ 0 w 10282639"/>
              <a:gd name="connsiteY0" fmla="*/ 3842263 h 3842263"/>
              <a:gd name="connsiteX1" fmla="*/ 7370108 w 10282639"/>
              <a:gd name="connsiteY1" fmla="*/ 2 h 3842263"/>
              <a:gd name="connsiteX2" fmla="*/ 9819375 w 10282639"/>
              <a:gd name="connsiteY2" fmla="*/ 9130 h 3842263"/>
              <a:gd name="connsiteX3" fmla="*/ 10282640 w 10282639"/>
              <a:gd name="connsiteY3" fmla="*/ 3836461 h 3842263"/>
              <a:gd name="connsiteX4" fmla="*/ 0 w 10282639"/>
              <a:gd name="connsiteY4" fmla="*/ 3842263 h 3842263"/>
              <a:gd name="connsiteX0" fmla="*/ 0 w 10294388"/>
              <a:gd name="connsiteY0" fmla="*/ 3842263 h 3842263"/>
              <a:gd name="connsiteX1" fmla="*/ 7370108 w 10294388"/>
              <a:gd name="connsiteY1" fmla="*/ 2 h 3842263"/>
              <a:gd name="connsiteX2" fmla="*/ 9819375 w 10294388"/>
              <a:gd name="connsiteY2" fmla="*/ 9130 h 3842263"/>
              <a:gd name="connsiteX3" fmla="*/ 10294388 w 10294388"/>
              <a:gd name="connsiteY3" fmla="*/ 3819131 h 3842263"/>
              <a:gd name="connsiteX4" fmla="*/ 0 w 10294388"/>
              <a:gd name="connsiteY4" fmla="*/ 3842263 h 3842263"/>
              <a:gd name="connsiteX0" fmla="*/ 0 w 10874924"/>
              <a:gd name="connsiteY0" fmla="*/ 3872846 h 3872846"/>
              <a:gd name="connsiteX1" fmla="*/ 7950644 w 10874924"/>
              <a:gd name="connsiteY1" fmla="*/ 2 h 3872846"/>
              <a:gd name="connsiteX2" fmla="*/ 10399911 w 10874924"/>
              <a:gd name="connsiteY2" fmla="*/ 9130 h 3872846"/>
              <a:gd name="connsiteX3" fmla="*/ 10874924 w 10874924"/>
              <a:gd name="connsiteY3" fmla="*/ 3819131 h 3872846"/>
              <a:gd name="connsiteX4" fmla="*/ 0 w 10874924"/>
              <a:gd name="connsiteY4" fmla="*/ 3872846 h 3872846"/>
              <a:gd name="connsiteX0" fmla="*/ 0 w 10914639"/>
              <a:gd name="connsiteY0" fmla="*/ 3858198 h 3858198"/>
              <a:gd name="connsiteX1" fmla="*/ 7990359 w 10914639"/>
              <a:gd name="connsiteY1" fmla="*/ 2 h 3858198"/>
              <a:gd name="connsiteX2" fmla="*/ 10439626 w 10914639"/>
              <a:gd name="connsiteY2" fmla="*/ 9130 h 3858198"/>
              <a:gd name="connsiteX3" fmla="*/ 10914639 w 10914639"/>
              <a:gd name="connsiteY3" fmla="*/ 3819131 h 3858198"/>
              <a:gd name="connsiteX4" fmla="*/ 0 w 10914639"/>
              <a:gd name="connsiteY4" fmla="*/ 3858198 h 3858198"/>
              <a:gd name="connsiteX0" fmla="*/ 1 w 10934498"/>
              <a:gd name="connsiteY0" fmla="*/ 3828904 h 3828902"/>
              <a:gd name="connsiteX1" fmla="*/ 8010218 w 10934498"/>
              <a:gd name="connsiteY1" fmla="*/ 2 h 3828902"/>
              <a:gd name="connsiteX2" fmla="*/ 10459485 w 10934498"/>
              <a:gd name="connsiteY2" fmla="*/ 9130 h 3828902"/>
              <a:gd name="connsiteX3" fmla="*/ 10934498 w 10934498"/>
              <a:gd name="connsiteY3" fmla="*/ 3819131 h 3828902"/>
              <a:gd name="connsiteX4" fmla="*/ 1 w 10934498"/>
              <a:gd name="connsiteY4" fmla="*/ 3828904 h 3828902"/>
              <a:gd name="connsiteX0" fmla="*/ -1 w 10894783"/>
              <a:gd name="connsiteY0" fmla="*/ 3828904 h 3828902"/>
              <a:gd name="connsiteX1" fmla="*/ 7970503 w 10894783"/>
              <a:gd name="connsiteY1" fmla="*/ 2 h 3828902"/>
              <a:gd name="connsiteX2" fmla="*/ 10419770 w 10894783"/>
              <a:gd name="connsiteY2" fmla="*/ 9130 h 3828902"/>
              <a:gd name="connsiteX3" fmla="*/ 10894783 w 10894783"/>
              <a:gd name="connsiteY3" fmla="*/ 3819131 h 3828902"/>
              <a:gd name="connsiteX4" fmla="*/ -1 w 10894783"/>
              <a:gd name="connsiteY4" fmla="*/ 3828904 h 3828902"/>
              <a:gd name="connsiteX0" fmla="*/ -1 w 10904709"/>
              <a:gd name="connsiteY0" fmla="*/ 3828904 h 3848422"/>
              <a:gd name="connsiteX1" fmla="*/ 7970503 w 10904709"/>
              <a:gd name="connsiteY1" fmla="*/ 2 h 3848422"/>
              <a:gd name="connsiteX2" fmla="*/ 10419770 w 10904709"/>
              <a:gd name="connsiteY2" fmla="*/ 9130 h 3848422"/>
              <a:gd name="connsiteX3" fmla="*/ 10904709 w 10904709"/>
              <a:gd name="connsiteY3" fmla="*/ 3848422 h 3848422"/>
              <a:gd name="connsiteX4" fmla="*/ -1 w 10904709"/>
              <a:gd name="connsiteY4" fmla="*/ 3828904 h 3848422"/>
              <a:gd name="connsiteX0" fmla="*/ -1 w 10904709"/>
              <a:gd name="connsiteY0" fmla="*/ 3828904 h 3848422"/>
              <a:gd name="connsiteX1" fmla="*/ 7970503 w 10904709"/>
              <a:gd name="connsiteY1" fmla="*/ 2 h 3848422"/>
              <a:gd name="connsiteX2" fmla="*/ 10397741 w 10904709"/>
              <a:gd name="connsiteY2" fmla="*/ 19961 h 3848422"/>
              <a:gd name="connsiteX3" fmla="*/ 10904709 w 10904709"/>
              <a:gd name="connsiteY3" fmla="*/ 3848422 h 3848422"/>
              <a:gd name="connsiteX4" fmla="*/ -1 w 10904709"/>
              <a:gd name="connsiteY4" fmla="*/ 3828904 h 3848422"/>
              <a:gd name="connsiteX0" fmla="*/ -1 w 10904709"/>
              <a:gd name="connsiteY0" fmla="*/ 3828904 h 3848422"/>
              <a:gd name="connsiteX1" fmla="*/ 7970503 w 10904709"/>
              <a:gd name="connsiteY1" fmla="*/ 2 h 3848422"/>
              <a:gd name="connsiteX2" fmla="*/ 10405083 w 10904709"/>
              <a:gd name="connsiteY2" fmla="*/ 9130 h 3848422"/>
              <a:gd name="connsiteX3" fmla="*/ 10904709 w 10904709"/>
              <a:gd name="connsiteY3" fmla="*/ 3848422 h 3848422"/>
              <a:gd name="connsiteX4" fmla="*/ -1 w 10904709"/>
              <a:gd name="connsiteY4" fmla="*/ 3828904 h 3848422"/>
              <a:gd name="connsiteX0" fmla="*/ -1 w 10904709"/>
              <a:gd name="connsiteY0" fmla="*/ 3828904 h 3848422"/>
              <a:gd name="connsiteX1" fmla="*/ 7992533 w 10904709"/>
              <a:gd name="connsiteY1" fmla="*/ 0 h 3848422"/>
              <a:gd name="connsiteX2" fmla="*/ 10405083 w 10904709"/>
              <a:gd name="connsiteY2" fmla="*/ 9130 h 3848422"/>
              <a:gd name="connsiteX3" fmla="*/ 10904709 w 10904709"/>
              <a:gd name="connsiteY3" fmla="*/ 3848422 h 3848422"/>
              <a:gd name="connsiteX4" fmla="*/ -1 w 10904709"/>
              <a:gd name="connsiteY4" fmla="*/ 3828904 h 3848422"/>
              <a:gd name="connsiteX0" fmla="*/ -1 w 10904709"/>
              <a:gd name="connsiteY0" fmla="*/ 3819774 h 3839292"/>
              <a:gd name="connsiteX1" fmla="*/ 8007221 w 10904709"/>
              <a:gd name="connsiteY1" fmla="*/ 1701 h 3839292"/>
              <a:gd name="connsiteX2" fmla="*/ 10405083 w 10904709"/>
              <a:gd name="connsiteY2" fmla="*/ 0 h 3839292"/>
              <a:gd name="connsiteX3" fmla="*/ 10904709 w 10904709"/>
              <a:gd name="connsiteY3" fmla="*/ 3839292 h 3839292"/>
              <a:gd name="connsiteX4" fmla="*/ -1 w 10904709"/>
              <a:gd name="connsiteY4" fmla="*/ 3819774 h 3839292"/>
              <a:gd name="connsiteX0" fmla="*/ -1 w 10904709"/>
              <a:gd name="connsiteY0" fmla="*/ 3839735 h 3859253"/>
              <a:gd name="connsiteX1" fmla="*/ 8007219 w 10904709"/>
              <a:gd name="connsiteY1" fmla="*/ -2 h 3859253"/>
              <a:gd name="connsiteX2" fmla="*/ 10405083 w 10904709"/>
              <a:gd name="connsiteY2" fmla="*/ 19961 h 3859253"/>
              <a:gd name="connsiteX3" fmla="*/ 10904709 w 10904709"/>
              <a:gd name="connsiteY3" fmla="*/ 3859253 h 3859253"/>
              <a:gd name="connsiteX4" fmla="*/ -1 w 10904709"/>
              <a:gd name="connsiteY4" fmla="*/ 3839735 h 3859253"/>
              <a:gd name="connsiteX0" fmla="*/ -1 w 10904709"/>
              <a:gd name="connsiteY0" fmla="*/ 3839735 h 3859253"/>
              <a:gd name="connsiteX1" fmla="*/ 8007219 w 10904709"/>
              <a:gd name="connsiteY1" fmla="*/ -2 h 3859253"/>
              <a:gd name="connsiteX2" fmla="*/ 10405082 w 10904709"/>
              <a:gd name="connsiteY2" fmla="*/ 9128 h 3859253"/>
              <a:gd name="connsiteX3" fmla="*/ 10904709 w 10904709"/>
              <a:gd name="connsiteY3" fmla="*/ 3859253 h 3859253"/>
              <a:gd name="connsiteX4" fmla="*/ -1 w 10904709"/>
              <a:gd name="connsiteY4" fmla="*/ 3839735 h 3859253"/>
              <a:gd name="connsiteX0" fmla="*/ -1 w 10904709"/>
              <a:gd name="connsiteY0" fmla="*/ 4132569 h 4152087"/>
              <a:gd name="connsiteX1" fmla="*/ 8007219 w 10904709"/>
              <a:gd name="connsiteY1" fmla="*/ 292832 h 4152087"/>
              <a:gd name="connsiteX2" fmla="*/ 10353615 w 10904709"/>
              <a:gd name="connsiteY2" fmla="*/ 0 h 4152087"/>
              <a:gd name="connsiteX3" fmla="*/ 10904709 w 10904709"/>
              <a:gd name="connsiteY3" fmla="*/ 4152087 h 4152087"/>
              <a:gd name="connsiteX4" fmla="*/ -1 w 10904709"/>
              <a:gd name="connsiteY4" fmla="*/ 4132569 h 4152087"/>
              <a:gd name="connsiteX0" fmla="*/ -1 w 10904709"/>
              <a:gd name="connsiteY0" fmla="*/ 4192963 h 4212481"/>
              <a:gd name="connsiteX1" fmla="*/ 8007219 w 10904709"/>
              <a:gd name="connsiteY1" fmla="*/ 353226 h 4212481"/>
              <a:gd name="connsiteX2" fmla="*/ 10366478 w 10904709"/>
              <a:gd name="connsiteY2" fmla="*/ 2 h 4212481"/>
              <a:gd name="connsiteX3" fmla="*/ 10904709 w 10904709"/>
              <a:gd name="connsiteY3" fmla="*/ 4212481 h 4212481"/>
              <a:gd name="connsiteX4" fmla="*/ -1 w 10904709"/>
              <a:gd name="connsiteY4" fmla="*/ 4192963 h 4212481"/>
              <a:gd name="connsiteX0" fmla="*/ -1 w 10904709"/>
              <a:gd name="connsiteY0" fmla="*/ 4192963 h 4212481"/>
              <a:gd name="connsiteX1" fmla="*/ 8071548 w 10904709"/>
              <a:gd name="connsiteY1" fmla="*/ 51280 h 4212481"/>
              <a:gd name="connsiteX2" fmla="*/ 10366478 w 10904709"/>
              <a:gd name="connsiteY2" fmla="*/ 2 h 4212481"/>
              <a:gd name="connsiteX3" fmla="*/ 10904709 w 10904709"/>
              <a:gd name="connsiteY3" fmla="*/ 4212481 h 4212481"/>
              <a:gd name="connsiteX4" fmla="*/ -1 w 10904709"/>
              <a:gd name="connsiteY4" fmla="*/ 4192963 h 4212481"/>
              <a:gd name="connsiteX0" fmla="*/ -1 w 10878980"/>
              <a:gd name="connsiteY0" fmla="*/ 4192963 h 4589945"/>
              <a:gd name="connsiteX1" fmla="*/ 8071548 w 10878980"/>
              <a:gd name="connsiteY1" fmla="*/ 51280 h 4589945"/>
              <a:gd name="connsiteX2" fmla="*/ 10366478 w 10878980"/>
              <a:gd name="connsiteY2" fmla="*/ 2 h 4589945"/>
              <a:gd name="connsiteX3" fmla="*/ 10878978 w 10878980"/>
              <a:gd name="connsiteY3" fmla="*/ 4589943 h 4589945"/>
              <a:gd name="connsiteX4" fmla="*/ -1 w 10878980"/>
              <a:gd name="connsiteY4" fmla="*/ 4192963 h 4589945"/>
              <a:gd name="connsiteX0" fmla="*/ -1 w 10878976"/>
              <a:gd name="connsiteY0" fmla="*/ 4192963 h 4616286"/>
              <a:gd name="connsiteX1" fmla="*/ 8071548 w 10878976"/>
              <a:gd name="connsiteY1" fmla="*/ 51280 h 4616286"/>
              <a:gd name="connsiteX2" fmla="*/ 10366478 w 10878976"/>
              <a:gd name="connsiteY2" fmla="*/ 2 h 4616286"/>
              <a:gd name="connsiteX3" fmla="*/ 10878978 w 10878976"/>
              <a:gd name="connsiteY3" fmla="*/ 4616284 h 4616286"/>
              <a:gd name="connsiteX4" fmla="*/ -1 w 10878976"/>
              <a:gd name="connsiteY4" fmla="*/ 4192963 h 4616286"/>
              <a:gd name="connsiteX0" fmla="*/ -1 w 10878980"/>
              <a:gd name="connsiteY0" fmla="*/ 4141681 h 4565004"/>
              <a:gd name="connsiteX1" fmla="*/ 8071548 w 10878980"/>
              <a:gd name="connsiteY1" fmla="*/ -2 h 4565004"/>
              <a:gd name="connsiteX2" fmla="*/ 10715474 w 10878980"/>
              <a:gd name="connsiteY2" fmla="*/ 592275 h 4565004"/>
              <a:gd name="connsiteX3" fmla="*/ 10878978 w 10878980"/>
              <a:gd name="connsiteY3" fmla="*/ 4565002 h 4565004"/>
              <a:gd name="connsiteX4" fmla="*/ -1 w 10878980"/>
              <a:gd name="connsiteY4" fmla="*/ 4141681 h 4565004"/>
              <a:gd name="connsiteX0" fmla="*/ -1 w 12923089"/>
              <a:gd name="connsiteY0" fmla="*/ 4141681 h 4141680"/>
              <a:gd name="connsiteX1" fmla="*/ 8071548 w 12923089"/>
              <a:gd name="connsiteY1" fmla="*/ -2 h 4141680"/>
              <a:gd name="connsiteX2" fmla="*/ 10715474 w 12923089"/>
              <a:gd name="connsiteY2" fmla="*/ 592275 h 4141680"/>
              <a:gd name="connsiteX3" fmla="*/ 12923091 w 12923089"/>
              <a:gd name="connsiteY3" fmla="*/ 3511909 h 4141680"/>
              <a:gd name="connsiteX4" fmla="*/ -1 w 12923089"/>
              <a:gd name="connsiteY4" fmla="*/ 4141681 h 4141680"/>
              <a:gd name="connsiteX0" fmla="*/ 1 w 13471517"/>
              <a:gd name="connsiteY0" fmla="*/ 3498135 h 3511907"/>
              <a:gd name="connsiteX1" fmla="*/ 8619972 w 13471517"/>
              <a:gd name="connsiteY1" fmla="*/ -2 h 3511907"/>
              <a:gd name="connsiteX2" fmla="*/ 11263898 w 13471517"/>
              <a:gd name="connsiteY2" fmla="*/ 592275 h 3511907"/>
              <a:gd name="connsiteX3" fmla="*/ 13471515 w 13471517"/>
              <a:gd name="connsiteY3" fmla="*/ 3511909 h 3511907"/>
              <a:gd name="connsiteX4" fmla="*/ 1 w 13471517"/>
              <a:gd name="connsiteY4" fmla="*/ 3498135 h 3511907"/>
              <a:gd name="connsiteX0" fmla="*/ 1 w 13471513"/>
              <a:gd name="connsiteY0" fmla="*/ 2905860 h 2919632"/>
              <a:gd name="connsiteX1" fmla="*/ 6326577 w 13471513"/>
              <a:gd name="connsiteY1" fmla="*/ 51293 h 2919632"/>
              <a:gd name="connsiteX2" fmla="*/ 11263898 w 13471513"/>
              <a:gd name="connsiteY2" fmla="*/ 0 h 2919632"/>
              <a:gd name="connsiteX3" fmla="*/ 13471515 w 13471513"/>
              <a:gd name="connsiteY3" fmla="*/ 2919634 h 2919632"/>
              <a:gd name="connsiteX4" fmla="*/ 1 w 13471513"/>
              <a:gd name="connsiteY4" fmla="*/ 2905860 h 2919632"/>
              <a:gd name="connsiteX0" fmla="*/ 1 w 13471517"/>
              <a:gd name="connsiteY0" fmla="*/ 2905860 h 2919632"/>
              <a:gd name="connsiteX1" fmla="*/ 7772415 w 13471517"/>
              <a:gd name="connsiteY1" fmla="*/ 51291 h 2919632"/>
              <a:gd name="connsiteX2" fmla="*/ 11263898 w 13471517"/>
              <a:gd name="connsiteY2" fmla="*/ 0 h 2919632"/>
              <a:gd name="connsiteX3" fmla="*/ 13471515 w 13471517"/>
              <a:gd name="connsiteY3" fmla="*/ 2919634 h 2919632"/>
              <a:gd name="connsiteX4" fmla="*/ 1 w 13471517"/>
              <a:gd name="connsiteY4" fmla="*/ 2905860 h 2919632"/>
              <a:gd name="connsiteX0" fmla="*/ 2 w 12374676"/>
              <a:gd name="connsiteY0" fmla="*/ 2905869 h 2919632"/>
              <a:gd name="connsiteX1" fmla="*/ 6675578 w 12374676"/>
              <a:gd name="connsiteY1" fmla="*/ 51291 h 2919632"/>
              <a:gd name="connsiteX2" fmla="*/ 10167061 w 12374676"/>
              <a:gd name="connsiteY2" fmla="*/ 0 h 2919632"/>
              <a:gd name="connsiteX3" fmla="*/ 12374678 w 12374676"/>
              <a:gd name="connsiteY3" fmla="*/ 2919634 h 2919632"/>
              <a:gd name="connsiteX4" fmla="*/ 2 w 12374676"/>
              <a:gd name="connsiteY4" fmla="*/ 2905869 h 2919632"/>
              <a:gd name="connsiteX0" fmla="*/ -2 w 13770656"/>
              <a:gd name="connsiteY0" fmla="*/ 2905869 h 2978137"/>
              <a:gd name="connsiteX1" fmla="*/ 6675574 w 13770656"/>
              <a:gd name="connsiteY1" fmla="*/ 51291 h 2978137"/>
              <a:gd name="connsiteX2" fmla="*/ 10167057 w 13770656"/>
              <a:gd name="connsiteY2" fmla="*/ 0 h 2978137"/>
              <a:gd name="connsiteX3" fmla="*/ 13770654 w 13770656"/>
              <a:gd name="connsiteY3" fmla="*/ 2978135 h 2978137"/>
              <a:gd name="connsiteX4" fmla="*/ -2 w 13770656"/>
              <a:gd name="connsiteY4" fmla="*/ 2905869 h 2978137"/>
              <a:gd name="connsiteX0" fmla="*/ 2 w 13770656"/>
              <a:gd name="connsiteY0" fmla="*/ 3139876 h 3212144"/>
              <a:gd name="connsiteX1" fmla="*/ 6675578 w 13770656"/>
              <a:gd name="connsiteY1" fmla="*/ 285298 h 3212144"/>
              <a:gd name="connsiteX2" fmla="*/ 9419214 w 13770656"/>
              <a:gd name="connsiteY2" fmla="*/ -2 h 3212144"/>
              <a:gd name="connsiteX3" fmla="*/ 13770658 w 13770656"/>
              <a:gd name="connsiteY3" fmla="*/ 3212142 h 3212144"/>
              <a:gd name="connsiteX4" fmla="*/ 2 w 13770656"/>
              <a:gd name="connsiteY4" fmla="*/ 3139876 h 3212144"/>
              <a:gd name="connsiteX0" fmla="*/ -2 w 13770656"/>
              <a:gd name="connsiteY0" fmla="*/ 3205609 h 3277877"/>
              <a:gd name="connsiteX1" fmla="*/ 6675574 w 13770656"/>
              <a:gd name="connsiteY1" fmla="*/ 0 h 3277877"/>
              <a:gd name="connsiteX2" fmla="*/ 9419210 w 13770656"/>
              <a:gd name="connsiteY2" fmla="*/ 65731 h 3277877"/>
              <a:gd name="connsiteX3" fmla="*/ 13770654 w 13770656"/>
              <a:gd name="connsiteY3" fmla="*/ 3277875 h 3277877"/>
              <a:gd name="connsiteX4" fmla="*/ -2 w 13770656"/>
              <a:gd name="connsiteY4" fmla="*/ 3205609 h 3277877"/>
              <a:gd name="connsiteX0" fmla="*/ 2 w 13770656"/>
              <a:gd name="connsiteY0" fmla="*/ 3205595 h 3277863"/>
              <a:gd name="connsiteX1" fmla="*/ 6875002 w 13770656"/>
              <a:gd name="connsiteY1" fmla="*/ -2 h 3277863"/>
              <a:gd name="connsiteX2" fmla="*/ 9419214 w 13770656"/>
              <a:gd name="connsiteY2" fmla="*/ 65717 h 3277863"/>
              <a:gd name="connsiteX3" fmla="*/ 13770658 w 13770656"/>
              <a:gd name="connsiteY3" fmla="*/ 3277861 h 3277863"/>
              <a:gd name="connsiteX4" fmla="*/ 2 w 13770656"/>
              <a:gd name="connsiteY4" fmla="*/ 3205595 h 3277863"/>
              <a:gd name="connsiteX0" fmla="*/ -2 w 13770656"/>
              <a:gd name="connsiteY0" fmla="*/ 3245171 h 3317439"/>
              <a:gd name="connsiteX1" fmla="*/ 6874998 w 13770656"/>
              <a:gd name="connsiteY1" fmla="*/ 39574 h 3317439"/>
              <a:gd name="connsiteX2" fmla="*/ 6323126 w 13770656"/>
              <a:gd name="connsiteY2" fmla="*/ -2 h 3317439"/>
              <a:gd name="connsiteX3" fmla="*/ 13770654 w 13770656"/>
              <a:gd name="connsiteY3" fmla="*/ 3317437 h 3317439"/>
              <a:gd name="connsiteX4" fmla="*/ -2 w 13770656"/>
              <a:gd name="connsiteY4" fmla="*/ 3245171 h 3317439"/>
              <a:gd name="connsiteX0" fmla="*/ 2 w 13770656"/>
              <a:gd name="connsiteY0" fmla="*/ 3245171 h 3317439"/>
              <a:gd name="connsiteX1" fmla="*/ 6875002 w 13770656"/>
              <a:gd name="connsiteY1" fmla="*/ 39574 h 3317439"/>
              <a:gd name="connsiteX2" fmla="*/ 7168520 w 13770656"/>
              <a:gd name="connsiteY2" fmla="*/ 0 h 3317439"/>
              <a:gd name="connsiteX3" fmla="*/ 13770658 w 13770656"/>
              <a:gd name="connsiteY3" fmla="*/ 3317437 h 3317439"/>
              <a:gd name="connsiteX4" fmla="*/ 2 w 13770656"/>
              <a:gd name="connsiteY4" fmla="*/ 3245171 h 3317439"/>
              <a:gd name="connsiteX0" fmla="*/ -2 w 13770656"/>
              <a:gd name="connsiteY0" fmla="*/ 3245171 h 3317439"/>
              <a:gd name="connsiteX1" fmla="*/ 4507903 w 13770656"/>
              <a:gd name="connsiteY1" fmla="*/ 70100 h 3317439"/>
              <a:gd name="connsiteX2" fmla="*/ 7168516 w 13770656"/>
              <a:gd name="connsiteY2" fmla="*/ 0 h 3317439"/>
              <a:gd name="connsiteX3" fmla="*/ 13770654 w 13770656"/>
              <a:gd name="connsiteY3" fmla="*/ 3317437 h 3317439"/>
              <a:gd name="connsiteX4" fmla="*/ -2 w 13770656"/>
              <a:gd name="connsiteY4" fmla="*/ 3245171 h 3317439"/>
              <a:gd name="connsiteX0" fmla="*/ 2 w 13770656"/>
              <a:gd name="connsiteY0" fmla="*/ 3175071 h 3247339"/>
              <a:gd name="connsiteX1" fmla="*/ 4507907 w 13770656"/>
              <a:gd name="connsiteY1" fmla="*/ 0 h 3247339"/>
              <a:gd name="connsiteX2" fmla="*/ 6336134 w 13770656"/>
              <a:gd name="connsiteY2" fmla="*/ 6210 h 3247339"/>
              <a:gd name="connsiteX3" fmla="*/ 13770658 w 13770656"/>
              <a:gd name="connsiteY3" fmla="*/ 3247337 h 3247339"/>
              <a:gd name="connsiteX4" fmla="*/ 2 w 13770656"/>
              <a:gd name="connsiteY4" fmla="*/ 3175071 h 3247339"/>
              <a:gd name="connsiteX0" fmla="*/ 2 w 13770656"/>
              <a:gd name="connsiteY0" fmla="*/ 3175071 h 3247339"/>
              <a:gd name="connsiteX1" fmla="*/ 4507907 w 13770656"/>
              <a:gd name="connsiteY1" fmla="*/ 0 h 3247339"/>
              <a:gd name="connsiteX2" fmla="*/ 6336134 w 13770656"/>
              <a:gd name="connsiteY2" fmla="*/ 6210 h 3247339"/>
              <a:gd name="connsiteX3" fmla="*/ 13770658 w 13770656"/>
              <a:gd name="connsiteY3" fmla="*/ 3247337 h 3247339"/>
              <a:gd name="connsiteX4" fmla="*/ 723124 w 13770656"/>
              <a:gd name="connsiteY4" fmla="*/ 3180251 h 3247339"/>
              <a:gd name="connsiteX5" fmla="*/ 2 w 13770656"/>
              <a:gd name="connsiteY5" fmla="*/ 3175071 h 3247339"/>
              <a:gd name="connsiteX0" fmla="*/ 2 w 13770656"/>
              <a:gd name="connsiteY0" fmla="*/ 3259683 h 3331951"/>
              <a:gd name="connsiteX1" fmla="*/ 4507907 w 13770656"/>
              <a:gd name="connsiteY1" fmla="*/ 84612 h 3331951"/>
              <a:gd name="connsiteX2" fmla="*/ 6336132 w 13770656"/>
              <a:gd name="connsiteY2" fmla="*/ 0 h 3331951"/>
              <a:gd name="connsiteX3" fmla="*/ 13770658 w 13770656"/>
              <a:gd name="connsiteY3" fmla="*/ 3331949 h 3331951"/>
              <a:gd name="connsiteX4" fmla="*/ 723124 w 13770656"/>
              <a:gd name="connsiteY4" fmla="*/ 3264863 h 3331951"/>
              <a:gd name="connsiteX5" fmla="*/ 2 w 13770656"/>
              <a:gd name="connsiteY5" fmla="*/ 3259683 h 3331951"/>
              <a:gd name="connsiteX0" fmla="*/ 2 w 13829832"/>
              <a:gd name="connsiteY0" fmla="*/ 3259683 h 3264863"/>
              <a:gd name="connsiteX1" fmla="*/ 4507907 w 13829832"/>
              <a:gd name="connsiteY1" fmla="*/ 84612 h 3264863"/>
              <a:gd name="connsiteX2" fmla="*/ 6336132 w 13829832"/>
              <a:gd name="connsiteY2" fmla="*/ 0 h 3264863"/>
              <a:gd name="connsiteX3" fmla="*/ 13829832 w 13829832"/>
              <a:gd name="connsiteY3" fmla="*/ 3210853 h 3264863"/>
              <a:gd name="connsiteX4" fmla="*/ 723124 w 13829832"/>
              <a:gd name="connsiteY4" fmla="*/ 3264863 h 3264863"/>
              <a:gd name="connsiteX5" fmla="*/ 2 w 13829832"/>
              <a:gd name="connsiteY5" fmla="*/ 3259683 h 3264863"/>
              <a:gd name="connsiteX0" fmla="*/ 2 w 13326875"/>
              <a:gd name="connsiteY0" fmla="*/ 3108320 h 3264863"/>
              <a:gd name="connsiteX1" fmla="*/ 4004950 w 13326875"/>
              <a:gd name="connsiteY1" fmla="*/ 84612 h 3264863"/>
              <a:gd name="connsiteX2" fmla="*/ 5833175 w 13326875"/>
              <a:gd name="connsiteY2" fmla="*/ 0 h 3264863"/>
              <a:gd name="connsiteX3" fmla="*/ 13326875 w 13326875"/>
              <a:gd name="connsiteY3" fmla="*/ 3210853 h 3264863"/>
              <a:gd name="connsiteX4" fmla="*/ 220167 w 13326875"/>
              <a:gd name="connsiteY4" fmla="*/ 3264863 h 3264863"/>
              <a:gd name="connsiteX5" fmla="*/ 2 w 13326875"/>
              <a:gd name="connsiteY5" fmla="*/ 3108320 h 3264863"/>
              <a:gd name="connsiteX0" fmla="*/ 2 w 13326875"/>
              <a:gd name="connsiteY0" fmla="*/ 3108320 h 3264863"/>
              <a:gd name="connsiteX1" fmla="*/ 4004959 w 13326875"/>
              <a:gd name="connsiteY1" fmla="*/ 24075 h 3264863"/>
              <a:gd name="connsiteX2" fmla="*/ 5833175 w 13326875"/>
              <a:gd name="connsiteY2" fmla="*/ 0 h 3264863"/>
              <a:gd name="connsiteX3" fmla="*/ 13326875 w 13326875"/>
              <a:gd name="connsiteY3" fmla="*/ 3210853 h 3264863"/>
              <a:gd name="connsiteX4" fmla="*/ 220167 w 13326875"/>
              <a:gd name="connsiteY4" fmla="*/ 3264863 h 3264863"/>
              <a:gd name="connsiteX5" fmla="*/ 2 w 13326875"/>
              <a:gd name="connsiteY5" fmla="*/ 3108320 h 3264863"/>
              <a:gd name="connsiteX0" fmla="*/ 2 w 13326875"/>
              <a:gd name="connsiteY0" fmla="*/ 3114509 h 3271052"/>
              <a:gd name="connsiteX1" fmla="*/ 4359992 w 13326875"/>
              <a:gd name="connsiteY1" fmla="*/ 2 h 3271052"/>
              <a:gd name="connsiteX2" fmla="*/ 5833175 w 13326875"/>
              <a:gd name="connsiteY2" fmla="*/ 6189 h 3271052"/>
              <a:gd name="connsiteX3" fmla="*/ 13326875 w 13326875"/>
              <a:gd name="connsiteY3" fmla="*/ 3217042 h 3271052"/>
              <a:gd name="connsiteX4" fmla="*/ 220167 w 13326875"/>
              <a:gd name="connsiteY4" fmla="*/ 3271052 h 3271052"/>
              <a:gd name="connsiteX5" fmla="*/ 2 w 13326875"/>
              <a:gd name="connsiteY5" fmla="*/ 3114509 h 3271052"/>
              <a:gd name="connsiteX0" fmla="*/ 0 w 13326875"/>
              <a:gd name="connsiteY0" fmla="*/ 3203671 h 3271052"/>
              <a:gd name="connsiteX1" fmla="*/ 4359992 w 13326875"/>
              <a:gd name="connsiteY1" fmla="*/ 2 h 3271052"/>
              <a:gd name="connsiteX2" fmla="*/ 5833175 w 13326875"/>
              <a:gd name="connsiteY2" fmla="*/ 6189 h 3271052"/>
              <a:gd name="connsiteX3" fmla="*/ 13326875 w 13326875"/>
              <a:gd name="connsiteY3" fmla="*/ 3217042 h 3271052"/>
              <a:gd name="connsiteX4" fmla="*/ 220167 w 13326875"/>
              <a:gd name="connsiteY4" fmla="*/ 3271052 h 3271052"/>
              <a:gd name="connsiteX5" fmla="*/ 0 w 13326875"/>
              <a:gd name="connsiteY5" fmla="*/ 3203671 h 32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26875" h="3271052">
                <a:moveTo>
                  <a:pt x="0" y="3203671"/>
                </a:moveTo>
                <a:lnTo>
                  <a:pt x="4359992" y="2"/>
                </a:lnTo>
                <a:lnTo>
                  <a:pt x="5833175" y="6189"/>
                </a:lnTo>
                <a:lnTo>
                  <a:pt x="13326875" y="3217042"/>
                </a:lnTo>
                <a:lnTo>
                  <a:pt x="220167" y="3271052"/>
                </a:lnTo>
                <a:lnTo>
                  <a:pt x="0" y="3203671"/>
                </a:lnTo>
                <a:close/>
              </a:path>
            </a:pathLst>
          </a:custGeom>
          <a:pattFill prst="ltUpDiag">
            <a:fgClr>
              <a:srgbClr val="C0C0C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endParaRPr lang="en-US" sz="1401" b="1">
              <a:solidFill>
                <a:srgbClr val="FFFFFF"/>
              </a:solidFill>
              <a:latin typeface="Arial"/>
            </a:endParaRPr>
          </a:p>
        </p:txBody>
      </p:sp>
      <p:sp>
        <p:nvSpPr>
          <p:cNvPr id="76" name="Rectangle 75">
            <a:extLst>
              <a:ext uri="{FF2B5EF4-FFF2-40B4-BE49-F238E27FC236}">
                <a16:creationId xmlns:a16="http://schemas.microsoft.com/office/drawing/2014/main" id="{F25B9026-DF9F-F7B3-DBF6-1890D858E08A}"/>
              </a:ext>
            </a:extLst>
          </p:cNvPr>
          <p:cNvSpPr/>
          <p:nvPr/>
        </p:nvSpPr>
        <p:spPr>
          <a:xfrm>
            <a:off x="4268990" y="3865213"/>
            <a:ext cx="601173" cy="2139595"/>
          </a:xfrm>
          <a:prstGeom prst="rect">
            <a:avLst/>
          </a:prstGeom>
          <a:gradFill flip="none" rotWithShape="1">
            <a:gsLst>
              <a:gs pos="0">
                <a:schemeClr val="bg1">
                  <a:alpha val="0"/>
                </a:schemeClr>
              </a:gs>
              <a:gs pos="54400">
                <a:srgbClr val="FFFFFF">
                  <a:alpha val="80000"/>
                </a:srgbClr>
              </a:gs>
              <a:gs pos="100000">
                <a:schemeClr val="bg1"/>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defTabSz="914411">
              <a:spcBef>
                <a:spcPts val="601"/>
              </a:spcBef>
              <a:defRPr/>
            </a:pPr>
            <a:endParaRPr lang="en-US" sz="1001">
              <a:solidFill>
                <a:srgbClr val="000000"/>
              </a:solidFill>
              <a:latin typeface="Scotia"/>
            </a:endParaRPr>
          </a:p>
        </p:txBody>
      </p:sp>
      <p:sp>
        <p:nvSpPr>
          <p:cNvPr id="12" name="Title 11">
            <a:extLst>
              <a:ext uri="{FF2B5EF4-FFF2-40B4-BE49-F238E27FC236}">
                <a16:creationId xmlns:a16="http://schemas.microsoft.com/office/drawing/2014/main" id="{0E769444-579A-2579-8106-0688BD80EDE4}"/>
              </a:ext>
            </a:extLst>
          </p:cNvPr>
          <p:cNvSpPr>
            <a:spLocks noGrp="1"/>
          </p:cNvSpPr>
          <p:nvPr>
            <p:ph type="title"/>
          </p:nvPr>
        </p:nvSpPr>
        <p:spPr>
          <a:xfrm>
            <a:off x="515938" y="661850"/>
            <a:ext cx="11279822" cy="720000"/>
          </a:xfrm>
        </p:spPr>
        <p:txBody>
          <a:bodyPr vert="horz" lIns="0" tIns="0" rIns="0" bIns="0" rtlCol="0" anchor="t">
            <a:noAutofit/>
          </a:bodyPr>
          <a:lstStyle/>
          <a:p>
            <a:r>
              <a:rPr lang="en-US" sz="2201">
                <a:solidFill>
                  <a:srgbClr val="EC111A"/>
                </a:solidFill>
              </a:rPr>
              <a:t>Market Landscape | </a:t>
            </a:r>
            <a:r>
              <a:rPr lang="en-US" sz="2201"/>
              <a:t>We are well positioned to capture the EHNW &amp; HNW growth opportunity through an integrated offering </a:t>
            </a:r>
          </a:p>
        </p:txBody>
      </p:sp>
      <p:sp>
        <p:nvSpPr>
          <p:cNvPr id="3" name="Slide Number Placeholder 2">
            <a:extLst>
              <a:ext uri="{FF2B5EF4-FFF2-40B4-BE49-F238E27FC236}">
                <a16:creationId xmlns:a16="http://schemas.microsoft.com/office/drawing/2014/main" id="{6EF4F089-EB8D-5E2C-75E3-7082914793D5}"/>
              </a:ext>
            </a:extLst>
          </p:cNvPr>
          <p:cNvSpPr>
            <a:spLocks noGrp="1"/>
          </p:cNvSpPr>
          <p:nvPr>
            <p:ph type="sldNum" sz="quarter" idx="10"/>
          </p:nvPr>
        </p:nvSpPr>
        <p:spPr/>
        <p:txBody>
          <a:bodyPr/>
          <a:lstStyle/>
          <a:p>
            <a:pPr defTabSz="914411">
              <a:defRPr/>
            </a:pPr>
            <a:fld id="{95D835A7-12B2-4074-8DA2-469A8808C237}" type="slidenum">
              <a:rPr lang="en-US">
                <a:solidFill>
                  <a:srgbClr val="000000"/>
                </a:solidFill>
              </a:rPr>
              <a:pPr defTabSz="914411">
                <a:defRPr/>
              </a:pPr>
              <a:t>43</a:t>
            </a:fld>
            <a:endParaRPr lang="en-US">
              <a:solidFill>
                <a:srgbClr val="000000"/>
              </a:solidFill>
            </a:endParaRPr>
          </a:p>
        </p:txBody>
      </p:sp>
      <p:sp>
        <p:nvSpPr>
          <p:cNvPr id="7" name="Text Placeholder 5">
            <a:extLst>
              <a:ext uri="{FF2B5EF4-FFF2-40B4-BE49-F238E27FC236}">
                <a16:creationId xmlns:a16="http://schemas.microsoft.com/office/drawing/2014/main" id="{B9E7C1D9-4995-27A1-3944-179100EDD1BB}"/>
              </a:ext>
            </a:extLst>
          </p:cNvPr>
          <p:cNvSpPr txBox="1">
            <a:spLocks/>
          </p:cNvSpPr>
          <p:nvPr/>
        </p:nvSpPr>
        <p:spPr>
          <a:xfrm>
            <a:off x="557516" y="6329222"/>
            <a:ext cx="10620000" cy="144000"/>
          </a:xfrm>
          <a:prstGeom prst="rect">
            <a:avLst/>
          </a:prstGeom>
        </p:spPr>
        <p:txBody>
          <a:bodyPr vert="horz" lIns="0" tIns="0" rIns="0" bIns="0" rtlCol="0" anchor="t">
            <a:no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900" i="0" kern="1200" baseline="0">
                <a:solidFill>
                  <a:schemeClr val="tx1"/>
                </a:solidFill>
                <a:latin typeface="Scotia Light" panose="020B0403020203020204" pitchFamily="34" charset="0"/>
                <a:ea typeface="Scotia Light" panose="020B0403020203020204" pitchFamily="34" charset="0"/>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800" i="1"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800" i="1"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800" i="1"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800" i="1"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defTabSz="914422">
              <a:buClr>
                <a:srgbClr val="000000"/>
              </a:buClr>
              <a:defRPr/>
            </a:pPr>
            <a:r>
              <a:rPr lang="en-US">
                <a:solidFill>
                  <a:srgbClr val="000000"/>
                </a:solidFill>
              </a:rPr>
              <a:t>1. Source: IMARC Group Mexico Wealth Management Market Report;  2. SWM internal Analysis;  3. Client segments: EHNW ($0.1-$1MM USD), HNW ($1-25MM USD), UHNW ($25MM+ USD)</a:t>
            </a:r>
          </a:p>
        </p:txBody>
      </p:sp>
      <p:sp>
        <p:nvSpPr>
          <p:cNvPr id="220" name="Text Placeholder 5">
            <a:extLst>
              <a:ext uri="{FF2B5EF4-FFF2-40B4-BE49-F238E27FC236}">
                <a16:creationId xmlns:a16="http://schemas.microsoft.com/office/drawing/2014/main" id="{A877471B-8D2F-17B1-4385-FFA43DB7AB7B}"/>
              </a:ext>
            </a:extLst>
          </p:cNvPr>
          <p:cNvSpPr txBox="1">
            <a:spLocks/>
          </p:cNvSpPr>
          <p:nvPr/>
        </p:nvSpPr>
        <p:spPr>
          <a:xfrm>
            <a:off x="5064613" y="1687217"/>
            <a:ext cx="6583680" cy="279605"/>
          </a:xfrm>
          <a:prstGeom prst="rect">
            <a:avLst/>
          </a:prstGeom>
        </p:spPr>
        <p:txBody>
          <a:bodyPr vert="horz" lIns="0" tIns="0" rIns="0" bIns="0" rtlCol="0" anchor="ctr">
            <a:no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defTabSz="914422">
              <a:buClr>
                <a:srgbClr val="000000"/>
              </a:buClr>
              <a:defRPr/>
            </a:pPr>
            <a:r>
              <a:rPr lang="en-US" sz="1200" b="1" spc="0">
                <a:solidFill>
                  <a:srgbClr val="000000"/>
                </a:solidFill>
                <a:latin typeface="Scotia"/>
              </a:rPr>
              <a:t>We have an established presence with opportunity to move upstream given combination of strong local presence and robust global offshore capabilities</a:t>
            </a:r>
            <a:r>
              <a:rPr lang="en-US" sz="1200" b="1" spc="0" baseline="30000">
                <a:solidFill>
                  <a:srgbClr val="000000"/>
                </a:solidFill>
                <a:latin typeface="Scotia"/>
              </a:rPr>
              <a:t>3</a:t>
            </a:r>
            <a:endParaRPr lang="en-US" sz="1200" b="1" spc="0" baseline="30000">
              <a:solidFill>
                <a:srgbClr val="000000"/>
              </a:solidFill>
              <a:highlight>
                <a:srgbClr val="FFFF00"/>
              </a:highlight>
              <a:latin typeface="Scotia"/>
            </a:endParaRPr>
          </a:p>
        </p:txBody>
      </p:sp>
      <p:sp>
        <p:nvSpPr>
          <p:cNvPr id="20" name="TextBox 19">
            <a:extLst>
              <a:ext uri="{FF2B5EF4-FFF2-40B4-BE49-F238E27FC236}">
                <a16:creationId xmlns:a16="http://schemas.microsoft.com/office/drawing/2014/main" id="{C8222C2F-E5DA-8552-3720-51F1CD5F15A0}"/>
              </a:ext>
            </a:extLst>
          </p:cNvPr>
          <p:cNvSpPr txBox="1"/>
          <p:nvPr/>
        </p:nvSpPr>
        <p:spPr>
          <a:xfrm>
            <a:off x="439271" y="1639874"/>
            <a:ext cx="3905493" cy="276999"/>
          </a:xfrm>
          <a:prstGeom prst="rect">
            <a:avLst/>
          </a:prstGeom>
          <a:noFill/>
        </p:spPr>
        <p:txBody>
          <a:bodyPr wrap="square">
            <a:spAutoFit/>
          </a:bodyPr>
          <a:lstStyle/>
          <a:p>
            <a:pPr defTabSz="914411">
              <a:spcBef>
                <a:spcPts val="601"/>
              </a:spcBef>
              <a:defRPr/>
            </a:pPr>
            <a:r>
              <a:rPr lang="en-US" sz="1200" b="1" spc="300">
                <a:solidFill>
                  <a:srgbClr val="000000"/>
                </a:solidFill>
                <a:latin typeface="Scotia"/>
              </a:rPr>
              <a:t>MEXICO MARKET OPPORTUNITY</a:t>
            </a:r>
          </a:p>
        </p:txBody>
      </p:sp>
      <p:sp>
        <p:nvSpPr>
          <p:cNvPr id="22" name="TextBox 21">
            <a:extLst>
              <a:ext uri="{FF2B5EF4-FFF2-40B4-BE49-F238E27FC236}">
                <a16:creationId xmlns:a16="http://schemas.microsoft.com/office/drawing/2014/main" id="{3FCE3B6C-061E-B6C3-50D9-641D280A1ED5}"/>
              </a:ext>
            </a:extLst>
          </p:cNvPr>
          <p:cNvSpPr txBox="1"/>
          <p:nvPr/>
        </p:nvSpPr>
        <p:spPr>
          <a:xfrm>
            <a:off x="439757" y="1924862"/>
            <a:ext cx="3756942" cy="646331"/>
          </a:xfrm>
          <a:prstGeom prst="rect">
            <a:avLst/>
          </a:prstGeom>
          <a:noFill/>
        </p:spPr>
        <p:txBody>
          <a:bodyPr wrap="square" rtlCol="0">
            <a:spAutoFit/>
          </a:bodyPr>
          <a:lstStyle/>
          <a:p>
            <a:pPr defTabSz="914411">
              <a:spcBef>
                <a:spcPts val="601"/>
              </a:spcBef>
              <a:spcAft>
                <a:spcPts val="601"/>
              </a:spcAft>
              <a:defRPr/>
            </a:pPr>
            <a:r>
              <a:rPr lang="en-US" sz="1200">
                <a:solidFill>
                  <a:srgbClr val="000000"/>
                </a:solidFill>
                <a:latin typeface="Scotia"/>
              </a:rPr>
              <a:t>The Mexico wealth market is </a:t>
            </a:r>
            <a:r>
              <a:rPr lang="en-US" sz="1200" b="1">
                <a:solidFill>
                  <a:srgbClr val="000000"/>
                </a:solidFill>
                <a:latin typeface="Scotia"/>
              </a:rPr>
              <a:t>~$1T AUA (CAD) </a:t>
            </a:r>
            <a:r>
              <a:rPr lang="en-US" sz="1200">
                <a:solidFill>
                  <a:srgbClr val="000000"/>
                </a:solidFill>
                <a:latin typeface="Scotia"/>
              </a:rPr>
              <a:t>($650Bn offshore and $370Bn onshore), and is </a:t>
            </a:r>
            <a:r>
              <a:rPr lang="en-US" sz="1200" b="1">
                <a:solidFill>
                  <a:srgbClr val="000000"/>
                </a:solidFill>
                <a:latin typeface="Scotia"/>
              </a:rPr>
              <a:t>projected to grow ~12% CAGR </a:t>
            </a:r>
            <a:r>
              <a:rPr lang="en-US" sz="1200">
                <a:solidFill>
                  <a:srgbClr val="000000"/>
                </a:solidFill>
                <a:latin typeface="Scotia"/>
              </a:rPr>
              <a:t>from F25-F33</a:t>
            </a:r>
            <a:r>
              <a:rPr lang="en-US" sz="1200" baseline="30000">
                <a:solidFill>
                  <a:srgbClr val="000000"/>
                </a:solidFill>
                <a:latin typeface="Scotia"/>
              </a:rPr>
              <a:t>1 </a:t>
            </a:r>
          </a:p>
        </p:txBody>
      </p:sp>
      <p:sp>
        <p:nvSpPr>
          <p:cNvPr id="229" name="TextBox 228">
            <a:extLst>
              <a:ext uri="{FF2B5EF4-FFF2-40B4-BE49-F238E27FC236}">
                <a16:creationId xmlns:a16="http://schemas.microsoft.com/office/drawing/2014/main" id="{11FF0E9A-2AAE-432C-2CBD-339F52B9AEF9}"/>
              </a:ext>
            </a:extLst>
          </p:cNvPr>
          <p:cNvSpPr txBox="1"/>
          <p:nvPr/>
        </p:nvSpPr>
        <p:spPr>
          <a:xfrm>
            <a:off x="439272" y="2746695"/>
            <a:ext cx="3017061" cy="276999"/>
          </a:xfrm>
          <a:prstGeom prst="rect">
            <a:avLst/>
          </a:prstGeom>
          <a:noFill/>
        </p:spPr>
        <p:txBody>
          <a:bodyPr wrap="square">
            <a:spAutoFit/>
          </a:bodyPr>
          <a:lstStyle/>
          <a:p>
            <a:pPr defTabSz="914411">
              <a:spcBef>
                <a:spcPts val="601"/>
              </a:spcBef>
              <a:defRPr/>
            </a:pPr>
            <a:r>
              <a:rPr lang="en-US" sz="1200" b="1" spc="300">
                <a:solidFill>
                  <a:srgbClr val="000000"/>
                </a:solidFill>
                <a:latin typeface="Scotia"/>
              </a:rPr>
              <a:t>OUR VALUE PROPOSITION</a:t>
            </a:r>
          </a:p>
        </p:txBody>
      </p:sp>
      <p:sp>
        <p:nvSpPr>
          <p:cNvPr id="5" name="Rectangle 4">
            <a:extLst>
              <a:ext uri="{FF2B5EF4-FFF2-40B4-BE49-F238E27FC236}">
                <a16:creationId xmlns:a16="http://schemas.microsoft.com/office/drawing/2014/main" id="{D9D1AE67-2B40-F885-EF86-0E3E6943CC35}"/>
              </a:ext>
            </a:extLst>
          </p:cNvPr>
          <p:cNvSpPr/>
          <p:nvPr/>
        </p:nvSpPr>
        <p:spPr>
          <a:xfrm>
            <a:off x="527133" y="3103364"/>
            <a:ext cx="3669566" cy="67719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defTabSz="914411">
              <a:spcBef>
                <a:spcPts val="601"/>
              </a:spcBef>
              <a:defRPr/>
            </a:pPr>
            <a:r>
              <a:rPr lang="en-US" sz="1200" b="1">
                <a:solidFill>
                  <a:schemeClr val="tx1"/>
                </a:solidFill>
                <a:latin typeface="Scotia"/>
              </a:rPr>
              <a:t>Leading asset management capabilities</a:t>
            </a:r>
          </a:p>
          <a:p>
            <a:pPr defTabSz="914411">
              <a:spcBef>
                <a:spcPts val="300"/>
              </a:spcBef>
              <a:defRPr/>
            </a:pPr>
            <a:r>
              <a:rPr lang="en-US" sz="1051">
                <a:solidFill>
                  <a:schemeClr val="tx1"/>
                </a:solidFill>
                <a:latin typeface="Scotia"/>
              </a:rPr>
              <a:t>&gt;90% of proprietary investment funds in the top two quartiles of performance over the last 3 years.</a:t>
            </a:r>
            <a:r>
              <a:rPr lang="en-US" sz="1051" baseline="30000">
                <a:solidFill>
                  <a:schemeClr val="tx1"/>
                </a:solidFill>
                <a:latin typeface="Scotia"/>
              </a:rPr>
              <a:t>2</a:t>
            </a:r>
          </a:p>
        </p:txBody>
      </p:sp>
      <p:sp>
        <p:nvSpPr>
          <p:cNvPr id="234" name="Rectangle 233">
            <a:extLst>
              <a:ext uri="{FF2B5EF4-FFF2-40B4-BE49-F238E27FC236}">
                <a16:creationId xmlns:a16="http://schemas.microsoft.com/office/drawing/2014/main" id="{BC05DC98-C99F-016D-4108-41CDCB3FA5D4}"/>
              </a:ext>
            </a:extLst>
          </p:cNvPr>
          <p:cNvSpPr/>
          <p:nvPr/>
        </p:nvSpPr>
        <p:spPr>
          <a:xfrm>
            <a:off x="527133" y="3884350"/>
            <a:ext cx="3669566" cy="67719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defTabSz="914411">
              <a:spcBef>
                <a:spcPts val="601"/>
              </a:spcBef>
              <a:defRPr/>
            </a:pPr>
            <a:r>
              <a:rPr lang="en-US" sz="1200" b="1">
                <a:solidFill>
                  <a:schemeClr val="tx1"/>
                </a:solidFill>
                <a:latin typeface="Scotia"/>
              </a:rPr>
              <a:t>Differentiated private banking offering</a:t>
            </a:r>
          </a:p>
          <a:p>
            <a:pPr defTabSz="914411">
              <a:spcBef>
                <a:spcPts val="300"/>
              </a:spcBef>
              <a:defRPr/>
            </a:pPr>
            <a:r>
              <a:rPr lang="en-US" sz="1051">
                <a:solidFill>
                  <a:schemeClr val="tx1"/>
                </a:solidFill>
                <a:latin typeface="Scotia"/>
              </a:rPr>
              <a:t>Strong competitive advantage in complex Wealth lending, with limited comparable peer capabilities.</a:t>
            </a:r>
            <a:endParaRPr lang="en-US" sz="1051" baseline="30000">
              <a:solidFill>
                <a:schemeClr val="tx1"/>
              </a:solidFill>
              <a:latin typeface="Scotia"/>
            </a:endParaRPr>
          </a:p>
        </p:txBody>
      </p:sp>
      <p:sp>
        <p:nvSpPr>
          <p:cNvPr id="236" name="Rectangle 235">
            <a:extLst>
              <a:ext uri="{FF2B5EF4-FFF2-40B4-BE49-F238E27FC236}">
                <a16:creationId xmlns:a16="http://schemas.microsoft.com/office/drawing/2014/main" id="{CE3733B1-6CD8-F481-85E7-6ECE10A1122C}"/>
              </a:ext>
            </a:extLst>
          </p:cNvPr>
          <p:cNvSpPr/>
          <p:nvPr/>
        </p:nvSpPr>
        <p:spPr>
          <a:xfrm>
            <a:off x="527133" y="4665335"/>
            <a:ext cx="3669566" cy="67719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defTabSz="914411">
              <a:spcBef>
                <a:spcPts val="601"/>
              </a:spcBef>
              <a:defRPr/>
            </a:pPr>
            <a:r>
              <a:rPr lang="en-US" sz="1200" b="1">
                <a:solidFill>
                  <a:schemeClr val="tx1"/>
                </a:solidFill>
                <a:latin typeface="Scotia"/>
              </a:rPr>
              <a:t>Onshore-offshore integration </a:t>
            </a:r>
          </a:p>
          <a:p>
            <a:pPr defTabSz="914411">
              <a:spcBef>
                <a:spcPts val="300"/>
              </a:spcBef>
              <a:defRPr/>
            </a:pPr>
            <a:r>
              <a:rPr lang="en-US" sz="1051">
                <a:solidFill>
                  <a:schemeClr val="tx1"/>
                </a:solidFill>
                <a:latin typeface="Scotia"/>
              </a:rPr>
              <a:t>Ability to deliver banking and investment solutions across both onshore and offshore.</a:t>
            </a:r>
          </a:p>
        </p:txBody>
      </p:sp>
      <p:sp>
        <p:nvSpPr>
          <p:cNvPr id="237" name="Rectangle 236">
            <a:extLst>
              <a:ext uri="{FF2B5EF4-FFF2-40B4-BE49-F238E27FC236}">
                <a16:creationId xmlns:a16="http://schemas.microsoft.com/office/drawing/2014/main" id="{8E9AAFC5-91C8-0EF6-E5E9-E24CEB2FA5E4}"/>
              </a:ext>
            </a:extLst>
          </p:cNvPr>
          <p:cNvSpPr/>
          <p:nvPr/>
        </p:nvSpPr>
        <p:spPr>
          <a:xfrm>
            <a:off x="527133" y="5446320"/>
            <a:ext cx="3669566" cy="67719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defTabSz="914411">
              <a:spcBef>
                <a:spcPts val="601"/>
              </a:spcBef>
              <a:defRPr/>
            </a:pPr>
            <a:r>
              <a:rPr lang="en-US" sz="1200" b="1">
                <a:solidFill>
                  <a:schemeClr val="tx1"/>
                </a:solidFill>
                <a:latin typeface="Scotia"/>
              </a:rPr>
              <a:t>Access to wide range of wealth clients </a:t>
            </a:r>
          </a:p>
          <a:p>
            <a:pPr defTabSz="914411">
              <a:spcBef>
                <a:spcPts val="300"/>
              </a:spcBef>
              <a:defRPr/>
            </a:pPr>
            <a:r>
              <a:rPr lang="en-US" sz="1051">
                <a:solidFill>
                  <a:schemeClr val="tx1"/>
                </a:solidFill>
                <a:latin typeface="Scotia"/>
              </a:rPr>
              <a:t>Opportunity to serve all Wealth segments, as well as tap into Affluent Retail (18M) and Commercial clients (5M).</a:t>
            </a:r>
          </a:p>
        </p:txBody>
      </p:sp>
      <p:sp>
        <p:nvSpPr>
          <p:cNvPr id="33" name="Rectangle 32">
            <a:extLst>
              <a:ext uri="{FF2B5EF4-FFF2-40B4-BE49-F238E27FC236}">
                <a16:creationId xmlns:a16="http://schemas.microsoft.com/office/drawing/2014/main" id="{BE01A6DB-BC1E-8371-83B5-EFFE0A043B52}"/>
              </a:ext>
            </a:extLst>
          </p:cNvPr>
          <p:cNvSpPr/>
          <p:nvPr/>
        </p:nvSpPr>
        <p:spPr>
          <a:xfrm>
            <a:off x="5064614" y="2081867"/>
            <a:ext cx="6614985" cy="4054955"/>
          </a:xfrm>
          <a:prstGeom prst="rect">
            <a:avLst/>
          </a:prstGeom>
          <a:solidFill>
            <a:schemeClr val="bg1"/>
          </a:solidFill>
          <a:ln w="12700">
            <a:solidFill>
              <a:srgbClr val="CECBBC"/>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defTabSz="914411">
              <a:spcBef>
                <a:spcPts val="601"/>
              </a:spcBef>
              <a:defRPr/>
            </a:pPr>
            <a:endParaRPr lang="en-US" sz="1001">
              <a:solidFill>
                <a:srgbClr val="000000"/>
              </a:solidFill>
              <a:latin typeface="Scotia"/>
            </a:endParaRPr>
          </a:p>
        </p:txBody>
      </p:sp>
      <p:sp>
        <p:nvSpPr>
          <p:cNvPr id="35" name="TextColumnContent">
            <a:extLst>
              <a:ext uri="{FF2B5EF4-FFF2-40B4-BE49-F238E27FC236}">
                <a16:creationId xmlns:a16="http://schemas.microsoft.com/office/drawing/2014/main" id="{EC4D47AE-72FC-C5A5-322B-0AAF3E938FB1}"/>
              </a:ext>
            </a:extLst>
          </p:cNvPr>
          <p:cNvSpPr>
            <a:spLocks noChangeArrowheads="1"/>
          </p:cNvSpPr>
          <p:nvPr/>
        </p:nvSpPr>
        <p:spPr bwMode="gray">
          <a:xfrm>
            <a:off x="5283088" y="2190858"/>
            <a:ext cx="1914524" cy="338554"/>
          </a:xfrm>
          <a:prstGeom prst="rect">
            <a:avLst/>
          </a:prstGeom>
          <a:noFill/>
          <a:ln w="9525" algn="ctr">
            <a:noFill/>
            <a:miter lim="800000"/>
            <a:headEnd type="none" w="lg" len="lg"/>
            <a:tailEnd type="none" w="lg" len="lg"/>
          </a:ln>
          <a:effectLst/>
        </p:spPr>
        <p:txBody>
          <a:bodyPr wrap="square" lIns="0" tIns="0" rIns="0" bIns="0">
            <a:spAutoFit/>
          </a:bodyPr>
          <a:lstStyle/>
          <a:p>
            <a:pPr defTabSz="914411">
              <a:defRPr/>
            </a:pPr>
            <a:r>
              <a:rPr lang="en-US" sz="1100" b="1" kern="0">
                <a:solidFill>
                  <a:srgbClr val="000000"/>
                </a:solidFill>
                <a:latin typeface="Scotia  "/>
                <a:cs typeface="Arial" panose="020B0604020202020204" pitchFamily="34" charset="0"/>
                <a:sym typeface="Arial"/>
              </a:rPr>
              <a:t>Revenue </a:t>
            </a:r>
          </a:p>
          <a:p>
            <a:pPr defTabSz="914411">
              <a:defRPr/>
            </a:pPr>
            <a:r>
              <a:rPr lang="en-US" sz="1100" kern="0">
                <a:solidFill>
                  <a:srgbClr val="000000"/>
                </a:solidFill>
                <a:latin typeface="Scotia  "/>
                <a:cs typeface="Arial" panose="020B0604020202020204" pitchFamily="34" charset="0"/>
                <a:sym typeface="Arial"/>
              </a:rPr>
              <a:t>USD, Bn</a:t>
            </a:r>
          </a:p>
        </p:txBody>
      </p:sp>
      <p:sp>
        <p:nvSpPr>
          <p:cNvPr id="36" name="Rectangle: Rounded Corners 75">
            <a:extLst>
              <a:ext uri="{FF2B5EF4-FFF2-40B4-BE49-F238E27FC236}">
                <a16:creationId xmlns:a16="http://schemas.microsoft.com/office/drawing/2014/main" id="{DD5991D9-6569-06AF-D4E1-6B1F640EE90C}"/>
              </a:ext>
            </a:extLst>
          </p:cNvPr>
          <p:cNvSpPr/>
          <p:nvPr/>
        </p:nvSpPr>
        <p:spPr>
          <a:xfrm rot="16200000">
            <a:off x="4680492" y="2880000"/>
            <a:ext cx="1144004" cy="284059"/>
          </a:xfrm>
          <a:prstGeom prst="roundRect">
            <a:avLst/>
          </a:prstGeom>
          <a:noFill/>
          <a:ln w="12700" cap="flat" cmpd="sng" algn="ctr">
            <a:noFill/>
            <a:prstDash val="solid"/>
            <a:miter lim="800000"/>
          </a:ln>
          <a:effectLst/>
        </p:spPr>
        <p:txBody>
          <a:bodyPr rtlCol="0" anchor="ctr"/>
          <a:lstStyle/>
          <a:p>
            <a:pPr algn="ctr" defTabSz="914411">
              <a:defRPr/>
            </a:pPr>
            <a:r>
              <a:rPr lang="en-US" sz="1100" kern="0">
                <a:solidFill>
                  <a:srgbClr val="969696"/>
                </a:solidFill>
                <a:latin typeface="Scotia" panose="020B0503020203020204" pitchFamily="34" charset="0"/>
                <a:ea typeface="Scotia" panose="020B0503020203020204" pitchFamily="34" charset="0"/>
                <a:cs typeface="Helvetica"/>
              </a:rPr>
              <a:t>UHNW</a:t>
            </a:r>
          </a:p>
        </p:txBody>
      </p:sp>
      <p:grpSp>
        <p:nvGrpSpPr>
          <p:cNvPr id="37" name="Group 36">
            <a:extLst>
              <a:ext uri="{FF2B5EF4-FFF2-40B4-BE49-F238E27FC236}">
                <a16:creationId xmlns:a16="http://schemas.microsoft.com/office/drawing/2014/main" id="{13DB9169-F3DC-D6BE-31DD-C75D538FC9D8}"/>
              </a:ext>
            </a:extLst>
          </p:cNvPr>
          <p:cNvGrpSpPr/>
          <p:nvPr/>
        </p:nvGrpSpPr>
        <p:grpSpPr>
          <a:xfrm>
            <a:off x="7726810" y="2152861"/>
            <a:ext cx="3104692" cy="231774"/>
            <a:chOff x="6539166" y="1872789"/>
            <a:chExt cx="3104691" cy="231775"/>
          </a:xfrm>
        </p:grpSpPr>
        <p:sp>
          <p:nvSpPr>
            <p:cNvPr id="123" name="Rectangle: Rounded Corners 75">
              <a:extLst>
                <a:ext uri="{FF2B5EF4-FFF2-40B4-BE49-F238E27FC236}">
                  <a16:creationId xmlns:a16="http://schemas.microsoft.com/office/drawing/2014/main" id="{76C75738-D9F3-6C2A-707B-0FD103F42DFF}"/>
                </a:ext>
              </a:extLst>
            </p:cNvPr>
            <p:cNvSpPr/>
            <p:nvPr/>
          </p:nvSpPr>
          <p:spPr>
            <a:xfrm>
              <a:off x="6656801" y="1872789"/>
              <a:ext cx="2987056" cy="231775"/>
            </a:xfrm>
            <a:prstGeom prst="roundRect">
              <a:avLst/>
            </a:prstGeom>
            <a:noFill/>
            <a:ln w="12700" cap="flat" cmpd="sng" algn="ctr">
              <a:noFill/>
              <a:prstDash val="solid"/>
              <a:miter lim="800000"/>
            </a:ln>
            <a:effectLst/>
          </p:spPr>
          <p:txBody>
            <a:bodyPr rtlCol="0" anchor="ctr"/>
            <a:lstStyle/>
            <a:p>
              <a:pPr defTabSz="914411">
                <a:defRPr/>
              </a:pPr>
              <a:r>
                <a:rPr lang="en-US" sz="1001" kern="0">
                  <a:solidFill>
                    <a:srgbClr val="333333"/>
                  </a:solidFill>
                  <a:latin typeface="Scotia" panose="020B0503020203020204" pitchFamily="34" charset="0"/>
                  <a:ea typeface="Scotia" panose="020B0503020203020204" pitchFamily="34" charset="0"/>
                  <a:cs typeface="Helvetica"/>
                </a:rPr>
                <a:t>Local MX</a:t>
              </a:r>
            </a:p>
          </p:txBody>
        </p:sp>
        <p:sp>
          <p:nvSpPr>
            <p:cNvPr id="124" name="Elipse 397">
              <a:extLst>
                <a:ext uri="{FF2B5EF4-FFF2-40B4-BE49-F238E27FC236}">
                  <a16:creationId xmlns:a16="http://schemas.microsoft.com/office/drawing/2014/main" id="{9E4A9050-0422-C038-18EE-3A7FA4D5F446}"/>
                </a:ext>
              </a:extLst>
            </p:cNvPr>
            <p:cNvSpPr>
              <a:spLocks noChangeAspect="1"/>
            </p:cNvSpPr>
            <p:nvPr/>
          </p:nvSpPr>
          <p:spPr>
            <a:xfrm>
              <a:off x="6539166" y="1915191"/>
              <a:ext cx="140786" cy="146970"/>
            </a:xfrm>
            <a:prstGeom prst="ellipse">
              <a:avLst/>
            </a:prstGeom>
            <a:solidFill>
              <a:srgbClr val="7F7F7F"/>
            </a:solidFill>
            <a:ln w="12700" cap="flat" cmpd="sng" algn="ctr">
              <a:solidFill>
                <a:schemeClr val="bg1"/>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grpSp>
      <p:grpSp>
        <p:nvGrpSpPr>
          <p:cNvPr id="38" name="Group 37">
            <a:extLst>
              <a:ext uri="{FF2B5EF4-FFF2-40B4-BE49-F238E27FC236}">
                <a16:creationId xmlns:a16="http://schemas.microsoft.com/office/drawing/2014/main" id="{95DE4786-627D-9CE4-31A7-F099FEBC3361}"/>
              </a:ext>
            </a:extLst>
          </p:cNvPr>
          <p:cNvGrpSpPr/>
          <p:nvPr/>
        </p:nvGrpSpPr>
        <p:grpSpPr>
          <a:xfrm>
            <a:off x="7726810" y="2343531"/>
            <a:ext cx="3104692" cy="231774"/>
            <a:chOff x="6539166" y="2050773"/>
            <a:chExt cx="3104691" cy="231775"/>
          </a:xfrm>
        </p:grpSpPr>
        <p:sp>
          <p:nvSpPr>
            <p:cNvPr id="121" name="Rectangle: Rounded Corners 75">
              <a:extLst>
                <a:ext uri="{FF2B5EF4-FFF2-40B4-BE49-F238E27FC236}">
                  <a16:creationId xmlns:a16="http://schemas.microsoft.com/office/drawing/2014/main" id="{F879E1D7-42F2-395E-399D-BA8F6093A363}"/>
                </a:ext>
              </a:extLst>
            </p:cNvPr>
            <p:cNvSpPr/>
            <p:nvPr/>
          </p:nvSpPr>
          <p:spPr>
            <a:xfrm>
              <a:off x="6656801" y="2050773"/>
              <a:ext cx="2987056" cy="231775"/>
            </a:xfrm>
            <a:prstGeom prst="roundRect">
              <a:avLst/>
            </a:prstGeom>
            <a:noFill/>
            <a:ln w="12700" cap="flat" cmpd="sng" algn="ctr">
              <a:noFill/>
              <a:prstDash val="solid"/>
              <a:miter lim="800000"/>
            </a:ln>
            <a:effectLst/>
          </p:spPr>
          <p:txBody>
            <a:bodyPr rtlCol="0" anchor="ctr"/>
            <a:lstStyle/>
            <a:p>
              <a:pPr defTabSz="914411">
                <a:defRPr/>
              </a:pPr>
              <a:r>
                <a:rPr lang="en-US" sz="1001" kern="0">
                  <a:solidFill>
                    <a:srgbClr val="333333"/>
                  </a:solidFill>
                  <a:latin typeface="Scotia" panose="020B0503020203020204" pitchFamily="34" charset="0"/>
                  <a:ea typeface="Scotia" panose="020B0503020203020204" pitchFamily="34" charset="0"/>
                  <a:cs typeface="Helvetica"/>
                </a:rPr>
                <a:t>Regional and Global</a:t>
              </a:r>
            </a:p>
          </p:txBody>
        </p:sp>
        <p:sp>
          <p:nvSpPr>
            <p:cNvPr id="122" name="Elipse 397">
              <a:extLst>
                <a:ext uri="{FF2B5EF4-FFF2-40B4-BE49-F238E27FC236}">
                  <a16:creationId xmlns:a16="http://schemas.microsoft.com/office/drawing/2014/main" id="{B6B0870C-52A7-39B3-5094-1856C6105CB0}"/>
                </a:ext>
              </a:extLst>
            </p:cNvPr>
            <p:cNvSpPr>
              <a:spLocks noChangeAspect="1"/>
            </p:cNvSpPr>
            <p:nvPr/>
          </p:nvSpPr>
          <p:spPr>
            <a:xfrm>
              <a:off x="6539166" y="2099060"/>
              <a:ext cx="140786" cy="146970"/>
            </a:xfrm>
            <a:prstGeom prst="ellipse">
              <a:avLst/>
            </a:prstGeom>
            <a:solidFill>
              <a:srgbClr val="A6A6A6"/>
            </a:solidFill>
            <a:ln w="12700" cap="flat" cmpd="sng" algn="ctr">
              <a:solidFill>
                <a:schemeClr val="bg1"/>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grpSp>
      <p:sp>
        <p:nvSpPr>
          <p:cNvPr id="119" name="Rectangle 118">
            <a:extLst>
              <a:ext uri="{FF2B5EF4-FFF2-40B4-BE49-F238E27FC236}">
                <a16:creationId xmlns:a16="http://schemas.microsoft.com/office/drawing/2014/main" id="{AB88D723-9683-82D6-1AEE-98B2239CCB9B}"/>
              </a:ext>
            </a:extLst>
          </p:cNvPr>
          <p:cNvSpPr/>
          <p:nvPr/>
        </p:nvSpPr>
        <p:spPr>
          <a:xfrm>
            <a:off x="9253738" y="2385080"/>
            <a:ext cx="156852" cy="163371"/>
          </a:xfrm>
          <a:prstGeom prst="rect">
            <a:avLst/>
          </a:prstGeom>
          <a:solidFill>
            <a:srgbClr val="E7D8C7"/>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defTabSz="914411">
              <a:spcBef>
                <a:spcPts val="601"/>
              </a:spcBef>
              <a:defRPr/>
            </a:pPr>
            <a:endParaRPr lang="en-US" sz="1001">
              <a:solidFill>
                <a:srgbClr val="000000"/>
              </a:solidFill>
              <a:latin typeface="Scotia"/>
            </a:endParaRPr>
          </a:p>
        </p:txBody>
      </p:sp>
      <p:sp>
        <p:nvSpPr>
          <p:cNvPr id="120" name="Rectangle: Rounded Corners 75">
            <a:extLst>
              <a:ext uri="{FF2B5EF4-FFF2-40B4-BE49-F238E27FC236}">
                <a16:creationId xmlns:a16="http://schemas.microsoft.com/office/drawing/2014/main" id="{FA827F41-E227-569C-7518-F6E26C4D113D}"/>
              </a:ext>
            </a:extLst>
          </p:cNvPr>
          <p:cNvSpPr/>
          <p:nvPr/>
        </p:nvSpPr>
        <p:spPr>
          <a:xfrm>
            <a:off x="9332164" y="2296171"/>
            <a:ext cx="2041212" cy="307490"/>
          </a:xfrm>
          <a:prstGeom prst="roundRect">
            <a:avLst/>
          </a:prstGeom>
          <a:noFill/>
          <a:ln w="12700" cap="flat" cmpd="sng" algn="ctr">
            <a:noFill/>
            <a:prstDash val="solid"/>
            <a:miter lim="800000"/>
          </a:ln>
          <a:effectLst/>
        </p:spPr>
        <p:txBody>
          <a:bodyPr rtlCol="0" anchor="ctr"/>
          <a:lstStyle/>
          <a:p>
            <a:pPr defTabSz="914411">
              <a:defRPr/>
            </a:pPr>
            <a:r>
              <a:rPr lang="en-US" sz="1001" i="1" kern="0">
                <a:solidFill>
                  <a:srgbClr val="333333"/>
                </a:solidFill>
                <a:latin typeface="Scotia" panose="020B0503020203020204" pitchFamily="34" charset="0"/>
                <a:ea typeface="Scotia" panose="020B0503020203020204" pitchFamily="34" charset="0"/>
                <a:cs typeface="Helvetica"/>
              </a:rPr>
              <a:t> Significant opportunity (HNW)</a:t>
            </a:r>
          </a:p>
        </p:txBody>
      </p:sp>
      <p:sp>
        <p:nvSpPr>
          <p:cNvPr id="41" name="Rectángulo 295">
            <a:extLst>
              <a:ext uri="{FF2B5EF4-FFF2-40B4-BE49-F238E27FC236}">
                <a16:creationId xmlns:a16="http://schemas.microsoft.com/office/drawing/2014/main" id="{08AA8DE4-2D59-AD56-794C-5F37213E62E4}"/>
              </a:ext>
            </a:extLst>
          </p:cNvPr>
          <p:cNvSpPr/>
          <p:nvPr>
            <p:custDataLst>
              <p:tags r:id="rId1"/>
            </p:custDataLst>
          </p:nvPr>
        </p:nvSpPr>
        <p:spPr bwMode="auto">
          <a:xfrm>
            <a:off x="7726985" y="5612310"/>
            <a:ext cx="3710603" cy="399214"/>
          </a:xfrm>
          <a:prstGeom prst="rect">
            <a:avLst/>
          </a:prstGeom>
          <a:solidFill>
            <a:schemeClr val="bg1">
              <a:lumMod val="95000"/>
            </a:schemeClr>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42" name="Rectángulo 296">
            <a:extLst>
              <a:ext uri="{FF2B5EF4-FFF2-40B4-BE49-F238E27FC236}">
                <a16:creationId xmlns:a16="http://schemas.microsoft.com/office/drawing/2014/main" id="{EE874F47-74E8-A6BD-96C0-651E95777EF2}"/>
              </a:ext>
            </a:extLst>
          </p:cNvPr>
          <p:cNvSpPr/>
          <p:nvPr>
            <p:custDataLst>
              <p:tags r:id="rId2"/>
            </p:custDataLst>
          </p:nvPr>
        </p:nvSpPr>
        <p:spPr bwMode="auto">
          <a:xfrm>
            <a:off x="7726987" y="4217392"/>
            <a:ext cx="3710603" cy="1394921"/>
          </a:xfrm>
          <a:prstGeom prst="rect">
            <a:avLst/>
          </a:prstGeom>
          <a:solidFill>
            <a:srgbClr val="E7D8C7"/>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46" name="Rectángulo 297">
            <a:extLst>
              <a:ext uri="{FF2B5EF4-FFF2-40B4-BE49-F238E27FC236}">
                <a16:creationId xmlns:a16="http://schemas.microsoft.com/office/drawing/2014/main" id="{231C4E97-21FD-FBA7-ED82-41721BE49DAD}"/>
              </a:ext>
            </a:extLst>
          </p:cNvPr>
          <p:cNvSpPr>
            <a:spLocks noChangeAspect="1"/>
          </p:cNvSpPr>
          <p:nvPr>
            <p:custDataLst>
              <p:tags r:id="rId3"/>
            </p:custDataLst>
          </p:nvPr>
        </p:nvSpPr>
        <p:spPr bwMode="auto">
          <a:xfrm>
            <a:off x="7726987" y="2796064"/>
            <a:ext cx="3710603" cy="1421328"/>
          </a:xfrm>
          <a:prstGeom prst="rect">
            <a:avLst/>
          </a:prstGeom>
          <a:solidFill>
            <a:schemeClr val="bg2">
              <a:lumMod val="40000"/>
              <a:lumOff val="60000"/>
            </a:schemeClr>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47" name="Rectángulo 298">
            <a:extLst>
              <a:ext uri="{FF2B5EF4-FFF2-40B4-BE49-F238E27FC236}">
                <a16:creationId xmlns:a16="http://schemas.microsoft.com/office/drawing/2014/main" id="{D007D489-4AD0-04EC-268F-CA67FC1DE780}"/>
              </a:ext>
            </a:extLst>
          </p:cNvPr>
          <p:cNvSpPr/>
          <p:nvPr>
            <p:custDataLst>
              <p:tags r:id="rId4"/>
            </p:custDataLst>
          </p:nvPr>
        </p:nvSpPr>
        <p:spPr bwMode="auto">
          <a:xfrm>
            <a:off x="5387919" y="4688059"/>
            <a:ext cx="2339067" cy="1323467"/>
          </a:xfrm>
          <a:prstGeom prst="rect">
            <a:avLst/>
          </a:prstGeom>
          <a:solidFill>
            <a:schemeClr val="bg1">
              <a:lumMod val="95000"/>
            </a:schemeClr>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48" name="Rectángulo 299">
            <a:extLst>
              <a:ext uri="{FF2B5EF4-FFF2-40B4-BE49-F238E27FC236}">
                <a16:creationId xmlns:a16="http://schemas.microsoft.com/office/drawing/2014/main" id="{9387A410-3E09-8CAF-FBAC-AF3F1B26058A}"/>
              </a:ext>
            </a:extLst>
          </p:cNvPr>
          <p:cNvSpPr/>
          <p:nvPr>
            <p:custDataLst>
              <p:tags r:id="rId5"/>
            </p:custDataLst>
          </p:nvPr>
        </p:nvSpPr>
        <p:spPr bwMode="auto">
          <a:xfrm>
            <a:off x="5387918" y="2957613"/>
            <a:ext cx="2339068" cy="1730446"/>
          </a:xfrm>
          <a:prstGeom prst="rect">
            <a:avLst/>
          </a:prstGeom>
          <a:solidFill>
            <a:srgbClr val="E7D8C7"/>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49" name="Rectángulo 300">
            <a:extLst>
              <a:ext uri="{FF2B5EF4-FFF2-40B4-BE49-F238E27FC236}">
                <a16:creationId xmlns:a16="http://schemas.microsoft.com/office/drawing/2014/main" id="{52B6199F-3547-4DE8-9040-8EECE8DA3C14}"/>
              </a:ext>
            </a:extLst>
          </p:cNvPr>
          <p:cNvSpPr/>
          <p:nvPr>
            <p:custDataLst>
              <p:tags r:id="rId6"/>
            </p:custDataLst>
          </p:nvPr>
        </p:nvSpPr>
        <p:spPr bwMode="auto">
          <a:xfrm>
            <a:off x="5387918" y="2796063"/>
            <a:ext cx="2339068" cy="161550"/>
          </a:xfrm>
          <a:prstGeom prst="rect">
            <a:avLst/>
          </a:prstGeom>
          <a:solidFill>
            <a:schemeClr val="bg2">
              <a:lumMod val="40000"/>
              <a:lumOff val="60000"/>
            </a:schemeClr>
          </a:solidFill>
          <a:ln w="9525" cap="flat" cmpd="sng" algn="ctr">
            <a:noFill/>
            <a:prstDash val="solid"/>
            <a:miter lim="800000"/>
            <a:headEnd type="none" w="med" len="med"/>
            <a:tailEnd type="none" w="med" len="med"/>
          </a:ln>
          <a:effectLst/>
        </p:spPr>
        <p:txBody>
          <a:bodyPr rtlCol="0" anchor="ctr"/>
          <a:lstStyle/>
          <a:p>
            <a:pPr algn="ctr" defTabSz="914411">
              <a:defRPr/>
            </a:pPr>
            <a:endParaRPr lang="en-US" sz="1801" kern="0">
              <a:solidFill>
                <a:srgbClr val="FFFFFF"/>
              </a:solidFill>
              <a:latin typeface="Calibri"/>
              <a:cs typeface="Helvetica"/>
            </a:endParaRPr>
          </a:p>
        </p:txBody>
      </p:sp>
      <p:sp>
        <p:nvSpPr>
          <p:cNvPr id="50" name="Rectangle: Rounded Corners 75">
            <a:extLst>
              <a:ext uri="{FF2B5EF4-FFF2-40B4-BE49-F238E27FC236}">
                <a16:creationId xmlns:a16="http://schemas.microsoft.com/office/drawing/2014/main" id="{EDB39C30-BCEF-4E4E-1FE1-CFB96EC204F2}"/>
              </a:ext>
            </a:extLst>
          </p:cNvPr>
          <p:cNvSpPr/>
          <p:nvPr/>
        </p:nvSpPr>
        <p:spPr>
          <a:xfrm>
            <a:off x="5311223" y="2762706"/>
            <a:ext cx="414965"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FFFFFF"/>
                </a:solidFill>
                <a:latin typeface="Scotia" panose="020B0503020203020204" pitchFamily="34" charset="0"/>
                <a:ea typeface="Scotia" panose="020B0503020203020204" pitchFamily="34" charset="0"/>
                <a:cs typeface="Helvetica"/>
              </a:rPr>
              <a:t>0.1</a:t>
            </a:r>
          </a:p>
        </p:txBody>
      </p:sp>
      <p:sp>
        <p:nvSpPr>
          <p:cNvPr id="55" name="Rectangle: Rounded Corners 75">
            <a:extLst>
              <a:ext uri="{FF2B5EF4-FFF2-40B4-BE49-F238E27FC236}">
                <a16:creationId xmlns:a16="http://schemas.microsoft.com/office/drawing/2014/main" id="{BED5C2BB-F076-C4A2-B1D2-C5760B9B4B61}"/>
              </a:ext>
            </a:extLst>
          </p:cNvPr>
          <p:cNvSpPr/>
          <p:nvPr/>
        </p:nvSpPr>
        <p:spPr>
          <a:xfrm>
            <a:off x="5311223" y="2926521"/>
            <a:ext cx="414965"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333333"/>
                </a:solidFill>
                <a:latin typeface="Scotia" panose="020B0503020203020204" pitchFamily="34" charset="0"/>
                <a:ea typeface="Scotia" panose="020B0503020203020204" pitchFamily="34" charset="0"/>
                <a:cs typeface="Helvetica"/>
              </a:rPr>
              <a:t>1.3</a:t>
            </a:r>
          </a:p>
        </p:txBody>
      </p:sp>
      <p:sp>
        <p:nvSpPr>
          <p:cNvPr id="56" name="Rectangle: Rounded Corners 75">
            <a:extLst>
              <a:ext uri="{FF2B5EF4-FFF2-40B4-BE49-F238E27FC236}">
                <a16:creationId xmlns:a16="http://schemas.microsoft.com/office/drawing/2014/main" id="{9DB63288-0F76-7AC8-B54F-5258924B0CA0}"/>
              </a:ext>
            </a:extLst>
          </p:cNvPr>
          <p:cNvSpPr/>
          <p:nvPr/>
        </p:nvSpPr>
        <p:spPr>
          <a:xfrm>
            <a:off x="7671996" y="5407278"/>
            <a:ext cx="453892"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333333"/>
                </a:solidFill>
                <a:latin typeface="Scotia" panose="020B0503020203020204" pitchFamily="34" charset="0"/>
                <a:ea typeface="Scotia" panose="020B0503020203020204" pitchFamily="34" charset="0"/>
                <a:cs typeface="Helvetica"/>
              </a:rPr>
              <a:t>1.5</a:t>
            </a:r>
          </a:p>
        </p:txBody>
      </p:sp>
      <p:sp>
        <p:nvSpPr>
          <p:cNvPr id="57" name="Rectangle: Rounded Corners 75">
            <a:extLst>
              <a:ext uri="{FF2B5EF4-FFF2-40B4-BE49-F238E27FC236}">
                <a16:creationId xmlns:a16="http://schemas.microsoft.com/office/drawing/2014/main" id="{E5D16618-532B-0582-560B-40CBDF89620F}"/>
              </a:ext>
            </a:extLst>
          </p:cNvPr>
          <p:cNvSpPr/>
          <p:nvPr/>
        </p:nvSpPr>
        <p:spPr>
          <a:xfrm>
            <a:off x="7671996" y="2757625"/>
            <a:ext cx="453892"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FFFFFF"/>
                </a:solidFill>
                <a:latin typeface="Scotia" panose="020B0503020203020204" pitchFamily="34" charset="0"/>
                <a:ea typeface="Scotia" panose="020B0503020203020204" pitchFamily="34" charset="0"/>
                <a:cs typeface="Helvetica"/>
              </a:rPr>
              <a:t>1.6</a:t>
            </a:r>
          </a:p>
        </p:txBody>
      </p:sp>
      <p:sp>
        <p:nvSpPr>
          <p:cNvPr id="60" name="Rectangle: Rounded Corners 75">
            <a:extLst>
              <a:ext uri="{FF2B5EF4-FFF2-40B4-BE49-F238E27FC236}">
                <a16:creationId xmlns:a16="http://schemas.microsoft.com/office/drawing/2014/main" id="{47E24200-2BBE-8579-1164-70210698E95C}"/>
              </a:ext>
            </a:extLst>
          </p:cNvPr>
          <p:cNvSpPr/>
          <p:nvPr/>
        </p:nvSpPr>
        <p:spPr>
          <a:xfrm>
            <a:off x="7671996" y="5567863"/>
            <a:ext cx="452670"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333333"/>
                </a:solidFill>
                <a:latin typeface="Scotia" panose="020B0503020203020204" pitchFamily="34" charset="0"/>
                <a:ea typeface="Scotia" panose="020B0503020203020204" pitchFamily="34" charset="0"/>
                <a:cs typeface="Helvetica"/>
              </a:rPr>
              <a:t>0.4</a:t>
            </a:r>
          </a:p>
        </p:txBody>
      </p:sp>
      <p:sp>
        <p:nvSpPr>
          <p:cNvPr id="61" name="Elipse 314">
            <a:extLst>
              <a:ext uri="{FF2B5EF4-FFF2-40B4-BE49-F238E27FC236}">
                <a16:creationId xmlns:a16="http://schemas.microsoft.com/office/drawing/2014/main" id="{B210E3F9-17EF-F493-F343-593A64AB3F06}"/>
              </a:ext>
            </a:extLst>
          </p:cNvPr>
          <p:cNvSpPr>
            <a:spLocks noChangeAspect="1"/>
          </p:cNvSpPr>
          <p:nvPr/>
        </p:nvSpPr>
        <p:spPr>
          <a:xfrm>
            <a:off x="9685632" y="2791857"/>
            <a:ext cx="1168853" cy="1141941"/>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JPM Private Bank</a:t>
            </a:r>
          </a:p>
        </p:txBody>
      </p:sp>
      <p:sp>
        <p:nvSpPr>
          <p:cNvPr id="62" name="Elipse 316">
            <a:extLst>
              <a:ext uri="{FF2B5EF4-FFF2-40B4-BE49-F238E27FC236}">
                <a16:creationId xmlns:a16="http://schemas.microsoft.com/office/drawing/2014/main" id="{7E586A44-94B8-A4FB-9791-7C2DAC4EB075}"/>
              </a:ext>
            </a:extLst>
          </p:cNvPr>
          <p:cNvSpPr>
            <a:spLocks noChangeAspect="1"/>
          </p:cNvSpPr>
          <p:nvPr/>
        </p:nvSpPr>
        <p:spPr>
          <a:xfrm>
            <a:off x="10780310" y="2798180"/>
            <a:ext cx="369109" cy="360613"/>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GS</a:t>
            </a:r>
          </a:p>
        </p:txBody>
      </p:sp>
      <p:sp>
        <p:nvSpPr>
          <p:cNvPr id="63" name="Elipse 317">
            <a:extLst>
              <a:ext uri="{FF2B5EF4-FFF2-40B4-BE49-F238E27FC236}">
                <a16:creationId xmlns:a16="http://schemas.microsoft.com/office/drawing/2014/main" id="{626C5681-DA4F-4D0F-194A-C01A2C34CA4F}"/>
              </a:ext>
            </a:extLst>
          </p:cNvPr>
          <p:cNvSpPr>
            <a:spLocks noChangeAspect="1"/>
          </p:cNvSpPr>
          <p:nvPr/>
        </p:nvSpPr>
        <p:spPr>
          <a:xfrm>
            <a:off x="9460055" y="3806968"/>
            <a:ext cx="831708" cy="812562"/>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Merrill Lynch</a:t>
            </a:r>
          </a:p>
        </p:txBody>
      </p:sp>
      <p:sp>
        <p:nvSpPr>
          <p:cNvPr id="64" name="Elipse 318">
            <a:extLst>
              <a:ext uri="{FF2B5EF4-FFF2-40B4-BE49-F238E27FC236}">
                <a16:creationId xmlns:a16="http://schemas.microsoft.com/office/drawing/2014/main" id="{E2F54037-F403-0095-065B-DDDC5E2A3D1B}"/>
              </a:ext>
            </a:extLst>
          </p:cNvPr>
          <p:cNvSpPr>
            <a:spLocks noChangeAspect="1"/>
          </p:cNvSpPr>
          <p:nvPr/>
        </p:nvSpPr>
        <p:spPr>
          <a:xfrm>
            <a:off x="8471979" y="3642752"/>
            <a:ext cx="953538" cy="931582"/>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UBS</a:t>
            </a:r>
          </a:p>
        </p:txBody>
      </p:sp>
      <p:sp>
        <p:nvSpPr>
          <p:cNvPr id="65" name="Elipse 351">
            <a:extLst>
              <a:ext uri="{FF2B5EF4-FFF2-40B4-BE49-F238E27FC236}">
                <a16:creationId xmlns:a16="http://schemas.microsoft.com/office/drawing/2014/main" id="{BD1DA4DC-42A0-50C1-1E5F-EFC11950E8C2}"/>
              </a:ext>
            </a:extLst>
          </p:cNvPr>
          <p:cNvSpPr>
            <a:spLocks noChangeAspect="1"/>
          </p:cNvSpPr>
          <p:nvPr/>
        </p:nvSpPr>
        <p:spPr>
          <a:xfrm>
            <a:off x="10356455" y="3806968"/>
            <a:ext cx="831708" cy="812562"/>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Morgan Stanley</a:t>
            </a:r>
          </a:p>
        </p:txBody>
      </p:sp>
      <p:sp>
        <p:nvSpPr>
          <p:cNvPr id="66" name="Elipse 352">
            <a:extLst>
              <a:ext uri="{FF2B5EF4-FFF2-40B4-BE49-F238E27FC236}">
                <a16:creationId xmlns:a16="http://schemas.microsoft.com/office/drawing/2014/main" id="{B47FB6A0-F07E-4EEE-701E-9B11DB0BECF0}"/>
              </a:ext>
            </a:extLst>
          </p:cNvPr>
          <p:cNvSpPr>
            <a:spLocks noChangeAspect="1"/>
          </p:cNvSpPr>
          <p:nvPr/>
        </p:nvSpPr>
        <p:spPr>
          <a:xfrm>
            <a:off x="9225037" y="5287248"/>
            <a:ext cx="308041" cy="300948"/>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500" kern="0">
                <a:solidFill>
                  <a:srgbClr val="FFFFFF"/>
                </a:solidFill>
                <a:latin typeface="Scotia" panose="020B0503020203020204" pitchFamily="34" charset="0"/>
                <a:ea typeface="Scotia" panose="020B0503020203020204" pitchFamily="34" charset="0"/>
                <a:cs typeface="Helvetica"/>
              </a:rPr>
              <a:t>Citigold</a:t>
            </a:r>
          </a:p>
        </p:txBody>
      </p:sp>
      <p:sp>
        <p:nvSpPr>
          <p:cNvPr id="67" name="Elipse 353">
            <a:extLst>
              <a:ext uri="{FF2B5EF4-FFF2-40B4-BE49-F238E27FC236}">
                <a16:creationId xmlns:a16="http://schemas.microsoft.com/office/drawing/2014/main" id="{9885E543-DB2D-E1C0-62A1-75F2BED01B19}"/>
              </a:ext>
            </a:extLst>
          </p:cNvPr>
          <p:cNvSpPr>
            <a:spLocks noChangeAspect="1"/>
          </p:cNvSpPr>
          <p:nvPr/>
        </p:nvSpPr>
        <p:spPr>
          <a:xfrm>
            <a:off x="9902136" y="5319228"/>
            <a:ext cx="522907" cy="510868"/>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700" kern="0">
                <a:solidFill>
                  <a:srgbClr val="FFFFFF"/>
                </a:solidFill>
                <a:latin typeface="Scotia" panose="020B0503020203020204" pitchFamily="34" charset="0"/>
                <a:ea typeface="Scotia" panose="020B0503020203020204" pitchFamily="34" charset="0"/>
                <a:cs typeface="Helvetica"/>
              </a:rPr>
              <a:t>Insigneo</a:t>
            </a:r>
          </a:p>
        </p:txBody>
      </p:sp>
      <p:sp>
        <p:nvSpPr>
          <p:cNvPr id="68" name="Elipse 355">
            <a:extLst>
              <a:ext uri="{FF2B5EF4-FFF2-40B4-BE49-F238E27FC236}">
                <a16:creationId xmlns:a16="http://schemas.microsoft.com/office/drawing/2014/main" id="{B032E251-13C2-3A07-A8A6-E8A35533D9C3}"/>
              </a:ext>
            </a:extLst>
          </p:cNvPr>
          <p:cNvSpPr>
            <a:spLocks noChangeAspect="1"/>
          </p:cNvSpPr>
          <p:nvPr/>
        </p:nvSpPr>
        <p:spPr>
          <a:xfrm>
            <a:off x="5455908" y="4822814"/>
            <a:ext cx="739298" cy="722277"/>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900" kern="0">
                <a:solidFill>
                  <a:srgbClr val="FFFFFF"/>
                </a:solidFill>
                <a:latin typeface="Scotia" panose="020B0503020203020204" pitchFamily="34" charset="0"/>
                <a:ea typeface="Scotia" panose="020B0503020203020204" pitchFamily="34" charset="0"/>
                <a:cs typeface="Helvetica"/>
              </a:rPr>
              <a:t>Banamex </a:t>
            </a:r>
            <a:r>
              <a:rPr lang="en-US" sz="800" kern="0">
                <a:solidFill>
                  <a:srgbClr val="FFFFFF"/>
                </a:solidFill>
                <a:latin typeface="Scotia" panose="020B0503020203020204" pitchFamily="34" charset="0"/>
                <a:ea typeface="Scotia" panose="020B0503020203020204" pitchFamily="34" charset="0"/>
                <a:cs typeface="Helvetica"/>
              </a:rPr>
              <a:t>Patrimonial</a:t>
            </a:r>
            <a:endParaRPr lang="en-US" sz="900" kern="0">
              <a:solidFill>
                <a:srgbClr val="FFFFFF"/>
              </a:solidFill>
              <a:latin typeface="Scotia" panose="020B0503020203020204" pitchFamily="34" charset="0"/>
              <a:ea typeface="Scotia" panose="020B0503020203020204" pitchFamily="34" charset="0"/>
              <a:cs typeface="Helvetica"/>
            </a:endParaRPr>
          </a:p>
        </p:txBody>
      </p:sp>
      <p:sp>
        <p:nvSpPr>
          <p:cNvPr id="69" name="Elipse 356">
            <a:extLst>
              <a:ext uri="{FF2B5EF4-FFF2-40B4-BE49-F238E27FC236}">
                <a16:creationId xmlns:a16="http://schemas.microsoft.com/office/drawing/2014/main" id="{F0084BDC-1AF9-4902-C933-C815279B0D5F}"/>
              </a:ext>
            </a:extLst>
          </p:cNvPr>
          <p:cNvSpPr>
            <a:spLocks noChangeAspect="1"/>
          </p:cNvSpPr>
          <p:nvPr/>
        </p:nvSpPr>
        <p:spPr>
          <a:xfrm>
            <a:off x="5432080" y="4008442"/>
            <a:ext cx="646884" cy="631993"/>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800" kern="0">
                <a:solidFill>
                  <a:srgbClr val="FFFFFF"/>
                </a:solidFill>
                <a:latin typeface="Scotia" panose="020B0503020203020204" pitchFamily="34" charset="0"/>
                <a:ea typeface="Scotia" panose="020B0503020203020204" pitchFamily="34" charset="0"/>
                <a:cs typeface="Helvetica"/>
              </a:rPr>
              <a:t>Banamex Privada</a:t>
            </a:r>
          </a:p>
        </p:txBody>
      </p:sp>
      <p:sp>
        <p:nvSpPr>
          <p:cNvPr id="70" name="Elipse 357">
            <a:extLst>
              <a:ext uri="{FF2B5EF4-FFF2-40B4-BE49-F238E27FC236}">
                <a16:creationId xmlns:a16="http://schemas.microsoft.com/office/drawing/2014/main" id="{95DDD2EB-4092-D259-A7B6-65316B57521B}"/>
              </a:ext>
            </a:extLst>
          </p:cNvPr>
          <p:cNvSpPr>
            <a:spLocks noChangeAspect="1"/>
          </p:cNvSpPr>
          <p:nvPr/>
        </p:nvSpPr>
        <p:spPr>
          <a:xfrm>
            <a:off x="6254290" y="4822815"/>
            <a:ext cx="677689" cy="662087"/>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700" kern="0">
                <a:solidFill>
                  <a:srgbClr val="FFFFFF"/>
                </a:solidFill>
                <a:latin typeface="Scotia" panose="020B0503020203020204" pitchFamily="34" charset="0"/>
                <a:ea typeface="Scotia" panose="020B0503020203020204" pitchFamily="34" charset="0"/>
                <a:cs typeface="Helvetica"/>
              </a:rPr>
              <a:t>BBVA Patrimonial</a:t>
            </a:r>
          </a:p>
        </p:txBody>
      </p:sp>
      <p:sp>
        <p:nvSpPr>
          <p:cNvPr id="71" name="Elipse 358">
            <a:extLst>
              <a:ext uri="{FF2B5EF4-FFF2-40B4-BE49-F238E27FC236}">
                <a16:creationId xmlns:a16="http://schemas.microsoft.com/office/drawing/2014/main" id="{8EDB099F-1968-EF88-8477-A3EF55DE89CF}"/>
              </a:ext>
            </a:extLst>
          </p:cNvPr>
          <p:cNvSpPr>
            <a:spLocks noChangeAspect="1"/>
          </p:cNvSpPr>
          <p:nvPr/>
        </p:nvSpPr>
        <p:spPr>
          <a:xfrm>
            <a:off x="6198661" y="3763261"/>
            <a:ext cx="707461" cy="691175"/>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900" kern="0">
                <a:solidFill>
                  <a:srgbClr val="FFFFFF"/>
                </a:solidFill>
                <a:latin typeface="Scotia" panose="020B0503020203020204" pitchFamily="34" charset="0"/>
                <a:ea typeface="Scotia" panose="020B0503020203020204" pitchFamily="34" charset="0"/>
                <a:cs typeface="Helvetica"/>
              </a:rPr>
              <a:t>BBVA Privada</a:t>
            </a:r>
          </a:p>
        </p:txBody>
      </p:sp>
      <p:sp>
        <p:nvSpPr>
          <p:cNvPr id="72" name="Elipse 359">
            <a:extLst>
              <a:ext uri="{FF2B5EF4-FFF2-40B4-BE49-F238E27FC236}">
                <a16:creationId xmlns:a16="http://schemas.microsoft.com/office/drawing/2014/main" id="{305B574D-3541-13C9-1BD0-25A445B68704}"/>
              </a:ext>
            </a:extLst>
          </p:cNvPr>
          <p:cNvSpPr>
            <a:spLocks noChangeAspect="1"/>
          </p:cNvSpPr>
          <p:nvPr/>
        </p:nvSpPr>
        <p:spPr>
          <a:xfrm>
            <a:off x="6721742" y="2912221"/>
            <a:ext cx="338844" cy="331044"/>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700" kern="0">
                <a:solidFill>
                  <a:srgbClr val="FFFFFF"/>
                </a:solidFill>
                <a:latin typeface="Scotia" panose="020B0503020203020204" pitchFamily="34" charset="0"/>
                <a:ea typeface="Scotia" panose="020B0503020203020204" pitchFamily="34" charset="0"/>
                <a:cs typeface="Helvetica"/>
              </a:rPr>
              <a:t>BBVA UHN</a:t>
            </a:r>
          </a:p>
        </p:txBody>
      </p:sp>
      <p:sp>
        <p:nvSpPr>
          <p:cNvPr id="73" name="Elipse 360">
            <a:extLst>
              <a:ext uri="{FF2B5EF4-FFF2-40B4-BE49-F238E27FC236}">
                <a16:creationId xmlns:a16="http://schemas.microsoft.com/office/drawing/2014/main" id="{41BECBA4-A03B-AF08-7C0F-289294749572}"/>
              </a:ext>
            </a:extLst>
          </p:cNvPr>
          <p:cNvSpPr>
            <a:spLocks noChangeAspect="1"/>
          </p:cNvSpPr>
          <p:nvPr/>
        </p:nvSpPr>
        <p:spPr>
          <a:xfrm>
            <a:off x="5981604" y="4658981"/>
            <a:ext cx="523668" cy="511614"/>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800" kern="0">
                <a:solidFill>
                  <a:srgbClr val="FFFFFF"/>
                </a:solidFill>
                <a:latin typeface="Scotia" panose="020B0503020203020204" pitchFamily="34" charset="0"/>
                <a:ea typeface="Scotia" panose="020B0503020203020204" pitchFamily="34" charset="0"/>
                <a:cs typeface="Helvetica"/>
              </a:rPr>
              <a:t>Banorte</a:t>
            </a:r>
          </a:p>
        </p:txBody>
      </p:sp>
      <p:sp>
        <p:nvSpPr>
          <p:cNvPr id="74" name="Elipse 362">
            <a:extLst>
              <a:ext uri="{FF2B5EF4-FFF2-40B4-BE49-F238E27FC236}">
                <a16:creationId xmlns:a16="http://schemas.microsoft.com/office/drawing/2014/main" id="{DFEEC7F5-F857-8F85-238A-59960AF73FE3}"/>
              </a:ext>
            </a:extLst>
          </p:cNvPr>
          <p:cNvSpPr>
            <a:spLocks noChangeAspect="1"/>
          </p:cNvSpPr>
          <p:nvPr/>
        </p:nvSpPr>
        <p:spPr>
          <a:xfrm>
            <a:off x="5998659" y="5410451"/>
            <a:ext cx="492866" cy="481518"/>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700" kern="0">
                <a:solidFill>
                  <a:srgbClr val="FFFFFF"/>
                </a:solidFill>
                <a:latin typeface="Scotia" panose="020B0503020203020204" pitchFamily="34" charset="0"/>
                <a:ea typeface="Scotia" panose="020B0503020203020204" pitchFamily="34" charset="0"/>
                <a:cs typeface="Helvetica"/>
              </a:rPr>
              <a:t>Actinver</a:t>
            </a:r>
          </a:p>
        </p:txBody>
      </p:sp>
      <p:sp>
        <p:nvSpPr>
          <p:cNvPr id="77" name="Elipse 369">
            <a:extLst>
              <a:ext uri="{FF2B5EF4-FFF2-40B4-BE49-F238E27FC236}">
                <a16:creationId xmlns:a16="http://schemas.microsoft.com/office/drawing/2014/main" id="{93BA6F4F-4F44-BC39-D934-BD70B29B069C}"/>
              </a:ext>
            </a:extLst>
          </p:cNvPr>
          <p:cNvSpPr>
            <a:spLocks noChangeAspect="1"/>
          </p:cNvSpPr>
          <p:nvPr/>
        </p:nvSpPr>
        <p:spPr>
          <a:xfrm>
            <a:off x="7726812" y="4324742"/>
            <a:ext cx="184555" cy="180306"/>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78" name="Elipse 370">
            <a:extLst>
              <a:ext uri="{FF2B5EF4-FFF2-40B4-BE49-F238E27FC236}">
                <a16:creationId xmlns:a16="http://schemas.microsoft.com/office/drawing/2014/main" id="{8FE334CE-E1F1-A334-CF80-C286DD3A909A}"/>
              </a:ext>
            </a:extLst>
          </p:cNvPr>
          <p:cNvSpPr>
            <a:spLocks noChangeAspect="1"/>
          </p:cNvSpPr>
          <p:nvPr/>
        </p:nvSpPr>
        <p:spPr>
          <a:xfrm>
            <a:off x="7817177" y="4269085"/>
            <a:ext cx="184555" cy="180306"/>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79" name="Rectangle: Rounded Corners 75">
            <a:extLst>
              <a:ext uri="{FF2B5EF4-FFF2-40B4-BE49-F238E27FC236}">
                <a16:creationId xmlns:a16="http://schemas.microsoft.com/office/drawing/2014/main" id="{5C5DAE78-A1AF-3E4B-9E6E-5D0270688512}"/>
              </a:ext>
            </a:extLst>
          </p:cNvPr>
          <p:cNvSpPr/>
          <p:nvPr/>
        </p:nvSpPr>
        <p:spPr>
          <a:xfrm>
            <a:off x="7762385" y="4460514"/>
            <a:ext cx="876482" cy="256677"/>
          </a:xfrm>
          <a:prstGeom prst="roundRect">
            <a:avLst/>
          </a:prstGeom>
          <a:noFill/>
          <a:ln w="12700" cap="flat" cmpd="sng" algn="ctr">
            <a:noFill/>
            <a:prstDash val="solid"/>
            <a:miter lim="800000"/>
          </a:ln>
          <a:effectLst/>
        </p:spPr>
        <p:txBody>
          <a:bodyPr rtlCol="0" anchor="ctr"/>
          <a:lstStyle/>
          <a:p>
            <a:pPr algn="ctr" defTabSz="914411">
              <a:defRPr/>
            </a:pPr>
            <a:r>
              <a:rPr lang="en-US" sz="800" i="1" kern="0">
                <a:solidFill>
                  <a:srgbClr val="333333"/>
                </a:solidFill>
                <a:latin typeface="Scotia" panose="020B0503020203020204" pitchFamily="34" charset="0"/>
                <a:ea typeface="Scotia" panose="020B0503020203020204" pitchFamily="34" charset="0"/>
                <a:cs typeface="Helvetica"/>
              </a:rPr>
              <a:t>MX Ind. </a:t>
            </a:r>
            <a:br>
              <a:rPr lang="en-US" sz="800" i="1" kern="0">
                <a:solidFill>
                  <a:srgbClr val="333333"/>
                </a:solidFill>
                <a:latin typeface="Scotia" panose="020B0503020203020204" pitchFamily="34" charset="0"/>
                <a:ea typeface="Scotia" panose="020B0503020203020204" pitchFamily="34" charset="0"/>
                <a:cs typeface="Helvetica"/>
              </a:rPr>
            </a:br>
            <a:r>
              <a:rPr lang="en-US" sz="800" i="1" kern="0">
                <a:solidFill>
                  <a:srgbClr val="333333"/>
                </a:solidFill>
                <a:latin typeface="Scotia" panose="020B0503020203020204" pitchFamily="34" charset="0"/>
                <a:ea typeface="Scotia" panose="020B0503020203020204" pitchFamily="34" charset="0"/>
                <a:cs typeface="Helvetica"/>
              </a:rPr>
              <a:t>Advisors</a:t>
            </a:r>
            <a:r>
              <a:rPr lang="en-US" sz="800" i="1" kern="0" baseline="30000">
                <a:solidFill>
                  <a:srgbClr val="333333"/>
                </a:solidFill>
                <a:latin typeface="Scotia" panose="020B0503020203020204" pitchFamily="34" charset="0"/>
                <a:ea typeface="Scotia" panose="020B0503020203020204" pitchFamily="34" charset="0"/>
                <a:cs typeface="Helvetica"/>
              </a:rPr>
              <a:t>(1)</a:t>
            </a:r>
          </a:p>
        </p:txBody>
      </p:sp>
      <p:grpSp>
        <p:nvGrpSpPr>
          <p:cNvPr id="82" name="Grupo 376">
            <a:extLst>
              <a:ext uri="{FF2B5EF4-FFF2-40B4-BE49-F238E27FC236}">
                <a16:creationId xmlns:a16="http://schemas.microsoft.com/office/drawing/2014/main" id="{15234154-DD35-3104-D420-86B6E1B5CE4D}"/>
              </a:ext>
            </a:extLst>
          </p:cNvPr>
          <p:cNvGrpSpPr/>
          <p:nvPr/>
        </p:nvGrpSpPr>
        <p:grpSpPr>
          <a:xfrm>
            <a:off x="8427789" y="5474353"/>
            <a:ext cx="353075" cy="239108"/>
            <a:chOff x="4777534" y="5051589"/>
            <a:chExt cx="412632" cy="286436"/>
          </a:xfrm>
        </p:grpSpPr>
        <p:sp>
          <p:nvSpPr>
            <p:cNvPr id="100" name="Elipse 377">
              <a:extLst>
                <a:ext uri="{FF2B5EF4-FFF2-40B4-BE49-F238E27FC236}">
                  <a16:creationId xmlns:a16="http://schemas.microsoft.com/office/drawing/2014/main" id="{6F1E4012-D74C-24BB-E876-F628F956CCBA}"/>
                </a:ext>
              </a:extLst>
            </p:cNvPr>
            <p:cNvSpPr>
              <a:spLocks noChangeAspect="1"/>
            </p:cNvSpPr>
            <p:nvPr/>
          </p:nvSpPr>
          <p:spPr>
            <a:xfrm>
              <a:off x="4805740" y="5072621"/>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01" name="Elipse 379">
              <a:extLst>
                <a:ext uri="{FF2B5EF4-FFF2-40B4-BE49-F238E27FC236}">
                  <a16:creationId xmlns:a16="http://schemas.microsoft.com/office/drawing/2014/main" id="{F15588C4-067F-B7D8-5639-B0739B18A9E9}"/>
                </a:ext>
              </a:extLst>
            </p:cNvPr>
            <p:cNvSpPr>
              <a:spLocks noChangeAspect="1"/>
            </p:cNvSpPr>
            <p:nvPr/>
          </p:nvSpPr>
          <p:spPr>
            <a:xfrm>
              <a:off x="4859928" y="5130985"/>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02" name="Elipse 380">
              <a:extLst>
                <a:ext uri="{FF2B5EF4-FFF2-40B4-BE49-F238E27FC236}">
                  <a16:creationId xmlns:a16="http://schemas.microsoft.com/office/drawing/2014/main" id="{417030AB-EE65-268E-D7C9-A575C7B6D698}"/>
                </a:ext>
              </a:extLst>
            </p:cNvPr>
            <p:cNvSpPr>
              <a:spLocks noChangeAspect="1"/>
            </p:cNvSpPr>
            <p:nvPr/>
          </p:nvSpPr>
          <p:spPr>
            <a:xfrm>
              <a:off x="4777534" y="5145779"/>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03" name="Elipse 381">
              <a:extLst>
                <a:ext uri="{FF2B5EF4-FFF2-40B4-BE49-F238E27FC236}">
                  <a16:creationId xmlns:a16="http://schemas.microsoft.com/office/drawing/2014/main" id="{4DA42AE2-6709-B597-43C0-CFEBF2953541}"/>
                </a:ext>
              </a:extLst>
            </p:cNvPr>
            <p:cNvSpPr>
              <a:spLocks noChangeAspect="1"/>
            </p:cNvSpPr>
            <p:nvPr/>
          </p:nvSpPr>
          <p:spPr>
            <a:xfrm>
              <a:off x="4895237" y="5060215"/>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04" name="Elipse 382">
              <a:extLst>
                <a:ext uri="{FF2B5EF4-FFF2-40B4-BE49-F238E27FC236}">
                  <a16:creationId xmlns:a16="http://schemas.microsoft.com/office/drawing/2014/main" id="{D8144FD0-A403-D7AF-A6A2-84117B0B0E3A}"/>
                </a:ext>
              </a:extLst>
            </p:cNvPr>
            <p:cNvSpPr>
              <a:spLocks noChangeAspect="1"/>
            </p:cNvSpPr>
            <p:nvPr/>
          </p:nvSpPr>
          <p:spPr>
            <a:xfrm>
              <a:off x="4830034" y="5210399"/>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05" name="Elipse 383">
              <a:extLst>
                <a:ext uri="{FF2B5EF4-FFF2-40B4-BE49-F238E27FC236}">
                  <a16:creationId xmlns:a16="http://schemas.microsoft.com/office/drawing/2014/main" id="{0DB4A35E-2FE5-ABDF-1A97-BA8B051CD5D2}"/>
                </a:ext>
              </a:extLst>
            </p:cNvPr>
            <p:cNvSpPr>
              <a:spLocks noChangeAspect="1"/>
            </p:cNvSpPr>
            <p:nvPr/>
          </p:nvSpPr>
          <p:spPr>
            <a:xfrm>
              <a:off x="4905778" y="5193521"/>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08" name="Elipse 384">
              <a:extLst>
                <a:ext uri="{FF2B5EF4-FFF2-40B4-BE49-F238E27FC236}">
                  <a16:creationId xmlns:a16="http://schemas.microsoft.com/office/drawing/2014/main" id="{48A491C2-68C9-CC79-A3B4-2A455F895664}"/>
                </a:ext>
              </a:extLst>
            </p:cNvPr>
            <p:cNvSpPr>
              <a:spLocks noChangeAspect="1"/>
            </p:cNvSpPr>
            <p:nvPr/>
          </p:nvSpPr>
          <p:spPr>
            <a:xfrm>
              <a:off x="4935077" y="5127513"/>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09" name="Elipse 385">
              <a:extLst>
                <a:ext uri="{FF2B5EF4-FFF2-40B4-BE49-F238E27FC236}">
                  <a16:creationId xmlns:a16="http://schemas.microsoft.com/office/drawing/2014/main" id="{1EB63A0C-7F6C-9559-4FC7-0E95B01CF210}"/>
                </a:ext>
              </a:extLst>
            </p:cNvPr>
            <p:cNvSpPr>
              <a:spLocks noChangeAspect="1"/>
            </p:cNvSpPr>
            <p:nvPr/>
          </p:nvSpPr>
          <p:spPr>
            <a:xfrm>
              <a:off x="4978462" y="5051589"/>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10" name="Elipse 386">
              <a:extLst>
                <a:ext uri="{FF2B5EF4-FFF2-40B4-BE49-F238E27FC236}">
                  <a16:creationId xmlns:a16="http://schemas.microsoft.com/office/drawing/2014/main" id="{C8852632-3454-17BE-10CA-BA530E1DEB3E}"/>
                </a:ext>
              </a:extLst>
            </p:cNvPr>
            <p:cNvSpPr>
              <a:spLocks noChangeAspect="1"/>
            </p:cNvSpPr>
            <p:nvPr/>
          </p:nvSpPr>
          <p:spPr>
            <a:xfrm>
              <a:off x="5015783" y="5136324"/>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11" name="Elipse 387">
              <a:extLst>
                <a:ext uri="{FF2B5EF4-FFF2-40B4-BE49-F238E27FC236}">
                  <a16:creationId xmlns:a16="http://schemas.microsoft.com/office/drawing/2014/main" id="{EEBDB3DD-066C-FC90-BD22-52F3FFBCA391}"/>
                </a:ext>
              </a:extLst>
            </p:cNvPr>
            <p:cNvSpPr>
              <a:spLocks noChangeAspect="1"/>
            </p:cNvSpPr>
            <p:nvPr/>
          </p:nvSpPr>
          <p:spPr>
            <a:xfrm>
              <a:off x="4987577" y="5199431"/>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12" name="Elipse 388">
              <a:extLst>
                <a:ext uri="{FF2B5EF4-FFF2-40B4-BE49-F238E27FC236}">
                  <a16:creationId xmlns:a16="http://schemas.microsoft.com/office/drawing/2014/main" id="{6299FD5A-EFCD-1D00-685B-64A9FAFA2053}"/>
                </a:ext>
              </a:extLst>
            </p:cNvPr>
            <p:cNvSpPr>
              <a:spLocks noChangeAspect="1"/>
            </p:cNvSpPr>
            <p:nvPr/>
          </p:nvSpPr>
          <p:spPr>
            <a:xfrm>
              <a:off x="5062665" y="5075800"/>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13" name="Elipse 389">
              <a:extLst>
                <a:ext uri="{FF2B5EF4-FFF2-40B4-BE49-F238E27FC236}">
                  <a16:creationId xmlns:a16="http://schemas.microsoft.com/office/drawing/2014/main" id="{195CDA9C-A378-B26A-17CB-844FCD038D93}"/>
                </a:ext>
              </a:extLst>
            </p:cNvPr>
            <p:cNvSpPr>
              <a:spLocks noChangeAspect="1"/>
            </p:cNvSpPr>
            <p:nvPr/>
          </p:nvSpPr>
          <p:spPr>
            <a:xfrm>
              <a:off x="5069971" y="5182346"/>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14" name="Elipse 390">
              <a:extLst>
                <a:ext uri="{FF2B5EF4-FFF2-40B4-BE49-F238E27FC236}">
                  <a16:creationId xmlns:a16="http://schemas.microsoft.com/office/drawing/2014/main" id="{16160B31-9D0C-79CF-7E1F-200B9E761764}"/>
                </a:ext>
              </a:extLst>
            </p:cNvPr>
            <p:cNvSpPr>
              <a:spLocks noChangeAspect="1"/>
            </p:cNvSpPr>
            <p:nvPr/>
          </p:nvSpPr>
          <p:spPr>
            <a:xfrm>
              <a:off x="4932635" y="5256866"/>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15" name="Elipse 391">
              <a:extLst>
                <a:ext uri="{FF2B5EF4-FFF2-40B4-BE49-F238E27FC236}">
                  <a16:creationId xmlns:a16="http://schemas.microsoft.com/office/drawing/2014/main" id="{389865DC-800C-181B-7B78-57211FA65E75}"/>
                </a:ext>
              </a:extLst>
            </p:cNvPr>
            <p:cNvSpPr>
              <a:spLocks noChangeAspect="1"/>
            </p:cNvSpPr>
            <p:nvPr/>
          </p:nvSpPr>
          <p:spPr>
            <a:xfrm>
              <a:off x="5118166" y="5123597"/>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333333"/>
                </a:solidFill>
                <a:latin typeface="Scotia" panose="020B0503020203020204" pitchFamily="34" charset="0"/>
                <a:ea typeface="Scotia" panose="020B0503020203020204" pitchFamily="34" charset="0"/>
                <a:cs typeface="Helvetica"/>
              </a:endParaRPr>
            </a:p>
          </p:txBody>
        </p:sp>
        <p:sp>
          <p:nvSpPr>
            <p:cNvPr id="116" name="Elipse 392">
              <a:extLst>
                <a:ext uri="{FF2B5EF4-FFF2-40B4-BE49-F238E27FC236}">
                  <a16:creationId xmlns:a16="http://schemas.microsoft.com/office/drawing/2014/main" id="{AAB7E4C7-30B0-BEB2-6C65-C95BFA824AFB}"/>
                </a:ext>
              </a:extLst>
            </p:cNvPr>
            <p:cNvSpPr>
              <a:spLocks noChangeAspect="1"/>
            </p:cNvSpPr>
            <p:nvPr/>
          </p:nvSpPr>
          <p:spPr>
            <a:xfrm>
              <a:off x="5021129" y="5265920"/>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17" name="Elipse 393">
              <a:extLst>
                <a:ext uri="{FF2B5EF4-FFF2-40B4-BE49-F238E27FC236}">
                  <a16:creationId xmlns:a16="http://schemas.microsoft.com/office/drawing/2014/main" id="{F1230C87-A55B-B590-B39F-CED5B5E6B9DC}"/>
                </a:ext>
              </a:extLst>
            </p:cNvPr>
            <p:cNvSpPr>
              <a:spLocks noChangeAspect="1"/>
            </p:cNvSpPr>
            <p:nvPr/>
          </p:nvSpPr>
          <p:spPr>
            <a:xfrm>
              <a:off x="4860596" y="5265919"/>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118" name="Elipse 394">
              <a:extLst>
                <a:ext uri="{FF2B5EF4-FFF2-40B4-BE49-F238E27FC236}">
                  <a16:creationId xmlns:a16="http://schemas.microsoft.com/office/drawing/2014/main" id="{1BB9F134-ADE9-44B4-2768-B2D356D8128D}"/>
                </a:ext>
              </a:extLst>
            </p:cNvPr>
            <p:cNvSpPr>
              <a:spLocks noChangeAspect="1"/>
            </p:cNvSpPr>
            <p:nvPr/>
          </p:nvSpPr>
          <p:spPr>
            <a:xfrm>
              <a:off x="5094069" y="5250903"/>
              <a:ext cx="72000" cy="72105"/>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grpSp>
      <p:sp>
        <p:nvSpPr>
          <p:cNvPr id="83" name="Elipse 395">
            <a:extLst>
              <a:ext uri="{FF2B5EF4-FFF2-40B4-BE49-F238E27FC236}">
                <a16:creationId xmlns:a16="http://schemas.microsoft.com/office/drawing/2014/main" id="{F028FAC5-4456-55BE-6E1C-51C27B264BED}"/>
              </a:ext>
            </a:extLst>
          </p:cNvPr>
          <p:cNvSpPr/>
          <p:nvPr/>
        </p:nvSpPr>
        <p:spPr>
          <a:xfrm rot="2252398">
            <a:off x="8374459" y="5362086"/>
            <a:ext cx="469646" cy="456508"/>
          </a:xfrm>
          <a:prstGeom prst="ellipse">
            <a:avLst/>
          </a:prstGeom>
          <a:noFill/>
          <a:ln w="22225" cap="flat" cmpd="sng" algn="ctr">
            <a:solidFill>
              <a:srgbClr val="FFFFFF">
                <a:lumMod val="50000"/>
              </a:srgbClr>
            </a:solidFill>
            <a:prstDash val="sysDot"/>
            <a:miter lim="800000"/>
          </a:ln>
          <a:effectLst/>
        </p:spPr>
        <p:txBody>
          <a:bodyPr rtlCol="0" anchor="ctr"/>
          <a:lstStyle/>
          <a:p>
            <a:pPr algn="ctr" defTabSz="914411">
              <a:defRPr/>
            </a:pPr>
            <a:endParaRPr lang="en-US" sz="1801" kern="0">
              <a:solidFill>
                <a:srgbClr val="FFFFFF"/>
              </a:solidFill>
              <a:latin typeface="Calibri"/>
              <a:cs typeface="Helvetica"/>
            </a:endParaRPr>
          </a:p>
        </p:txBody>
      </p:sp>
      <p:sp>
        <p:nvSpPr>
          <p:cNvPr id="84" name="Rectangle: Rounded Corners 75">
            <a:extLst>
              <a:ext uri="{FF2B5EF4-FFF2-40B4-BE49-F238E27FC236}">
                <a16:creationId xmlns:a16="http://schemas.microsoft.com/office/drawing/2014/main" id="{70A5F51E-8D82-E37E-8218-6DE4AAD988DE}"/>
              </a:ext>
            </a:extLst>
          </p:cNvPr>
          <p:cNvSpPr/>
          <p:nvPr/>
        </p:nvSpPr>
        <p:spPr>
          <a:xfrm>
            <a:off x="8069965" y="5053533"/>
            <a:ext cx="1155070" cy="256677"/>
          </a:xfrm>
          <a:prstGeom prst="roundRect">
            <a:avLst/>
          </a:prstGeom>
          <a:noFill/>
          <a:ln w="12700" cap="flat" cmpd="sng" algn="ctr">
            <a:noFill/>
            <a:prstDash val="solid"/>
            <a:miter lim="800000"/>
          </a:ln>
          <a:effectLst/>
        </p:spPr>
        <p:txBody>
          <a:bodyPr rtlCol="0" anchor="ctr"/>
          <a:lstStyle/>
          <a:p>
            <a:pPr algn="ctr" defTabSz="914411">
              <a:defRPr/>
            </a:pPr>
            <a:r>
              <a:rPr lang="en-US" sz="800" i="1" kern="0">
                <a:solidFill>
                  <a:srgbClr val="333333"/>
                </a:solidFill>
                <a:latin typeface="Scotia" panose="020B0503020203020204" pitchFamily="34" charset="0"/>
                <a:ea typeface="Scotia" panose="020B0503020203020204" pitchFamily="34" charset="0"/>
                <a:cs typeface="Helvetica"/>
              </a:rPr>
              <a:t>Small local players &amp; IRAs (i.e. Fl, Tx, Cal)</a:t>
            </a:r>
          </a:p>
        </p:txBody>
      </p:sp>
      <p:sp>
        <p:nvSpPr>
          <p:cNvPr id="85" name="Elipse 402">
            <a:extLst>
              <a:ext uri="{FF2B5EF4-FFF2-40B4-BE49-F238E27FC236}">
                <a16:creationId xmlns:a16="http://schemas.microsoft.com/office/drawing/2014/main" id="{3774047C-AFA0-0C9A-846E-597EFD9F800A}"/>
              </a:ext>
            </a:extLst>
          </p:cNvPr>
          <p:cNvSpPr>
            <a:spLocks noChangeAspect="1"/>
          </p:cNvSpPr>
          <p:nvPr/>
        </p:nvSpPr>
        <p:spPr>
          <a:xfrm>
            <a:off x="10442267" y="5478250"/>
            <a:ext cx="431257" cy="421330"/>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800" kern="0">
                <a:solidFill>
                  <a:srgbClr val="FFFFFF"/>
                </a:solidFill>
                <a:latin typeface="Scotia" panose="020B0503020203020204" pitchFamily="34" charset="0"/>
                <a:ea typeface="Scotia" panose="020B0503020203020204" pitchFamily="34" charset="0"/>
                <a:cs typeface="Helvetica"/>
              </a:rPr>
              <a:t>Bolton</a:t>
            </a:r>
          </a:p>
        </p:txBody>
      </p:sp>
      <p:sp>
        <p:nvSpPr>
          <p:cNvPr id="86" name="Rectangle: Rounded Corners 75">
            <a:extLst>
              <a:ext uri="{FF2B5EF4-FFF2-40B4-BE49-F238E27FC236}">
                <a16:creationId xmlns:a16="http://schemas.microsoft.com/office/drawing/2014/main" id="{7D306A7F-C00E-E329-3449-163D2A2C0CFC}"/>
              </a:ext>
            </a:extLst>
          </p:cNvPr>
          <p:cNvSpPr/>
          <p:nvPr/>
        </p:nvSpPr>
        <p:spPr>
          <a:xfrm>
            <a:off x="5311221" y="4649748"/>
            <a:ext cx="492750" cy="256677"/>
          </a:xfrm>
          <a:prstGeom prst="roundRect">
            <a:avLst/>
          </a:prstGeom>
          <a:noFill/>
          <a:ln w="12700" cap="flat" cmpd="sng" algn="ctr">
            <a:noFill/>
            <a:prstDash val="solid"/>
            <a:miter lim="800000"/>
          </a:ln>
          <a:effectLst/>
        </p:spPr>
        <p:txBody>
          <a:bodyPr rtlCol="0" anchor="ctr"/>
          <a:lstStyle/>
          <a:p>
            <a:pPr algn="ctr" defTabSz="914411">
              <a:defRPr/>
            </a:pPr>
            <a:r>
              <a:rPr lang="en-US" sz="1001" kern="0">
                <a:solidFill>
                  <a:srgbClr val="333333"/>
                </a:solidFill>
                <a:latin typeface="Scotia" panose="020B0503020203020204" pitchFamily="34" charset="0"/>
                <a:ea typeface="Scotia" panose="020B0503020203020204" pitchFamily="34" charset="0"/>
                <a:cs typeface="Helvetica"/>
              </a:rPr>
              <a:t>1.0</a:t>
            </a:r>
          </a:p>
        </p:txBody>
      </p:sp>
      <p:sp>
        <p:nvSpPr>
          <p:cNvPr id="87" name="Rectangle: Rounded Corners 75">
            <a:extLst>
              <a:ext uri="{FF2B5EF4-FFF2-40B4-BE49-F238E27FC236}">
                <a16:creationId xmlns:a16="http://schemas.microsoft.com/office/drawing/2014/main" id="{0C3CA4E7-9F47-221A-5F14-C99CF97A4699}"/>
              </a:ext>
            </a:extLst>
          </p:cNvPr>
          <p:cNvSpPr/>
          <p:nvPr/>
        </p:nvSpPr>
        <p:spPr>
          <a:xfrm rot="16200000">
            <a:off x="4758399" y="3692905"/>
            <a:ext cx="1000101" cy="258576"/>
          </a:xfrm>
          <a:prstGeom prst="roundRect">
            <a:avLst/>
          </a:prstGeom>
          <a:noFill/>
          <a:ln w="12700" cap="flat" cmpd="sng" algn="ctr">
            <a:noFill/>
            <a:prstDash val="solid"/>
            <a:miter lim="800000"/>
          </a:ln>
          <a:effectLst/>
        </p:spPr>
        <p:txBody>
          <a:bodyPr rtlCol="0" anchor="ctr"/>
          <a:lstStyle/>
          <a:p>
            <a:pPr algn="ctr" defTabSz="914411">
              <a:defRPr/>
            </a:pPr>
            <a:r>
              <a:rPr lang="en-US" sz="1100" kern="0">
                <a:solidFill>
                  <a:srgbClr val="EC111A">
                    <a:lumMod val="20000"/>
                    <a:lumOff val="80000"/>
                  </a:srgbClr>
                </a:solidFill>
                <a:latin typeface="Scotia" panose="020B0503020203020204" pitchFamily="34" charset="0"/>
                <a:ea typeface="Scotia" panose="020B0503020203020204" pitchFamily="34" charset="0"/>
                <a:cs typeface="Helvetica"/>
              </a:rPr>
              <a:t>HNW</a:t>
            </a:r>
          </a:p>
        </p:txBody>
      </p:sp>
      <p:sp>
        <p:nvSpPr>
          <p:cNvPr id="88" name="Rectangle: Rounded Corners 75">
            <a:extLst>
              <a:ext uri="{FF2B5EF4-FFF2-40B4-BE49-F238E27FC236}">
                <a16:creationId xmlns:a16="http://schemas.microsoft.com/office/drawing/2014/main" id="{395C8CF1-EED2-A6A1-06B0-AC55853A6BBB}"/>
              </a:ext>
            </a:extLst>
          </p:cNvPr>
          <p:cNvSpPr/>
          <p:nvPr/>
        </p:nvSpPr>
        <p:spPr>
          <a:xfrm rot="16200000">
            <a:off x="4758399" y="5251979"/>
            <a:ext cx="1000101" cy="258576"/>
          </a:xfrm>
          <a:prstGeom prst="roundRect">
            <a:avLst/>
          </a:prstGeom>
          <a:noFill/>
          <a:ln w="12700" cap="flat" cmpd="sng" algn="ctr">
            <a:noFill/>
            <a:prstDash val="solid"/>
            <a:miter lim="800000"/>
          </a:ln>
          <a:effectLst/>
        </p:spPr>
        <p:txBody>
          <a:bodyPr rtlCol="0" anchor="ctr"/>
          <a:lstStyle/>
          <a:p>
            <a:pPr algn="ctr" defTabSz="914411">
              <a:defRPr/>
            </a:pPr>
            <a:r>
              <a:rPr lang="en-US" sz="1100" kern="0">
                <a:solidFill>
                  <a:srgbClr val="D6D7D9"/>
                </a:solidFill>
                <a:latin typeface="Scotia" panose="020B0503020203020204" pitchFamily="34" charset="0"/>
                <a:ea typeface="Scotia" panose="020B0503020203020204" pitchFamily="34" charset="0"/>
                <a:cs typeface="Helvetica"/>
              </a:rPr>
              <a:t>EHNW</a:t>
            </a:r>
          </a:p>
        </p:txBody>
      </p:sp>
      <p:sp>
        <p:nvSpPr>
          <p:cNvPr id="89" name="TextBox 88">
            <a:extLst>
              <a:ext uri="{FF2B5EF4-FFF2-40B4-BE49-F238E27FC236}">
                <a16:creationId xmlns:a16="http://schemas.microsoft.com/office/drawing/2014/main" id="{D3A68038-BF13-2C0D-FB8F-499486533A0E}"/>
              </a:ext>
            </a:extLst>
          </p:cNvPr>
          <p:cNvSpPr txBox="1"/>
          <p:nvPr/>
        </p:nvSpPr>
        <p:spPr>
          <a:xfrm>
            <a:off x="6488087" y="2573197"/>
            <a:ext cx="1421365" cy="246349"/>
          </a:xfrm>
          <a:prstGeom prst="rect">
            <a:avLst/>
          </a:prstGeom>
          <a:noFill/>
        </p:spPr>
        <p:txBody>
          <a:bodyPr wrap="square">
            <a:spAutoFit/>
          </a:bodyPr>
          <a:lstStyle/>
          <a:p>
            <a:pPr algn="ctr" defTabSz="914367">
              <a:defRPr/>
            </a:pPr>
            <a:r>
              <a:rPr lang="en-US" sz="1001" spc="201">
                <a:solidFill>
                  <a:srgbClr val="000000"/>
                </a:solidFill>
                <a:latin typeface="Scotia"/>
              </a:rPr>
              <a:t>ONSHORE</a:t>
            </a:r>
          </a:p>
        </p:txBody>
      </p:sp>
      <p:sp>
        <p:nvSpPr>
          <p:cNvPr id="90" name="TextBox 89">
            <a:extLst>
              <a:ext uri="{FF2B5EF4-FFF2-40B4-BE49-F238E27FC236}">
                <a16:creationId xmlns:a16="http://schemas.microsoft.com/office/drawing/2014/main" id="{4825867B-36A2-0F73-FC65-7B356110B790}"/>
              </a:ext>
            </a:extLst>
          </p:cNvPr>
          <p:cNvSpPr txBox="1"/>
          <p:nvPr/>
        </p:nvSpPr>
        <p:spPr>
          <a:xfrm>
            <a:off x="7654318" y="2573197"/>
            <a:ext cx="1421365" cy="246349"/>
          </a:xfrm>
          <a:prstGeom prst="rect">
            <a:avLst/>
          </a:prstGeom>
          <a:noFill/>
        </p:spPr>
        <p:txBody>
          <a:bodyPr wrap="square">
            <a:spAutoFit/>
          </a:bodyPr>
          <a:lstStyle/>
          <a:p>
            <a:pPr algn="ctr" defTabSz="914367">
              <a:defRPr/>
            </a:pPr>
            <a:r>
              <a:rPr lang="en-US" sz="1001" spc="201">
                <a:solidFill>
                  <a:srgbClr val="000000"/>
                </a:solidFill>
                <a:latin typeface="Scotia"/>
              </a:rPr>
              <a:t>OFFSHORE</a:t>
            </a:r>
          </a:p>
        </p:txBody>
      </p:sp>
      <p:cxnSp>
        <p:nvCxnSpPr>
          <p:cNvPr id="91" name="Conector recto 301">
            <a:extLst>
              <a:ext uri="{FF2B5EF4-FFF2-40B4-BE49-F238E27FC236}">
                <a16:creationId xmlns:a16="http://schemas.microsoft.com/office/drawing/2014/main" id="{642842AC-4421-0533-E874-F93EAD829C55}"/>
              </a:ext>
            </a:extLst>
          </p:cNvPr>
          <p:cNvCxnSpPr>
            <a:cxnSpLocks/>
          </p:cNvCxnSpPr>
          <p:nvPr>
            <p:custDataLst>
              <p:tags r:id="rId7"/>
            </p:custDataLst>
          </p:nvPr>
        </p:nvCxnSpPr>
        <p:spPr bwMode="auto">
          <a:xfrm flipV="1">
            <a:off x="7731820" y="2800726"/>
            <a:ext cx="0" cy="3209348"/>
          </a:xfrm>
          <a:prstGeom prst="line">
            <a:avLst/>
          </a:prstGeom>
          <a:noFill/>
          <a:ln w="6350" cap="flat" cmpd="sng" algn="ctr">
            <a:solidFill>
              <a:schemeClr val="bg2">
                <a:lumMod val="75000"/>
              </a:schemeClr>
            </a:solidFill>
            <a:prstDash val="solid"/>
            <a:miter lim="800000"/>
            <a:headEnd type="none" w="med" len="med"/>
            <a:tailEnd type="none" w="med" len="med"/>
          </a:ln>
          <a:effectLst/>
        </p:spPr>
      </p:cxnSp>
      <p:sp>
        <p:nvSpPr>
          <p:cNvPr id="92" name="Elipse 315">
            <a:extLst>
              <a:ext uri="{FF2B5EF4-FFF2-40B4-BE49-F238E27FC236}">
                <a16:creationId xmlns:a16="http://schemas.microsoft.com/office/drawing/2014/main" id="{646E0C27-DF81-5D22-B8FE-818B19F4CEC9}"/>
              </a:ext>
            </a:extLst>
          </p:cNvPr>
          <p:cNvSpPr>
            <a:spLocks noChangeAspect="1"/>
          </p:cNvSpPr>
          <p:nvPr/>
        </p:nvSpPr>
        <p:spPr>
          <a:xfrm>
            <a:off x="7654316" y="2910203"/>
            <a:ext cx="1015058" cy="991685"/>
          </a:xfrm>
          <a:prstGeom prst="ellipse">
            <a:avLst/>
          </a:prstGeom>
          <a:solidFill>
            <a:schemeClr val="bg1">
              <a:lumMod val="6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1051" kern="0">
                <a:solidFill>
                  <a:srgbClr val="FFFFFF"/>
                </a:solidFill>
                <a:latin typeface="Scotia" panose="020B0503020203020204" pitchFamily="34" charset="0"/>
                <a:ea typeface="Scotia" panose="020B0503020203020204" pitchFamily="34" charset="0"/>
                <a:cs typeface="Helvetica"/>
              </a:rPr>
              <a:t>Citi Private Bank</a:t>
            </a:r>
          </a:p>
        </p:txBody>
      </p:sp>
      <p:sp>
        <p:nvSpPr>
          <p:cNvPr id="93" name="Elipse 368">
            <a:extLst>
              <a:ext uri="{FF2B5EF4-FFF2-40B4-BE49-F238E27FC236}">
                <a16:creationId xmlns:a16="http://schemas.microsoft.com/office/drawing/2014/main" id="{536EE090-F9D5-6095-7628-1DFBF0FA4D50}"/>
              </a:ext>
            </a:extLst>
          </p:cNvPr>
          <p:cNvSpPr>
            <a:spLocks noChangeAspect="1"/>
          </p:cNvSpPr>
          <p:nvPr/>
        </p:nvSpPr>
        <p:spPr>
          <a:xfrm>
            <a:off x="7686407" y="4245233"/>
            <a:ext cx="184555" cy="180306"/>
          </a:xfrm>
          <a:prstGeom prst="ellipse">
            <a:avLst/>
          </a:prstGeom>
          <a:solidFill>
            <a:schemeClr val="bg1">
              <a:lumMod val="75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500" kern="0">
              <a:solidFill>
                <a:srgbClr val="FFFFFF"/>
              </a:solidFill>
              <a:latin typeface="Scotia" panose="020B0503020203020204" pitchFamily="34" charset="0"/>
              <a:ea typeface="Scotia" panose="020B0503020203020204" pitchFamily="34" charset="0"/>
              <a:cs typeface="Helvetica"/>
            </a:endParaRPr>
          </a:p>
        </p:txBody>
      </p:sp>
      <p:sp>
        <p:nvSpPr>
          <p:cNvPr id="94" name="Elipse 363">
            <a:extLst>
              <a:ext uri="{FF2B5EF4-FFF2-40B4-BE49-F238E27FC236}">
                <a16:creationId xmlns:a16="http://schemas.microsoft.com/office/drawing/2014/main" id="{238D1693-F019-F0CB-7A87-4416FDE1F19F}"/>
              </a:ext>
            </a:extLst>
          </p:cNvPr>
          <p:cNvSpPr>
            <a:spLocks noChangeAspect="1"/>
          </p:cNvSpPr>
          <p:nvPr/>
        </p:nvSpPr>
        <p:spPr>
          <a:xfrm>
            <a:off x="7422683" y="3936171"/>
            <a:ext cx="338844" cy="331044"/>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r>
              <a:rPr lang="en-US" sz="700" kern="0">
                <a:solidFill>
                  <a:srgbClr val="FFFFFF"/>
                </a:solidFill>
                <a:latin typeface="Scotia" panose="020B0503020203020204" pitchFamily="34" charset="0"/>
                <a:ea typeface="Scotia" panose="020B0503020203020204" pitchFamily="34" charset="0"/>
                <a:cs typeface="Helvetica"/>
              </a:rPr>
              <a:t>HSBC</a:t>
            </a:r>
          </a:p>
        </p:txBody>
      </p:sp>
      <p:sp>
        <p:nvSpPr>
          <p:cNvPr id="95" name="Elipse 371">
            <a:extLst>
              <a:ext uri="{FF2B5EF4-FFF2-40B4-BE49-F238E27FC236}">
                <a16:creationId xmlns:a16="http://schemas.microsoft.com/office/drawing/2014/main" id="{A89F402D-BAAB-E008-9D0B-FCE64FC37064}"/>
              </a:ext>
            </a:extLst>
          </p:cNvPr>
          <p:cNvSpPr/>
          <p:nvPr/>
        </p:nvSpPr>
        <p:spPr>
          <a:xfrm rot="2252398">
            <a:off x="7678147" y="4144128"/>
            <a:ext cx="403275" cy="428514"/>
          </a:xfrm>
          <a:prstGeom prst="ellipse">
            <a:avLst/>
          </a:prstGeom>
          <a:noFill/>
          <a:ln w="22225" cap="flat" cmpd="sng" algn="ctr">
            <a:solidFill>
              <a:srgbClr val="FFFFFF">
                <a:lumMod val="50000"/>
              </a:srgbClr>
            </a:solidFill>
            <a:prstDash val="sysDot"/>
            <a:miter lim="800000"/>
          </a:ln>
          <a:effectLst/>
        </p:spPr>
        <p:txBody>
          <a:bodyPr rtlCol="0" anchor="ctr"/>
          <a:lstStyle/>
          <a:p>
            <a:pPr algn="ctr" defTabSz="914411">
              <a:defRPr/>
            </a:pPr>
            <a:endParaRPr lang="en-US" sz="1801" kern="0">
              <a:solidFill>
                <a:srgbClr val="FFFFFF"/>
              </a:solidFill>
              <a:latin typeface="Calibri"/>
              <a:cs typeface="Helvetica"/>
            </a:endParaRPr>
          </a:p>
        </p:txBody>
      </p:sp>
      <p:sp>
        <p:nvSpPr>
          <p:cNvPr id="96" name="Elipse 354">
            <a:extLst>
              <a:ext uri="{FF2B5EF4-FFF2-40B4-BE49-F238E27FC236}">
                <a16:creationId xmlns:a16="http://schemas.microsoft.com/office/drawing/2014/main" id="{871211C8-328B-7E56-F8E9-212E8CD92DB9}"/>
              </a:ext>
            </a:extLst>
          </p:cNvPr>
          <p:cNvSpPr>
            <a:spLocks noChangeAspect="1"/>
          </p:cNvSpPr>
          <p:nvPr/>
        </p:nvSpPr>
        <p:spPr>
          <a:xfrm>
            <a:off x="7066778" y="4312977"/>
            <a:ext cx="757268" cy="691175"/>
          </a:xfrm>
          <a:prstGeom prst="ellipse">
            <a:avLst/>
          </a:prstGeom>
          <a:solidFill>
            <a:schemeClr val="bg1">
              <a:lumMod val="50000"/>
            </a:schemeClr>
          </a:solidFill>
          <a:ln w="12700" cap="flat" cmpd="sng" algn="ctr">
            <a:solidFill>
              <a:srgbClr val="FFFFFF">
                <a:lumMod val="95000"/>
              </a:srgbClr>
            </a:solidFill>
            <a:prstDash val="solid"/>
            <a:miter lim="800000"/>
          </a:ln>
          <a:effectLst/>
        </p:spPr>
        <p:txBody>
          <a:bodyPr wrap="square" lIns="0" tIns="0" rIns="0" bIns="0" rtlCol="0" anchor="t" anchorCtr="0"/>
          <a:lstStyle/>
          <a:p>
            <a:pPr algn="ctr" defTabSz="914411">
              <a:defRPr/>
            </a:pPr>
            <a:r>
              <a:rPr lang="en-US" sz="900" kern="0">
                <a:solidFill>
                  <a:srgbClr val="FFFFFF"/>
                </a:solidFill>
                <a:latin typeface="Scotia" panose="020B0503020203020204" pitchFamily="34" charset="0"/>
                <a:ea typeface="Scotia" panose="020B0503020203020204" pitchFamily="34" charset="0"/>
                <a:cs typeface="Helvetica"/>
              </a:rPr>
              <a:t>Santander</a:t>
            </a:r>
          </a:p>
        </p:txBody>
      </p:sp>
      <p:sp>
        <p:nvSpPr>
          <p:cNvPr id="97" name="Elipse 361">
            <a:extLst>
              <a:ext uri="{FF2B5EF4-FFF2-40B4-BE49-F238E27FC236}">
                <a16:creationId xmlns:a16="http://schemas.microsoft.com/office/drawing/2014/main" id="{BFEFCA46-6FFD-DBC9-2B2B-38D14302553A}"/>
              </a:ext>
            </a:extLst>
          </p:cNvPr>
          <p:cNvSpPr>
            <a:spLocks noChangeAspect="1"/>
          </p:cNvSpPr>
          <p:nvPr/>
        </p:nvSpPr>
        <p:spPr>
          <a:xfrm>
            <a:off x="7211445" y="4527966"/>
            <a:ext cx="615186" cy="601020"/>
          </a:xfrm>
          <a:prstGeom prst="ellipse">
            <a:avLst/>
          </a:prstGeom>
          <a:solidFill>
            <a:srgbClr val="E41C22"/>
          </a:solidFill>
          <a:ln w="12700" cap="flat" cmpd="sng" algn="ctr">
            <a:solidFill>
              <a:srgbClr val="FFFFFF">
                <a:lumMod val="95000"/>
              </a:srgbClr>
            </a:solidFill>
            <a:prstDash val="solid"/>
            <a:miter lim="800000"/>
          </a:ln>
          <a:effectLst/>
        </p:spPr>
        <p:txBody>
          <a:bodyPr wrap="square" lIns="0" tIns="0" rIns="0" bIns="0" rtlCol="0" anchor="ctr"/>
          <a:lstStyle/>
          <a:p>
            <a:pPr algn="ctr" defTabSz="914411">
              <a:defRPr/>
            </a:pPr>
            <a:endParaRPr lang="en-US" sz="900" kern="0">
              <a:solidFill>
                <a:srgbClr val="FFFFFF"/>
              </a:solidFill>
              <a:latin typeface="Scotia" panose="020B0503020203020204" pitchFamily="34" charset="0"/>
              <a:ea typeface="Scotia" panose="020B0503020203020204" pitchFamily="34" charset="0"/>
              <a:cs typeface="Helvetica"/>
            </a:endParaRPr>
          </a:p>
          <a:p>
            <a:pPr algn="ctr" defTabSz="914411">
              <a:defRPr/>
            </a:pPr>
            <a:endParaRPr lang="en-US" sz="900" kern="0">
              <a:solidFill>
                <a:srgbClr val="FFFFFF"/>
              </a:solidFill>
              <a:latin typeface="Scotia" panose="020B0503020203020204" pitchFamily="34" charset="0"/>
              <a:ea typeface="Scotia" panose="020B0503020203020204" pitchFamily="34" charset="0"/>
              <a:cs typeface="Helvetica"/>
            </a:endParaRPr>
          </a:p>
          <a:p>
            <a:pPr algn="ctr" defTabSz="914411">
              <a:defRPr/>
            </a:pPr>
            <a:r>
              <a:rPr lang="en-US" sz="900" kern="0">
                <a:solidFill>
                  <a:srgbClr val="FFFFFF"/>
                </a:solidFill>
                <a:latin typeface="Scotia" panose="020B0503020203020204" pitchFamily="34" charset="0"/>
                <a:ea typeface="Scotia" panose="020B0503020203020204" pitchFamily="34" charset="0"/>
                <a:cs typeface="Helvetica"/>
              </a:rPr>
              <a:t>Scotia</a:t>
            </a:r>
          </a:p>
        </p:txBody>
      </p:sp>
      <p:sp>
        <p:nvSpPr>
          <p:cNvPr id="98" name="Rectangle: Rounded Corners 75">
            <a:extLst>
              <a:ext uri="{FF2B5EF4-FFF2-40B4-BE49-F238E27FC236}">
                <a16:creationId xmlns:a16="http://schemas.microsoft.com/office/drawing/2014/main" id="{BEC40E2D-4878-774E-D03D-7DF09904EF05}"/>
              </a:ext>
            </a:extLst>
          </p:cNvPr>
          <p:cNvSpPr/>
          <p:nvPr/>
        </p:nvSpPr>
        <p:spPr>
          <a:xfrm>
            <a:off x="8493725" y="5798291"/>
            <a:ext cx="2775358" cy="285698"/>
          </a:xfrm>
          <a:prstGeom prst="roundRect">
            <a:avLst/>
          </a:prstGeom>
          <a:noFill/>
          <a:ln w="12700" cap="flat" cmpd="sng" algn="ctr">
            <a:noFill/>
            <a:prstDash val="solid"/>
            <a:miter lim="800000"/>
          </a:ln>
          <a:effectLst/>
        </p:spPr>
        <p:txBody>
          <a:bodyPr rtlCol="0" anchor="ctr"/>
          <a:lstStyle/>
          <a:p>
            <a:pPr algn="r" defTabSz="914411">
              <a:defRPr/>
            </a:pPr>
            <a:r>
              <a:rPr lang="en-US" sz="1001" i="1" kern="0">
                <a:solidFill>
                  <a:srgbClr val="333333"/>
                </a:solidFill>
                <a:latin typeface="Scotia" panose="020B0503020203020204" pitchFamily="34" charset="0"/>
                <a:ea typeface="Scotia" panose="020B0503020203020204" pitchFamily="34" charset="0"/>
                <a:cs typeface="Helvetica"/>
              </a:rPr>
              <a:t>Size of bubble = Estimated MX Client Assets </a:t>
            </a:r>
          </a:p>
        </p:txBody>
      </p:sp>
      <p:cxnSp>
        <p:nvCxnSpPr>
          <p:cNvPr id="99" name="Straight Arrow Connector 98">
            <a:extLst>
              <a:ext uri="{FF2B5EF4-FFF2-40B4-BE49-F238E27FC236}">
                <a16:creationId xmlns:a16="http://schemas.microsoft.com/office/drawing/2014/main" id="{9C7A457B-BD71-F8FB-2F02-2EC596D64C44}"/>
              </a:ext>
            </a:extLst>
          </p:cNvPr>
          <p:cNvCxnSpPr>
            <a:cxnSpLocks/>
          </p:cNvCxnSpPr>
          <p:nvPr/>
        </p:nvCxnSpPr>
        <p:spPr>
          <a:xfrm>
            <a:off x="7826631" y="4832300"/>
            <a:ext cx="299257" cy="0"/>
          </a:xfrm>
          <a:prstGeom prst="straightConnector1">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grpSp>
        <p:nvGrpSpPr>
          <p:cNvPr id="127" name="Group 4">
            <a:extLst>
              <a:ext uri="{FF2B5EF4-FFF2-40B4-BE49-F238E27FC236}">
                <a16:creationId xmlns:a16="http://schemas.microsoft.com/office/drawing/2014/main" id="{9F0391E7-4FF0-7A0C-9D08-5313798A0BAB}"/>
              </a:ext>
            </a:extLst>
          </p:cNvPr>
          <p:cNvGrpSpPr>
            <a:grpSpLocks noChangeAspect="1"/>
          </p:cNvGrpSpPr>
          <p:nvPr/>
        </p:nvGrpSpPr>
        <p:grpSpPr bwMode="auto">
          <a:xfrm>
            <a:off x="7413570" y="4646456"/>
            <a:ext cx="210937" cy="231594"/>
            <a:chOff x="7312" y="4020"/>
            <a:chExt cx="143" cy="157"/>
          </a:xfrm>
          <a:solidFill>
            <a:schemeClr val="bg1"/>
          </a:solidFill>
        </p:grpSpPr>
        <p:sp>
          <p:nvSpPr>
            <p:cNvPr id="192" name="Freeform 5">
              <a:extLst>
                <a:ext uri="{FF2B5EF4-FFF2-40B4-BE49-F238E27FC236}">
                  <a16:creationId xmlns:a16="http://schemas.microsoft.com/office/drawing/2014/main" id="{D174F428-A4E2-4445-A48E-4031D5A60217}"/>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401">
                <a:solidFill>
                  <a:prstClr val="black"/>
                </a:solidFill>
                <a:latin typeface="Scotia"/>
              </a:endParaRPr>
            </a:p>
          </p:txBody>
        </p:sp>
        <p:sp>
          <p:nvSpPr>
            <p:cNvPr id="193" name="Freeform 6">
              <a:extLst>
                <a:ext uri="{FF2B5EF4-FFF2-40B4-BE49-F238E27FC236}">
                  <a16:creationId xmlns:a16="http://schemas.microsoft.com/office/drawing/2014/main" id="{B55E2B28-0DDB-C27E-4371-FBD1886CBFF6}"/>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401">
                <a:solidFill>
                  <a:prstClr val="black"/>
                </a:solidFill>
                <a:latin typeface="Scotia"/>
              </a:endParaRPr>
            </a:p>
          </p:txBody>
        </p:sp>
        <p:sp>
          <p:nvSpPr>
            <p:cNvPr id="194" name="Oval 7">
              <a:extLst>
                <a:ext uri="{FF2B5EF4-FFF2-40B4-BE49-F238E27FC236}">
                  <a16:creationId xmlns:a16="http://schemas.microsoft.com/office/drawing/2014/main" id="{DD659462-14C5-6D2A-E4ED-81229B65FAFC}"/>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914367">
                <a:defRPr/>
              </a:pPr>
              <a:endParaRPr lang="en-US" sz="1401">
                <a:solidFill>
                  <a:prstClr val="black"/>
                </a:solidFill>
                <a:latin typeface="Scotia"/>
              </a:endParaRPr>
            </a:p>
          </p:txBody>
        </p:sp>
      </p:grpSp>
      <p:sp>
        <p:nvSpPr>
          <p:cNvPr id="4" name="Text Placeholder 6">
            <a:extLst>
              <a:ext uri="{FF2B5EF4-FFF2-40B4-BE49-F238E27FC236}">
                <a16:creationId xmlns:a16="http://schemas.microsoft.com/office/drawing/2014/main" id="{AC685785-E31C-5C43-AB6F-9CAB939A37BA}"/>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t>MEXICO</a:t>
            </a:r>
          </a:p>
        </p:txBody>
      </p:sp>
      <p:sp>
        <p:nvSpPr>
          <p:cNvPr id="14" name="Text Placeholder 6">
            <a:extLst>
              <a:ext uri="{FF2B5EF4-FFF2-40B4-BE49-F238E27FC236}">
                <a16:creationId xmlns:a16="http://schemas.microsoft.com/office/drawing/2014/main" id="{743CA651-D9E7-D92D-3937-D7FD54206408}"/>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solidFill>
                  <a:schemeClr val="tx1"/>
                </a:solidFill>
              </a:rPr>
              <a:t>WEALTH</a:t>
            </a:r>
          </a:p>
        </p:txBody>
      </p:sp>
    </p:spTree>
    <p:extLst>
      <p:ext uri="{BB962C8B-B14F-4D97-AF65-F5344CB8AC3E}">
        <p14:creationId xmlns:p14="http://schemas.microsoft.com/office/powerpoint/2010/main" val="221391994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106E18-69B5-8A3D-8C66-6528630B8977}"/>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0B40677F-C821-C780-6D41-D0F2DF3628C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5" imgW="404" imgH="405" progId="TCLayout.ActiveDocument.1">
                  <p:embed/>
                </p:oleObj>
              </mc:Choice>
              <mc:Fallback>
                <p:oleObj name="think-cell Slide" r:id="rId85" imgW="404" imgH="405" progId="TCLayout.ActiveDocument.1">
                  <p:embed/>
                  <p:pic>
                    <p:nvPicPr>
                      <p:cNvPr id="8" name="think-cell data - do not delete" hidden="1">
                        <a:extLst>
                          <a:ext uri="{FF2B5EF4-FFF2-40B4-BE49-F238E27FC236}">
                            <a16:creationId xmlns:a16="http://schemas.microsoft.com/office/drawing/2014/main" id="{0B40677F-C821-C780-6D41-D0F2DF3628C3}"/>
                          </a:ext>
                        </a:extLst>
                      </p:cNvPr>
                      <p:cNvPicPr/>
                      <p:nvPr/>
                    </p:nvPicPr>
                    <p:blipFill>
                      <a:blip r:embed="rId86"/>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FE69D89-EC8D-2F37-E5BB-137CCDFA4472}"/>
              </a:ext>
            </a:extLst>
          </p:cNvPr>
          <p:cNvSpPr>
            <a:spLocks noGrp="1"/>
          </p:cNvSpPr>
          <p:nvPr>
            <p:ph type="title"/>
          </p:nvPr>
        </p:nvSpPr>
        <p:spPr>
          <a:xfrm>
            <a:off x="515938" y="661850"/>
            <a:ext cx="11160124" cy="720000"/>
          </a:xfrm>
        </p:spPr>
        <p:txBody>
          <a:bodyPr vert="horz" rIns="0"/>
          <a:lstStyle/>
          <a:p>
            <a:r>
              <a:rPr lang="en-US">
                <a:solidFill>
                  <a:srgbClr val="EC111A"/>
                </a:solidFill>
                <a:latin typeface="Scotia Headline" panose="020B0703020203020204" pitchFamily="34" charset="0"/>
                <a:ea typeface="Scotia Headline" panose="020B0703020203020204" pitchFamily="34" charset="0"/>
              </a:rPr>
              <a:t>Market share | </a:t>
            </a:r>
            <a:r>
              <a:rPr lang="en-US">
                <a:latin typeface="Scotia Headline" panose="020B0703020203020204" pitchFamily="34" charset="0"/>
                <a:ea typeface="Scotia Headline" panose="020B0703020203020204" pitchFamily="34" charset="0"/>
              </a:rPr>
              <a:t>Over the last five years, BNS has steadily lost market share across key IB Markets, notably in Mexico and Peru</a:t>
            </a:r>
          </a:p>
        </p:txBody>
      </p:sp>
      <p:sp>
        <p:nvSpPr>
          <p:cNvPr id="3" name="Slide Number Placeholder 2">
            <a:extLst>
              <a:ext uri="{FF2B5EF4-FFF2-40B4-BE49-F238E27FC236}">
                <a16:creationId xmlns:a16="http://schemas.microsoft.com/office/drawing/2014/main" id="{D1CC3863-121C-61AB-C6BC-78CDFF6A5270}"/>
              </a:ext>
            </a:extLst>
          </p:cNvPr>
          <p:cNvSpPr>
            <a:spLocks noGrp="1"/>
          </p:cNvSpPr>
          <p:nvPr>
            <p:ph type="sldNum" sz="quarter" idx="10"/>
          </p:nvPr>
        </p:nvSpPr>
        <p:spPr/>
        <p:txBody>
          <a:bodyPr/>
          <a:lstStyle/>
          <a:p>
            <a:fld id="{95D835A7-12B2-4074-8DA2-469A8808C237}" type="slidenum">
              <a:rPr lang="en-US" smtClean="0"/>
              <a:pPr/>
              <a:t>44</a:t>
            </a:fld>
            <a:endParaRPr lang="en-US"/>
          </a:p>
        </p:txBody>
      </p:sp>
      <p:sp>
        <p:nvSpPr>
          <p:cNvPr id="6" name="Text Placeholder 5">
            <a:extLst>
              <a:ext uri="{FF2B5EF4-FFF2-40B4-BE49-F238E27FC236}">
                <a16:creationId xmlns:a16="http://schemas.microsoft.com/office/drawing/2014/main" id="{3751417A-443A-A0CB-5AB6-E4F379B06A9D}"/>
              </a:ext>
            </a:extLst>
          </p:cNvPr>
          <p:cNvSpPr>
            <a:spLocks noGrp="1"/>
          </p:cNvSpPr>
          <p:nvPr>
            <p:ph type="body" sz="quarter" idx="11"/>
          </p:nvPr>
        </p:nvSpPr>
        <p:spPr/>
        <p:txBody>
          <a:bodyPr/>
          <a:lstStyle/>
          <a:p>
            <a:r>
              <a:rPr lang="en-US"/>
              <a:t>Source: IB finance; 1. Share as of Q4; 2. Split between BNS and CAT not available pre-2022. CAT 2022 to 2025 +176 bps and BNS excluding CAT from 2022 to 2025 +23 bps </a:t>
            </a:r>
          </a:p>
        </p:txBody>
      </p:sp>
      <p:sp>
        <p:nvSpPr>
          <p:cNvPr id="25" name="Text Placeholder 24">
            <a:extLst>
              <a:ext uri="{FF2B5EF4-FFF2-40B4-BE49-F238E27FC236}">
                <a16:creationId xmlns:a16="http://schemas.microsoft.com/office/drawing/2014/main" id="{52CDE4E0-5287-6235-EDA2-E5D788992C24}"/>
              </a:ext>
            </a:extLst>
          </p:cNvPr>
          <p:cNvSpPr>
            <a:spLocks noGrp="1"/>
          </p:cNvSpPr>
          <p:nvPr>
            <p:ph type="body" sz="quarter" idx="14"/>
          </p:nvPr>
        </p:nvSpPr>
        <p:spPr>
          <a:xfrm>
            <a:off x="515939" y="1672753"/>
            <a:ext cx="5400000" cy="180000"/>
          </a:xfrm>
        </p:spPr>
        <p:txBody>
          <a:bodyPr/>
          <a:lstStyle/>
          <a:p>
            <a:r>
              <a:rPr lang="en-US"/>
              <a:t>MARKET SHARE EVOLUTION FROM 2019 TO 2025</a:t>
            </a:r>
            <a:r>
              <a:rPr lang="en-US" baseline="30000"/>
              <a:t>1</a:t>
            </a:r>
          </a:p>
        </p:txBody>
      </p:sp>
      <p:sp>
        <p:nvSpPr>
          <p:cNvPr id="10" name="Rectangle 9">
            <a:extLst>
              <a:ext uri="{FF2B5EF4-FFF2-40B4-BE49-F238E27FC236}">
                <a16:creationId xmlns:a16="http://schemas.microsoft.com/office/drawing/2014/main" id="{63E52010-B63C-421F-1824-3C10427138FB}"/>
              </a:ext>
            </a:extLst>
          </p:cNvPr>
          <p:cNvSpPr/>
          <p:nvPr/>
        </p:nvSpPr>
        <p:spPr>
          <a:xfrm>
            <a:off x="4296000" y="1995666"/>
            <a:ext cx="3600000" cy="2520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spc="200">
                <a:solidFill>
                  <a:schemeClr val="tx1"/>
                </a:solidFill>
              </a:rPr>
              <a:t>PERU</a:t>
            </a:r>
          </a:p>
        </p:txBody>
      </p:sp>
      <p:sp>
        <p:nvSpPr>
          <p:cNvPr id="11" name="Rectangle 10">
            <a:extLst>
              <a:ext uri="{FF2B5EF4-FFF2-40B4-BE49-F238E27FC236}">
                <a16:creationId xmlns:a16="http://schemas.microsoft.com/office/drawing/2014/main" id="{F19550F4-49A6-EE65-0874-9662F23B65F4}"/>
              </a:ext>
            </a:extLst>
          </p:cNvPr>
          <p:cNvSpPr/>
          <p:nvPr/>
        </p:nvSpPr>
        <p:spPr>
          <a:xfrm>
            <a:off x="515938" y="1995666"/>
            <a:ext cx="3600000" cy="2520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spc="200">
                <a:solidFill>
                  <a:schemeClr val="tx1"/>
                </a:solidFill>
              </a:rPr>
              <a:t>MEXICO</a:t>
            </a:r>
          </a:p>
        </p:txBody>
      </p:sp>
      <p:sp>
        <p:nvSpPr>
          <p:cNvPr id="12" name="Rectangle 11">
            <a:extLst>
              <a:ext uri="{FF2B5EF4-FFF2-40B4-BE49-F238E27FC236}">
                <a16:creationId xmlns:a16="http://schemas.microsoft.com/office/drawing/2014/main" id="{36651E15-A84D-A6AD-B625-C18392A30793}"/>
              </a:ext>
            </a:extLst>
          </p:cNvPr>
          <p:cNvSpPr/>
          <p:nvPr/>
        </p:nvSpPr>
        <p:spPr>
          <a:xfrm>
            <a:off x="8076062" y="1995666"/>
            <a:ext cx="3600000" cy="2520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spc="200">
                <a:solidFill>
                  <a:schemeClr val="tx1"/>
                </a:solidFill>
              </a:rPr>
              <a:t>CHILE</a:t>
            </a:r>
            <a:r>
              <a:rPr lang="en-US" sz="1000" b="1" spc="200" baseline="30000">
                <a:solidFill>
                  <a:schemeClr val="tx1"/>
                </a:solidFill>
              </a:rPr>
              <a:t>2</a:t>
            </a:r>
          </a:p>
        </p:txBody>
      </p:sp>
      <p:graphicFrame>
        <p:nvGraphicFramePr>
          <p:cNvPr id="24" name="Chart 23">
            <a:extLst>
              <a:ext uri="{FF2B5EF4-FFF2-40B4-BE49-F238E27FC236}">
                <a16:creationId xmlns:a16="http://schemas.microsoft.com/office/drawing/2014/main" id="{5EB1CCDA-F020-878E-49F7-D860B4A98C24}"/>
              </a:ext>
            </a:extLst>
          </p:cNvPr>
          <p:cNvGraphicFramePr/>
          <p:nvPr>
            <p:custDataLst>
              <p:tags r:id="rId2"/>
            </p:custDataLst>
          </p:nvPr>
        </p:nvGraphicFramePr>
        <p:xfrm>
          <a:off x="1285875" y="2417763"/>
          <a:ext cx="2144713" cy="2422525"/>
        </p:xfrm>
        <a:graphic>
          <a:graphicData uri="http://schemas.openxmlformats.org/drawingml/2006/chart">
            <c:chart xmlns:c="http://schemas.openxmlformats.org/drawingml/2006/chart" xmlns:r="http://schemas.openxmlformats.org/officeDocument/2006/relationships" r:id="rId87"/>
          </a:graphicData>
        </a:graphic>
      </p:graphicFrame>
      <p:sp>
        <p:nvSpPr>
          <p:cNvPr id="225" name="Text Placeholder 2">
            <a:extLst>
              <a:ext uri="{FF2B5EF4-FFF2-40B4-BE49-F238E27FC236}">
                <a16:creationId xmlns:a16="http://schemas.microsoft.com/office/drawing/2014/main" id="{774B14C2-B809-969D-ACB8-87BE6DC0E5C0}"/>
              </a:ext>
            </a:extLst>
          </p:cNvPr>
          <p:cNvSpPr>
            <a:spLocks/>
          </p:cNvSpPr>
          <p:nvPr>
            <p:custDataLst>
              <p:tags r:id="rId3"/>
            </p:custDataLst>
          </p:nvPr>
        </p:nvSpPr>
        <p:spPr bwMode="gray">
          <a:xfrm>
            <a:off x="1889125" y="4843463"/>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2021</a:t>
            </a:r>
            <a:endParaRPr kumimoji="0" lang="en-US" sz="1000" b="1" i="0" strike="noStrike" kern="1200" cap="none" spc="0" normalizeH="0" baseline="0" noProof="0">
              <a:ln>
                <a:noFill/>
              </a:ln>
              <a:solidFill>
                <a:srgbClr val="000000"/>
              </a:solidFill>
              <a:effectLst/>
              <a:uLnTx/>
              <a:uFillTx/>
            </a:endParaRPr>
          </a:p>
        </p:txBody>
      </p:sp>
      <p:sp>
        <p:nvSpPr>
          <p:cNvPr id="226" name="Text Placeholder 2">
            <a:extLst>
              <a:ext uri="{FF2B5EF4-FFF2-40B4-BE49-F238E27FC236}">
                <a16:creationId xmlns:a16="http://schemas.microsoft.com/office/drawing/2014/main" id="{E8F0FE25-C478-2B9B-3244-CC57AC5E07FE}"/>
              </a:ext>
            </a:extLst>
          </p:cNvPr>
          <p:cNvSpPr>
            <a:spLocks/>
          </p:cNvSpPr>
          <p:nvPr>
            <p:custDataLst>
              <p:tags r:id="rId4"/>
            </p:custDataLst>
          </p:nvPr>
        </p:nvSpPr>
        <p:spPr bwMode="gray">
          <a:xfrm>
            <a:off x="2541588" y="48434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2023</a:t>
            </a:r>
            <a:endParaRPr kumimoji="0" lang="en-US" sz="1000" b="1" i="0" strike="noStrike" kern="1200" cap="none" spc="0" normalizeH="0" baseline="0" noProof="0">
              <a:ln>
                <a:noFill/>
              </a:ln>
              <a:solidFill>
                <a:srgbClr val="000000"/>
              </a:solidFill>
              <a:effectLst/>
              <a:uLnTx/>
              <a:uFillTx/>
            </a:endParaRPr>
          </a:p>
        </p:txBody>
      </p:sp>
      <p:sp>
        <p:nvSpPr>
          <p:cNvPr id="227" name="Text Placeholder 2">
            <a:extLst>
              <a:ext uri="{FF2B5EF4-FFF2-40B4-BE49-F238E27FC236}">
                <a16:creationId xmlns:a16="http://schemas.microsoft.com/office/drawing/2014/main" id="{6F392AD7-69AF-E4FD-AD27-DC8D291E26CE}"/>
              </a:ext>
            </a:extLst>
          </p:cNvPr>
          <p:cNvSpPr>
            <a:spLocks/>
          </p:cNvSpPr>
          <p:nvPr>
            <p:custDataLst>
              <p:tags r:id="rId5"/>
            </p:custDataLst>
          </p:nvPr>
        </p:nvSpPr>
        <p:spPr bwMode="gray">
          <a:xfrm>
            <a:off x="3203575" y="4843463"/>
            <a:ext cx="29051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2025</a:t>
            </a:r>
            <a:endParaRPr kumimoji="0" lang="en-US" sz="1000" b="1" i="0" strike="noStrike" kern="1200" cap="none" spc="0" normalizeH="0" baseline="0" noProof="0">
              <a:ln>
                <a:noFill/>
              </a:ln>
              <a:solidFill>
                <a:srgbClr val="000000"/>
              </a:solidFill>
              <a:effectLst/>
              <a:uLnTx/>
              <a:uFillTx/>
            </a:endParaRPr>
          </a:p>
        </p:txBody>
      </p:sp>
      <p:sp>
        <p:nvSpPr>
          <p:cNvPr id="14" name="Text Placeholder 2">
            <a:extLst>
              <a:ext uri="{FF2B5EF4-FFF2-40B4-BE49-F238E27FC236}">
                <a16:creationId xmlns:a16="http://schemas.microsoft.com/office/drawing/2014/main" id="{6CBB2A70-416D-74CE-07FA-55ADC10BFB33}"/>
              </a:ext>
            </a:extLst>
          </p:cNvPr>
          <p:cNvSpPr>
            <a:spLocks/>
          </p:cNvSpPr>
          <p:nvPr>
            <p:custDataLst>
              <p:tags r:id="rId6"/>
            </p:custDataLst>
          </p:nvPr>
        </p:nvSpPr>
        <p:spPr bwMode="gray">
          <a:xfrm>
            <a:off x="1225550" y="4843463"/>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a:t>
            </a:r>
            <a:fld id="{EDA18E65-384D-427C-BBB6-33E141BB689A}" type="datetime'''''''''''''''''''''''''''''''''''''1''''''''''9'''''">
              <a:rPr lang="en-US" altLang="en-US" sz="1000" b="1" smtClean="0">
                <a:solidFill>
                  <a:srgbClr val="000000"/>
                </a:solidFill>
              </a:rPr>
              <a:pPr marL="0" lvl="0" indent="0" algn="ctr">
                <a:spcBef>
                  <a:spcPct val="0"/>
                </a:spcBef>
                <a:spcAft>
                  <a:spcPct val="0"/>
                </a:spcAft>
                <a:buClr>
                  <a:srgbClr val="000000"/>
                </a:buClr>
                <a:buNone/>
                <a:defRPr/>
              </a:pPr>
              <a:t>19</a:t>
            </a:fld>
            <a:endParaRPr kumimoji="0" lang="en-US" sz="1000" b="1" i="0" strike="noStrike" kern="1200" cap="none" spc="0" normalizeH="0" baseline="0" noProof="0">
              <a:ln>
                <a:noFill/>
              </a:ln>
              <a:solidFill>
                <a:srgbClr val="000000"/>
              </a:solidFill>
              <a:effectLst/>
              <a:uLnTx/>
              <a:uFillTx/>
            </a:endParaRPr>
          </a:p>
        </p:txBody>
      </p:sp>
      <p:cxnSp>
        <p:nvCxnSpPr>
          <p:cNvPr id="15" name="Straight Connector 14">
            <a:extLst>
              <a:ext uri="{FF2B5EF4-FFF2-40B4-BE49-F238E27FC236}">
                <a16:creationId xmlns:a16="http://schemas.microsoft.com/office/drawing/2014/main" id="{615193CB-1258-C3BF-F87E-C2FFA6021394}"/>
              </a:ext>
            </a:extLst>
          </p:cNvPr>
          <p:cNvCxnSpPr/>
          <p:nvPr>
            <p:custDataLst>
              <p:tags r:id="rId7"/>
            </p:custDataLst>
          </p:nvPr>
        </p:nvCxnSpPr>
        <p:spPr bwMode="gray">
          <a:xfrm>
            <a:off x="1368425" y="4445001"/>
            <a:ext cx="0" cy="11113"/>
          </a:xfrm>
          <a:prstGeom prst="line">
            <a:avLst/>
          </a:prstGeom>
          <a:ln w="6350" cap="flat"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8EAAD5EE-D0A8-F4FC-8482-07D40C386B1B}"/>
              </a:ext>
            </a:extLst>
          </p:cNvPr>
          <p:cNvCxnSpPr/>
          <p:nvPr>
            <p:custDataLst>
              <p:tags r:id="rId8"/>
            </p:custDataLst>
          </p:nvPr>
        </p:nvCxnSpPr>
        <p:spPr bwMode="gray">
          <a:xfrm>
            <a:off x="1368425" y="4227513"/>
            <a:ext cx="0" cy="23812"/>
          </a:xfrm>
          <a:prstGeom prst="line">
            <a:avLst/>
          </a:prstGeom>
          <a:ln w="6350" cap="flat"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31BF90A8-4DDE-9205-B7DC-7D77899DA57A}"/>
              </a:ext>
            </a:extLst>
          </p:cNvPr>
          <p:cNvCxnSpPr/>
          <p:nvPr>
            <p:custDataLst>
              <p:tags r:id="rId9"/>
            </p:custDataLst>
          </p:nvPr>
        </p:nvCxnSpPr>
        <p:spPr bwMode="gray">
          <a:xfrm>
            <a:off x="2028825" y="4622801"/>
            <a:ext cx="0" cy="3175"/>
          </a:xfrm>
          <a:prstGeom prst="line">
            <a:avLst/>
          </a:prstGeom>
          <a:ln w="6350" cap="flat"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85330923-25B0-2892-90DB-77F022F04CEA}"/>
              </a:ext>
            </a:extLst>
          </p:cNvPr>
          <p:cNvCxnSpPr/>
          <p:nvPr>
            <p:custDataLst>
              <p:tags r:id="rId10"/>
            </p:custDataLst>
          </p:nvPr>
        </p:nvCxnSpPr>
        <p:spPr bwMode="gray">
          <a:xfrm>
            <a:off x="2687638" y="4208463"/>
            <a:ext cx="0" cy="38100"/>
          </a:xfrm>
          <a:prstGeom prst="line">
            <a:avLst/>
          </a:prstGeom>
          <a:ln w="6350" cap="flat"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8" name="Text Placeholder 2">
            <a:extLst>
              <a:ext uri="{FF2B5EF4-FFF2-40B4-BE49-F238E27FC236}">
                <a16:creationId xmlns:a16="http://schemas.microsoft.com/office/drawing/2014/main" id="{76235D31-8083-096A-3806-E0B142A91B69}"/>
              </a:ext>
            </a:extLst>
          </p:cNvPr>
          <p:cNvSpPr>
            <a:spLocks/>
          </p:cNvSpPr>
          <p:nvPr>
            <p:custDataLst>
              <p:tags r:id="rId11"/>
            </p:custDataLst>
          </p:nvPr>
        </p:nvSpPr>
        <p:spPr bwMode="gray">
          <a:xfrm>
            <a:off x="1263650" y="4457700"/>
            <a:ext cx="211138"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CF45C4F6-1DE7-4195-B11A-464DF48F0E2E}" type="datetime'''''''3''''''''''''''''''''''''''''''''''''''%'''''''''''''''">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3%</a:t>
            </a:fld>
            <a:endParaRPr kumimoji="0" lang="en-US" sz="1000" b="0" i="0" strike="noStrike" kern="1200" cap="none" spc="0" normalizeH="0" baseline="0" noProof="0">
              <a:ln>
                <a:noFill/>
              </a:ln>
              <a:solidFill>
                <a:srgbClr val="E1111A"/>
              </a:solidFill>
              <a:effectLst/>
              <a:uLnTx/>
              <a:uFillTx/>
            </a:endParaRPr>
          </a:p>
        </p:txBody>
      </p:sp>
      <p:sp>
        <p:nvSpPr>
          <p:cNvPr id="49" name="Text Placeholder 2">
            <a:extLst>
              <a:ext uri="{FF2B5EF4-FFF2-40B4-BE49-F238E27FC236}">
                <a16:creationId xmlns:a16="http://schemas.microsoft.com/office/drawing/2014/main" id="{F2F1A004-B141-D833-B713-7673EF41BA07}"/>
              </a:ext>
            </a:extLst>
          </p:cNvPr>
          <p:cNvSpPr>
            <a:spLocks/>
          </p:cNvSpPr>
          <p:nvPr>
            <p:custDataLst>
              <p:tags r:id="rId12"/>
            </p:custDataLst>
          </p:nvPr>
        </p:nvSpPr>
        <p:spPr bwMode="gray">
          <a:xfrm>
            <a:off x="1228725" y="3475038"/>
            <a:ext cx="280988"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F132E673-A6BB-4EB3-B95F-2B3AFFD8A716}" type="datetime'''2''''''''''''''''''7''''''%'''''''''''''''''''''">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27%</a:t>
            </a:fld>
            <a:endParaRPr kumimoji="0" lang="en-US" sz="1000" b="0" i="0" strike="noStrike" kern="1200" cap="none" spc="0" normalizeH="0" baseline="0" noProof="0">
              <a:ln>
                <a:noFill/>
              </a:ln>
              <a:solidFill>
                <a:srgbClr val="808080"/>
              </a:solidFill>
              <a:effectLst/>
              <a:uLnTx/>
              <a:uFillTx/>
            </a:endParaRPr>
          </a:p>
        </p:txBody>
      </p:sp>
      <p:sp>
        <p:nvSpPr>
          <p:cNvPr id="50" name="Text Placeholder 2">
            <a:extLst>
              <a:ext uri="{FF2B5EF4-FFF2-40B4-BE49-F238E27FC236}">
                <a16:creationId xmlns:a16="http://schemas.microsoft.com/office/drawing/2014/main" id="{D3D39A3B-2A7A-5D13-77C6-E767D2CD5722}"/>
              </a:ext>
            </a:extLst>
          </p:cNvPr>
          <p:cNvSpPr>
            <a:spLocks/>
          </p:cNvSpPr>
          <p:nvPr>
            <p:custDataLst>
              <p:tags r:id="rId13"/>
            </p:custDataLst>
          </p:nvPr>
        </p:nvSpPr>
        <p:spPr bwMode="gray">
          <a:xfrm>
            <a:off x="1257300" y="4292600"/>
            <a:ext cx="2190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007227FF-4355-4661-832B-E73E078B4F3E}" type="datetime'''''''''''''''''''''''''''''''''''''''''6''''''''''''%'''''''">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6%</a:t>
            </a:fld>
            <a:endParaRPr kumimoji="0" lang="en-US" sz="1000" b="0" i="0" strike="noStrike" kern="1200" cap="none" spc="0" normalizeH="0" baseline="0" noProof="0">
              <a:ln>
                <a:noFill/>
              </a:ln>
              <a:solidFill>
                <a:srgbClr val="808080"/>
              </a:solidFill>
              <a:effectLst/>
              <a:uLnTx/>
              <a:uFillTx/>
            </a:endParaRPr>
          </a:p>
        </p:txBody>
      </p:sp>
      <p:sp>
        <p:nvSpPr>
          <p:cNvPr id="51" name="Text Placeholder 2">
            <a:extLst>
              <a:ext uri="{FF2B5EF4-FFF2-40B4-BE49-F238E27FC236}">
                <a16:creationId xmlns:a16="http://schemas.microsoft.com/office/drawing/2014/main" id="{F31FB596-1AD1-87CA-6236-4073D0C67363}"/>
              </a:ext>
            </a:extLst>
          </p:cNvPr>
          <p:cNvSpPr>
            <a:spLocks/>
          </p:cNvSpPr>
          <p:nvPr>
            <p:custDataLst>
              <p:tags r:id="rId14"/>
            </p:custDataLst>
          </p:nvPr>
        </p:nvSpPr>
        <p:spPr bwMode="gray">
          <a:xfrm>
            <a:off x="1235075" y="3833813"/>
            <a:ext cx="2682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B7FF2175-D7BE-4FF0-B4A0-EE5757E79802}" type="datetime'''14''''''''''''''''''%'''''''''''''''''">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14%</a:t>
            </a:fld>
            <a:endParaRPr kumimoji="0" lang="en-US" sz="1000" b="0" i="0" strike="noStrike" kern="1200" cap="none" spc="0" normalizeH="0" baseline="0" noProof="0">
              <a:ln>
                <a:noFill/>
              </a:ln>
              <a:solidFill>
                <a:srgbClr val="808080"/>
              </a:solidFill>
              <a:effectLst/>
              <a:uLnTx/>
              <a:uFillTx/>
            </a:endParaRPr>
          </a:p>
        </p:txBody>
      </p:sp>
      <p:sp>
        <p:nvSpPr>
          <p:cNvPr id="52" name="Text Placeholder 2">
            <a:extLst>
              <a:ext uri="{FF2B5EF4-FFF2-40B4-BE49-F238E27FC236}">
                <a16:creationId xmlns:a16="http://schemas.microsoft.com/office/drawing/2014/main" id="{6585A034-E9EB-5046-FC3D-F1E8185671C2}"/>
              </a:ext>
            </a:extLst>
          </p:cNvPr>
          <p:cNvSpPr>
            <a:spLocks/>
          </p:cNvSpPr>
          <p:nvPr>
            <p:custDataLst>
              <p:tags r:id="rId15"/>
            </p:custDataLst>
          </p:nvPr>
        </p:nvSpPr>
        <p:spPr bwMode="gray">
          <a:xfrm>
            <a:off x="1233488" y="4075113"/>
            <a:ext cx="2762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42AC9C44-B545-488D-BAA5-227BDDE384A7}" type="datetime'''''''1''''''''''''0''''''''''''%'''''''''''''''''''''''''">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10%</a:t>
            </a:fld>
            <a:endParaRPr kumimoji="0" lang="en-US" sz="1000" b="0" i="0" strike="noStrike" kern="1200" cap="none" spc="0" normalizeH="0" baseline="0" noProof="0">
              <a:ln>
                <a:noFill/>
              </a:ln>
              <a:solidFill>
                <a:srgbClr val="808080"/>
              </a:solidFill>
              <a:effectLst/>
              <a:uLnTx/>
              <a:uFillTx/>
            </a:endParaRPr>
          </a:p>
        </p:txBody>
      </p:sp>
      <p:sp>
        <p:nvSpPr>
          <p:cNvPr id="53" name="Text Placeholder 2">
            <a:extLst>
              <a:ext uri="{FF2B5EF4-FFF2-40B4-BE49-F238E27FC236}">
                <a16:creationId xmlns:a16="http://schemas.microsoft.com/office/drawing/2014/main" id="{7CAD5974-023A-BD79-E9B1-3C740693D016}"/>
              </a:ext>
            </a:extLst>
          </p:cNvPr>
          <p:cNvSpPr>
            <a:spLocks/>
          </p:cNvSpPr>
          <p:nvPr>
            <p:custDataLst>
              <p:tags r:id="rId16"/>
            </p:custDataLst>
          </p:nvPr>
        </p:nvSpPr>
        <p:spPr bwMode="gray">
          <a:xfrm>
            <a:off x="1228725" y="3175000"/>
            <a:ext cx="280988"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CD434B32-5953-4D9E-B8BB-0B1ACB6C472A}" type="datetime'''''27''''''''''''''''''%'''''">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27%</a:t>
            </a:fld>
            <a:endParaRPr kumimoji="0" lang="en-US" sz="1000" b="0" i="0" strike="noStrike" kern="1200" cap="none" spc="0" normalizeH="0" baseline="0" noProof="0">
              <a:ln>
                <a:noFill/>
              </a:ln>
              <a:solidFill>
                <a:srgbClr val="808080"/>
              </a:solidFill>
              <a:effectLst/>
              <a:uLnTx/>
              <a:uFillTx/>
            </a:endParaRPr>
          </a:p>
        </p:txBody>
      </p:sp>
      <p:sp>
        <p:nvSpPr>
          <p:cNvPr id="54" name="Text Placeholder 2">
            <a:extLst>
              <a:ext uri="{FF2B5EF4-FFF2-40B4-BE49-F238E27FC236}">
                <a16:creationId xmlns:a16="http://schemas.microsoft.com/office/drawing/2014/main" id="{AD4B8450-13E9-6E5C-83B0-86032407804A}"/>
              </a:ext>
            </a:extLst>
          </p:cNvPr>
          <p:cNvSpPr>
            <a:spLocks/>
          </p:cNvSpPr>
          <p:nvPr>
            <p:custDataLst>
              <p:tags r:id="rId17"/>
            </p:custDataLst>
          </p:nvPr>
        </p:nvSpPr>
        <p:spPr bwMode="gray">
          <a:xfrm>
            <a:off x="1924050" y="4470400"/>
            <a:ext cx="2111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B1985EAA-DD25-4A4B-AF81-F5E606C2FA93}" type="datetime'''''''2''''''''''''''''''''%'''''''">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2%</a:t>
            </a:fld>
            <a:endParaRPr kumimoji="0" lang="en-US" sz="1000" b="0" i="0" strike="noStrike" kern="1200" cap="none" spc="0" normalizeH="0" baseline="0" noProof="0">
              <a:ln>
                <a:noFill/>
              </a:ln>
              <a:solidFill>
                <a:srgbClr val="E1111A"/>
              </a:solidFill>
              <a:effectLst/>
              <a:uLnTx/>
              <a:uFillTx/>
            </a:endParaRPr>
          </a:p>
        </p:txBody>
      </p:sp>
      <p:sp>
        <p:nvSpPr>
          <p:cNvPr id="55" name="Text Placeholder 2">
            <a:extLst>
              <a:ext uri="{FF2B5EF4-FFF2-40B4-BE49-F238E27FC236}">
                <a16:creationId xmlns:a16="http://schemas.microsoft.com/office/drawing/2014/main" id="{1942D59B-7150-D1FF-1923-2217DBB22D5D}"/>
              </a:ext>
            </a:extLst>
          </p:cNvPr>
          <p:cNvSpPr>
            <a:spLocks/>
          </p:cNvSpPr>
          <p:nvPr>
            <p:custDataLst>
              <p:tags r:id="rId18"/>
            </p:custDataLst>
          </p:nvPr>
        </p:nvSpPr>
        <p:spPr bwMode="gray">
          <a:xfrm>
            <a:off x="1887538" y="3368675"/>
            <a:ext cx="2841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D8E102EA-039E-49CF-B930-E38EE663830D}" type="datetime'''2''''''''''''4''''''%'">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24%</a:t>
            </a:fld>
            <a:endParaRPr kumimoji="0" lang="en-US" sz="1000" b="0" i="0" strike="noStrike" kern="1200" cap="none" spc="0" normalizeH="0" baseline="0" noProof="0">
              <a:ln>
                <a:noFill/>
              </a:ln>
              <a:solidFill>
                <a:srgbClr val="808080"/>
              </a:solidFill>
              <a:effectLst/>
              <a:uLnTx/>
              <a:uFillTx/>
            </a:endParaRPr>
          </a:p>
        </p:txBody>
      </p:sp>
      <p:sp>
        <p:nvSpPr>
          <p:cNvPr id="56" name="Text Placeholder 2">
            <a:extLst>
              <a:ext uri="{FF2B5EF4-FFF2-40B4-BE49-F238E27FC236}">
                <a16:creationId xmlns:a16="http://schemas.microsoft.com/office/drawing/2014/main" id="{CE1BDAC4-25E9-1AB2-09F9-9BC56D1D6251}"/>
              </a:ext>
            </a:extLst>
          </p:cNvPr>
          <p:cNvSpPr>
            <a:spLocks/>
          </p:cNvSpPr>
          <p:nvPr>
            <p:custDataLst>
              <p:tags r:id="rId19"/>
            </p:custDataLst>
          </p:nvPr>
        </p:nvSpPr>
        <p:spPr bwMode="gray">
          <a:xfrm>
            <a:off x="1919288" y="4291013"/>
            <a:ext cx="2190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6866422B-4A5C-46CF-AA72-D9930ED2A058}" type="datetime'''''''''''''''''''6''%'''''''''">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6%</a:t>
            </a:fld>
            <a:endParaRPr kumimoji="0" lang="en-US" sz="1000" b="0" i="0" strike="noStrike" kern="1200" cap="none" spc="0" normalizeH="0" baseline="0" noProof="0">
              <a:ln>
                <a:noFill/>
              </a:ln>
              <a:solidFill>
                <a:srgbClr val="808080"/>
              </a:solidFill>
              <a:effectLst/>
              <a:uLnTx/>
              <a:uFillTx/>
            </a:endParaRPr>
          </a:p>
        </p:txBody>
      </p:sp>
      <p:sp>
        <p:nvSpPr>
          <p:cNvPr id="58" name="Text Placeholder 2">
            <a:extLst>
              <a:ext uri="{FF2B5EF4-FFF2-40B4-BE49-F238E27FC236}">
                <a16:creationId xmlns:a16="http://schemas.microsoft.com/office/drawing/2014/main" id="{BD838DAA-3807-1F4D-28C6-ABBCF8F26107}"/>
              </a:ext>
            </a:extLst>
          </p:cNvPr>
          <p:cNvSpPr>
            <a:spLocks/>
          </p:cNvSpPr>
          <p:nvPr>
            <p:custDataLst>
              <p:tags r:id="rId20"/>
            </p:custDataLst>
          </p:nvPr>
        </p:nvSpPr>
        <p:spPr bwMode="gray">
          <a:xfrm>
            <a:off x="1890713" y="4075113"/>
            <a:ext cx="276225"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A7CBBDF5-2D59-4A17-B666-B95C2A3705B8}" type="datetime'''''''''''''1''''''0''''''''''''''''''''%'''''''''''''''''">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10%</a:t>
            </a:fld>
            <a:endParaRPr kumimoji="0" lang="en-US" sz="1000" b="0" i="0" strike="noStrike" kern="1200" cap="none" spc="0" normalizeH="0" baseline="0" noProof="0">
              <a:ln>
                <a:noFill/>
              </a:ln>
              <a:solidFill>
                <a:srgbClr val="808080"/>
              </a:solidFill>
              <a:effectLst/>
              <a:uLnTx/>
              <a:uFillTx/>
            </a:endParaRPr>
          </a:p>
        </p:txBody>
      </p:sp>
      <p:sp>
        <p:nvSpPr>
          <p:cNvPr id="59" name="Text Placeholder 2">
            <a:extLst>
              <a:ext uri="{FF2B5EF4-FFF2-40B4-BE49-F238E27FC236}">
                <a16:creationId xmlns:a16="http://schemas.microsoft.com/office/drawing/2014/main" id="{AD0168E0-7062-2770-BB55-5EC8ED41C491}"/>
              </a:ext>
            </a:extLst>
          </p:cNvPr>
          <p:cNvSpPr>
            <a:spLocks/>
          </p:cNvSpPr>
          <p:nvPr>
            <p:custDataLst>
              <p:tags r:id="rId21"/>
            </p:custDataLst>
          </p:nvPr>
        </p:nvSpPr>
        <p:spPr bwMode="gray">
          <a:xfrm>
            <a:off x="1897063" y="3019425"/>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112E15D2-C08B-4474-99A2-40599E1696DE}" type="datetime'''''''''''''3''''''''''''''1''''''''''''''''''''''%'''''''''''">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31%</a:t>
            </a:fld>
            <a:endParaRPr kumimoji="0" lang="en-US" sz="1000" b="0" i="0" strike="noStrike" kern="1200" cap="none" spc="0" normalizeH="0" baseline="0" noProof="0">
              <a:ln>
                <a:noFill/>
              </a:ln>
              <a:solidFill>
                <a:srgbClr val="808080"/>
              </a:solidFill>
              <a:effectLst/>
              <a:uLnTx/>
              <a:uFillTx/>
            </a:endParaRPr>
          </a:p>
        </p:txBody>
      </p:sp>
      <p:sp>
        <p:nvSpPr>
          <p:cNvPr id="65" name="Text Placeholder 2">
            <a:extLst>
              <a:ext uri="{FF2B5EF4-FFF2-40B4-BE49-F238E27FC236}">
                <a16:creationId xmlns:a16="http://schemas.microsoft.com/office/drawing/2014/main" id="{CC246831-99C8-814C-5ED8-337989FC5ED6}"/>
              </a:ext>
            </a:extLst>
          </p:cNvPr>
          <p:cNvSpPr>
            <a:spLocks/>
          </p:cNvSpPr>
          <p:nvPr>
            <p:custDataLst>
              <p:tags r:id="rId22"/>
            </p:custDataLst>
          </p:nvPr>
        </p:nvSpPr>
        <p:spPr bwMode="gray">
          <a:xfrm>
            <a:off x="2582863" y="4514850"/>
            <a:ext cx="2111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5D886363-AE24-42F6-9BA2-32855069FCCA}" type="datetime'''''''''''''''''''2''%'">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2%</a:t>
            </a:fld>
            <a:endParaRPr kumimoji="0" lang="en-US" sz="1000" b="0" i="0" strike="noStrike" kern="1200" cap="none" spc="0" normalizeH="0" baseline="0" noProof="0">
              <a:ln>
                <a:noFill/>
              </a:ln>
              <a:solidFill>
                <a:srgbClr val="E1111A"/>
              </a:solidFill>
              <a:effectLst/>
              <a:uLnTx/>
              <a:uFillTx/>
            </a:endParaRPr>
          </a:p>
        </p:txBody>
      </p:sp>
      <p:sp>
        <p:nvSpPr>
          <p:cNvPr id="66" name="Text Placeholder 2">
            <a:extLst>
              <a:ext uri="{FF2B5EF4-FFF2-40B4-BE49-F238E27FC236}">
                <a16:creationId xmlns:a16="http://schemas.microsoft.com/office/drawing/2014/main" id="{F7F42B15-9DC9-FF4C-8D62-7F5D28EF79F6}"/>
              </a:ext>
            </a:extLst>
          </p:cNvPr>
          <p:cNvSpPr>
            <a:spLocks/>
          </p:cNvSpPr>
          <p:nvPr>
            <p:custDataLst>
              <p:tags r:id="rId23"/>
            </p:custDataLst>
          </p:nvPr>
        </p:nvSpPr>
        <p:spPr bwMode="gray">
          <a:xfrm>
            <a:off x="2547938" y="3417888"/>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D836BDA5-A881-45D3-8DA7-816FC8A08C56}" type="datetime'''''''2''''''''''3%'''''''''''''''''''''''''">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23%</a:t>
            </a:fld>
            <a:endParaRPr kumimoji="0" lang="en-US" sz="1000" b="0" i="0" strike="noStrike" kern="1200" cap="none" spc="0" normalizeH="0" baseline="0" noProof="0">
              <a:ln>
                <a:noFill/>
              </a:ln>
              <a:solidFill>
                <a:srgbClr val="808080"/>
              </a:solidFill>
              <a:effectLst/>
              <a:uLnTx/>
              <a:uFillTx/>
            </a:endParaRPr>
          </a:p>
        </p:txBody>
      </p:sp>
      <p:sp useBgFill="1">
        <p:nvSpPr>
          <p:cNvPr id="242" name="Text Placeholder 2">
            <a:extLst>
              <a:ext uri="{FF2B5EF4-FFF2-40B4-BE49-F238E27FC236}">
                <a16:creationId xmlns:a16="http://schemas.microsoft.com/office/drawing/2014/main" id="{4BA6291D-6905-CFC9-CE38-11401195FA56}"/>
              </a:ext>
            </a:extLst>
          </p:cNvPr>
          <p:cNvSpPr>
            <a:spLocks/>
          </p:cNvSpPr>
          <p:nvPr>
            <p:custDataLst>
              <p:tags r:id="rId24"/>
            </p:custDataLst>
          </p:nvPr>
        </p:nvSpPr>
        <p:spPr bwMode="gray">
          <a:xfrm>
            <a:off x="2581275" y="4232275"/>
            <a:ext cx="212725" cy="152400"/>
          </a:xfrm>
          <a:prstGeom prst="rect">
            <a:avLst/>
          </a:prstGeom>
          <a:ln>
            <a:noFill/>
          </a:ln>
          <a:effec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C00796D7-5AC0-4D94-B7D1-5F6C6FAA69A4}" type="datetime'''''''''''''''''''''''7''''''%'''''''''''''''''''''''''''''">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7%</a:t>
            </a:fld>
            <a:endParaRPr kumimoji="0" lang="en-US" sz="1000" b="0" i="0" strike="noStrike" kern="1200" cap="none" spc="0" normalizeH="0" baseline="0" noProof="0">
              <a:ln>
                <a:noFill/>
              </a:ln>
              <a:solidFill>
                <a:srgbClr val="808080"/>
              </a:solidFill>
              <a:effectLst/>
              <a:uLnTx/>
              <a:uFillTx/>
            </a:endParaRPr>
          </a:p>
        </p:txBody>
      </p:sp>
      <p:sp>
        <p:nvSpPr>
          <p:cNvPr id="67" name="Text Placeholder 2">
            <a:extLst>
              <a:ext uri="{FF2B5EF4-FFF2-40B4-BE49-F238E27FC236}">
                <a16:creationId xmlns:a16="http://schemas.microsoft.com/office/drawing/2014/main" id="{0F7ABDAF-56AE-707D-A316-6D17B065E493}"/>
              </a:ext>
            </a:extLst>
          </p:cNvPr>
          <p:cNvSpPr>
            <a:spLocks/>
          </p:cNvSpPr>
          <p:nvPr>
            <p:custDataLst>
              <p:tags r:id="rId25"/>
            </p:custDataLst>
          </p:nvPr>
        </p:nvSpPr>
        <p:spPr bwMode="gray">
          <a:xfrm>
            <a:off x="2555875" y="3824288"/>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AD7EA4AD-3EC7-48FF-AB01-A409E9FE71E0}" type="datetime'''''''''''15''''''''''''''%'''''''''''''''">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808080"/>
              </a:solidFill>
              <a:effectLst/>
              <a:uLnTx/>
              <a:uFillTx/>
            </a:endParaRPr>
          </a:p>
        </p:txBody>
      </p:sp>
      <p:sp>
        <p:nvSpPr>
          <p:cNvPr id="68" name="Text Placeholder 2">
            <a:extLst>
              <a:ext uri="{FF2B5EF4-FFF2-40B4-BE49-F238E27FC236}">
                <a16:creationId xmlns:a16="http://schemas.microsoft.com/office/drawing/2014/main" id="{2B449234-F1FE-EBA5-EE2C-AD05D96D0436}"/>
              </a:ext>
            </a:extLst>
          </p:cNvPr>
          <p:cNvSpPr>
            <a:spLocks/>
          </p:cNvSpPr>
          <p:nvPr>
            <p:custDataLst>
              <p:tags r:id="rId26"/>
            </p:custDataLst>
          </p:nvPr>
        </p:nvSpPr>
        <p:spPr bwMode="gray">
          <a:xfrm>
            <a:off x="2549525" y="4056063"/>
            <a:ext cx="2762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8B010BB3-1A3E-4B2E-BA28-955F09856125}" type="datetime'''''''''''''''''''''''''1''''''''''''0''''''''%'''''''''">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10%</a:t>
            </a:fld>
            <a:endParaRPr kumimoji="0" lang="en-US" sz="1000" b="0" i="0" strike="noStrike" kern="1200" cap="none" spc="0" normalizeH="0" baseline="0" noProof="0">
              <a:ln>
                <a:noFill/>
              </a:ln>
              <a:solidFill>
                <a:srgbClr val="808080"/>
              </a:solidFill>
              <a:effectLst/>
              <a:uLnTx/>
              <a:uFillTx/>
            </a:endParaRPr>
          </a:p>
        </p:txBody>
      </p:sp>
      <p:sp>
        <p:nvSpPr>
          <p:cNvPr id="69" name="Text Placeholder 2">
            <a:extLst>
              <a:ext uri="{FF2B5EF4-FFF2-40B4-BE49-F238E27FC236}">
                <a16:creationId xmlns:a16="http://schemas.microsoft.com/office/drawing/2014/main" id="{3ED53338-E115-C6D4-29F8-ECF222713A46}"/>
              </a:ext>
            </a:extLst>
          </p:cNvPr>
          <p:cNvSpPr>
            <a:spLocks/>
          </p:cNvSpPr>
          <p:nvPr>
            <p:custDataLst>
              <p:tags r:id="rId27"/>
            </p:custDataLst>
          </p:nvPr>
        </p:nvSpPr>
        <p:spPr bwMode="gray">
          <a:xfrm>
            <a:off x="2555875" y="2974975"/>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67C64090-B439-4C58-80AB-A3465EF58023}" type="datetime'''''''''''''''''''''3''''''''1''''''''''''''%'''''">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31%</a:t>
            </a:fld>
            <a:endParaRPr kumimoji="0" lang="en-US" sz="1000" b="0" i="0" strike="noStrike" kern="1200" cap="none" spc="0" normalizeH="0" baseline="0" noProof="0">
              <a:ln>
                <a:noFill/>
              </a:ln>
              <a:solidFill>
                <a:srgbClr val="808080"/>
              </a:solidFill>
              <a:effectLst/>
              <a:uLnTx/>
              <a:uFillTx/>
            </a:endParaRPr>
          </a:p>
        </p:txBody>
      </p:sp>
      <p:sp>
        <p:nvSpPr>
          <p:cNvPr id="70" name="Text Placeholder 2">
            <a:extLst>
              <a:ext uri="{FF2B5EF4-FFF2-40B4-BE49-F238E27FC236}">
                <a16:creationId xmlns:a16="http://schemas.microsoft.com/office/drawing/2014/main" id="{AB2CFF18-D61E-3062-3DBD-E8336A2EBE3D}"/>
              </a:ext>
            </a:extLst>
          </p:cNvPr>
          <p:cNvSpPr>
            <a:spLocks/>
          </p:cNvSpPr>
          <p:nvPr>
            <p:custDataLst>
              <p:tags r:id="rId28"/>
            </p:custDataLst>
          </p:nvPr>
        </p:nvSpPr>
        <p:spPr bwMode="gray">
          <a:xfrm>
            <a:off x="3243263" y="4484688"/>
            <a:ext cx="21590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BEF9672C-B6C3-4652-8843-783C2696B012}" type="datetime'''''''''2''''''''''%'''''''''''''''''''''''''">
              <a:rPr lang="en-US" altLang="en-US" sz="1000" b="1"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2%</a:t>
            </a:fld>
            <a:endParaRPr kumimoji="0" lang="en-US" sz="1000" b="1" i="0" strike="noStrike" kern="1200" cap="none" spc="0" normalizeH="0" baseline="0" noProof="0">
              <a:ln>
                <a:noFill/>
              </a:ln>
              <a:solidFill>
                <a:srgbClr val="E1111A"/>
              </a:solidFill>
              <a:effectLst/>
              <a:uLnTx/>
              <a:uFillTx/>
            </a:endParaRPr>
          </a:p>
        </p:txBody>
      </p:sp>
      <p:sp>
        <p:nvSpPr>
          <p:cNvPr id="73" name="Text Placeholder 2">
            <a:extLst>
              <a:ext uri="{FF2B5EF4-FFF2-40B4-BE49-F238E27FC236}">
                <a16:creationId xmlns:a16="http://schemas.microsoft.com/office/drawing/2014/main" id="{457933D4-0EEA-823B-ADA5-725F7446DEA7}"/>
              </a:ext>
            </a:extLst>
          </p:cNvPr>
          <p:cNvSpPr>
            <a:spLocks/>
          </p:cNvSpPr>
          <p:nvPr>
            <p:custDataLst>
              <p:tags r:id="rId29"/>
            </p:custDataLst>
          </p:nvPr>
        </p:nvSpPr>
        <p:spPr bwMode="gray">
          <a:xfrm>
            <a:off x="3205163" y="3381375"/>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143DF574-181C-4009-A62C-0F9583367D45}" type="datetime'''''''''''''''''''''2''''''''''''''''''''3%'''''''''''''''''''">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23%</a:t>
            </a:fld>
            <a:endParaRPr kumimoji="0" lang="en-US" sz="1000" b="1" i="0" strike="noStrike" kern="1200" cap="none" spc="0" normalizeH="0" baseline="0" noProof="0">
              <a:ln>
                <a:noFill/>
              </a:ln>
              <a:solidFill>
                <a:srgbClr val="808080"/>
              </a:solidFill>
              <a:effectLst/>
              <a:uLnTx/>
              <a:uFillTx/>
            </a:endParaRPr>
          </a:p>
        </p:txBody>
      </p:sp>
      <p:sp>
        <p:nvSpPr>
          <p:cNvPr id="243" name="Text Placeholder 2">
            <a:extLst>
              <a:ext uri="{FF2B5EF4-FFF2-40B4-BE49-F238E27FC236}">
                <a16:creationId xmlns:a16="http://schemas.microsoft.com/office/drawing/2014/main" id="{D75F8726-95BD-AFF2-5AF1-0589FFCD471E}"/>
              </a:ext>
            </a:extLst>
          </p:cNvPr>
          <p:cNvSpPr>
            <a:spLocks/>
          </p:cNvSpPr>
          <p:nvPr>
            <p:custDataLst>
              <p:tags r:id="rId30"/>
            </p:custDataLst>
          </p:nvPr>
        </p:nvSpPr>
        <p:spPr bwMode="gray">
          <a:xfrm>
            <a:off x="3238500" y="4264025"/>
            <a:ext cx="22225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0D8B9C7E-E5C4-4D5D-B8FA-A50C9EF40824}" type="datetime'''6''''''''''''''''''''''''''''%'''''''''''''''''''">
              <a:rPr lang="en-US" altLang="en-US" sz="1000" b="1"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6%</a:t>
            </a:fld>
            <a:endParaRPr kumimoji="0" lang="en-US" sz="1000" b="1" i="0" strike="noStrike" kern="1200" cap="none" spc="0" normalizeH="0" baseline="0" noProof="0">
              <a:ln>
                <a:noFill/>
              </a:ln>
              <a:solidFill>
                <a:srgbClr val="808080"/>
              </a:solidFill>
              <a:effectLst/>
              <a:uLnTx/>
              <a:uFillTx/>
            </a:endParaRPr>
          </a:p>
        </p:txBody>
      </p:sp>
      <p:sp>
        <p:nvSpPr>
          <p:cNvPr id="77" name="Text Placeholder 2">
            <a:extLst>
              <a:ext uri="{FF2B5EF4-FFF2-40B4-BE49-F238E27FC236}">
                <a16:creationId xmlns:a16="http://schemas.microsoft.com/office/drawing/2014/main" id="{48C92BC3-3DAD-B1CB-2EAA-76391C32C9B9}"/>
              </a:ext>
            </a:extLst>
          </p:cNvPr>
          <p:cNvSpPr>
            <a:spLocks/>
          </p:cNvSpPr>
          <p:nvPr>
            <p:custDataLst>
              <p:tags r:id="rId31"/>
            </p:custDataLst>
          </p:nvPr>
        </p:nvSpPr>
        <p:spPr bwMode="gray">
          <a:xfrm>
            <a:off x="3211513" y="3948113"/>
            <a:ext cx="27305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9C792379-AF07-4632-80F1-FDDC233FB58B}" type="datetime'''''''''''''''''''''''''''''''''''''''12''''''''''''''''%'">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12%</a:t>
            </a:fld>
            <a:endParaRPr kumimoji="0" lang="en-US" sz="1000" b="1" i="0" strike="noStrike" kern="1200" cap="none" spc="0" normalizeH="0" baseline="0" noProof="0">
              <a:ln>
                <a:noFill/>
              </a:ln>
              <a:solidFill>
                <a:srgbClr val="808080"/>
              </a:solidFill>
              <a:effectLst/>
              <a:uLnTx/>
              <a:uFillTx/>
            </a:endParaRPr>
          </a:p>
        </p:txBody>
      </p:sp>
      <p:sp>
        <p:nvSpPr>
          <p:cNvPr id="78" name="Text Placeholder 2">
            <a:extLst>
              <a:ext uri="{FF2B5EF4-FFF2-40B4-BE49-F238E27FC236}">
                <a16:creationId xmlns:a16="http://schemas.microsoft.com/office/drawing/2014/main" id="{3D695D4E-937C-8B75-0314-8CDD1A2A80FE}"/>
              </a:ext>
            </a:extLst>
          </p:cNvPr>
          <p:cNvSpPr>
            <a:spLocks/>
          </p:cNvSpPr>
          <p:nvPr>
            <p:custDataLst>
              <p:tags r:id="rId32"/>
            </p:custDataLst>
          </p:nvPr>
        </p:nvSpPr>
        <p:spPr bwMode="gray">
          <a:xfrm>
            <a:off x="3222625" y="4198938"/>
            <a:ext cx="26035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3ADB2415-6128-4D44-A2CC-3C1038E804E3}" type="datetime'1''1''''''''''''''''''''''''''''''''%'''''''''''">
              <a:rPr lang="en-US" altLang="en-US" sz="1000" b="1"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11%</a:t>
            </a:fld>
            <a:endParaRPr kumimoji="0" lang="en-US" sz="1000" b="1" i="0" strike="noStrike" kern="1200" cap="none" spc="0" normalizeH="0" baseline="0" noProof="0">
              <a:ln>
                <a:noFill/>
              </a:ln>
              <a:solidFill>
                <a:srgbClr val="808080"/>
              </a:solidFill>
              <a:effectLst/>
              <a:uLnTx/>
              <a:uFillTx/>
            </a:endParaRPr>
          </a:p>
        </p:txBody>
      </p:sp>
      <p:sp>
        <p:nvSpPr>
          <p:cNvPr id="83" name="Text Placeholder 2">
            <a:extLst>
              <a:ext uri="{FF2B5EF4-FFF2-40B4-BE49-F238E27FC236}">
                <a16:creationId xmlns:a16="http://schemas.microsoft.com/office/drawing/2014/main" id="{8EAD4779-15FA-8238-38AD-993455978812}"/>
              </a:ext>
            </a:extLst>
          </p:cNvPr>
          <p:cNvSpPr>
            <a:spLocks/>
          </p:cNvSpPr>
          <p:nvPr>
            <p:custDataLst>
              <p:tags r:id="rId33"/>
            </p:custDataLst>
          </p:nvPr>
        </p:nvSpPr>
        <p:spPr bwMode="gray">
          <a:xfrm>
            <a:off x="3205163" y="2925763"/>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6FE4E55B-EF8F-44D7-B211-2C33267382C6}" type="datetime'3''''''''''''''''2''''''''''''''''''%'">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32%</a:t>
            </a:fld>
            <a:endParaRPr kumimoji="0" lang="en-US" sz="1000" b="1" i="0" strike="noStrike" kern="1200" cap="none" spc="0" normalizeH="0" baseline="0" noProof="0">
              <a:ln>
                <a:noFill/>
              </a:ln>
              <a:solidFill>
                <a:srgbClr val="808080"/>
              </a:solidFill>
              <a:effectLst/>
              <a:uLnTx/>
              <a:uFillTx/>
            </a:endParaRPr>
          </a:p>
        </p:txBody>
      </p:sp>
      <p:sp>
        <p:nvSpPr>
          <p:cNvPr id="57" name="Text Placeholder 2">
            <a:extLst>
              <a:ext uri="{FF2B5EF4-FFF2-40B4-BE49-F238E27FC236}">
                <a16:creationId xmlns:a16="http://schemas.microsoft.com/office/drawing/2014/main" id="{64951532-51FE-D0E3-7094-3C51407590A9}"/>
              </a:ext>
            </a:extLst>
          </p:cNvPr>
          <p:cNvSpPr>
            <a:spLocks/>
          </p:cNvSpPr>
          <p:nvPr>
            <p:custDataLst>
              <p:tags r:id="rId34"/>
            </p:custDataLst>
          </p:nvPr>
        </p:nvSpPr>
        <p:spPr bwMode="gray">
          <a:xfrm>
            <a:off x="1897063" y="3878263"/>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D309D0AC-1FBE-4C50-AD36-275ABE61E089}" type="datetime'''''''''''''''''''''''''1''3%'''''''''">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13%</a:t>
            </a:fld>
            <a:endParaRPr kumimoji="0" lang="en-US" sz="1000" b="0" i="0" strike="noStrike" kern="1200" cap="none" spc="0" normalizeH="0" baseline="0" noProof="0">
              <a:ln>
                <a:noFill/>
              </a:ln>
              <a:solidFill>
                <a:srgbClr val="808080"/>
              </a:solidFill>
              <a:effectLst/>
              <a:uLnTx/>
              <a:uFillTx/>
            </a:endParaRPr>
          </a:p>
        </p:txBody>
      </p:sp>
      <p:grpSp>
        <p:nvGrpSpPr>
          <p:cNvPr id="581" name="Group 580">
            <a:extLst>
              <a:ext uri="{FF2B5EF4-FFF2-40B4-BE49-F238E27FC236}">
                <a16:creationId xmlns:a16="http://schemas.microsoft.com/office/drawing/2014/main" id="{A69F9B7C-2112-E8C5-5585-0EDA6CD2A7A7}"/>
              </a:ext>
            </a:extLst>
          </p:cNvPr>
          <p:cNvGrpSpPr/>
          <p:nvPr/>
        </p:nvGrpSpPr>
        <p:grpSpPr>
          <a:xfrm>
            <a:off x="509917" y="2789815"/>
            <a:ext cx="683882" cy="1779010"/>
            <a:chOff x="509917" y="2789815"/>
            <a:chExt cx="683882" cy="1779010"/>
          </a:xfrm>
        </p:grpSpPr>
        <p:sp>
          <p:nvSpPr>
            <p:cNvPr id="327" name="Rectangle 326">
              <a:extLst>
                <a:ext uri="{FF2B5EF4-FFF2-40B4-BE49-F238E27FC236}">
                  <a16:creationId xmlns:a16="http://schemas.microsoft.com/office/drawing/2014/main" id="{1CA7F2B1-927D-DAED-D326-A93482D04527}"/>
                </a:ext>
              </a:extLst>
            </p:cNvPr>
            <p:cNvSpPr/>
            <p:nvPr/>
          </p:nvSpPr>
          <p:spPr>
            <a:xfrm>
              <a:off x="509917" y="2789815"/>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BBVA</a:t>
              </a:r>
            </a:p>
          </p:txBody>
        </p:sp>
        <p:sp>
          <p:nvSpPr>
            <p:cNvPr id="328" name="Rectangle 327">
              <a:extLst>
                <a:ext uri="{FF2B5EF4-FFF2-40B4-BE49-F238E27FC236}">
                  <a16:creationId xmlns:a16="http://schemas.microsoft.com/office/drawing/2014/main" id="{130B7DA0-7BCD-1EEF-5C53-D74EB781E333}"/>
                </a:ext>
              </a:extLst>
            </p:cNvPr>
            <p:cNvSpPr/>
            <p:nvPr/>
          </p:nvSpPr>
          <p:spPr>
            <a:xfrm>
              <a:off x="509917" y="3088683"/>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Banamex</a:t>
              </a:r>
            </a:p>
          </p:txBody>
        </p:sp>
        <p:sp>
          <p:nvSpPr>
            <p:cNvPr id="329" name="Rectangle 328">
              <a:extLst>
                <a:ext uri="{FF2B5EF4-FFF2-40B4-BE49-F238E27FC236}">
                  <a16:creationId xmlns:a16="http://schemas.microsoft.com/office/drawing/2014/main" id="{5B690E2C-4F0D-8E0A-DF85-7DEA3EFA6415}"/>
                </a:ext>
              </a:extLst>
            </p:cNvPr>
            <p:cNvSpPr/>
            <p:nvPr/>
          </p:nvSpPr>
          <p:spPr>
            <a:xfrm>
              <a:off x="509917" y="363018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Santander</a:t>
              </a:r>
            </a:p>
          </p:txBody>
        </p:sp>
        <p:sp>
          <p:nvSpPr>
            <p:cNvPr id="330" name="Rectangle 329">
              <a:extLst>
                <a:ext uri="{FF2B5EF4-FFF2-40B4-BE49-F238E27FC236}">
                  <a16:creationId xmlns:a16="http://schemas.microsoft.com/office/drawing/2014/main" id="{DFB6298F-58AF-61BF-ED83-81C0ACA9A97F}"/>
                </a:ext>
              </a:extLst>
            </p:cNvPr>
            <p:cNvSpPr/>
            <p:nvPr/>
          </p:nvSpPr>
          <p:spPr>
            <a:xfrm>
              <a:off x="509917" y="393599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Banorte</a:t>
              </a:r>
            </a:p>
          </p:txBody>
        </p:sp>
        <p:sp>
          <p:nvSpPr>
            <p:cNvPr id="331" name="Rectangle 330">
              <a:extLst>
                <a:ext uri="{FF2B5EF4-FFF2-40B4-BE49-F238E27FC236}">
                  <a16:creationId xmlns:a16="http://schemas.microsoft.com/office/drawing/2014/main" id="{7833DD28-3AC3-7A96-D24E-F015D7FC64DD}"/>
                </a:ext>
              </a:extLst>
            </p:cNvPr>
            <p:cNvSpPr/>
            <p:nvPr/>
          </p:nvSpPr>
          <p:spPr>
            <a:xfrm>
              <a:off x="509917" y="4206868"/>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HSBC</a:t>
              </a:r>
            </a:p>
          </p:txBody>
        </p:sp>
        <p:sp>
          <p:nvSpPr>
            <p:cNvPr id="332" name="Rectangle 331">
              <a:extLst>
                <a:ext uri="{FF2B5EF4-FFF2-40B4-BE49-F238E27FC236}">
                  <a16:creationId xmlns:a16="http://schemas.microsoft.com/office/drawing/2014/main" id="{1145B2EA-8822-B3F9-09FE-02AA837EEF17}"/>
                </a:ext>
              </a:extLst>
            </p:cNvPr>
            <p:cNvSpPr/>
            <p:nvPr/>
          </p:nvSpPr>
          <p:spPr>
            <a:xfrm>
              <a:off x="509917" y="443028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a:t>
              </a:r>
            </a:p>
          </p:txBody>
        </p:sp>
      </p:grpSp>
      <p:grpSp>
        <p:nvGrpSpPr>
          <p:cNvPr id="708" name="Group 707">
            <a:extLst>
              <a:ext uri="{FF2B5EF4-FFF2-40B4-BE49-F238E27FC236}">
                <a16:creationId xmlns:a16="http://schemas.microsoft.com/office/drawing/2014/main" id="{7BAB5B89-B8EA-5217-0A88-4394A7621EA0}"/>
              </a:ext>
            </a:extLst>
          </p:cNvPr>
          <p:cNvGrpSpPr/>
          <p:nvPr/>
        </p:nvGrpSpPr>
        <p:grpSpPr>
          <a:xfrm>
            <a:off x="3574451" y="2531735"/>
            <a:ext cx="541487" cy="2038945"/>
            <a:chOff x="3629107" y="2531735"/>
            <a:chExt cx="447510" cy="2038945"/>
          </a:xfrm>
        </p:grpSpPr>
        <p:sp>
          <p:nvSpPr>
            <p:cNvPr id="454" name="Rectangle 453">
              <a:extLst>
                <a:ext uri="{FF2B5EF4-FFF2-40B4-BE49-F238E27FC236}">
                  <a16:creationId xmlns:a16="http://schemas.microsoft.com/office/drawing/2014/main" id="{281A909E-6ADE-80E3-A750-0BF281F83561}"/>
                </a:ext>
              </a:extLst>
            </p:cNvPr>
            <p:cNvSpPr/>
            <p:nvPr/>
          </p:nvSpPr>
          <p:spPr>
            <a:xfrm>
              <a:off x="3629107" y="2531735"/>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+503 bps</a:t>
              </a:r>
            </a:p>
          </p:txBody>
        </p:sp>
        <p:sp>
          <p:nvSpPr>
            <p:cNvPr id="455" name="Rectangle 454">
              <a:extLst>
                <a:ext uri="{FF2B5EF4-FFF2-40B4-BE49-F238E27FC236}">
                  <a16:creationId xmlns:a16="http://schemas.microsoft.com/office/drawing/2014/main" id="{BCE4FF80-DD73-980A-CB0F-53DB3163F203}"/>
                </a:ext>
              </a:extLst>
            </p:cNvPr>
            <p:cNvSpPr/>
            <p:nvPr/>
          </p:nvSpPr>
          <p:spPr>
            <a:xfrm>
              <a:off x="3629107" y="3088683"/>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-331 bps</a:t>
              </a:r>
            </a:p>
          </p:txBody>
        </p:sp>
        <p:sp>
          <p:nvSpPr>
            <p:cNvPr id="456" name="Rectangle 455">
              <a:extLst>
                <a:ext uri="{FF2B5EF4-FFF2-40B4-BE49-F238E27FC236}">
                  <a16:creationId xmlns:a16="http://schemas.microsoft.com/office/drawing/2014/main" id="{AB84B1D9-60D0-4918-5C84-3E56CE5A59A3}"/>
                </a:ext>
              </a:extLst>
            </p:cNvPr>
            <p:cNvSpPr/>
            <p:nvPr/>
          </p:nvSpPr>
          <p:spPr>
            <a:xfrm>
              <a:off x="3629107" y="3730360"/>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-207 bps</a:t>
              </a:r>
            </a:p>
          </p:txBody>
        </p:sp>
        <p:sp>
          <p:nvSpPr>
            <p:cNvPr id="457" name="Rectangle 456">
              <a:extLst>
                <a:ext uri="{FF2B5EF4-FFF2-40B4-BE49-F238E27FC236}">
                  <a16:creationId xmlns:a16="http://schemas.microsoft.com/office/drawing/2014/main" id="{B9C3C67F-2843-CB2E-273B-177064644AF7}"/>
                </a:ext>
              </a:extLst>
            </p:cNvPr>
            <p:cNvSpPr/>
            <p:nvPr/>
          </p:nvSpPr>
          <p:spPr>
            <a:xfrm>
              <a:off x="3629107" y="4023169"/>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167 bps</a:t>
              </a:r>
            </a:p>
          </p:txBody>
        </p:sp>
        <p:sp>
          <p:nvSpPr>
            <p:cNvPr id="458" name="Rectangle 457">
              <a:extLst>
                <a:ext uri="{FF2B5EF4-FFF2-40B4-BE49-F238E27FC236}">
                  <a16:creationId xmlns:a16="http://schemas.microsoft.com/office/drawing/2014/main" id="{0BEDC337-4B63-C0D8-1C22-ACB91F6874F7}"/>
                </a:ext>
              </a:extLst>
            </p:cNvPr>
            <p:cNvSpPr/>
            <p:nvPr/>
          </p:nvSpPr>
          <p:spPr>
            <a:xfrm>
              <a:off x="3629107" y="4193842"/>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44 bps</a:t>
              </a:r>
            </a:p>
          </p:txBody>
        </p:sp>
        <p:sp>
          <p:nvSpPr>
            <p:cNvPr id="459" name="Rectangle 458">
              <a:extLst>
                <a:ext uri="{FF2B5EF4-FFF2-40B4-BE49-F238E27FC236}">
                  <a16:creationId xmlns:a16="http://schemas.microsoft.com/office/drawing/2014/main" id="{F9CCA245-2999-ECA4-F9B2-EE42AB748F87}"/>
                </a:ext>
              </a:extLst>
            </p:cNvPr>
            <p:cNvSpPr/>
            <p:nvPr/>
          </p:nvSpPr>
          <p:spPr>
            <a:xfrm>
              <a:off x="3629107" y="4430280"/>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rgbClr val="EC111A"/>
                  </a:solidFill>
                </a:rPr>
                <a:t>-81 bps</a:t>
              </a:r>
            </a:p>
          </p:txBody>
        </p:sp>
      </p:grpSp>
      <p:grpSp>
        <p:nvGrpSpPr>
          <p:cNvPr id="501" name="Group 500">
            <a:extLst>
              <a:ext uri="{FF2B5EF4-FFF2-40B4-BE49-F238E27FC236}">
                <a16:creationId xmlns:a16="http://schemas.microsoft.com/office/drawing/2014/main" id="{3295F34F-0C6D-D771-8EF7-9B4F66474C66}"/>
              </a:ext>
            </a:extLst>
          </p:cNvPr>
          <p:cNvGrpSpPr/>
          <p:nvPr/>
        </p:nvGrpSpPr>
        <p:grpSpPr>
          <a:xfrm>
            <a:off x="505543" y="5143293"/>
            <a:ext cx="3632771" cy="860366"/>
            <a:chOff x="505543" y="5087903"/>
            <a:chExt cx="3632771" cy="860366"/>
          </a:xfrm>
        </p:grpSpPr>
        <p:grpSp>
          <p:nvGrpSpPr>
            <p:cNvPr id="489" name="Group 488">
              <a:extLst>
                <a:ext uri="{FF2B5EF4-FFF2-40B4-BE49-F238E27FC236}">
                  <a16:creationId xmlns:a16="http://schemas.microsoft.com/office/drawing/2014/main" id="{A7055091-7D28-2B00-C548-57E60F1E1392}"/>
                </a:ext>
              </a:extLst>
            </p:cNvPr>
            <p:cNvGrpSpPr/>
            <p:nvPr/>
          </p:nvGrpSpPr>
          <p:grpSpPr>
            <a:xfrm>
              <a:off x="1144239" y="5387609"/>
              <a:ext cx="2971700" cy="195290"/>
              <a:chOff x="1144239" y="5161743"/>
              <a:chExt cx="2971700" cy="195290"/>
            </a:xfrm>
          </p:grpSpPr>
          <p:sp>
            <p:nvSpPr>
              <p:cNvPr id="361" name="Rectangle 360">
                <a:extLst>
                  <a:ext uri="{FF2B5EF4-FFF2-40B4-BE49-F238E27FC236}">
                    <a16:creationId xmlns:a16="http://schemas.microsoft.com/office/drawing/2014/main" id="{AB3ADFED-6DD8-5FBD-42E0-ECF40DD02E1A}"/>
                  </a:ext>
                </a:extLst>
              </p:cNvPr>
              <p:cNvSpPr/>
              <p:nvPr/>
            </p:nvSpPr>
            <p:spPr>
              <a:xfrm>
                <a:off x="1144239" y="5161743"/>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$30.1</a:t>
                </a:r>
              </a:p>
            </p:txBody>
          </p:sp>
          <p:sp>
            <p:nvSpPr>
              <p:cNvPr id="362" name="Rectangle 361">
                <a:extLst>
                  <a:ext uri="{FF2B5EF4-FFF2-40B4-BE49-F238E27FC236}">
                    <a16:creationId xmlns:a16="http://schemas.microsoft.com/office/drawing/2014/main" id="{2DA66113-F2CD-0C05-2252-378F4DA94EBE}"/>
                  </a:ext>
                </a:extLst>
              </p:cNvPr>
              <p:cNvSpPr/>
              <p:nvPr/>
            </p:nvSpPr>
            <p:spPr>
              <a:xfrm>
                <a:off x="1806577" y="5161743"/>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$27.1</a:t>
                </a:r>
              </a:p>
            </p:txBody>
          </p:sp>
          <p:sp>
            <p:nvSpPr>
              <p:cNvPr id="363" name="Rectangle 362">
                <a:extLst>
                  <a:ext uri="{FF2B5EF4-FFF2-40B4-BE49-F238E27FC236}">
                    <a16:creationId xmlns:a16="http://schemas.microsoft.com/office/drawing/2014/main" id="{6D64A944-CCA1-413F-057A-D81016026ED6}"/>
                  </a:ext>
                </a:extLst>
              </p:cNvPr>
              <p:cNvSpPr/>
              <p:nvPr/>
            </p:nvSpPr>
            <p:spPr>
              <a:xfrm>
                <a:off x="2468915" y="5161743"/>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$38.4</a:t>
                </a:r>
              </a:p>
            </p:txBody>
          </p:sp>
          <p:sp>
            <p:nvSpPr>
              <p:cNvPr id="364" name="Rectangle 363">
                <a:extLst>
                  <a:ext uri="{FF2B5EF4-FFF2-40B4-BE49-F238E27FC236}">
                    <a16:creationId xmlns:a16="http://schemas.microsoft.com/office/drawing/2014/main" id="{872E459D-56DE-EF45-0A73-D859A6E92DCB}"/>
                  </a:ext>
                </a:extLst>
              </p:cNvPr>
              <p:cNvSpPr/>
              <p:nvPr/>
            </p:nvSpPr>
            <p:spPr>
              <a:xfrm>
                <a:off x="3131252" y="5161743"/>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$48.6</a:t>
                </a:r>
              </a:p>
            </p:txBody>
          </p:sp>
          <p:sp>
            <p:nvSpPr>
              <p:cNvPr id="391" name="Rectangle 390">
                <a:extLst>
                  <a:ext uri="{FF2B5EF4-FFF2-40B4-BE49-F238E27FC236}">
                    <a16:creationId xmlns:a16="http://schemas.microsoft.com/office/drawing/2014/main" id="{BA12966B-FBC3-181C-3BB9-B72F29931D57}"/>
                  </a:ext>
                </a:extLst>
              </p:cNvPr>
              <p:cNvSpPr/>
              <p:nvPr/>
            </p:nvSpPr>
            <p:spPr>
              <a:xfrm>
                <a:off x="3668429" y="5161743"/>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+8%</a:t>
                </a:r>
              </a:p>
            </p:txBody>
          </p:sp>
        </p:grpSp>
        <p:grpSp>
          <p:nvGrpSpPr>
            <p:cNvPr id="490" name="Group 489">
              <a:extLst>
                <a:ext uri="{FF2B5EF4-FFF2-40B4-BE49-F238E27FC236}">
                  <a16:creationId xmlns:a16="http://schemas.microsoft.com/office/drawing/2014/main" id="{9E1367AA-7734-C4E5-CD11-3DF1873FB216}"/>
                </a:ext>
              </a:extLst>
            </p:cNvPr>
            <p:cNvGrpSpPr/>
            <p:nvPr/>
          </p:nvGrpSpPr>
          <p:grpSpPr>
            <a:xfrm>
              <a:off x="1144239" y="5752979"/>
              <a:ext cx="2971700" cy="195290"/>
              <a:chOff x="1144239" y="5161743"/>
              <a:chExt cx="2971700" cy="195290"/>
            </a:xfrm>
          </p:grpSpPr>
          <p:sp>
            <p:nvSpPr>
              <p:cNvPr id="491" name="Rectangle 490">
                <a:extLst>
                  <a:ext uri="{FF2B5EF4-FFF2-40B4-BE49-F238E27FC236}">
                    <a16:creationId xmlns:a16="http://schemas.microsoft.com/office/drawing/2014/main" id="{282AE529-240A-94E9-CF23-0FF989ED81AB}"/>
                  </a:ext>
                </a:extLst>
              </p:cNvPr>
              <p:cNvSpPr/>
              <p:nvPr/>
            </p:nvSpPr>
            <p:spPr>
              <a:xfrm>
                <a:off x="1144239" y="5161743"/>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$0.9</a:t>
                </a:r>
              </a:p>
            </p:txBody>
          </p:sp>
          <p:sp>
            <p:nvSpPr>
              <p:cNvPr id="492" name="Rectangle 491">
                <a:extLst>
                  <a:ext uri="{FF2B5EF4-FFF2-40B4-BE49-F238E27FC236}">
                    <a16:creationId xmlns:a16="http://schemas.microsoft.com/office/drawing/2014/main" id="{F1C59672-A2B7-F505-1456-E8685D968EB5}"/>
                  </a:ext>
                </a:extLst>
              </p:cNvPr>
              <p:cNvSpPr/>
              <p:nvPr/>
            </p:nvSpPr>
            <p:spPr>
              <a:xfrm>
                <a:off x="1806577" y="5161743"/>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$0.6</a:t>
                </a:r>
              </a:p>
            </p:txBody>
          </p:sp>
          <p:sp>
            <p:nvSpPr>
              <p:cNvPr id="493" name="Rectangle 492">
                <a:extLst>
                  <a:ext uri="{FF2B5EF4-FFF2-40B4-BE49-F238E27FC236}">
                    <a16:creationId xmlns:a16="http://schemas.microsoft.com/office/drawing/2014/main" id="{20B7234E-7EDA-B021-9FD6-5A4404FDA4D4}"/>
                  </a:ext>
                </a:extLst>
              </p:cNvPr>
              <p:cNvSpPr/>
              <p:nvPr/>
            </p:nvSpPr>
            <p:spPr>
              <a:xfrm>
                <a:off x="2468915" y="5161743"/>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$0.7</a:t>
                </a:r>
              </a:p>
            </p:txBody>
          </p:sp>
          <p:sp>
            <p:nvSpPr>
              <p:cNvPr id="494" name="Rectangle 493">
                <a:extLst>
                  <a:ext uri="{FF2B5EF4-FFF2-40B4-BE49-F238E27FC236}">
                    <a16:creationId xmlns:a16="http://schemas.microsoft.com/office/drawing/2014/main" id="{C4C6B7B6-DFFD-A974-8463-EFD68F37EB6A}"/>
                  </a:ext>
                </a:extLst>
              </p:cNvPr>
              <p:cNvSpPr/>
              <p:nvPr/>
            </p:nvSpPr>
            <p:spPr>
              <a:xfrm>
                <a:off x="3131252" y="5161743"/>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$1.0</a:t>
                </a:r>
              </a:p>
            </p:txBody>
          </p:sp>
          <p:sp>
            <p:nvSpPr>
              <p:cNvPr id="495" name="Rectangle 494">
                <a:extLst>
                  <a:ext uri="{FF2B5EF4-FFF2-40B4-BE49-F238E27FC236}">
                    <a16:creationId xmlns:a16="http://schemas.microsoft.com/office/drawing/2014/main" id="{83AACE95-E7D4-6CB5-F849-F18BEE469168}"/>
                  </a:ext>
                </a:extLst>
              </p:cNvPr>
              <p:cNvSpPr/>
              <p:nvPr/>
            </p:nvSpPr>
            <p:spPr>
              <a:xfrm>
                <a:off x="3668429" y="5161743"/>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+2%</a:t>
                </a:r>
              </a:p>
            </p:txBody>
          </p:sp>
        </p:grpSp>
        <p:sp>
          <p:nvSpPr>
            <p:cNvPr id="496" name="Rectangle 495">
              <a:extLst>
                <a:ext uri="{FF2B5EF4-FFF2-40B4-BE49-F238E27FC236}">
                  <a16:creationId xmlns:a16="http://schemas.microsoft.com/office/drawing/2014/main" id="{0AE5E97C-039B-036A-1A3C-37435D744125}"/>
                </a:ext>
              </a:extLst>
            </p:cNvPr>
            <p:cNvSpPr/>
            <p:nvPr/>
          </p:nvSpPr>
          <p:spPr>
            <a:xfrm>
              <a:off x="509917" y="578135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a:t>
              </a:r>
            </a:p>
          </p:txBody>
        </p:sp>
        <p:sp>
          <p:nvSpPr>
            <p:cNvPr id="497" name="Rectangle 496">
              <a:extLst>
                <a:ext uri="{FF2B5EF4-FFF2-40B4-BE49-F238E27FC236}">
                  <a16:creationId xmlns:a16="http://schemas.microsoft.com/office/drawing/2014/main" id="{D10BD607-32F2-4839-FB72-93E0854B81E8}"/>
                </a:ext>
              </a:extLst>
            </p:cNvPr>
            <p:cNvSpPr/>
            <p:nvPr/>
          </p:nvSpPr>
          <p:spPr>
            <a:xfrm>
              <a:off x="509916" y="541598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chemeClr val="bg1">
                      <a:lumMod val="50000"/>
                    </a:schemeClr>
                  </a:solidFill>
                </a:rPr>
                <a:t>System</a:t>
              </a:r>
            </a:p>
          </p:txBody>
        </p:sp>
        <p:sp>
          <p:nvSpPr>
            <p:cNvPr id="499" name="Rectangle 498">
              <a:extLst>
                <a:ext uri="{FF2B5EF4-FFF2-40B4-BE49-F238E27FC236}">
                  <a16:creationId xmlns:a16="http://schemas.microsoft.com/office/drawing/2014/main" id="{34DB930E-3DB0-4C77-F836-07164A3EF8E0}"/>
                </a:ext>
              </a:extLst>
            </p:cNvPr>
            <p:cNvSpPr/>
            <p:nvPr/>
          </p:nvSpPr>
          <p:spPr>
            <a:xfrm>
              <a:off x="505543" y="5087903"/>
              <a:ext cx="1909853"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tx1"/>
                  </a:solidFill>
                </a:rPr>
                <a:t>Balances in CAD $Bn</a:t>
              </a:r>
            </a:p>
          </p:txBody>
        </p:sp>
        <p:sp>
          <p:nvSpPr>
            <p:cNvPr id="500" name="Rectangle 499">
              <a:extLst>
                <a:ext uri="{FF2B5EF4-FFF2-40B4-BE49-F238E27FC236}">
                  <a16:creationId xmlns:a16="http://schemas.microsoft.com/office/drawing/2014/main" id="{DE6459D7-68FF-1772-6AB5-E7C494AADA55}"/>
                </a:ext>
              </a:extLst>
            </p:cNvPr>
            <p:cNvSpPr/>
            <p:nvPr/>
          </p:nvSpPr>
          <p:spPr>
            <a:xfrm>
              <a:off x="3646054" y="5120481"/>
              <a:ext cx="492260"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Growth</a:t>
              </a:r>
            </a:p>
          </p:txBody>
        </p:sp>
      </p:grpSp>
      <p:grpSp>
        <p:nvGrpSpPr>
          <p:cNvPr id="536" name="Group 535">
            <a:extLst>
              <a:ext uri="{FF2B5EF4-FFF2-40B4-BE49-F238E27FC236}">
                <a16:creationId xmlns:a16="http://schemas.microsoft.com/office/drawing/2014/main" id="{63A26D3D-A199-1969-8B90-A39252553168}"/>
              </a:ext>
            </a:extLst>
          </p:cNvPr>
          <p:cNvGrpSpPr/>
          <p:nvPr/>
        </p:nvGrpSpPr>
        <p:grpSpPr>
          <a:xfrm>
            <a:off x="4296000" y="5143293"/>
            <a:ext cx="3632771" cy="860366"/>
            <a:chOff x="4296000" y="5143293"/>
            <a:chExt cx="3632771" cy="860366"/>
          </a:xfrm>
        </p:grpSpPr>
        <p:sp>
          <p:nvSpPr>
            <p:cNvPr id="514" name="Rectangle 513">
              <a:extLst>
                <a:ext uri="{FF2B5EF4-FFF2-40B4-BE49-F238E27FC236}">
                  <a16:creationId xmlns:a16="http://schemas.microsoft.com/office/drawing/2014/main" id="{6A745BEE-6AB6-F500-5911-85266D2FBC70}"/>
                </a:ext>
              </a:extLst>
            </p:cNvPr>
            <p:cNvSpPr/>
            <p:nvPr/>
          </p:nvSpPr>
          <p:spPr>
            <a:xfrm>
              <a:off x="4934696"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$8.5</a:t>
              </a:r>
            </a:p>
          </p:txBody>
        </p:sp>
        <p:sp>
          <p:nvSpPr>
            <p:cNvPr id="515" name="Rectangle 514">
              <a:extLst>
                <a:ext uri="{FF2B5EF4-FFF2-40B4-BE49-F238E27FC236}">
                  <a16:creationId xmlns:a16="http://schemas.microsoft.com/office/drawing/2014/main" id="{BD6C183B-E77D-D743-F394-A2F63DA4328E}"/>
                </a:ext>
              </a:extLst>
            </p:cNvPr>
            <p:cNvSpPr/>
            <p:nvPr/>
          </p:nvSpPr>
          <p:spPr>
            <a:xfrm>
              <a:off x="5597034"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$6.1</a:t>
              </a:r>
            </a:p>
          </p:txBody>
        </p:sp>
        <p:sp>
          <p:nvSpPr>
            <p:cNvPr id="516" name="Rectangle 515">
              <a:extLst>
                <a:ext uri="{FF2B5EF4-FFF2-40B4-BE49-F238E27FC236}">
                  <a16:creationId xmlns:a16="http://schemas.microsoft.com/office/drawing/2014/main" id="{084886E6-870F-F36C-F97E-1E84260EE61F}"/>
                </a:ext>
              </a:extLst>
            </p:cNvPr>
            <p:cNvSpPr/>
            <p:nvPr/>
          </p:nvSpPr>
          <p:spPr>
            <a:xfrm>
              <a:off x="6259372"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$9.4</a:t>
              </a:r>
            </a:p>
          </p:txBody>
        </p:sp>
        <p:sp>
          <p:nvSpPr>
            <p:cNvPr id="517" name="Rectangle 516">
              <a:extLst>
                <a:ext uri="{FF2B5EF4-FFF2-40B4-BE49-F238E27FC236}">
                  <a16:creationId xmlns:a16="http://schemas.microsoft.com/office/drawing/2014/main" id="{E23CF193-3B11-3401-52A5-0AB1DA97F668}"/>
                </a:ext>
              </a:extLst>
            </p:cNvPr>
            <p:cNvSpPr/>
            <p:nvPr/>
          </p:nvSpPr>
          <p:spPr>
            <a:xfrm>
              <a:off x="6921709"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$8.7</a:t>
              </a:r>
            </a:p>
          </p:txBody>
        </p:sp>
        <p:sp>
          <p:nvSpPr>
            <p:cNvPr id="518" name="Rectangle 517">
              <a:extLst>
                <a:ext uri="{FF2B5EF4-FFF2-40B4-BE49-F238E27FC236}">
                  <a16:creationId xmlns:a16="http://schemas.microsoft.com/office/drawing/2014/main" id="{D5C471F8-5FCA-CA31-8E74-38B9F7EF5E19}"/>
                </a:ext>
              </a:extLst>
            </p:cNvPr>
            <p:cNvSpPr/>
            <p:nvPr/>
          </p:nvSpPr>
          <p:spPr>
            <a:xfrm>
              <a:off x="7458886" y="5442999"/>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a:t>
              </a:r>
            </a:p>
          </p:txBody>
        </p:sp>
        <p:sp>
          <p:nvSpPr>
            <p:cNvPr id="509" name="Rectangle 508">
              <a:extLst>
                <a:ext uri="{FF2B5EF4-FFF2-40B4-BE49-F238E27FC236}">
                  <a16:creationId xmlns:a16="http://schemas.microsoft.com/office/drawing/2014/main" id="{BD036202-AF4F-D3E1-C220-F139ABA1C01A}"/>
                </a:ext>
              </a:extLst>
            </p:cNvPr>
            <p:cNvSpPr/>
            <p:nvPr/>
          </p:nvSpPr>
          <p:spPr>
            <a:xfrm>
              <a:off x="4934696"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$1.3</a:t>
              </a:r>
            </a:p>
          </p:txBody>
        </p:sp>
        <p:sp>
          <p:nvSpPr>
            <p:cNvPr id="510" name="Rectangle 509">
              <a:extLst>
                <a:ext uri="{FF2B5EF4-FFF2-40B4-BE49-F238E27FC236}">
                  <a16:creationId xmlns:a16="http://schemas.microsoft.com/office/drawing/2014/main" id="{3B69AF9A-48C8-DFF0-4139-85B4F69C642A}"/>
                </a:ext>
              </a:extLst>
            </p:cNvPr>
            <p:cNvSpPr/>
            <p:nvPr/>
          </p:nvSpPr>
          <p:spPr>
            <a:xfrm>
              <a:off x="5597034"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$0.8</a:t>
              </a:r>
            </a:p>
          </p:txBody>
        </p:sp>
        <p:sp>
          <p:nvSpPr>
            <p:cNvPr id="511" name="Rectangle 510">
              <a:extLst>
                <a:ext uri="{FF2B5EF4-FFF2-40B4-BE49-F238E27FC236}">
                  <a16:creationId xmlns:a16="http://schemas.microsoft.com/office/drawing/2014/main" id="{5A194897-1D41-DD4E-D248-A63DAFC57D06}"/>
                </a:ext>
              </a:extLst>
            </p:cNvPr>
            <p:cNvSpPr/>
            <p:nvPr/>
          </p:nvSpPr>
          <p:spPr>
            <a:xfrm>
              <a:off x="6259372"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$1.0</a:t>
              </a:r>
            </a:p>
          </p:txBody>
        </p:sp>
        <p:sp>
          <p:nvSpPr>
            <p:cNvPr id="512" name="Rectangle 511">
              <a:extLst>
                <a:ext uri="{FF2B5EF4-FFF2-40B4-BE49-F238E27FC236}">
                  <a16:creationId xmlns:a16="http://schemas.microsoft.com/office/drawing/2014/main" id="{4D357D3F-82F8-A7E9-9C38-FEB52146B984}"/>
                </a:ext>
              </a:extLst>
            </p:cNvPr>
            <p:cNvSpPr/>
            <p:nvPr/>
          </p:nvSpPr>
          <p:spPr>
            <a:xfrm>
              <a:off x="6921709"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$0.8</a:t>
              </a:r>
            </a:p>
          </p:txBody>
        </p:sp>
        <p:sp>
          <p:nvSpPr>
            <p:cNvPr id="513" name="Rectangle 512">
              <a:extLst>
                <a:ext uri="{FF2B5EF4-FFF2-40B4-BE49-F238E27FC236}">
                  <a16:creationId xmlns:a16="http://schemas.microsoft.com/office/drawing/2014/main" id="{23330EEE-CC9B-5EAC-B8AB-D20FB9CA14B7}"/>
                </a:ext>
              </a:extLst>
            </p:cNvPr>
            <p:cNvSpPr/>
            <p:nvPr/>
          </p:nvSpPr>
          <p:spPr>
            <a:xfrm>
              <a:off x="7458886" y="5808369"/>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-8%</a:t>
              </a:r>
            </a:p>
          </p:txBody>
        </p:sp>
        <p:sp>
          <p:nvSpPr>
            <p:cNvPr id="505" name="Rectangle 504">
              <a:extLst>
                <a:ext uri="{FF2B5EF4-FFF2-40B4-BE49-F238E27FC236}">
                  <a16:creationId xmlns:a16="http://schemas.microsoft.com/office/drawing/2014/main" id="{BFA6A8DB-D653-57F3-3004-591ED12D5EA4}"/>
                </a:ext>
              </a:extLst>
            </p:cNvPr>
            <p:cNvSpPr/>
            <p:nvPr/>
          </p:nvSpPr>
          <p:spPr>
            <a:xfrm>
              <a:off x="4300374" y="583674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a:t>
              </a:r>
            </a:p>
          </p:txBody>
        </p:sp>
        <p:sp>
          <p:nvSpPr>
            <p:cNvPr id="506" name="Rectangle 505">
              <a:extLst>
                <a:ext uri="{FF2B5EF4-FFF2-40B4-BE49-F238E27FC236}">
                  <a16:creationId xmlns:a16="http://schemas.microsoft.com/office/drawing/2014/main" id="{CDE13E90-009E-9192-6D26-12AAA353777F}"/>
                </a:ext>
              </a:extLst>
            </p:cNvPr>
            <p:cNvSpPr/>
            <p:nvPr/>
          </p:nvSpPr>
          <p:spPr>
            <a:xfrm>
              <a:off x="4300373" y="547137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chemeClr val="bg1">
                      <a:lumMod val="50000"/>
                    </a:schemeClr>
                  </a:solidFill>
                </a:rPr>
                <a:t>System</a:t>
              </a:r>
            </a:p>
          </p:txBody>
        </p:sp>
        <p:sp>
          <p:nvSpPr>
            <p:cNvPr id="507" name="Rectangle 506">
              <a:extLst>
                <a:ext uri="{FF2B5EF4-FFF2-40B4-BE49-F238E27FC236}">
                  <a16:creationId xmlns:a16="http://schemas.microsoft.com/office/drawing/2014/main" id="{0620424E-F358-C828-D762-4CB727F3A7A4}"/>
                </a:ext>
              </a:extLst>
            </p:cNvPr>
            <p:cNvSpPr/>
            <p:nvPr/>
          </p:nvSpPr>
          <p:spPr>
            <a:xfrm>
              <a:off x="4296000" y="5143293"/>
              <a:ext cx="1909853"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tx1"/>
                  </a:solidFill>
                </a:rPr>
                <a:t>Balances in CAD $Bn</a:t>
              </a:r>
            </a:p>
          </p:txBody>
        </p:sp>
        <p:sp>
          <p:nvSpPr>
            <p:cNvPr id="508" name="Rectangle 507">
              <a:extLst>
                <a:ext uri="{FF2B5EF4-FFF2-40B4-BE49-F238E27FC236}">
                  <a16:creationId xmlns:a16="http://schemas.microsoft.com/office/drawing/2014/main" id="{29B607B5-DBEC-4A3D-7D99-5794CE095767}"/>
                </a:ext>
              </a:extLst>
            </p:cNvPr>
            <p:cNvSpPr/>
            <p:nvPr/>
          </p:nvSpPr>
          <p:spPr>
            <a:xfrm>
              <a:off x="7436511" y="5175871"/>
              <a:ext cx="492260"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Growth</a:t>
              </a:r>
            </a:p>
          </p:txBody>
        </p:sp>
      </p:grpSp>
      <p:grpSp>
        <p:nvGrpSpPr>
          <p:cNvPr id="541" name="Group 540">
            <a:extLst>
              <a:ext uri="{FF2B5EF4-FFF2-40B4-BE49-F238E27FC236}">
                <a16:creationId xmlns:a16="http://schemas.microsoft.com/office/drawing/2014/main" id="{A9C45FDD-8DBA-0B09-070A-F20504D20E12}"/>
              </a:ext>
            </a:extLst>
          </p:cNvPr>
          <p:cNvGrpSpPr/>
          <p:nvPr/>
        </p:nvGrpSpPr>
        <p:grpSpPr>
          <a:xfrm>
            <a:off x="8080436" y="5684727"/>
            <a:ext cx="3606022" cy="146724"/>
            <a:chOff x="8080436" y="5808369"/>
            <a:chExt cx="3606022" cy="195290"/>
          </a:xfrm>
        </p:grpSpPr>
        <p:sp>
          <p:nvSpPr>
            <p:cNvPr id="526" name="Rectangle 525">
              <a:extLst>
                <a:ext uri="{FF2B5EF4-FFF2-40B4-BE49-F238E27FC236}">
                  <a16:creationId xmlns:a16="http://schemas.microsoft.com/office/drawing/2014/main" id="{AB613FBF-011D-CE94-2507-D88C1F4E9F14}"/>
                </a:ext>
              </a:extLst>
            </p:cNvPr>
            <p:cNvSpPr/>
            <p:nvPr/>
          </p:nvSpPr>
          <p:spPr>
            <a:xfrm>
              <a:off x="8714758"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$2.2</a:t>
              </a:r>
            </a:p>
          </p:txBody>
        </p:sp>
        <p:sp>
          <p:nvSpPr>
            <p:cNvPr id="527" name="Rectangle 526">
              <a:extLst>
                <a:ext uri="{FF2B5EF4-FFF2-40B4-BE49-F238E27FC236}">
                  <a16:creationId xmlns:a16="http://schemas.microsoft.com/office/drawing/2014/main" id="{13C5CDF4-3A42-A1E3-3D38-032296E15B1E}"/>
                </a:ext>
              </a:extLst>
            </p:cNvPr>
            <p:cNvSpPr/>
            <p:nvPr/>
          </p:nvSpPr>
          <p:spPr>
            <a:xfrm>
              <a:off x="9377096"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$2.1</a:t>
              </a:r>
            </a:p>
          </p:txBody>
        </p:sp>
        <p:sp>
          <p:nvSpPr>
            <p:cNvPr id="528" name="Rectangle 527">
              <a:extLst>
                <a:ext uri="{FF2B5EF4-FFF2-40B4-BE49-F238E27FC236}">
                  <a16:creationId xmlns:a16="http://schemas.microsoft.com/office/drawing/2014/main" id="{7D563D15-D114-3EB0-66C7-AD885CB95624}"/>
                </a:ext>
              </a:extLst>
            </p:cNvPr>
            <p:cNvSpPr/>
            <p:nvPr/>
          </p:nvSpPr>
          <p:spPr>
            <a:xfrm>
              <a:off x="10039434"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$3.4</a:t>
              </a:r>
            </a:p>
          </p:txBody>
        </p:sp>
        <p:sp>
          <p:nvSpPr>
            <p:cNvPr id="529" name="Rectangle 528">
              <a:extLst>
                <a:ext uri="{FF2B5EF4-FFF2-40B4-BE49-F238E27FC236}">
                  <a16:creationId xmlns:a16="http://schemas.microsoft.com/office/drawing/2014/main" id="{6BE3B5A4-AAB5-2C1B-90A4-04CDB1AFD905}"/>
                </a:ext>
              </a:extLst>
            </p:cNvPr>
            <p:cNvSpPr/>
            <p:nvPr/>
          </p:nvSpPr>
          <p:spPr>
            <a:xfrm>
              <a:off x="10701771"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$3.9</a:t>
              </a:r>
            </a:p>
          </p:txBody>
        </p:sp>
        <p:sp>
          <p:nvSpPr>
            <p:cNvPr id="530" name="Rectangle 529">
              <a:extLst>
                <a:ext uri="{FF2B5EF4-FFF2-40B4-BE49-F238E27FC236}">
                  <a16:creationId xmlns:a16="http://schemas.microsoft.com/office/drawing/2014/main" id="{9E13822A-C9F3-1D95-C7A9-64384FFABE85}"/>
                </a:ext>
              </a:extLst>
            </p:cNvPr>
            <p:cNvSpPr/>
            <p:nvPr/>
          </p:nvSpPr>
          <p:spPr>
            <a:xfrm>
              <a:off x="11238948" y="5808369"/>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+10%</a:t>
              </a:r>
            </a:p>
          </p:txBody>
        </p:sp>
        <p:sp>
          <p:nvSpPr>
            <p:cNvPr id="522" name="Rectangle 521">
              <a:extLst>
                <a:ext uri="{FF2B5EF4-FFF2-40B4-BE49-F238E27FC236}">
                  <a16:creationId xmlns:a16="http://schemas.microsoft.com/office/drawing/2014/main" id="{82187803-E582-B45A-5B03-749F653AD744}"/>
                </a:ext>
              </a:extLst>
            </p:cNvPr>
            <p:cNvSpPr/>
            <p:nvPr/>
          </p:nvSpPr>
          <p:spPr>
            <a:xfrm>
              <a:off x="8080436" y="583674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a:t>
              </a:r>
            </a:p>
          </p:txBody>
        </p:sp>
      </p:grpSp>
      <p:grpSp>
        <p:nvGrpSpPr>
          <p:cNvPr id="549" name="Group 548">
            <a:extLst>
              <a:ext uri="{FF2B5EF4-FFF2-40B4-BE49-F238E27FC236}">
                <a16:creationId xmlns:a16="http://schemas.microsoft.com/office/drawing/2014/main" id="{95CA93F3-D586-4981-F72C-DA5A28D6B374}"/>
              </a:ext>
            </a:extLst>
          </p:cNvPr>
          <p:cNvGrpSpPr/>
          <p:nvPr/>
        </p:nvGrpSpPr>
        <p:grpSpPr>
          <a:xfrm>
            <a:off x="8080435" y="5440386"/>
            <a:ext cx="3606023" cy="146724"/>
            <a:chOff x="8080435" y="5442999"/>
            <a:chExt cx="3606023" cy="195290"/>
          </a:xfrm>
        </p:grpSpPr>
        <p:sp>
          <p:nvSpPr>
            <p:cNvPr id="531" name="Rectangle 530">
              <a:extLst>
                <a:ext uri="{FF2B5EF4-FFF2-40B4-BE49-F238E27FC236}">
                  <a16:creationId xmlns:a16="http://schemas.microsoft.com/office/drawing/2014/main" id="{A9D4CA5E-A6FA-0BA1-5E9D-B2916AE9AAE1}"/>
                </a:ext>
              </a:extLst>
            </p:cNvPr>
            <p:cNvSpPr/>
            <p:nvPr/>
          </p:nvSpPr>
          <p:spPr>
            <a:xfrm>
              <a:off x="8714758"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$13.2</a:t>
              </a:r>
            </a:p>
          </p:txBody>
        </p:sp>
        <p:sp>
          <p:nvSpPr>
            <p:cNvPr id="532" name="Rectangle 531">
              <a:extLst>
                <a:ext uri="{FF2B5EF4-FFF2-40B4-BE49-F238E27FC236}">
                  <a16:creationId xmlns:a16="http://schemas.microsoft.com/office/drawing/2014/main" id="{29931D45-1A69-ED46-FD70-FBC70263C33D}"/>
                </a:ext>
              </a:extLst>
            </p:cNvPr>
            <p:cNvSpPr/>
            <p:nvPr/>
          </p:nvSpPr>
          <p:spPr>
            <a:xfrm>
              <a:off x="9377096"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$11.2</a:t>
              </a:r>
            </a:p>
          </p:txBody>
        </p:sp>
        <p:sp>
          <p:nvSpPr>
            <p:cNvPr id="533" name="Rectangle 532">
              <a:extLst>
                <a:ext uri="{FF2B5EF4-FFF2-40B4-BE49-F238E27FC236}">
                  <a16:creationId xmlns:a16="http://schemas.microsoft.com/office/drawing/2014/main" id="{4D4CFB21-FE82-F730-22E0-E0E8D8414F81}"/>
                </a:ext>
              </a:extLst>
            </p:cNvPr>
            <p:cNvSpPr/>
            <p:nvPr/>
          </p:nvSpPr>
          <p:spPr>
            <a:xfrm>
              <a:off x="10039434"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$16.4</a:t>
              </a:r>
            </a:p>
          </p:txBody>
        </p:sp>
        <p:sp>
          <p:nvSpPr>
            <p:cNvPr id="534" name="Rectangle 533">
              <a:extLst>
                <a:ext uri="{FF2B5EF4-FFF2-40B4-BE49-F238E27FC236}">
                  <a16:creationId xmlns:a16="http://schemas.microsoft.com/office/drawing/2014/main" id="{249E4DEA-27D8-C4C1-D20C-19BB3160E183}"/>
                </a:ext>
              </a:extLst>
            </p:cNvPr>
            <p:cNvSpPr/>
            <p:nvPr/>
          </p:nvSpPr>
          <p:spPr>
            <a:xfrm>
              <a:off x="10701771" y="5442999"/>
              <a:ext cx="456095" cy="195290"/>
            </a:xfrm>
            <a:prstGeom prst="rect">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$19.1</a:t>
              </a:r>
            </a:p>
          </p:txBody>
        </p:sp>
        <p:sp>
          <p:nvSpPr>
            <p:cNvPr id="535" name="Rectangle 534">
              <a:extLst>
                <a:ext uri="{FF2B5EF4-FFF2-40B4-BE49-F238E27FC236}">
                  <a16:creationId xmlns:a16="http://schemas.microsoft.com/office/drawing/2014/main" id="{FAB7E130-B3A0-9928-9F96-AAFD9AB4DAC9}"/>
                </a:ext>
              </a:extLst>
            </p:cNvPr>
            <p:cNvSpPr/>
            <p:nvPr/>
          </p:nvSpPr>
          <p:spPr>
            <a:xfrm>
              <a:off x="11238948" y="5442999"/>
              <a:ext cx="447510" cy="19529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+6%</a:t>
              </a:r>
            </a:p>
          </p:txBody>
        </p:sp>
        <p:sp>
          <p:nvSpPr>
            <p:cNvPr id="523" name="Rectangle 522">
              <a:extLst>
                <a:ext uri="{FF2B5EF4-FFF2-40B4-BE49-F238E27FC236}">
                  <a16:creationId xmlns:a16="http://schemas.microsoft.com/office/drawing/2014/main" id="{8BF250CE-533F-63BD-B9FC-D1226C5DF2AA}"/>
                </a:ext>
              </a:extLst>
            </p:cNvPr>
            <p:cNvSpPr/>
            <p:nvPr/>
          </p:nvSpPr>
          <p:spPr>
            <a:xfrm>
              <a:off x="8080435" y="5471372"/>
              <a:ext cx="58299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chemeClr val="bg1">
                      <a:lumMod val="50000"/>
                    </a:schemeClr>
                  </a:solidFill>
                </a:rPr>
                <a:t>System</a:t>
              </a:r>
            </a:p>
          </p:txBody>
        </p:sp>
      </p:grpSp>
      <p:sp>
        <p:nvSpPr>
          <p:cNvPr id="524" name="Rectangle 523">
            <a:extLst>
              <a:ext uri="{FF2B5EF4-FFF2-40B4-BE49-F238E27FC236}">
                <a16:creationId xmlns:a16="http://schemas.microsoft.com/office/drawing/2014/main" id="{125BA46B-C0C7-8CB1-5137-83C20F64793E}"/>
              </a:ext>
            </a:extLst>
          </p:cNvPr>
          <p:cNvSpPr/>
          <p:nvPr/>
        </p:nvSpPr>
        <p:spPr>
          <a:xfrm>
            <a:off x="8076062" y="5143293"/>
            <a:ext cx="1909853"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tx1"/>
                </a:solidFill>
              </a:rPr>
              <a:t>Balances in CAD $Bn</a:t>
            </a:r>
          </a:p>
        </p:txBody>
      </p:sp>
      <p:sp>
        <p:nvSpPr>
          <p:cNvPr id="525" name="Rectangle 524">
            <a:extLst>
              <a:ext uri="{FF2B5EF4-FFF2-40B4-BE49-F238E27FC236}">
                <a16:creationId xmlns:a16="http://schemas.microsoft.com/office/drawing/2014/main" id="{D83E9A5F-17C3-E157-B335-560B421DDB76}"/>
              </a:ext>
            </a:extLst>
          </p:cNvPr>
          <p:cNvSpPr/>
          <p:nvPr/>
        </p:nvSpPr>
        <p:spPr>
          <a:xfrm>
            <a:off x="11216573" y="5175871"/>
            <a:ext cx="492260"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Growth</a:t>
            </a:r>
          </a:p>
        </p:txBody>
      </p:sp>
      <p:grpSp>
        <p:nvGrpSpPr>
          <p:cNvPr id="542" name="Group 541">
            <a:extLst>
              <a:ext uri="{FF2B5EF4-FFF2-40B4-BE49-F238E27FC236}">
                <a16:creationId xmlns:a16="http://schemas.microsoft.com/office/drawing/2014/main" id="{300EEFD9-0B8E-B4A9-EA6B-A64FC0FA047B}"/>
              </a:ext>
            </a:extLst>
          </p:cNvPr>
          <p:cNvGrpSpPr/>
          <p:nvPr/>
        </p:nvGrpSpPr>
        <p:grpSpPr>
          <a:xfrm>
            <a:off x="8076062" y="5919849"/>
            <a:ext cx="3077430" cy="146724"/>
            <a:chOff x="8080436" y="5808369"/>
            <a:chExt cx="3077430" cy="195290"/>
          </a:xfrm>
        </p:grpSpPr>
        <p:sp>
          <p:nvSpPr>
            <p:cNvPr id="545" name="Rectangle 544">
              <a:extLst>
                <a:ext uri="{FF2B5EF4-FFF2-40B4-BE49-F238E27FC236}">
                  <a16:creationId xmlns:a16="http://schemas.microsoft.com/office/drawing/2014/main" id="{B015D99D-70F0-748F-15C7-CC5821A5C5FC}"/>
                </a:ext>
              </a:extLst>
            </p:cNvPr>
            <p:cNvSpPr/>
            <p:nvPr/>
          </p:nvSpPr>
          <p:spPr>
            <a:xfrm>
              <a:off x="10039434"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$0.8</a:t>
              </a:r>
            </a:p>
          </p:txBody>
        </p:sp>
        <p:sp>
          <p:nvSpPr>
            <p:cNvPr id="546" name="Rectangle 545">
              <a:extLst>
                <a:ext uri="{FF2B5EF4-FFF2-40B4-BE49-F238E27FC236}">
                  <a16:creationId xmlns:a16="http://schemas.microsoft.com/office/drawing/2014/main" id="{F741094E-7B36-BFED-7E81-712A36B55FC8}"/>
                </a:ext>
              </a:extLst>
            </p:cNvPr>
            <p:cNvSpPr/>
            <p:nvPr/>
          </p:nvSpPr>
          <p:spPr>
            <a:xfrm>
              <a:off x="10701771" y="5808369"/>
              <a:ext cx="456095" cy="195290"/>
            </a:xfrm>
            <a:prstGeom prst="rect">
              <a:avLst/>
            </a:prstGeom>
            <a:no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tx1"/>
                  </a:solidFill>
                </a:rPr>
                <a:t>$0.9</a:t>
              </a:r>
            </a:p>
          </p:txBody>
        </p:sp>
        <p:sp>
          <p:nvSpPr>
            <p:cNvPr id="548" name="Rectangle 547">
              <a:extLst>
                <a:ext uri="{FF2B5EF4-FFF2-40B4-BE49-F238E27FC236}">
                  <a16:creationId xmlns:a16="http://schemas.microsoft.com/office/drawing/2014/main" id="{95CE1052-0F9D-302F-467F-B116A048CBD3}"/>
                </a:ext>
              </a:extLst>
            </p:cNvPr>
            <p:cNvSpPr/>
            <p:nvPr/>
          </p:nvSpPr>
          <p:spPr>
            <a:xfrm>
              <a:off x="8080436" y="5836742"/>
              <a:ext cx="862616"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 ex CAT</a:t>
              </a:r>
              <a:r>
                <a:rPr lang="en-US" sz="1000" b="1" baseline="30000">
                  <a:solidFill>
                    <a:srgbClr val="EC111A"/>
                  </a:solidFill>
                </a:rPr>
                <a:t>2</a:t>
              </a:r>
            </a:p>
          </p:txBody>
        </p:sp>
      </p:grpSp>
      <p:graphicFrame>
        <p:nvGraphicFramePr>
          <p:cNvPr id="26" name="Chart 25">
            <a:extLst>
              <a:ext uri="{FF2B5EF4-FFF2-40B4-BE49-F238E27FC236}">
                <a16:creationId xmlns:a16="http://schemas.microsoft.com/office/drawing/2014/main" id="{04967763-E114-E754-307E-1B5E42D6EE43}"/>
              </a:ext>
            </a:extLst>
          </p:cNvPr>
          <p:cNvGraphicFramePr/>
          <p:nvPr>
            <p:custDataLst>
              <p:tags r:id="rId35"/>
            </p:custDataLst>
          </p:nvPr>
        </p:nvGraphicFramePr>
        <p:xfrm>
          <a:off x="5032375" y="2271713"/>
          <a:ext cx="2181225" cy="2711450"/>
        </p:xfrm>
        <a:graphic>
          <a:graphicData uri="http://schemas.openxmlformats.org/drawingml/2006/chart">
            <c:chart xmlns:c="http://schemas.openxmlformats.org/drawingml/2006/chart" xmlns:r="http://schemas.openxmlformats.org/officeDocument/2006/relationships" r:id="rId88"/>
          </a:graphicData>
        </a:graphic>
      </p:graphicFrame>
      <p:sp>
        <p:nvSpPr>
          <p:cNvPr id="551" name="Text Placeholder 2">
            <a:extLst>
              <a:ext uri="{FF2B5EF4-FFF2-40B4-BE49-F238E27FC236}">
                <a16:creationId xmlns:a16="http://schemas.microsoft.com/office/drawing/2014/main" id="{FEF79548-6360-3607-1CB9-8528895B8873}"/>
              </a:ext>
            </a:extLst>
          </p:cNvPr>
          <p:cNvSpPr>
            <a:spLocks/>
          </p:cNvSpPr>
          <p:nvPr>
            <p:custDataLst>
              <p:tags r:id="rId36"/>
            </p:custDataLst>
          </p:nvPr>
        </p:nvSpPr>
        <p:spPr bwMode="gray">
          <a:xfrm>
            <a:off x="4972050" y="4843463"/>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kumimoji="0" lang="en-US" sz="1000" b="1" i="0" strike="noStrike" kern="1200" cap="none" spc="0" normalizeH="0" baseline="0" noProof="0">
                <a:ln>
                  <a:noFill/>
                </a:ln>
                <a:solidFill>
                  <a:srgbClr val="000000"/>
                </a:solidFill>
                <a:effectLst/>
                <a:uLnTx/>
                <a:uFillTx/>
              </a:rPr>
              <a:t>2019</a:t>
            </a:r>
          </a:p>
        </p:txBody>
      </p:sp>
      <p:sp>
        <p:nvSpPr>
          <p:cNvPr id="552" name="Text Placeholder 2">
            <a:extLst>
              <a:ext uri="{FF2B5EF4-FFF2-40B4-BE49-F238E27FC236}">
                <a16:creationId xmlns:a16="http://schemas.microsoft.com/office/drawing/2014/main" id="{5B285312-9908-4876-679E-B04203404CF6}"/>
              </a:ext>
            </a:extLst>
          </p:cNvPr>
          <p:cNvSpPr>
            <a:spLocks/>
          </p:cNvSpPr>
          <p:nvPr>
            <p:custDataLst>
              <p:tags r:id="rId37"/>
            </p:custDataLst>
          </p:nvPr>
        </p:nvSpPr>
        <p:spPr bwMode="gray">
          <a:xfrm>
            <a:off x="5646738" y="4843463"/>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2021</a:t>
            </a:r>
            <a:endParaRPr kumimoji="0" lang="en-US" sz="1000" b="1" i="0" strike="noStrike" kern="1200" cap="none" spc="0" normalizeH="0" baseline="0" noProof="0">
              <a:ln>
                <a:noFill/>
              </a:ln>
              <a:solidFill>
                <a:srgbClr val="000000"/>
              </a:solidFill>
              <a:effectLst/>
              <a:uLnTx/>
              <a:uFillTx/>
            </a:endParaRPr>
          </a:p>
        </p:txBody>
      </p:sp>
      <p:sp>
        <p:nvSpPr>
          <p:cNvPr id="553" name="Text Placeholder 2">
            <a:extLst>
              <a:ext uri="{FF2B5EF4-FFF2-40B4-BE49-F238E27FC236}">
                <a16:creationId xmlns:a16="http://schemas.microsoft.com/office/drawing/2014/main" id="{16D051E5-F39F-800D-FB19-2781FF0CFB38}"/>
              </a:ext>
            </a:extLst>
          </p:cNvPr>
          <p:cNvSpPr>
            <a:spLocks/>
          </p:cNvSpPr>
          <p:nvPr>
            <p:custDataLst>
              <p:tags r:id="rId38"/>
            </p:custDataLst>
          </p:nvPr>
        </p:nvSpPr>
        <p:spPr bwMode="gray">
          <a:xfrm>
            <a:off x="6313488" y="48434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2023</a:t>
            </a:r>
            <a:endParaRPr kumimoji="0" lang="en-US" sz="1000" b="1" i="0" strike="noStrike" kern="1200" cap="none" spc="0" normalizeH="0" baseline="0" noProof="0">
              <a:ln>
                <a:noFill/>
              </a:ln>
              <a:solidFill>
                <a:srgbClr val="000000"/>
              </a:solidFill>
              <a:effectLst/>
              <a:uLnTx/>
              <a:uFillTx/>
            </a:endParaRPr>
          </a:p>
        </p:txBody>
      </p:sp>
      <p:sp>
        <p:nvSpPr>
          <p:cNvPr id="554" name="Text Placeholder 2">
            <a:extLst>
              <a:ext uri="{FF2B5EF4-FFF2-40B4-BE49-F238E27FC236}">
                <a16:creationId xmlns:a16="http://schemas.microsoft.com/office/drawing/2014/main" id="{AE014FA4-448A-F614-02E7-CD6BACB189F6}"/>
              </a:ext>
            </a:extLst>
          </p:cNvPr>
          <p:cNvSpPr>
            <a:spLocks/>
          </p:cNvSpPr>
          <p:nvPr>
            <p:custDataLst>
              <p:tags r:id="rId39"/>
            </p:custDataLst>
          </p:nvPr>
        </p:nvSpPr>
        <p:spPr bwMode="gray">
          <a:xfrm>
            <a:off x="6986588" y="4843463"/>
            <a:ext cx="29051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2025</a:t>
            </a:r>
            <a:endParaRPr kumimoji="0" lang="en-US" sz="1000" b="1" i="0" strike="noStrike" kern="1200" cap="none" spc="0" normalizeH="0" baseline="0" noProof="0">
              <a:ln>
                <a:noFill/>
              </a:ln>
              <a:solidFill>
                <a:srgbClr val="000000"/>
              </a:solidFill>
              <a:effectLst/>
              <a:uLnTx/>
              <a:uFillTx/>
            </a:endParaRPr>
          </a:p>
        </p:txBody>
      </p:sp>
      <p:sp>
        <p:nvSpPr>
          <p:cNvPr id="603" name="Text Placeholder 2">
            <a:extLst>
              <a:ext uri="{FF2B5EF4-FFF2-40B4-BE49-F238E27FC236}">
                <a16:creationId xmlns:a16="http://schemas.microsoft.com/office/drawing/2014/main" id="{CB3DB853-3CC4-AE8D-5847-E24C3AC5D6FE}"/>
              </a:ext>
            </a:extLst>
          </p:cNvPr>
          <p:cNvSpPr>
            <a:spLocks/>
          </p:cNvSpPr>
          <p:nvPr>
            <p:custDataLst>
              <p:tags r:id="rId40"/>
            </p:custDataLst>
          </p:nvPr>
        </p:nvSpPr>
        <p:spPr bwMode="gray">
          <a:xfrm>
            <a:off x="4986338" y="3781425"/>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4F641D84-C950-4D0B-B93E-4403FAFC847D}" type="datetime'''''''''''''1''''''''''''''''5''%'''''''''''''''''">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E1111A"/>
              </a:solidFill>
              <a:effectLst/>
              <a:uLnTx/>
              <a:uFillTx/>
            </a:endParaRPr>
          </a:p>
        </p:txBody>
      </p:sp>
      <p:sp>
        <p:nvSpPr>
          <p:cNvPr id="647" name="Text Placeholder 2">
            <a:extLst>
              <a:ext uri="{FF2B5EF4-FFF2-40B4-BE49-F238E27FC236}">
                <a16:creationId xmlns:a16="http://schemas.microsoft.com/office/drawing/2014/main" id="{F52106AE-3323-2A5E-EB69-679BFFC68040}"/>
              </a:ext>
            </a:extLst>
          </p:cNvPr>
          <p:cNvSpPr>
            <a:spLocks/>
          </p:cNvSpPr>
          <p:nvPr>
            <p:custDataLst>
              <p:tags r:id="rId41"/>
            </p:custDataLst>
          </p:nvPr>
        </p:nvSpPr>
        <p:spPr bwMode="gray">
          <a:xfrm>
            <a:off x="4970463" y="3292475"/>
            <a:ext cx="27940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183BFB93-FB91-4471-9DFB-17B0119FAFB3}" type="datetime'''2''''''''''''''5'''''''''''''''''''''''''''''''''">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25</a:t>
            </a:fld>
            <a:r>
              <a:rPr lang="en-US" altLang="en-US" sz="1000">
                <a:solidFill>
                  <a:srgbClr val="808080"/>
                </a:solidFill>
                <a:effectLst/>
              </a:rPr>
              <a:t>%</a:t>
            </a:r>
            <a:endParaRPr kumimoji="0" lang="en-US" sz="1000" b="0" i="0" strike="noStrike" kern="1200" cap="none" spc="0" normalizeH="0" baseline="0" noProof="0">
              <a:ln>
                <a:noFill/>
              </a:ln>
              <a:solidFill>
                <a:srgbClr val="808080"/>
              </a:solidFill>
              <a:effectLst/>
              <a:uLnTx/>
              <a:uFillTx/>
              <a:ea typeface="+mn-ea"/>
              <a:cs typeface="+mn-cs"/>
            </a:endParaRPr>
          </a:p>
        </p:txBody>
      </p:sp>
      <p:sp>
        <p:nvSpPr>
          <p:cNvPr id="604" name="Text Placeholder 2">
            <a:extLst>
              <a:ext uri="{FF2B5EF4-FFF2-40B4-BE49-F238E27FC236}">
                <a16:creationId xmlns:a16="http://schemas.microsoft.com/office/drawing/2014/main" id="{962DFC09-C38F-28E9-7214-A7AE55B731DD}"/>
              </a:ext>
            </a:extLst>
          </p:cNvPr>
          <p:cNvSpPr>
            <a:spLocks/>
          </p:cNvSpPr>
          <p:nvPr>
            <p:custDataLst>
              <p:tags r:id="rId42"/>
            </p:custDataLst>
          </p:nvPr>
        </p:nvSpPr>
        <p:spPr bwMode="gray">
          <a:xfrm>
            <a:off x="4978400" y="4191000"/>
            <a:ext cx="2762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54402C7C-C311-4156-8369-A78B68EA3B9C}" type="datetime'''''''''''''''1''''0''''''''''''''''''''''''''''''''''''%'">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10%</a:t>
            </a:fld>
            <a:endParaRPr kumimoji="0" lang="en-US" sz="1000" b="0" i="0" strike="noStrike" kern="1200" cap="none" spc="0" normalizeH="0" baseline="0" noProof="0">
              <a:ln>
                <a:noFill/>
              </a:ln>
              <a:solidFill>
                <a:srgbClr val="808080"/>
              </a:solidFill>
              <a:effectLst/>
              <a:uLnTx/>
              <a:uFillTx/>
            </a:endParaRPr>
          </a:p>
        </p:txBody>
      </p:sp>
      <p:sp>
        <p:nvSpPr>
          <p:cNvPr id="605" name="Text Placeholder 2">
            <a:extLst>
              <a:ext uri="{FF2B5EF4-FFF2-40B4-BE49-F238E27FC236}">
                <a16:creationId xmlns:a16="http://schemas.microsoft.com/office/drawing/2014/main" id="{79D579BF-4E70-2137-96C7-68288E951C2E}"/>
              </a:ext>
            </a:extLst>
          </p:cNvPr>
          <p:cNvSpPr>
            <a:spLocks/>
          </p:cNvSpPr>
          <p:nvPr>
            <p:custDataLst>
              <p:tags r:id="rId43"/>
            </p:custDataLst>
          </p:nvPr>
        </p:nvSpPr>
        <p:spPr bwMode="gray">
          <a:xfrm>
            <a:off x="4979988" y="2901950"/>
            <a:ext cx="280988"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40B5B96B-3BE1-4CBB-AF7D-0A3793638C9C}" type="datetime'''''''''''''2''''''''''''''''''7''''''''''''''''''''%'''''">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27%</a:t>
            </a:fld>
            <a:endParaRPr kumimoji="0" lang="en-US" sz="1000" b="0" i="0" strike="noStrike" kern="1200" cap="none" spc="0" normalizeH="0" baseline="0" noProof="0">
              <a:ln>
                <a:noFill/>
              </a:ln>
              <a:solidFill>
                <a:srgbClr val="808080"/>
              </a:solidFill>
              <a:effectLst/>
              <a:uLnTx/>
              <a:uFillTx/>
              <a:ea typeface="+mn-ea"/>
              <a:cs typeface="+mn-cs"/>
            </a:endParaRPr>
          </a:p>
        </p:txBody>
      </p:sp>
      <p:sp>
        <p:nvSpPr>
          <p:cNvPr id="606" name="Text Placeholder 2">
            <a:extLst>
              <a:ext uri="{FF2B5EF4-FFF2-40B4-BE49-F238E27FC236}">
                <a16:creationId xmlns:a16="http://schemas.microsoft.com/office/drawing/2014/main" id="{55603548-2AB0-E2EF-ECAF-6A6A76C996F5}"/>
              </a:ext>
            </a:extLst>
          </p:cNvPr>
          <p:cNvSpPr>
            <a:spLocks/>
          </p:cNvSpPr>
          <p:nvPr>
            <p:custDataLst>
              <p:tags r:id="rId44"/>
            </p:custDataLst>
          </p:nvPr>
        </p:nvSpPr>
        <p:spPr bwMode="gray">
          <a:xfrm>
            <a:off x="5654675" y="3968750"/>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497E098B-2252-4D6F-B483-09D2AB3A882C}" type="datetime'''1''''''''3''''''''''''''''''''''''''''''''''''''''''%'''''''">
              <a:rPr lang="en-US" altLang="en-US" sz="1000"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13%</a:t>
            </a:fld>
            <a:endParaRPr kumimoji="0" lang="en-US" sz="1000" b="0" i="0" strike="noStrike" kern="1200" cap="none" spc="0" normalizeH="0" baseline="0" noProof="0">
              <a:ln>
                <a:noFill/>
              </a:ln>
              <a:solidFill>
                <a:srgbClr val="E1111A"/>
              </a:solidFill>
              <a:effectLst/>
              <a:uLnTx/>
              <a:uFillTx/>
            </a:endParaRPr>
          </a:p>
        </p:txBody>
      </p:sp>
      <p:sp>
        <p:nvSpPr>
          <p:cNvPr id="564" name="Text Placeholder 2">
            <a:extLst>
              <a:ext uri="{FF2B5EF4-FFF2-40B4-BE49-F238E27FC236}">
                <a16:creationId xmlns:a16="http://schemas.microsoft.com/office/drawing/2014/main" id="{ED636215-F246-870C-588F-D1362548AE34}"/>
              </a:ext>
            </a:extLst>
          </p:cNvPr>
          <p:cNvSpPr>
            <a:spLocks/>
          </p:cNvSpPr>
          <p:nvPr>
            <p:custDataLst>
              <p:tags r:id="rId45"/>
            </p:custDataLst>
          </p:nvPr>
        </p:nvSpPr>
        <p:spPr bwMode="gray">
          <a:xfrm>
            <a:off x="5662613" y="4333875"/>
            <a:ext cx="24765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E673E397-D114-4493-8D89-4FBC11681AAC}" type="datetime'''''''''''''''11''''''''''''''''''''''''%'''''''''''''''''''">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11%</a:t>
            </a:fld>
            <a:endParaRPr kumimoji="0" lang="en-US" sz="1000" b="0" i="0" strike="noStrike" kern="1200" cap="none" spc="0" normalizeH="0" baseline="0" noProof="0">
              <a:ln>
                <a:noFill/>
              </a:ln>
              <a:solidFill>
                <a:srgbClr val="808080"/>
              </a:solidFill>
              <a:effectLst/>
              <a:uLnTx/>
              <a:uFillTx/>
              <a:ea typeface="+mn-ea"/>
              <a:cs typeface="+mn-cs"/>
            </a:endParaRPr>
          </a:p>
        </p:txBody>
      </p:sp>
      <p:sp>
        <p:nvSpPr>
          <p:cNvPr id="607" name="Text Placeholder 2">
            <a:extLst>
              <a:ext uri="{FF2B5EF4-FFF2-40B4-BE49-F238E27FC236}">
                <a16:creationId xmlns:a16="http://schemas.microsoft.com/office/drawing/2014/main" id="{3A2E1B58-ECF1-1511-67ED-CA496E0001AE}"/>
              </a:ext>
            </a:extLst>
          </p:cNvPr>
          <p:cNvSpPr>
            <a:spLocks/>
          </p:cNvSpPr>
          <p:nvPr>
            <p:custDataLst>
              <p:tags r:id="rId46"/>
            </p:custDataLst>
          </p:nvPr>
        </p:nvSpPr>
        <p:spPr bwMode="gray">
          <a:xfrm>
            <a:off x="5645150" y="2806700"/>
            <a:ext cx="2841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F0D10A1F-4381-4D84-99E0-62C119079EB4}" type="datetime'''''2''8''%'''''''''">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28%</a:t>
            </a:fld>
            <a:endParaRPr kumimoji="0" lang="en-US" sz="1000" b="0" i="0" strike="noStrike" kern="1200" cap="none" spc="0" normalizeH="0" baseline="0" noProof="0">
              <a:ln>
                <a:noFill/>
              </a:ln>
              <a:solidFill>
                <a:srgbClr val="808080"/>
              </a:solidFill>
              <a:effectLst/>
              <a:uLnTx/>
              <a:uFillTx/>
            </a:endParaRPr>
          </a:p>
        </p:txBody>
      </p:sp>
      <p:sp>
        <p:nvSpPr>
          <p:cNvPr id="608" name="Text Placeholder 2">
            <a:extLst>
              <a:ext uri="{FF2B5EF4-FFF2-40B4-BE49-F238E27FC236}">
                <a16:creationId xmlns:a16="http://schemas.microsoft.com/office/drawing/2014/main" id="{6EEC98FA-60D7-E34C-5698-573598C0B608}"/>
              </a:ext>
            </a:extLst>
          </p:cNvPr>
          <p:cNvSpPr>
            <a:spLocks/>
          </p:cNvSpPr>
          <p:nvPr>
            <p:custDataLst>
              <p:tags r:id="rId47"/>
            </p:custDataLst>
          </p:nvPr>
        </p:nvSpPr>
        <p:spPr bwMode="gray">
          <a:xfrm>
            <a:off x="6345238" y="4160838"/>
            <a:ext cx="247650"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7BD1B237-24B2-4079-897A-A8FC7F2410B0}" type="datetime'''11''''''''''''''''''''''''''''''''''%'''''''''''''''''''''''">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11%</a:t>
            </a:fld>
            <a:endParaRPr kumimoji="0" lang="en-US" sz="1000" b="0" i="0" strike="noStrike" kern="1200" cap="none" spc="0" normalizeH="0" baseline="0" noProof="0">
              <a:ln>
                <a:noFill/>
              </a:ln>
              <a:solidFill>
                <a:srgbClr val="E1111A"/>
              </a:solidFill>
              <a:effectLst/>
              <a:uLnTx/>
              <a:uFillTx/>
              <a:ea typeface="+mn-ea"/>
              <a:cs typeface="+mn-cs"/>
            </a:endParaRPr>
          </a:p>
        </p:txBody>
      </p:sp>
      <p:sp>
        <p:nvSpPr>
          <p:cNvPr id="609" name="Text Placeholder 2">
            <a:extLst>
              <a:ext uri="{FF2B5EF4-FFF2-40B4-BE49-F238E27FC236}">
                <a16:creationId xmlns:a16="http://schemas.microsoft.com/office/drawing/2014/main" id="{C9E93F1D-8E99-3349-60E9-36893EBE461D}"/>
              </a:ext>
            </a:extLst>
          </p:cNvPr>
          <p:cNvSpPr>
            <a:spLocks/>
          </p:cNvSpPr>
          <p:nvPr>
            <p:custDataLst>
              <p:tags r:id="rId48"/>
            </p:custDataLst>
          </p:nvPr>
        </p:nvSpPr>
        <p:spPr bwMode="gray">
          <a:xfrm>
            <a:off x="6326188" y="3895725"/>
            <a:ext cx="2682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1AE6ABDE-F961-45C5-9B51-C9E2CF3F3113}" type="datetime'''''''''''''1''''''''4''''''''''''''''''''%'''''''''''''''''">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14%</a:t>
            </a:fld>
            <a:endParaRPr kumimoji="0" lang="en-US" sz="1000" b="0" i="0" strike="noStrike" kern="1200" cap="none" spc="0" normalizeH="0" baseline="0" noProof="0">
              <a:ln>
                <a:noFill/>
              </a:ln>
              <a:solidFill>
                <a:srgbClr val="808080"/>
              </a:solidFill>
              <a:effectLst/>
              <a:uLnTx/>
              <a:uFillTx/>
            </a:endParaRPr>
          </a:p>
        </p:txBody>
      </p:sp>
      <p:sp>
        <p:nvSpPr>
          <p:cNvPr id="610" name="Text Placeholder 2">
            <a:extLst>
              <a:ext uri="{FF2B5EF4-FFF2-40B4-BE49-F238E27FC236}">
                <a16:creationId xmlns:a16="http://schemas.microsoft.com/office/drawing/2014/main" id="{A9E5EC0B-1CA6-622F-C32F-E38391CB1373}"/>
              </a:ext>
            </a:extLst>
          </p:cNvPr>
          <p:cNvSpPr>
            <a:spLocks/>
          </p:cNvSpPr>
          <p:nvPr>
            <p:custDataLst>
              <p:tags r:id="rId49"/>
            </p:custDataLst>
          </p:nvPr>
        </p:nvSpPr>
        <p:spPr bwMode="gray">
          <a:xfrm>
            <a:off x="6316663" y="2740025"/>
            <a:ext cx="2873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6505B30B-6F82-4E7A-96B9-48B76DBA1D1A}" type="datetime'2''''''''9''''''''''''''''''''%'''''">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29%</a:t>
            </a:fld>
            <a:endParaRPr kumimoji="0" lang="en-US" sz="1000" b="0" i="0" strike="noStrike" kern="1200" cap="none" spc="0" normalizeH="0" baseline="0" noProof="0">
              <a:ln>
                <a:noFill/>
              </a:ln>
              <a:solidFill>
                <a:srgbClr val="808080"/>
              </a:solidFill>
              <a:effectLst/>
              <a:uLnTx/>
              <a:uFillTx/>
            </a:endParaRPr>
          </a:p>
        </p:txBody>
      </p:sp>
      <p:sp>
        <p:nvSpPr>
          <p:cNvPr id="611" name="Text Placeholder 2">
            <a:extLst>
              <a:ext uri="{FF2B5EF4-FFF2-40B4-BE49-F238E27FC236}">
                <a16:creationId xmlns:a16="http://schemas.microsoft.com/office/drawing/2014/main" id="{C9F40A45-CDB3-F5FD-2FF0-8EBA8E991642}"/>
              </a:ext>
            </a:extLst>
          </p:cNvPr>
          <p:cNvSpPr>
            <a:spLocks/>
          </p:cNvSpPr>
          <p:nvPr>
            <p:custDataLst>
              <p:tags r:id="rId50"/>
            </p:custDataLst>
          </p:nvPr>
        </p:nvSpPr>
        <p:spPr bwMode="gray">
          <a:xfrm>
            <a:off x="6670675" y="4137025"/>
            <a:ext cx="2476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9280E19E-26E3-4F15-8465-3810E90FDF53}" type="datetime'''''''''''1''''''1''''''''''%'''''''''''''''''''''''">
              <a:rPr lang="en-US" altLang="en-US" sz="1000"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11%</a:t>
            </a:fld>
            <a:endParaRPr kumimoji="0" lang="en-US" sz="1000" b="0" i="0" strike="noStrike" kern="1200" cap="none" spc="0" normalizeH="0" baseline="0" noProof="0">
              <a:ln>
                <a:noFill/>
              </a:ln>
              <a:solidFill>
                <a:srgbClr val="E1111A"/>
              </a:solidFill>
              <a:effectLst/>
              <a:uLnTx/>
              <a:uFillTx/>
            </a:endParaRPr>
          </a:p>
        </p:txBody>
      </p:sp>
      <p:sp>
        <p:nvSpPr>
          <p:cNvPr id="612" name="Text Placeholder 2">
            <a:extLst>
              <a:ext uri="{FF2B5EF4-FFF2-40B4-BE49-F238E27FC236}">
                <a16:creationId xmlns:a16="http://schemas.microsoft.com/office/drawing/2014/main" id="{382699DF-C108-B81C-9280-996E906E7C50}"/>
              </a:ext>
            </a:extLst>
          </p:cNvPr>
          <p:cNvSpPr>
            <a:spLocks/>
          </p:cNvSpPr>
          <p:nvPr>
            <p:custDataLst>
              <p:tags r:id="rId51"/>
            </p:custDataLst>
          </p:nvPr>
        </p:nvSpPr>
        <p:spPr bwMode="gray">
          <a:xfrm>
            <a:off x="7019925" y="4270375"/>
            <a:ext cx="2222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557E1994-4BE6-489F-96FA-5FEA1064B4EC}" type="datetime'''''''''''''9''%'''''''''''''''''''''''">
              <a:rPr lang="en-US" altLang="en-US" sz="1000" b="1"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9%</a:t>
            </a:fld>
            <a:endParaRPr kumimoji="0" lang="en-US" sz="1000" b="1" i="0" strike="noStrike" kern="1200" cap="none" spc="0" normalizeH="0" baseline="0" noProof="0">
              <a:ln>
                <a:noFill/>
              </a:ln>
              <a:solidFill>
                <a:srgbClr val="E1111A"/>
              </a:solidFill>
              <a:effectLst/>
              <a:uLnTx/>
              <a:uFillTx/>
            </a:endParaRPr>
          </a:p>
        </p:txBody>
      </p:sp>
      <p:sp>
        <p:nvSpPr>
          <p:cNvPr id="671" name="Text Placeholder 2">
            <a:extLst>
              <a:ext uri="{FF2B5EF4-FFF2-40B4-BE49-F238E27FC236}">
                <a16:creationId xmlns:a16="http://schemas.microsoft.com/office/drawing/2014/main" id="{2D9784D7-F522-801D-C4A4-6BE43D19A23C}"/>
              </a:ext>
            </a:extLst>
          </p:cNvPr>
          <p:cNvSpPr>
            <a:spLocks/>
          </p:cNvSpPr>
          <p:nvPr>
            <p:custDataLst>
              <p:tags r:id="rId52"/>
            </p:custDataLst>
          </p:nvPr>
        </p:nvSpPr>
        <p:spPr bwMode="gray">
          <a:xfrm>
            <a:off x="6989763" y="2870200"/>
            <a:ext cx="2841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DFC33EA5-C602-4FEC-8F48-F93C7212BB57}" type="datetime'''''''''''''''''''''''''2''''''''''''''''''''7'''">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27</a:t>
            </a:fld>
            <a:r>
              <a:rPr lang="en-US" altLang="en-US" sz="1000" b="1">
                <a:solidFill>
                  <a:srgbClr val="808080"/>
                </a:solidFill>
                <a:effectLst/>
              </a:rPr>
              <a:t>%</a:t>
            </a:r>
            <a:endParaRPr kumimoji="0" lang="en-US" sz="1000" b="1" i="0" strike="noStrike" kern="1200" cap="none" spc="0" normalizeH="0" baseline="0" noProof="0">
              <a:ln>
                <a:noFill/>
              </a:ln>
              <a:solidFill>
                <a:srgbClr val="808080"/>
              </a:solidFill>
              <a:effectLst/>
              <a:uLnTx/>
              <a:uFillTx/>
              <a:ea typeface="+mn-ea"/>
              <a:cs typeface="+mn-cs"/>
            </a:endParaRPr>
          </a:p>
        </p:txBody>
      </p:sp>
      <p:sp>
        <p:nvSpPr>
          <p:cNvPr id="613" name="Text Placeholder 2">
            <a:extLst>
              <a:ext uri="{FF2B5EF4-FFF2-40B4-BE49-F238E27FC236}">
                <a16:creationId xmlns:a16="http://schemas.microsoft.com/office/drawing/2014/main" id="{EA4873B5-C122-D424-6ABD-91B8112333D0}"/>
              </a:ext>
            </a:extLst>
          </p:cNvPr>
          <p:cNvSpPr>
            <a:spLocks/>
          </p:cNvSpPr>
          <p:nvPr>
            <p:custDataLst>
              <p:tags r:id="rId53"/>
            </p:custDataLst>
          </p:nvPr>
        </p:nvSpPr>
        <p:spPr bwMode="gray">
          <a:xfrm>
            <a:off x="6991350" y="3730625"/>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7C614FAA-95F3-45CA-9856-1297EF4602BE}" type="datetime'''''''1''6''''%'''''''''''''''">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16%</a:t>
            </a:fld>
            <a:endParaRPr kumimoji="0" lang="en-US" sz="1000" b="1" i="0" strike="noStrike" kern="1200" cap="none" spc="0" normalizeH="0" baseline="0" noProof="0">
              <a:ln>
                <a:noFill/>
              </a:ln>
              <a:solidFill>
                <a:srgbClr val="808080"/>
              </a:solidFill>
              <a:effectLst/>
              <a:uLnTx/>
              <a:uFillTx/>
            </a:endParaRPr>
          </a:p>
        </p:txBody>
      </p:sp>
      <p:sp>
        <p:nvSpPr>
          <p:cNvPr id="614" name="Text Placeholder 2">
            <a:extLst>
              <a:ext uri="{FF2B5EF4-FFF2-40B4-BE49-F238E27FC236}">
                <a16:creationId xmlns:a16="http://schemas.microsoft.com/office/drawing/2014/main" id="{B54A2BDF-7909-7129-1706-A1EBCE597208}"/>
              </a:ext>
            </a:extLst>
          </p:cNvPr>
          <p:cNvSpPr>
            <a:spLocks/>
          </p:cNvSpPr>
          <p:nvPr>
            <p:custDataLst>
              <p:tags r:id="rId54"/>
            </p:custDataLst>
          </p:nvPr>
        </p:nvSpPr>
        <p:spPr bwMode="gray">
          <a:xfrm>
            <a:off x="6985000" y="3240088"/>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940A7EA6-A6F6-43B9-B795-86F9C8CBD834}" type="datetime'''''''''2''''''''''''''''''''6''''''''''%'''''''''''''''''">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26%</a:t>
            </a:fld>
            <a:endParaRPr kumimoji="0" lang="en-US" sz="1000" b="1" i="0" strike="noStrike" kern="1200" cap="none" spc="0" normalizeH="0" baseline="0" noProof="0">
              <a:ln>
                <a:noFill/>
              </a:ln>
              <a:solidFill>
                <a:srgbClr val="808080"/>
              </a:solidFill>
              <a:effectLst/>
              <a:uLnTx/>
              <a:uFillTx/>
            </a:endParaRPr>
          </a:p>
        </p:txBody>
      </p:sp>
      <p:grpSp>
        <p:nvGrpSpPr>
          <p:cNvPr id="582" name="Group 581">
            <a:extLst>
              <a:ext uri="{FF2B5EF4-FFF2-40B4-BE49-F238E27FC236}">
                <a16:creationId xmlns:a16="http://schemas.microsoft.com/office/drawing/2014/main" id="{4C7F4DE2-7922-F865-CC6E-47A7A3A28AC9}"/>
              </a:ext>
            </a:extLst>
          </p:cNvPr>
          <p:cNvGrpSpPr/>
          <p:nvPr/>
        </p:nvGrpSpPr>
        <p:grpSpPr>
          <a:xfrm>
            <a:off x="4296000" y="2920130"/>
            <a:ext cx="683882" cy="1425283"/>
            <a:chOff x="509917" y="2920130"/>
            <a:chExt cx="683882" cy="1425283"/>
          </a:xfrm>
        </p:grpSpPr>
        <p:sp>
          <p:nvSpPr>
            <p:cNvPr id="583" name="Rectangle 582">
              <a:extLst>
                <a:ext uri="{FF2B5EF4-FFF2-40B4-BE49-F238E27FC236}">
                  <a16:creationId xmlns:a16="http://schemas.microsoft.com/office/drawing/2014/main" id="{2BEE7CF8-3993-6D08-6D54-19B9774D6B05}"/>
                </a:ext>
              </a:extLst>
            </p:cNvPr>
            <p:cNvSpPr/>
            <p:nvPr/>
          </p:nvSpPr>
          <p:spPr>
            <a:xfrm>
              <a:off x="509917" y="292013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Interbank</a:t>
              </a:r>
            </a:p>
          </p:txBody>
        </p:sp>
        <p:sp>
          <p:nvSpPr>
            <p:cNvPr id="584" name="Rectangle 583">
              <a:extLst>
                <a:ext uri="{FF2B5EF4-FFF2-40B4-BE49-F238E27FC236}">
                  <a16:creationId xmlns:a16="http://schemas.microsoft.com/office/drawing/2014/main" id="{7E853777-08DD-5EFE-CD74-829564C98FCB}"/>
                </a:ext>
              </a:extLst>
            </p:cNvPr>
            <p:cNvSpPr/>
            <p:nvPr/>
          </p:nvSpPr>
          <p:spPr>
            <a:xfrm>
              <a:off x="509917" y="3292475"/>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BCP</a:t>
              </a:r>
            </a:p>
          </p:txBody>
        </p:sp>
        <p:sp>
          <p:nvSpPr>
            <p:cNvPr id="586" name="Rectangle 585">
              <a:extLst>
                <a:ext uri="{FF2B5EF4-FFF2-40B4-BE49-F238E27FC236}">
                  <a16:creationId xmlns:a16="http://schemas.microsoft.com/office/drawing/2014/main" id="{6C01CE29-C17B-59DA-3EF1-1DE8243E3755}"/>
                </a:ext>
              </a:extLst>
            </p:cNvPr>
            <p:cNvSpPr/>
            <p:nvPr/>
          </p:nvSpPr>
          <p:spPr>
            <a:xfrm>
              <a:off x="509917" y="393599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a:t>
              </a:r>
            </a:p>
          </p:txBody>
        </p:sp>
        <p:sp>
          <p:nvSpPr>
            <p:cNvPr id="587" name="Rectangle 586">
              <a:extLst>
                <a:ext uri="{FF2B5EF4-FFF2-40B4-BE49-F238E27FC236}">
                  <a16:creationId xmlns:a16="http://schemas.microsoft.com/office/drawing/2014/main" id="{CDC7D481-977E-783A-F981-D906E8448DFA}"/>
                </a:ext>
              </a:extLst>
            </p:cNvPr>
            <p:cNvSpPr/>
            <p:nvPr/>
          </p:nvSpPr>
          <p:spPr>
            <a:xfrm>
              <a:off x="509917" y="4206868"/>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BBVA</a:t>
              </a:r>
            </a:p>
          </p:txBody>
        </p:sp>
      </p:grpSp>
      <p:grpSp>
        <p:nvGrpSpPr>
          <p:cNvPr id="709" name="Group 708">
            <a:extLst>
              <a:ext uri="{FF2B5EF4-FFF2-40B4-BE49-F238E27FC236}">
                <a16:creationId xmlns:a16="http://schemas.microsoft.com/office/drawing/2014/main" id="{82BEE865-E70F-C935-D9CE-7981D7B78693}"/>
              </a:ext>
            </a:extLst>
          </p:cNvPr>
          <p:cNvGrpSpPr/>
          <p:nvPr/>
        </p:nvGrpSpPr>
        <p:grpSpPr>
          <a:xfrm>
            <a:off x="7356000" y="2846459"/>
            <a:ext cx="540000" cy="1603213"/>
            <a:chOff x="3629107" y="2846459"/>
            <a:chExt cx="447510" cy="1603213"/>
          </a:xfrm>
        </p:grpSpPr>
        <p:sp>
          <p:nvSpPr>
            <p:cNvPr id="710" name="Rectangle 709">
              <a:extLst>
                <a:ext uri="{FF2B5EF4-FFF2-40B4-BE49-F238E27FC236}">
                  <a16:creationId xmlns:a16="http://schemas.microsoft.com/office/drawing/2014/main" id="{26F22568-C5EF-61B0-AF2C-BC70EB6869D9}"/>
                </a:ext>
              </a:extLst>
            </p:cNvPr>
            <p:cNvSpPr/>
            <p:nvPr/>
          </p:nvSpPr>
          <p:spPr>
            <a:xfrm>
              <a:off x="3629107" y="2846459"/>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212 bps</a:t>
              </a:r>
            </a:p>
          </p:txBody>
        </p:sp>
        <p:sp>
          <p:nvSpPr>
            <p:cNvPr id="711" name="Rectangle 710">
              <a:extLst>
                <a:ext uri="{FF2B5EF4-FFF2-40B4-BE49-F238E27FC236}">
                  <a16:creationId xmlns:a16="http://schemas.microsoft.com/office/drawing/2014/main" id="{AE6A7926-F761-8771-A518-5F8363AB2A67}"/>
                </a:ext>
              </a:extLst>
            </p:cNvPr>
            <p:cNvSpPr/>
            <p:nvPr/>
          </p:nvSpPr>
          <p:spPr>
            <a:xfrm>
              <a:off x="3629107" y="3228022"/>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-124 bps</a:t>
              </a:r>
            </a:p>
          </p:txBody>
        </p:sp>
        <p:sp>
          <p:nvSpPr>
            <p:cNvPr id="712" name="Rectangle 711">
              <a:extLst>
                <a:ext uri="{FF2B5EF4-FFF2-40B4-BE49-F238E27FC236}">
                  <a16:creationId xmlns:a16="http://schemas.microsoft.com/office/drawing/2014/main" id="{11BC5D14-26AB-464A-761D-6FFC03FBFB51}"/>
                </a:ext>
              </a:extLst>
            </p:cNvPr>
            <p:cNvSpPr/>
            <p:nvPr/>
          </p:nvSpPr>
          <p:spPr>
            <a:xfrm>
              <a:off x="3629107" y="3720964"/>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577 bps</a:t>
              </a:r>
            </a:p>
          </p:txBody>
        </p:sp>
        <p:sp>
          <p:nvSpPr>
            <p:cNvPr id="715" name="Rectangle 714">
              <a:extLst>
                <a:ext uri="{FF2B5EF4-FFF2-40B4-BE49-F238E27FC236}">
                  <a16:creationId xmlns:a16="http://schemas.microsoft.com/office/drawing/2014/main" id="{77E987C7-C3F5-A673-AB3B-62D41B9A705B}"/>
                </a:ext>
              </a:extLst>
            </p:cNvPr>
            <p:cNvSpPr/>
            <p:nvPr/>
          </p:nvSpPr>
          <p:spPr>
            <a:xfrm>
              <a:off x="3629107" y="4309272"/>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rgbClr val="EC111A"/>
                  </a:solidFill>
                </a:rPr>
                <a:t>-637 bps</a:t>
              </a:r>
            </a:p>
          </p:txBody>
        </p:sp>
      </p:grpSp>
      <p:graphicFrame>
        <p:nvGraphicFramePr>
          <p:cNvPr id="27" name="Chart 26">
            <a:extLst>
              <a:ext uri="{FF2B5EF4-FFF2-40B4-BE49-F238E27FC236}">
                <a16:creationId xmlns:a16="http://schemas.microsoft.com/office/drawing/2014/main" id="{B01A28F3-935B-8F55-F91F-859AA139ED53}"/>
              </a:ext>
            </a:extLst>
          </p:cNvPr>
          <p:cNvGraphicFramePr/>
          <p:nvPr>
            <p:custDataLst>
              <p:tags r:id="rId55"/>
            </p:custDataLst>
          </p:nvPr>
        </p:nvGraphicFramePr>
        <p:xfrm>
          <a:off x="8853488" y="2554288"/>
          <a:ext cx="2138362" cy="2286000"/>
        </p:xfrm>
        <a:graphic>
          <a:graphicData uri="http://schemas.openxmlformats.org/drawingml/2006/chart">
            <c:chart xmlns:c="http://schemas.openxmlformats.org/drawingml/2006/chart" xmlns:r="http://schemas.openxmlformats.org/officeDocument/2006/relationships" r:id="rId89"/>
          </a:graphicData>
        </a:graphic>
      </p:graphicFrame>
      <p:sp>
        <p:nvSpPr>
          <p:cNvPr id="720" name="Text Placeholder 2">
            <a:extLst>
              <a:ext uri="{FF2B5EF4-FFF2-40B4-BE49-F238E27FC236}">
                <a16:creationId xmlns:a16="http://schemas.microsoft.com/office/drawing/2014/main" id="{8E29967E-DEAD-9514-1F8E-135378F7A689}"/>
              </a:ext>
            </a:extLst>
          </p:cNvPr>
          <p:cNvSpPr>
            <a:spLocks/>
          </p:cNvSpPr>
          <p:nvPr>
            <p:custDataLst>
              <p:tags r:id="rId56"/>
            </p:custDataLst>
          </p:nvPr>
        </p:nvSpPr>
        <p:spPr bwMode="gray">
          <a:xfrm>
            <a:off x="8793163" y="4843463"/>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kumimoji="0" lang="en-US" sz="1000" b="1" i="0" strike="noStrike" kern="1200" cap="none" spc="0" normalizeH="0" baseline="0" noProof="0">
                <a:ln>
                  <a:noFill/>
                </a:ln>
                <a:solidFill>
                  <a:srgbClr val="000000"/>
                </a:solidFill>
                <a:effectLst/>
                <a:uLnTx/>
                <a:uFillTx/>
              </a:rPr>
              <a:t>2019</a:t>
            </a:r>
          </a:p>
        </p:txBody>
      </p:sp>
      <p:sp>
        <p:nvSpPr>
          <p:cNvPr id="717" name="Text Placeholder 2">
            <a:extLst>
              <a:ext uri="{FF2B5EF4-FFF2-40B4-BE49-F238E27FC236}">
                <a16:creationId xmlns:a16="http://schemas.microsoft.com/office/drawing/2014/main" id="{E868EF7B-7424-7EFA-A7DD-A8122FD61F4F}"/>
              </a:ext>
            </a:extLst>
          </p:cNvPr>
          <p:cNvSpPr>
            <a:spLocks/>
          </p:cNvSpPr>
          <p:nvPr>
            <p:custDataLst>
              <p:tags r:id="rId57"/>
            </p:custDataLst>
          </p:nvPr>
        </p:nvSpPr>
        <p:spPr bwMode="gray">
          <a:xfrm>
            <a:off x="9453563" y="4843463"/>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2021</a:t>
            </a:r>
            <a:endParaRPr kumimoji="0" lang="en-US" sz="1000" b="1" i="0" strike="noStrike" kern="1200" cap="none" spc="0" normalizeH="0" baseline="0" noProof="0">
              <a:ln>
                <a:noFill/>
              </a:ln>
              <a:solidFill>
                <a:srgbClr val="000000"/>
              </a:solidFill>
              <a:effectLst/>
              <a:uLnTx/>
              <a:uFillTx/>
            </a:endParaRPr>
          </a:p>
        </p:txBody>
      </p:sp>
      <p:sp>
        <p:nvSpPr>
          <p:cNvPr id="718" name="Text Placeholder 2">
            <a:extLst>
              <a:ext uri="{FF2B5EF4-FFF2-40B4-BE49-F238E27FC236}">
                <a16:creationId xmlns:a16="http://schemas.microsoft.com/office/drawing/2014/main" id="{166A2F66-36CE-E271-DCE6-187FFC626BA8}"/>
              </a:ext>
            </a:extLst>
          </p:cNvPr>
          <p:cNvSpPr>
            <a:spLocks/>
          </p:cNvSpPr>
          <p:nvPr>
            <p:custDataLst>
              <p:tags r:id="rId58"/>
            </p:custDataLst>
          </p:nvPr>
        </p:nvSpPr>
        <p:spPr bwMode="gray">
          <a:xfrm>
            <a:off x="10106025" y="48434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2023</a:t>
            </a:r>
            <a:endParaRPr kumimoji="0" lang="en-US" sz="1000" b="1" i="0" strike="noStrike" kern="1200" cap="none" spc="0" normalizeH="0" baseline="0" noProof="0">
              <a:ln>
                <a:noFill/>
              </a:ln>
              <a:solidFill>
                <a:srgbClr val="000000"/>
              </a:solidFill>
              <a:effectLst/>
              <a:uLnTx/>
              <a:uFillTx/>
            </a:endParaRPr>
          </a:p>
        </p:txBody>
      </p:sp>
      <p:sp>
        <p:nvSpPr>
          <p:cNvPr id="719" name="Text Placeholder 2">
            <a:extLst>
              <a:ext uri="{FF2B5EF4-FFF2-40B4-BE49-F238E27FC236}">
                <a16:creationId xmlns:a16="http://schemas.microsoft.com/office/drawing/2014/main" id="{A4CFB860-98C7-884F-40BF-22B91238CBE8}"/>
              </a:ext>
            </a:extLst>
          </p:cNvPr>
          <p:cNvSpPr>
            <a:spLocks/>
          </p:cNvSpPr>
          <p:nvPr>
            <p:custDataLst>
              <p:tags r:id="rId59"/>
            </p:custDataLst>
          </p:nvPr>
        </p:nvSpPr>
        <p:spPr bwMode="gray">
          <a:xfrm>
            <a:off x="10764838" y="4843463"/>
            <a:ext cx="29051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lvl="0" indent="0" algn="ctr">
              <a:spcBef>
                <a:spcPct val="0"/>
              </a:spcBef>
              <a:spcAft>
                <a:spcPct val="0"/>
              </a:spcAft>
              <a:buClr>
                <a:srgbClr val="000000"/>
              </a:buClr>
              <a:buNone/>
              <a:defRPr/>
            </a:pPr>
            <a:r>
              <a:rPr lang="en-US" altLang="en-US" sz="1000" b="1">
                <a:solidFill>
                  <a:srgbClr val="000000"/>
                </a:solidFill>
              </a:rPr>
              <a:t>2025</a:t>
            </a:r>
            <a:endParaRPr kumimoji="0" lang="en-US" sz="1000" b="1" i="0" strike="noStrike" kern="1200" cap="none" spc="0" normalizeH="0" baseline="0" noProof="0">
              <a:ln>
                <a:noFill/>
              </a:ln>
              <a:solidFill>
                <a:srgbClr val="000000"/>
              </a:solidFill>
              <a:effectLst/>
              <a:uLnTx/>
              <a:uFillTx/>
            </a:endParaRPr>
          </a:p>
        </p:txBody>
      </p:sp>
      <p:sp>
        <p:nvSpPr>
          <p:cNvPr id="804" name="Text Placeholder 2">
            <a:extLst>
              <a:ext uri="{FF2B5EF4-FFF2-40B4-BE49-F238E27FC236}">
                <a16:creationId xmlns:a16="http://schemas.microsoft.com/office/drawing/2014/main" id="{9DD8595F-88A0-A526-60BB-D6C9F5CB5B16}"/>
              </a:ext>
            </a:extLst>
          </p:cNvPr>
          <p:cNvSpPr>
            <a:spLocks/>
          </p:cNvSpPr>
          <p:nvPr>
            <p:custDataLst>
              <p:tags r:id="rId60"/>
            </p:custDataLst>
          </p:nvPr>
        </p:nvSpPr>
        <p:spPr bwMode="gray">
          <a:xfrm>
            <a:off x="8804275" y="2968625"/>
            <a:ext cx="26511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3AA17073-D174-4680-B9AF-D0CFE2EC40DA}" type="datetime'''''''''''''''''1''''7%'''''''''''''''''''''''''''''">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17%</a:t>
            </a:fld>
            <a:endParaRPr kumimoji="0" lang="en-US" sz="1000" b="0" i="0" strike="noStrike" kern="1200" cap="none" spc="0" normalizeH="0" baseline="0" noProof="0">
              <a:ln>
                <a:noFill/>
              </a:ln>
              <a:solidFill>
                <a:srgbClr val="E1111A"/>
              </a:solidFill>
              <a:effectLst/>
              <a:uLnTx/>
              <a:uFillTx/>
            </a:endParaRPr>
          </a:p>
        </p:txBody>
      </p:sp>
      <p:sp>
        <p:nvSpPr>
          <p:cNvPr id="756" name="Text Placeholder 2">
            <a:extLst>
              <a:ext uri="{FF2B5EF4-FFF2-40B4-BE49-F238E27FC236}">
                <a16:creationId xmlns:a16="http://schemas.microsoft.com/office/drawing/2014/main" id="{1139281D-D482-B2EA-6611-BA90C203DA47}"/>
              </a:ext>
            </a:extLst>
          </p:cNvPr>
          <p:cNvSpPr>
            <a:spLocks/>
          </p:cNvSpPr>
          <p:nvPr>
            <p:custDataLst>
              <p:tags r:id="rId61"/>
            </p:custDataLst>
          </p:nvPr>
        </p:nvSpPr>
        <p:spPr bwMode="gray">
          <a:xfrm>
            <a:off x="8805863" y="3187700"/>
            <a:ext cx="263525"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20E6485F-D685-4A2D-AE24-90FF8F014C2C}" type="datetime'''''''''''''''''1''''5''''''''''''''''''''''%'">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808080"/>
              </a:solidFill>
              <a:effectLst/>
              <a:uLnTx/>
              <a:uFillTx/>
            </a:endParaRPr>
          </a:p>
        </p:txBody>
      </p:sp>
      <p:sp>
        <p:nvSpPr>
          <p:cNvPr id="736" name="Text Placeholder 2">
            <a:extLst>
              <a:ext uri="{FF2B5EF4-FFF2-40B4-BE49-F238E27FC236}">
                <a16:creationId xmlns:a16="http://schemas.microsoft.com/office/drawing/2014/main" id="{DCD2EFB6-4133-9AA5-0AB1-C9AB443C855E}"/>
              </a:ext>
            </a:extLst>
          </p:cNvPr>
          <p:cNvSpPr>
            <a:spLocks/>
          </p:cNvSpPr>
          <p:nvPr>
            <p:custDataLst>
              <p:tags r:id="rId62"/>
            </p:custDataLst>
          </p:nvPr>
        </p:nvSpPr>
        <p:spPr bwMode="gray">
          <a:xfrm>
            <a:off x="8805863" y="3641725"/>
            <a:ext cx="263525"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65DD76A8-9A1F-4F3A-962A-E02D0E022D99}" type="datetime'''''''''1''''''''''''3''''''''%'''''''''''">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13%</a:t>
            </a:fld>
            <a:endParaRPr kumimoji="0" lang="en-US" sz="1000" b="0" i="0" strike="noStrike" kern="1200" cap="none" spc="0" normalizeH="0" baseline="0" noProof="0">
              <a:ln>
                <a:noFill/>
              </a:ln>
              <a:solidFill>
                <a:srgbClr val="808080"/>
              </a:solidFill>
              <a:effectLst/>
              <a:uLnTx/>
              <a:uFillTx/>
            </a:endParaRPr>
          </a:p>
        </p:txBody>
      </p:sp>
      <p:sp>
        <p:nvSpPr>
          <p:cNvPr id="737" name="Text Placeholder 2">
            <a:extLst>
              <a:ext uri="{FF2B5EF4-FFF2-40B4-BE49-F238E27FC236}">
                <a16:creationId xmlns:a16="http://schemas.microsoft.com/office/drawing/2014/main" id="{F4E2FA98-C46F-7683-D0D7-41B8ADE8CE9E}"/>
              </a:ext>
            </a:extLst>
          </p:cNvPr>
          <p:cNvSpPr>
            <a:spLocks/>
          </p:cNvSpPr>
          <p:nvPr>
            <p:custDataLst>
              <p:tags r:id="rId63"/>
            </p:custDataLst>
          </p:nvPr>
        </p:nvSpPr>
        <p:spPr bwMode="gray">
          <a:xfrm>
            <a:off x="8802688" y="3424238"/>
            <a:ext cx="263525"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9AF46ABB-CBE9-4382-9AF0-21C89EB928D6}" type="datetime'''''''''''''''15''''''''''%'''''''''">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808080"/>
              </a:solidFill>
              <a:effectLst/>
              <a:uLnTx/>
              <a:uFillTx/>
            </a:endParaRPr>
          </a:p>
        </p:txBody>
      </p:sp>
      <p:sp>
        <p:nvSpPr>
          <p:cNvPr id="805" name="Text Placeholder 2">
            <a:extLst>
              <a:ext uri="{FF2B5EF4-FFF2-40B4-BE49-F238E27FC236}">
                <a16:creationId xmlns:a16="http://schemas.microsoft.com/office/drawing/2014/main" id="{0FB2F458-C034-5F6E-7D54-C7816799EF00}"/>
              </a:ext>
            </a:extLst>
          </p:cNvPr>
          <p:cNvSpPr>
            <a:spLocks/>
          </p:cNvSpPr>
          <p:nvPr>
            <p:custDataLst>
              <p:tags r:id="rId64"/>
            </p:custDataLst>
          </p:nvPr>
        </p:nvSpPr>
        <p:spPr bwMode="gray">
          <a:xfrm>
            <a:off x="8826500" y="4308475"/>
            <a:ext cx="2159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49D06804-57E5-4505-92B0-82A245E22104}" type="datetime'''''''''''''''4%'''''''''''''''''''''''''''''">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4%</a:t>
            </a:fld>
            <a:endParaRPr kumimoji="0" lang="en-US" sz="1000" b="0" i="0" strike="noStrike" kern="1200" cap="none" spc="0" normalizeH="0" baseline="0" noProof="0">
              <a:ln>
                <a:noFill/>
              </a:ln>
              <a:solidFill>
                <a:srgbClr val="808080"/>
              </a:solidFill>
              <a:effectLst/>
              <a:uLnTx/>
              <a:uFillTx/>
            </a:endParaRPr>
          </a:p>
        </p:txBody>
      </p:sp>
      <p:sp>
        <p:nvSpPr>
          <p:cNvPr id="806" name="Text Placeholder 2">
            <a:extLst>
              <a:ext uri="{FF2B5EF4-FFF2-40B4-BE49-F238E27FC236}">
                <a16:creationId xmlns:a16="http://schemas.microsoft.com/office/drawing/2014/main" id="{7D4E6A57-E6A4-CCB5-BD3C-55D8F07F98A9}"/>
              </a:ext>
            </a:extLst>
          </p:cNvPr>
          <p:cNvSpPr>
            <a:spLocks/>
          </p:cNvSpPr>
          <p:nvPr>
            <p:custDataLst>
              <p:tags r:id="rId65"/>
            </p:custDataLst>
          </p:nvPr>
        </p:nvSpPr>
        <p:spPr bwMode="gray">
          <a:xfrm>
            <a:off x="9459913" y="2894013"/>
            <a:ext cx="2682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AD88804C-BE8A-41EA-95A0-D8F85206DE9F}" type="datetime'''1''''8''''''''''''''''''''%'''''''''''''''''''''''">
              <a:rPr lang="en-US" altLang="en-US" sz="1000"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18%</a:t>
            </a:fld>
            <a:endParaRPr kumimoji="0" lang="en-US" sz="1000" b="0" i="0" strike="noStrike" kern="1200" cap="none" spc="0" normalizeH="0" baseline="0" noProof="0">
              <a:ln>
                <a:noFill/>
              </a:ln>
              <a:solidFill>
                <a:srgbClr val="E1111A"/>
              </a:solidFill>
              <a:effectLst/>
              <a:uLnTx/>
              <a:uFillTx/>
            </a:endParaRPr>
          </a:p>
        </p:txBody>
      </p:sp>
      <p:sp useBgFill="1">
        <p:nvSpPr>
          <p:cNvPr id="738" name="Text Placeholder 2">
            <a:extLst>
              <a:ext uri="{FF2B5EF4-FFF2-40B4-BE49-F238E27FC236}">
                <a16:creationId xmlns:a16="http://schemas.microsoft.com/office/drawing/2014/main" id="{1E3C2675-ED1A-B27C-FA89-A2444BA55F6D}"/>
              </a:ext>
            </a:extLst>
          </p:cNvPr>
          <p:cNvSpPr>
            <a:spLocks/>
          </p:cNvSpPr>
          <p:nvPr>
            <p:custDataLst>
              <p:tags r:id="rId66"/>
            </p:custDataLst>
          </p:nvPr>
        </p:nvSpPr>
        <p:spPr bwMode="gray">
          <a:xfrm>
            <a:off x="9459913" y="3357563"/>
            <a:ext cx="268288" cy="152400"/>
          </a:xfrm>
          <a:prstGeom prst="rect">
            <a:avLst/>
          </a:prstGeom>
          <a:ln>
            <a:noFill/>
          </a:ln>
          <a:effec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36F5F96D-4D45-4F77-82F9-BD8537AFEC4F}" type="datetime'1''''''''4%'''''''''''''''''''''''''">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14%</a:t>
            </a:fld>
            <a:endParaRPr kumimoji="0" lang="en-US" sz="1000" b="0" i="0" strike="noStrike" kern="1200" cap="none" spc="0" normalizeH="0" baseline="0" noProof="0">
              <a:ln>
                <a:noFill/>
              </a:ln>
              <a:solidFill>
                <a:srgbClr val="808080"/>
              </a:solidFill>
              <a:effectLst/>
              <a:uLnTx/>
              <a:uFillTx/>
              <a:ea typeface="+mn-ea"/>
              <a:cs typeface="+mn-cs"/>
            </a:endParaRPr>
          </a:p>
        </p:txBody>
      </p:sp>
      <p:sp>
        <p:nvSpPr>
          <p:cNvPr id="807" name="Text Placeholder 2">
            <a:extLst>
              <a:ext uri="{FF2B5EF4-FFF2-40B4-BE49-F238E27FC236}">
                <a16:creationId xmlns:a16="http://schemas.microsoft.com/office/drawing/2014/main" id="{C7800171-D2A4-5679-8B58-DC1EC1D4CB66}"/>
              </a:ext>
            </a:extLst>
          </p:cNvPr>
          <p:cNvSpPr>
            <a:spLocks/>
          </p:cNvSpPr>
          <p:nvPr>
            <p:custDataLst>
              <p:tags r:id="rId67"/>
            </p:custDataLst>
          </p:nvPr>
        </p:nvSpPr>
        <p:spPr bwMode="gray">
          <a:xfrm>
            <a:off x="9461500" y="3649663"/>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4C334A05-35B6-4F82-AE6F-64AB2017ED98}" type="datetime'''''13''''''''''''''''''''''''''''%'''''''''">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13%</a:t>
            </a:fld>
            <a:endParaRPr kumimoji="0" lang="en-US" sz="1000" b="0" i="0" strike="noStrike" kern="1200" cap="none" spc="0" normalizeH="0" baseline="0" noProof="0">
              <a:ln>
                <a:noFill/>
              </a:ln>
              <a:solidFill>
                <a:srgbClr val="808080"/>
              </a:solidFill>
              <a:effectLst/>
              <a:uLnTx/>
              <a:uFillTx/>
            </a:endParaRPr>
          </a:p>
        </p:txBody>
      </p:sp>
      <p:sp>
        <p:nvSpPr>
          <p:cNvPr id="808" name="Text Placeholder 2">
            <a:extLst>
              <a:ext uri="{FF2B5EF4-FFF2-40B4-BE49-F238E27FC236}">
                <a16:creationId xmlns:a16="http://schemas.microsoft.com/office/drawing/2014/main" id="{65ECF3F2-75AA-B722-725F-8F71593A28A5}"/>
              </a:ext>
            </a:extLst>
          </p:cNvPr>
          <p:cNvSpPr>
            <a:spLocks/>
          </p:cNvSpPr>
          <p:nvPr>
            <p:custDataLst>
              <p:tags r:id="rId68"/>
            </p:custDataLst>
          </p:nvPr>
        </p:nvSpPr>
        <p:spPr bwMode="gray">
          <a:xfrm>
            <a:off x="9461500" y="3182938"/>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A59ABF16-1E3A-4B3A-937C-E3451DCFCCB4}" type="datetime'''''''''''''''''''''''''''''''1''''5''''''''''%'''''">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808080"/>
              </a:solidFill>
              <a:effectLst/>
              <a:uLnTx/>
              <a:uFillTx/>
            </a:endParaRPr>
          </a:p>
        </p:txBody>
      </p:sp>
      <p:sp>
        <p:nvSpPr>
          <p:cNvPr id="809" name="Text Placeholder 2">
            <a:extLst>
              <a:ext uri="{FF2B5EF4-FFF2-40B4-BE49-F238E27FC236}">
                <a16:creationId xmlns:a16="http://schemas.microsoft.com/office/drawing/2014/main" id="{AC7C070A-18EF-B66C-9012-958130745280}"/>
              </a:ext>
            </a:extLst>
          </p:cNvPr>
          <p:cNvSpPr>
            <a:spLocks/>
          </p:cNvSpPr>
          <p:nvPr>
            <p:custDataLst>
              <p:tags r:id="rId69"/>
            </p:custDataLst>
          </p:nvPr>
        </p:nvSpPr>
        <p:spPr bwMode="gray">
          <a:xfrm>
            <a:off x="9485313" y="4298950"/>
            <a:ext cx="2159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2B2877E7-BF1E-456D-83A6-AF5111920023}" type="datetime'''''''''''''''''''''''''''4%'''''''''''''''''''''''">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4%</a:t>
            </a:fld>
            <a:endParaRPr kumimoji="0" lang="en-US" sz="1000" b="0" i="0" strike="noStrike" kern="1200" cap="none" spc="0" normalizeH="0" baseline="0" noProof="0">
              <a:ln>
                <a:noFill/>
              </a:ln>
              <a:solidFill>
                <a:srgbClr val="808080"/>
              </a:solidFill>
              <a:effectLst/>
              <a:uLnTx/>
              <a:uFillTx/>
            </a:endParaRPr>
          </a:p>
        </p:txBody>
      </p:sp>
      <p:sp>
        <p:nvSpPr>
          <p:cNvPr id="811" name="Text Placeholder 2">
            <a:extLst>
              <a:ext uri="{FF2B5EF4-FFF2-40B4-BE49-F238E27FC236}">
                <a16:creationId xmlns:a16="http://schemas.microsoft.com/office/drawing/2014/main" id="{5147813D-B867-83B0-72A9-9637DEDC6A08}"/>
              </a:ext>
            </a:extLst>
          </p:cNvPr>
          <p:cNvSpPr>
            <a:spLocks/>
          </p:cNvSpPr>
          <p:nvPr>
            <p:custDataLst>
              <p:tags r:id="rId70"/>
            </p:custDataLst>
          </p:nvPr>
        </p:nvSpPr>
        <p:spPr bwMode="gray">
          <a:xfrm>
            <a:off x="10120313" y="2584450"/>
            <a:ext cx="26352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CC1422D5-9E78-4E24-B474-72256D62906C}" type="datetime'2''''''''''1''''''''''''''''''''''''%'''''''''''''''''''''''''">
              <a:rPr lang="en-US" altLang="en-US" sz="1000"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21%</a:t>
            </a:fld>
            <a:endParaRPr kumimoji="0" lang="en-US" sz="1000" b="0" i="0" strike="noStrike" kern="1200" cap="none" spc="0" normalizeH="0" baseline="0" noProof="0">
              <a:ln>
                <a:noFill/>
              </a:ln>
              <a:solidFill>
                <a:srgbClr val="E1111A"/>
              </a:solidFill>
              <a:effectLst/>
              <a:uLnTx/>
              <a:uFillTx/>
            </a:endParaRPr>
          </a:p>
        </p:txBody>
      </p:sp>
      <p:sp>
        <p:nvSpPr>
          <p:cNvPr id="739" name="Text Placeholder 2">
            <a:extLst>
              <a:ext uri="{FF2B5EF4-FFF2-40B4-BE49-F238E27FC236}">
                <a16:creationId xmlns:a16="http://schemas.microsoft.com/office/drawing/2014/main" id="{44EA585F-13AE-43E3-795F-2B29DC78D36A}"/>
              </a:ext>
            </a:extLst>
          </p:cNvPr>
          <p:cNvSpPr>
            <a:spLocks/>
          </p:cNvSpPr>
          <p:nvPr>
            <p:custDataLst>
              <p:tags r:id="rId71"/>
            </p:custDataLst>
          </p:nvPr>
        </p:nvSpPr>
        <p:spPr bwMode="gray">
          <a:xfrm>
            <a:off x="10117138" y="3113088"/>
            <a:ext cx="271463"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1AF0B200-83D9-4FE8-8467-32E471713749}" type="datetime'''''''''16''''''''''''''''''''%'''''''''">
              <a:rPr lang="en-US" altLang="en-US" sz="1000"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16%</a:t>
            </a:fld>
            <a:endParaRPr kumimoji="0" lang="en-US" sz="1000" b="0" i="0" strike="noStrike" kern="1200" cap="none" spc="0" normalizeH="0" baseline="0" noProof="0">
              <a:ln>
                <a:noFill/>
              </a:ln>
              <a:solidFill>
                <a:srgbClr val="E1111A"/>
              </a:solidFill>
              <a:effectLst/>
              <a:uLnTx/>
              <a:uFillTx/>
            </a:endParaRPr>
          </a:p>
        </p:txBody>
      </p:sp>
      <p:sp useBgFill="1">
        <p:nvSpPr>
          <p:cNvPr id="740" name="Text Placeholder 2">
            <a:extLst>
              <a:ext uri="{FF2B5EF4-FFF2-40B4-BE49-F238E27FC236}">
                <a16:creationId xmlns:a16="http://schemas.microsoft.com/office/drawing/2014/main" id="{F295AC02-3195-5514-47C3-A477BD412B22}"/>
              </a:ext>
            </a:extLst>
          </p:cNvPr>
          <p:cNvSpPr>
            <a:spLocks/>
          </p:cNvSpPr>
          <p:nvPr>
            <p:custDataLst>
              <p:tags r:id="rId72"/>
            </p:custDataLst>
          </p:nvPr>
        </p:nvSpPr>
        <p:spPr bwMode="gray">
          <a:xfrm>
            <a:off x="10118725" y="3497263"/>
            <a:ext cx="268288" cy="152400"/>
          </a:xfrm>
          <a:prstGeom prst="rect">
            <a:avLst/>
          </a:prstGeom>
          <a:ln>
            <a:noFill/>
          </a:ln>
          <a:effec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27CF1CBF-B1B5-4754-9B4B-32BA0170CE68}" type="datetime'''''''''''''''''''''''1''''''''''4''''''''''''%'''''''">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14%</a:t>
            </a:fld>
            <a:endParaRPr kumimoji="0" lang="en-US" sz="1000" b="0" i="0" strike="noStrike" kern="1200" cap="none" spc="0" normalizeH="0" baseline="0" noProof="0">
              <a:ln>
                <a:noFill/>
              </a:ln>
              <a:solidFill>
                <a:srgbClr val="808080"/>
              </a:solidFill>
              <a:effectLst/>
              <a:uLnTx/>
              <a:uFillTx/>
              <a:ea typeface="+mn-ea"/>
              <a:cs typeface="+mn-cs"/>
            </a:endParaRPr>
          </a:p>
        </p:txBody>
      </p:sp>
      <p:sp useBgFill="1">
        <p:nvSpPr>
          <p:cNvPr id="812" name="Text Placeholder 2">
            <a:extLst>
              <a:ext uri="{FF2B5EF4-FFF2-40B4-BE49-F238E27FC236}">
                <a16:creationId xmlns:a16="http://schemas.microsoft.com/office/drawing/2014/main" id="{733090DA-CD1F-9CCC-733E-1A8D1ED74C5E}"/>
              </a:ext>
            </a:extLst>
          </p:cNvPr>
          <p:cNvSpPr>
            <a:spLocks/>
          </p:cNvSpPr>
          <p:nvPr>
            <p:custDataLst>
              <p:tags r:id="rId73"/>
            </p:custDataLst>
          </p:nvPr>
        </p:nvSpPr>
        <p:spPr bwMode="gray">
          <a:xfrm>
            <a:off x="10120313" y="3338513"/>
            <a:ext cx="263525" cy="152400"/>
          </a:xfrm>
          <a:prstGeom prst="rect">
            <a:avLst/>
          </a:prstGeom>
          <a:ln>
            <a:noFill/>
          </a:ln>
          <a:effec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2D3B09D1-5D17-4745-B3BD-E10BAB513070}" type="datetime'''''''''''''''''''''1''''5''''''''''''''''''''''''%'''''''''''">
              <a:rPr lang="en-US" altLang="en-US" sz="1000"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15%</a:t>
            </a:fld>
            <a:endParaRPr kumimoji="0" lang="en-US" sz="1000" b="0" i="0" strike="noStrike" kern="1200" cap="none" spc="0" normalizeH="0" baseline="0" noProof="0">
              <a:ln>
                <a:noFill/>
              </a:ln>
              <a:solidFill>
                <a:srgbClr val="808080"/>
              </a:solidFill>
              <a:effectLst/>
              <a:uLnTx/>
              <a:uFillTx/>
              <a:ea typeface="+mn-ea"/>
              <a:cs typeface="+mn-cs"/>
            </a:endParaRPr>
          </a:p>
        </p:txBody>
      </p:sp>
      <p:sp>
        <p:nvSpPr>
          <p:cNvPr id="813" name="Text Placeholder 2">
            <a:extLst>
              <a:ext uri="{FF2B5EF4-FFF2-40B4-BE49-F238E27FC236}">
                <a16:creationId xmlns:a16="http://schemas.microsoft.com/office/drawing/2014/main" id="{B15F31CB-A06C-C671-419C-2FFDFFE78224}"/>
              </a:ext>
            </a:extLst>
          </p:cNvPr>
          <p:cNvSpPr>
            <a:spLocks/>
          </p:cNvSpPr>
          <p:nvPr>
            <p:custDataLst>
              <p:tags r:id="rId74"/>
            </p:custDataLst>
          </p:nvPr>
        </p:nvSpPr>
        <p:spPr bwMode="gray">
          <a:xfrm>
            <a:off x="10120313" y="3803650"/>
            <a:ext cx="263525"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8B4EF90B-5BAF-4842-9E47-10976D405D6C}" type="datetime'''''''''''''''12''''''''''''''''''''''''''%'''''">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12%</a:t>
            </a:fld>
            <a:endParaRPr kumimoji="0" lang="en-US" sz="1000" b="0" i="0" strike="noStrike" kern="1200" cap="none" spc="0" normalizeH="0" baseline="0" noProof="0">
              <a:ln>
                <a:noFill/>
              </a:ln>
              <a:solidFill>
                <a:srgbClr val="808080"/>
              </a:solidFill>
              <a:effectLst/>
              <a:uLnTx/>
              <a:uFillTx/>
            </a:endParaRPr>
          </a:p>
        </p:txBody>
      </p:sp>
      <p:sp>
        <p:nvSpPr>
          <p:cNvPr id="814" name="Text Placeholder 2">
            <a:extLst>
              <a:ext uri="{FF2B5EF4-FFF2-40B4-BE49-F238E27FC236}">
                <a16:creationId xmlns:a16="http://schemas.microsoft.com/office/drawing/2014/main" id="{D6531D55-8C54-1BA8-1114-836BE806B6C0}"/>
              </a:ext>
            </a:extLst>
          </p:cNvPr>
          <p:cNvSpPr>
            <a:spLocks/>
          </p:cNvSpPr>
          <p:nvPr>
            <p:custDataLst>
              <p:tags r:id="rId75"/>
            </p:custDataLst>
          </p:nvPr>
        </p:nvSpPr>
        <p:spPr bwMode="gray">
          <a:xfrm>
            <a:off x="10142538" y="4175125"/>
            <a:ext cx="2190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F44E900D-A4AD-4707-8AEC-E64F1125BC1D}" type="datetime'6''''%'''''''''''''''''''''''''''''''''''''''''''''''''">
              <a:rPr lang="en-US" altLang="en-US" sz="1000"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6%</a:t>
            </a:fld>
            <a:endParaRPr kumimoji="0" lang="en-US" sz="1000" b="0" i="0" strike="noStrike" kern="1200" cap="none" spc="0" normalizeH="0" baseline="0" noProof="0">
              <a:ln>
                <a:noFill/>
              </a:ln>
              <a:solidFill>
                <a:srgbClr val="808080"/>
              </a:solidFill>
              <a:effectLst/>
              <a:uLnTx/>
              <a:uFillTx/>
            </a:endParaRPr>
          </a:p>
        </p:txBody>
      </p:sp>
      <p:sp>
        <p:nvSpPr>
          <p:cNvPr id="830" name="Text Placeholder 2">
            <a:extLst>
              <a:ext uri="{FF2B5EF4-FFF2-40B4-BE49-F238E27FC236}">
                <a16:creationId xmlns:a16="http://schemas.microsoft.com/office/drawing/2014/main" id="{A1D24661-2486-5D81-B53E-7F329ECC81D6}"/>
              </a:ext>
            </a:extLst>
          </p:cNvPr>
          <p:cNvSpPr>
            <a:spLocks/>
          </p:cNvSpPr>
          <p:nvPr>
            <p:custDataLst>
              <p:tags r:id="rId76"/>
            </p:custDataLst>
          </p:nvPr>
        </p:nvSpPr>
        <p:spPr bwMode="gray">
          <a:xfrm>
            <a:off x="10148888" y="4456113"/>
            <a:ext cx="2111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2220FE16-4372-4D99-AA46-37482851EA26}" type="datetime'''''''5%'''''''''">
              <a:rPr lang="en-US" altLang="en-US" sz="1000" smtClean="0">
                <a:solidFill>
                  <a:srgbClr val="E1111A"/>
                </a:solidFill>
                <a:effectLst/>
              </a:rPr>
              <a:pPr marL="0" marR="0" lvl="0" indent="0" defTabSz="914411" eaLnBrk="1" fontAlgn="auto" latinLnBrk="0" hangingPunct="1">
                <a:spcBef>
                  <a:spcPct val="0"/>
                </a:spcBef>
                <a:spcAft>
                  <a:spcPct val="0"/>
                </a:spcAft>
                <a:buClr>
                  <a:srgbClr val="000000"/>
                </a:buClr>
                <a:buSzTx/>
                <a:buNone/>
                <a:tabLst/>
                <a:defRPr/>
              </a:pPr>
              <a:t>5%</a:t>
            </a:fld>
            <a:endParaRPr kumimoji="0" lang="en-US" sz="1000" b="0" i="0" strike="noStrike" kern="1200" cap="none" spc="0" normalizeH="0" baseline="0" noProof="0">
              <a:ln>
                <a:noFill/>
              </a:ln>
              <a:solidFill>
                <a:srgbClr val="E1111A"/>
              </a:solidFill>
              <a:effectLst/>
              <a:uLnTx/>
              <a:uFillTx/>
            </a:endParaRPr>
          </a:p>
        </p:txBody>
      </p:sp>
      <p:sp>
        <p:nvSpPr>
          <p:cNvPr id="816" name="Text Placeholder 2">
            <a:extLst>
              <a:ext uri="{FF2B5EF4-FFF2-40B4-BE49-F238E27FC236}">
                <a16:creationId xmlns:a16="http://schemas.microsoft.com/office/drawing/2014/main" id="{ACB7647E-88D5-BD21-B723-9B2E783A058C}"/>
              </a:ext>
            </a:extLst>
          </p:cNvPr>
          <p:cNvSpPr>
            <a:spLocks/>
          </p:cNvSpPr>
          <p:nvPr>
            <p:custDataLst>
              <p:tags r:id="rId77"/>
            </p:custDataLst>
          </p:nvPr>
        </p:nvSpPr>
        <p:spPr bwMode="gray">
          <a:xfrm>
            <a:off x="10760075" y="2597150"/>
            <a:ext cx="2984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102B6C68-41F5-4593-8F36-6B3B060BABBA}" type="datetime'2''0''''''''%'''''''''">
              <a:rPr lang="en-US" altLang="en-US" sz="1000" b="1"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20%</a:t>
            </a:fld>
            <a:endParaRPr kumimoji="0" lang="en-US" sz="1000" b="1" i="0" strike="noStrike" kern="1200" cap="none" spc="0" normalizeH="0" baseline="0" noProof="0">
              <a:ln>
                <a:noFill/>
              </a:ln>
              <a:solidFill>
                <a:srgbClr val="E1111A"/>
              </a:solidFill>
              <a:effectLst/>
              <a:uLnTx/>
              <a:uFillTx/>
            </a:endParaRPr>
          </a:p>
        </p:txBody>
      </p:sp>
      <p:sp>
        <p:nvSpPr>
          <p:cNvPr id="817" name="Text Placeholder 2">
            <a:extLst>
              <a:ext uri="{FF2B5EF4-FFF2-40B4-BE49-F238E27FC236}">
                <a16:creationId xmlns:a16="http://schemas.microsoft.com/office/drawing/2014/main" id="{5F3942E6-724F-C127-6426-CF0DBEB95A10}"/>
              </a:ext>
            </a:extLst>
          </p:cNvPr>
          <p:cNvSpPr>
            <a:spLocks/>
          </p:cNvSpPr>
          <p:nvPr>
            <p:custDataLst>
              <p:tags r:id="rId78"/>
            </p:custDataLst>
          </p:nvPr>
        </p:nvSpPr>
        <p:spPr bwMode="gray">
          <a:xfrm>
            <a:off x="10769599" y="3079750"/>
            <a:ext cx="2794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4EB422CD-AEF2-4496-AF4C-B180A883D99F}" type="datetime'''1''''''''''''''''6''''''''''''''''''''''%'''''''">
              <a:rPr lang="en-US" altLang="en-US" sz="1000" b="1"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16%</a:t>
            </a:fld>
            <a:endParaRPr kumimoji="0" lang="en-US" sz="1000" b="1" i="0" strike="noStrike" kern="1200" cap="none" spc="0" normalizeH="0" baseline="0" noProof="0">
              <a:ln>
                <a:noFill/>
              </a:ln>
              <a:solidFill>
                <a:srgbClr val="E1111A"/>
              </a:solidFill>
              <a:effectLst/>
              <a:uLnTx/>
              <a:uFillTx/>
            </a:endParaRPr>
          </a:p>
        </p:txBody>
      </p:sp>
      <p:sp>
        <p:nvSpPr>
          <p:cNvPr id="818" name="Text Placeholder 2">
            <a:extLst>
              <a:ext uri="{FF2B5EF4-FFF2-40B4-BE49-F238E27FC236}">
                <a16:creationId xmlns:a16="http://schemas.microsoft.com/office/drawing/2014/main" id="{E40D82C8-26BF-594B-465C-036138602CFC}"/>
              </a:ext>
            </a:extLst>
          </p:cNvPr>
          <p:cNvSpPr>
            <a:spLocks/>
          </p:cNvSpPr>
          <p:nvPr>
            <p:custDataLst>
              <p:tags r:id="rId79"/>
            </p:custDataLst>
          </p:nvPr>
        </p:nvSpPr>
        <p:spPr bwMode="gray">
          <a:xfrm>
            <a:off x="10777538" y="3413125"/>
            <a:ext cx="2714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C81E0F24-0560-43B2-AE7D-7F4C7B95CF84}" type="datetime'1''''''''''5''''''''''''%'''''''''''''''''''''''''">
              <a:rPr lang="en-US" altLang="en-US" sz="1000" b="1"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15%</a:t>
            </a:fld>
            <a:endParaRPr kumimoji="0" lang="en-US" sz="1000" b="1" i="0" strike="noStrike" kern="1200" cap="none" spc="0" normalizeH="0" baseline="0" noProof="0">
              <a:ln>
                <a:noFill/>
              </a:ln>
              <a:solidFill>
                <a:srgbClr val="808080"/>
              </a:solidFill>
              <a:effectLst/>
              <a:uLnTx/>
              <a:uFillTx/>
            </a:endParaRPr>
          </a:p>
        </p:txBody>
      </p:sp>
      <p:sp>
        <p:nvSpPr>
          <p:cNvPr id="820" name="Text Placeholder 2">
            <a:extLst>
              <a:ext uri="{FF2B5EF4-FFF2-40B4-BE49-F238E27FC236}">
                <a16:creationId xmlns:a16="http://schemas.microsoft.com/office/drawing/2014/main" id="{1F909EC9-D337-ACAE-C7A0-A5869E30DEF7}"/>
              </a:ext>
            </a:extLst>
          </p:cNvPr>
          <p:cNvSpPr>
            <a:spLocks/>
          </p:cNvSpPr>
          <p:nvPr>
            <p:custDataLst>
              <p:tags r:id="rId80"/>
            </p:custDataLst>
          </p:nvPr>
        </p:nvSpPr>
        <p:spPr bwMode="gray">
          <a:xfrm>
            <a:off x="10766424" y="3973513"/>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CCB9473B-920C-44B9-8E51-8403C067CAE6}" type="datetime'''''''''''''''1''''''''''''''''''''0''''''''%'''''''''''">
              <a:rPr lang="en-US" altLang="en-US" sz="1000" b="1" smtClean="0">
                <a:solidFill>
                  <a:srgbClr val="808080"/>
                </a:solidFill>
                <a:effectLst/>
              </a:rPr>
              <a:pPr marL="0" marR="0" lvl="0" indent="0" algn="ctr" defTabSz="914411" eaLnBrk="1" fontAlgn="auto" latinLnBrk="0" hangingPunct="1">
                <a:spcBef>
                  <a:spcPct val="0"/>
                </a:spcBef>
                <a:spcAft>
                  <a:spcPct val="0"/>
                </a:spcAft>
                <a:buClr>
                  <a:srgbClr val="000000"/>
                </a:buClr>
                <a:buSzTx/>
                <a:buNone/>
                <a:tabLst/>
                <a:defRPr/>
              </a:pPr>
              <a:t>10%</a:t>
            </a:fld>
            <a:endParaRPr kumimoji="0" lang="en-US" sz="1000" b="1" i="0" strike="noStrike" kern="1200" cap="none" spc="0" normalizeH="0" baseline="0" noProof="0">
              <a:ln>
                <a:noFill/>
              </a:ln>
              <a:solidFill>
                <a:srgbClr val="808080"/>
              </a:solidFill>
              <a:effectLst/>
              <a:uLnTx/>
              <a:uFillTx/>
            </a:endParaRPr>
          </a:p>
        </p:txBody>
      </p:sp>
      <p:sp>
        <p:nvSpPr>
          <p:cNvPr id="752" name="Text Placeholder 2">
            <a:extLst>
              <a:ext uri="{FF2B5EF4-FFF2-40B4-BE49-F238E27FC236}">
                <a16:creationId xmlns:a16="http://schemas.microsoft.com/office/drawing/2014/main" id="{F6EA0551-72BF-7716-028A-40235EE84CFD}"/>
              </a:ext>
            </a:extLst>
          </p:cNvPr>
          <p:cNvSpPr>
            <a:spLocks/>
          </p:cNvSpPr>
          <p:nvPr>
            <p:custDataLst>
              <p:tags r:id="rId81"/>
            </p:custDataLst>
          </p:nvPr>
        </p:nvSpPr>
        <p:spPr bwMode="gray">
          <a:xfrm>
            <a:off x="10806113" y="4229100"/>
            <a:ext cx="214313"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defTabSz="914411" eaLnBrk="1" fontAlgn="auto" latinLnBrk="0" hangingPunct="1">
              <a:spcBef>
                <a:spcPct val="0"/>
              </a:spcBef>
              <a:spcAft>
                <a:spcPct val="0"/>
              </a:spcAft>
              <a:buClr>
                <a:srgbClr val="000000"/>
              </a:buClr>
              <a:buSzTx/>
              <a:buNone/>
              <a:tabLst/>
              <a:defRPr/>
            </a:pPr>
            <a:fld id="{B9356252-335A-480F-A325-0264CA4A500A}" type="datetime'''''''5''''''%'''''">
              <a:rPr lang="en-US" altLang="en-US" sz="1000" b="1" smtClean="0">
                <a:solidFill>
                  <a:srgbClr val="808080"/>
                </a:solidFill>
                <a:effectLst/>
              </a:rPr>
              <a:pPr marL="0" marR="0" lvl="0" indent="0" defTabSz="914411" eaLnBrk="1" fontAlgn="auto" latinLnBrk="0" hangingPunct="1">
                <a:spcBef>
                  <a:spcPct val="0"/>
                </a:spcBef>
                <a:spcAft>
                  <a:spcPct val="0"/>
                </a:spcAft>
                <a:buClr>
                  <a:srgbClr val="000000"/>
                </a:buClr>
                <a:buSzTx/>
                <a:buNone/>
                <a:tabLst/>
                <a:defRPr/>
              </a:pPr>
              <a:t>5%</a:t>
            </a:fld>
            <a:endParaRPr kumimoji="0" lang="en-US" sz="1000" b="1" i="0" strike="noStrike" kern="1200" cap="none" spc="0" normalizeH="0" baseline="0" noProof="0">
              <a:ln>
                <a:noFill/>
              </a:ln>
              <a:solidFill>
                <a:srgbClr val="808080"/>
              </a:solidFill>
              <a:effectLst/>
              <a:uLnTx/>
              <a:uFillTx/>
            </a:endParaRPr>
          </a:p>
        </p:txBody>
      </p:sp>
      <p:sp>
        <p:nvSpPr>
          <p:cNvPr id="744" name="Text Placeholder 2">
            <a:extLst>
              <a:ext uri="{FF2B5EF4-FFF2-40B4-BE49-F238E27FC236}">
                <a16:creationId xmlns:a16="http://schemas.microsoft.com/office/drawing/2014/main" id="{A71901B3-D706-0AC5-39BB-A70583F99CF3}"/>
              </a:ext>
            </a:extLst>
          </p:cNvPr>
          <p:cNvSpPr>
            <a:spLocks/>
          </p:cNvSpPr>
          <p:nvPr>
            <p:custDataLst>
              <p:tags r:id="rId82"/>
            </p:custDataLst>
          </p:nvPr>
        </p:nvSpPr>
        <p:spPr bwMode="gray">
          <a:xfrm>
            <a:off x="10802938" y="4541838"/>
            <a:ext cx="214313" cy="1524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marR="0" lvl="0" indent="0" algn="ctr" defTabSz="914411" eaLnBrk="1" fontAlgn="auto" latinLnBrk="0" hangingPunct="1">
              <a:spcBef>
                <a:spcPct val="0"/>
              </a:spcBef>
              <a:spcAft>
                <a:spcPct val="0"/>
              </a:spcAft>
              <a:buClr>
                <a:srgbClr val="000000"/>
              </a:buClr>
              <a:buSzTx/>
              <a:buNone/>
              <a:tabLst/>
              <a:defRPr/>
            </a:pPr>
            <a:fld id="{8F16A590-C2EC-473F-BD07-CEE111430D46}" type="datetime'''''''''''''''''''''''5''''''''''''%'''''''''">
              <a:rPr lang="en-US" altLang="en-US" sz="1000" b="1" smtClean="0">
                <a:solidFill>
                  <a:srgbClr val="E1111A"/>
                </a:solidFill>
                <a:effectLst/>
              </a:rPr>
              <a:pPr marL="0" marR="0" lvl="0" indent="0" algn="ctr" defTabSz="914411" eaLnBrk="1" fontAlgn="auto" latinLnBrk="0" hangingPunct="1">
                <a:spcBef>
                  <a:spcPct val="0"/>
                </a:spcBef>
                <a:spcAft>
                  <a:spcPct val="0"/>
                </a:spcAft>
                <a:buClr>
                  <a:srgbClr val="000000"/>
                </a:buClr>
                <a:buSzTx/>
                <a:buNone/>
                <a:tabLst/>
                <a:defRPr/>
              </a:pPr>
              <a:t>5%</a:t>
            </a:fld>
            <a:endParaRPr kumimoji="0" lang="en-US" sz="1000" b="1" i="0" strike="noStrike" kern="1200" cap="none" spc="0" normalizeH="0" baseline="0" noProof="0">
              <a:ln>
                <a:noFill/>
              </a:ln>
              <a:solidFill>
                <a:srgbClr val="E1111A"/>
              </a:solidFill>
              <a:effectLst/>
              <a:uLnTx/>
              <a:uFillTx/>
            </a:endParaRPr>
          </a:p>
        </p:txBody>
      </p:sp>
      <p:sp>
        <p:nvSpPr>
          <p:cNvPr id="765" name="Rectangle 764">
            <a:extLst>
              <a:ext uri="{FF2B5EF4-FFF2-40B4-BE49-F238E27FC236}">
                <a16:creationId xmlns:a16="http://schemas.microsoft.com/office/drawing/2014/main" id="{AF6948BC-09AA-87AB-D9FF-1B08250F6A25}"/>
              </a:ext>
            </a:extLst>
          </p:cNvPr>
          <p:cNvSpPr/>
          <p:nvPr/>
        </p:nvSpPr>
        <p:spPr>
          <a:xfrm>
            <a:off x="8076061" y="2969393"/>
            <a:ext cx="726627"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b="1">
                <a:solidFill>
                  <a:srgbClr val="EC111A"/>
                </a:solidFill>
              </a:rPr>
              <a:t>BNS (Total)</a:t>
            </a:r>
          </a:p>
        </p:txBody>
      </p:sp>
      <p:sp>
        <p:nvSpPr>
          <p:cNvPr id="767" name="Rectangle 766">
            <a:extLst>
              <a:ext uri="{FF2B5EF4-FFF2-40B4-BE49-F238E27FC236}">
                <a16:creationId xmlns:a16="http://schemas.microsoft.com/office/drawing/2014/main" id="{36C3EE75-C9E0-8D52-A001-2053E91D25C1}"/>
              </a:ext>
            </a:extLst>
          </p:cNvPr>
          <p:cNvSpPr/>
          <p:nvPr/>
        </p:nvSpPr>
        <p:spPr>
          <a:xfrm>
            <a:off x="8076062" y="3645593"/>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De Chile</a:t>
            </a:r>
          </a:p>
        </p:txBody>
      </p:sp>
      <p:sp>
        <p:nvSpPr>
          <p:cNvPr id="768" name="Rectangle 767">
            <a:extLst>
              <a:ext uri="{FF2B5EF4-FFF2-40B4-BE49-F238E27FC236}">
                <a16:creationId xmlns:a16="http://schemas.microsoft.com/office/drawing/2014/main" id="{E1F248A8-4E87-CC40-6E04-F30D6971A50B}"/>
              </a:ext>
            </a:extLst>
          </p:cNvPr>
          <p:cNvSpPr/>
          <p:nvPr/>
        </p:nvSpPr>
        <p:spPr>
          <a:xfrm>
            <a:off x="8076062" y="3192131"/>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Santander</a:t>
            </a:r>
          </a:p>
        </p:txBody>
      </p:sp>
      <p:sp>
        <p:nvSpPr>
          <p:cNvPr id="769" name="Rectangle 768">
            <a:extLst>
              <a:ext uri="{FF2B5EF4-FFF2-40B4-BE49-F238E27FC236}">
                <a16:creationId xmlns:a16="http://schemas.microsoft.com/office/drawing/2014/main" id="{B009EC6A-CD7C-858A-B747-F7EA5615728C}"/>
              </a:ext>
            </a:extLst>
          </p:cNvPr>
          <p:cNvSpPr/>
          <p:nvPr/>
        </p:nvSpPr>
        <p:spPr>
          <a:xfrm>
            <a:off x="8076062" y="3446030"/>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BCI</a:t>
            </a:r>
          </a:p>
        </p:txBody>
      </p:sp>
      <p:sp>
        <p:nvSpPr>
          <p:cNvPr id="770" name="Rectangle 769">
            <a:extLst>
              <a:ext uri="{FF2B5EF4-FFF2-40B4-BE49-F238E27FC236}">
                <a16:creationId xmlns:a16="http://schemas.microsoft.com/office/drawing/2014/main" id="{062D7970-7793-B9F8-3969-A6A92D154098}"/>
              </a:ext>
            </a:extLst>
          </p:cNvPr>
          <p:cNvSpPr/>
          <p:nvPr/>
        </p:nvSpPr>
        <p:spPr>
          <a:xfrm>
            <a:off x="11039475" y="4502217"/>
            <a:ext cx="627601"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900" i="1">
                <a:solidFill>
                  <a:srgbClr val="EC111A"/>
                </a:solidFill>
              </a:rPr>
              <a:t>BNS </a:t>
            </a:r>
          </a:p>
          <a:p>
            <a:pPr algn="l"/>
            <a:r>
              <a:rPr lang="en-US" sz="900" i="1">
                <a:solidFill>
                  <a:srgbClr val="EC111A"/>
                </a:solidFill>
              </a:rPr>
              <a:t>ex CAT</a:t>
            </a:r>
          </a:p>
        </p:txBody>
      </p:sp>
      <p:sp>
        <p:nvSpPr>
          <p:cNvPr id="773" name="Rectangle 772">
            <a:extLst>
              <a:ext uri="{FF2B5EF4-FFF2-40B4-BE49-F238E27FC236}">
                <a16:creationId xmlns:a16="http://schemas.microsoft.com/office/drawing/2014/main" id="{AD74EEA9-8460-6531-7D58-81B88F4C72C9}"/>
              </a:ext>
            </a:extLst>
          </p:cNvPr>
          <p:cNvSpPr/>
          <p:nvPr/>
        </p:nvSpPr>
        <p:spPr>
          <a:xfrm>
            <a:off x="8076061" y="4320165"/>
            <a:ext cx="683882"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1000">
                <a:solidFill>
                  <a:schemeClr val="bg1">
                    <a:lumMod val="50000"/>
                  </a:schemeClr>
                </a:solidFill>
              </a:rPr>
              <a:t>ITAU</a:t>
            </a:r>
          </a:p>
        </p:txBody>
      </p:sp>
      <p:sp>
        <p:nvSpPr>
          <p:cNvPr id="915" name="Rectangle 914">
            <a:extLst>
              <a:ext uri="{FF2B5EF4-FFF2-40B4-BE49-F238E27FC236}">
                <a16:creationId xmlns:a16="http://schemas.microsoft.com/office/drawing/2014/main" id="{951FF519-D988-4539-4C49-AF08122EB931}"/>
              </a:ext>
            </a:extLst>
          </p:cNvPr>
          <p:cNvSpPr/>
          <p:nvPr/>
        </p:nvSpPr>
        <p:spPr>
          <a:xfrm>
            <a:off x="11039475" y="3079781"/>
            <a:ext cx="408847" cy="138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l"/>
            <a:r>
              <a:rPr lang="en-US" sz="900" i="1">
                <a:solidFill>
                  <a:srgbClr val="EC111A"/>
                </a:solidFill>
              </a:rPr>
              <a:t>CAT</a:t>
            </a:r>
          </a:p>
        </p:txBody>
      </p:sp>
      <p:grpSp>
        <p:nvGrpSpPr>
          <p:cNvPr id="956" name="Group 955">
            <a:extLst>
              <a:ext uri="{FF2B5EF4-FFF2-40B4-BE49-F238E27FC236}">
                <a16:creationId xmlns:a16="http://schemas.microsoft.com/office/drawing/2014/main" id="{AF529A2C-612D-6E58-AEFD-FF3BC672FF2F}"/>
              </a:ext>
            </a:extLst>
          </p:cNvPr>
          <p:cNvGrpSpPr/>
          <p:nvPr/>
        </p:nvGrpSpPr>
        <p:grpSpPr>
          <a:xfrm>
            <a:off x="11136062" y="2605983"/>
            <a:ext cx="540000" cy="1750117"/>
            <a:chOff x="11228552" y="2605983"/>
            <a:chExt cx="447510" cy="1750117"/>
          </a:xfrm>
        </p:grpSpPr>
        <p:sp>
          <p:nvSpPr>
            <p:cNvPr id="950" name="Rectangle 949">
              <a:extLst>
                <a:ext uri="{FF2B5EF4-FFF2-40B4-BE49-F238E27FC236}">
                  <a16:creationId xmlns:a16="http://schemas.microsoft.com/office/drawing/2014/main" id="{D93A42FD-3C8B-16EC-036F-D30756902D5B}"/>
                </a:ext>
              </a:extLst>
            </p:cNvPr>
            <p:cNvSpPr/>
            <p:nvPr/>
          </p:nvSpPr>
          <p:spPr>
            <a:xfrm>
              <a:off x="11228552" y="2605983"/>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rgbClr val="EC111A"/>
                  </a:solidFill>
                </a:rPr>
                <a:t>341 bps</a:t>
              </a:r>
            </a:p>
          </p:txBody>
        </p:sp>
        <p:sp>
          <p:nvSpPr>
            <p:cNvPr id="952" name="Rectangle 951">
              <a:extLst>
                <a:ext uri="{FF2B5EF4-FFF2-40B4-BE49-F238E27FC236}">
                  <a16:creationId xmlns:a16="http://schemas.microsoft.com/office/drawing/2014/main" id="{A7EE70A9-2B0D-A137-9BF9-7411B9A8384A}"/>
                </a:ext>
              </a:extLst>
            </p:cNvPr>
            <p:cNvSpPr/>
            <p:nvPr/>
          </p:nvSpPr>
          <p:spPr>
            <a:xfrm>
              <a:off x="11228552" y="3353921"/>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207 bps</a:t>
              </a:r>
            </a:p>
          </p:txBody>
        </p:sp>
        <p:sp>
          <p:nvSpPr>
            <p:cNvPr id="953" name="Rectangle 952">
              <a:extLst>
                <a:ext uri="{FF2B5EF4-FFF2-40B4-BE49-F238E27FC236}">
                  <a16:creationId xmlns:a16="http://schemas.microsoft.com/office/drawing/2014/main" id="{785774A7-347A-BA96-8970-D34CD013A7EA}"/>
                </a:ext>
              </a:extLst>
            </p:cNvPr>
            <p:cNvSpPr/>
            <p:nvPr/>
          </p:nvSpPr>
          <p:spPr>
            <a:xfrm>
              <a:off x="11228552" y="4215700"/>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103 bps</a:t>
              </a:r>
            </a:p>
          </p:txBody>
        </p:sp>
        <p:sp>
          <p:nvSpPr>
            <p:cNvPr id="954" name="Rectangle 953">
              <a:extLst>
                <a:ext uri="{FF2B5EF4-FFF2-40B4-BE49-F238E27FC236}">
                  <a16:creationId xmlns:a16="http://schemas.microsoft.com/office/drawing/2014/main" id="{18627EF2-E22E-50BA-1BF5-F87C213771F5}"/>
                </a:ext>
              </a:extLst>
            </p:cNvPr>
            <p:cNvSpPr/>
            <p:nvPr/>
          </p:nvSpPr>
          <p:spPr>
            <a:xfrm>
              <a:off x="11228552" y="3582029"/>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-43 bps</a:t>
              </a:r>
            </a:p>
          </p:txBody>
        </p:sp>
        <p:sp>
          <p:nvSpPr>
            <p:cNvPr id="955" name="Rectangle 954">
              <a:extLst>
                <a:ext uri="{FF2B5EF4-FFF2-40B4-BE49-F238E27FC236}">
                  <a16:creationId xmlns:a16="http://schemas.microsoft.com/office/drawing/2014/main" id="{358E8197-072D-75A1-93D7-AEE1387D9691}"/>
                </a:ext>
              </a:extLst>
            </p:cNvPr>
            <p:cNvSpPr/>
            <p:nvPr/>
          </p:nvSpPr>
          <p:spPr>
            <a:xfrm>
              <a:off x="11228552" y="3987410"/>
              <a:ext cx="447510" cy="140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0">
                  <a:solidFill>
                    <a:schemeClr val="bg1">
                      <a:lumMod val="50000"/>
                    </a:schemeClr>
                  </a:solidFill>
                </a:rPr>
                <a:t>-475 bps</a:t>
              </a:r>
            </a:p>
          </p:txBody>
        </p:sp>
      </p:grpSp>
      <p:sp>
        <p:nvSpPr>
          <p:cNvPr id="961" name="Rectangle 960">
            <a:extLst>
              <a:ext uri="{FF2B5EF4-FFF2-40B4-BE49-F238E27FC236}">
                <a16:creationId xmlns:a16="http://schemas.microsoft.com/office/drawing/2014/main" id="{877D2E41-BA32-F4D7-C7FC-5ABF4B47AD0B}"/>
              </a:ext>
            </a:extLst>
          </p:cNvPr>
          <p:cNvSpPr/>
          <p:nvPr/>
        </p:nvSpPr>
        <p:spPr>
          <a:xfrm>
            <a:off x="3520303" y="2314544"/>
            <a:ext cx="595635"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Var</a:t>
            </a:r>
          </a:p>
        </p:txBody>
      </p:sp>
      <p:sp>
        <p:nvSpPr>
          <p:cNvPr id="962" name="Rectangle 961">
            <a:extLst>
              <a:ext uri="{FF2B5EF4-FFF2-40B4-BE49-F238E27FC236}">
                <a16:creationId xmlns:a16="http://schemas.microsoft.com/office/drawing/2014/main" id="{567732B2-85F6-182B-E276-B071E441B81E}"/>
              </a:ext>
            </a:extLst>
          </p:cNvPr>
          <p:cNvSpPr/>
          <p:nvPr/>
        </p:nvSpPr>
        <p:spPr>
          <a:xfrm>
            <a:off x="7300365" y="2314544"/>
            <a:ext cx="595635"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Var</a:t>
            </a:r>
          </a:p>
        </p:txBody>
      </p:sp>
      <p:sp>
        <p:nvSpPr>
          <p:cNvPr id="963" name="Rectangle 962">
            <a:extLst>
              <a:ext uri="{FF2B5EF4-FFF2-40B4-BE49-F238E27FC236}">
                <a16:creationId xmlns:a16="http://schemas.microsoft.com/office/drawing/2014/main" id="{CB004095-BF5A-C23F-644E-D89A348A2020}"/>
              </a:ext>
            </a:extLst>
          </p:cNvPr>
          <p:cNvSpPr/>
          <p:nvPr/>
        </p:nvSpPr>
        <p:spPr>
          <a:xfrm>
            <a:off x="11080427" y="2314544"/>
            <a:ext cx="595635" cy="162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0" rIns="0" bIns="0" rtlCol="0" anchor="ctr" anchorCtr="0"/>
          <a:lstStyle/>
          <a:p>
            <a:pPr algn="ctr"/>
            <a:r>
              <a:rPr lang="en-US" sz="1000">
                <a:solidFill>
                  <a:schemeClr val="tx1"/>
                </a:solidFill>
              </a:rPr>
              <a:t>19-25 Var</a:t>
            </a:r>
          </a:p>
        </p:txBody>
      </p:sp>
      <p:cxnSp>
        <p:nvCxnSpPr>
          <p:cNvPr id="977" name="Straight Connector 976">
            <a:extLst>
              <a:ext uri="{FF2B5EF4-FFF2-40B4-BE49-F238E27FC236}">
                <a16:creationId xmlns:a16="http://schemas.microsoft.com/office/drawing/2014/main" id="{156638DD-5865-B108-F799-6E54F87081D3}"/>
              </a:ext>
            </a:extLst>
          </p:cNvPr>
          <p:cNvCxnSpPr>
            <a:cxnSpLocks/>
          </p:cNvCxnSpPr>
          <p:nvPr/>
        </p:nvCxnSpPr>
        <p:spPr>
          <a:xfrm>
            <a:off x="4205969" y="1995666"/>
            <a:ext cx="0" cy="412560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80" name="Straight Connector 979">
            <a:extLst>
              <a:ext uri="{FF2B5EF4-FFF2-40B4-BE49-F238E27FC236}">
                <a16:creationId xmlns:a16="http://schemas.microsoft.com/office/drawing/2014/main" id="{F9CA49B7-A96B-7B85-C2DC-EC6F912D3CB9}"/>
              </a:ext>
            </a:extLst>
          </p:cNvPr>
          <p:cNvCxnSpPr>
            <a:cxnSpLocks/>
          </p:cNvCxnSpPr>
          <p:nvPr/>
        </p:nvCxnSpPr>
        <p:spPr>
          <a:xfrm>
            <a:off x="7986031" y="1995666"/>
            <a:ext cx="0" cy="4127107"/>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172348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PhAnim="0">
  <p:cSld>
    <p:spTree>
      <p:nvGrpSpPr>
        <p:cNvPr id="1" name="">
          <a:extLst>
            <a:ext uri="{FF2B5EF4-FFF2-40B4-BE49-F238E27FC236}">
              <a16:creationId xmlns:a16="http://schemas.microsoft.com/office/drawing/2014/main" id="{3E54CFDC-354F-5B3F-576A-22A19D27ED79}"/>
            </a:ext>
          </a:extLst>
        </p:cNvPr>
        <p:cNvGrpSpPr/>
        <p:nvPr/>
      </p:nvGrpSpPr>
      <p:grpSpPr>
        <a:xfrm>
          <a:off x="0" y="0"/>
          <a:ext cx="0" cy="0"/>
          <a:chOff x="0" y="0"/>
          <a:chExt cx="0" cy="0"/>
        </a:xfrm>
      </p:grpSpPr>
      <p:graphicFrame>
        <p:nvGraphicFramePr>
          <p:cNvPr id="81" name="think-cell data - do not delete" hidden="1">
            <a:extLst>
              <a:ext uri="{FF2B5EF4-FFF2-40B4-BE49-F238E27FC236}">
                <a16:creationId xmlns:a16="http://schemas.microsoft.com/office/drawing/2014/main" id="{BD11F2A9-D450-D2AD-5D89-6F5C3508D4BA}"/>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81" name="think-cell data - do not delete" hidden="1">
                        <a:extLst>
                          <a:ext uri="{FF2B5EF4-FFF2-40B4-BE49-F238E27FC236}">
                            <a16:creationId xmlns:a16="http://schemas.microsoft.com/office/drawing/2014/main" id="{BD11F2A9-D450-D2AD-5D89-6F5C3508D4B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aphicFrame>
        <p:nvGraphicFramePr>
          <p:cNvPr id="7" name="Table 6">
            <a:extLst>
              <a:ext uri="{FF2B5EF4-FFF2-40B4-BE49-F238E27FC236}">
                <a16:creationId xmlns:a16="http://schemas.microsoft.com/office/drawing/2014/main" id="{7A493453-DB4A-EFAB-CB3A-0A115DB668F8}"/>
              </a:ext>
            </a:extLst>
          </p:cNvPr>
          <p:cNvGraphicFramePr>
            <a:graphicFrameLocks noGrp="1"/>
          </p:cNvGraphicFramePr>
          <p:nvPr/>
        </p:nvGraphicFramePr>
        <p:xfrm>
          <a:off x="596064" y="1631892"/>
          <a:ext cx="11160125" cy="4386702"/>
        </p:xfrm>
        <a:graphic>
          <a:graphicData uri="http://schemas.openxmlformats.org/drawingml/2006/table">
            <a:tbl>
              <a:tblPr firstRow="1" bandRow="1">
                <a:tableStyleId>{5C22544A-7EE6-4342-B048-85BDC9FD1C3A}</a:tableStyleId>
              </a:tblPr>
              <a:tblGrid>
                <a:gridCol w="1958321">
                  <a:extLst>
                    <a:ext uri="{9D8B030D-6E8A-4147-A177-3AD203B41FA5}">
                      <a16:colId xmlns:a16="http://schemas.microsoft.com/office/drawing/2014/main" val="218780699"/>
                    </a:ext>
                  </a:extLst>
                </a:gridCol>
                <a:gridCol w="4600902">
                  <a:extLst>
                    <a:ext uri="{9D8B030D-6E8A-4147-A177-3AD203B41FA5}">
                      <a16:colId xmlns:a16="http://schemas.microsoft.com/office/drawing/2014/main" val="2931095486"/>
                    </a:ext>
                  </a:extLst>
                </a:gridCol>
                <a:gridCol w="4600902">
                  <a:extLst>
                    <a:ext uri="{9D8B030D-6E8A-4147-A177-3AD203B41FA5}">
                      <a16:colId xmlns:a16="http://schemas.microsoft.com/office/drawing/2014/main" val="300963699"/>
                    </a:ext>
                  </a:extLst>
                </a:gridCol>
              </a:tblGrid>
              <a:tr h="411480">
                <a:tc>
                  <a:txBody>
                    <a:bodyPr/>
                    <a:lstStyle/>
                    <a:p>
                      <a:r>
                        <a:rPr lang="en-US" sz="1100">
                          <a:solidFill>
                            <a:schemeClr val="tx1"/>
                          </a:solidFill>
                        </a:rPr>
                        <a:t>Value Prop Driver</a:t>
                      </a:r>
                    </a:p>
                  </a:txBody>
                  <a:tcPr>
                    <a:lnL w="12700" cap="flat" cmpd="sng" algn="ctr">
                      <a:noFill/>
                      <a:prstDash val="solid"/>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n-US" sz="1100" b="1" kern="1200">
                          <a:solidFill>
                            <a:schemeClr val="tx1"/>
                          </a:solidFill>
                          <a:latin typeface="+mn-lt"/>
                          <a:ea typeface="+mn-ea"/>
                          <a:cs typeface="+mn-cs"/>
                        </a:rPr>
                        <a:t>Strategic philosophy</a:t>
                      </a:r>
                    </a:p>
                  </a:txBody>
                  <a:tcP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a:endParaRPr lang="en-US" sz="1100" b="1" kern="1200">
                        <a:solidFill>
                          <a:schemeClr val="tx1"/>
                        </a:solidFill>
                        <a:latin typeface="+mn-lt"/>
                        <a:ea typeface="+mn-ea"/>
                        <a:cs typeface="+mn-cs"/>
                      </a:endParaRPr>
                    </a:p>
                  </a:txBody>
                  <a:tcPr>
                    <a:lnL w="12700" cap="flat" cmpd="sng" algn="ctr">
                      <a:noFill/>
                      <a:prstDash val="sysDot"/>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714515184"/>
                  </a:ext>
                </a:extLst>
              </a:tr>
              <a:tr h="818748">
                <a:tc>
                  <a:txBody>
                    <a:bodyPr/>
                    <a:lstStyle/>
                    <a:p>
                      <a:endParaRPr lang="en-US" sz="1100"/>
                    </a:p>
                  </a:txBody>
                  <a:tcPr anchor="ctr">
                    <a:lnL w="12700" cap="flat" cmpd="sng" algn="ctr">
                      <a:noFill/>
                      <a:prstDash val="solid"/>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endParaRPr lang="en-US" sz="1100"/>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pPr marL="182880">
                        <a:spcAft>
                          <a:spcPts val="1600"/>
                        </a:spcAft>
                      </a:pPr>
                      <a:endParaRPr lang="en-US" sz="1100" b="0">
                        <a:solidFill>
                          <a:srgbClr val="54575A"/>
                        </a:solidFill>
                      </a:endParaRPr>
                    </a:p>
                  </a:txBody>
                  <a:tcPr marL="0" anchor="ctr">
                    <a:lnL w="12700" cap="flat" cmpd="sng" algn="ctr">
                      <a:noFill/>
                      <a:prstDash val="sysDot"/>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extLst>
                  <a:ext uri="{0D108BD9-81ED-4DB2-BD59-A6C34878D82A}">
                    <a16:rowId xmlns:a16="http://schemas.microsoft.com/office/drawing/2014/main" val="86591131"/>
                  </a:ext>
                </a:extLst>
              </a:tr>
              <a:tr h="700230">
                <a:tc>
                  <a:txBody>
                    <a:bodyPr/>
                    <a:lstStyle/>
                    <a:p>
                      <a:endParaRPr lang="en-US" sz="1100"/>
                    </a:p>
                  </a:txBody>
                  <a:tcPr anchor="ctr">
                    <a:lnL w="12700" cap="flat" cmpd="sng" algn="ctr">
                      <a:noFill/>
                      <a:prstDash val="solid"/>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endParaRPr lang="en-US" sz="1100"/>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pPr marL="182880">
                        <a:spcAft>
                          <a:spcPts val="1600"/>
                        </a:spcAft>
                      </a:pPr>
                      <a:endParaRPr lang="en-US" sz="1100" b="0">
                        <a:solidFill>
                          <a:srgbClr val="54575A"/>
                        </a:solidFill>
                      </a:endParaRPr>
                    </a:p>
                  </a:txBody>
                  <a:tcPr marL="0" anchor="ctr">
                    <a:lnL w="12700" cap="flat" cmpd="sng" algn="ctr">
                      <a:noFill/>
                      <a:prstDash val="sysDot"/>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extLst>
                  <a:ext uri="{0D108BD9-81ED-4DB2-BD59-A6C34878D82A}">
                    <a16:rowId xmlns:a16="http://schemas.microsoft.com/office/drawing/2014/main" val="304496422"/>
                  </a:ext>
                </a:extLst>
              </a:tr>
              <a:tr h="818748">
                <a:tc>
                  <a:txBody>
                    <a:bodyPr/>
                    <a:lstStyle/>
                    <a:p>
                      <a:endParaRPr lang="en-US" sz="1100"/>
                    </a:p>
                  </a:txBody>
                  <a:tcPr anchor="ctr">
                    <a:lnL w="12700" cap="flat" cmpd="sng" algn="ctr">
                      <a:noFill/>
                      <a:prstDash val="solid"/>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endParaRPr lang="en-US" sz="1100"/>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pPr marL="182880">
                        <a:spcAft>
                          <a:spcPts val="1600"/>
                        </a:spcAft>
                      </a:pPr>
                      <a:endParaRPr lang="en-US" sz="1100">
                        <a:solidFill>
                          <a:srgbClr val="54575A"/>
                        </a:solidFill>
                      </a:endParaRPr>
                    </a:p>
                  </a:txBody>
                  <a:tcPr marL="0" anchor="ctr">
                    <a:lnL w="12700" cap="flat" cmpd="sng" algn="ctr">
                      <a:noFill/>
                      <a:prstDash val="sysDot"/>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extLst>
                  <a:ext uri="{0D108BD9-81ED-4DB2-BD59-A6C34878D82A}">
                    <a16:rowId xmlns:a16="http://schemas.microsoft.com/office/drawing/2014/main" val="2574837274"/>
                  </a:ext>
                </a:extLst>
              </a:tr>
              <a:tr h="818748">
                <a:tc>
                  <a:txBody>
                    <a:bodyPr/>
                    <a:lstStyle/>
                    <a:p>
                      <a:endParaRPr lang="en-US" sz="1100"/>
                    </a:p>
                  </a:txBody>
                  <a:tcPr anchor="ctr">
                    <a:lnL w="12700" cap="flat" cmpd="sng" algn="ctr">
                      <a:noFill/>
                      <a:prstDash val="solid"/>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endParaRPr lang="en-US" sz="1100"/>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tc>
                  <a:txBody>
                    <a:bodyPr/>
                    <a:lstStyle/>
                    <a:p>
                      <a:pPr marL="182880">
                        <a:spcAft>
                          <a:spcPts val="1600"/>
                        </a:spcAft>
                      </a:pPr>
                      <a:endParaRPr lang="en-US" sz="1100" b="0">
                        <a:solidFill>
                          <a:srgbClr val="54575A"/>
                        </a:solidFill>
                      </a:endParaRPr>
                    </a:p>
                  </a:txBody>
                  <a:tcPr marL="0" anchor="ctr">
                    <a:lnL w="12700" cap="flat" cmpd="sng" algn="ctr">
                      <a:noFill/>
                      <a:prstDash val="sysDot"/>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solidFill>
                        <a:schemeClr val="bg1">
                          <a:lumMod val="95000"/>
                        </a:schemeClr>
                      </a:solidFill>
                      <a:prstDash val="sysDot"/>
                      <a:round/>
                      <a:headEnd type="none" w="med" len="med"/>
                      <a:tailEnd type="none" w="med" len="med"/>
                    </a:lnB>
                    <a:noFill/>
                  </a:tcPr>
                </a:tc>
                <a:extLst>
                  <a:ext uri="{0D108BD9-81ED-4DB2-BD59-A6C34878D82A}">
                    <a16:rowId xmlns:a16="http://schemas.microsoft.com/office/drawing/2014/main" val="3251569461"/>
                  </a:ext>
                </a:extLst>
              </a:tr>
              <a:tr h="818748">
                <a:tc>
                  <a:txBody>
                    <a:bodyPr/>
                    <a:lstStyle/>
                    <a:p>
                      <a:endParaRPr lang="en-US" sz="1100"/>
                    </a:p>
                  </a:txBody>
                  <a:tcPr anchor="ctr">
                    <a:lnL w="12700" cap="flat" cmpd="sng" algn="ctr">
                      <a:noFill/>
                      <a:prstDash val="solid"/>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endParaRPr lang="en-US" sz="1100"/>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pPr marL="182880">
                        <a:spcAft>
                          <a:spcPts val="1600"/>
                        </a:spcAft>
                      </a:pPr>
                      <a:endParaRPr lang="en-US" sz="1100">
                        <a:solidFill>
                          <a:srgbClr val="54575A"/>
                        </a:solidFill>
                      </a:endParaRPr>
                    </a:p>
                  </a:txBody>
                  <a:tcPr marL="0" anchor="ctr">
                    <a:lnL w="12700" cap="flat" cmpd="sng" algn="ctr">
                      <a:noFill/>
                      <a:prstDash val="sysDot"/>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95000"/>
                        </a:schemeClr>
                      </a:solidFill>
                      <a:prstDash val="sysDot"/>
                      <a:round/>
                      <a:headEnd type="none" w="med" len="med"/>
                      <a:tailEnd type="none" w="med" len="med"/>
                    </a:lnT>
                    <a:lnB w="9525" cap="flat" cmpd="sng" algn="ctr">
                      <a:noFill/>
                      <a:prstDash val="sysDot"/>
                      <a:round/>
                      <a:headEnd type="none" w="med" len="med"/>
                      <a:tailEnd type="none" w="med" len="med"/>
                    </a:lnB>
                    <a:noFill/>
                  </a:tcPr>
                </a:tc>
                <a:extLst>
                  <a:ext uri="{0D108BD9-81ED-4DB2-BD59-A6C34878D82A}">
                    <a16:rowId xmlns:a16="http://schemas.microsoft.com/office/drawing/2014/main" val="3870703671"/>
                  </a:ext>
                </a:extLst>
              </a:tr>
            </a:tbl>
          </a:graphicData>
        </a:graphic>
      </p:graphicFrame>
      <p:sp>
        <p:nvSpPr>
          <p:cNvPr id="2" name="Title 1">
            <a:extLst>
              <a:ext uri="{FF2B5EF4-FFF2-40B4-BE49-F238E27FC236}">
                <a16:creationId xmlns:a16="http://schemas.microsoft.com/office/drawing/2014/main" id="{70DCF70D-52E3-7316-B4FE-365938321483}"/>
              </a:ext>
            </a:extLst>
          </p:cNvPr>
          <p:cNvSpPr>
            <a:spLocks noGrp="1"/>
          </p:cNvSpPr>
          <p:nvPr>
            <p:ph type="title"/>
          </p:nvPr>
        </p:nvSpPr>
        <p:spPr/>
        <p:txBody>
          <a:bodyPr vert="horz"/>
          <a:lstStyle/>
          <a:p>
            <a:r>
              <a:rPr lang="en-US">
                <a:solidFill>
                  <a:srgbClr val="EC111A"/>
                </a:solidFill>
              </a:rPr>
              <a:t>BNS North Star | </a:t>
            </a:r>
            <a:r>
              <a:rPr lang="en-US"/>
              <a:t>Scotiabank to leverage its inherent strengths in product &amp; advice while enhancing digital capabilities and improving client-centricity</a:t>
            </a:r>
            <a:endParaRPr lang="en-US">
              <a:solidFill>
                <a:srgbClr val="EC111A"/>
              </a:solidFill>
            </a:endParaRPr>
          </a:p>
        </p:txBody>
      </p:sp>
      <p:sp>
        <p:nvSpPr>
          <p:cNvPr id="3" name="Slide Number Placeholder 2">
            <a:extLst>
              <a:ext uri="{FF2B5EF4-FFF2-40B4-BE49-F238E27FC236}">
                <a16:creationId xmlns:a16="http://schemas.microsoft.com/office/drawing/2014/main" id="{F32F8A55-965F-083A-A13E-FB2DC2125A9F}"/>
              </a:ext>
            </a:extLst>
          </p:cNvPr>
          <p:cNvSpPr>
            <a:spLocks noGrp="1"/>
          </p:cNvSpPr>
          <p:nvPr>
            <p:ph type="sldNum" sz="quarter" idx="10"/>
          </p:nvPr>
        </p:nvSpPr>
        <p:spPr/>
        <p:txBody>
          <a:bodyPr/>
          <a:lstStyle/>
          <a:p>
            <a:fld id="{95D835A7-12B2-4074-8DA2-469A8808C237}" type="slidenum">
              <a:rPr lang="en-CA" smtClean="0"/>
              <a:pPr/>
              <a:t>45</a:t>
            </a:fld>
            <a:endParaRPr lang="en-CA"/>
          </a:p>
        </p:txBody>
      </p:sp>
      <p:sp>
        <p:nvSpPr>
          <p:cNvPr id="5" name="Text Placeholder 4">
            <a:extLst>
              <a:ext uri="{FF2B5EF4-FFF2-40B4-BE49-F238E27FC236}">
                <a16:creationId xmlns:a16="http://schemas.microsoft.com/office/drawing/2014/main" id="{3CD2A12D-CFCD-790B-0E19-BB00EB907F58}"/>
              </a:ext>
            </a:extLst>
          </p:cNvPr>
          <p:cNvSpPr>
            <a:spLocks noGrp="1"/>
          </p:cNvSpPr>
          <p:nvPr>
            <p:ph type="body" sz="quarter" idx="13"/>
          </p:nvPr>
        </p:nvSpPr>
        <p:spPr/>
        <p:txBody>
          <a:bodyPr/>
          <a:lstStyle/>
          <a:p>
            <a:r>
              <a:rPr lang="en-US"/>
              <a:t>ALL-BANK Wealthsimple Response STRATEGY</a:t>
            </a:r>
          </a:p>
        </p:txBody>
      </p:sp>
      <p:sp>
        <p:nvSpPr>
          <p:cNvPr id="8" name="Rectangle: Rounded Corners 7">
            <a:extLst>
              <a:ext uri="{FF2B5EF4-FFF2-40B4-BE49-F238E27FC236}">
                <a16:creationId xmlns:a16="http://schemas.microsoft.com/office/drawing/2014/main" id="{F0983EBB-FC91-003A-D176-3663EC004330}"/>
              </a:ext>
            </a:extLst>
          </p:cNvPr>
          <p:cNvSpPr/>
          <p:nvPr/>
        </p:nvSpPr>
        <p:spPr>
          <a:xfrm>
            <a:off x="731663" y="2103406"/>
            <a:ext cx="1736661" cy="701886"/>
          </a:xfrm>
          <a:prstGeom prst="roundRect">
            <a:avLst>
              <a:gd name="adj" fmla="val 0"/>
            </a:avLst>
          </a:prstGeom>
          <a:solidFill>
            <a:srgbClr val="BEBBA6"/>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180000" rIns="91440" bIns="180000" rtlCol="0" anchor="ctr"/>
          <a:lstStyle/>
          <a:p>
            <a:pPr algn="l">
              <a:spcBef>
                <a:spcPts val="600"/>
              </a:spcBef>
            </a:pPr>
            <a:r>
              <a:rPr lang="en-US" sz="1200" b="1">
                <a:solidFill>
                  <a:schemeClr val="tx1"/>
                </a:solidFill>
              </a:rPr>
              <a:t>Engagement Channel</a:t>
            </a:r>
          </a:p>
        </p:txBody>
      </p:sp>
      <p:sp>
        <p:nvSpPr>
          <p:cNvPr id="9" name="Rectangle: Rounded Corners 8">
            <a:extLst>
              <a:ext uri="{FF2B5EF4-FFF2-40B4-BE49-F238E27FC236}">
                <a16:creationId xmlns:a16="http://schemas.microsoft.com/office/drawing/2014/main" id="{CF6E9B23-91EA-0FEB-D961-A57F61A57AC5}"/>
              </a:ext>
            </a:extLst>
          </p:cNvPr>
          <p:cNvSpPr/>
          <p:nvPr/>
        </p:nvSpPr>
        <p:spPr>
          <a:xfrm>
            <a:off x="731585" y="2924553"/>
            <a:ext cx="1736739" cy="701886"/>
          </a:xfrm>
          <a:prstGeom prst="roundRect">
            <a:avLst>
              <a:gd name="adj" fmla="val 0"/>
            </a:avLst>
          </a:prstGeom>
          <a:solidFill>
            <a:srgbClr val="BEBBA6"/>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180000" rIns="91440" bIns="180000" rtlCol="0" anchor="ctr"/>
          <a:lstStyle/>
          <a:p>
            <a:pPr algn="l">
              <a:spcBef>
                <a:spcPts val="600"/>
              </a:spcBef>
            </a:pPr>
            <a:r>
              <a:rPr lang="en-US" sz="1200" b="1">
                <a:solidFill>
                  <a:schemeClr val="tx1"/>
                </a:solidFill>
              </a:rPr>
              <a:t>Offerings &amp; Advice</a:t>
            </a:r>
          </a:p>
        </p:txBody>
      </p:sp>
      <p:sp>
        <p:nvSpPr>
          <p:cNvPr id="10" name="Rectangle: Rounded Corners 9">
            <a:extLst>
              <a:ext uri="{FF2B5EF4-FFF2-40B4-BE49-F238E27FC236}">
                <a16:creationId xmlns:a16="http://schemas.microsoft.com/office/drawing/2014/main" id="{0B76C4E3-B17F-89A4-931C-163F9D7211DF}"/>
              </a:ext>
            </a:extLst>
          </p:cNvPr>
          <p:cNvSpPr/>
          <p:nvPr/>
        </p:nvSpPr>
        <p:spPr>
          <a:xfrm>
            <a:off x="731279" y="3745700"/>
            <a:ext cx="1729421" cy="701886"/>
          </a:xfrm>
          <a:prstGeom prst="roundRect">
            <a:avLst>
              <a:gd name="adj" fmla="val 0"/>
            </a:avLst>
          </a:prstGeom>
          <a:solidFill>
            <a:srgbClr val="E1E0D7"/>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180000" rIns="91440" bIns="180000" rtlCol="0" anchor="ctr"/>
          <a:lstStyle/>
          <a:p>
            <a:pPr algn="l">
              <a:spcBef>
                <a:spcPts val="600"/>
              </a:spcBef>
            </a:pPr>
            <a:r>
              <a:rPr lang="en-US" sz="1200" b="1">
                <a:solidFill>
                  <a:schemeClr val="tx1"/>
                </a:solidFill>
              </a:rPr>
              <a:t>Value for Money</a:t>
            </a:r>
          </a:p>
        </p:txBody>
      </p:sp>
      <p:sp>
        <p:nvSpPr>
          <p:cNvPr id="11" name="Rectangle: Rounded Corners 10">
            <a:extLst>
              <a:ext uri="{FF2B5EF4-FFF2-40B4-BE49-F238E27FC236}">
                <a16:creationId xmlns:a16="http://schemas.microsoft.com/office/drawing/2014/main" id="{4422F20C-A27D-1E21-970E-71614EDA9FE9}"/>
              </a:ext>
            </a:extLst>
          </p:cNvPr>
          <p:cNvSpPr/>
          <p:nvPr/>
        </p:nvSpPr>
        <p:spPr>
          <a:xfrm>
            <a:off x="731585" y="4566847"/>
            <a:ext cx="1736739" cy="701886"/>
          </a:xfrm>
          <a:prstGeom prst="roundRect">
            <a:avLst>
              <a:gd name="adj" fmla="val 0"/>
            </a:avLst>
          </a:prstGeom>
          <a:solidFill>
            <a:srgbClr val="E1E0D7"/>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180000" rIns="91440" bIns="180000" rtlCol="0" anchor="ctr"/>
          <a:lstStyle/>
          <a:p>
            <a:pPr algn="l">
              <a:spcBef>
                <a:spcPts val="600"/>
              </a:spcBef>
            </a:pPr>
            <a:r>
              <a:rPr lang="en-US" sz="1200" b="1">
                <a:solidFill>
                  <a:schemeClr val="tx1"/>
                </a:solidFill>
              </a:rPr>
              <a:t>Branding</a:t>
            </a:r>
          </a:p>
        </p:txBody>
      </p:sp>
      <p:sp>
        <p:nvSpPr>
          <p:cNvPr id="270" name="Rectangle: Rounded Corners 269">
            <a:extLst>
              <a:ext uri="{FF2B5EF4-FFF2-40B4-BE49-F238E27FC236}">
                <a16:creationId xmlns:a16="http://schemas.microsoft.com/office/drawing/2014/main" id="{F401C1AB-080A-5840-9847-1EF0B13FAFC1}"/>
              </a:ext>
            </a:extLst>
          </p:cNvPr>
          <p:cNvSpPr/>
          <p:nvPr/>
        </p:nvSpPr>
        <p:spPr>
          <a:xfrm>
            <a:off x="731585" y="5387994"/>
            <a:ext cx="1736739" cy="701886"/>
          </a:xfrm>
          <a:prstGeom prst="roundRect">
            <a:avLst>
              <a:gd name="adj" fmla="val 0"/>
            </a:avLst>
          </a:prstGeom>
          <a:solidFill>
            <a:srgbClr val="E1E0D7"/>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180000" rIns="91440" bIns="180000" rtlCol="0" anchor="ctr"/>
          <a:lstStyle/>
          <a:p>
            <a:pPr algn="l">
              <a:spcBef>
                <a:spcPts val="600"/>
              </a:spcBef>
            </a:pPr>
            <a:r>
              <a:rPr lang="en-US" sz="1200" b="1">
                <a:solidFill>
                  <a:schemeClr val="tx1"/>
                </a:solidFill>
              </a:rPr>
              <a:t>Ecosystem</a:t>
            </a:r>
          </a:p>
        </p:txBody>
      </p:sp>
      <p:sp>
        <p:nvSpPr>
          <p:cNvPr id="14" name="Right Bracket 13">
            <a:extLst>
              <a:ext uri="{FF2B5EF4-FFF2-40B4-BE49-F238E27FC236}">
                <a16:creationId xmlns:a16="http://schemas.microsoft.com/office/drawing/2014/main" id="{5A8C57CC-C5BF-3AD5-A3FD-A93165A815D4}"/>
              </a:ext>
            </a:extLst>
          </p:cNvPr>
          <p:cNvSpPr/>
          <p:nvPr/>
        </p:nvSpPr>
        <p:spPr>
          <a:xfrm rot="10800000">
            <a:off x="579129" y="4546961"/>
            <a:ext cx="85919" cy="1559176"/>
          </a:xfrm>
          <a:prstGeom prst="rightBracket">
            <a:avLst>
              <a:gd name="adj" fmla="val 0"/>
            </a:avLst>
          </a:prstGeom>
          <a:ln w="19050">
            <a:solidFill>
              <a:srgbClr val="F5EFE8"/>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a:extLst>
              <a:ext uri="{FF2B5EF4-FFF2-40B4-BE49-F238E27FC236}">
                <a16:creationId xmlns:a16="http://schemas.microsoft.com/office/drawing/2014/main" id="{3C03F8AD-16A3-F29C-40E4-2B52811A80E6}"/>
              </a:ext>
            </a:extLst>
          </p:cNvPr>
          <p:cNvSpPr txBox="1"/>
          <p:nvPr/>
        </p:nvSpPr>
        <p:spPr>
          <a:xfrm>
            <a:off x="466390" y="4663263"/>
            <a:ext cx="219771" cy="1300605"/>
          </a:xfrm>
          <a:prstGeom prst="rect">
            <a:avLst/>
          </a:prstGeom>
          <a:solidFill>
            <a:schemeClr val="bg1"/>
          </a:solidFill>
        </p:spPr>
        <p:txBody>
          <a:bodyPr vert="vert270" wrap="square" rtlCol="0" anchor="ctr">
            <a:spAutoFit/>
          </a:bodyPr>
          <a:lstStyle/>
          <a:p>
            <a:pPr algn="ctr"/>
            <a:r>
              <a:rPr lang="en-US" sz="1100" spc="300"/>
              <a:t>ALL-BANK</a:t>
            </a:r>
          </a:p>
        </p:txBody>
      </p:sp>
      <p:sp>
        <p:nvSpPr>
          <p:cNvPr id="22" name="Right Bracket 21">
            <a:extLst>
              <a:ext uri="{FF2B5EF4-FFF2-40B4-BE49-F238E27FC236}">
                <a16:creationId xmlns:a16="http://schemas.microsoft.com/office/drawing/2014/main" id="{F369DCE9-93CB-0EF3-94DA-B7EE1C812229}"/>
              </a:ext>
            </a:extLst>
          </p:cNvPr>
          <p:cNvSpPr/>
          <p:nvPr/>
        </p:nvSpPr>
        <p:spPr>
          <a:xfrm rot="10800000">
            <a:off x="573517" y="2104442"/>
            <a:ext cx="80521" cy="2387357"/>
          </a:xfrm>
          <a:prstGeom prst="rightBracket">
            <a:avLst>
              <a:gd name="adj" fmla="val 0"/>
            </a:avLst>
          </a:prstGeom>
          <a:ln w="19050">
            <a:solidFill>
              <a:srgbClr val="F5EFE8"/>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7" name="TextBox 26">
            <a:extLst>
              <a:ext uri="{FF2B5EF4-FFF2-40B4-BE49-F238E27FC236}">
                <a16:creationId xmlns:a16="http://schemas.microsoft.com/office/drawing/2014/main" id="{D79FCBCF-1FD7-209E-EE57-C31AD567D6B1}"/>
              </a:ext>
            </a:extLst>
          </p:cNvPr>
          <p:cNvSpPr txBox="1"/>
          <p:nvPr/>
        </p:nvSpPr>
        <p:spPr>
          <a:xfrm>
            <a:off x="466390" y="2647817"/>
            <a:ext cx="219771" cy="1300605"/>
          </a:xfrm>
          <a:prstGeom prst="rect">
            <a:avLst/>
          </a:prstGeom>
          <a:solidFill>
            <a:schemeClr val="bg1"/>
          </a:solidFill>
        </p:spPr>
        <p:txBody>
          <a:bodyPr vert="vert270" wrap="square" rtlCol="0" anchor="ctr">
            <a:spAutoFit/>
          </a:bodyPr>
          <a:lstStyle/>
          <a:p>
            <a:pPr algn="ctr"/>
            <a:r>
              <a:rPr lang="en-US" sz="1100" spc="300"/>
              <a:t>BL-SPECIFIC</a:t>
            </a:r>
          </a:p>
        </p:txBody>
      </p:sp>
      <p:cxnSp>
        <p:nvCxnSpPr>
          <p:cNvPr id="15" name="Straight Connector 14">
            <a:extLst>
              <a:ext uri="{FF2B5EF4-FFF2-40B4-BE49-F238E27FC236}">
                <a16:creationId xmlns:a16="http://schemas.microsoft.com/office/drawing/2014/main" id="{7771222C-3624-345E-713C-FBB22A9A26AA}"/>
              </a:ext>
            </a:extLst>
          </p:cNvPr>
          <p:cNvCxnSpPr>
            <a:cxnSpLocks/>
          </p:cNvCxnSpPr>
          <p:nvPr/>
        </p:nvCxnSpPr>
        <p:spPr>
          <a:xfrm>
            <a:off x="2936735" y="2454349"/>
            <a:ext cx="449275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5094A0C1-D550-4039-BC2D-326272E6EE84}"/>
              </a:ext>
            </a:extLst>
          </p:cNvPr>
          <p:cNvSpPr/>
          <p:nvPr/>
        </p:nvSpPr>
        <p:spPr>
          <a:xfrm>
            <a:off x="6718578" y="2644062"/>
            <a:ext cx="1155989" cy="160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Digital-focused</a:t>
            </a:r>
          </a:p>
        </p:txBody>
      </p:sp>
      <p:sp>
        <p:nvSpPr>
          <p:cNvPr id="18" name="Rectangle 17">
            <a:extLst>
              <a:ext uri="{FF2B5EF4-FFF2-40B4-BE49-F238E27FC236}">
                <a16:creationId xmlns:a16="http://schemas.microsoft.com/office/drawing/2014/main" id="{8997C445-6409-F1E1-B9DC-EA5A6B955EDF}"/>
              </a:ext>
            </a:extLst>
          </p:cNvPr>
          <p:cNvSpPr/>
          <p:nvPr/>
        </p:nvSpPr>
        <p:spPr>
          <a:xfrm>
            <a:off x="2604283" y="2640838"/>
            <a:ext cx="1027855" cy="1465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Branch-focused</a:t>
            </a:r>
          </a:p>
        </p:txBody>
      </p:sp>
      <p:pic>
        <p:nvPicPr>
          <p:cNvPr id="19" name="Picture 18">
            <a:extLst>
              <a:ext uri="{FF2B5EF4-FFF2-40B4-BE49-F238E27FC236}">
                <a16:creationId xmlns:a16="http://schemas.microsoft.com/office/drawing/2014/main" id="{26BE0487-C1F0-0730-8EAF-D7FDA5663A4B}"/>
              </a:ext>
            </a:extLst>
          </p:cNvPr>
          <p:cNvPicPr>
            <a:picLocks/>
          </p:cNvPicPr>
          <p:nvPr/>
        </p:nvPicPr>
        <p:blipFill>
          <a:blip r:embed="rId6">
            <a:alphaModFix amt="70000"/>
          </a:blip>
          <a:stretch>
            <a:fillRect/>
          </a:stretch>
        </p:blipFill>
        <p:spPr>
          <a:xfrm>
            <a:off x="6069783" y="2294329"/>
            <a:ext cx="320040" cy="320040"/>
          </a:xfrm>
          <a:prstGeom prst="ellipse">
            <a:avLst/>
          </a:prstGeom>
        </p:spPr>
      </p:pic>
      <p:cxnSp>
        <p:nvCxnSpPr>
          <p:cNvPr id="21" name="Straight Connector 20">
            <a:extLst>
              <a:ext uri="{FF2B5EF4-FFF2-40B4-BE49-F238E27FC236}">
                <a16:creationId xmlns:a16="http://schemas.microsoft.com/office/drawing/2014/main" id="{D7B5A1F2-AC82-F31A-2ED5-335E2F7F3466}"/>
              </a:ext>
            </a:extLst>
          </p:cNvPr>
          <p:cNvCxnSpPr>
            <a:cxnSpLocks/>
          </p:cNvCxnSpPr>
          <p:nvPr/>
        </p:nvCxnSpPr>
        <p:spPr>
          <a:xfrm>
            <a:off x="2936735" y="3293441"/>
            <a:ext cx="449275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FD912F24-D42C-662C-C5E7-726322C7FD92}"/>
              </a:ext>
            </a:extLst>
          </p:cNvPr>
          <p:cNvSpPr/>
          <p:nvPr/>
        </p:nvSpPr>
        <p:spPr>
          <a:xfrm>
            <a:off x="6777098" y="3493992"/>
            <a:ext cx="1070796" cy="2376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Full-suite offerings with expert advice</a:t>
            </a:r>
          </a:p>
        </p:txBody>
      </p:sp>
      <p:pic>
        <p:nvPicPr>
          <p:cNvPr id="24" name="Picture 23">
            <a:extLst>
              <a:ext uri="{FF2B5EF4-FFF2-40B4-BE49-F238E27FC236}">
                <a16:creationId xmlns:a16="http://schemas.microsoft.com/office/drawing/2014/main" id="{F8B6A038-0AE2-2FF0-C117-2DED9B1BF064}"/>
              </a:ext>
            </a:extLst>
          </p:cNvPr>
          <p:cNvPicPr>
            <a:picLocks/>
          </p:cNvPicPr>
          <p:nvPr/>
        </p:nvPicPr>
        <p:blipFill>
          <a:blip r:embed="rId6">
            <a:alphaModFix amt="70000"/>
          </a:blip>
          <a:stretch>
            <a:fillRect/>
          </a:stretch>
        </p:blipFill>
        <p:spPr>
          <a:xfrm>
            <a:off x="2920433" y="3133421"/>
            <a:ext cx="320040" cy="320040"/>
          </a:xfrm>
          <a:prstGeom prst="ellipse">
            <a:avLst/>
          </a:prstGeom>
        </p:spPr>
      </p:pic>
      <p:cxnSp>
        <p:nvCxnSpPr>
          <p:cNvPr id="26" name="Straight Connector 25">
            <a:extLst>
              <a:ext uri="{FF2B5EF4-FFF2-40B4-BE49-F238E27FC236}">
                <a16:creationId xmlns:a16="http://schemas.microsoft.com/office/drawing/2014/main" id="{746280D0-22C8-3DFD-8A61-0E21D37E0594}"/>
              </a:ext>
            </a:extLst>
          </p:cNvPr>
          <p:cNvCxnSpPr>
            <a:cxnSpLocks/>
          </p:cNvCxnSpPr>
          <p:nvPr/>
        </p:nvCxnSpPr>
        <p:spPr>
          <a:xfrm>
            <a:off x="2936735" y="4116169"/>
            <a:ext cx="449275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A5082385-88E2-1E3E-DF68-F3B7507AA885}"/>
              </a:ext>
            </a:extLst>
          </p:cNvPr>
          <p:cNvSpPr/>
          <p:nvPr/>
        </p:nvSpPr>
        <p:spPr>
          <a:xfrm>
            <a:off x="6527261" y="4244349"/>
            <a:ext cx="1538622" cy="1765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Tiered offers</a:t>
            </a:r>
          </a:p>
        </p:txBody>
      </p:sp>
      <p:pic>
        <p:nvPicPr>
          <p:cNvPr id="29" name="Picture 28">
            <a:extLst>
              <a:ext uri="{FF2B5EF4-FFF2-40B4-BE49-F238E27FC236}">
                <a16:creationId xmlns:a16="http://schemas.microsoft.com/office/drawing/2014/main" id="{AD131EAA-3957-6A8A-D453-9D68ED86330E}"/>
              </a:ext>
            </a:extLst>
          </p:cNvPr>
          <p:cNvPicPr>
            <a:picLocks/>
          </p:cNvPicPr>
          <p:nvPr/>
        </p:nvPicPr>
        <p:blipFill>
          <a:blip r:embed="rId6">
            <a:alphaModFix amt="70000"/>
          </a:blip>
          <a:stretch>
            <a:fillRect/>
          </a:stretch>
        </p:blipFill>
        <p:spPr>
          <a:xfrm>
            <a:off x="3989627" y="3956149"/>
            <a:ext cx="320040" cy="320040"/>
          </a:xfrm>
          <a:prstGeom prst="ellipse">
            <a:avLst/>
          </a:prstGeom>
        </p:spPr>
      </p:pic>
      <p:cxnSp>
        <p:nvCxnSpPr>
          <p:cNvPr id="31" name="Straight Connector 30">
            <a:extLst>
              <a:ext uri="{FF2B5EF4-FFF2-40B4-BE49-F238E27FC236}">
                <a16:creationId xmlns:a16="http://schemas.microsoft.com/office/drawing/2014/main" id="{6D87CF03-04A8-3B8D-DE4F-EBA81F6451EA}"/>
              </a:ext>
            </a:extLst>
          </p:cNvPr>
          <p:cNvCxnSpPr>
            <a:cxnSpLocks/>
          </p:cNvCxnSpPr>
          <p:nvPr/>
        </p:nvCxnSpPr>
        <p:spPr>
          <a:xfrm>
            <a:off x="2936735" y="4942347"/>
            <a:ext cx="449275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26616967-B1A2-88FD-E359-9529BAFB2964}"/>
              </a:ext>
            </a:extLst>
          </p:cNvPr>
          <p:cNvSpPr/>
          <p:nvPr/>
        </p:nvSpPr>
        <p:spPr>
          <a:xfrm>
            <a:off x="6648872" y="5060540"/>
            <a:ext cx="1295400" cy="2587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900">
                <a:solidFill>
                  <a:schemeClr val="tx1"/>
                </a:solidFill>
              </a:rPr>
              <a:t>Simple &amp; Client-centric</a:t>
            </a:r>
          </a:p>
        </p:txBody>
      </p:sp>
      <p:pic>
        <p:nvPicPr>
          <p:cNvPr id="34" name="Picture 33">
            <a:extLst>
              <a:ext uri="{FF2B5EF4-FFF2-40B4-BE49-F238E27FC236}">
                <a16:creationId xmlns:a16="http://schemas.microsoft.com/office/drawing/2014/main" id="{3CAE423D-C3EB-2AF6-ACC0-A903F70103C3}"/>
              </a:ext>
            </a:extLst>
          </p:cNvPr>
          <p:cNvPicPr>
            <a:picLocks/>
          </p:cNvPicPr>
          <p:nvPr/>
        </p:nvPicPr>
        <p:blipFill>
          <a:blip r:embed="rId6">
            <a:alphaModFix amt="70000"/>
          </a:blip>
          <a:stretch>
            <a:fillRect/>
          </a:stretch>
        </p:blipFill>
        <p:spPr>
          <a:xfrm>
            <a:off x="6594678" y="4782327"/>
            <a:ext cx="320040" cy="320040"/>
          </a:xfrm>
          <a:prstGeom prst="ellipse">
            <a:avLst/>
          </a:prstGeom>
        </p:spPr>
      </p:pic>
      <p:sp>
        <p:nvSpPr>
          <p:cNvPr id="67" name="Rectangle 66">
            <a:extLst>
              <a:ext uri="{FF2B5EF4-FFF2-40B4-BE49-F238E27FC236}">
                <a16:creationId xmlns:a16="http://schemas.microsoft.com/office/drawing/2014/main" id="{A6007F36-3BB3-AE9D-9BBB-792730B89AEC}"/>
              </a:ext>
            </a:extLst>
          </p:cNvPr>
          <p:cNvSpPr/>
          <p:nvPr/>
        </p:nvSpPr>
        <p:spPr>
          <a:xfrm>
            <a:off x="2479905" y="3501698"/>
            <a:ext cx="1276611" cy="1450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Simplified offerings, limited markets</a:t>
            </a:r>
          </a:p>
        </p:txBody>
      </p:sp>
      <p:sp>
        <p:nvSpPr>
          <p:cNvPr id="68" name="Rectangle 67">
            <a:extLst>
              <a:ext uri="{FF2B5EF4-FFF2-40B4-BE49-F238E27FC236}">
                <a16:creationId xmlns:a16="http://schemas.microsoft.com/office/drawing/2014/main" id="{F6C68E59-D9E1-64D0-0114-B1153173FFC5}"/>
              </a:ext>
            </a:extLst>
          </p:cNvPr>
          <p:cNvSpPr/>
          <p:nvPr/>
        </p:nvSpPr>
        <p:spPr>
          <a:xfrm>
            <a:off x="2537932" y="4216605"/>
            <a:ext cx="1160556" cy="1595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Universal low-cost</a:t>
            </a:r>
          </a:p>
        </p:txBody>
      </p:sp>
      <p:sp>
        <p:nvSpPr>
          <p:cNvPr id="69" name="Rectangle 68">
            <a:extLst>
              <a:ext uri="{FF2B5EF4-FFF2-40B4-BE49-F238E27FC236}">
                <a16:creationId xmlns:a16="http://schemas.microsoft.com/office/drawing/2014/main" id="{65A7B2CC-E74D-87C1-5919-2D5FBFC14811}"/>
              </a:ext>
            </a:extLst>
          </p:cNvPr>
          <p:cNvSpPr/>
          <p:nvPr/>
        </p:nvSpPr>
        <p:spPr>
          <a:xfrm>
            <a:off x="2470510" y="5018235"/>
            <a:ext cx="1295400" cy="2587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900">
                <a:solidFill>
                  <a:schemeClr val="tx1"/>
                </a:solidFill>
              </a:rPr>
              <a:t>Technical &amp; Product-centric</a:t>
            </a:r>
          </a:p>
        </p:txBody>
      </p:sp>
      <p:cxnSp>
        <p:nvCxnSpPr>
          <p:cNvPr id="36" name="Straight Connector 35">
            <a:extLst>
              <a:ext uri="{FF2B5EF4-FFF2-40B4-BE49-F238E27FC236}">
                <a16:creationId xmlns:a16="http://schemas.microsoft.com/office/drawing/2014/main" id="{C7EFFD44-E9E5-B526-E883-F7C5C2DB86AC}"/>
              </a:ext>
            </a:extLst>
          </p:cNvPr>
          <p:cNvCxnSpPr>
            <a:cxnSpLocks/>
          </p:cNvCxnSpPr>
          <p:nvPr/>
        </p:nvCxnSpPr>
        <p:spPr>
          <a:xfrm>
            <a:off x="2936735" y="5760312"/>
            <a:ext cx="449275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9E3FF48E-C3DB-657F-3CAA-582B950076E8}"/>
              </a:ext>
            </a:extLst>
          </p:cNvPr>
          <p:cNvSpPr/>
          <p:nvPr/>
        </p:nvSpPr>
        <p:spPr>
          <a:xfrm>
            <a:off x="6648872" y="5958972"/>
            <a:ext cx="1295400" cy="2587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Integrated portfolio view</a:t>
            </a:r>
          </a:p>
        </p:txBody>
      </p:sp>
      <p:sp>
        <p:nvSpPr>
          <p:cNvPr id="70" name="Rectangle 69">
            <a:extLst>
              <a:ext uri="{FF2B5EF4-FFF2-40B4-BE49-F238E27FC236}">
                <a16:creationId xmlns:a16="http://schemas.microsoft.com/office/drawing/2014/main" id="{65A73431-74F2-0B19-89CA-D8955CF98FF5}"/>
              </a:ext>
            </a:extLst>
          </p:cNvPr>
          <p:cNvSpPr/>
          <p:nvPr/>
        </p:nvSpPr>
        <p:spPr>
          <a:xfrm>
            <a:off x="2471072" y="5919059"/>
            <a:ext cx="1294276" cy="2595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spcBef>
                <a:spcPts val="600"/>
              </a:spcBef>
            </a:pPr>
            <a:r>
              <a:rPr lang="en-US" sz="900">
                <a:solidFill>
                  <a:schemeClr val="tx1"/>
                </a:solidFill>
              </a:rPr>
              <a:t>Business-focused view</a:t>
            </a:r>
          </a:p>
        </p:txBody>
      </p:sp>
      <p:pic>
        <p:nvPicPr>
          <p:cNvPr id="153" name="Picture 152">
            <a:extLst>
              <a:ext uri="{FF2B5EF4-FFF2-40B4-BE49-F238E27FC236}">
                <a16:creationId xmlns:a16="http://schemas.microsoft.com/office/drawing/2014/main" id="{8B7190F2-14DD-0699-09F1-3AF090304511}"/>
              </a:ext>
            </a:extLst>
          </p:cNvPr>
          <p:cNvPicPr>
            <a:picLocks/>
          </p:cNvPicPr>
          <p:nvPr/>
        </p:nvPicPr>
        <p:blipFill>
          <a:blip r:embed="rId6">
            <a:alphaModFix amt="70000"/>
          </a:blip>
          <a:stretch>
            <a:fillRect/>
          </a:stretch>
        </p:blipFill>
        <p:spPr>
          <a:xfrm>
            <a:off x="6069784" y="5600292"/>
            <a:ext cx="320040" cy="320040"/>
          </a:xfrm>
          <a:prstGeom prst="ellipse">
            <a:avLst/>
          </a:prstGeom>
        </p:spPr>
      </p:pic>
      <p:grpSp>
        <p:nvGrpSpPr>
          <p:cNvPr id="55" name="Group 54">
            <a:extLst>
              <a:ext uri="{FF2B5EF4-FFF2-40B4-BE49-F238E27FC236}">
                <a16:creationId xmlns:a16="http://schemas.microsoft.com/office/drawing/2014/main" id="{9BFD625A-DE17-CFD6-7194-2E1B76A95394}"/>
              </a:ext>
            </a:extLst>
          </p:cNvPr>
          <p:cNvGrpSpPr>
            <a:grpSpLocks/>
          </p:cNvGrpSpPr>
          <p:nvPr/>
        </p:nvGrpSpPr>
        <p:grpSpPr>
          <a:xfrm>
            <a:off x="5013663" y="4782327"/>
            <a:ext cx="320040" cy="320040"/>
            <a:chOff x="9392693" y="2024425"/>
            <a:chExt cx="733647" cy="724972"/>
          </a:xfrm>
        </p:grpSpPr>
        <p:sp>
          <p:nvSpPr>
            <p:cNvPr id="56" name="Oval 55">
              <a:extLst>
                <a:ext uri="{FF2B5EF4-FFF2-40B4-BE49-F238E27FC236}">
                  <a16:creationId xmlns:a16="http://schemas.microsoft.com/office/drawing/2014/main" id="{2CBC7CF5-4EBF-D8FC-FD3F-1163078B1653}"/>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57" name="Group 4">
              <a:extLst>
                <a:ext uri="{FF2B5EF4-FFF2-40B4-BE49-F238E27FC236}">
                  <a16:creationId xmlns:a16="http://schemas.microsoft.com/office/drawing/2014/main" id="{F3E1032E-4385-6273-3731-007303FB8A33}"/>
                </a:ext>
              </a:extLst>
            </p:cNvPr>
            <p:cNvGrpSpPr>
              <a:grpSpLocks noChangeAspect="1"/>
            </p:cNvGrpSpPr>
            <p:nvPr/>
          </p:nvGrpSpPr>
          <p:grpSpPr bwMode="auto">
            <a:xfrm>
              <a:off x="9571246" y="2198641"/>
              <a:ext cx="376540" cy="376540"/>
              <a:chOff x="7312" y="4020"/>
              <a:chExt cx="143" cy="157"/>
            </a:xfrm>
            <a:solidFill>
              <a:schemeClr val="bg1"/>
            </a:solidFill>
          </p:grpSpPr>
          <p:sp>
            <p:nvSpPr>
              <p:cNvPr id="58" name="Freeform 5">
                <a:extLst>
                  <a:ext uri="{FF2B5EF4-FFF2-40B4-BE49-F238E27FC236}">
                    <a16:creationId xmlns:a16="http://schemas.microsoft.com/office/drawing/2014/main" id="{B3B4DFDB-A6CD-6CC2-D9E0-2025C0B4411E}"/>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59" name="Freeform 6">
                <a:extLst>
                  <a:ext uri="{FF2B5EF4-FFF2-40B4-BE49-F238E27FC236}">
                    <a16:creationId xmlns:a16="http://schemas.microsoft.com/office/drawing/2014/main" id="{E1B0F475-33C4-1513-CC5C-EF1A600636E4}"/>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60" name="Oval 7">
                <a:extLst>
                  <a:ext uri="{FF2B5EF4-FFF2-40B4-BE49-F238E27FC236}">
                    <a16:creationId xmlns:a16="http://schemas.microsoft.com/office/drawing/2014/main" id="{DF3DDCAA-9309-A8AA-73E9-3AD6AC28CACD}"/>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62" name="Group 61">
            <a:extLst>
              <a:ext uri="{FF2B5EF4-FFF2-40B4-BE49-F238E27FC236}">
                <a16:creationId xmlns:a16="http://schemas.microsoft.com/office/drawing/2014/main" id="{70CDAC7C-E635-373C-BE3C-65AFE853D14F}"/>
              </a:ext>
            </a:extLst>
          </p:cNvPr>
          <p:cNvGrpSpPr>
            <a:grpSpLocks/>
          </p:cNvGrpSpPr>
          <p:nvPr/>
        </p:nvGrpSpPr>
        <p:grpSpPr>
          <a:xfrm>
            <a:off x="3977708" y="5600292"/>
            <a:ext cx="320040" cy="320040"/>
            <a:chOff x="9392693" y="2024425"/>
            <a:chExt cx="733647" cy="724972"/>
          </a:xfrm>
        </p:grpSpPr>
        <p:sp>
          <p:nvSpPr>
            <p:cNvPr id="63" name="Oval 62">
              <a:extLst>
                <a:ext uri="{FF2B5EF4-FFF2-40B4-BE49-F238E27FC236}">
                  <a16:creationId xmlns:a16="http://schemas.microsoft.com/office/drawing/2014/main" id="{B273B7FD-E05A-88EB-C306-C481CDA01DA5}"/>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73" name="Group 4">
              <a:extLst>
                <a:ext uri="{FF2B5EF4-FFF2-40B4-BE49-F238E27FC236}">
                  <a16:creationId xmlns:a16="http://schemas.microsoft.com/office/drawing/2014/main" id="{A1EED443-765E-611F-52FE-BC7EB83D2008}"/>
                </a:ext>
              </a:extLst>
            </p:cNvPr>
            <p:cNvGrpSpPr>
              <a:grpSpLocks noChangeAspect="1"/>
            </p:cNvGrpSpPr>
            <p:nvPr/>
          </p:nvGrpSpPr>
          <p:grpSpPr bwMode="auto">
            <a:xfrm>
              <a:off x="9571246" y="2198641"/>
              <a:ext cx="376540" cy="376540"/>
              <a:chOff x="7312" y="4020"/>
              <a:chExt cx="143" cy="157"/>
            </a:xfrm>
            <a:solidFill>
              <a:schemeClr val="bg1"/>
            </a:solidFill>
          </p:grpSpPr>
          <p:sp>
            <p:nvSpPr>
              <p:cNvPr id="274" name="Freeform 5">
                <a:extLst>
                  <a:ext uri="{FF2B5EF4-FFF2-40B4-BE49-F238E27FC236}">
                    <a16:creationId xmlns:a16="http://schemas.microsoft.com/office/drawing/2014/main" id="{96710497-7008-52A2-CE52-EEE8AB73C8C3}"/>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75" name="Freeform 6">
                <a:extLst>
                  <a:ext uri="{FF2B5EF4-FFF2-40B4-BE49-F238E27FC236}">
                    <a16:creationId xmlns:a16="http://schemas.microsoft.com/office/drawing/2014/main" id="{DAF03001-BDF3-6DAE-1497-7FF45410D74F}"/>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76" name="Oval 7">
                <a:extLst>
                  <a:ext uri="{FF2B5EF4-FFF2-40B4-BE49-F238E27FC236}">
                    <a16:creationId xmlns:a16="http://schemas.microsoft.com/office/drawing/2014/main" id="{DA9B6315-3A78-0653-A2BC-60762E2161C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79" name="Rectangle 278">
            <a:extLst>
              <a:ext uri="{FF2B5EF4-FFF2-40B4-BE49-F238E27FC236}">
                <a16:creationId xmlns:a16="http://schemas.microsoft.com/office/drawing/2014/main" id="{1B7631E1-79E2-DB44-308C-569FD415A2D5}"/>
              </a:ext>
            </a:extLst>
          </p:cNvPr>
          <p:cNvSpPr/>
          <p:nvPr/>
        </p:nvSpPr>
        <p:spPr>
          <a:xfrm>
            <a:off x="6778830" y="1861372"/>
            <a:ext cx="995782" cy="14314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800">
                <a:solidFill>
                  <a:schemeClr val="tx1"/>
                </a:solidFill>
              </a:rPr>
              <a:t>Right-most</a:t>
            </a:r>
          </a:p>
        </p:txBody>
      </p:sp>
      <p:sp>
        <p:nvSpPr>
          <p:cNvPr id="280" name="Rectangle 279">
            <a:extLst>
              <a:ext uri="{FF2B5EF4-FFF2-40B4-BE49-F238E27FC236}">
                <a16:creationId xmlns:a16="http://schemas.microsoft.com/office/drawing/2014/main" id="{C4845649-84DB-689E-ECB1-74077FF6424B}"/>
              </a:ext>
            </a:extLst>
          </p:cNvPr>
          <p:cNvSpPr/>
          <p:nvPr/>
        </p:nvSpPr>
        <p:spPr>
          <a:xfrm>
            <a:off x="2590940" y="1861372"/>
            <a:ext cx="995782" cy="14314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800">
                <a:solidFill>
                  <a:schemeClr val="tx1"/>
                </a:solidFill>
              </a:rPr>
              <a:t>Left-most</a:t>
            </a:r>
          </a:p>
        </p:txBody>
      </p:sp>
      <p:sp>
        <p:nvSpPr>
          <p:cNvPr id="281" name="Rectangle 280">
            <a:extLst>
              <a:ext uri="{FF2B5EF4-FFF2-40B4-BE49-F238E27FC236}">
                <a16:creationId xmlns:a16="http://schemas.microsoft.com/office/drawing/2014/main" id="{248B69F4-163F-A382-7DB5-C821D1366F57}"/>
              </a:ext>
            </a:extLst>
          </p:cNvPr>
          <p:cNvSpPr/>
          <p:nvPr/>
        </p:nvSpPr>
        <p:spPr>
          <a:xfrm>
            <a:off x="3637912" y="1861372"/>
            <a:ext cx="995782" cy="14314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800">
                <a:solidFill>
                  <a:schemeClr val="tx1"/>
                </a:solidFill>
              </a:rPr>
              <a:t>Left Aligned</a:t>
            </a:r>
          </a:p>
        </p:txBody>
      </p:sp>
      <p:sp>
        <p:nvSpPr>
          <p:cNvPr id="282" name="Rectangle 281">
            <a:extLst>
              <a:ext uri="{FF2B5EF4-FFF2-40B4-BE49-F238E27FC236}">
                <a16:creationId xmlns:a16="http://schemas.microsoft.com/office/drawing/2014/main" id="{589A01E3-A11C-9F0C-C0D1-AED7FC20153E}"/>
              </a:ext>
            </a:extLst>
          </p:cNvPr>
          <p:cNvSpPr/>
          <p:nvPr/>
        </p:nvSpPr>
        <p:spPr>
          <a:xfrm>
            <a:off x="4684884" y="1861372"/>
            <a:ext cx="995782" cy="14314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800">
                <a:solidFill>
                  <a:schemeClr val="tx1"/>
                </a:solidFill>
              </a:rPr>
              <a:t>Balanced</a:t>
            </a:r>
          </a:p>
        </p:txBody>
      </p:sp>
      <p:sp>
        <p:nvSpPr>
          <p:cNvPr id="283" name="Rectangle 282">
            <a:extLst>
              <a:ext uri="{FF2B5EF4-FFF2-40B4-BE49-F238E27FC236}">
                <a16:creationId xmlns:a16="http://schemas.microsoft.com/office/drawing/2014/main" id="{91F508D5-85B3-7E50-EB72-F68AFB734E57}"/>
              </a:ext>
            </a:extLst>
          </p:cNvPr>
          <p:cNvSpPr/>
          <p:nvPr/>
        </p:nvSpPr>
        <p:spPr>
          <a:xfrm>
            <a:off x="5731856" y="1861372"/>
            <a:ext cx="995782" cy="14314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algn="ctr">
              <a:spcBef>
                <a:spcPts val="600"/>
              </a:spcBef>
            </a:pPr>
            <a:r>
              <a:rPr lang="en-US" sz="800">
                <a:solidFill>
                  <a:schemeClr val="tx1"/>
                </a:solidFill>
              </a:rPr>
              <a:t>Right Aligned</a:t>
            </a:r>
          </a:p>
        </p:txBody>
      </p:sp>
      <p:grpSp>
        <p:nvGrpSpPr>
          <p:cNvPr id="256" name="Group 255">
            <a:extLst>
              <a:ext uri="{FF2B5EF4-FFF2-40B4-BE49-F238E27FC236}">
                <a16:creationId xmlns:a16="http://schemas.microsoft.com/office/drawing/2014/main" id="{9CFC9B8C-F7B0-56E3-2EE9-C6EA6FD3DC66}"/>
              </a:ext>
            </a:extLst>
          </p:cNvPr>
          <p:cNvGrpSpPr>
            <a:grpSpLocks/>
          </p:cNvGrpSpPr>
          <p:nvPr/>
        </p:nvGrpSpPr>
        <p:grpSpPr>
          <a:xfrm>
            <a:off x="5013663" y="2294329"/>
            <a:ext cx="320040" cy="320040"/>
            <a:chOff x="9392693" y="2024425"/>
            <a:chExt cx="733647" cy="724972"/>
          </a:xfrm>
        </p:grpSpPr>
        <p:sp>
          <p:nvSpPr>
            <p:cNvPr id="257" name="Oval 256">
              <a:extLst>
                <a:ext uri="{FF2B5EF4-FFF2-40B4-BE49-F238E27FC236}">
                  <a16:creationId xmlns:a16="http://schemas.microsoft.com/office/drawing/2014/main" id="{B1C33394-EF3D-11A6-3A73-64331F688EDB}"/>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58" name="Group 4">
              <a:extLst>
                <a:ext uri="{FF2B5EF4-FFF2-40B4-BE49-F238E27FC236}">
                  <a16:creationId xmlns:a16="http://schemas.microsoft.com/office/drawing/2014/main" id="{CEE405A9-1788-A8D5-7321-23E8C8B82FC1}"/>
                </a:ext>
              </a:extLst>
            </p:cNvPr>
            <p:cNvGrpSpPr>
              <a:grpSpLocks noChangeAspect="1"/>
            </p:cNvGrpSpPr>
            <p:nvPr/>
          </p:nvGrpSpPr>
          <p:grpSpPr bwMode="auto">
            <a:xfrm>
              <a:off x="9571246" y="2198641"/>
              <a:ext cx="376540" cy="376540"/>
              <a:chOff x="7312" y="4020"/>
              <a:chExt cx="143" cy="157"/>
            </a:xfrm>
            <a:solidFill>
              <a:schemeClr val="bg1"/>
            </a:solidFill>
          </p:grpSpPr>
          <p:sp>
            <p:nvSpPr>
              <p:cNvPr id="259" name="Freeform 5">
                <a:extLst>
                  <a:ext uri="{FF2B5EF4-FFF2-40B4-BE49-F238E27FC236}">
                    <a16:creationId xmlns:a16="http://schemas.microsoft.com/office/drawing/2014/main" id="{BCE15B14-E146-A135-FC40-F6276BCFE221}"/>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60" name="Freeform 6">
                <a:extLst>
                  <a:ext uri="{FF2B5EF4-FFF2-40B4-BE49-F238E27FC236}">
                    <a16:creationId xmlns:a16="http://schemas.microsoft.com/office/drawing/2014/main" id="{14D00E86-12B7-6C0E-738A-03CBEA7580C3}"/>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61" name="Oval 7">
                <a:extLst>
                  <a:ext uri="{FF2B5EF4-FFF2-40B4-BE49-F238E27FC236}">
                    <a16:creationId xmlns:a16="http://schemas.microsoft.com/office/drawing/2014/main" id="{36DDBC5A-C8ED-2322-2568-10997B2DCBA2}"/>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284" name="Group 283">
            <a:extLst>
              <a:ext uri="{FF2B5EF4-FFF2-40B4-BE49-F238E27FC236}">
                <a16:creationId xmlns:a16="http://schemas.microsoft.com/office/drawing/2014/main" id="{71AA229C-4683-B071-0799-595356D8DAE9}"/>
              </a:ext>
            </a:extLst>
          </p:cNvPr>
          <p:cNvGrpSpPr>
            <a:grpSpLocks/>
          </p:cNvGrpSpPr>
          <p:nvPr/>
        </p:nvGrpSpPr>
        <p:grpSpPr>
          <a:xfrm>
            <a:off x="6069783" y="4782327"/>
            <a:ext cx="320040" cy="320040"/>
            <a:chOff x="9392693" y="2024425"/>
            <a:chExt cx="733647" cy="724972"/>
          </a:xfrm>
        </p:grpSpPr>
        <p:sp>
          <p:nvSpPr>
            <p:cNvPr id="285" name="Oval 284">
              <a:extLst>
                <a:ext uri="{FF2B5EF4-FFF2-40B4-BE49-F238E27FC236}">
                  <a16:creationId xmlns:a16="http://schemas.microsoft.com/office/drawing/2014/main" id="{C9D62CB7-CA01-6A73-2F9A-E977308DF90E}"/>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86" name="Group 4">
              <a:extLst>
                <a:ext uri="{FF2B5EF4-FFF2-40B4-BE49-F238E27FC236}">
                  <a16:creationId xmlns:a16="http://schemas.microsoft.com/office/drawing/2014/main" id="{1FF9418C-E692-0909-0262-F66DFC513BD7}"/>
                </a:ext>
              </a:extLst>
            </p:cNvPr>
            <p:cNvGrpSpPr>
              <a:grpSpLocks noChangeAspect="1"/>
            </p:cNvGrpSpPr>
            <p:nvPr/>
          </p:nvGrpSpPr>
          <p:grpSpPr bwMode="auto">
            <a:xfrm>
              <a:off x="9571246" y="2198641"/>
              <a:ext cx="376540" cy="376540"/>
              <a:chOff x="7312" y="4020"/>
              <a:chExt cx="143" cy="157"/>
            </a:xfrm>
            <a:solidFill>
              <a:schemeClr val="bg1"/>
            </a:solidFill>
          </p:grpSpPr>
          <p:sp>
            <p:nvSpPr>
              <p:cNvPr id="287" name="Freeform 5">
                <a:extLst>
                  <a:ext uri="{FF2B5EF4-FFF2-40B4-BE49-F238E27FC236}">
                    <a16:creationId xmlns:a16="http://schemas.microsoft.com/office/drawing/2014/main" id="{7192150C-0B0B-A82B-7E9B-8F5FA3690793}"/>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65" name="Freeform 6">
                <a:extLst>
                  <a:ext uri="{FF2B5EF4-FFF2-40B4-BE49-F238E27FC236}">
                    <a16:creationId xmlns:a16="http://schemas.microsoft.com/office/drawing/2014/main" id="{6233B0C5-A053-6B22-E5C2-A11C86DAD9C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66" name="Oval 7">
                <a:extLst>
                  <a:ext uri="{FF2B5EF4-FFF2-40B4-BE49-F238E27FC236}">
                    <a16:creationId xmlns:a16="http://schemas.microsoft.com/office/drawing/2014/main" id="{96267819-A316-0903-CC96-E32418288E41}"/>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71" name="Group 70">
            <a:extLst>
              <a:ext uri="{FF2B5EF4-FFF2-40B4-BE49-F238E27FC236}">
                <a16:creationId xmlns:a16="http://schemas.microsoft.com/office/drawing/2014/main" id="{B3605AE5-C7D2-7F22-37D8-3243BFB47BE6}"/>
              </a:ext>
            </a:extLst>
          </p:cNvPr>
          <p:cNvGrpSpPr>
            <a:grpSpLocks/>
          </p:cNvGrpSpPr>
          <p:nvPr/>
        </p:nvGrpSpPr>
        <p:grpSpPr>
          <a:xfrm>
            <a:off x="5013663" y="5600292"/>
            <a:ext cx="320040" cy="320040"/>
            <a:chOff x="9392693" y="2024425"/>
            <a:chExt cx="733647" cy="724972"/>
          </a:xfrm>
        </p:grpSpPr>
        <p:sp>
          <p:nvSpPr>
            <p:cNvPr id="80" name="Oval 79">
              <a:extLst>
                <a:ext uri="{FF2B5EF4-FFF2-40B4-BE49-F238E27FC236}">
                  <a16:creationId xmlns:a16="http://schemas.microsoft.com/office/drawing/2014/main" id="{DB11D337-1988-E6A3-4B09-FACB06E7DE10}"/>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82" name="Group 4">
              <a:extLst>
                <a:ext uri="{FF2B5EF4-FFF2-40B4-BE49-F238E27FC236}">
                  <a16:creationId xmlns:a16="http://schemas.microsoft.com/office/drawing/2014/main" id="{06089AD0-3188-362E-CE4C-24A1E553AC67}"/>
                </a:ext>
              </a:extLst>
            </p:cNvPr>
            <p:cNvGrpSpPr>
              <a:grpSpLocks noChangeAspect="1"/>
            </p:cNvGrpSpPr>
            <p:nvPr/>
          </p:nvGrpSpPr>
          <p:grpSpPr bwMode="auto">
            <a:xfrm>
              <a:off x="9571246" y="2198641"/>
              <a:ext cx="376540" cy="376540"/>
              <a:chOff x="7312" y="4020"/>
              <a:chExt cx="143" cy="157"/>
            </a:xfrm>
            <a:solidFill>
              <a:schemeClr val="bg1"/>
            </a:solidFill>
          </p:grpSpPr>
          <p:sp>
            <p:nvSpPr>
              <p:cNvPr id="83" name="Freeform 5">
                <a:extLst>
                  <a:ext uri="{FF2B5EF4-FFF2-40B4-BE49-F238E27FC236}">
                    <a16:creationId xmlns:a16="http://schemas.microsoft.com/office/drawing/2014/main" id="{6C7342CC-6988-B102-DE4B-5B9FB76EC59F}"/>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85" name="Freeform 6">
                <a:extLst>
                  <a:ext uri="{FF2B5EF4-FFF2-40B4-BE49-F238E27FC236}">
                    <a16:creationId xmlns:a16="http://schemas.microsoft.com/office/drawing/2014/main" id="{C8024818-FBBF-B55A-00B2-B1A29FB7E8E0}"/>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86" name="Oval 7">
                <a:extLst>
                  <a:ext uri="{FF2B5EF4-FFF2-40B4-BE49-F238E27FC236}">
                    <a16:creationId xmlns:a16="http://schemas.microsoft.com/office/drawing/2014/main" id="{E259B8AB-1280-1302-8F7A-A06469A5665E}"/>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25" name="Rectangle 224">
            <a:extLst>
              <a:ext uri="{FF2B5EF4-FFF2-40B4-BE49-F238E27FC236}">
                <a16:creationId xmlns:a16="http://schemas.microsoft.com/office/drawing/2014/main" id="{0154426A-CC33-851D-84A2-693CFE312F53}"/>
              </a:ext>
            </a:extLst>
          </p:cNvPr>
          <p:cNvSpPr/>
          <p:nvPr/>
        </p:nvSpPr>
        <p:spPr>
          <a:xfrm>
            <a:off x="4309639" y="2426689"/>
            <a:ext cx="732062" cy="55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4" name="Group 3">
            <a:extLst>
              <a:ext uri="{FF2B5EF4-FFF2-40B4-BE49-F238E27FC236}">
                <a16:creationId xmlns:a16="http://schemas.microsoft.com/office/drawing/2014/main" id="{0371C5EF-A26F-9F3C-126C-F9D4750290C2}"/>
              </a:ext>
            </a:extLst>
          </p:cNvPr>
          <p:cNvGrpSpPr>
            <a:grpSpLocks/>
          </p:cNvGrpSpPr>
          <p:nvPr/>
        </p:nvGrpSpPr>
        <p:grpSpPr>
          <a:xfrm>
            <a:off x="3985578" y="2294329"/>
            <a:ext cx="320040" cy="320040"/>
            <a:chOff x="9392693" y="2024425"/>
            <a:chExt cx="733647" cy="724972"/>
          </a:xfrm>
        </p:grpSpPr>
        <p:sp>
          <p:nvSpPr>
            <p:cNvPr id="6" name="Oval 5">
              <a:extLst>
                <a:ext uri="{FF2B5EF4-FFF2-40B4-BE49-F238E27FC236}">
                  <a16:creationId xmlns:a16="http://schemas.microsoft.com/office/drawing/2014/main" id="{056D85F0-97DF-0C3D-1358-E7754B7BACE0}"/>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12" name="Group 4">
              <a:extLst>
                <a:ext uri="{FF2B5EF4-FFF2-40B4-BE49-F238E27FC236}">
                  <a16:creationId xmlns:a16="http://schemas.microsoft.com/office/drawing/2014/main" id="{F7BF0151-5C93-0254-4E40-6E7E274CB0E4}"/>
                </a:ext>
              </a:extLst>
            </p:cNvPr>
            <p:cNvGrpSpPr>
              <a:grpSpLocks noChangeAspect="1"/>
            </p:cNvGrpSpPr>
            <p:nvPr/>
          </p:nvGrpSpPr>
          <p:grpSpPr bwMode="auto">
            <a:xfrm>
              <a:off x="9571246" y="2198641"/>
              <a:ext cx="376540" cy="376540"/>
              <a:chOff x="7312" y="4020"/>
              <a:chExt cx="143" cy="157"/>
            </a:xfrm>
            <a:solidFill>
              <a:schemeClr val="bg1"/>
            </a:solidFill>
          </p:grpSpPr>
          <p:sp>
            <p:nvSpPr>
              <p:cNvPr id="32" name="Freeform 5">
                <a:extLst>
                  <a:ext uri="{FF2B5EF4-FFF2-40B4-BE49-F238E27FC236}">
                    <a16:creationId xmlns:a16="http://schemas.microsoft.com/office/drawing/2014/main" id="{B4CE0B97-7FC8-62A9-51D7-3660BB6C307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37" name="Freeform 6">
                <a:extLst>
                  <a:ext uri="{FF2B5EF4-FFF2-40B4-BE49-F238E27FC236}">
                    <a16:creationId xmlns:a16="http://schemas.microsoft.com/office/drawing/2014/main" id="{B39660DA-D761-BC9A-9CEE-4C503EFECD31}"/>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39" name="Oval 7">
                <a:extLst>
                  <a:ext uri="{FF2B5EF4-FFF2-40B4-BE49-F238E27FC236}">
                    <a16:creationId xmlns:a16="http://schemas.microsoft.com/office/drawing/2014/main" id="{0FDAA1F1-9C57-0946-875B-ECB1AD4B4E86}"/>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26" name="Rectangle 225">
            <a:extLst>
              <a:ext uri="{FF2B5EF4-FFF2-40B4-BE49-F238E27FC236}">
                <a16:creationId xmlns:a16="http://schemas.microsoft.com/office/drawing/2014/main" id="{F46F43FC-B070-4B06-2DCE-D86EF00850F3}"/>
              </a:ext>
            </a:extLst>
          </p:cNvPr>
          <p:cNvSpPr/>
          <p:nvPr/>
        </p:nvSpPr>
        <p:spPr>
          <a:xfrm>
            <a:off x="6400914" y="3265781"/>
            <a:ext cx="376184" cy="55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62" name="Group 261">
            <a:extLst>
              <a:ext uri="{FF2B5EF4-FFF2-40B4-BE49-F238E27FC236}">
                <a16:creationId xmlns:a16="http://schemas.microsoft.com/office/drawing/2014/main" id="{03F2DB7A-05DE-4EE4-C861-5C9F6E51CDB1}"/>
              </a:ext>
            </a:extLst>
          </p:cNvPr>
          <p:cNvGrpSpPr>
            <a:grpSpLocks/>
          </p:cNvGrpSpPr>
          <p:nvPr/>
        </p:nvGrpSpPr>
        <p:grpSpPr>
          <a:xfrm>
            <a:off x="6687499" y="3133421"/>
            <a:ext cx="320040" cy="320040"/>
            <a:chOff x="9392693" y="2024425"/>
            <a:chExt cx="733647" cy="724972"/>
          </a:xfrm>
        </p:grpSpPr>
        <p:sp>
          <p:nvSpPr>
            <p:cNvPr id="263" name="Oval 262">
              <a:extLst>
                <a:ext uri="{FF2B5EF4-FFF2-40B4-BE49-F238E27FC236}">
                  <a16:creationId xmlns:a16="http://schemas.microsoft.com/office/drawing/2014/main" id="{30B85986-45A3-B0AF-399D-EFB64F835CA5}"/>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64" name="Group 4">
              <a:extLst>
                <a:ext uri="{FF2B5EF4-FFF2-40B4-BE49-F238E27FC236}">
                  <a16:creationId xmlns:a16="http://schemas.microsoft.com/office/drawing/2014/main" id="{B6B17C9C-36AD-FEFC-C9FD-C7F0897A1050}"/>
                </a:ext>
              </a:extLst>
            </p:cNvPr>
            <p:cNvGrpSpPr>
              <a:grpSpLocks noChangeAspect="1"/>
            </p:cNvGrpSpPr>
            <p:nvPr/>
          </p:nvGrpSpPr>
          <p:grpSpPr bwMode="auto">
            <a:xfrm>
              <a:off x="9571246" y="2198641"/>
              <a:ext cx="376540" cy="376540"/>
              <a:chOff x="7312" y="4020"/>
              <a:chExt cx="143" cy="157"/>
            </a:xfrm>
            <a:solidFill>
              <a:schemeClr val="bg1"/>
            </a:solidFill>
          </p:grpSpPr>
          <p:sp>
            <p:nvSpPr>
              <p:cNvPr id="265" name="Freeform 5">
                <a:extLst>
                  <a:ext uri="{FF2B5EF4-FFF2-40B4-BE49-F238E27FC236}">
                    <a16:creationId xmlns:a16="http://schemas.microsoft.com/office/drawing/2014/main" id="{FA13C637-D8EA-1B9D-2DD2-7CA7EDC6A1AC}"/>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66" name="Freeform 6">
                <a:extLst>
                  <a:ext uri="{FF2B5EF4-FFF2-40B4-BE49-F238E27FC236}">
                    <a16:creationId xmlns:a16="http://schemas.microsoft.com/office/drawing/2014/main" id="{19C781BA-0E16-E0BA-8736-BC043D3B300C}"/>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67" name="Oval 7">
                <a:extLst>
                  <a:ext uri="{FF2B5EF4-FFF2-40B4-BE49-F238E27FC236}">
                    <a16:creationId xmlns:a16="http://schemas.microsoft.com/office/drawing/2014/main" id="{19EE0465-86CF-D785-37BC-2B2370ED153E}"/>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42" name="Group 41">
            <a:extLst>
              <a:ext uri="{FF2B5EF4-FFF2-40B4-BE49-F238E27FC236}">
                <a16:creationId xmlns:a16="http://schemas.microsoft.com/office/drawing/2014/main" id="{A88BE173-6BBB-8724-9C6F-2233A078FEE1}"/>
              </a:ext>
            </a:extLst>
          </p:cNvPr>
          <p:cNvGrpSpPr>
            <a:grpSpLocks/>
          </p:cNvGrpSpPr>
          <p:nvPr/>
        </p:nvGrpSpPr>
        <p:grpSpPr>
          <a:xfrm>
            <a:off x="6069783" y="3133421"/>
            <a:ext cx="320040" cy="320040"/>
            <a:chOff x="9392693" y="2024425"/>
            <a:chExt cx="733647" cy="724972"/>
          </a:xfrm>
        </p:grpSpPr>
        <p:sp>
          <p:nvSpPr>
            <p:cNvPr id="43" name="Oval 42">
              <a:extLst>
                <a:ext uri="{FF2B5EF4-FFF2-40B4-BE49-F238E27FC236}">
                  <a16:creationId xmlns:a16="http://schemas.microsoft.com/office/drawing/2014/main" id="{2529B6DD-D40F-F986-BF9D-07B9AB25556D}"/>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44" name="Group 4">
              <a:extLst>
                <a:ext uri="{FF2B5EF4-FFF2-40B4-BE49-F238E27FC236}">
                  <a16:creationId xmlns:a16="http://schemas.microsoft.com/office/drawing/2014/main" id="{CA203CEB-01AC-7F9B-FF48-55EEACC62CD2}"/>
                </a:ext>
              </a:extLst>
            </p:cNvPr>
            <p:cNvGrpSpPr>
              <a:grpSpLocks noChangeAspect="1"/>
            </p:cNvGrpSpPr>
            <p:nvPr/>
          </p:nvGrpSpPr>
          <p:grpSpPr bwMode="auto">
            <a:xfrm>
              <a:off x="9571246" y="2198641"/>
              <a:ext cx="376540" cy="376540"/>
              <a:chOff x="7312" y="4020"/>
              <a:chExt cx="143" cy="157"/>
            </a:xfrm>
            <a:solidFill>
              <a:schemeClr val="bg1"/>
            </a:solidFill>
          </p:grpSpPr>
          <p:sp>
            <p:nvSpPr>
              <p:cNvPr id="45" name="Freeform 5">
                <a:extLst>
                  <a:ext uri="{FF2B5EF4-FFF2-40B4-BE49-F238E27FC236}">
                    <a16:creationId xmlns:a16="http://schemas.microsoft.com/office/drawing/2014/main" id="{61559A11-BE4C-D8E8-8AC4-13494DD21924}"/>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46" name="Freeform 6">
                <a:extLst>
                  <a:ext uri="{FF2B5EF4-FFF2-40B4-BE49-F238E27FC236}">
                    <a16:creationId xmlns:a16="http://schemas.microsoft.com/office/drawing/2014/main" id="{735B9752-A3CA-9648-636B-5A59F4067987}"/>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47" name="Oval 7">
                <a:extLst>
                  <a:ext uri="{FF2B5EF4-FFF2-40B4-BE49-F238E27FC236}">
                    <a16:creationId xmlns:a16="http://schemas.microsoft.com/office/drawing/2014/main" id="{D2A2A19A-AC71-E3C4-18A1-5A45E7BB10F4}"/>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28" name="Rectangle 227">
            <a:extLst>
              <a:ext uri="{FF2B5EF4-FFF2-40B4-BE49-F238E27FC236}">
                <a16:creationId xmlns:a16="http://schemas.microsoft.com/office/drawing/2014/main" id="{BA0722DC-52DF-B6E8-253C-6652E776BCBC}"/>
              </a:ext>
            </a:extLst>
          </p:cNvPr>
          <p:cNvSpPr/>
          <p:nvPr/>
        </p:nvSpPr>
        <p:spPr>
          <a:xfrm>
            <a:off x="5886207" y="4063055"/>
            <a:ext cx="310896" cy="60852"/>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49" name="Group 48">
            <a:extLst>
              <a:ext uri="{FF2B5EF4-FFF2-40B4-BE49-F238E27FC236}">
                <a16:creationId xmlns:a16="http://schemas.microsoft.com/office/drawing/2014/main" id="{789442B9-D9CF-FADB-2543-D60E87C2B46A}"/>
              </a:ext>
            </a:extLst>
          </p:cNvPr>
          <p:cNvGrpSpPr>
            <a:grpSpLocks/>
          </p:cNvGrpSpPr>
          <p:nvPr/>
        </p:nvGrpSpPr>
        <p:grpSpPr>
          <a:xfrm>
            <a:off x="5554749" y="3956149"/>
            <a:ext cx="320040" cy="320040"/>
            <a:chOff x="9392693" y="2024425"/>
            <a:chExt cx="733647" cy="724972"/>
          </a:xfrm>
        </p:grpSpPr>
        <p:sp>
          <p:nvSpPr>
            <p:cNvPr id="50" name="Oval 49">
              <a:extLst>
                <a:ext uri="{FF2B5EF4-FFF2-40B4-BE49-F238E27FC236}">
                  <a16:creationId xmlns:a16="http://schemas.microsoft.com/office/drawing/2014/main" id="{C65B4B69-FD6E-A901-7ABB-3C1A9899F82B}"/>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51" name="Group 4">
              <a:extLst>
                <a:ext uri="{FF2B5EF4-FFF2-40B4-BE49-F238E27FC236}">
                  <a16:creationId xmlns:a16="http://schemas.microsoft.com/office/drawing/2014/main" id="{55E1E14B-34D4-9A59-799A-87BAD86CDFA5}"/>
                </a:ext>
              </a:extLst>
            </p:cNvPr>
            <p:cNvGrpSpPr>
              <a:grpSpLocks noChangeAspect="1"/>
            </p:cNvGrpSpPr>
            <p:nvPr/>
          </p:nvGrpSpPr>
          <p:grpSpPr bwMode="auto">
            <a:xfrm>
              <a:off x="9571246" y="2198641"/>
              <a:ext cx="376540" cy="376540"/>
              <a:chOff x="7312" y="4020"/>
              <a:chExt cx="143" cy="157"/>
            </a:xfrm>
            <a:solidFill>
              <a:schemeClr val="bg1"/>
            </a:solidFill>
          </p:grpSpPr>
          <p:sp>
            <p:nvSpPr>
              <p:cNvPr id="52" name="Freeform 5">
                <a:extLst>
                  <a:ext uri="{FF2B5EF4-FFF2-40B4-BE49-F238E27FC236}">
                    <a16:creationId xmlns:a16="http://schemas.microsoft.com/office/drawing/2014/main" id="{6CD3F949-0182-A4FB-3B8C-56AF4D6129E5}"/>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53" name="Freeform 6">
                <a:extLst>
                  <a:ext uri="{FF2B5EF4-FFF2-40B4-BE49-F238E27FC236}">
                    <a16:creationId xmlns:a16="http://schemas.microsoft.com/office/drawing/2014/main" id="{E95124C2-9049-ECC2-2C48-7509110190EF}"/>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54" name="Oval 7">
                <a:extLst>
                  <a:ext uri="{FF2B5EF4-FFF2-40B4-BE49-F238E27FC236}">
                    <a16:creationId xmlns:a16="http://schemas.microsoft.com/office/drawing/2014/main" id="{9CE803A3-FA68-F107-ABF7-7A71916EF26D}"/>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29" name="Rectangle 228">
            <a:extLst>
              <a:ext uri="{FF2B5EF4-FFF2-40B4-BE49-F238E27FC236}">
                <a16:creationId xmlns:a16="http://schemas.microsoft.com/office/drawing/2014/main" id="{845DAF2B-4566-C557-AD4F-5A9D0294F243}"/>
              </a:ext>
            </a:extLst>
          </p:cNvPr>
          <p:cNvSpPr/>
          <p:nvPr/>
        </p:nvSpPr>
        <p:spPr>
          <a:xfrm>
            <a:off x="5342455" y="4914687"/>
            <a:ext cx="774497" cy="55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sp>
        <p:nvSpPr>
          <p:cNvPr id="230" name="Rectangle 229">
            <a:extLst>
              <a:ext uri="{FF2B5EF4-FFF2-40B4-BE49-F238E27FC236}">
                <a16:creationId xmlns:a16="http://schemas.microsoft.com/office/drawing/2014/main" id="{3131920C-6644-D8E9-4F38-4BA6BE96F3BE}"/>
              </a:ext>
            </a:extLst>
          </p:cNvPr>
          <p:cNvSpPr/>
          <p:nvPr/>
        </p:nvSpPr>
        <p:spPr>
          <a:xfrm>
            <a:off x="4317507" y="5732652"/>
            <a:ext cx="774497" cy="55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68" name="Group 267">
            <a:extLst>
              <a:ext uri="{FF2B5EF4-FFF2-40B4-BE49-F238E27FC236}">
                <a16:creationId xmlns:a16="http://schemas.microsoft.com/office/drawing/2014/main" id="{FF91FB78-903F-CA62-B85E-D9BFC9E4F1CC}"/>
              </a:ext>
            </a:extLst>
          </p:cNvPr>
          <p:cNvGrpSpPr>
            <a:grpSpLocks/>
          </p:cNvGrpSpPr>
          <p:nvPr/>
        </p:nvGrpSpPr>
        <p:grpSpPr>
          <a:xfrm>
            <a:off x="6069783" y="3956149"/>
            <a:ext cx="320040" cy="320040"/>
            <a:chOff x="9392693" y="2024425"/>
            <a:chExt cx="733647" cy="724972"/>
          </a:xfrm>
        </p:grpSpPr>
        <p:sp>
          <p:nvSpPr>
            <p:cNvPr id="269" name="Oval 268">
              <a:extLst>
                <a:ext uri="{FF2B5EF4-FFF2-40B4-BE49-F238E27FC236}">
                  <a16:creationId xmlns:a16="http://schemas.microsoft.com/office/drawing/2014/main" id="{16288513-C6BC-BF8F-6ACE-426BEEDB5AC6}"/>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271" name="Group 4">
              <a:extLst>
                <a:ext uri="{FF2B5EF4-FFF2-40B4-BE49-F238E27FC236}">
                  <a16:creationId xmlns:a16="http://schemas.microsoft.com/office/drawing/2014/main" id="{59B6A05A-3264-899D-2A81-0D2CE9FE41DA}"/>
                </a:ext>
              </a:extLst>
            </p:cNvPr>
            <p:cNvGrpSpPr>
              <a:grpSpLocks noChangeAspect="1"/>
            </p:cNvGrpSpPr>
            <p:nvPr/>
          </p:nvGrpSpPr>
          <p:grpSpPr bwMode="auto">
            <a:xfrm>
              <a:off x="9571246" y="2198641"/>
              <a:ext cx="376540" cy="376540"/>
              <a:chOff x="7312" y="4020"/>
              <a:chExt cx="143" cy="157"/>
            </a:xfrm>
            <a:solidFill>
              <a:schemeClr val="bg1"/>
            </a:solidFill>
          </p:grpSpPr>
          <p:sp>
            <p:nvSpPr>
              <p:cNvPr id="272" name="Freeform 5">
                <a:extLst>
                  <a:ext uri="{FF2B5EF4-FFF2-40B4-BE49-F238E27FC236}">
                    <a16:creationId xmlns:a16="http://schemas.microsoft.com/office/drawing/2014/main" id="{B96931CA-1127-B2FD-E951-B4A44351A221}"/>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77" name="Freeform 6">
                <a:extLst>
                  <a:ext uri="{FF2B5EF4-FFF2-40B4-BE49-F238E27FC236}">
                    <a16:creationId xmlns:a16="http://schemas.microsoft.com/office/drawing/2014/main" id="{537F3C84-879A-981D-2800-43364A5A6292}"/>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278" name="Oval 7">
                <a:extLst>
                  <a:ext uri="{FF2B5EF4-FFF2-40B4-BE49-F238E27FC236}">
                    <a16:creationId xmlns:a16="http://schemas.microsoft.com/office/drawing/2014/main" id="{7DCAAC0B-43F2-3B06-21DE-9216CDE75955}"/>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pic>
        <p:nvPicPr>
          <p:cNvPr id="243" name="Picture 4" descr="Wealthsimple | Logopedia | Fandom">
            <a:extLst>
              <a:ext uri="{FF2B5EF4-FFF2-40B4-BE49-F238E27FC236}">
                <a16:creationId xmlns:a16="http://schemas.microsoft.com/office/drawing/2014/main" id="{1895540C-9BC5-875C-535C-7D058199885C}"/>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a:stretch/>
        </p:blipFill>
        <p:spPr bwMode="auto">
          <a:xfrm>
            <a:off x="7130636" y="2294329"/>
            <a:ext cx="320040" cy="320040"/>
          </a:xfrm>
          <a:prstGeom prst="ellipse">
            <a:avLst/>
          </a:prstGeom>
          <a:noFill/>
          <a:extLst>
            <a:ext uri="{909E8E84-426E-40DD-AFC4-6F175D3DCCD1}">
              <a14:hiddenFill xmlns:a14="http://schemas.microsoft.com/office/drawing/2010/main">
                <a:solidFill>
                  <a:srgbClr val="FFFFFF"/>
                </a:solidFill>
              </a14:hiddenFill>
            </a:ext>
          </a:extLst>
        </p:spPr>
      </p:pic>
      <p:pic>
        <p:nvPicPr>
          <p:cNvPr id="244" name="Picture 4" descr="Wealthsimple | Logopedia | Fandom">
            <a:extLst>
              <a:ext uri="{FF2B5EF4-FFF2-40B4-BE49-F238E27FC236}">
                <a16:creationId xmlns:a16="http://schemas.microsoft.com/office/drawing/2014/main" id="{1EBFCADA-E2E3-8F44-7ABE-99C5A8C4804B}"/>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a:stretch/>
        </p:blipFill>
        <p:spPr bwMode="auto">
          <a:xfrm>
            <a:off x="3985580" y="3133421"/>
            <a:ext cx="320040" cy="320040"/>
          </a:xfrm>
          <a:prstGeom prst="ellipse">
            <a:avLst/>
          </a:prstGeom>
          <a:noFill/>
          <a:extLst>
            <a:ext uri="{909E8E84-426E-40DD-AFC4-6F175D3DCCD1}">
              <a14:hiddenFill xmlns:a14="http://schemas.microsoft.com/office/drawing/2010/main">
                <a:solidFill>
                  <a:srgbClr val="FFFFFF"/>
                </a:solidFill>
              </a14:hiddenFill>
            </a:ext>
          </a:extLst>
        </p:spPr>
      </p:pic>
      <p:pic>
        <p:nvPicPr>
          <p:cNvPr id="245" name="Picture 4" descr="Wealthsimple | Logopedia | Fandom">
            <a:extLst>
              <a:ext uri="{FF2B5EF4-FFF2-40B4-BE49-F238E27FC236}">
                <a16:creationId xmlns:a16="http://schemas.microsoft.com/office/drawing/2014/main" id="{89ADE963-8DA6-CD0D-CBE5-2A21543EA9A9}"/>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a:stretch/>
        </p:blipFill>
        <p:spPr bwMode="auto">
          <a:xfrm>
            <a:off x="5013665" y="3956149"/>
            <a:ext cx="320040" cy="320040"/>
          </a:xfrm>
          <a:prstGeom prst="ellipse">
            <a:avLst/>
          </a:prstGeom>
          <a:noFill/>
          <a:extLst>
            <a:ext uri="{909E8E84-426E-40DD-AFC4-6F175D3DCCD1}">
              <a14:hiddenFill xmlns:a14="http://schemas.microsoft.com/office/drawing/2010/main">
                <a:solidFill>
                  <a:srgbClr val="FFFFFF"/>
                </a:solidFill>
              </a14:hiddenFill>
            </a:ext>
          </a:extLst>
        </p:spPr>
      </p:pic>
      <p:pic>
        <p:nvPicPr>
          <p:cNvPr id="246" name="Picture 4" descr="Wealthsimple | Logopedia | Fandom">
            <a:extLst>
              <a:ext uri="{FF2B5EF4-FFF2-40B4-BE49-F238E27FC236}">
                <a16:creationId xmlns:a16="http://schemas.microsoft.com/office/drawing/2014/main" id="{7AD0A71F-94A4-FAE9-A241-D5270BE0A14B}"/>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a:stretch/>
        </p:blipFill>
        <p:spPr bwMode="auto">
          <a:xfrm>
            <a:off x="7130636" y="4782327"/>
            <a:ext cx="320040" cy="320040"/>
          </a:xfrm>
          <a:prstGeom prst="ellipse">
            <a:avLst/>
          </a:prstGeom>
          <a:noFill/>
          <a:extLst>
            <a:ext uri="{909E8E84-426E-40DD-AFC4-6F175D3DCCD1}">
              <a14:hiddenFill xmlns:a14="http://schemas.microsoft.com/office/drawing/2010/main">
                <a:solidFill>
                  <a:srgbClr val="FFFFFF"/>
                </a:solidFill>
              </a14:hiddenFill>
            </a:ext>
          </a:extLst>
        </p:spPr>
      </p:pic>
      <p:pic>
        <p:nvPicPr>
          <p:cNvPr id="249" name="Picture 4" descr="Wealthsimple | Logopedia | Fandom">
            <a:extLst>
              <a:ext uri="{FF2B5EF4-FFF2-40B4-BE49-F238E27FC236}">
                <a16:creationId xmlns:a16="http://schemas.microsoft.com/office/drawing/2014/main" id="{B179A953-66C8-5492-CFD3-84B109CCF6CE}"/>
              </a:ext>
            </a:extLst>
          </p:cNvPr>
          <p:cNvPicPr>
            <a:picLocks noChangeArrowheads="1"/>
          </p:cNvPicPr>
          <p:nvPr/>
        </p:nvPicPr>
        <p:blipFill rotWithShape="1">
          <a:blip r:embed="rId7">
            <a:alphaModFix/>
            <a:extLst>
              <a:ext uri="{28A0092B-C50C-407E-A947-70E740481C1C}">
                <a14:useLocalDpi xmlns:a14="http://schemas.microsoft.com/office/drawing/2010/main" val="0"/>
              </a:ext>
            </a:extLst>
          </a:blip>
          <a:srcRect/>
          <a:stretch/>
        </p:blipFill>
        <p:spPr bwMode="auto">
          <a:xfrm>
            <a:off x="7130636" y="5600292"/>
            <a:ext cx="320040" cy="320040"/>
          </a:xfrm>
          <a:prstGeom prst="ellipse">
            <a:avLst/>
          </a:prstGeom>
          <a:noFill/>
          <a:extLst>
            <a:ext uri="{909E8E84-426E-40DD-AFC4-6F175D3DCCD1}">
              <a14:hiddenFill xmlns:a14="http://schemas.microsoft.com/office/drawing/2010/main">
                <a:solidFill>
                  <a:srgbClr val="FFFFFF"/>
                </a:solidFill>
              </a14:hiddenFill>
            </a:ext>
          </a:extLst>
        </p:spPr>
      </p:pic>
      <p:sp>
        <p:nvSpPr>
          <p:cNvPr id="25" name="Rectangle 24">
            <a:extLst>
              <a:ext uri="{FF2B5EF4-FFF2-40B4-BE49-F238E27FC236}">
                <a16:creationId xmlns:a16="http://schemas.microsoft.com/office/drawing/2014/main" id="{EC6870C3-25BE-90C2-F581-23399C987C34}"/>
              </a:ext>
            </a:extLst>
          </p:cNvPr>
          <p:cNvSpPr/>
          <p:nvPr/>
        </p:nvSpPr>
        <p:spPr>
          <a:xfrm>
            <a:off x="8015602" y="1808041"/>
            <a:ext cx="4176397" cy="5058997"/>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274320" rIns="457200" bIns="180000" rtlCol="0" anchor="t"/>
          <a:lstStyle/>
          <a:p>
            <a:pPr algn="l">
              <a:spcAft>
                <a:spcPts val="1200"/>
              </a:spcAft>
            </a:pPr>
            <a:r>
              <a:rPr lang="en-US" sz="1200" spc="300">
                <a:solidFill>
                  <a:schemeClr val="tx1"/>
                </a:solidFill>
              </a:rPr>
              <a:t>FUTURE STATE OVERVIEW</a:t>
            </a:r>
          </a:p>
          <a:p>
            <a:pPr algn="l">
              <a:spcAft>
                <a:spcPts val="600"/>
              </a:spcAft>
            </a:pPr>
            <a:r>
              <a:rPr lang="en-US" sz="1200" b="1">
                <a:solidFill>
                  <a:srgbClr val="EC111A"/>
                </a:solidFill>
              </a:rPr>
              <a:t>Where we can differentiate…</a:t>
            </a:r>
          </a:p>
          <a:p>
            <a:pPr marL="171450" indent="-171450" algn="l">
              <a:spcAft>
                <a:spcPts val="1200"/>
              </a:spcAft>
              <a:buFont typeface="Arial" panose="020B0604020202020204" pitchFamily="34" charset="0"/>
              <a:buChar char="•"/>
            </a:pPr>
            <a:r>
              <a:rPr lang="en-US" sz="1200" b="1">
                <a:solidFill>
                  <a:schemeClr val="tx1"/>
                </a:solidFill>
              </a:rPr>
              <a:t>Engagement channel: </a:t>
            </a:r>
            <a:r>
              <a:rPr lang="en-US" sz="1200">
                <a:solidFill>
                  <a:schemeClr val="tx1"/>
                </a:solidFill>
              </a:rPr>
              <a:t>Invest in digital capabilities to delivery a robust, seamless omnichannel experience, tailored to specific client needs </a:t>
            </a:r>
          </a:p>
          <a:p>
            <a:pPr marL="171450" indent="-171450">
              <a:spcAft>
                <a:spcPts val="1200"/>
              </a:spcAft>
              <a:buFont typeface="Arial" panose="020B0604020202020204" pitchFamily="34" charset="0"/>
              <a:buChar char="•"/>
            </a:pPr>
            <a:r>
              <a:rPr lang="en-US" sz="1200" b="1">
                <a:solidFill>
                  <a:schemeClr val="tx1"/>
                </a:solidFill>
              </a:rPr>
              <a:t>Offerings &amp; advice: </a:t>
            </a:r>
            <a:r>
              <a:rPr lang="en-US" sz="1200">
                <a:solidFill>
                  <a:schemeClr val="tx1"/>
                </a:solidFill>
              </a:rPr>
              <a:t>Provide full-suite offerings leveraging the entire Bank’s expertise and scale with a focus on hybrid advice</a:t>
            </a:r>
            <a:r>
              <a:rPr lang="en-US" sz="1200" baseline="30000">
                <a:solidFill>
                  <a:schemeClr val="tx1"/>
                </a:solidFill>
              </a:rPr>
              <a:t>1</a:t>
            </a:r>
            <a:r>
              <a:rPr lang="en-US" sz="1200">
                <a:solidFill>
                  <a:schemeClr val="tx1"/>
                </a:solidFill>
              </a:rPr>
              <a:t> </a:t>
            </a:r>
          </a:p>
          <a:p>
            <a:pPr>
              <a:spcAft>
                <a:spcPts val="600"/>
              </a:spcAft>
            </a:pPr>
            <a:r>
              <a:rPr lang="en-US" sz="1200" b="1">
                <a:solidFill>
                  <a:srgbClr val="EC111A"/>
                </a:solidFill>
              </a:rPr>
              <a:t>Where we can better meet client expectations…</a:t>
            </a:r>
          </a:p>
          <a:p>
            <a:pPr marL="171450" indent="-171450" algn="l">
              <a:buFont typeface="Arial" panose="020B0604020202020204" pitchFamily="34" charset="0"/>
              <a:buChar char="•"/>
            </a:pPr>
            <a:r>
              <a:rPr lang="en-US" sz="1200" b="1">
                <a:solidFill>
                  <a:schemeClr val="tx1"/>
                </a:solidFill>
              </a:rPr>
              <a:t>Value for money: </a:t>
            </a:r>
            <a:r>
              <a:rPr lang="en-US" sz="1200">
                <a:solidFill>
                  <a:schemeClr val="tx1"/>
                </a:solidFill>
              </a:rPr>
              <a:t>Introduce tiered packages &amp; pricing based on client’s relationship with BNS</a:t>
            </a:r>
          </a:p>
          <a:p>
            <a:pPr marL="171450" indent="-171450">
              <a:spcBef>
                <a:spcPts val="600"/>
              </a:spcBef>
              <a:buFont typeface="Arial" panose="020B0604020202020204" pitchFamily="34" charset="0"/>
              <a:buChar char="•"/>
            </a:pPr>
            <a:r>
              <a:rPr lang="en-US" sz="1200" b="1">
                <a:solidFill>
                  <a:schemeClr val="tx1"/>
                </a:solidFill>
              </a:rPr>
              <a:t>Branding: </a:t>
            </a:r>
            <a:r>
              <a:rPr lang="en-US" sz="1200">
                <a:solidFill>
                  <a:schemeClr val="tx1"/>
                </a:solidFill>
              </a:rPr>
              <a:t>Create simple, human-centered messaging across offers and content</a:t>
            </a:r>
          </a:p>
          <a:p>
            <a:pPr marL="171450" indent="-171450">
              <a:spcBef>
                <a:spcPts val="600"/>
              </a:spcBef>
              <a:buFont typeface="Arial" panose="020B0604020202020204" pitchFamily="34" charset="0"/>
              <a:buChar char="•"/>
            </a:pPr>
            <a:r>
              <a:rPr lang="en-US" sz="1200" b="1">
                <a:solidFill>
                  <a:schemeClr val="tx1"/>
                </a:solidFill>
              </a:rPr>
              <a:t>Ecosystem: </a:t>
            </a:r>
            <a:r>
              <a:rPr lang="en-US" sz="1200">
                <a:solidFill>
                  <a:schemeClr val="tx1"/>
                </a:solidFill>
              </a:rPr>
              <a:t>Enhance mobile platforms to offer seamless digital experiences with greater (not complete) back-end integration</a:t>
            </a:r>
            <a:endParaRPr lang="en-US" sz="1200" b="1">
              <a:solidFill>
                <a:schemeClr val="tx1"/>
              </a:solidFill>
            </a:endParaRPr>
          </a:p>
          <a:p>
            <a:pPr marL="171450" indent="-171450" algn="l">
              <a:spcBef>
                <a:spcPts val="600"/>
              </a:spcBef>
              <a:buFont typeface="Arial" panose="020B0604020202020204" pitchFamily="34" charset="0"/>
              <a:buChar char="•"/>
            </a:pPr>
            <a:endParaRPr lang="en-US" sz="1200" b="1">
              <a:solidFill>
                <a:schemeClr val="tx1"/>
              </a:solidFill>
            </a:endParaRPr>
          </a:p>
          <a:p>
            <a:pPr marL="171450" indent="-171450" algn="l">
              <a:spcBef>
                <a:spcPts val="600"/>
              </a:spcBef>
              <a:buFont typeface="Arial" panose="020B0604020202020204" pitchFamily="34" charset="0"/>
              <a:buChar char="•"/>
            </a:pPr>
            <a:endParaRPr lang="en-US" sz="1200" b="1">
              <a:solidFill>
                <a:schemeClr val="tx1"/>
              </a:solidFill>
            </a:endParaRPr>
          </a:p>
          <a:p>
            <a:pPr marL="171450" indent="-171450" algn="l">
              <a:spcBef>
                <a:spcPts val="600"/>
              </a:spcBef>
              <a:buFont typeface="Arial" panose="020B0604020202020204" pitchFamily="34" charset="0"/>
              <a:buChar char="•"/>
            </a:pPr>
            <a:endParaRPr lang="en-US" sz="1200" b="1">
              <a:solidFill>
                <a:schemeClr val="tx1"/>
              </a:solidFill>
            </a:endParaRPr>
          </a:p>
        </p:txBody>
      </p:sp>
      <p:sp>
        <p:nvSpPr>
          <p:cNvPr id="78" name="Text Placeholder 5">
            <a:extLst>
              <a:ext uri="{FF2B5EF4-FFF2-40B4-BE49-F238E27FC236}">
                <a16:creationId xmlns:a16="http://schemas.microsoft.com/office/drawing/2014/main" id="{811C62ED-F045-E5E2-1478-D811C0BAE4E5}"/>
              </a:ext>
            </a:extLst>
          </p:cNvPr>
          <p:cNvSpPr>
            <a:spLocks noGrp="1"/>
          </p:cNvSpPr>
          <p:nvPr>
            <p:ph type="body" sz="quarter" idx="11"/>
          </p:nvPr>
        </p:nvSpPr>
        <p:spPr>
          <a:xfrm>
            <a:off x="515939" y="6510216"/>
            <a:ext cx="7428333" cy="144000"/>
          </a:xfrm>
        </p:spPr>
        <p:txBody>
          <a:bodyPr/>
          <a:lstStyle/>
          <a:p>
            <a:r>
              <a:rPr lang="en-US"/>
              <a:t>Note: 1.  Examples include </a:t>
            </a:r>
            <a:r>
              <a:rPr lang="en-US" sz="900">
                <a:solidFill>
                  <a:schemeClr val="tx1"/>
                </a:solidFill>
              </a:rPr>
              <a:t>STEP products, Total Wealth, </a:t>
            </a:r>
            <a:r>
              <a:rPr lang="en-US" sz="900" err="1">
                <a:solidFill>
                  <a:schemeClr val="tx1"/>
                </a:solidFill>
              </a:rPr>
              <a:t>iTRADE</a:t>
            </a:r>
            <a:r>
              <a:rPr lang="en-US" sz="900">
                <a:solidFill>
                  <a:schemeClr val="tx1"/>
                </a:solidFill>
              </a:rPr>
              <a:t> analytical tools, retail financial planning</a:t>
            </a:r>
            <a:br>
              <a:rPr lang="en-US"/>
            </a:br>
            <a:r>
              <a:rPr lang="en-US"/>
              <a:t>Source: Synthesized from </a:t>
            </a:r>
            <a:r>
              <a:rPr lang="en-US" err="1"/>
              <a:t>Curinos</a:t>
            </a:r>
            <a:r>
              <a:rPr lang="en-US"/>
              <a:t> Customer Knowledge 2024 Canada Shopper Survey, </a:t>
            </a:r>
            <a:r>
              <a:rPr lang="en-CA"/>
              <a:t>IPSOS online investor survey, </a:t>
            </a:r>
            <a:r>
              <a:rPr lang="en-CA" err="1"/>
              <a:t>Wealthsimple</a:t>
            </a:r>
            <a:r>
              <a:rPr lang="en-CA"/>
              <a:t> website and press releases, “The Startup CEO show” Podcast, summer survey</a:t>
            </a:r>
          </a:p>
        </p:txBody>
      </p:sp>
      <p:grpSp>
        <p:nvGrpSpPr>
          <p:cNvPr id="88" name="Group 87">
            <a:extLst>
              <a:ext uri="{FF2B5EF4-FFF2-40B4-BE49-F238E27FC236}">
                <a16:creationId xmlns:a16="http://schemas.microsoft.com/office/drawing/2014/main" id="{535E05E5-E8AF-01FD-2578-0946345753D4}"/>
              </a:ext>
            </a:extLst>
          </p:cNvPr>
          <p:cNvGrpSpPr/>
          <p:nvPr/>
        </p:nvGrpSpPr>
        <p:grpSpPr>
          <a:xfrm>
            <a:off x="9445360" y="1471872"/>
            <a:ext cx="2987629" cy="380334"/>
            <a:chOff x="10018662" y="6128920"/>
            <a:chExt cx="2987629" cy="380334"/>
          </a:xfrm>
        </p:grpSpPr>
        <p:grpSp>
          <p:nvGrpSpPr>
            <p:cNvPr id="92" name="Group 4">
              <a:extLst>
                <a:ext uri="{FF2B5EF4-FFF2-40B4-BE49-F238E27FC236}">
                  <a16:creationId xmlns:a16="http://schemas.microsoft.com/office/drawing/2014/main" id="{07642482-9363-5B79-C950-6C516305F8FB}"/>
                </a:ext>
              </a:extLst>
            </p:cNvPr>
            <p:cNvGrpSpPr>
              <a:grpSpLocks noChangeAspect="1"/>
            </p:cNvGrpSpPr>
            <p:nvPr/>
          </p:nvGrpSpPr>
          <p:grpSpPr bwMode="auto">
            <a:xfrm>
              <a:off x="10018662" y="6275062"/>
              <a:ext cx="79474" cy="88468"/>
              <a:chOff x="7312" y="4020"/>
              <a:chExt cx="143" cy="157"/>
            </a:xfrm>
            <a:solidFill>
              <a:schemeClr val="bg1"/>
            </a:solidFill>
          </p:grpSpPr>
          <p:sp>
            <p:nvSpPr>
              <p:cNvPr id="93" name="Freeform 5">
                <a:extLst>
                  <a:ext uri="{FF2B5EF4-FFF2-40B4-BE49-F238E27FC236}">
                    <a16:creationId xmlns:a16="http://schemas.microsoft.com/office/drawing/2014/main" id="{2AE952F6-EEF9-64BC-E671-7EBDC9C09D50}"/>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94" name="Freeform 6">
                <a:extLst>
                  <a:ext uri="{FF2B5EF4-FFF2-40B4-BE49-F238E27FC236}">
                    <a16:creationId xmlns:a16="http://schemas.microsoft.com/office/drawing/2014/main" id="{7D912978-D58E-D34D-582F-FB8E000D8133}"/>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95" name="Oval 7">
                <a:extLst>
                  <a:ext uri="{FF2B5EF4-FFF2-40B4-BE49-F238E27FC236}">
                    <a16:creationId xmlns:a16="http://schemas.microsoft.com/office/drawing/2014/main" id="{CE118684-8E27-6ED1-708E-4474D5176638}"/>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sp>
          <p:nvSpPr>
            <p:cNvPr id="90" name="Rectangle 89">
              <a:extLst>
                <a:ext uri="{FF2B5EF4-FFF2-40B4-BE49-F238E27FC236}">
                  <a16:creationId xmlns:a16="http://schemas.microsoft.com/office/drawing/2014/main" id="{7B659686-3D3E-1D5C-399B-A4409B13CC46}"/>
                </a:ext>
              </a:extLst>
            </p:cNvPr>
            <p:cNvSpPr/>
            <p:nvPr/>
          </p:nvSpPr>
          <p:spPr>
            <a:xfrm>
              <a:off x="10058400" y="6129338"/>
              <a:ext cx="1742739" cy="3799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l">
                <a:spcBef>
                  <a:spcPts val="600"/>
                </a:spcBef>
              </a:pPr>
              <a:r>
                <a:rPr lang="en-US" sz="1000">
                  <a:solidFill>
                    <a:schemeClr val="tx1"/>
                  </a:solidFill>
                </a:rPr>
                <a:t>Current state</a:t>
              </a:r>
            </a:p>
          </p:txBody>
        </p:sp>
        <p:sp>
          <p:nvSpPr>
            <p:cNvPr id="154" name="Rectangle 153">
              <a:extLst>
                <a:ext uri="{FF2B5EF4-FFF2-40B4-BE49-F238E27FC236}">
                  <a16:creationId xmlns:a16="http://schemas.microsoft.com/office/drawing/2014/main" id="{8163F6DB-6C51-9AC2-A473-33876E8373EB}"/>
                </a:ext>
              </a:extLst>
            </p:cNvPr>
            <p:cNvSpPr/>
            <p:nvPr/>
          </p:nvSpPr>
          <p:spPr>
            <a:xfrm>
              <a:off x="11263552" y="6128920"/>
              <a:ext cx="1742739" cy="3799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l">
                <a:spcBef>
                  <a:spcPts val="600"/>
                </a:spcBef>
              </a:pPr>
              <a:r>
                <a:rPr lang="en-US" sz="1000">
                  <a:solidFill>
                    <a:schemeClr val="tx1"/>
                  </a:solidFill>
                </a:rPr>
                <a:t>Future aspiration</a:t>
              </a:r>
            </a:p>
          </p:txBody>
        </p:sp>
      </p:grpSp>
      <p:grpSp>
        <p:nvGrpSpPr>
          <p:cNvPr id="96" name="Group 95">
            <a:extLst>
              <a:ext uri="{FF2B5EF4-FFF2-40B4-BE49-F238E27FC236}">
                <a16:creationId xmlns:a16="http://schemas.microsoft.com/office/drawing/2014/main" id="{22F19164-7023-F6E7-6B04-6C20037A4A31}"/>
              </a:ext>
            </a:extLst>
          </p:cNvPr>
          <p:cNvGrpSpPr>
            <a:grpSpLocks noChangeAspect="1"/>
          </p:cNvGrpSpPr>
          <p:nvPr/>
        </p:nvGrpSpPr>
        <p:grpSpPr>
          <a:xfrm>
            <a:off x="9339848" y="1558988"/>
            <a:ext cx="206102" cy="206102"/>
            <a:chOff x="9392693" y="2024425"/>
            <a:chExt cx="733647" cy="724972"/>
          </a:xfrm>
        </p:grpSpPr>
        <p:sp>
          <p:nvSpPr>
            <p:cNvPr id="97" name="Oval 96">
              <a:extLst>
                <a:ext uri="{FF2B5EF4-FFF2-40B4-BE49-F238E27FC236}">
                  <a16:creationId xmlns:a16="http://schemas.microsoft.com/office/drawing/2014/main" id="{844B796A-8E5E-BBF9-4CFF-B2676164988C}"/>
                </a:ext>
              </a:extLst>
            </p:cNvPr>
            <p:cNvSpPr/>
            <p:nvPr/>
          </p:nvSpPr>
          <p:spPr>
            <a:xfrm>
              <a:off x="9392693" y="2024425"/>
              <a:ext cx="733647" cy="724972"/>
            </a:xfrm>
            <a:prstGeom prst="ellipse">
              <a:avLst/>
            </a:prstGeom>
            <a:solidFill>
              <a:srgbClr val="EC111A">
                <a:alpha val="42000"/>
              </a:srgbClr>
            </a:solidFill>
            <a:ln>
              <a:solidFill>
                <a:srgbClr val="EC111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98" name="Group 4">
              <a:extLst>
                <a:ext uri="{FF2B5EF4-FFF2-40B4-BE49-F238E27FC236}">
                  <a16:creationId xmlns:a16="http://schemas.microsoft.com/office/drawing/2014/main" id="{300F503A-2F9C-62D3-3122-8770630D6C61}"/>
                </a:ext>
              </a:extLst>
            </p:cNvPr>
            <p:cNvGrpSpPr>
              <a:grpSpLocks noChangeAspect="1"/>
            </p:cNvGrpSpPr>
            <p:nvPr/>
          </p:nvGrpSpPr>
          <p:grpSpPr bwMode="auto">
            <a:xfrm>
              <a:off x="9571246" y="2198641"/>
              <a:ext cx="376540" cy="376540"/>
              <a:chOff x="7312" y="4020"/>
              <a:chExt cx="143" cy="157"/>
            </a:xfrm>
            <a:solidFill>
              <a:schemeClr val="bg1"/>
            </a:solidFill>
          </p:grpSpPr>
          <p:sp>
            <p:nvSpPr>
              <p:cNvPr id="99" name="Freeform 5">
                <a:extLst>
                  <a:ext uri="{FF2B5EF4-FFF2-40B4-BE49-F238E27FC236}">
                    <a16:creationId xmlns:a16="http://schemas.microsoft.com/office/drawing/2014/main" id="{DBB456C9-0246-719D-5711-709C0C38CFD8}"/>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0" name="Freeform 6">
                <a:extLst>
                  <a:ext uri="{FF2B5EF4-FFF2-40B4-BE49-F238E27FC236}">
                    <a16:creationId xmlns:a16="http://schemas.microsoft.com/office/drawing/2014/main" id="{DF39D517-0195-8496-2C99-44E6582ECF5A}"/>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1" name="Oval 7">
                <a:extLst>
                  <a:ext uri="{FF2B5EF4-FFF2-40B4-BE49-F238E27FC236}">
                    <a16:creationId xmlns:a16="http://schemas.microsoft.com/office/drawing/2014/main" id="{A45F73F2-7A23-5FB3-F810-418098056CB9}"/>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grpSp>
        <p:nvGrpSpPr>
          <p:cNvPr id="102" name="Group 101">
            <a:extLst>
              <a:ext uri="{FF2B5EF4-FFF2-40B4-BE49-F238E27FC236}">
                <a16:creationId xmlns:a16="http://schemas.microsoft.com/office/drawing/2014/main" id="{56D5BA07-D986-0159-AB72-2738E1B39740}"/>
              </a:ext>
            </a:extLst>
          </p:cNvPr>
          <p:cNvGrpSpPr>
            <a:grpSpLocks noChangeAspect="1"/>
          </p:cNvGrpSpPr>
          <p:nvPr/>
        </p:nvGrpSpPr>
        <p:grpSpPr>
          <a:xfrm>
            <a:off x="10587199" y="1558988"/>
            <a:ext cx="206102" cy="206102"/>
            <a:chOff x="9392693" y="2024425"/>
            <a:chExt cx="733647" cy="724972"/>
          </a:xfrm>
        </p:grpSpPr>
        <p:sp>
          <p:nvSpPr>
            <p:cNvPr id="103" name="Oval 102">
              <a:extLst>
                <a:ext uri="{FF2B5EF4-FFF2-40B4-BE49-F238E27FC236}">
                  <a16:creationId xmlns:a16="http://schemas.microsoft.com/office/drawing/2014/main" id="{A2202F67-CADD-5CDD-5D96-1A0770699084}"/>
                </a:ext>
              </a:extLst>
            </p:cNvPr>
            <p:cNvSpPr/>
            <p:nvPr/>
          </p:nvSpPr>
          <p:spPr>
            <a:xfrm>
              <a:off x="9392693" y="2024425"/>
              <a:ext cx="733647" cy="724972"/>
            </a:xfrm>
            <a:prstGeom prst="ellipse">
              <a:avLst/>
            </a:prstGeom>
            <a:solidFill>
              <a:srgbClr val="EC111A"/>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grpSp>
          <p:nvGrpSpPr>
            <p:cNvPr id="104" name="Group 4">
              <a:extLst>
                <a:ext uri="{FF2B5EF4-FFF2-40B4-BE49-F238E27FC236}">
                  <a16:creationId xmlns:a16="http://schemas.microsoft.com/office/drawing/2014/main" id="{4FF5A99E-7B3D-DD18-27F1-8488B6997413}"/>
                </a:ext>
              </a:extLst>
            </p:cNvPr>
            <p:cNvGrpSpPr>
              <a:grpSpLocks noChangeAspect="1"/>
            </p:cNvGrpSpPr>
            <p:nvPr/>
          </p:nvGrpSpPr>
          <p:grpSpPr bwMode="auto">
            <a:xfrm>
              <a:off x="9571246" y="2198641"/>
              <a:ext cx="376540" cy="376540"/>
              <a:chOff x="7312" y="4020"/>
              <a:chExt cx="143" cy="157"/>
            </a:xfrm>
            <a:solidFill>
              <a:schemeClr val="bg1"/>
            </a:solidFill>
          </p:grpSpPr>
          <p:sp>
            <p:nvSpPr>
              <p:cNvPr id="105" name="Freeform 5">
                <a:extLst>
                  <a:ext uri="{FF2B5EF4-FFF2-40B4-BE49-F238E27FC236}">
                    <a16:creationId xmlns:a16="http://schemas.microsoft.com/office/drawing/2014/main" id="{11C7BD70-BF13-6879-3DC2-A132613CCF22}"/>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6" name="Freeform 6">
                <a:extLst>
                  <a:ext uri="{FF2B5EF4-FFF2-40B4-BE49-F238E27FC236}">
                    <a16:creationId xmlns:a16="http://schemas.microsoft.com/office/drawing/2014/main" id="{0161A268-49B3-0CDF-AB41-99E2FAD2F345}"/>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sp>
            <p:nvSpPr>
              <p:cNvPr id="107" name="Oval 7">
                <a:extLst>
                  <a:ext uri="{FF2B5EF4-FFF2-40B4-BE49-F238E27FC236}">
                    <a16:creationId xmlns:a16="http://schemas.microsoft.com/office/drawing/2014/main" id="{88105D28-080C-713B-EE8D-1C95033E3530}"/>
                  </a:ext>
                </a:extLst>
              </p:cNvPr>
              <p:cNvSpPr>
                <a:spLocks noChangeArrowheads="1"/>
              </p:cNvSpPr>
              <p:nvPr userDrawn="1"/>
            </p:nvSpPr>
            <p:spPr bwMode="auto">
              <a:xfrm>
                <a:off x="7344" y="4059"/>
                <a:ext cx="79" cy="7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Scotia Light"/>
                  <a:ea typeface="+mn-ea"/>
                  <a:cs typeface="+mn-cs"/>
                </a:endParaRPr>
              </a:p>
            </p:txBody>
          </p:sp>
        </p:grpSp>
      </p:grpSp>
      <p:sp>
        <p:nvSpPr>
          <p:cNvPr id="20" name="Oval 19">
            <a:extLst>
              <a:ext uri="{FF2B5EF4-FFF2-40B4-BE49-F238E27FC236}">
                <a16:creationId xmlns:a16="http://schemas.microsoft.com/office/drawing/2014/main" id="{21E6EA79-7D12-357A-4D84-888A7A7FC505}"/>
              </a:ext>
            </a:extLst>
          </p:cNvPr>
          <p:cNvSpPr/>
          <p:nvPr/>
        </p:nvSpPr>
        <p:spPr>
          <a:xfrm>
            <a:off x="115799" y="669026"/>
            <a:ext cx="312274" cy="312274"/>
          </a:xfrm>
          <a:prstGeom prst="ellipse">
            <a:avLst/>
          </a:prstGeom>
          <a:solidFill>
            <a:srgbClr val="EC111A"/>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US" sz="1400" b="1">
                <a:solidFill>
                  <a:schemeClr val="bg1"/>
                </a:solidFill>
              </a:rPr>
              <a:t>2</a:t>
            </a:r>
          </a:p>
        </p:txBody>
      </p:sp>
      <p:pic>
        <p:nvPicPr>
          <p:cNvPr id="232" name="Graphic 231">
            <a:extLst>
              <a:ext uri="{FF2B5EF4-FFF2-40B4-BE49-F238E27FC236}">
                <a16:creationId xmlns:a16="http://schemas.microsoft.com/office/drawing/2014/main" id="{55EECA28-462B-34D9-42CE-C827D3415723}"/>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817766" y="3208140"/>
            <a:ext cx="193985" cy="134712"/>
          </a:xfrm>
          <a:prstGeom prst="rect">
            <a:avLst/>
          </a:prstGeom>
        </p:spPr>
      </p:pic>
      <p:sp>
        <p:nvSpPr>
          <p:cNvPr id="234" name="Shape 2633">
            <a:extLst>
              <a:ext uri="{FF2B5EF4-FFF2-40B4-BE49-F238E27FC236}">
                <a16:creationId xmlns:a16="http://schemas.microsoft.com/office/drawing/2014/main" id="{50C82C28-AB8D-054C-99F6-0A4B70DB5340}"/>
              </a:ext>
            </a:extLst>
          </p:cNvPr>
          <p:cNvSpPr/>
          <p:nvPr/>
        </p:nvSpPr>
        <p:spPr>
          <a:xfrm>
            <a:off x="810924" y="3992809"/>
            <a:ext cx="207668" cy="207668"/>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sp>
        <p:nvSpPr>
          <p:cNvPr id="236" name="Shape 2581">
            <a:extLst>
              <a:ext uri="{FF2B5EF4-FFF2-40B4-BE49-F238E27FC236}">
                <a16:creationId xmlns:a16="http://schemas.microsoft.com/office/drawing/2014/main" id="{0F8F69F1-F2A4-AEBC-86B0-E9C8779718B4}"/>
              </a:ext>
            </a:extLst>
          </p:cNvPr>
          <p:cNvSpPr/>
          <p:nvPr/>
        </p:nvSpPr>
        <p:spPr>
          <a:xfrm>
            <a:off x="810924" y="4812680"/>
            <a:ext cx="207668" cy="210221"/>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sp>
        <p:nvSpPr>
          <p:cNvPr id="238" name="Shape 2857">
            <a:extLst>
              <a:ext uri="{FF2B5EF4-FFF2-40B4-BE49-F238E27FC236}">
                <a16:creationId xmlns:a16="http://schemas.microsoft.com/office/drawing/2014/main" id="{0AE56E34-0AF4-7F87-7C44-5E7E69C61AF2}"/>
              </a:ext>
            </a:extLst>
          </p:cNvPr>
          <p:cNvSpPr/>
          <p:nvPr/>
        </p:nvSpPr>
        <p:spPr>
          <a:xfrm>
            <a:off x="811031" y="5623607"/>
            <a:ext cx="207455" cy="207818"/>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pic>
        <p:nvPicPr>
          <p:cNvPr id="239" name="Graphic 238">
            <a:extLst>
              <a:ext uri="{FF2B5EF4-FFF2-40B4-BE49-F238E27FC236}">
                <a16:creationId xmlns:a16="http://schemas.microsoft.com/office/drawing/2014/main" id="{FD002AA5-68D9-BB55-C81E-D5F072736EDD}"/>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819388" y="2358979"/>
            <a:ext cx="190740" cy="190740"/>
          </a:xfrm>
          <a:prstGeom prst="rect">
            <a:avLst/>
          </a:prstGeom>
        </p:spPr>
      </p:pic>
    </p:spTree>
    <p:extLst>
      <p:ext uri="{BB962C8B-B14F-4D97-AF65-F5344CB8AC3E}">
        <p14:creationId xmlns:p14="http://schemas.microsoft.com/office/powerpoint/2010/main" val="135380678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D10AA9-7347-36DE-275E-9A205C435C2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FDEA8BFD-0663-7C9E-BE7C-A1969DCD6DA7}"/>
              </a:ext>
            </a:extLst>
          </p:cNvPr>
          <p:cNvSpPr>
            <a:spLocks noGrp="1"/>
          </p:cNvSpPr>
          <p:nvPr>
            <p:ph type="body" sz="quarter" idx="11"/>
          </p:nvPr>
        </p:nvSpPr>
        <p:spPr/>
        <p:txBody>
          <a:bodyPr/>
          <a:lstStyle/>
          <a:p>
            <a:r>
              <a:rPr lang="en-US"/>
              <a:t>Industry Trends, Headwinds or Tailwinds</a:t>
            </a:r>
            <a:endParaRPr lang="en-CA"/>
          </a:p>
        </p:txBody>
      </p:sp>
      <p:sp>
        <p:nvSpPr>
          <p:cNvPr id="3" name="Text Placeholder 2">
            <a:extLst>
              <a:ext uri="{FF2B5EF4-FFF2-40B4-BE49-F238E27FC236}">
                <a16:creationId xmlns:a16="http://schemas.microsoft.com/office/drawing/2014/main" id="{4788478D-E2CA-3A76-A620-0BECAF734AFE}"/>
              </a:ext>
            </a:extLst>
          </p:cNvPr>
          <p:cNvSpPr>
            <a:spLocks noGrp="1"/>
          </p:cNvSpPr>
          <p:nvPr>
            <p:ph type="body" sz="quarter" idx="12"/>
          </p:nvPr>
        </p:nvSpPr>
        <p:spPr/>
        <p:txBody>
          <a:bodyPr/>
          <a:lstStyle/>
          <a:p>
            <a:r>
              <a:rPr lang="en-CA"/>
              <a:t>09</a:t>
            </a:r>
          </a:p>
        </p:txBody>
      </p:sp>
    </p:spTree>
    <p:extLst>
      <p:ext uri="{BB962C8B-B14F-4D97-AF65-F5344CB8AC3E}">
        <p14:creationId xmlns:p14="http://schemas.microsoft.com/office/powerpoint/2010/main" val="377940369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556DC5-18EB-F16C-B593-79B20874020E}"/>
            </a:ext>
          </a:extLst>
        </p:cNvPr>
        <p:cNvGrpSpPr/>
        <p:nvPr/>
      </p:nvGrpSpPr>
      <p:grpSpPr>
        <a:xfrm>
          <a:off x="0" y="0"/>
          <a:ext cx="0" cy="0"/>
          <a:chOff x="0" y="0"/>
          <a:chExt cx="0" cy="0"/>
        </a:xfrm>
      </p:grpSpPr>
      <p:grpSp>
        <p:nvGrpSpPr>
          <p:cNvPr id="22" name="Group 21">
            <a:extLst>
              <a:ext uri="{FF2B5EF4-FFF2-40B4-BE49-F238E27FC236}">
                <a16:creationId xmlns:a16="http://schemas.microsoft.com/office/drawing/2014/main" id="{1BBF311E-B77C-C7C9-8D5C-B48CBD4AA6DC}"/>
              </a:ext>
            </a:extLst>
          </p:cNvPr>
          <p:cNvGrpSpPr/>
          <p:nvPr/>
        </p:nvGrpSpPr>
        <p:grpSpPr>
          <a:xfrm>
            <a:off x="6172206" y="1633540"/>
            <a:ext cx="2675724" cy="4570412"/>
            <a:chOff x="9000338" y="1525118"/>
            <a:chExt cx="2675724" cy="4570881"/>
          </a:xfrm>
        </p:grpSpPr>
        <p:sp>
          <p:nvSpPr>
            <p:cNvPr id="18" name="Rectangle 17">
              <a:extLst>
                <a:ext uri="{FF2B5EF4-FFF2-40B4-BE49-F238E27FC236}">
                  <a16:creationId xmlns:a16="http://schemas.microsoft.com/office/drawing/2014/main" id="{50286F61-E48A-A000-AE9A-2C3B7AB69AB0}"/>
                </a:ext>
              </a:extLst>
            </p:cNvPr>
            <p:cNvSpPr/>
            <p:nvPr/>
          </p:nvSpPr>
          <p:spPr>
            <a:xfrm>
              <a:off x="9000338" y="1525118"/>
              <a:ext cx="2675724" cy="45708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90000" rIns="46800" bIns="0" rtlCol="0" anchor="t" anchorCtr="0"/>
            <a:lstStyle/>
            <a:p>
              <a:pPr algn="ctr"/>
              <a:r>
                <a:rPr lang="en-US" sz="1001" b="1" spc="201">
                  <a:solidFill>
                    <a:schemeClr val="tx1"/>
                  </a:solidFill>
                </a:rPr>
                <a:t>DIFFERENTIATION</a:t>
              </a:r>
            </a:p>
            <a:p>
              <a:pPr algn="ctr"/>
              <a:endParaRPr lang="en-US" sz="1001" b="1" spc="201">
                <a:solidFill>
                  <a:schemeClr val="tx1"/>
                </a:solidFill>
              </a:endParaRPr>
            </a:p>
            <a:p>
              <a:pPr algn="ctr"/>
              <a:r>
                <a:rPr lang="en-US" sz="1001">
                  <a:solidFill>
                    <a:schemeClr val="tx1"/>
                  </a:solidFill>
                </a:rPr>
                <a:t>SBM lacks distinctive attributes vs peers, particularly on client-critical ones, reducing ability to stand out</a:t>
              </a:r>
            </a:p>
          </p:txBody>
        </p:sp>
        <p:sp>
          <p:nvSpPr>
            <p:cNvPr id="20" name="Rectangle 19">
              <a:extLst>
                <a:ext uri="{FF2B5EF4-FFF2-40B4-BE49-F238E27FC236}">
                  <a16:creationId xmlns:a16="http://schemas.microsoft.com/office/drawing/2014/main" id="{6E08E4C2-8277-A218-BB99-83E27B1F50B8}"/>
                </a:ext>
              </a:extLst>
            </p:cNvPr>
            <p:cNvSpPr/>
            <p:nvPr/>
          </p:nvSpPr>
          <p:spPr>
            <a:xfrm>
              <a:off x="9072169" y="2659063"/>
              <a:ext cx="2532062" cy="183453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Competitive attributes</a:t>
              </a:r>
            </a:p>
          </p:txBody>
        </p:sp>
        <p:sp>
          <p:nvSpPr>
            <p:cNvPr id="26" name="Rectangle 25">
              <a:extLst>
                <a:ext uri="{FF2B5EF4-FFF2-40B4-BE49-F238E27FC236}">
                  <a16:creationId xmlns:a16="http://schemas.microsoft.com/office/drawing/2014/main" id="{5F011C03-A533-AFDD-0582-DCFC3FD0C0B2}"/>
                </a:ext>
              </a:extLst>
            </p:cNvPr>
            <p:cNvSpPr/>
            <p:nvPr/>
          </p:nvSpPr>
          <p:spPr>
            <a:xfrm>
              <a:off x="9000339" y="4637088"/>
              <a:ext cx="2675723" cy="10477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marL="324004" indent="-171453">
                <a:buFont typeface="Arial" panose="020B0604020202020204" pitchFamily="34" charset="0"/>
                <a:buChar char="•"/>
              </a:pPr>
              <a:r>
                <a:rPr lang="en-US" sz="1001">
                  <a:solidFill>
                    <a:schemeClr val="tx1"/>
                  </a:solidFill>
                </a:rPr>
                <a:t>Clients prioritize easy onboarding and digital capabilities</a:t>
              </a:r>
            </a:p>
            <a:p>
              <a:pPr marL="324004" indent="-171453">
                <a:buFont typeface="Arial" panose="020B0604020202020204" pitchFamily="34" charset="0"/>
                <a:buChar char="•"/>
              </a:pPr>
              <a:r>
                <a:rPr lang="en-US" sz="1001">
                  <a:solidFill>
                    <a:schemeClr val="tx1"/>
                  </a:solidFill>
                </a:rPr>
                <a:t>Availability of ATMs, branches and remote assistance + AI</a:t>
              </a:r>
            </a:p>
            <a:p>
              <a:pPr marL="324004" indent="-171453">
                <a:buFont typeface="Arial" panose="020B0604020202020204" pitchFamily="34" charset="0"/>
                <a:buChar char="•"/>
              </a:pPr>
              <a:r>
                <a:rPr lang="en-US" sz="1001">
                  <a:solidFill>
                    <a:schemeClr val="tx1"/>
                  </a:solidFill>
                </a:rPr>
                <a:t>Users remain highly sensitive to prizing, transparency and fees</a:t>
              </a:r>
            </a:p>
          </p:txBody>
        </p:sp>
        <p:sp>
          <p:nvSpPr>
            <p:cNvPr id="585" name="Oval 584">
              <a:extLst>
                <a:ext uri="{FF2B5EF4-FFF2-40B4-BE49-F238E27FC236}">
                  <a16:creationId xmlns:a16="http://schemas.microsoft.com/office/drawing/2014/main" id="{B8FBB74E-CFBF-969C-9C7E-19FF7733E479}"/>
                </a:ext>
              </a:extLst>
            </p:cNvPr>
            <p:cNvSpPr/>
            <p:nvPr/>
          </p:nvSpPr>
          <p:spPr>
            <a:xfrm>
              <a:off x="9098040" y="4732338"/>
              <a:ext cx="222905" cy="222713"/>
            </a:xfrm>
            <a:prstGeom prst="ellipse">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900" b="1">
                  <a:solidFill>
                    <a:schemeClr val="bg1"/>
                  </a:solidFill>
                </a:rPr>
                <a:t>1</a:t>
              </a:r>
              <a:r>
                <a:rPr lang="en-US" sz="900" b="1" baseline="30000">
                  <a:solidFill>
                    <a:schemeClr val="bg1"/>
                  </a:solidFill>
                </a:rPr>
                <a:t>st </a:t>
              </a:r>
              <a:endParaRPr lang="en-US" sz="900" b="1">
                <a:solidFill>
                  <a:schemeClr val="bg1"/>
                </a:solidFill>
              </a:endParaRPr>
            </a:p>
          </p:txBody>
        </p:sp>
        <p:sp>
          <p:nvSpPr>
            <p:cNvPr id="586" name="Oval 585">
              <a:extLst>
                <a:ext uri="{FF2B5EF4-FFF2-40B4-BE49-F238E27FC236}">
                  <a16:creationId xmlns:a16="http://schemas.microsoft.com/office/drawing/2014/main" id="{C4A02916-A66F-1AF1-9FFB-0B2978D4FED7}"/>
                </a:ext>
              </a:extLst>
            </p:cNvPr>
            <p:cNvSpPr/>
            <p:nvPr/>
          </p:nvSpPr>
          <p:spPr>
            <a:xfrm>
              <a:off x="9098040" y="5022850"/>
              <a:ext cx="222905" cy="222713"/>
            </a:xfrm>
            <a:prstGeom prst="ellipse">
              <a:avLst/>
            </a:prstGeom>
            <a:solidFill>
              <a:srgbClr val="B10D1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900" b="1">
                  <a:solidFill>
                    <a:schemeClr val="bg1"/>
                  </a:solidFill>
                </a:rPr>
                <a:t>2</a:t>
              </a:r>
              <a:r>
                <a:rPr lang="en-US" sz="900" b="1" baseline="30000">
                  <a:solidFill>
                    <a:schemeClr val="bg1"/>
                  </a:solidFill>
                </a:rPr>
                <a:t>nd</a:t>
              </a:r>
              <a:r>
                <a:rPr lang="en-US" sz="900" b="1">
                  <a:solidFill>
                    <a:schemeClr val="bg1"/>
                  </a:solidFill>
                </a:rPr>
                <a:t> </a:t>
              </a:r>
            </a:p>
          </p:txBody>
        </p:sp>
        <p:sp>
          <p:nvSpPr>
            <p:cNvPr id="587" name="Oval 586">
              <a:extLst>
                <a:ext uri="{FF2B5EF4-FFF2-40B4-BE49-F238E27FC236}">
                  <a16:creationId xmlns:a16="http://schemas.microsoft.com/office/drawing/2014/main" id="{668400B7-73EC-42A0-718B-3A94812ABCC5}"/>
                </a:ext>
              </a:extLst>
            </p:cNvPr>
            <p:cNvSpPr/>
            <p:nvPr/>
          </p:nvSpPr>
          <p:spPr>
            <a:xfrm>
              <a:off x="9098040" y="5313363"/>
              <a:ext cx="222905" cy="222713"/>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900" b="1">
                  <a:solidFill>
                    <a:schemeClr val="tx1"/>
                  </a:solidFill>
                </a:rPr>
                <a:t>3</a:t>
              </a:r>
              <a:r>
                <a:rPr lang="en-US" sz="900" b="1" baseline="30000">
                  <a:solidFill>
                    <a:schemeClr val="tx1"/>
                  </a:solidFill>
                </a:rPr>
                <a:t>rd</a:t>
              </a:r>
              <a:r>
                <a:rPr lang="en-US" sz="900" b="1">
                  <a:solidFill>
                    <a:schemeClr val="tx1"/>
                  </a:solidFill>
                </a:rPr>
                <a:t> </a:t>
              </a:r>
            </a:p>
          </p:txBody>
        </p:sp>
      </p:grpSp>
      <p:sp>
        <p:nvSpPr>
          <p:cNvPr id="2" name="Title 1">
            <a:extLst>
              <a:ext uri="{FF2B5EF4-FFF2-40B4-BE49-F238E27FC236}">
                <a16:creationId xmlns:a16="http://schemas.microsoft.com/office/drawing/2014/main" id="{C1800237-64F2-BB20-0558-6B6C4C91DC4F}"/>
              </a:ext>
            </a:extLst>
          </p:cNvPr>
          <p:cNvSpPr>
            <a:spLocks noGrp="1"/>
          </p:cNvSpPr>
          <p:nvPr>
            <p:ph type="title"/>
          </p:nvPr>
        </p:nvSpPr>
        <p:spPr/>
        <p:txBody>
          <a:bodyPr vert="horz" lIns="0" tIns="0" rIns="0" bIns="0" rtlCol="0" anchor="t">
            <a:noAutofit/>
          </a:bodyPr>
          <a:lstStyle/>
          <a:p>
            <a:r>
              <a:rPr lang="en-US" noProof="0">
                <a:solidFill>
                  <a:srgbClr val="EC111A"/>
                </a:solidFill>
              </a:rPr>
              <a:t>Competitive Landscape | </a:t>
            </a:r>
            <a:r>
              <a:rPr lang="en-US" noProof="0"/>
              <a:t>With a young, highly digitalized market with rapid financial inclusion led by fintechs, SBM must strengthen capabilities to capture the opportunity</a:t>
            </a:r>
          </a:p>
        </p:txBody>
      </p:sp>
      <p:sp>
        <p:nvSpPr>
          <p:cNvPr id="3" name="Slide Number Placeholder 2">
            <a:extLst>
              <a:ext uri="{FF2B5EF4-FFF2-40B4-BE49-F238E27FC236}">
                <a16:creationId xmlns:a16="http://schemas.microsoft.com/office/drawing/2014/main" id="{EFFA8DED-3C16-E21F-3547-F538297F612A}"/>
              </a:ext>
            </a:extLst>
          </p:cNvPr>
          <p:cNvSpPr>
            <a:spLocks noGrp="1"/>
          </p:cNvSpPr>
          <p:nvPr>
            <p:ph type="sldNum" sz="quarter" idx="10"/>
          </p:nvPr>
        </p:nvSpPr>
        <p:spPr/>
        <p:txBody>
          <a:bodyPr/>
          <a:lstStyle/>
          <a:p>
            <a:fld id="{95D835A7-12B2-4074-8DA2-469A8808C237}" type="slidenum">
              <a:rPr lang="en-US" noProof="0" smtClean="0"/>
              <a:pPr/>
              <a:t>47</a:t>
            </a:fld>
            <a:endParaRPr lang="en-US" noProof="0"/>
          </a:p>
        </p:txBody>
      </p:sp>
      <p:sp>
        <p:nvSpPr>
          <p:cNvPr id="21" name="Text Placeholder 20">
            <a:extLst>
              <a:ext uri="{FF2B5EF4-FFF2-40B4-BE49-F238E27FC236}">
                <a16:creationId xmlns:a16="http://schemas.microsoft.com/office/drawing/2014/main" id="{F84B4C11-F56D-27C9-9A07-552F2D8128B2}"/>
              </a:ext>
            </a:extLst>
          </p:cNvPr>
          <p:cNvSpPr>
            <a:spLocks noGrp="1"/>
          </p:cNvSpPr>
          <p:nvPr>
            <p:ph type="body" sz="quarter" idx="11"/>
          </p:nvPr>
        </p:nvSpPr>
        <p:spPr/>
        <p:txBody>
          <a:bodyPr/>
          <a:lstStyle/>
          <a:p>
            <a:r>
              <a:rPr lang="en-US" noProof="0"/>
              <a:t>1. Sources: institution’s investor relations presentations by end of the period, Mercado Pago from Latinometrics as of 2024. Sources: INEGI (2020), ENIF (2024), Finnovista (2025), Accenture (2021), Statista (2024), Data.ai (2024), REBEX consumer survey (2024) and SBM analytics and internal estimates; </a:t>
            </a:r>
          </a:p>
        </p:txBody>
      </p:sp>
      <p:sp>
        <p:nvSpPr>
          <p:cNvPr id="7" name="Text Placeholder 6">
            <a:extLst>
              <a:ext uri="{FF2B5EF4-FFF2-40B4-BE49-F238E27FC236}">
                <a16:creationId xmlns:a16="http://schemas.microsoft.com/office/drawing/2014/main" id="{A71DB40D-A3BA-E1A4-7ED8-C17A13512295}"/>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8" name="Text Placeholder 6">
            <a:extLst>
              <a:ext uri="{FF2B5EF4-FFF2-40B4-BE49-F238E27FC236}">
                <a16:creationId xmlns:a16="http://schemas.microsoft.com/office/drawing/2014/main" id="{D726C6FA-3DA0-7C91-389F-C2AB25C348E3}"/>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000000"/>
                </a:solidFill>
                <a:latin typeface="Scotia"/>
              </a:rPr>
              <a:t>RETAIL</a:t>
            </a:r>
          </a:p>
        </p:txBody>
      </p:sp>
      <p:sp>
        <p:nvSpPr>
          <p:cNvPr id="15" name="Rectangle 14">
            <a:extLst>
              <a:ext uri="{FF2B5EF4-FFF2-40B4-BE49-F238E27FC236}">
                <a16:creationId xmlns:a16="http://schemas.microsoft.com/office/drawing/2014/main" id="{387FFDFD-A795-D778-5870-1CD0F552BA2C}"/>
              </a:ext>
            </a:extLst>
          </p:cNvPr>
          <p:cNvSpPr/>
          <p:nvPr/>
        </p:nvSpPr>
        <p:spPr>
          <a:xfrm>
            <a:off x="515939" y="1633540"/>
            <a:ext cx="2675724" cy="4570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90000" rIns="46800" bIns="0" rtlCol="0" anchor="t" anchorCtr="0"/>
          <a:lstStyle/>
          <a:p>
            <a:pPr algn="ctr"/>
            <a:r>
              <a:rPr lang="en-US" sz="1001" b="1" spc="201">
                <a:solidFill>
                  <a:schemeClr val="tx1"/>
                </a:solidFill>
              </a:rPr>
              <a:t>UNTAPPED YOUTH POTENTIAL</a:t>
            </a:r>
          </a:p>
          <a:p>
            <a:pPr algn="ctr"/>
            <a:endParaRPr lang="en-US" sz="1001" b="1" spc="201">
              <a:solidFill>
                <a:schemeClr val="tx1"/>
              </a:solidFill>
            </a:endParaRPr>
          </a:p>
          <a:p>
            <a:pPr algn="ctr"/>
            <a:r>
              <a:rPr lang="en-US" sz="1001">
                <a:solidFill>
                  <a:schemeClr val="tx1"/>
                </a:solidFill>
              </a:rPr>
              <a:t>Mexico’s young and growing population remains significantly underpenetrated for SBM, limiting long-term lifetime value capture</a:t>
            </a:r>
          </a:p>
        </p:txBody>
      </p:sp>
      <p:sp>
        <p:nvSpPr>
          <p:cNvPr id="16" name="Rectangle 15">
            <a:extLst>
              <a:ext uri="{FF2B5EF4-FFF2-40B4-BE49-F238E27FC236}">
                <a16:creationId xmlns:a16="http://schemas.microsoft.com/office/drawing/2014/main" id="{99458EAF-339C-F988-E862-E679F1DA6F7D}"/>
              </a:ext>
            </a:extLst>
          </p:cNvPr>
          <p:cNvSpPr/>
          <p:nvPr/>
        </p:nvSpPr>
        <p:spPr>
          <a:xfrm>
            <a:off x="3344072" y="1633540"/>
            <a:ext cx="2675724" cy="4570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90000" rIns="46800" bIns="0" rtlCol="0" anchor="t" anchorCtr="0"/>
          <a:lstStyle/>
          <a:p>
            <a:pPr algn="ctr"/>
            <a:r>
              <a:rPr lang="en-US" sz="1001" b="1" spc="201">
                <a:solidFill>
                  <a:schemeClr val="tx1"/>
                </a:solidFill>
              </a:rPr>
              <a:t>DIGITAL-FIRST REALITY</a:t>
            </a:r>
          </a:p>
          <a:p>
            <a:pPr algn="ctr"/>
            <a:endParaRPr lang="en-US" sz="1001" b="1" spc="201">
              <a:solidFill>
                <a:schemeClr val="tx1"/>
              </a:solidFill>
            </a:endParaRPr>
          </a:p>
          <a:p>
            <a:pPr algn="ctr"/>
            <a:r>
              <a:rPr lang="en-US" sz="1001">
                <a:solidFill>
                  <a:schemeClr val="tx1"/>
                </a:solidFill>
              </a:rPr>
              <a:t>Rapid shift toward mobile-led banking has raised client expectations around speed, simplicity, and reliability</a:t>
            </a:r>
          </a:p>
        </p:txBody>
      </p:sp>
      <p:cxnSp>
        <p:nvCxnSpPr>
          <p:cNvPr id="30" name="Straight Connector 29">
            <a:extLst>
              <a:ext uri="{FF2B5EF4-FFF2-40B4-BE49-F238E27FC236}">
                <a16:creationId xmlns:a16="http://schemas.microsoft.com/office/drawing/2014/main" id="{F5C0DB46-B3BE-330E-431F-B1D897610F2B}"/>
              </a:ext>
            </a:extLst>
          </p:cNvPr>
          <p:cNvCxnSpPr>
            <a:cxnSpLocks/>
          </p:cNvCxnSpPr>
          <p:nvPr/>
        </p:nvCxnSpPr>
        <p:spPr>
          <a:xfrm>
            <a:off x="8924133" y="1760539"/>
            <a:ext cx="0" cy="403225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7E207A3A-A952-DF1F-85A3-CB991CE7D7E4}"/>
              </a:ext>
            </a:extLst>
          </p:cNvPr>
          <p:cNvSpPr/>
          <p:nvPr/>
        </p:nvSpPr>
        <p:spPr>
          <a:xfrm>
            <a:off x="587770" y="2767013"/>
            <a:ext cx="2532062" cy="18351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Mexico’s population by age group in MM</a:t>
            </a:r>
          </a:p>
        </p:txBody>
      </p:sp>
      <p:cxnSp>
        <p:nvCxnSpPr>
          <p:cNvPr id="12" name="Straight Connector 11">
            <a:extLst>
              <a:ext uri="{FF2B5EF4-FFF2-40B4-BE49-F238E27FC236}">
                <a16:creationId xmlns:a16="http://schemas.microsoft.com/office/drawing/2014/main" id="{87760DBE-8F05-202C-B44B-F90F08223128}"/>
              </a:ext>
            </a:extLst>
          </p:cNvPr>
          <p:cNvCxnSpPr>
            <a:cxnSpLocks/>
          </p:cNvCxnSpPr>
          <p:nvPr/>
        </p:nvCxnSpPr>
        <p:spPr>
          <a:xfrm>
            <a:off x="3267867" y="1760539"/>
            <a:ext cx="0" cy="403225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6F17422-4406-FC0D-50DF-6C3858682484}"/>
              </a:ext>
            </a:extLst>
          </p:cNvPr>
          <p:cNvCxnSpPr>
            <a:cxnSpLocks/>
          </p:cNvCxnSpPr>
          <p:nvPr/>
        </p:nvCxnSpPr>
        <p:spPr>
          <a:xfrm>
            <a:off x="6096000" y="1760539"/>
            <a:ext cx="0" cy="403225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9A96854E-56AB-AB55-1964-D36BB0A1E8ED}"/>
              </a:ext>
            </a:extLst>
          </p:cNvPr>
          <p:cNvSpPr/>
          <p:nvPr/>
        </p:nvSpPr>
        <p:spPr>
          <a:xfrm>
            <a:off x="3415903" y="2767013"/>
            <a:ext cx="2532062" cy="18351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Digital Clients in MM </a:t>
            </a:r>
            <a:r>
              <a:rPr lang="en-US" sz="1001" b="1" baseline="30000">
                <a:solidFill>
                  <a:schemeClr val="tx1"/>
                </a:solidFill>
              </a:rPr>
              <a:t>1</a:t>
            </a:r>
          </a:p>
        </p:txBody>
      </p:sp>
      <p:sp>
        <p:nvSpPr>
          <p:cNvPr id="23" name="Rectangle 22">
            <a:extLst>
              <a:ext uri="{FF2B5EF4-FFF2-40B4-BE49-F238E27FC236}">
                <a16:creationId xmlns:a16="http://schemas.microsoft.com/office/drawing/2014/main" id="{40092256-A3C8-D860-851C-CD0F2B5DFE11}"/>
              </a:ext>
            </a:extLst>
          </p:cNvPr>
          <p:cNvSpPr/>
          <p:nvPr/>
        </p:nvSpPr>
        <p:spPr>
          <a:xfrm>
            <a:off x="515938" y="4745040"/>
            <a:ext cx="2675723" cy="10477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marL="171453" indent="-171453">
              <a:buFont typeface="Arial" panose="020B0604020202020204" pitchFamily="34" charset="0"/>
              <a:buChar char="•"/>
            </a:pPr>
            <a:r>
              <a:rPr lang="en-US" sz="1001" b="1">
                <a:solidFill>
                  <a:schemeClr val="tx1"/>
                </a:solidFill>
              </a:rPr>
              <a:t>1.5M </a:t>
            </a:r>
            <a:r>
              <a:rPr lang="en-US" sz="1001">
                <a:solidFill>
                  <a:schemeClr val="tx1"/>
                </a:solidFill>
              </a:rPr>
              <a:t>of new young adults per year</a:t>
            </a:r>
          </a:p>
          <a:p>
            <a:pPr marL="171453" indent="-171453">
              <a:buFont typeface="Arial" panose="020B0604020202020204" pitchFamily="34" charset="0"/>
              <a:buChar char="•"/>
            </a:pPr>
            <a:r>
              <a:rPr lang="en-US" sz="1001" b="1">
                <a:solidFill>
                  <a:schemeClr val="tx1"/>
                </a:solidFill>
              </a:rPr>
              <a:t>~44 BNS avg age </a:t>
            </a:r>
            <a:r>
              <a:rPr lang="en-US" sz="1001">
                <a:solidFill>
                  <a:schemeClr val="tx1"/>
                </a:solidFill>
              </a:rPr>
              <a:t>vs Mexico’s ~30</a:t>
            </a:r>
          </a:p>
          <a:p>
            <a:pPr marL="171453" indent="-171453">
              <a:buFont typeface="Arial" panose="020B0604020202020204" pitchFamily="34" charset="0"/>
              <a:buChar char="•"/>
            </a:pPr>
            <a:r>
              <a:rPr lang="en-US" sz="1001" b="1">
                <a:solidFill>
                  <a:schemeClr val="tx1"/>
                </a:solidFill>
              </a:rPr>
              <a:t>65% </a:t>
            </a:r>
            <a:r>
              <a:rPr lang="en-US" sz="1001">
                <a:solidFill>
                  <a:schemeClr val="tx1"/>
                </a:solidFill>
              </a:rPr>
              <a:t>adults with savings accounts, 39% with formal credit</a:t>
            </a:r>
          </a:p>
          <a:p>
            <a:pPr marL="171453" indent="-171453">
              <a:buFont typeface="Arial" panose="020B0604020202020204" pitchFamily="34" charset="0"/>
              <a:buChar char="•"/>
            </a:pPr>
            <a:r>
              <a:rPr lang="en-US" sz="1001" b="1">
                <a:solidFill>
                  <a:schemeClr val="tx1"/>
                </a:solidFill>
              </a:rPr>
              <a:t>~85% </a:t>
            </a:r>
            <a:r>
              <a:rPr lang="en-US" sz="1001">
                <a:solidFill>
                  <a:schemeClr val="tx1"/>
                </a:solidFill>
              </a:rPr>
              <a:t>of adult population owns a smartphone</a:t>
            </a:r>
          </a:p>
        </p:txBody>
      </p:sp>
      <p:sp>
        <p:nvSpPr>
          <p:cNvPr id="24" name="Rectangle 23">
            <a:extLst>
              <a:ext uri="{FF2B5EF4-FFF2-40B4-BE49-F238E27FC236}">
                <a16:creationId xmlns:a16="http://schemas.microsoft.com/office/drawing/2014/main" id="{6C1E3496-E608-FBCE-2637-C5D810D0A66B}"/>
              </a:ext>
            </a:extLst>
          </p:cNvPr>
          <p:cNvSpPr/>
          <p:nvPr/>
        </p:nvSpPr>
        <p:spPr>
          <a:xfrm>
            <a:off x="3344071" y="4745040"/>
            <a:ext cx="2675723" cy="10477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marL="171453" indent="-171453">
              <a:buFont typeface="Arial" panose="020B0604020202020204" pitchFamily="34" charset="0"/>
              <a:buChar char="•"/>
            </a:pPr>
            <a:r>
              <a:rPr lang="en-US" sz="1001" b="1">
                <a:solidFill>
                  <a:schemeClr val="tx1"/>
                </a:solidFill>
              </a:rPr>
              <a:t>~1,000 </a:t>
            </a:r>
            <a:r>
              <a:rPr lang="en-US" sz="1001">
                <a:solidFill>
                  <a:schemeClr val="tx1"/>
                </a:solidFill>
              </a:rPr>
              <a:t>fintech's with ~80MM users</a:t>
            </a:r>
            <a:endParaRPr lang="en-US" sz="1001" baseline="30000">
              <a:solidFill>
                <a:schemeClr val="tx1"/>
              </a:solidFill>
            </a:endParaRPr>
          </a:p>
          <a:p>
            <a:pPr marL="171453" indent="-171453">
              <a:buFont typeface="Arial" panose="020B0604020202020204" pitchFamily="34" charset="0"/>
              <a:buChar char="•"/>
            </a:pPr>
            <a:r>
              <a:rPr lang="en-US" sz="1001" b="1">
                <a:solidFill>
                  <a:schemeClr val="tx1"/>
                </a:solidFill>
              </a:rPr>
              <a:t>14MM </a:t>
            </a:r>
            <a:r>
              <a:rPr lang="en-US" sz="1001">
                <a:solidFill>
                  <a:schemeClr val="tx1"/>
                </a:solidFill>
              </a:rPr>
              <a:t>App downloads/Q, SBM share: 1%</a:t>
            </a:r>
          </a:p>
          <a:p>
            <a:pPr marL="171453" indent="-171453">
              <a:buFont typeface="Arial" panose="020B0604020202020204" pitchFamily="34" charset="0"/>
              <a:buChar char="•"/>
            </a:pPr>
            <a:r>
              <a:rPr lang="en-US" sz="1001" b="1">
                <a:solidFill>
                  <a:schemeClr val="tx1"/>
                </a:solidFill>
              </a:rPr>
              <a:t>50% </a:t>
            </a:r>
            <a:r>
              <a:rPr lang="en-US" sz="1001">
                <a:solidFill>
                  <a:schemeClr val="tx1"/>
                </a:solidFill>
              </a:rPr>
              <a:t>of clients are willing to switch for better digital services</a:t>
            </a:r>
          </a:p>
        </p:txBody>
      </p:sp>
      <p:grpSp>
        <p:nvGrpSpPr>
          <p:cNvPr id="11" name="Group 10">
            <a:extLst>
              <a:ext uri="{FF2B5EF4-FFF2-40B4-BE49-F238E27FC236}">
                <a16:creationId xmlns:a16="http://schemas.microsoft.com/office/drawing/2014/main" id="{B7028E86-2D54-13BA-2857-2FC8BA239A12}"/>
              </a:ext>
            </a:extLst>
          </p:cNvPr>
          <p:cNvGrpSpPr/>
          <p:nvPr/>
        </p:nvGrpSpPr>
        <p:grpSpPr>
          <a:xfrm>
            <a:off x="9000339" y="1633540"/>
            <a:ext cx="2675724" cy="4570412"/>
            <a:chOff x="6172204" y="1525118"/>
            <a:chExt cx="2675724" cy="4570881"/>
          </a:xfrm>
        </p:grpSpPr>
        <p:sp>
          <p:nvSpPr>
            <p:cNvPr id="17" name="Rectangle 16">
              <a:extLst>
                <a:ext uri="{FF2B5EF4-FFF2-40B4-BE49-F238E27FC236}">
                  <a16:creationId xmlns:a16="http://schemas.microsoft.com/office/drawing/2014/main" id="{0EF1345B-3FD3-1D38-8698-B0A2EFF084E4}"/>
                </a:ext>
              </a:extLst>
            </p:cNvPr>
            <p:cNvSpPr/>
            <p:nvPr/>
          </p:nvSpPr>
          <p:spPr>
            <a:xfrm>
              <a:off x="6172204" y="1525118"/>
              <a:ext cx="2675724" cy="45708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90000" rIns="46800" bIns="0" rtlCol="0" anchor="t" anchorCtr="0"/>
            <a:lstStyle/>
            <a:p>
              <a:pPr algn="ctr"/>
              <a:r>
                <a:rPr lang="en-US" sz="1001" b="1" spc="201">
                  <a:solidFill>
                    <a:schemeClr val="tx1"/>
                  </a:solidFill>
                </a:rPr>
                <a:t>BRAND EQUITY TOP OF MIND</a:t>
              </a:r>
            </a:p>
            <a:p>
              <a:pPr algn="ctr"/>
              <a:endParaRPr lang="en-US" sz="1001" b="1" spc="201">
                <a:solidFill>
                  <a:schemeClr val="tx1"/>
                </a:solidFill>
              </a:endParaRPr>
            </a:p>
            <a:p>
              <a:pPr algn="ctr"/>
              <a:r>
                <a:rPr lang="en-US" sz="1001">
                  <a:solidFill>
                    <a:schemeClr val="tx1"/>
                  </a:solidFill>
                </a:rPr>
                <a:t>Low visibility among young cohorts and gaps in client experience reduce consideration and weaken brand equity</a:t>
              </a:r>
            </a:p>
          </p:txBody>
        </p:sp>
        <p:sp>
          <p:nvSpPr>
            <p:cNvPr id="19" name="Rectangle 18">
              <a:extLst>
                <a:ext uri="{FF2B5EF4-FFF2-40B4-BE49-F238E27FC236}">
                  <a16:creationId xmlns:a16="http://schemas.microsoft.com/office/drawing/2014/main" id="{ADF0C12A-6705-2382-9831-6C8E6A94E49A}"/>
                </a:ext>
              </a:extLst>
            </p:cNvPr>
            <p:cNvSpPr/>
            <p:nvPr/>
          </p:nvSpPr>
          <p:spPr>
            <a:xfrm>
              <a:off x="6244035" y="2659063"/>
              <a:ext cx="2532062" cy="183453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r>
                <a:rPr lang="en-US" sz="1001" b="1">
                  <a:solidFill>
                    <a:schemeClr val="tx1"/>
                  </a:solidFill>
                </a:rPr>
                <a:t>Brand Awareness</a:t>
              </a:r>
            </a:p>
          </p:txBody>
        </p:sp>
        <p:sp>
          <p:nvSpPr>
            <p:cNvPr id="25" name="Rectangle 24">
              <a:extLst>
                <a:ext uri="{FF2B5EF4-FFF2-40B4-BE49-F238E27FC236}">
                  <a16:creationId xmlns:a16="http://schemas.microsoft.com/office/drawing/2014/main" id="{8FB18F7B-F10A-E098-7626-750DC9022780}"/>
                </a:ext>
              </a:extLst>
            </p:cNvPr>
            <p:cNvSpPr/>
            <p:nvPr/>
          </p:nvSpPr>
          <p:spPr>
            <a:xfrm>
              <a:off x="6172205" y="4637088"/>
              <a:ext cx="2675723" cy="10477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marL="171453" indent="-171453">
                <a:buFont typeface="Arial" panose="020B0604020202020204" pitchFamily="34" charset="0"/>
                <a:buChar char="•"/>
              </a:pPr>
              <a:r>
                <a:rPr lang="en-US" sz="1001" b="1">
                  <a:solidFill>
                    <a:schemeClr val="tx1"/>
                  </a:solidFill>
                </a:rPr>
                <a:t>8% </a:t>
              </a:r>
              <a:r>
                <a:rPr lang="en-US" sz="1001">
                  <a:solidFill>
                    <a:schemeClr val="tx1"/>
                  </a:solidFill>
                </a:rPr>
                <a:t>brand recall being Mexico’s 6</a:t>
              </a:r>
              <a:r>
                <a:rPr lang="en-US" sz="1001" baseline="30000">
                  <a:solidFill>
                    <a:schemeClr val="tx1"/>
                  </a:solidFill>
                </a:rPr>
                <a:t>th</a:t>
              </a:r>
              <a:r>
                <a:rPr lang="en-US" sz="1001">
                  <a:solidFill>
                    <a:schemeClr val="tx1"/>
                  </a:solidFill>
                </a:rPr>
                <a:t> largest bank</a:t>
              </a:r>
            </a:p>
            <a:p>
              <a:pPr marL="171453" indent="-171453">
                <a:buFont typeface="Arial" panose="020B0604020202020204" pitchFamily="34" charset="0"/>
                <a:buChar char="•"/>
              </a:pPr>
              <a:r>
                <a:rPr lang="en-US" sz="1001" b="1">
                  <a:solidFill>
                    <a:schemeClr val="tx1"/>
                  </a:solidFill>
                </a:rPr>
                <a:t>6</a:t>
              </a:r>
              <a:r>
                <a:rPr lang="en-US" sz="1001" b="1" baseline="30000">
                  <a:solidFill>
                    <a:schemeClr val="tx1"/>
                  </a:solidFill>
                </a:rPr>
                <a:t>th</a:t>
              </a:r>
              <a:r>
                <a:rPr lang="en-US" sz="1001">
                  <a:solidFill>
                    <a:schemeClr val="tx1"/>
                  </a:solidFill>
                </a:rPr>
                <a:t> place in cross-sell penetration with 2.4 products vs 2.9 of peers</a:t>
              </a:r>
            </a:p>
            <a:p>
              <a:pPr marL="171453" indent="-171453">
                <a:buFont typeface="Arial" panose="020B0604020202020204" pitchFamily="34" charset="0"/>
                <a:buChar char="•"/>
              </a:pPr>
              <a:r>
                <a:rPr lang="en-US" sz="1001" b="1">
                  <a:solidFill>
                    <a:schemeClr val="tx1"/>
                  </a:solidFill>
                </a:rPr>
                <a:t>~65% </a:t>
              </a:r>
              <a:r>
                <a:rPr lang="en-US" sz="1001">
                  <a:solidFill>
                    <a:schemeClr val="tx1"/>
                  </a:solidFill>
                </a:rPr>
                <a:t>Mexicans recall for a fintech brand without a license</a:t>
              </a:r>
            </a:p>
          </p:txBody>
        </p:sp>
      </p:grpSp>
      <p:graphicFrame>
        <p:nvGraphicFramePr>
          <p:cNvPr id="5" name="Chart 4">
            <a:extLst>
              <a:ext uri="{FF2B5EF4-FFF2-40B4-BE49-F238E27FC236}">
                <a16:creationId xmlns:a16="http://schemas.microsoft.com/office/drawing/2014/main" id="{2096F847-0313-9797-BA98-9B0BE12732B5}"/>
              </a:ext>
            </a:extLst>
          </p:cNvPr>
          <p:cNvGraphicFramePr/>
          <p:nvPr>
            <p:custDataLst>
              <p:tags r:id="rId1"/>
            </p:custDataLst>
          </p:nvPr>
        </p:nvGraphicFramePr>
        <p:xfrm>
          <a:off x="622300" y="3046413"/>
          <a:ext cx="2508250" cy="1500187"/>
        </p:xfrm>
        <a:graphic>
          <a:graphicData uri="http://schemas.openxmlformats.org/drawingml/2006/chart">
            <c:chart xmlns:c="http://schemas.openxmlformats.org/drawingml/2006/chart" xmlns:r="http://schemas.openxmlformats.org/officeDocument/2006/relationships" r:id="rId31"/>
          </a:graphicData>
        </a:graphic>
      </p:graphicFrame>
      <p:sp>
        <p:nvSpPr>
          <p:cNvPr id="80" name="Text Placeholder 2">
            <a:extLst>
              <a:ext uri="{FF2B5EF4-FFF2-40B4-BE49-F238E27FC236}">
                <a16:creationId xmlns:a16="http://schemas.microsoft.com/office/drawing/2014/main" id="{7EC7EC0B-7F32-A765-05D0-68168DEF0115}"/>
              </a:ext>
            </a:extLst>
          </p:cNvPr>
          <p:cNvSpPr>
            <a:spLocks/>
          </p:cNvSpPr>
          <p:nvPr>
            <p:custDataLst>
              <p:tags r:id="rId2"/>
            </p:custDataLst>
          </p:nvPr>
        </p:nvSpPr>
        <p:spPr bwMode="auto">
          <a:xfrm>
            <a:off x="801687" y="4364039"/>
            <a:ext cx="2746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CFCDC7DF-BD5B-423B-94E2-A0AA75552642}" type="datetime'0''''''''''''''''''''''''-''1''''''''9'''''''''''''''''''">
              <a:rPr lang="en-US" sz="1001">
                <a:solidFill>
                  <a:srgbClr val="000000"/>
                </a:solidFill>
              </a:rPr>
              <a:pPr marL="0" indent="0" algn="ctr" defTabSz="914422">
                <a:spcBef>
                  <a:spcPct val="0"/>
                </a:spcBef>
                <a:spcAft>
                  <a:spcPct val="0"/>
                </a:spcAft>
                <a:buClr>
                  <a:srgbClr val="000000"/>
                </a:buClr>
                <a:buNone/>
                <a:defRPr/>
              </a:pPr>
              <a:t>0-19</a:t>
            </a:fld>
            <a:endParaRPr lang="en-US" sz="1001">
              <a:solidFill>
                <a:srgbClr val="000000"/>
              </a:solidFill>
            </a:endParaRPr>
          </a:p>
        </p:txBody>
      </p:sp>
      <p:sp>
        <p:nvSpPr>
          <p:cNvPr id="100" name="Text Placeholder 2">
            <a:extLst>
              <a:ext uri="{FF2B5EF4-FFF2-40B4-BE49-F238E27FC236}">
                <a16:creationId xmlns:a16="http://schemas.microsoft.com/office/drawing/2014/main" id="{9B4E1818-DB2E-58DD-3968-B987922F8865}"/>
              </a:ext>
            </a:extLst>
          </p:cNvPr>
          <p:cNvSpPr>
            <a:spLocks/>
          </p:cNvSpPr>
          <p:nvPr>
            <p:custDataLst>
              <p:tags r:id="rId3"/>
            </p:custDataLst>
          </p:nvPr>
        </p:nvSpPr>
        <p:spPr bwMode="auto">
          <a:xfrm>
            <a:off x="1223964" y="4364039"/>
            <a:ext cx="36671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8361844A-65FA-4F26-A054-A4125AB0321A}" type="datetime'''''''''''20''''''''''''''''''-''''''''''''''''3''''''''''9'''">
              <a:rPr lang="en-US" sz="1001" b="1">
                <a:solidFill>
                  <a:srgbClr val="000000"/>
                </a:solidFill>
              </a:rPr>
              <a:pPr marL="0" indent="0" algn="ctr" defTabSz="914422">
                <a:spcBef>
                  <a:spcPct val="0"/>
                </a:spcBef>
                <a:spcAft>
                  <a:spcPct val="0"/>
                </a:spcAft>
                <a:buClr>
                  <a:srgbClr val="000000"/>
                </a:buClr>
                <a:buNone/>
                <a:defRPr/>
              </a:pPr>
              <a:t>20-39</a:t>
            </a:fld>
            <a:endParaRPr lang="en-US" sz="1001" b="1">
              <a:solidFill>
                <a:srgbClr val="000000"/>
              </a:solidFill>
            </a:endParaRPr>
          </a:p>
        </p:txBody>
      </p:sp>
      <p:sp>
        <p:nvSpPr>
          <p:cNvPr id="103" name="Text Placeholder 2">
            <a:extLst>
              <a:ext uri="{FF2B5EF4-FFF2-40B4-BE49-F238E27FC236}">
                <a16:creationId xmlns:a16="http://schemas.microsoft.com/office/drawing/2014/main" id="{AE04F254-E30B-7372-A4FE-6D704F75E882}"/>
              </a:ext>
            </a:extLst>
          </p:cNvPr>
          <p:cNvSpPr>
            <a:spLocks/>
          </p:cNvSpPr>
          <p:nvPr>
            <p:custDataLst>
              <p:tags r:id="rId4"/>
            </p:custDataLst>
          </p:nvPr>
        </p:nvSpPr>
        <p:spPr bwMode="auto">
          <a:xfrm>
            <a:off x="1693863" y="4364039"/>
            <a:ext cx="36353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D2FBDD8-7D83-4767-AB0E-FC28E640EDDC}" type="datetime'''''''''''''''''4''''0''''''''-''5''''''''''9'">
              <a:rPr lang="en-US" sz="1001">
                <a:solidFill>
                  <a:srgbClr val="000000"/>
                </a:solidFill>
              </a:rPr>
              <a:pPr marL="0" indent="0" algn="ctr" defTabSz="914422">
                <a:spcBef>
                  <a:spcPct val="0"/>
                </a:spcBef>
                <a:spcAft>
                  <a:spcPct val="0"/>
                </a:spcAft>
                <a:buClr>
                  <a:srgbClr val="000000"/>
                </a:buClr>
                <a:buNone/>
                <a:defRPr/>
              </a:pPr>
              <a:t>40-59</a:t>
            </a:fld>
            <a:endParaRPr lang="en-US" sz="1001">
              <a:solidFill>
                <a:srgbClr val="000000"/>
              </a:solidFill>
            </a:endParaRPr>
          </a:p>
        </p:txBody>
      </p:sp>
      <p:sp>
        <p:nvSpPr>
          <p:cNvPr id="106" name="Text Placeholder 2">
            <a:extLst>
              <a:ext uri="{FF2B5EF4-FFF2-40B4-BE49-F238E27FC236}">
                <a16:creationId xmlns:a16="http://schemas.microsoft.com/office/drawing/2014/main" id="{38480DC7-64B0-1B2A-1B66-54742BAC0FDC}"/>
              </a:ext>
            </a:extLst>
          </p:cNvPr>
          <p:cNvSpPr>
            <a:spLocks/>
          </p:cNvSpPr>
          <p:nvPr>
            <p:custDataLst>
              <p:tags r:id="rId5"/>
            </p:custDataLst>
          </p:nvPr>
        </p:nvSpPr>
        <p:spPr bwMode="auto">
          <a:xfrm>
            <a:off x="2160590" y="4364039"/>
            <a:ext cx="3683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A7BC0AF2-4694-49F6-BC38-5F1771ED67AD}" type="datetime'''''''6''''''''''''''''''''''''''''0''''-''7''''''''''9'''''">
              <a:rPr lang="en-US" sz="1001">
                <a:solidFill>
                  <a:srgbClr val="000000"/>
                </a:solidFill>
              </a:rPr>
              <a:pPr marL="0" indent="0" algn="ctr" defTabSz="914422">
                <a:spcBef>
                  <a:spcPct val="0"/>
                </a:spcBef>
                <a:spcAft>
                  <a:spcPct val="0"/>
                </a:spcAft>
                <a:buClr>
                  <a:srgbClr val="000000"/>
                </a:buClr>
                <a:buNone/>
                <a:defRPr/>
              </a:pPr>
              <a:t>60-79</a:t>
            </a:fld>
            <a:endParaRPr lang="en-US" sz="1001">
              <a:solidFill>
                <a:srgbClr val="000000"/>
              </a:solidFill>
            </a:endParaRPr>
          </a:p>
        </p:txBody>
      </p:sp>
      <p:sp>
        <p:nvSpPr>
          <p:cNvPr id="109" name="Text Placeholder 2">
            <a:extLst>
              <a:ext uri="{FF2B5EF4-FFF2-40B4-BE49-F238E27FC236}">
                <a16:creationId xmlns:a16="http://schemas.microsoft.com/office/drawing/2014/main" id="{26276E36-F973-FA7D-FC8A-63B12EF37284}"/>
              </a:ext>
            </a:extLst>
          </p:cNvPr>
          <p:cNvSpPr>
            <a:spLocks/>
          </p:cNvSpPr>
          <p:nvPr>
            <p:custDataLst>
              <p:tags r:id="rId6"/>
            </p:custDataLst>
          </p:nvPr>
        </p:nvSpPr>
        <p:spPr bwMode="auto">
          <a:xfrm>
            <a:off x="2692401" y="4364039"/>
            <a:ext cx="242889"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57890511-F3F3-43B4-AD05-3A8D8902299E}" type="datetime'''''''8''''''''''''''0''''''''''''''''''''''''+'''''''">
              <a:rPr lang="en-US" sz="1001">
                <a:solidFill>
                  <a:srgbClr val="000000"/>
                </a:solidFill>
              </a:rPr>
              <a:pPr marL="0" indent="0" algn="ctr" defTabSz="914422">
                <a:spcBef>
                  <a:spcPct val="0"/>
                </a:spcBef>
                <a:spcAft>
                  <a:spcPct val="0"/>
                </a:spcAft>
                <a:buClr>
                  <a:srgbClr val="000000"/>
                </a:buClr>
                <a:buNone/>
                <a:defRPr/>
              </a:pPr>
              <a:t>80+</a:t>
            </a:fld>
            <a:endParaRPr lang="en-US" sz="1001">
              <a:solidFill>
                <a:srgbClr val="000000"/>
              </a:solidFill>
            </a:endParaRPr>
          </a:p>
        </p:txBody>
      </p:sp>
      <p:sp>
        <p:nvSpPr>
          <p:cNvPr id="138" name="Rectangle 137">
            <a:extLst>
              <a:ext uri="{FF2B5EF4-FFF2-40B4-BE49-F238E27FC236}">
                <a16:creationId xmlns:a16="http://schemas.microsoft.com/office/drawing/2014/main" id="{1B2E7E45-81D6-D6C6-0F3F-15538D87A89A}"/>
              </a:ext>
            </a:extLst>
          </p:cNvPr>
          <p:cNvSpPr/>
          <p:nvPr/>
        </p:nvSpPr>
        <p:spPr>
          <a:xfrm>
            <a:off x="3498936" y="3240089"/>
            <a:ext cx="2365996" cy="22066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a:solidFill>
                  <a:schemeClr val="tx1"/>
                </a:solidFill>
              </a:rPr>
              <a:t>BBVA</a:t>
            </a:r>
          </a:p>
        </p:txBody>
      </p:sp>
      <p:sp>
        <p:nvSpPr>
          <p:cNvPr id="139" name="Rectangle 138">
            <a:extLst>
              <a:ext uri="{FF2B5EF4-FFF2-40B4-BE49-F238E27FC236}">
                <a16:creationId xmlns:a16="http://schemas.microsoft.com/office/drawing/2014/main" id="{73793378-AB3F-1DEF-9189-2955226902B2}"/>
              </a:ext>
            </a:extLst>
          </p:cNvPr>
          <p:cNvSpPr/>
          <p:nvPr/>
        </p:nvSpPr>
        <p:spPr>
          <a:xfrm>
            <a:off x="3498936" y="3505202"/>
            <a:ext cx="2365996" cy="22066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a:solidFill>
                  <a:schemeClr val="tx1"/>
                </a:solidFill>
              </a:rPr>
              <a:t>Mercado Pago</a:t>
            </a:r>
          </a:p>
        </p:txBody>
      </p:sp>
      <p:sp>
        <p:nvSpPr>
          <p:cNvPr id="140" name="Rectangle 139">
            <a:extLst>
              <a:ext uri="{FF2B5EF4-FFF2-40B4-BE49-F238E27FC236}">
                <a16:creationId xmlns:a16="http://schemas.microsoft.com/office/drawing/2014/main" id="{C446649D-9959-4DAA-2CB5-0529C43A3BA7}"/>
              </a:ext>
            </a:extLst>
          </p:cNvPr>
          <p:cNvSpPr/>
          <p:nvPr/>
        </p:nvSpPr>
        <p:spPr>
          <a:xfrm>
            <a:off x="3498936" y="3771902"/>
            <a:ext cx="2365996" cy="22066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a:solidFill>
                  <a:schemeClr val="tx1"/>
                </a:solidFill>
              </a:rPr>
              <a:t>Santander</a:t>
            </a:r>
          </a:p>
        </p:txBody>
      </p:sp>
      <p:sp>
        <p:nvSpPr>
          <p:cNvPr id="141" name="Rectangle 140">
            <a:extLst>
              <a:ext uri="{FF2B5EF4-FFF2-40B4-BE49-F238E27FC236}">
                <a16:creationId xmlns:a16="http://schemas.microsoft.com/office/drawing/2014/main" id="{091949BD-D081-F874-7EBE-CFB6DD9CCD05}"/>
              </a:ext>
            </a:extLst>
          </p:cNvPr>
          <p:cNvSpPr/>
          <p:nvPr/>
        </p:nvSpPr>
        <p:spPr>
          <a:xfrm>
            <a:off x="3498936" y="4038601"/>
            <a:ext cx="2365996" cy="22066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a:solidFill>
                  <a:schemeClr val="tx1"/>
                </a:solidFill>
              </a:rPr>
              <a:t>Nubank</a:t>
            </a:r>
          </a:p>
        </p:txBody>
      </p:sp>
      <p:sp>
        <p:nvSpPr>
          <p:cNvPr id="142" name="Rectangle 141">
            <a:extLst>
              <a:ext uri="{FF2B5EF4-FFF2-40B4-BE49-F238E27FC236}">
                <a16:creationId xmlns:a16="http://schemas.microsoft.com/office/drawing/2014/main" id="{702095E7-79F8-DB6E-583C-2CF1B44116BF}"/>
              </a:ext>
            </a:extLst>
          </p:cNvPr>
          <p:cNvSpPr/>
          <p:nvPr/>
        </p:nvSpPr>
        <p:spPr>
          <a:xfrm>
            <a:off x="3498936" y="4305301"/>
            <a:ext cx="2365996" cy="220663"/>
          </a:xfrm>
          <a:prstGeom prst="rect">
            <a:avLst/>
          </a:prstGeom>
          <a:solidFill>
            <a:srgbClr val="E1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b="1">
                <a:solidFill>
                  <a:schemeClr val="bg1"/>
                </a:solidFill>
              </a:rPr>
              <a:t>Scotiabank</a:t>
            </a:r>
          </a:p>
        </p:txBody>
      </p:sp>
      <p:sp>
        <p:nvSpPr>
          <p:cNvPr id="155" name="Rectangle 154">
            <a:extLst>
              <a:ext uri="{FF2B5EF4-FFF2-40B4-BE49-F238E27FC236}">
                <a16:creationId xmlns:a16="http://schemas.microsoft.com/office/drawing/2014/main" id="{115961C6-53EC-731A-2AB3-235C142A6D9E}"/>
              </a:ext>
            </a:extLst>
          </p:cNvPr>
          <p:cNvSpPr/>
          <p:nvPr/>
        </p:nvSpPr>
        <p:spPr>
          <a:xfrm>
            <a:off x="4547719" y="3059115"/>
            <a:ext cx="516156" cy="149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2021</a:t>
            </a:r>
          </a:p>
        </p:txBody>
      </p:sp>
      <p:sp>
        <p:nvSpPr>
          <p:cNvPr id="158" name="Rectangle 157">
            <a:extLst>
              <a:ext uri="{FF2B5EF4-FFF2-40B4-BE49-F238E27FC236}">
                <a16:creationId xmlns:a16="http://schemas.microsoft.com/office/drawing/2014/main" id="{4CB3D0BC-D8E7-5578-36FE-3A31CF917352}"/>
              </a:ext>
            </a:extLst>
          </p:cNvPr>
          <p:cNvSpPr/>
          <p:nvPr/>
        </p:nvSpPr>
        <p:spPr>
          <a:xfrm>
            <a:off x="5226866" y="3059115"/>
            <a:ext cx="516156" cy="149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2025</a:t>
            </a:r>
          </a:p>
        </p:txBody>
      </p:sp>
      <p:sp>
        <p:nvSpPr>
          <p:cNvPr id="159" name="Rectangle 158">
            <a:extLst>
              <a:ext uri="{FF2B5EF4-FFF2-40B4-BE49-F238E27FC236}">
                <a16:creationId xmlns:a16="http://schemas.microsoft.com/office/drawing/2014/main" id="{AA86644A-1809-B771-9388-F15ACDC13669}"/>
              </a:ext>
            </a:extLst>
          </p:cNvPr>
          <p:cNvSpPr/>
          <p:nvPr/>
        </p:nvSpPr>
        <p:spPr>
          <a:xfrm>
            <a:off x="4547719" y="3541714"/>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2.0</a:t>
            </a:r>
          </a:p>
        </p:txBody>
      </p:sp>
      <p:sp>
        <p:nvSpPr>
          <p:cNvPr id="385" name="Rectangle 384">
            <a:extLst>
              <a:ext uri="{FF2B5EF4-FFF2-40B4-BE49-F238E27FC236}">
                <a16:creationId xmlns:a16="http://schemas.microsoft.com/office/drawing/2014/main" id="{0100732B-0023-88AC-2F98-743011D7F565}"/>
              </a:ext>
            </a:extLst>
          </p:cNvPr>
          <p:cNvSpPr/>
          <p:nvPr/>
        </p:nvSpPr>
        <p:spPr>
          <a:xfrm>
            <a:off x="5226866" y="3541714"/>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12.0</a:t>
            </a:r>
          </a:p>
        </p:txBody>
      </p:sp>
      <p:sp>
        <p:nvSpPr>
          <p:cNvPr id="389" name="Rectangle 388">
            <a:extLst>
              <a:ext uri="{FF2B5EF4-FFF2-40B4-BE49-F238E27FC236}">
                <a16:creationId xmlns:a16="http://schemas.microsoft.com/office/drawing/2014/main" id="{69914B4D-223C-B72C-E947-F44084E7241E}"/>
              </a:ext>
            </a:extLst>
          </p:cNvPr>
          <p:cNvSpPr/>
          <p:nvPr/>
        </p:nvSpPr>
        <p:spPr>
          <a:xfrm>
            <a:off x="4547719" y="3808414"/>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5.4</a:t>
            </a:r>
          </a:p>
        </p:txBody>
      </p:sp>
      <p:sp>
        <p:nvSpPr>
          <p:cNvPr id="391" name="Rectangle 390">
            <a:extLst>
              <a:ext uri="{FF2B5EF4-FFF2-40B4-BE49-F238E27FC236}">
                <a16:creationId xmlns:a16="http://schemas.microsoft.com/office/drawing/2014/main" id="{2D238118-7124-568C-0435-BF0040912210}"/>
              </a:ext>
            </a:extLst>
          </p:cNvPr>
          <p:cNvSpPr/>
          <p:nvPr/>
        </p:nvSpPr>
        <p:spPr>
          <a:xfrm>
            <a:off x="5226866" y="3808414"/>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8.5</a:t>
            </a:r>
          </a:p>
        </p:txBody>
      </p:sp>
      <p:sp>
        <p:nvSpPr>
          <p:cNvPr id="393" name="Rectangle 392">
            <a:extLst>
              <a:ext uri="{FF2B5EF4-FFF2-40B4-BE49-F238E27FC236}">
                <a16:creationId xmlns:a16="http://schemas.microsoft.com/office/drawing/2014/main" id="{1D885153-60EF-F7CC-C59B-318F83C88084}"/>
              </a:ext>
            </a:extLst>
          </p:cNvPr>
          <p:cNvSpPr/>
          <p:nvPr/>
        </p:nvSpPr>
        <p:spPr>
          <a:xfrm>
            <a:off x="4547719" y="4075115"/>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1.4</a:t>
            </a:r>
          </a:p>
        </p:txBody>
      </p:sp>
      <p:sp>
        <p:nvSpPr>
          <p:cNvPr id="395" name="Rectangle 394">
            <a:extLst>
              <a:ext uri="{FF2B5EF4-FFF2-40B4-BE49-F238E27FC236}">
                <a16:creationId xmlns:a16="http://schemas.microsoft.com/office/drawing/2014/main" id="{91508440-F43A-E494-F25C-0C272E75D1CB}"/>
              </a:ext>
            </a:extLst>
          </p:cNvPr>
          <p:cNvSpPr/>
          <p:nvPr/>
        </p:nvSpPr>
        <p:spPr>
          <a:xfrm>
            <a:off x="5226866" y="4075115"/>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14.0</a:t>
            </a:r>
          </a:p>
        </p:txBody>
      </p:sp>
      <p:sp>
        <p:nvSpPr>
          <p:cNvPr id="397" name="Rectangle 396">
            <a:extLst>
              <a:ext uri="{FF2B5EF4-FFF2-40B4-BE49-F238E27FC236}">
                <a16:creationId xmlns:a16="http://schemas.microsoft.com/office/drawing/2014/main" id="{6CF99FC2-0D33-BB37-7ABF-6676CBCAC4BD}"/>
              </a:ext>
            </a:extLst>
          </p:cNvPr>
          <p:cNvSpPr/>
          <p:nvPr/>
        </p:nvSpPr>
        <p:spPr>
          <a:xfrm>
            <a:off x="4547719" y="4341815"/>
            <a:ext cx="516156" cy="149225"/>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b="1">
                <a:solidFill>
                  <a:schemeClr val="bg1"/>
                </a:solidFill>
              </a:rPr>
              <a:t>1.0</a:t>
            </a:r>
          </a:p>
        </p:txBody>
      </p:sp>
      <p:sp>
        <p:nvSpPr>
          <p:cNvPr id="399" name="Rectangle 398">
            <a:extLst>
              <a:ext uri="{FF2B5EF4-FFF2-40B4-BE49-F238E27FC236}">
                <a16:creationId xmlns:a16="http://schemas.microsoft.com/office/drawing/2014/main" id="{63AABB0C-9916-060B-BC79-479883008AD4}"/>
              </a:ext>
            </a:extLst>
          </p:cNvPr>
          <p:cNvSpPr/>
          <p:nvPr/>
        </p:nvSpPr>
        <p:spPr>
          <a:xfrm>
            <a:off x="5226866" y="4341815"/>
            <a:ext cx="516156" cy="149225"/>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b="1">
                <a:solidFill>
                  <a:schemeClr val="bg1"/>
                </a:solidFill>
              </a:rPr>
              <a:t>1.0</a:t>
            </a:r>
          </a:p>
        </p:txBody>
      </p:sp>
      <p:sp>
        <p:nvSpPr>
          <p:cNvPr id="401" name="Rectangle 400">
            <a:extLst>
              <a:ext uri="{FF2B5EF4-FFF2-40B4-BE49-F238E27FC236}">
                <a16:creationId xmlns:a16="http://schemas.microsoft.com/office/drawing/2014/main" id="{61A34042-E511-8FBE-4934-EDD492C6E302}"/>
              </a:ext>
            </a:extLst>
          </p:cNvPr>
          <p:cNvSpPr/>
          <p:nvPr/>
        </p:nvSpPr>
        <p:spPr>
          <a:xfrm>
            <a:off x="4547719" y="3275015"/>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15.1 </a:t>
            </a:r>
          </a:p>
        </p:txBody>
      </p:sp>
      <p:sp>
        <p:nvSpPr>
          <p:cNvPr id="403" name="Rectangle 402">
            <a:extLst>
              <a:ext uri="{FF2B5EF4-FFF2-40B4-BE49-F238E27FC236}">
                <a16:creationId xmlns:a16="http://schemas.microsoft.com/office/drawing/2014/main" id="{87EB330D-2876-EB58-27B7-F440B3AF848B}"/>
              </a:ext>
            </a:extLst>
          </p:cNvPr>
          <p:cNvSpPr/>
          <p:nvPr/>
        </p:nvSpPr>
        <p:spPr>
          <a:xfrm>
            <a:off x="5226866" y="3275015"/>
            <a:ext cx="516156" cy="149225"/>
          </a:xfrm>
          <a:prstGeom prst="rect">
            <a:avLst/>
          </a:prstGeom>
          <a:solidFill>
            <a:srgbClr val="BCB8A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US" sz="1001">
                <a:solidFill>
                  <a:schemeClr val="tx1"/>
                </a:solidFill>
              </a:rPr>
              <a:t>27.0</a:t>
            </a:r>
          </a:p>
        </p:txBody>
      </p:sp>
      <p:graphicFrame>
        <p:nvGraphicFramePr>
          <p:cNvPr id="27" name="Chart 26">
            <a:extLst>
              <a:ext uri="{FF2B5EF4-FFF2-40B4-BE49-F238E27FC236}">
                <a16:creationId xmlns:a16="http://schemas.microsoft.com/office/drawing/2014/main" id="{407D599A-3086-FDAD-3959-46BA9E57A992}"/>
              </a:ext>
            </a:extLst>
          </p:cNvPr>
          <p:cNvGraphicFramePr/>
          <p:nvPr>
            <p:custDataLst>
              <p:tags r:id="rId7"/>
            </p:custDataLst>
          </p:nvPr>
        </p:nvGraphicFramePr>
        <p:xfrm>
          <a:off x="9091613" y="3325813"/>
          <a:ext cx="2490787" cy="1077912"/>
        </p:xfrm>
        <a:graphic>
          <a:graphicData uri="http://schemas.openxmlformats.org/drawingml/2006/chart">
            <c:chart xmlns:c="http://schemas.openxmlformats.org/drawingml/2006/chart" xmlns:r="http://schemas.openxmlformats.org/officeDocument/2006/relationships" r:id="rId32"/>
          </a:graphicData>
        </a:graphic>
      </p:graphicFrame>
      <p:sp>
        <p:nvSpPr>
          <p:cNvPr id="405" name="Text Placeholder 2">
            <a:extLst>
              <a:ext uri="{FF2B5EF4-FFF2-40B4-BE49-F238E27FC236}">
                <a16:creationId xmlns:a16="http://schemas.microsoft.com/office/drawing/2014/main" id="{B2F6854A-19B6-E26A-C492-6E5B855EC9FD}"/>
              </a:ext>
            </a:extLst>
          </p:cNvPr>
          <p:cNvSpPr>
            <a:spLocks/>
          </p:cNvSpPr>
          <p:nvPr>
            <p:custDataLst>
              <p:tags r:id="rId8"/>
            </p:custDataLst>
          </p:nvPr>
        </p:nvSpPr>
        <p:spPr bwMode="auto">
          <a:xfrm>
            <a:off x="9239250" y="4364039"/>
            <a:ext cx="3333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42BA3EDC-2CBA-4FD9-99CC-F261AF5A73B0}" type="datetime'''''''''''B''''''B''''''''''''''''''V''''A'''">
              <a:rPr lang="en-US" sz="1001">
                <a:solidFill>
                  <a:srgbClr val="000000"/>
                </a:solidFill>
              </a:rPr>
              <a:pPr marL="0" indent="0" algn="ctr">
                <a:spcBef>
                  <a:spcPct val="0"/>
                </a:spcBef>
                <a:spcAft>
                  <a:spcPct val="0"/>
                </a:spcAft>
                <a:buClr>
                  <a:srgbClr val="000000"/>
                </a:buClr>
                <a:buNone/>
                <a:defRPr/>
              </a:pPr>
              <a:t>BBVA</a:t>
            </a:fld>
            <a:endParaRPr lang="en-US" sz="1001">
              <a:solidFill>
                <a:srgbClr val="000000"/>
              </a:solidFill>
            </a:endParaRPr>
          </a:p>
        </p:txBody>
      </p:sp>
      <p:sp>
        <p:nvSpPr>
          <p:cNvPr id="407" name="Text Placeholder 2">
            <a:extLst>
              <a:ext uri="{FF2B5EF4-FFF2-40B4-BE49-F238E27FC236}">
                <a16:creationId xmlns:a16="http://schemas.microsoft.com/office/drawing/2014/main" id="{801CD4CA-B3E5-E221-8FE1-9E76CB054DF9}"/>
              </a:ext>
            </a:extLst>
          </p:cNvPr>
          <p:cNvSpPr>
            <a:spLocks/>
          </p:cNvSpPr>
          <p:nvPr>
            <p:custDataLst>
              <p:tags r:id="rId9"/>
            </p:custDataLst>
          </p:nvPr>
        </p:nvSpPr>
        <p:spPr bwMode="auto">
          <a:xfrm>
            <a:off x="9609138" y="4364039"/>
            <a:ext cx="523875"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563EABC2-F5FC-4353-8740-9D0E8EA99F18}" type="datetime'S''''''a''''n''t''''''''''''''''a''''''''''''''nd''''.'''''''">
              <a:rPr lang="en-US" sz="1001">
                <a:solidFill>
                  <a:srgbClr val="000000"/>
                </a:solidFill>
              </a:rPr>
              <a:pPr marL="0" indent="0" algn="ctr">
                <a:spcBef>
                  <a:spcPct val="0"/>
                </a:spcBef>
                <a:spcAft>
                  <a:spcPct val="0"/>
                </a:spcAft>
                <a:buClr>
                  <a:srgbClr val="000000"/>
                </a:buClr>
                <a:buNone/>
                <a:defRPr/>
              </a:pPr>
              <a:t>Santand.</a:t>
            </a:fld>
            <a:endParaRPr lang="en-US" sz="1001">
              <a:solidFill>
                <a:srgbClr val="000000"/>
              </a:solidFill>
            </a:endParaRPr>
          </a:p>
        </p:txBody>
      </p:sp>
      <p:sp>
        <p:nvSpPr>
          <p:cNvPr id="408" name="Text Placeholder 2">
            <a:extLst>
              <a:ext uri="{FF2B5EF4-FFF2-40B4-BE49-F238E27FC236}">
                <a16:creationId xmlns:a16="http://schemas.microsoft.com/office/drawing/2014/main" id="{A55C729B-3A10-DF81-BFF0-EF0542435C8E}"/>
              </a:ext>
            </a:extLst>
          </p:cNvPr>
          <p:cNvSpPr>
            <a:spLocks/>
          </p:cNvSpPr>
          <p:nvPr>
            <p:custDataLst>
              <p:tags r:id="rId10"/>
            </p:custDataLst>
          </p:nvPr>
        </p:nvSpPr>
        <p:spPr bwMode="auto">
          <a:xfrm>
            <a:off x="10145713" y="4364039"/>
            <a:ext cx="3810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015CFA3-AE2C-482D-95D3-B1715ADB38BB}" type="datetime'B''''''a''''''''''''''n''o''''''r''''.'">
              <a:rPr lang="en-US" sz="1001">
                <a:solidFill>
                  <a:srgbClr val="000000"/>
                </a:solidFill>
              </a:rPr>
              <a:pPr marL="0" indent="0" algn="ctr">
                <a:spcBef>
                  <a:spcPct val="0"/>
                </a:spcBef>
                <a:spcAft>
                  <a:spcPct val="0"/>
                </a:spcAft>
                <a:buClr>
                  <a:srgbClr val="000000"/>
                </a:buClr>
                <a:buNone/>
                <a:defRPr/>
              </a:pPr>
              <a:t>Banor.</a:t>
            </a:fld>
            <a:endParaRPr lang="en-US" sz="1001">
              <a:solidFill>
                <a:srgbClr val="000000"/>
              </a:solidFill>
            </a:endParaRPr>
          </a:p>
        </p:txBody>
      </p:sp>
      <p:sp>
        <p:nvSpPr>
          <p:cNvPr id="409" name="Text Placeholder 2">
            <a:extLst>
              <a:ext uri="{FF2B5EF4-FFF2-40B4-BE49-F238E27FC236}">
                <a16:creationId xmlns:a16="http://schemas.microsoft.com/office/drawing/2014/main" id="{6B5BA813-6711-2444-7C4B-E63B7193FBDF}"/>
              </a:ext>
            </a:extLst>
          </p:cNvPr>
          <p:cNvSpPr>
            <a:spLocks/>
          </p:cNvSpPr>
          <p:nvPr>
            <p:custDataLst>
              <p:tags r:id="rId11"/>
            </p:custDataLst>
          </p:nvPr>
        </p:nvSpPr>
        <p:spPr bwMode="auto">
          <a:xfrm>
            <a:off x="10572750" y="4364039"/>
            <a:ext cx="4572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B3183A91-9646-4E16-AE3F-A8537A2BAD6B}" type="datetime'N''''''u''''''ba''''''''''n''''''''''''''''k'''''''''''">
              <a:rPr lang="en-US" sz="1001">
                <a:solidFill>
                  <a:srgbClr val="000000"/>
                </a:solidFill>
              </a:rPr>
              <a:pPr marL="0" indent="0" algn="ctr">
                <a:spcBef>
                  <a:spcPct val="0"/>
                </a:spcBef>
                <a:spcAft>
                  <a:spcPct val="0"/>
                </a:spcAft>
                <a:buClr>
                  <a:srgbClr val="000000"/>
                </a:buClr>
                <a:buNone/>
                <a:defRPr/>
              </a:pPr>
              <a:t>Nubank</a:t>
            </a:fld>
            <a:endParaRPr lang="en-US" sz="1001">
              <a:solidFill>
                <a:srgbClr val="000000"/>
              </a:solidFill>
            </a:endParaRPr>
          </a:p>
        </p:txBody>
      </p:sp>
      <p:sp>
        <p:nvSpPr>
          <p:cNvPr id="411" name="Text Placeholder 2">
            <a:extLst>
              <a:ext uri="{FF2B5EF4-FFF2-40B4-BE49-F238E27FC236}">
                <a16:creationId xmlns:a16="http://schemas.microsoft.com/office/drawing/2014/main" id="{D26600A5-8009-70A9-9C11-5E242BF97BA3}"/>
              </a:ext>
            </a:extLst>
          </p:cNvPr>
          <p:cNvSpPr>
            <a:spLocks/>
          </p:cNvSpPr>
          <p:nvPr>
            <p:custDataLst>
              <p:tags r:id="rId12"/>
            </p:custDataLst>
          </p:nvPr>
        </p:nvSpPr>
        <p:spPr bwMode="auto">
          <a:xfrm>
            <a:off x="11131550" y="4364039"/>
            <a:ext cx="271463"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AC00F7A2-A51F-44C3-8527-0BBDEFE70C70}" type="datetime'''''S''''''''''B''''M'''''''">
              <a:rPr lang="en-US" sz="1001" b="1">
                <a:solidFill>
                  <a:srgbClr val="000000"/>
                </a:solidFill>
              </a:rPr>
              <a:pPr marL="0" indent="0" algn="ctr">
                <a:spcBef>
                  <a:spcPct val="0"/>
                </a:spcBef>
                <a:spcAft>
                  <a:spcPct val="0"/>
                </a:spcAft>
                <a:buClr>
                  <a:srgbClr val="000000"/>
                </a:buClr>
                <a:buNone/>
                <a:defRPr/>
              </a:pPr>
              <a:t>SBM</a:t>
            </a:fld>
            <a:endParaRPr lang="en-US" sz="1001" b="1">
              <a:solidFill>
                <a:srgbClr val="000000"/>
              </a:solidFill>
            </a:endParaRPr>
          </a:p>
        </p:txBody>
      </p:sp>
      <p:sp>
        <p:nvSpPr>
          <p:cNvPr id="412" name="Text Placeholder 2">
            <a:extLst>
              <a:ext uri="{FF2B5EF4-FFF2-40B4-BE49-F238E27FC236}">
                <a16:creationId xmlns:a16="http://schemas.microsoft.com/office/drawing/2014/main" id="{EF3F1D61-5091-82E8-D0B7-C4ED66EE39F6}"/>
              </a:ext>
            </a:extLst>
          </p:cNvPr>
          <p:cNvSpPr>
            <a:spLocks/>
          </p:cNvSpPr>
          <p:nvPr>
            <p:custDataLst>
              <p:tags r:id="rId13"/>
            </p:custDataLst>
          </p:nvPr>
        </p:nvSpPr>
        <p:spPr bwMode="gray">
          <a:xfrm>
            <a:off x="9263063" y="3230564"/>
            <a:ext cx="2857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91D9D211-E57E-44D2-8837-535087BAE42F}" type="datetime'''''4''''''''''5''''''''''''''''''''%'''''''''''''''''''''''''">
              <a:rPr lang="en-US" sz="1001">
                <a:solidFill>
                  <a:srgbClr val="000000"/>
                </a:solidFill>
              </a:rPr>
              <a:pPr marL="0" indent="0" algn="ctr">
                <a:spcBef>
                  <a:spcPct val="0"/>
                </a:spcBef>
                <a:spcAft>
                  <a:spcPct val="0"/>
                </a:spcAft>
                <a:buClr>
                  <a:srgbClr val="000000"/>
                </a:buClr>
                <a:buNone/>
                <a:defRPr/>
              </a:pPr>
              <a:t>45%</a:t>
            </a:fld>
            <a:endParaRPr lang="en-US" sz="1001">
              <a:solidFill>
                <a:srgbClr val="000000"/>
              </a:solidFill>
            </a:endParaRPr>
          </a:p>
        </p:txBody>
      </p:sp>
      <p:sp>
        <p:nvSpPr>
          <p:cNvPr id="415" name="Text Placeholder 2">
            <a:extLst>
              <a:ext uri="{FF2B5EF4-FFF2-40B4-BE49-F238E27FC236}">
                <a16:creationId xmlns:a16="http://schemas.microsoft.com/office/drawing/2014/main" id="{FF4D5892-0AD7-6251-D716-ACCA5A87F680}"/>
              </a:ext>
            </a:extLst>
          </p:cNvPr>
          <p:cNvSpPr>
            <a:spLocks/>
          </p:cNvSpPr>
          <p:nvPr>
            <p:custDataLst>
              <p:tags r:id="rId14"/>
            </p:custDataLst>
          </p:nvPr>
        </p:nvSpPr>
        <p:spPr bwMode="gray">
          <a:xfrm>
            <a:off x="9725026" y="3535364"/>
            <a:ext cx="293688"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E3FDE0E3-8E3C-4A0E-BE17-F0E49CF75B76}" type="datetime'''''''''''3''''''''''''''''''''''''''''0''%'''''''''''''''">
              <a:rPr lang="en-US" sz="1001">
                <a:solidFill>
                  <a:srgbClr val="000000"/>
                </a:solidFill>
              </a:rPr>
              <a:pPr marL="0" indent="0" algn="ctr">
                <a:spcBef>
                  <a:spcPct val="0"/>
                </a:spcBef>
                <a:spcAft>
                  <a:spcPct val="0"/>
                </a:spcAft>
                <a:buClr>
                  <a:srgbClr val="000000"/>
                </a:buClr>
                <a:buNone/>
                <a:defRPr/>
              </a:pPr>
              <a:t>30%</a:t>
            </a:fld>
            <a:endParaRPr lang="en-US" sz="1001">
              <a:solidFill>
                <a:srgbClr val="000000"/>
              </a:solidFill>
            </a:endParaRPr>
          </a:p>
        </p:txBody>
      </p:sp>
      <p:sp>
        <p:nvSpPr>
          <p:cNvPr id="512" name="Text Placeholder 2">
            <a:extLst>
              <a:ext uri="{FF2B5EF4-FFF2-40B4-BE49-F238E27FC236}">
                <a16:creationId xmlns:a16="http://schemas.microsoft.com/office/drawing/2014/main" id="{B4124261-024B-CFC4-C9AA-B10D9DA00769}"/>
              </a:ext>
            </a:extLst>
          </p:cNvPr>
          <p:cNvSpPr>
            <a:spLocks/>
          </p:cNvSpPr>
          <p:nvPr>
            <p:custDataLst>
              <p:tags r:id="rId15"/>
            </p:custDataLst>
          </p:nvPr>
        </p:nvSpPr>
        <p:spPr bwMode="gray">
          <a:xfrm>
            <a:off x="10199688" y="3757614"/>
            <a:ext cx="2730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93FC50D-DD77-4585-A923-09B7F98BD42E}" type="datetime'1''''''9''''''''''''''''''''''''''''''%'">
              <a:rPr lang="en-US" sz="1001">
                <a:solidFill>
                  <a:srgbClr val="000000"/>
                </a:solidFill>
              </a:rPr>
              <a:pPr marL="0" indent="0" algn="ctr">
                <a:spcBef>
                  <a:spcPct val="0"/>
                </a:spcBef>
                <a:spcAft>
                  <a:spcPct val="0"/>
                </a:spcAft>
                <a:buClr>
                  <a:srgbClr val="000000"/>
                </a:buClr>
                <a:buNone/>
                <a:defRPr/>
              </a:pPr>
              <a:t>19%</a:t>
            </a:fld>
            <a:endParaRPr lang="en-US" sz="1001">
              <a:solidFill>
                <a:srgbClr val="000000"/>
              </a:solidFill>
            </a:endParaRPr>
          </a:p>
        </p:txBody>
      </p:sp>
      <p:sp>
        <p:nvSpPr>
          <p:cNvPr id="513" name="Text Placeholder 2">
            <a:extLst>
              <a:ext uri="{FF2B5EF4-FFF2-40B4-BE49-F238E27FC236}">
                <a16:creationId xmlns:a16="http://schemas.microsoft.com/office/drawing/2014/main" id="{31918FA9-B0B7-968D-AFFB-6CEDA48CB740}"/>
              </a:ext>
            </a:extLst>
          </p:cNvPr>
          <p:cNvSpPr>
            <a:spLocks/>
          </p:cNvSpPr>
          <p:nvPr>
            <p:custDataLst>
              <p:tags r:id="rId16"/>
            </p:custDataLst>
          </p:nvPr>
        </p:nvSpPr>
        <p:spPr bwMode="gray">
          <a:xfrm>
            <a:off x="10664825" y="3757614"/>
            <a:ext cx="2730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7DBE526A-38C9-4855-A767-E3F255627CD6}" type="datetime'19%'''''''''''''''''''''''''''''">
              <a:rPr lang="en-US" sz="1001">
                <a:solidFill>
                  <a:srgbClr val="000000"/>
                </a:solidFill>
              </a:rPr>
              <a:pPr marL="0" indent="0" algn="ctr">
                <a:spcBef>
                  <a:spcPct val="0"/>
                </a:spcBef>
                <a:spcAft>
                  <a:spcPct val="0"/>
                </a:spcAft>
                <a:buClr>
                  <a:srgbClr val="000000"/>
                </a:buClr>
                <a:buNone/>
                <a:defRPr/>
              </a:pPr>
              <a:t>19%</a:t>
            </a:fld>
            <a:endParaRPr lang="en-US" sz="1001">
              <a:solidFill>
                <a:srgbClr val="000000"/>
              </a:solidFill>
            </a:endParaRPr>
          </a:p>
        </p:txBody>
      </p:sp>
      <p:sp>
        <p:nvSpPr>
          <p:cNvPr id="515" name="Text Placeholder 2">
            <a:extLst>
              <a:ext uri="{FF2B5EF4-FFF2-40B4-BE49-F238E27FC236}">
                <a16:creationId xmlns:a16="http://schemas.microsoft.com/office/drawing/2014/main" id="{FF8B766E-D18A-E910-1AFE-9147E26FA9D8}"/>
              </a:ext>
            </a:extLst>
          </p:cNvPr>
          <p:cNvSpPr>
            <a:spLocks/>
          </p:cNvSpPr>
          <p:nvPr>
            <p:custDataLst>
              <p:tags r:id="rId17"/>
            </p:custDataLst>
          </p:nvPr>
        </p:nvSpPr>
        <p:spPr bwMode="gray">
          <a:xfrm>
            <a:off x="11156951" y="3981451"/>
            <a:ext cx="219076"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475948C-5BF4-4D03-B79C-94F9FE7F60A8}" type="datetime'''''''''''''''''''8''''''''''''''''''''''''''''''%'''''">
              <a:rPr lang="en-US" sz="1001" b="1">
                <a:solidFill>
                  <a:srgbClr val="000000"/>
                </a:solidFill>
              </a:rPr>
              <a:pPr marL="0" indent="0" algn="ctr">
                <a:spcBef>
                  <a:spcPct val="0"/>
                </a:spcBef>
                <a:spcAft>
                  <a:spcPct val="0"/>
                </a:spcAft>
                <a:buClr>
                  <a:srgbClr val="000000"/>
                </a:buClr>
                <a:buNone/>
                <a:defRPr/>
              </a:pPr>
              <a:t>8%</a:t>
            </a:fld>
            <a:endParaRPr lang="en-US" sz="1001" b="1">
              <a:solidFill>
                <a:srgbClr val="000000"/>
              </a:solidFill>
            </a:endParaRPr>
          </a:p>
        </p:txBody>
      </p:sp>
      <p:graphicFrame>
        <p:nvGraphicFramePr>
          <p:cNvPr id="32" name="Chart 31">
            <a:extLst>
              <a:ext uri="{FF2B5EF4-FFF2-40B4-BE49-F238E27FC236}">
                <a16:creationId xmlns:a16="http://schemas.microsoft.com/office/drawing/2014/main" id="{BD5710D2-EF07-D21F-A8E4-67294E8BF0FD}"/>
              </a:ext>
            </a:extLst>
          </p:cNvPr>
          <p:cNvGraphicFramePr/>
          <p:nvPr>
            <p:custDataLst>
              <p:tags r:id="rId18"/>
            </p:custDataLst>
          </p:nvPr>
        </p:nvGraphicFramePr>
        <p:xfrm>
          <a:off x="7127875" y="2913063"/>
          <a:ext cx="1920875" cy="1782762"/>
        </p:xfrm>
        <a:graphic>
          <a:graphicData uri="http://schemas.openxmlformats.org/drawingml/2006/chart">
            <c:chart xmlns:c="http://schemas.openxmlformats.org/drawingml/2006/chart" xmlns:r="http://schemas.openxmlformats.org/officeDocument/2006/relationships" r:id="rId33"/>
          </a:graphicData>
        </a:graphic>
      </p:graphicFrame>
      <p:sp>
        <p:nvSpPr>
          <p:cNvPr id="543" name="Text Placeholder 2">
            <a:extLst>
              <a:ext uri="{FF2B5EF4-FFF2-40B4-BE49-F238E27FC236}">
                <a16:creationId xmlns:a16="http://schemas.microsoft.com/office/drawing/2014/main" id="{FA8FB414-4BD1-5B7A-A934-BF131A0BD782}"/>
              </a:ext>
            </a:extLst>
          </p:cNvPr>
          <p:cNvSpPr>
            <a:spLocks/>
          </p:cNvSpPr>
          <p:nvPr>
            <p:custDataLst>
              <p:tags r:id="rId19"/>
            </p:custDataLst>
          </p:nvPr>
        </p:nvSpPr>
        <p:spPr bwMode="auto">
          <a:xfrm>
            <a:off x="6370639" y="3117853"/>
            <a:ext cx="56515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182E4EB3-6AF1-40E5-BF38-1E38939CF566}" type="datetime'''''''''''M''''''obil''e'' a''''p''''''''''''''''''''''p'''''">
              <a:rPr lang="en-US" sz="900">
                <a:solidFill>
                  <a:srgbClr val="000000"/>
                </a:solidFill>
              </a:rPr>
              <a:pPr marL="0" indent="0" defTabSz="914422">
                <a:spcBef>
                  <a:spcPct val="0"/>
                </a:spcBef>
                <a:spcAft>
                  <a:spcPct val="0"/>
                </a:spcAft>
                <a:buClr>
                  <a:srgbClr val="000000"/>
                </a:buClr>
                <a:buNone/>
                <a:defRPr/>
              </a:pPr>
              <a:t>Mobile app</a:t>
            </a:fld>
            <a:endParaRPr lang="en-US" sz="900">
              <a:solidFill>
                <a:srgbClr val="000000"/>
              </a:solidFill>
            </a:endParaRPr>
          </a:p>
        </p:txBody>
      </p:sp>
      <p:sp>
        <p:nvSpPr>
          <p:cNvPr id="544" name="Text Placeholder 2">
            <a:extLst>
              <a:ext uri="{FF2B5EF4-FFF2-40B4-BE49-F238E27FC236}">
                <a16:creationId xmlns:a16="http://schemas.microsoft.com/office/drawing/2014/main" id="{72CD6DF0-B02E-656A-5576-B9A90C7DAE7C}"/>
              </a:ext>
            </a:extLst>
          </p:cNvPr>
          <p:cNvSpPr>
            <a:spLocks/>
          </p:cNvSpPr>
          <p:nvPr>
            <p:custDataLst>
              <p:tags r:id="rId20"/>
            </p:custDataLst>
          </p:nvPr>
        </p:nvSpPr>
        <p:spPr bwMode="auto">
          <a:xfrm>
            <a:off x="6370639" y="3255965"/>
            <a:ext cx="92233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r>
              <a:rPr lang="en-US" sz="900">
                <a:solidFill>
                  <a:srgbClr val="000000"/>
                </a:solidFill>
              </a:rPr>
              <a:t>Ease of acc. Open.</a:t>
            </a:r>
          </a:p>
        </p:txBody>
      </p:sp>
      <p:sp>
        <p:nvSpPr>
          <p:cNvPr id="545" name="Text Placeholder 2">
            <a:extLst>
              <a:ext uri="{FF2B5EF4-FFF2-40B4-BE49-F238E27FC236}">
                <a16:creationId xmlns:a16="http://schemas.microsoft.com/office/drawing/2014/main" id="{362A3306-C55C-C1A1-F829-9F6A42A19A63}"/>
              </a:ext>
            </a:extLst>
          </p:cNvPr>
          <p:cNvSpPr>
            <a:spLocks/>
          </p:cNvSpPr>
          <p:nvPr>
            <p:custDataLst>
              <p:tags r:id="rId21"/>
            </p:custDataLst>
          </p:nvPr>
        </p:nvSpPr>
        <p:spPr bwMode="auto">
          <a:xfrm>
            <a:off x="6370638" y="3392489"/>
            <a:ext cx="803275"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D87B7C00-EE63-4F37-8E95-4AF7ED768276}" type="datetime'''O''''''''''''''n''line'''''''''' ''''''pl''atf''o''r''m'''''">
              <a:rPr lang="en-US" sz="900">
                <a:solidFill>
                  <a:srgbClr val="000000"/>
                </a:solidFill>
              </a:rPr>
              <a:pPr marL="0" indent="0" defTabSz="914422">
                <a:spcBef>
                  <a:spcPct val="0"/>
                </a:spcBef>
                <a:spcAft>
                  <a:spcPct val="0"/>
                </a:spcAft>
                <a:buClr>
                  <a:srgbClr val="000000"/>
                </a:buClr>
                <a:buNone/>
                <a:defRPr/>
              </a:pPr>
              <a:t>Online platform</a:t>
            </a:fld>
            <a:endParaRPr lang="en-US" sz="900">
              <a:solidFill>
                <a:srgbClr val="000000"/>
              </a:solidFill>
            </a:endParaRPr>
          </a:p>
        </p:txBody>
      </p:sp>
      <p:sp>
        <p:nvSpPr>
          <p:cNvPr id="546" name="Text Placeholder 2">
            <a:extLst>
              <a:ext uri="{FF2B5EF4-FFF2-40B4-BE49-F238E27FC236}">
                <a16:creationId xmlns:a16="http://schemas.microsoft.com/office/drawing/2014/main" id="{3EC8674E-C2D5-1398-2B7F-84E2BA6797F7}"/>
              </a:ext>
            </a:extLst>
          </p:cNvPr>
          <p:cNvSpPr>
            <a:spLocks/>
          </p:cNvSpPr>
          <p:nvPr>
            <p:custDataLst>
              <p:tags r:id="rId22"/>
            </p:custDataLst>
          </p:nvPr>
        </p:nvSpPr>
        <p:spPr bwMode="auto">
          <a:xfrm>
            <a:off x="6370638" y="3530601"/>
            <a:ext cx="893764"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r>
              <a:rPr lang="en-US" sz="900">
                <a:solidFill>
                  <a:srgbClr val="000000"/>
                </a:solidFill>
              </a:rPr>
              <a:t>Trust/Money safe</a:t>
            </a:r>
          </a:p>
        </p:txBody>
      </p:sp>
      <p:sp>
        <p:nvSpPr>
          <p:cNvPr id="547" name="Text Placeholder 2">
            <a:extLst>
              <a:ext uri="{FF2B5EF4-FFF2-40B4-BE49-F238E27FC236}">
                <a16:creationId xmlns:a16="http://schemas.microsoft.com/office/drawing/2014/main" id="{4DBBEB9C-2988-5A3F-C1C4-7514ECBDEDD5}"/>
              </a:ext>
            </a:extLst>
          </p:cNvPr>
          <p:cNvSpPr>
            <a:spLocks/>
          </p:cNvSpPr>
          <p:nvPr>
            <p:custDataLst>
              <p:tags r:id="rId23"/>
            </p:custDataLst>
          </p:nvPr>
        </p:nvSpPr>
        <p:spPr bwMode="auto">
          <a:xfrm>
            <a:off x="6370639" y="3667127"/>
            <a:ext cx="7254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8CF22163-C38D-4911-AD5F-DDC4B98AFFE0}" type="datetime'''''''''''ATM l''''o''''''c''''at''i''o''''''''''ns'''''">
              <a:rPr lang="en-US" sz="900">
                <a:solidFill>
                  <a:srgbClr val="000000"/>
                </a:solidFill>
              </a:rPr>
              <a:pPr marL="0" indent="0" defTabSz="914422">
                <a:spcBef>
                  <a:spcPct val="0"/>
                </a:spcBef>
                <a:spcAft>
                  <a:spcPct val="0"/>
                </a:spcAft>
                <a:buClr>
                  <a:srgbClr val="000000"/>
                </a:buClr>
                <a:buNone/>
                <a:defRPr/>
              </a:pPr>
              <a:t>ATM locations</a:t>
            </a:fld>
            <a:endParaRPr lang="en-US" sz="900">
              <a:solidFill>
                <a:srgbClr val="000000"/>
              </a:solidFill>
            </a:endParaRPr>
          </a:p>
        </p:txBody>
      </p:sp>
      <p:sp>
        <p:nvSpPr>
          <p:cNvPr id="548" name="Text Placeholder 2">
            <a:extLst>
              <a:ext uri="{FF2B5EF4-FFF2-40B4-BE49-F238E27FC236}">
                <a16:creationId xmlns:a16="http://schemas.microsoft.com/office/drawing/2014/main" id="{DF5416DA-4401-221C-510A-61DA6DD9E374}"/>
              </a:ext>
            </a:extLst>
          </p:cNvPr>
          <p:cNvSpPr>
            <a:spLocks/>
          </p:cNvSpPr>
          <p:nvPr>
            <p:custDataLst>
              <p:tags r:id="rId24"/>
            </p:custDataLst>
          </p:nvPr>
        </p:nvSpPr>
        <p:spPr bwMode="auto">
          <a:xfrm>
            <a:off x="6370639" y="3805239"/>
            <a:ext cx="1085851"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3BC6C010-24F2-4997-9284-0AA3DCA0EFB4}" type="datetime'Ea''sy'' ''''p''rod''u''c''t'' o''''ffe''''ri''n''''g'''''''">
              <a:rPr lang="en-US" sz="900">
                <a:solidFill>
                  <a:srgbClr val="000000"/>
                </a:solidFill>
              </a:rPr>
              <a:pPr marL="0" indent="0" defTabSz="914422">
                <a:spcBef>
                  <a:spcPct val="0"/>
                </a:spcBef>
                <a:spcAft>
                  <a:spcPct val="0"/>
                </a:spcAft>
                <a:buClr>
                  <a:srgbClr val="000000"/>
                </a:buClr>
                <a:buNone/>
                <a:defRPr/>
              </a:pPr>
              <a:t>Easy product offering</a:t>
            </a:fld>
            <a:endParaRPr lang="en-US" sz="900">
              <a:solidFill>
                <a:srgbClr val="000000"/>
              </a:solidFill>
            </a:endParaRPr>
          </a:p>
        </p:txBody>
      </p:sp>
      <p:sp>
        <p:nvSpPr>
          <p:cNvPr id="549" name="Text Placeholder 2">
            <a:extLst>
              <a:ext uri="{FF2B5EF4-FFF2-40B4-BE49-F238E27FC236}">
                <a16:creationId xmlns:a16="http://schemas.microsoft.com/office/drawing/2014/main" id="{32993EA2-0F04-9735-EFED-DAB0B34BB4CB}"/>
              </a:ext>
            </a:extLst>
          </p:cNvPr>
          <p:cNvSpPr>
            <a:spLocks/>
          </p:cNvSpPr>
          <p:nvPr>
            <p:custDataLst>
              <p:tags r:id="rId25"/>
            </p:custDataLst>
          </p:nvPr>
        </p:nvSpPr>
        <p:spPr bwMode="auto">
          <a:xfrm>
            <a:off x="6370639" y="3941766"/>
            <a:ext cx="844549"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7914E491-815F-4802-9537-C0A8E173CCE1}" type="datetime'Br''anch'''''''''''' ''loc''''ati''''on''''''''''''''s'">
              <a:rPr lang="en-US" sz="900">
                <a:solidFill>
                  <a:srgbClr val="000000"/>
                </a:solidFill>
              </a:rPr>
              <a:pPr marL="0" indent="0" defTabSz="914422">
                <a:spcBef>
                  <a:spcPct val="0"/>
                </a:spcBef>
                <a:spcAft>
                  <a:spcPct val="0"/>
                </a:spcAft>
                <a:buClr>
                  <a:srgbClr val="000000"/>
                </a:buClr>
                <a:buNone/>
                <a:defRPr/>
              </a:pPr>
              <a:t>Branch locations</a:t>
            </a:fld>
            <a:endParaRPr lang="en-US" sz="900">
              <a:solidFill>
                <a:srgbClr val="000000"/>
              </a:solidFill>
            </a:endParaRPr>
          </a:p>
        </p:txBody>
      </p:sp>
      <p:sp>
        <p:nvSpPr>
          <p:cNvPr id="550" name="Text Placeholder 2">
            <a:extLst>
              <a:ext uri="{FF2B5EF4-FFF2-40B4-BE49-F238E27FC236}">
                <a16:creationId xmlns:a16="http://schemas.microsoft.com/office/drawing/2014/main" id="{FFD5AA64-4539-E072-3723-9FA857BDDCA9}"/>
              </a:ext>
            </a:extLst>
          </p:cNvPr>
          <p:cNvSpPr>
            <a:spLocks/>
          </p:cNvSpPr>
          <p:nvPr>
            <p:custDataLst>
              <p:tags r:id="rId26"/>
            </p:custDataLst>
          </p:nvPr>
        </p:nvSpPr>
        <p:spPr bwMode="auto">
          <a:xfrm>
            <a:off x="6370639" y="4079878"/>
            <a:ext cx="1119188"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r>
              <a:rPr lang="en-US" sz="900">
                <a:solidFill>
                  <a:srgbClr val="000000"/>
                </a:solidFill>
              </a:rPr>
              <a:t>Transparency charges</a:t>
            </a:r>
          </a:p>
        </p:txBody>
      </p:sp>
      <p:sp>
        <p:nvSpPr>
          <p:cNvPr id="551" name="Text Placeholder 2">
            <a:extLst>
              <a:ext uri="{FF2B5EF4-FFF2-40B4-BE49-F238E27FC236}">
                <a16:creationId xmlns:a16="http://schemas.microsoft.com/office/drawing/2014/main" id="{5324864D-9877-4C7C-92E7-C65F1D4FA436}"/>
              </a:ext>
            </a:extLst>
          </p:cNvPr>
          <p:cNvSpPr>
            <a:spLocks/>
          </p:cNvSpPr>
          <p:nvPr>
            <p:custDataLst>
              <p:tags r:id="rId27"/>
            </p:custDataLst>
          </p:nvPr>
        </p:nvSpPr>
        <p:spPr bwMode="auto">
          <a:xfrm>
            <a:off x="6370639" y="4216402"/>
            <a:ext cx="233364"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7B897E52-00D0-488E-825E-FFBE06BE28F8}" type="datetime'''''''''''F''''''''''e''''''''''''''''e''''''s'''''">
              <a:rPr lang="en-US" sz="900">
                <a:solidFill>
                  <a:srgbClr val="000000"/>
                </a:solidFill>
              </a:rPr>
              <a:pPr marL="0" indent="0" defTabSz="914422">
                <a:spcBef>
                  <a:spcPct val="0"/>
                </a:spcBef>
                <a:spcAft>
                  <a:spcPct val="0"/>
                </a:spcAft>
                <a:buClr>
                  <a:srgbClr val="000000"/>
                </a:buClr>
                <a:buNone/>
                <a:defRPr/>
              </a:pPr>
              <a:t>Fees</a:t>
            </a:fld>
            <a:endParaRPr lang="en-US" sz="900">
              <a:solidFill>
                <a:srgbClr val="000000"/>
              </a:solidFill>
            </a:endParaRPr>
          </a:p>
        </p:txBody>
      </p:sp>
      <p:sp>
        <p:nvSpPr>
          <p:cNvPr id="552" name="Text Placeholder 2">
            <a:extLst>
              <a:ext uri="{FF2B5EF4-FFF2-40B4-BE49-F238E27FC236}">
                <a16:creationId xmlns:a16="http://schemas.microsoft.com/office/drawing/2014/main" id="{B74C6297-108F-6919-529E-AC424532DDD4}"/>
              </a:ext>
            </a:extLst>
          </p:cNvPr>
          <p:cNvSpPr>
            <a:spLocks/>
          </p:cNvSpPr>
          <p:nvPr>
            <p:custDataLst>
              <p:tags r:id="rId28"/>
            </p:custDataLst>
          </p:nvPr>
        </p:nvSpPr>
        <p:spPr bwMode="auto">
          <a:xfrm>
            <a:off x="6370638" y="4354516"/>
            <a:ext cx="920750" cy="13652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335760" indent="-335760" algn="l" defTabSz="685808" rtl="0" eaLnBrk="1" latinLnBrk="0" hangingPunct="1">
              <a:lnSpc>
                <a:spcPct val="100000"/>
              </a:lnSpc>
              <a:spcBef>
                <a:spcPts val="451"/>
              </a:spcBef>
              <a:buClr>
                <a:schemeClr val="tx1"/>
              </a:buClr>
              <a:buFont typeface="Arial" panose="020B0604020202020204" pitchFamily="34" charset="0"/>
              <a:buChar char="•"/>
              <a:defRPr sz="1051" kern="1200">
                <a:solidFill>
                  <a:schemeClr val="tx1"/>
                </a:solidFill>
                <a:latin typeface="+mn-lt"/>
                <a:ea typeface="+mn-ea"/>
                <a:cs typeface="+mn-cs"/>
              </a:defRPr>
            </a:lvl1pPr>
            <a:lvl2pPr marL="514357"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2pPr>
            <a:lvl3pPr marL="857261" indent="-171453" algn="l" defTabSz="685808" rtl="0" eaLnBrk="1" latinLnBrk="0" hangingPunct="1">
              <a:lnSpc>
                <a:spcPct val="100000"/>
              </a:lnSpc>
              <a:spcBef>
                <a:spcPts val="451"/>
              </a:spcBef>
              <a:buClr>
                <a:schemeClr val="tx1"/>
              </a:buClr>
              <a:buFont typeface="Arial" panose="020B0604020202020204" pitchFamily="34" charset="0"/>
              <a:buChar char="•"/>
              <a:defRPr sz="900" kern="1200">
                <a:solidFill>
                  <a:schemeClr val="tx1"/>
                </a:solidFill>
                <a:latin typeface="+mn-lt"/>
                <a:ea typeface="+mn-ea"/>
                <a:cs typeface="+mn-cs"/>
              </a:defRPr>
            </a:lvl3pPr>
            <a:lvl4pPr marL="1200166"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4pPr>
            <a:lvl5pPr marL="1543070" indent="-171453" algn="l" defTabSz="685808" rtl="0" eaLnBrk="1" latinLnBrk="0" hangingPunct="1">
              <a:lnSpc>
                <a:spcPct val="100000"/>
              </a:lnSpc>
              <a:spcBef>
                <a:spcPts val="451"/>
              </a:spcBef>
              <a:buClr>
                <a:schemeClr val="tx1"/>
              </a:buClr>
              <a:buFont typeface="Arial" panose="020B0604020202020204" pitchFamily="34" charset="0"/>
              <a:buChar char="•"/>
              <a:defRPr sz="825" kern="1200">
                <a:solidFill>
                  <a:schemeClr val="tx1"/>
                </a:solidFill>
                <a:latin typeface="+mn-lt"/>
                <a:ea typeface="+mn-ea"/>
                <a:cs typeface="+mn-cs"/>
              </a:defRPr>
            </a:lvl5pPr>
            <a:lvl6pPr marL="1885974"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6pPr>
            <a:lvl7pPr marL="2228879"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7pPr>
            <a:lvl8pPr marL="2571783"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8pPr>
            <a:lvl9pPr marL="2914687" indent="-171453" algn="l" defTabSz="685808" rtl="0" eaLnBrk="1" latinLnBrk="0" hangingPunct="1">
              <a:lnSpc>
                <a:spcPct val="90000"/>
              </a:lnSpc>
              <a:spcBef>
                <a:spcPts val="375"/>
              </a:spcBef>
              <a:buFont typeface="Arial" panose="020B0604020202020204" pitchFamily="34" charset="0"/>
              <a:buChar char="•"/>
              <a:defRPr sz="1351" kern="1200">
                <a:solidFill>
                  <a:schemeClr val="tx1"/>
                </a:solidFill>
                <a:latin typeface="+mn-lt"/>
                <a:ea typeface="+mn-ea"/>
                <a:cs typeface="+mn-cs"/>
              </a:defRPr>
            </a:lvl9pPr>
          </a:lstStyle>
          <a:p>
            <a:pPr marL="0" indent="0" defTabSz="914422">
              <a:spcBef>
                <a:spcPct val="0"/>
              </a:spcBef>
              <a:spcAft>
                <a:spcPct val="0"/>
              </a:spcAft>
              <a:buClr>
                <a:srgbClr val="000000"/>
              </a:buClr>
              <a:buNone/>
              <a:defRPr/>
            </a:pPr>
            <a:fld id="{B889D27A-6B41-4681-A396-0FA9BE250EAC}" type="datetime'T''''''''''''''e''leph''''''on''''''e'''''' se''''rv''ice'''">
              <a:rPr lang="en-US" sz="900">
                <a:solidFill>
                  <a:srgbClr val="000000"/>
                </a:solidFill>
              </a:rPr>
              <a:pPr marL="0" indent="0" defTabSz="914422">
                <a:spcBef>
                  <a:spcPct val="0"/>
                </a:spcBef>
                <a:spcAft>
                  <a:spcPct val="0"/>
                </a:spcAft>
                <a:buClr>
                  <a:srgbClr val="000000"/>
                </a:buClr>
                <a:buNone/>
                <a:defRPr/>
              </a:pPr>
              <a:t>Telephone service</a:t>
            </a:fld>
            <a:endParaRPr lang="en-US" sz="900">
              <a:solidFill>
                <a:srgbClr val="000000"/>
              </a:solidFill>
            </a:endParaRPr>
          </a:p>
        </p:txBody>
      </p:sp>
      <p:cxnSp>
        <p:nvCxnSpPr>
          <p:cNvPr id="6" name="Straight Connector 11">
            <a:extLst>
              <a:ext uri="{FF2B5EF4-FFF2-40B4-BE49-F238E27FC236}">
                <a16:creationId xmlns:a16="http://schemas.microsoft.com/office/drawing/2014/main" id="{E823CDA8-01A1-79AA-F01F-3AFD306FA51B}"/>
              </a:ext>
            </a:extLst>
          </p:cNvPr>
          <p:cNvCxnSpPr>
            <a:cxnSpLocks/>
          </p:cNvCxnSpPr>
          <p:nvPr/>
        </p:nvCxnSpPr>
        <p:spPr>
          <a:xfrm>
            <a:off x="1802485" y="3186113"/>
            <a:ext cx="0" cy="113347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0" name="Rectángulo 9">
            <a:extLst>
              <a:ext uri="{FF2B5EF4-FFF2-40B4-BE49-F238E27FC236}">
                <a16:creationId xmlns:a16="http://schemas.microsoft.com/office/drawing/2014/main" id="{AF52DF8C-8FC0-C97A-6E63-CE3A9FCE4004}"/>
              </a:ext>
            </a:extLst>
          </p:cNvPr>
          <p:cNvSpPr/>
          <p:nvPr/>
        </p:nvSpPr>
        <p:spPr>
          <a:xfrm>
            <a:off x="1422907" y="3059114"/>
            <a:ext cx="759157" cy="95250"/>
          </a:xfrm>
          <a:prstGeom prst="rect">
            <a:avLst/>
          </a:prstGeom>
          <a:solidFill>
            <a:srgbClr val="F5EFE8"/>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800">
                <a:solidFill>
                  <a:schemeClr val="bg2"/>
                </a:solidFill>
              </a:rPr>
              <a:t>BNS Avg age</a:t>
            </a:r>
          </a:p>
        </p:txBody>
      </p:sp>
    </p:spTree>
    <p:extLst>
      <p:ext uri="{BB962C8B-B14F-4D97-AF65-F5344CB8AC3E}">
        <p14:creationId xmlns:p14="http://schemas.microsoft.com/office/powerpoint/2010/main" val="188575018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24C97A-6E99-6130-ACDF-529C29CEE17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4C9FB28-ED6F-6285-73EE-4C53BCCCA8AF}"/>
              </a:ext>
            </a:extLst>
          </p:cNvPr>
          <p:cNvSpPr>
            <a:spLocks noGrp="1"/>
          </p:cNvSpPr>
          <p:nvPr>
            <p:ph type="title"/>
          </p:nvPr>
        </p:nvSpPr>
        <p:spPr/>
        <p:txBody>
          <a:bodyPr vert="horz" lIns="0" tIns="0" rIns="0" bIns="0" rtlCol="0" anchor="t">
            <a:noAutofit/>
          </a:bodyPr>
          <a:lstStyle/>
          <a:p>
            <a:r>
              <a:rPr lang="en-US" noProof="0">
                <a:solidFill>
                  <a:srgbClr val="EC111A"/>
                </a:solidFill>
              </a:rPr>
              <a:t>Headwinds and Tailwinds | </a:t>
            </a:r>
            <a:r>
              <a:rPr lang="en-US" noProof="0"/>
              <a:t>Impact of current environment on SBM strategy</a:t>
            </a:r>
          </a:p>
        </p:txBody>
      </p:sp>
      <p:sp>
        <p:nvSpPr>
          <p:cNvPr id="3" name="Slide Number Placeholder 2">
            <a:extLst>
              <a:ext uri="{FF2B5EF4-FFF2-40B4-BE49-F238E27FC236}">
                <a16:creationId xmlns:a16="http://schemas.microsoft.com/office/drawing/2014/main" id="{947B8F1E-D835-AD1D-38A4-8E97EED0A206}"/>
              </a:ext>
            </a:extLst>
          </p:cNvPr>
          <p:cNvSpPr>
            <a:spLocks noGrp="1"/>
          </p:cNvSpPr>
          <p:nvPr>
            <p:ph type="sldNum" sz="quarter" idx="10"/>
          </p:nvPr>
        </p:nvSpPr>
        <p:spPr/>
        <p:txBody>
          <a:bodyPr/>
          <a:lstStyle/>
          <a:p>
            <a:fld id="{95D835A7-12B2-4074-8DA2-469A8808C237}" type="slidenum">
              <a:rPr lang="en-US" noProof="0" smtClean="0"/>
              <a:pPr/>
              <a:t>48</a:t>
            </a:fld>
            <a:endParaRPr lang="en-US" noProof="0"/>
          </a:p>
        </p:txBody>
      </p:sp>
      <p:sp>
        <p:nvSpPr>
          <p:cNvPr id="65" name="Marcador de texto 64">
            <a:extLst>
              <a:ext uri="{FF2B5EF4-FFF2-40B4-BE49-F238E27FC236}">
                <a16:creationId xmlns:a16="http://schemas.microsoft.com/office/drawing/2014/main" id="{4AA92480-DBA9-FF56-4C11-BC62EC317B38}"/>
              </a:ext>
            </a:extLst>
          </p:cNvPr>
          <p:cNvSpPr>
            <a:spLocks noGrp="1"/>
          </p:cNvSpPr>
          <p:nvPr>
            <p:ph type="body" sz="quarter" idx="11"/>
          </p:nvPr>
        </p:nvSpPr>
        <p:spPr/>
        <p:txBody>
          <a:bodyPr/>
          <a:lstStyle/>
          <a:p>
            <a:endParaRPr lang="en-US" noProof="0"/>
          </a:p>
        </p:txBody>
      </p:sp>
      <p:graphicFrame>
        <p:nvGraphicFramePr>
          <p:cNvPr id="6" name="Table 5">
            <a:extLst>
              <a:ext uri="{FF2B5EF4-FFF2-40B4-BE49-F238E27FC236}">
                <a16:creationId xmlns:a16="http://schemas.microsoft.com/office/drawing/2014/main" id="{29D43805-B12B-BCD6-3088-50B37114B8AA}"/>
              </a:ext>
            </a:extLst>
          </p:cNvPr>
          <p:cNvGraphicFramePr>
            <a:graphicFrameLocks noGrp="1"/>
          </p:cNvGraphicFramePr>
          <p:nvPr/>
        </p:nvGraphicFramePr>
        <p:xfrm>
          <a:off x="515941" y="1381126"/>
          <a:ext cx="10858048" cy="4537081"/>
        </p:xfrm>
        <a:graphic>
          <a:graphicData uri="http://schemas.openxmlformats.org/drawingml/2006/table">
            <a:tbl>
              <a:tblPr firstRow="1" bandRow="1">
                <a:tableStyleId>{5C22544A-7EE6-4342-B048-85BDC9FD1C3A}</a:tableStyleId>
              </a:tblPr>
              <a:tblGrid>
                <a:gridCol w="260811">
                  <a:extLst>
                    <a:ext uri="{9D8B030D-6E8A-4147-A177-3AD203B41FA5}">
                      <a16:colId xmlns:a16="http://schemas.microsoft.com/office/drawing/2014/main" val="372927097"/>
                    </a:ext>
                  </a:extLst>
                </a:gridCol>
                <a:gridCol w="1406012">
                  <a:extLst>
                    <a:ext uri="{9D8B030D-6E8A-4147-A177-3AD203B41FA5}">
                      <a16:colId xmlns:a16="http://schemas.microsoft.com/office/drawing/2014/main" val="1992551798"/>
                    </a:ext>
                  </a:extLst>
                </a:gridCol>
                <a:gridCol w="3657600">
                  <a:extLst>
                    <a:ext uri="{9D8B030D-6E8A-4147-A177-3AD203B41FA5}">
                      <a16:colId xmlns:a16="http://schemas.microsoft.com/office/drawing/2014/main" val="490293722"/>
                    </a:ext>
                  </a:extLst>
                </a:gridCol>
                <a:gridCol w="468425">
                  <a:extLst>
                    <a:ext uri="{9D8B030D-6E8A-4147-A177-3AD203B41FA5}">
                      <a16:colId xmlns:a16="http://schemas.microsoft.com/office/drawing/2014/main" val="2414457394"/>
                    </a:ext>
                  </a:extLst>
                </a:gridCol>
                <a:gridCol w="1407600">
                  <a:extLst>
                    <a:ext uri="{9D8B030D-6E8A-4147-A177-3AD203B41FA5}">
                      <a16:colId xmlns:a16="http://schemas.microsoft.com/office/drawing/2014/main" val="2890640785"/>
                    </a:ext>
                  </a:extLst>
                </a:gridCol>
                <a:gridCol w="3657600">
                  <a:extLst>
                    <a:ext uri="{9D8B030D-6E8A-4147-A177-3AD203B41FA5}">
                      <a16:colId xmlns:a16="http://schemas.microsoft.com/office/drawing/2014/main" val="424777361"/>
                    </a:ext>
                  </a:extLst>
                </a:gridCol>
              </a:tblGrid>
              <a:tr h="314325">
                <a:tc>
                  <a:txBody>
                    <a:bodyPr/>
                    <a:lstStyle/>
                    <a:p>
                      <a:pPr rtl="0"/>
                      <a:endParaRPr lang="en-US" sz="1100" noProof="0">
                        <a:solidFill>
                          <a:schemeClr val="tx1"/>
                        </a:solidFill>
                      </a:endParaRPr>
                    </a:p>
                  </a:txBody>
                  <a:tcPr marT="45721" marB="45721">
                    <a:noFill/>
                  </a:tcPr>
                </a:tc>
                <a:tc gridSpan="2">
                  <a:txBody>
                    <a:bodyPr/>
                    <a:lstStyle/>
                    <a:p>
                      <a:pPr rtl="0"/>
                      <a:r>
                        <a:rPr lang="en-US" sz="1100" spc="200" baseline="0" noProof="0">
                          <a:solidFill>
                            <a:schemeClr val="tx1"/>
                          </a:solidFill>
                        </a:rPr>
                        <a:t>POLITICAL AND INSTITUTIONAL OVERVIEW</a:t>
                      </a:r>
                    </a:p>
                  </a:txBody>
                  <a:tcPr marT="45721" marB="45721" anchor="ctr">
                    <a:noFill/>
                  </a:tcPr>
                </a:tc>
                <a:tc hMerge="1">
                  <a:txBody>
                    <a:bodyPr/>
                    <a:lstStyle/>
                    <a:p>
                      <a:endParaRPr lang="en-US" sz="1100" spc="200" baseline="0">
                        <a:solidFill>
                          <a:schemeClr val="tx1"/>
                        </a:solidFill>
                      </a:endParaRPr>
                    </a:p>
                  </a:txBody>
                  <a:tcPr anchor="ctr">
                    <a:noFill/>
                  </a:tcPr>
                </a:tc>
                <a:tc>
                  <a:txBody>
                    <a:bodyPr/>
                    <a:lstStyle/>
                    <a:p>
                      <a:pPr rtl="0"/>
                      <a:endParaRPr lang="en-US" sz="1100" spc="200" baseline="0" noProof="0">
                        <a:solidFill>
                          <a:schemeClr val="tx1"/>
                        </a:solidFill>
                      </a:endParaRPr>
                    </a:p>
                  </a:txBody>
                  <a:tcPr marT="45721" marB="45721" anchor="ctr">
                    <a:noFill/>
                  </a:tcPr>
                </a:tc>
                <a:tc gridSpan="2">
                  <a:txBody>
                    <a:bodyPr/>
                    <a:lstStyle/>
                    <a:p>
                      <a:pPr rtl="0"/>
                      <a:r>
                        <a:rPr lang="en-US" sz="1100" spc="200" baseline="0" noProof="0">
                          <a:solidFill>
                            <a:schemeClr val="tx1"/>
                          </a:solidFill>
                        </a:rPr>
                        <a:t>MACROECONOMIC OVERVIEW</a:t>
                      </a:r>
                    </a:p>
                  </a:txBody>
                  <a:tcPr marT="45721" marB="45721" anchor="ctr">
                    <a:noFill/>
                  </a:tcPr>
                </a:tc>
                <a:tc hMerge="1">
                  <a:txBody>
                    <a:bodyPr/>
                    <a:lstStyle/>
                    <a:p>
                      <a:endParaRPr lang="en-US" sz="1100">
                        <a:solidFill>
                          <a:schemeClr val="tx1"/>
                        </a:solidFill>
                      </a:endParaRPr>
                    </a:p>
                  </a:txBody>
                  <a:tcPr>
                    <a:noFill/>
                  </a:tcPr>
                </a:tc>
                <a:extLst>
                  <a:ext uri="{0D108BD9-81ED-4DB2-BD59-A6C34878D82A}">
                    <a16:rowId xmlns:a16="http://schemas.microsoft.com/office/drawing/2014/main" val="3816892635"/>
                  </a:ext>
                </a:extLst>
              </a:tr>
              <a:tr h="762000">
                <a:tc rowSpan="3">
                  <a:txBody>
                    <a:bodyPr/>
                    <a:lstStyle/>
                    <a:p>
                      <a:pPr algn="ctr" rtl="0"/>
                      <a:r>
                        <a:rPr lang="en-US" sz="1100" b="1" noProof="0">
                          <a:solidFill>
                            <a:schemeClr val="bg1"/>
                          </a:solidFill>
                        </a:rPr>
                        <a:t>Tailwinds</a:t>
                      </a:r>
                    </a:p>
                  </a:txBody>
                  <a:tcPr marT="45721" marB="45721" vert="vert270" anchor="ctr">
                    <a:lnR w="28575" cap="flat" cmpd="sng" algn="ctr">
                      <a:solidFill>
                        <a:schemeClr val="bg1"/>
                      </a:solidFill>
                      <a:prstDash val="solid"/>
                      <a:round/>
                      <a:headEnd type="none" w="med" len="med"/>
                      <a:tailEnd type="none" w="med" len="med"/>
                    </a:lnR>
                    <a:solidFill>
                      <a:srgbClr val="C00000"/>
                    </a:solidFill>
                  </a:tcPr>
                </a:tc>
                <a:tc>
                  <a:txBody>
                    <a:bodyPr/>
                    <a:lstStyle/>
                    <a:p>
                      <a:pPr rtl="0"/>
                      <a:r>
                        <a:rPr lang="en-US" sz="1100" noProof="0">
                          <a:solidFill>
                            <a:schemeClr val="tx1"/>
                          </a:solidFill>
                        </a:rPr>
                        <a:t>Plan México</a:t>
                      </a:r>
                    </a:p>
                  </a:txBody>
                  <a:tcPr marT="45721" marB="45721" anchor="ctr">
                    <a:lnL w="28575"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Creates a national framework for investment attraction, regional development, and industrial upgrading (&gt; $277 Bn USD envisioned across 2,000+ projects). </a:t>
                      </a:r>
                    </a:p>
                  </a:txBody>
                  <a:tcPr marT="45721" marB="45721" anchor="ctr">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oFill/>
                  </a:tcPr>
                </a:tc>
                <a:tc>
                  <a:txBody>
                    <a:bodyPr/>
                    <a:lstStyle/>
                    <a:p>
                      <a:pPr rtl="0"/>
                      <a:r>
                        <a:rPr lang="en-US" sz="1100" noProof="0">
                          <a:solidFill>
                            <a:schemeClr val="tx1"/>
                          </a:solidFill>
                        </a:rPr>
                        <a:t>North American integration</a:t>
                      </a:r>
                    </a:p>
                  </a:txBody>
                  <a:tcPr marT="45721" marB="45721" anchor="ctr">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Mexico remains a top U.S and Canadian trade partner.</a:t>
                      </a:r>
                    </a:p>
                  </a:txBody>
                  <a:tcPr marT="45721" marB="45721" anchor="ctr">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587683200"/>
                  </a:ext>
                </a:extLst>
              </a:tr>
              <a:tr h="674688">
                <a:tc vMerge="1">
                  <a:txBody>
                    <a:bodyPr/>
                    <a:lstStyle/>
                    <a:p>
                      <a:pPr algn="ctr"/>
                      <a:endParaRPr lang="en-US" sz="1100">
                        <a:solidFill>
                          <a:schemeClr val="tx1"/>
                        </a:solidFill>
                      </a:endParaRPr>
                    </a:p>
                  </a:txBody>
                  <a:tcPr vert="vert270" anchor="ctr">
                    <a:lnR w="28575" cap="flat" cmpd="sng" algn="ctr">
                      <a:solidFill>
                        <a:schemeClr val="bg1"/>
                      </a:solidFill>
                      <a:prstDash val="solid"/>
                      <a:round/>
                      <a:headEnd type="none" w="med" len="med"/>
                      <a:tailEnd type="none" w="med" len="med"/>
                    </a:lnR>
                    <a:solidFill>
                      <a:srgbClr val="E1111A"/>
                    </a:solidFill>
                  </a:tcPr>
                </a:tc>
                <a:tc>
                  <a:txBody>
                    <a:bodyPr/>
                    <a:lstStyle/>
                    <a:p>
                      <a:pPr rtl="0"/>
                      <a:r>
                        <a:rPr lang="en-US" sz="1100" noProof="0">
                          <a:solidFill>
                            <a:schemeClr val="tx1"/>
                          </a:solidFill>
                        </a:rPr>
                        <a:t>Alignment to 2026 USMCA review </a:t>
                      </a:r>
                    </a:p>
                  </a:txBody>
                  <a:tcPr marT="45721" marB="45721" anchor="ctr">
                    <a:lnL w="28575"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Strengthening North American integration positioning and trilateral cooperation.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oFill/>
                  </a:tcPr>
                </a:tc>
                <a:tc>
                  <a:txBody>
                    <a:bodyPr/>
                    <a:lstStyle/>
                    <a:p>
                      <a:pPr rtl="0"/>
                      <a:r>
                        <a:rPr lang="en-US" sz="1100" noProof="0">
                          <a:solidFill>
                            <a:schemeClr val="tx1"/>
                          </a:solidFill>
                        </a:rPr>
                        <a:t>Exports in traditional sectors</a:t>
                      </a:r>
                    </a:p>
                  </a:txBody>
                  <a:tcPr marT="45721" marB="45721"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Prioritized under Plan México: EVs, semiconductors, aerospace, medical devices, clean energy, logistics, digital economy.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774275060"/>
                  </a:ext>
                </a:extLst>
              </a:tr>
              <a:tr h="762000">
                <a:tc vMerge="1">
                  <a:txBody>
                    <a:bodyPr/>
                    <a:lstStyle/>
                    <a:p>
                      <a:pPr algn="ctr"/>
                      <a:endParaRPr lang="en-US" sz="1100">
                        <a:solidFill>
                          <a:schemeClr val="tx1"/>
                        </a:solidFill>
                      </a:endParaRPr>
                    </a:p>
                  </a:txBody>
                  <a:tcPr vert="vert270" anchor="ctr">
                    <a:lnR w="28575" cap="flat" cmpd="sng" algn="ctr">
                      <a:solidFill>
                        <a:schemeClr val="bg1"/>
                      </a:solidFill>
                      <a:prstDash val="solid"/>
                      <a:round/>
                      <a:headEnd type="none" w="med" len="med"/>
                      <a:tailEnd type="none" w="med" len="med"/>
                    </a:lnR>
                    <a:solidFill>
                      <a:srgbClr val="E1111A"/>
                    </a:solidFill>
                  </a:tcPr>
                </a:tc>
                <a:tc>
                  <a:txBody>
                    <a:bodyPr/>
                    <a:lstStyle/>
                    <a:p>
                      <a:pPr rtl="0"/>
                      <a:r>
                        <a:rPr lang="en-US" sz="1100" noProof="0">
                          <a:solidFill>
                            <a:schemeClr val="tx1"/>
                          </a:solidFill>
                        </a:rPr>
                        <a:t>Regulatory efficiency agenda</a:t>
                      </a:r>
                    </a:p>
                  </a:txBody>
                  <a:tcPr marT="45721" marB="45721" anchor="ctr">
                    <a:lnL w="28575"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Including a goal to sharply trim approval times and strengthen legal clarity for priority sectors.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oFill/>
                  </a:tcPr>
                </a:tc>
                <a:tc>
                  <a:txBody>
                    <a:bodyPr/>
                    <a:lstStyle/>
                    <a:p>
                      <a:pPr rtl="0"/>
                      <a:r>
                        <a:rPr lang="en-US" sz="1100" noProof="0">
                          <a:solidFill>
                            <a:schemeClr val="tx1"/>
                          </a:solidFill>
                        </a:rPr>
                        <a:t>Sectoral and regional diversification</a:t>
                      </a:r>
                    </a:p>
                  </a:txBody>
                  <a:tcPr marT="45721" marB="45721"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8D6CA"/>
                    </a:solidFill>
                  </a:tcPr>
                </a:tc>
                <a:tc>
                  <a:txBody>
                    <a:bodyPr/>
                    <a:lstStyle/>
                    <a:p>
                      <a:pPr marL="171450" indent="-171450" rtl="0">
                        <a:buFont typeface="Wingdings" panose="05000000000000000000" pitchFamily="2" charset="2"/>
                        <a:buChar char="§"/>
                      </a:pPr>
                      <a:r>
                        <a:rPr lang="en-US" sz="1100" noProof="0">
                          <a:solidFill>
                            <a:schemeClr val="tx1"/>
                          </a:solidFill>
                        </a:rPr>
                        <a:t>With major new investment flows in chemicals, energy infrastructure, logistics, and advanced manufacturing clusters across the North, Bajío and Southeast.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275533485"/>
                  </a:ext>
                </a:extLst>
              </a:tr>
              <a:tr h="674688">
                <a:tc rowSpan="3">
                  <a:txBody>
                    <a:bodyPr/>
                    <a:lstStyle/>
                    <a:p>
                      <a:pPr algn="ctr" rtl="0"/>
                      <a:r>
                        <a:rPr lang="en-US" sz="1100" b="1" noProof="0">
                          <a:solidFill>
                            <a:schemeClr val="bg1"/>
                          </a:solidFill>
                        </a:rPr>
                        <a:t>Headwinds</a:t>
                      </a:r>
                    </a:p>
                  </a:txBody>
                  <a:tcPr marT="45721" marB="45721" vert="vert270" anchor="ctr">
                    <a:lnR w="28575" cap="flat" cmpd="sng" algn="ctr">
                      <a:solidFill>
                        <a:schemeClr val="bg1"/>
                      </a:solidFill>
                      <a:prstDash val="solid"/>
                      <a:round/>
                      <a:headEnd type="none" w="med" len="med"/>
                      <a:tailEnd type="none" w="med" len="med"/>
                    </a:lnR>
                    <a:lnB w="28575" cap="flat" cmpd="sng" algn="ctr">
                      <a:solidFill>
                        <a:schemeClr val="bg1"/>
                      </a:solidFill>
                      <a:prstDash val="solid"/>
                      <a:round/>
                      <a:headEnd type="none" w="med" len="med"/>
                      <a:tailEnd type="none" w="med" len="med"/>
                    </a:lnB>
                    <a:solidFill>
                      <a:srgbClr val="E1111A"/>
                    </a:solidFill>
                  </a:tcPr>
                </a:tc>
                <a:tc>
                  <a:txBody>
                    <a:bodyPr/>
                    <a:lstStyle/>
                    <a:p>
                      <a:pPr rtl="0"/>
                      <a:r>
                        <a:rPr lang="en-US" sz="1100" noProof="0">
                          <a:solidFill>
                            <a:schemeClr val="tx1"/>
                          </a:solidFill>
                        </a:rPr>
                        <a:t>Security costs</a:t>
                      </a:r>
                    </a:p>
                  </a:txBody>
                  <a:tcPr marT="45721" marB="45721" anchor="ctr">
                    <a:lnL w="28575"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5EFE8"/>
                    </a:solidFill>
                  </a:tcPr>
                </a:tc>
                <a:tc>
                  <a:txBody>
                    <a:bodyPr/>
                    <a:lstStyle/>
                    <a:p>
                      <a:pPr marL="171450" indent="-171450" rtl="0">
                        <a:buFont typeface="Wingdings" panose="05000000000000000000" pitchFamily="2" charset="2"/>
                        <a:buChar char="§"/>
                      </a:pPr>
                      <a:r>
                        <a:rPr lang="en-US" sz="1100" noProof="0">
                          <a:solidFill>
                            <a:schemeClr val="tx1"/>
                          </a:solidFill>
                        </a:rPr>
                        <a:t>Acting as an “insecurity tax” (20% of firm sales absorbed by crime prevention + damages).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oFill/>
                  </a:tcPr>
                </a:tc>
                <a:tc>
                  <a:txBody>
                    <a:bodyPr/>
                    <a:lstStyle/>
                    <a:p>
                      <a:pPr algn="l" rtl="0"/>
                      <a:r>
                        <a:rPr lang="en-US" sz="1100" noProof="0">
                          <a:solidFill>
                            <a:schemeClr val="tx1"/>
                          </a:solidFill>
                        </a:rPr>
                        <a:t>Investment performance </a:t>
                      </a:r>
                    </a:p>
                  </a:txBody>
                  <a:tcPr marT="45721" marB="45721"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5EFE8"/>
                    </a:solidFill>
                  </a:tcPr>
                </a:tc>
                <a:tc>
                  <a:txBody>
                    <a:bodyPr/>
                    <a:lstStyle/>
                    <a:p>
                      <a:pPr marL="171450" indent="-171450" rtl="0">
                        <a:buFont typeface="Wingdings" panose="05000000000000000000" pitchFamily="2" charset="2"/>
                        <a:buChar char="§"/>
                      </a:pPr>
                      <a:r>
                        <a:rPr lang="en-US" sz="1100" noProof="0">
                          <a:solidFill>
                            <a:schemeClr val="tx1"/>
                          </a:solidFill>
                        </a:rPr>
                        <a:t>Since mid 2024 due to trade uncertainty, legal concerns, energy bottlenecks and high operating costs.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282888081"/>
                  </a:ext>
                </a:extLst>
              </a:tr>
              <a:tr h="674688">
                <a:tc vMerge="1">
                  <a:txBody>
                    <a:bodyPr/>
                    <a:lstStyle/>
                    <a:p>
                      <a:endParaRPr lang="en-US" sz="1100">
                        <a:solidFill>
                          <a:schemeClr val="tx1"/>
                        </a:solidFill>
                      </a:endParaRPr>
                    </a:p>
                  </a:txBody>
                  <a:tcPr>
                    <a:noFill/>
                  </a:tcPr>
                </a:tc>
                <a:tc>
                  <a:txBody>
                    <a:bodyPr/>
                    <a:lstStyle/>
                    <a:p>
                      <a:pPr rtl="0"/>
                      <a:r>
                        <a:rPr lang="en-US" sz="1100" noProof="0">
                          <a:solidFill>
                            <a:schemeClr val="tx1"/>
                          </a:solidFill>
                        </a:rPr>
                        <a:t>Policy environment</a:t>
                      </a:r>
                    </a:p>
                  </a:txBody>
                  <a:tcPr marT="45721" marB="45721" anchor="ctr">
                    <a:lnL w="28575"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5EFE8"/>
                    </a:solidFill>
                  </a:tcPr>
                </a:tc>
                <a:tc>
                  <a:txBody>
                    <a:bodyPr/>
                    <a:lstStyle/>
                    <a:p>
                      <a:pPr marL="171450" indent="-171450" rtl="0">
                        <a:buFont typeface="Wingdings" panose="05000000000000000000" pitchFamily="2" charset="2"/>
                        <a:buChar char="§"/>
                      </a:pPr>
                      <a:r>
                        <a:rPr lang="en-US" sz="1100" noProof="0">
                          <a:solidFill>
                            <a:schemeClr val="tx1"/>
                          </a:solidFill>
                        </a:rPr>
                        <a:t>Around trade and tariffs (especially U.S. actions), undermining investment planning.</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rtl="0"/>
                      <a:endParaRPr lang="en-US" sz="1100" noProof="0">
                        <a:solidFill>
                          <a:schemeClr val="tx1"/>
                        </a:solidFill>
                      </a:endParaRPr>
                    </a:p>
                  </a:txBody>
                  <a:tcPr marT="45721" marB="45721">
                    <a:noFill/>
                  </a:tcPr>
                </a:tc>
                <a:tc rowSpan="2">
                  <a:txBody>
                    <a:bodyPr/>
                    <a:lstStyle/>
                    <a:p>
                      <a:pPr algn="l" rtl="0"/>
                      <a:r>
                        <a:rPr lang="en-US" sz="1100" noProof="0">
                          <a:solidFill>
                            <a:schemeClr val="tx1"/>
                          </a:solidFill>
                        </a:rPr>
                        <a:t>Nearshoring opportunity</a:t>
                      </a:r>
                    </a:p>
                  </a:txBody>
                  <a:tcPr marT="45721" marB="45721" anchor="ct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F5EFE8"/>
                    </a:solidFill>
                  </a:tcPr>
                </a:tc>
                <a:tc rowSpan="2">
                  <a:txBody>
                    <a:bodyPr/>
                    <a:lstStyle/>
                    <a:p>
                      <a:pPr marL="171450" indent="-171450" rtl="0">
                        <a:buFont typeface="Wingdings" panose="05000000000000000000" pitchFamily="2" charset="2"/>
                        <a:buChar char="§"/>
                      </a:pPr>
                      <a:r>
                        <a:rPr lang="en-US" sz="1100" noProof="0">
                          <a:solidFill>
                            <a:schemeClr val="tx1"/>
                          </a:solidFill>
                        </a:rPr>
                        <a:t>Of China’s 8-pp loss in U.S imports, Mexico captures only 2pp. </a:t>
                      </a:r>
                    </a:p>
                    <a:p>
                      <a:pPr marL="171450" indent="-171450" rtl="0">
                        <a:buFont typeface="Wingdings" panose="05000000000000000000" pitchFamily="2" charset="2"/>
                        <a:buChar char="§"/>
                      </a:pPr>
                      <a:r>
                        <a:rPr lang="en-US" sz="1100" noProof="0">
                          <a:solidFill>
                            <a:schemeClr val="tx1"/>
                          </a:solidFill>
                        </a:rPr>
                        <a:t>Most gains went to Southeast Asia, especially Vietnam and Taiwan.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753576026"/>
                  </a:ext>
                </a:extLst>
              </a:tr>
              <a:tr h="674688">
                <a:tc vMerge="1">
                  <a:txBody>
                    <a:bodyPr/>
                    <a:lstStyle/>
                    <a:p>
                      <a:endParaRPr lang="en-US" sz="1100">
                        <a:solidFill>
                          <a:schemeClr val="tx1"/>
                        </a:solidFill>
                      </a:endParaRPr>
                    </a:p>
                  </a:txBody>
                  <a:tcPr>
                    <a:noFill/>
                  </a:tcPr>
                </a:tc>
                <a:tc>
                  <a:txBody>
                    <a:bodyPr/>
                    <a:lstStyle/>
                    <a:p>
                      <a:pPr rtl="0"/>
                      <a:r>
                        <a:rPr lang="en-US" sz="1100" noProof="0">
                          <a:solidFill>
                            <a:schemeClr val="tx1"/>
                          </a:solidFill>
                        </a:rPr>
                        <a:t>Energy policy</a:t>
                      </a:r>
                    </a:p>
                  </a:txBody>
                  <a:tcPr marT="45721" marB="45721" anchor="ctr">
                    <a:lnL w="28575"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F5EFE8"/>
                    </a:solidFill>
                  </a:tcPr>
                </a:tc>
                <a:tc>
                  <a:txBody>
                    <a:bodyPr/>
                    <a:lstStyle/>
                    <a:p>
                      <a:pPr marL="171450" indent="-171450" rtl="0">
                        <a:buFont typeface="Wingdings" panose="05000000000000000000" pitchFamily="2" charset="2"/>
                        <a:buChar char="§"/>
                      </a:pPr>
                      <a:r>
                        <a:rPr lang="en-US" sz="1100" noProof="0">
                          <a:solidFill>
                            <a:schemeClr val="tx1"/>
                          </a:solidFill>
                        </a:rPr>
                        <a:t>After reversal of the 2013 energy reform, discouraging private investment and slowing sector modernization. </a:t>
                      </a:r>
                    </a:p>
                  </a:txBody>
                  <a:tcPr marT="45721" marB="45721" anchor="ctr">
                    <a:lnT w="12700" cap="flat" cmpd="sng" algn="ctr">
                      <a:solidFill>
                        <a:schemeClr val="bg1">
                          <a:lumMod val="8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rtl="0"/>
                      <a:endParaRPr lang="en-US" sz="1100" noProof="0">
                        <a:solidFill>
                          <a:schemeClr val="tx1"/>
                        </a:solidFill>
                      </a:endParaRPr>
                    </a:p>
                  </a:txBody>
                  <a:tcPr marT="45721" marB="45721">
                    <a:lnB w="12700" cap="flat" cmpd="sng" algn="ctr">
                      <a:noFill/>
                      <a:prstDash val="solid"/>
                      <a:round/>
                      <a:headEnd type="none" w="med" len="med"/>
                      <a:tailEnd type="none" w="med" len="med"/>
                    </a:lnB>
                    <a:noFill/>
                  </a:tcPr>
                </a:tc>
                <a:tc vMerge="1">
                  <a:txBody>
                    <a:bodyPr/>
                    <a:lstStyle/>
                    <a:p>
                      <a:endParaRPr lang="en-US" sz="1100">
                        <a:solidFill>
                          <a:schemeClr val="tx1"/>
                        </a:solidFill>
                      </a:endParaRPr>
                    </a:p>
                  </a:txBody>
                  <a:tcPr>
                    <a:noFill/>
                  </a:tcPr>
                </a:tc>
                <a:tc vMerge="1">
                  <a:txBody>
                    <a:bodyPr/>
                    <a:lstStyle/>
                    <a:p>
                      <a:endParaRPr lang="en-US" sz="1100">
                        <a:solidFill>
                          <a:schemeClr val="tx1"/>
                        </a:solidFill>
                      </a:endParaRPr>
                    </a:p>
                  </a:txBody>
                  <a:tcP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2477574928"/>
                  </a:ext>
                </a:extLst>
              </a:tr>
            </a:tbl>
          </a:graphicData>
        </a:graphic>
      </p:graphicFrame>
      <p:grpSp>
        <p:nvGrpSpPr>
          <p:cNvPr id="4" name="Group 3">
            <a:extLst>
              <a:ext uri="{FF2B5EF4-FFF2-40B4-BE49-F238E27FC236}">
                <a16:creationId xmlns:a16="http://schemas.microsoft.com/office/drawing/2014/main" id="{57C4DEEE-2B79-A5C1-DE84-C798497D1632}"/>
              </a:ext>
            </a:extLst>
          </p:cNvPr>
          <p:cNvGrpSpPr/>
          <p:nvPr/>
        </p:nvGrpSpPr>
        <p:grpSpPr>
          <a:xfrm>
            <a:off x="3" y="0"/>
            <a:ext cx="3002398" cy="204108"/>
            <a:chOff x="1" y="0"/>
            <a:chExt cx="3002399" cy="204108"/>
          </a:xfrm>
        </p:grpSpPr>
        <p:sp>
          <p:nvSpPr>
            <p:cNvPr id="5" name="Text Placeholder 6">
              <a:extLst>
                <a:ext uri="{FF2B5EF4-FFF2-40B4-BE49-F238E27FC236}">
                  <a16:creationId xmlns:a16="http://schemas.microsoft.com/office/drawing/2014/main" id="{E8CA2198-9EF3-E104-CF7F-977E4080B8F6}"/>
                </a:ext>
              </a:extLst>
            </p:cNvPr>
            <p:cNvSpPr txBox="1">
              <a:spLocks/>
            </p:cNvSpPr>
            <p:nvPr/>
          </p:nvSpPr>
          <p:spPr>
            <a:xfrm>
              <a:off x="1"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9" name="Text Placeholder 6">
              <a:extLst>
                <a:ext uri="{FF2B5EF4-FFF2-40B4-BE49-F238E27FC236}">
                  <a16:creationId xmlns:a16="http://schemas.microsoft.com/office/drawing/2014/main" id="{B959D772-BF8A-77A2-BA6B-1A83CD028971}"/>
                </a:ext>
              </a:extLst>
            </p:cNvPr>
            <p:cNvSpPr txBox="1">
              <a:spLocks/>
            </p:cNvSpPr>
            <p:nvPr/>
          </p:nvSpPr>
          <p:spPr>
            <a:xfrm>
              <a:off x="792211" y="0"/>
              <a:ext cx="2210189"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000000"/>
                  </a:solidFill>
                  <a:latin typeface="Scotia"/>
                </a:rPr>
                <a:t>COUNTRY OVERVIEW</a:t>
              </a:r>
            </a:p>
          </p:txBody>
        </p:sp>
      </p:grpSp>
    </p:spTree>
    <p:extLst>
      <p:ext uri="{BB962C8B-B14F-4D97-AF65-F5344CB8AC3E}">
        <p14:creationId xmlns:p14="http://schemas.microsoft.com/office/powerpoint/2010/main" val="101389935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F3D70D-750B-DD7C-08D3-9F85B5FE7F9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7DC4E56-5142-43CA-BEEE-CCBCEDE96630}"/>
              </a:ext>
            </a:extLst>
          </p:cNvPr>
          <p:cNvSpPr>
            <a:spLocks noGrp="1"/>
          </p:cNvSpPr>
          <p:nvPr>
            <p:ph type="body" sz="quarter" idx="11"/>
          </p:nvPr>
        </p:nvSpPr>
        <p:spPr/>
        <p:txBody>
          <a:bodyPr/>
          <a:lstStyle/>
          <a:p>
            <a:r>
              <a:rPr lang="en-US"/>
              <a:t>Mission, Strategic Frameworks, Strategic Priorities</a:t>
            </a:r>
            <a:endParaRPr lang="en-CA"/>
          </a:p>
        </p:txBody>
      </p:sp>
      <p:sp>
        <p:nvSpPr>
          <p:cNvPr id="3" name="Text Placeholder 2">
            <a:extLst>
              <a:ext uri="{FF2B5EF4-FFF2-40B4-BE49-F238E27FC236}">
                <a16:creationId xmlns:a16="http://schemas.microsoft.com/office/drawing/2014/main" id="{5A91E87B-BDFD-5001-EB46-DB8E233323C0}"/>
              </a:ext>
            </a:extLst>
          </p:cNvPr>
          <p:cNvSpPr>
            <a:spLocks noGrp="1"/>
          </p:cNvSpPr>
          <p:nvPr>
            <p:ph type="body" sz="quarter" idx="12"/>
          </p:nvPr>
        </p:nvSpPr>
        <p:spPr/>
        <p:txBody>
          <a:bodyPr/>
          <a:lstStyle/>
          <a:p>
            <a:r>
              <a:rPr lang="en-CA"/>
              <a:t>10</a:t>
            </a:r>
          </a:p>
        </p:txBody>
      </p:sp>
    </p:spTree>
    <p:extLst>
      <p:ext uri="{BB962C8B-B14F-4D97-AF65-F5344CB8AC3E}">
        <p14:creationId xmlns:p14="http://schemas.microsoft.com/office/powerpoint/2010/main" val="240591105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B8ED54-F848-C82A-A089-D5247C81557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A8C5320-3D48-1FD3-68D7-1CCCB9D40BBF}"/>
              </a:ext>
            </a:extLst>
          </p:cNvPr>
          <p:cNvSpPr>
            <a:spLocks noGrp="1"/>
          </p:cNvSpPr>
          <p:nvPr>
            <p:ph type="title"/>
          </p:nvPr>
        </p:nvSpPr>
        <p:spPr/>
        <p:txBody>
          <a:bodyPr vert="horz" lIns="0" tIns="0" rIns="0" bIns="0" rtlCol="0" anchor="t">
            <a:noAutofit/>
          </a:bodyPr>
          <a:lstStyle/>
          <a:p>
            <a:r>
              <a:rPr lang="en-US" noProof="0">
                <a:solidFill>
                  <a:srgbClr val="EC111A"/>
                </a:solidFill>
              </a:rPr>
              <a:t>SBM Forward Looking Strategy | </a:t>
            </a:r>
            <a:r>
              <a:rPr lang="en-US" noProof="0"/>
              <a:t>Our 2030 plan is anchored on our four strategic pillars</a:t>
            </a:r>
          </a:p>
        </p:txBody>
      </p:sp>
      <p:sp>
        <p:nvSpPr>
          <p:cNvPr id="3" name="Slide Number Placeholder 2">
            <a:extLst>
              <a:ext uri="{FF2B5EF4-FFF2-40B4-BE49-F238E27FC236}">
                <a16:creationId xmlns:a16="http://schemas.microsoft.com/office/drawing/2014/main" id="{B5ACAAC4-DEB4-9B5D-C8E9-07985DF0E12B}"/>
              </a:ext>
            </a:extLst>
          </p:cNvPr>
          <p:cNvSpPr>
            <a:spLocks noGrp="1"/>
          </p:cNvSpPr>
          <p:nvPr>
            <p:ph type="sldNum" sz="quarter" idx="10"/>
          </p:nvPr>
        </p:nvSpPr>
        <p:spPr/>
        <p:txBody>
          <a:bodyPr/>
          <a:lstStyle/>
          <a:p>
            <a:pPr defTabSz="914411">
              <a:defRPr/>
            </a:pPr>
            <a:fld id="{95D835A7-12B2-4074-8DA2-469A8808C237}" type="slidenum">
              <a:rPr lang="en-US">
                <a:solidFill>
                  <a:srgbClr val="000000"/>
                </a:solidFill>
              </a:rPr>
              <a:pPr defTabSz="914411">
                <a:defRPr/>
              </a:pPr>
              <a:t>50</a:t>
            </a:fld>
            <a:endParaRPr lang="en-US">
              <a:solidFill>
                <a:srgbClr val="000000"/>
              </a:solidFill>
            </a:endParaRPr>
          </a:p>
        </p:txBody>
      </p:sp>
      <p:grpSp>
        <p:nvGrpSpPr>
          <p:cNvPr id="4" name="Group 3">
            <a:extLst>
              <a:ext uri="{FF2B5EF4-FFF2-40B4-BE49-F238E27FC236}">
                <a16:creationId xmlns:a16="http://schemas.microsoft.com/office/drawing/2014/main" id="{042D487A-6127-0D02-20DC-0D58702A343A}"/>
              </a:ext>
            </a:extLst>
          </p:cNvPr>
          <p:cNvGrpSpPr/>
          <p:nvPr/>
        </p:nvGrpSpPr>
        <p:grpSpPr>
          <a:xfrm>
            <a:off x="515938" y="1531147"/>
            <a:ext cx="11160124" cy="4482514"/>
            <a:chOff x="354000" y="1269315"/>
            <a:chExt cx="11484000" cy="4930765"/>
          </a:xfrm>
        </p:grpSpPr>
        <p:sp>
          <p:nvSpPr>
            <p:cNvPr id="12" name="Freeform: Shape 11">
              <a:extLst>
                <a:ext uri="{FF2B5EF4-FFF2-40B4-BE49-F238E27FC236}">
                  <a16:creationId xmlns:a16="http://schemas.microsoft.com/office/drawing/2014/main" id="{51240685-3798-13D3-8F8C-FF3D4BDB3B7B}"/>
                </a:ext>
              </a:extLst>
            </p:cNvPr>
            <p:cNvSpPr/>
            <p:nvPr/>
          </p:nvSpPr>
          <p:spPr>
            <a:xfrm>
              <a:off x="354000" y="1269315"/>
              <a:ext cx="11484000" cy="4930765"/>
            </a:xfrm>
            <a:custGeom>
              <a:avLst/>
              <a:gdLst>
                <a:gd name="connsiteX0" fmla="*/ 220077 w 11484000"/>
                <a:gd name="connsiteY0" fmla="*/ 2217380 h 4534734"/>
                <a:gd name="connsiteX1" fmla="*/ 433281 w 11484000"/>
                <a:gd name="connsiteY1" fmla="*/ 2430284 h 4534734"/>
                <a:gd name="connsiteX2" fmla="*/ 433281 w 11484000"/>
                <a:gd name="connsiteY2" fmla="*/ 4071073 h 4534734"/>
                <a:gd name="connsiteX3" fmla="*/ 11050599 w 11484000"/>
                <a:gd name="connsiteY3" fmla="*/ 4071073 h 4534734"/>
                <a:gd name="connsiteX4" fmla="*/ 11050599 w 11484000"/>
                <a:gd name="connsiteY4" fmla="*/ 2645309 h 4534734"/>
                <a:gd name="connsiteX5" fmla="*/ 11257013 w 11484000"/>
                <a:gd name="connsiteY5" fmla="*/ 2852014 h 4534734"/>
                <a:gd name="connsiteX6" fmla="*/ 11484000 w 11484000"/>
                <a:gd name="connsiteY6" fmla="*/ 2625346 h 4534734"/>
                <a:gd name="connsiteX7" fmla="*/ 11484000 w 11484000"/>
                <a:gd name="connsiteY7" fmla="*/ 4534734 h 4534734"/>
                <a:gd name="connsiteX8" fmla="*/ 0 w 11484000"/>
                <a:gd name="connsiteY8" fmla="*/ 4534734 h 4534734"/>
                <a:gd name="connsiteX9" fmla="*/ 0 w 11484000"/>
                <a:gd name="connsiteY9" fmla="*/ 2437766 h 4534734"/>
                <a:gd name="connsiteX10" fmla="*/ 0 w 11484000"/>
                <a:gd name="connsiteY10" fmla="*/ 0 h 4534734"/>
                <a:gd name="connsiteX11" fmla="*/ 11484000 w 11484000"/>
                <a:gd name="connsiteY11" fmla="*/ 0 h 4534734"/>
                <a:gd name="connsiteX12" fmla="*/ 11484000 w 11484000"/>
                <a:gd name="connsiteY12" fmla="*/ 2278012 h 4534734"/>
                <a:gd name="connsiteX13" fmla="*/ 11270737 w 11484000"/>
                <a:gd name="connsiteY13" fmla="*/ 2490975 h 4534734"/>
                <a:gd name="connsiteX14" fmla="*/ 11050599 w 11484000"/>
                <a:gd name="connsiteY14" fmla="*/ 2270527 h 4534734"/>
                <a:gd name="connsiteX15" fmla="*/ 11050599 w 11484000"/>
                <a:gd name="connsiteY15" fmla="*/ 434018 h 4534734"/>
                <a:gd name="connsiteX16" fmla="*/ 433281 w 11484000"/>
                <a:gd name="connsiteY16" fmla="*/ 434018 h 4534734"/>
                <a:gd name="connsiteX17" fmla="*/ 433281 w 11484000"/>
                <a:gd name="connsiteY17" fmla="*/ 2082950 h 4534734"/>
                <a:gd name="connsiteX18" fmla="*/ 206352 w 11484000"/>
                <a:gd name="connsiteY18" fmla="*/ 1856341 h 4534734"/>
                <a:gd name="connsiteX19" fmla="*/ 0 w 11484000"/>
                <a:gd name="connsiteY19" fmla="*/ 2062983 h 453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484000" h="4534734">
                  <a:moveTo>
                    <a:pt x="220077" y="2217380"/>
                  </a:moveTo>
                  <a:lnTo>
                    <a:pt x="433281" y="2430284"/>
                  </a:lnTo>
                  <a:lnTo>
                    <a:pt x="433281" y="4071073"/>
                  </a:lnTo>
                  <a:lnTo>
                    <a:pt x="11050599" y="4071073"/>
                  </a:lnTo>
                  <a:lnTo>
                    <a:pt x="11050599" y="2645309"/>
                  </a:lnTo>
                  <a:lnTo>
                    <a:pt x="11257013" y="2852014"/>
                  </a:lnTo>
                  <a:lnTo>
                    <a:pt x="11484000" y="2625346"/>
                  </a:lnTo>
                  <a:lnTo>
                    <a:pt x="11484000" y="4534734"/>
                  </a:lnTo>
                  <a:lnTo>
                    <a:pt x="0" y="4534734"/>
                  </a:lnTo>
                  <a:lnTo>
                    <a:pt x="0" y="2437766"/>
                  </a:lnTo>
                  <a:close/>
                  <a:moveTo>
                    <a:pt x="0" y="0"/>
                  </a:moveTo>
                  <a:lnTo>
                    <a:pt x="11484000" y="0"/>
                  </a:lnTo>
                  <a:lnTo>
                    <a:pt x="11484000" y="2278012"/>
                  </a:lnTo>
                  <a:lnTo>
                    <a:pt x="11270737" y="2490975"/>
                  </a:lnTo>
                  <a:lnTo>
                    <a:pt x="11050599" y="2270527"/>
                  </a:lnTo>
                  <a:lnTo>
                    <a:pt x="11050599" y="434018"/>
                  </a:lnTo>
                  <a:lnTo>
                    <a:pt x="433281" y="434018"/>
                  </a:lnTo>
                  <a:lnTo>
                    <a:pt x="433281" y="2082950"/>
                  </a:lnTo>
                  <a:lnTo>
                    <a:pt x="206352" y="1856341"/>
                  </a:lnTo>
                  <a:lnTo>
                    <a:pt x="0" y="2062983"/>
                  </a:lnTo>
                  <a:close/>
                </a:path>
              </a:pathLst>
            </a:custGeom>
            <a:solidFill>
              <a:srgbClr val="C00000"/>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914411">
                <a:spcBef>
                  <a:spcPts val="300"/>
                </a:spcBef>
                <a:defRPr/>
              </a:pPr>
              <a:endParaRPr lang="en-US" sz="1051">
                <a:solidFill>
                  <a:srgbClr val="000000"/>
                </a:solidFill>
                <a:latin typeface="Scotia"/>
              </a:endParaRPr>
            </a:p>
          </p:txBody>
        </p:sp>
        <p:sp>
          <p:nvSpPr>
            <p:cNvPr id="14" name="Rectangle 26">
              <a:extLst>
                <a:ext uri="{FF2B5EF4-FFF2-40B4-BE49-F238E27FC236}">
                  <a16:creationId xmlns:a16="http://schemas.microsoft.com/office/drawing/2014/main" id="{558C348A-43F0-F537-B926-2136B560A14D}"/>
                </a:ext>
              </a:extLst>
            </p:cNvPr>
            <p:cNvSpPr/>
            <p:nvPr/>
          </p:nvSpPr>
          <p:spPr>
            <a:xfrm>
              <a:off x="8769641" y="2145777"/>
              <a:ext cx="2355838" cy="3204000"/>
            </a:xfrm>
            <a:prstGeom prst="rect">
              <a:avLst/>
            </a:prstGeom>
            <a:solidFill>
              <a:srgbClr val="F6F6F6"/>
            </a:solidFill>
            <a:ln w="12700">
              <a:solidFill>
                <a:srgbClr val="BCB8A4"/>
              </a:solidFill>
            </a:ln>
          </p:spPr>
          <p:style>
            <a:lnRef idx="2">
              <a:schemeClr val="accent1">
                <a:shade val="50000"/>
              </a:schemeClr>
            </a:lnRef>
            <a:fillRef idx="1">
              <a:schemeClr val="accent1"/>
            </a:fillRef>
            <a:effectRef idx="0">
              <a:schemeClr val="accent1"/>
            </a:effectRef>
            <a:fontRef idx="minor">
              <a:schemeClr val="lt1"/>
            </a:fontRef>
          </p:style>
          <p:txBody>
            <a:bodyPr lIns="108000" tIns="360000" rIns="108000" rtlCol="0" anchor="t"/>
            <a:lstStyle/>
            <a:p>
              <a:pPr marL="171453" indent="-171453" defTabSz="914367">
                <a:spcBef>
                  <a:spcPts val="1200"/>
                </a:spcBef>
                <a:buFont typeface="Arial" panose="020B0604020202020204" pitchFamily="34" charset="0"/>
                <a:buChar char="•"/>
                <a:defRPr/>
              </a:pPr>
              <a:endParaRPr lang="en-US" sz="1401">
                <a:solidFill>
                  <a:srgbClr val="1E1117"/>
                </a:solidFill>
                <a:latin typeface="Scotia" panose="020F0502020204030204"/>
                <a:ea typeface="Scotia Light" panose="020B0403020203020204" pitchFamily="34" charset="0"/>
              </a:endParaRPr>
            </a:p>
          </p:txBody>
        </p:sp>
        <p:sp>
          <p:nvSpPr>
            <p:cNvPr id="15" name="Rectangle 29">
              <a:extLst>
                <a:ext uri="{FF2B5EF4-FFF2-40B4-BE49-F238E27FC236}">
                  <a16:creationId xmlns:a16="http://schemas.microsoft.com/office/drawing/2014/main" id="{925CB389-0CD4-C4F6-BB14-6ED02148B991}"/>
                </a:ext>
              </a:extLst>
            </p:cNvPr>
            <p:cNvSpPr/>
            <p:nvPr/>
          </p:nvSpPr>
          <p:spPr>
            <a:xfrm>
              <a:off x="3634228" y="2145777"/>
              <a:ext cx="2355838" cy="3204000"/>
            </a:xfrm>
            <a:prstGeom prst="rect">
              <a:avLst/>
            </a:prstGeom>
            <a:solidFill>
              <a:srgbClr val="F6F6F6"/>
            </a:solidFill>
            <a:ln w="12700">
              <a:solidFill>
                <a:srgbClr val="BCB8A4"/>
              </a:solidFill>
            </a:ln>
          </p:spPr>
          <p:style>
            <a:lnRef idx="2">
              <a:schemeClr val="accent1">
                <a:shade val="50000"/>
              </a:schemeClr>
            </a:lnRef>
            <a:fillRef idx="1">
              <a:schemeClr val="accent1"/>
            </a:fillRef>
            <a:effectRef idx="0">
              <a:schemeClr val="accent1"/>
            </a:effectRef>
            <a:fontRef idx="minor">
              <a:schemeClr val="lt1"/>
            </a:fontRef>
          </p:style>
          <p:txBody>
            <a:bodyPr lIns="108000" tIns="360000" rIns="108000" rtlCol="0" anchor="t"/>
            <a:lstStyle/>
            <a:p>
              <a:pPr algn="ctr" defTabSz="914411">
                <a:spcBef>
                  <a:spcPts val="900"/>
                </a:spcBef>
                <a:defRPr/>
              </a:pPr>
              <a:endParaRPr lang="en-US" sz="1600" b="1">
                <a:solidFill>
                  <a:srgbClr val="000000"/>
                </a:solidFill>
                <a:latin typeface="Scotia" panose="020F0502020204030204"/>
                <a:ea typeface="Scotia Light" panose="020B0403020203020204" pitchFamily="34" charset="0"/>
              </a:endParaRPr>
            </a:p>
          </p:txBody>
        </p:sp>
        <p:sp>
          <p:nvSpPr>
            <p:cNvPr id="16" name="Rectangle 36">
              <a:extLst>
                <a:ext uri="{FF2B5EF4-FFF2-40B4-BE49-F238E27FC236}">
                  <a16:creationId xmlns:a16="http://schemas.microsoft.com/office/drawing/2014/main" id="{E0996518-37CF-A7BF-3489-F510447A1F79}"/>
                </a:ext>
              </a:extLst>
            </p:cNvPr>
            <p:cNvSpPr/>
            <p:nvPr/>
          </p:nvSpPr>
          <p:spPr>
            <a:xfrm>
              <a:off x="6201934" y="2145777"/>
              <a:ext cx="2355838" cy="3204000"/>
            </a:xfrm>
            <a:prstGeom prst="rect">
              <a:avLst/>
            </a:prstGeom>
            <a:solidFill>
              <a:srgbClr val="F6F6F6"/>
            </a:solidFill>
            <a:ln w="12700">
              <a:solidFill>
                <a:srgbClr val="BCB8A4"/>
              </a:solidFill>
            </a:ln>
          </p:spPr>
          <p:style>
            <a:lnRef idx="2">
              <a:schemeClr val="accent1">
                <a:shade val="50000"/>
              </a:schemeClr>
            </a:lnRef>
            <a:fillRef idx="1">
              <a:schemeClr val="accent1"/>
            </a:fillRef>
            <a:effectRef idx="0">
              <a:schemeClr val="accent1"/>
            </a:effectRef>
            <a:fontRef idx="minor">
              <a:schemeClr val="lt1"/>
            </a:fontRef>
          </p:style>
          <p:txBody>
            <a:bodyPr lIns="108000" tIns="360000" rIns="108000" rtlCol="0" anchor="t"/>
            <a:lstStyle/>
            <a:p>
              <a:pPr algn="ctr" defTabSz="914411">
                <a:spcBef>
                  <a:spcPts val="900"/>
                </a:spcBef>
                <a:defRPr/>
              </a:pPr>
              <a:endParaRPr lang="en-US" sz="1600" b="1">
                <a:solidFill>
                  <a:srgbClr val="000000"/>
                </a:solidFill>
                <a:latin typeface="Scotia" panose="020F0502020204030204"/>
                <a:ea typeface="Scotia Light" panose="020B0403020203020204" pitchFamily="34" charset="0"/>
              </a:endParaRPr>
            </a:p>
          </p:txBody>
        </p:sp>
        <p:sp>
          <p:nvSpPr>
            <p:cNvPr id="17" name="Rectangle 32">
              <a:extLst>
                <a:ext uri="{FF2B5EF4-FFF2-40B4-BE49-F238E27FC236}">
                  <a16:creationId xmlns:a16="http://schemas.microsoft.com/office/drawing/2014/main" id="{298B550B-5642-2D33-F514-2E0623968257}"/>
                </a:ext>
              </a:extLst>
            </p:cNvPr>
            <p:cNvSpPr/>
            <p:nvPr/>
          </p:nvSpPr>
          <p:spPr>
            <a:xfrm>
              <a:off x="1066522" y="2145777"/>
              <a:ext cx="2355838" cy="3204000"/>
            </a:xfrm>
            <a:prstGeom prst="rect">
              <a:avLst/>
            </a:prstGeom>
            <a:solidFill>
              <a:srgbClr val="F6F6F6"/>
            </a:solidFill>
            <a:ln w="12700">
              <a:solidFill>
                <a:srgbClr val="BCB8A4"/>
              </a:solidFill>
            </a:ln>
          </p:spPr>
          <p:style>
            <a:lnRef idx="2">
              <a:schemeClr val="accent1">
                <a:shade val="50000"/>
              </a:schemeClr>
            </a:lnRef>
            <a:fillRef idx="1">
              <a:schemeClr val="accent1"/>
            </a:fillRef>
            <a:effectRef idx="0">
              <a:schemeClr val="accent1"/>
            </a:effectRef>
            <a:fontRef idx="minor">
              <a:schemeClr val="lt1"/>
            </a:fontRef>
          </p:style>
          <p:txBody>
            <a:bodyPr lIns="108000" tIns="360000" rIns="108000" rtlCol="0" anchor="t"/>
            <a:lstStyle/>
            <a:p>
              <a:pPr algn="ctr" defTabSz="914411">
                <a:spcBef>
                  <a:spcPts val="900"/>
                </a:spcBef>
                <a:defRPr/>
              </a:pPr>
              <a:endParaRPr lang="en-US" sz="1600">
                <a:solidFill>
                  <a:srgbClr val="1E1117"/>
                </a:solidFill>
                <a:latin typeface="Scotia" panose="020F0502020204030204"/>
                <a:ea typeface="Scotia Light" panose="020B0403020203020204" pitchFamily="34" charset="0"/>
              </a:endParaRPr>
            </a:p>
          </p:txBody>
        </p:sp>
        <p:sp>
          <p:nvSpPr>
            <p:cNvPr id="18" name="Rectángulo 50">
              <a:extLst>
                <a:ext uri="{FF2B5EF4-FFF2-40B4-BE49-F238E27FC236}">
                  <a16:creationId xmlns:a16="http://schemas.microsoft.com/office/drawing/2014/main" id="{245B26B8-1713-C2E6-AABC-9237F3C0022A}"/>
                </a:ext>
              </a:extLst>
            </p:cNvPr>
            <p:cNvSpPr/>
            <p:nvPr/>
          </p:nvSpPr>
          <p:spPr>
            <a:xfrm>
              <a:off x="516000" y="1270340"/>
              <a:ext cx="11160000" cy="481694"/>
            </a:xfrm>
            <a:prstGeom prst="rect">
              <a:avLst/>
            </a:prstGeom>
            <a:no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411">
                <a:spcBef>
                  <a:spcPts val="300"/>
                </a:spcBef>
                <a:defRPr/>
              </a:pPr>
              <a:r>
                <a:rPr lang="en-US" sz="1600" b="1">
                  <a:solidFill>
                    <a:srgbClr val="FFFFFF"/>
                  </a:solidFill>
                  <a:latin typeface="Scotia"/>
                </a:rPr>
                <a:t>BE THE MOST TRUSTED FINANCIAL PARTNER FOR OUR CLIENTS…</a:t>
              </a:r>
            </a:p>
          </p:txBody>
        </p:sp>
        <p:sp>
          <p:nvSpPr>
            <p:cNvPr id="19" name="Rectángulo 51">
              <a:extLst>
                <a:ext uri="{FF2B5EF4-FFF2-40B4-BE49-F238E27FC236}">
                  <a16:creationId xmlns:a16="http://schemas.microsoft.com/office/drawing/2014/main" id="{5AC1AEDA-C444-115D-A5BF-63B5441431C5}"/>
                </a:ext>
              </a:extLst>
            </p:cNvPr>
            <p:cNvSpPr/>
            <p:nvPr/>
          </p:nvSpPr>
          <p:spPr>
            <a:xfrm>
              <a:off x="516000" y="5713087"/>
              <a:ext cx="11160000" cy="481694"/>
            </a:xfrm>
            <a:prstGeom prst="rect">
              <a:avLst/>
            </a:prstGeom>
            <a:no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411">
                <a:spcBef>
                  <a:spcPts val="300"/>
                </a:spcBef>
                <a:defRPr/>
              </a:pPr>
              <a:r>
                <a:rPr lang="en-US" sz="1600" b="1">
                  <a:solidFill>
                    <a:srgbClr val="FFFFFF"/>
                  </a:solidFill>
                  <a:latin typeface="Scotia"/>
                </a:rPr>
                <a:t>…TO DRIVE SUSTAINABLE AND PROFITABLE GROWTH AND MAXIMIZE SHAREHOLDER RETURNS</a:t>
              </a:r>
            </a:p>
          </p:txBody>
        </p:sp>
        <p:grpSp>
          <p:nvGrpSpPr>
            <p:cNvPr id="20" name="Grupo 27">
              <a:extLst>
                <a:ext uri="{FF2B5EF4-FFF2-40B4-BE49-F238E27FC236}">
                  <a16:creationId xmlns:a16="http://schemas.microsoft.com/office/drawing/2014/main" id="{4C339A06-EFFB-DAF2-7868-198F6FCFBBB5}"/>
                </a:ext>
              </a:extLst>
            </p:cNvPr>
            <p:cNvGrpSpPr/>
            <p:nvPr/>
          </p:nvGrpSpPr>
          <p:grpSpPr>
            <a:xfrm>
              <a:off x="1292216" y="2841280"/>
              <a:ext cx="9601608" cy="1535216"/>
              <a:chOff x="1303422" y="2505103"/>
              <a:chExt cx="9601608" cy="1535216"/>
            </a:xfrm>
          </p:grpSpPr>
          <p:sp>
            <p:nvSpPr>
              <p:cNvPr id="21" name="Shape 2617">
                <a:extLst>
                  <a:ext uri="{FF2B5EF4-FFF2-40B4-BE49-F238E27FC236}">
                    <a16:creationId xmlns:a16="http://schemas.microsoft.com/office/drawing/2014/main" id="{0E04D148-20C0-14BE-7029-5FAB581CD12B}"/>
                  </a:ext>
                </a:extLst>
              </p:cNvPr>
              <p:cNvSpPr/>
              <p:nvPr/>
            </p:nvSpPr>
            <p:spPr>
              <a:xfrm>
                <a:off x="9775905" y="2539765"/>
                <a:ext cx="361494" cy="305580"/>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FF0000"/>
              </a:solidFill>
              <a:ln w="9525">
                <a:solidFill>
                  <a:schemeClr val="accent1"/>
                </a:solidFill>
                <a:miter lim="400000"/>
              </a:ln>
            </p:spPr>
            <p:txBody>
              <a:bodyPr lIns="38091" tIns="38091" rIns="38091" bIns="38091" anchor="ctr"/>
              <a:lstStyle/>
              <a:p>
                <a:pPr defTabSz="45706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2999">
                  <a:solidFill>
                    <a:srgbClr val="FFFFFF"/>
                  </a:solidFill>
                  <a:effectLst>
                    <a:outerShdw blurRad="38100" dist="12700" dir="5400000" rotWithShape="0">
                      <a:srgbClr val="000000">
                        <a:alpha val="50000"/>
                      </a:srgbClr>
                    </a:outerShdw>
                  </a:effectLst>
                  <a:latin typeface="Gill Sans"/>
                  <a:sym typeface="Gill Sans"/>
                </a:endParaRPr>
              </a:p>
            </p:txBody>
          </p:sp>
          <p:sp>
            <p:nvSpPr>
              <p:cNvPr id="22" name="Shape 2581">
                <a:extLst>
                  <a:ext uri="{FF2B5EF4-FFF2-40B4-BE49-F238E27FC236}">
                    <a16:creationId xmlns:a16="http://schemas.microsoft.com/office/drawing/2014/main" id="{BCC045E0-ADDD-BC72-2CF4-8CBAA1A88FAA}"/>
                  </a:ext>
                </a:extLst>
              </p:cNvPr>
              <p:cNvSpPr/>
              <p:nvPr/>
            </p:nvSpPr>
            <p:spPr>
              <a:xfrm>
                <a:off x="4633787" y="2517274"/>
                <a:ext cx="374904" cy="374904"/>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FF0000"/>
              </a:solidFill>
              <a:ln w="9525">
                <a:solidFill>
                  <a:schemeClr val="accent1"/>
                </a:solidFill>
                <a:miter lim="400000"/>
              </a:ln>
            </p:spPr>
            <p:txBody>
              <a:bodyPr lIns="38091" tIns="38091" rIns="38091" bIns="38091" anchor="ctr"/>
              <a:lstStyle/>
              <a:p>
                <a:pPr defTabSz="45706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2999">
                  <a:solidFill>
                    <a:srgbClr val="FFFFFF"/>
                  </a:solidFill>
                  <a:effectLst>
                    <a:outerShdw blurRad="38100" dist="12700" dir="5400000" rotWithShape="0">
                      <a:srgbClr val="000000">
                        <a:alpha val="50000"/>
                      </a:srgbClr>
                    </a:outerShdw>
                  </a:effectLst>
                  <a:latin typeface="Gill Sans"/>
                  <a:sym typeface="Gill Sans"/>
                </a:endParaRPr>
              </a:p>
            </p:txBody>
          </p:sp>
          <p:sp>
            <p:nvSpPr>
              <p:cNvPr id="23" name="Shape 2624">
                <a:extLst>
                  <a:ext uri="{FF2B5EF4-FFF2-40B4-BE49-F238E27FC236}">
                    <a16:creationId xmlns:a16="http://schemas.microsoft.com/office/drawing/2014/main" id="{8ABB3905-242A-D2F7-13B3-63976E5DD2C6}"/>
                  </a:ext>
                </a:extLst>
              </p:cNvPr>
              <p:cNvSpPr/>
              <p:nvPr/>
            </p:nvSpPr>
            <p:spPr>
              <a:xfrm>
                <a:off x="7201493" y="2505103"/>
                <a:ext cx="374904" cy="374904"/>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FF0000"/>
              </a:solidFill>
              <a:ln w="9525">
                <a:solidFill>
                  <a:schemeClr val="accent1"/>
                </a:solidFill>
                <a:miter lim="400000"/>
              </a:ln>
            </p:spPr>
            <p:txBody>
              <a:bodyPr lIns="38091" tIns="38091" rIns="38091" bIns="38091" anchor="ctr"/>
              <a:lstStyle/>
              <a:p>
                <a:pPr defTabSz="45706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2999">
                  <a:solidFill>
                    <a:srgbClr val="FFFFFF"/>
                  </a:solidFill>
                  <a:effectLst>
                    <a:outerShdw blurRad="38100" dist="12700" dir="5400000" rotWithShape="0">
                      <a:srgbClr val="000000">
                        <a:alpha val="50000"/>
                      </a:srgbClr>
                    </a:outerShdw>
                  </a:effectLst>
                  <a:latin typeface="Gill Sans"/>
                  <a:sym typeface="Gill Sans"/>
                </a:endParaRPr>
              </a:p>
            </p:txBody>
          </p:sp>
          <p:sp>
            <p:nvSpPr>
              <p:cNvPr id="24" name="Shape 2944">
                <a:extLst>
                  <a:ext uri="{FF2B5EF4-FFF2-40B4-BE49-F238E27FC236}">
                    <a16:creationId xmlns:a16="http://schemas.microsoft.com/office/drawing/2014/main" id="{54C84162-5ACE-8F25-B58E-5F56DC70799A}"/>
                  </a:ext>
                </a:extLst>
              </p:cNvPr>
              <p:cNvSpPr/>
              <p:nvPr/>
            </p:nvSpPr>
            <p:spPr>
              <a:xfrm>
                <a:off x="2055814" y="2517274"/>
                <a:ext cx="371916" cy="37490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FF0000"/>
              </a:solidFill>
              <a:ln w="9525">
                <a:solidFill>
                  <a:schemeClr val="accent1"/>
                </a:solidFill>
                <a:miter lim="400000"/>
              </a:ln>
            </p:spPr>
            <p:txBody>
              <a:bodyPr lIns="38091" tIns="38091" rIns="38091" bIns="38091" anchor="ctr"/>
              <a:lstStyle/>
              <a:p>
                <a:pPr defTabSz="45706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2999">
                  <a:solidFill>
                    <a:srgbClr val="FFFFFF"/>
                  </a:solidFill>
                  <a:effectLst>
                    <a:outerShdw blurRad="38100" dist="12700" dir="5400000" rotWithShape="0">
                      <a:srgbClr val="000000">
                        <a:alpha val="50000"/>
                      </a:srgbClr>
                    </a:outerShdw>
                  </a:effectLst>
                  <a:latin typeface="Gill Sans"/>
                  <a:sym typeface="Gill Sans"/>
                </a:endParaRPr>
              </a:p>
            </p:txBody>
          </p:sp>
          <p:sp>
            <p:nvSpPr>
              <p:cNvPr id="25" name="Rectangle 43">
                <a:extLst>
                  <a:ext uri="{FF2B5EF4-FFF2-40B4-BE49-F238E27FC236}">
                    <a16:creationId xmlns:a16="http://schemas.microsoft.com/office/drawing/2014/main" id="{11459A82-E143-98C9-52EC-5C619DBE359F}"/>
                  </a:ext>
                </a:extLst>
              </p:cNvPr>
              <p:cNvSpPr/>
              <p:nvPr/>
            </p:nvSpPr>
            <p:spPr>
              <a:xfrm>
                <a:off x="3871128" y="3125800"/>
                <a:ext cx="1882038" cy="91451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spAutoFit/>
              </a:bodyPr>
              <a:lstStyle/>
              <a:p>
                <a:pPr algn="ctr">
                  <a:spcBef>
                    <a:spcPts val="900"/>
                  </a:spcBef>
                  <a:defRPr/>
                </a:pPr>
                <a:r>
                  <a:rPr lang="en-US" sz="1801" b="1">
                    <a:solidFill>
                      <a:srgbClr val="000000"/>
                    </a:solidFill>
                    <a:ea typeface="Scotia Light" panose="020B0403020203020204" pitchFamily="34" charset="0"/>
                  </a:rPr>
                  <a:t>Build primary relationships with clients</a:t>
                </a:r>
              </a:p>
            </p:txBody>
          </p:sp>
          <p:sp>
            <p:nvSpPr>
              <p:cNvPr id="26" name="Rectangle 47">
                <a:extLst>
                  <a:ext uri="{FF2B5EF4-FFF2-40B4-BE49-F238E27FC236}">
                    <a16:creationId xmlns:a16="http://schemas.microsoft.com/office/drawing/2014/main" id="{534A0969-D191-5566-CC0F-371F9B4B4202}"/>
                  </a:ext>
                </a:extLst>
              </p:cNvPr>
              <p:cNvSpPr/>
              <p:nvPr/>
            </p:nvSpPr>
            <p:spPr>
              <a:xfrm>
                <a:off x="6333766" y="3125800"/>
                <a:ext cx="2110358" cy="91451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ctr">
                  <a:spcBef>
                    <a:spcPts val="900"/>
                  </a:spcBef>
                  <a:defRPr/>
                </a:pPr>
                <a:r>
                  <a:rPr lang="en-US" sz="1801" b="1">
                    <a:solidFill>
                      <a:srgbClr val="000000"/>
                    </a:solidFill>
                    <a:latin typeface="Scotia Headline" panose="020B0703020203020204" pitchFamily="34" charset="0"/>
                    <a:ea typeface="Scotia Headline" panose="020B0703020203020204" pitchFamily="34" charset="0"/>
                  </a:rPr>
                  <a:t>Make it easier to do business with us</a:t>
                </a:r>
              </a:p>
            </p:txBody>
          </p:sp>
          <p:sp>
            <p:nvSpPr>
              <p:cNvPr id="27" name="Rectangle 45">
                <a:extLst>
                  <a:ext uri="{FF2B5EF4-FFF2-40B4-BE49-F238E27FC236}">
                    <a16:creationId xmlns:a16="http://schemas.microsoft.com/office/drawing/2014/main" id="{6C0B247E-CB5F-014F-F6B8-052F50C6063A}"/>
                  </a:ext>
                </a:extLst>
              </p:cNvPr>
              <p:cNvSpPr/>
              <p:nvPr/>
            </p:nvSpPr>
            <p:spPr>
              <a:xfrm>
                <a:off x="1303422" y="3125800"/>
                <a:ext cx="1882038" cy="60967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spAutoFit/>
              </a:bodyPr>
              <a:lstStyle/>
              <a:p>
                <a:pPr algn="ctr">
                  <a:spcBef>
                    <a:spcPts val="900"/>
                  </a:spcBef>
                  <a:defRPr/>
                </a:pPr>
                <a:r>
                  <a:rPr lang="en-US" sz="1801" b="1">
                    <a:solidFill>
                      <a:srgbClr val="000000"/>
                    </a:solidFill>
                    <a:latin typeface="Scotia Headline" panose="020B0703020203020204" pitchFamily="34" charset="0"/>
                    <a:ea typeface="Scotia Headline" panose="020B0703020203020204" pitchFamily="34" charset="0"/>
                  </a:rPr>
                  <a:t>Grow in priority markets</a:t>
                </a:r>
                <a:endParaRPr lang="en-US" sz="1801">
                  <a:solidFill>
                    <a:srgbClr val="1E1117"/>
                  </a:solidFill>
                  <a:latin typeface="Scotia Headline" panose="020B0703020203020204" pitchFamily="34" charset="0"/>
                  <a:ea typeface="Scotia Headline" panose="020B0703020203020204" pitchFamily="34" charset="0"/>
                </a:endParaRPr>
              </a:p>
            </p:txBody>
          </p:sp>
          <p:sp>
            <p:nvSpPr>
              <p:cNvPr id="28" name="Rectangle 42">
                <a:extLst>
                  <a:ext uri="{FF2B5EF4-FFF2-40B4-BE49-F238E27FC236}">
                    <a16:creationId xmlns:a16="http://schemas.microsoft.com/office/drawing/2014/main" id="{FCEF6BB0-7B49-3A30-4A45-9FB482B052EF}"/>
                  </a:ext>
                </a:extLst>
              </p:cNvPr>
              <p:cNvSpPr/>
              <p:nvPr/>
            </p:nvSpPr>
            <p:spPr>
              <a:xfrm>
                <a:off x="8990091" y="3125800"/>
                <a:ext cx="1914939" cy="60967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spAutoFit/>
              </a:bodyPr>
              <a:lstStyle/>
              <a:p>
                <a:pPr algn="ctr">
                  <a:spcBef>
                    <a:spcPts val="900"/>
                  </a:spcBef>
                  <a:defRPr/>
                </a:pPr>
                <a:r>
                  <a:rPr lang="en-US" sz="1801" b="1">
                    <a:solidFill>
                      <a:srgbClr val="000000"/>
                    </a:solidFill>
                    <a:latin typeface="Scotia Headline" panose="020B0703020203020204" pitchFamily="34" charset="0"/>
                    <a:ea typeface="Scotia Headline" panose="020B0703020203020204" pitchFamily="34" charset="0"/>
                  </a:rPr>
                  <a:t>Win as </a:t>
                </a:r>
                <a:br>
                  <a:rPr lang="en-US" sz="1801" b="1">
                    <a:solidFill>
                      <a:srgbClr val="000000"/>
                    </a:solidFill>
                    <a:latin typeface="Scotia Headline" panose="020B0703020203020204" pitchFamily="34" charset="0"/>
                    <a:ea typeface="Scotia Headline" panose="020B0703020203020204" pitchFamily="34" charset="0"/>
                  </a:rPr>
                </a:br>
                <a:r>
                  <a:rPr lang="en-US" sz="1801" b="1">
                    <a:solidFill>
                      <a:srgbClr val="000000"/>
                    </a:solidFill>
                    <a:latin typeface="Scotia Headline" panose="020B0703020203020204" pitchFamily="34" charset="0"/>
                    <a:ea typeface="Scotia Headline" panose="020B0703020203020204" pitchFamily="34" charset="0"/>
                  </a:rPr>
                  <a:t>one team</a:t>
                </a:r>
                <a:endParaRPr lang="en-US" sz="1801">
                  <a:solidFill>
                    <a:srgbClr val="000000"/>
                  </a:solidFill>
                  <a:latin typeface="Scotia Headline" panose="020B0703020203020204" pitchFamily="34" charset="0"/>
                  <a:ea typeface="Scotia Headline" panose="020B0703020203020204" pitchFamily="34" charset="0"/>
                </a:endParaRPr>
              </a:p>
            </p:txBody>
          </p:sp>
        </p:grpSp>
      </p:grpSp>
      <p:sp>
        <p:nvSpPr>
          <p:cNvPr id="5" name="Text Placeholder 6">
            <a:extLst>
              <a:ext uri="{FF2B5EF4-FFF2-40B4-BE49-F238E27FC236}">
                <a16:creationId xmlns:a16="http://schemas.microsoft.com/office/drawing/2014/main" id="{ACFF0EAA-A946-4DD5-A92A-E9CDE26BE46B}"/>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t>MEXICO</a:t>
            </a:r>
          </a:p>
        </p:txBody>
      </p:sp>
      <p:sp>
        <p:nvSpPr>
          <p:cNvPr id="6" name="Text Placeholder 6">
            <a:extLst>
              <a:ext uri="{FF2B5EF4-FFF2-40B4-BE49-F238E27FC236}">
                <a16:creationId xmlns:a16="http://schemas.microsoft.com/office/drawing/2014/main" id="{67F7BAF0-5594-9BEC-61EA-93B310389AC5}"/>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l">
              <a:defRPr/>
            </a:pPr>
            <a:r>
              <a:rPr lang="en-US" sz="1001">
                <a:solidFill>
                  <a:srgbClr val="000000"/>
                </a:solidFill>
              </a:rPr>
              <a:t>ALL BANK</a:t>
            </a:r>
          </a:p>
        </p:txBody>
      </p:sp>
    </p:spTree>
    <p:extLst>
      <p:ext uri="{BB962C8B-B14F-4D97-AF65-F5344CB8AC3E}">
        <p14:creationId xmlns:p14="http://schemas.microsoft.com/office/powerpoint/2010/main" val="381563592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677C89-7298-FA03-1315-66A97CBF56E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1D6D13C-36E5-AB61-71A5-0566DE6B2410}"/>
              </a:ext>
            </a:extLst>
          </p:cNvPr>
          <p:cNvSpPr>
            <a:spLocks noGrp="1"/>
          </p:cNvSpPr>
          <p:nvPr>
            <p:ph type="title"/>
          </p:nvPr>
        </p:nvSpPr>
        <p:spPr/>
        <p:txBody>
          <a:bodyPr vert="horz" lIns="0" tIns="0" rIns="0" bIns="0" rtlCol="0" anchor="t">
            <a:noAutofit/>
          </a:bodyPr>
          <a:lstStyle/>
          <a:p>
            <a:r>
              <a:rPr lang="en-US" noProof="0">
                <a:solidFill>
                  <a:srgbClr val="EC111A"/>
                </a:solidFill>
              </a:rPr>
              <a:t>All-Bank Strategic Priorities | </a:t>
            </a:r>
            <a:r>
              <a:rPr lang="en-US" noProof="0"/>
              <a:t>We identified eight strategic priorities to address these challenges and achieve our 2030 goals</a:t>
            </a:r>
          </a:p>
        </p:txBody>
      </p:sp>
      <p:sp>
        <p:nvSpPr>
          <p:cNvPr id="3" name="Slide Number Placeholder 2">
            <a:extLst>
              <a:ext uri="{FF2B5EF4-FFF2-40B4-BE49-F238E27FC236}">
                <a16:creationId xmlns:a16="http://schemas.microsoft.com/office/drawing/2014/main" id="{42DA0F2D-ECB1-39EF-F14C-AD22471D76C9}"/>
              </a:ext>
            </a:extLst>
          </p:cNvPr>
          <p:cNvSpPr>
            <a:spLocks noGrp="1"/>
          </p:cNvSpPr>
          <p:nvPr>
            <p:ph type="sldNum" sz="quarter" idx="10"/>
          </p:nvPr>
        </p:nvSpPr>
        <p:spPr/>
        <p:txBody>
          <a:bodyPr/>
          <a:lstStyle/>
          <a:p>
            <a:fld id="{95D835A7-12B2-4074-8DA2-469A8808C237}" type="slidenum">
              <a:rPr lang="en-US" noProof="0" smtClean="0"/>
              <a:pPr/>
              <a:t>51</a:t>
            </a:fld>
            <a:endParaRPr lang="en-US" noProof="0"/>
          </a:p>
        </p:txBody>
      </p:sp>
      <p:grpSp>
        <p:nvGrpSpPr>
          <p:cNvPr id="20" name="Group 19">
            <a:extLst>
              <a:ext uri="{FF2B5EF4-FFF2-40B4-BE49-F238E27FC236}">
                <a16:creationId xmlns:a16="http://schemas.microsoft.com/office/drawing/2014/main" id="{0B7949CB-630A-00D9-16B3-704EE1826ECD}"/>
              </a:ext>
            </a:extLst>
          </p:cNvPr>
          <p:cNvGrpSpPr/>
          <p:nvPr/>
        </p:nvGrpSpPr>
        <p:grpSpPr>
          <a:xfrm>
            <a:off x="488102" y="1557408"/>
            <a:ext cx="11178092" cy="4580990"/>
            <a:chOff x="488102" y="1557406"/>
            <a:chExt cx="11178092" cy="4580991"/>
          </a:xfrm>
        </p:grpSpPr>
        <p:grpSp>
          <p:nvGrpSpPr>
            <p:cNvPr id="19" name="Group 18">
              <a:extLst>
                <a:ext uri="{FF2B5EF4-FFF2-40B4-BE49-F238E27FC236}">
                  <a16:creationId xmlns:a16="http://schemas.microsoft.com/office/drawing/2014/main" id="{C1588CD0-0D20-A62E-8C22-C0CC3C4F0D5D}"/>
                </a:ext>
              </a:extLst>
            </p:cNvPr>
            <p:cNvGrpSpPr/>
            <p:nvPr/>
          </p:nvGrpSpPr>
          <p:grpSpPr>
            <a:xfrm>
              <a:off x="488102" y="1557406"/>
              <a:ext cx="11178092" cy="592661"/>
              <a:chOff x="488102" y="1557406"/>
              <a:chExt cx="11178092" cy="592661"/>
            </a:xfrm>
          </p:grpSpPr>
          <p:sp>
            <p:nvSpPr>
              <p:cNvPr id="10" name="Rectangle 9">
                <a:extLst>
                  <a:ext uri="{FF2B5EF4-FFF2-40B4-BE49-F238E27FC236}">
                    <a16:creationId xmlns:a16="http://schemas.microsoft.com/office/drawing/2014/main" id="{FF2545BE-D2CA-F7B5-DC92-635E97CB8F2A}"/>
                  </a:ext>
                </a:extLst>
              </p:cNvPr>
              <p:cNvSpPr/>
              <p:nvPr/>
            </p:nvSpPr>
            <p:spPr>
              <a:xfrm>
                <a:off x="488102" y="1557406"/>
                <a:ext cx="11178092" cy="592661"/>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731520" tIns="183600" rIns="182880" bIns="182880" rtlCol="0" anchor="ctr"/>
              <a:lstStyle/>
              <a:p>
                <a:pPr>
                  <a:spcBef>
                    <a:spcPts val="1200"/>
                  </a:spcBef>
                </a:pPr>
                <a:r>
                  <a:rPr lang="en-US" sz="1200" b="1" spc="201">
                    <a:solidFill>
                      <a:schemeClr val="tx1"/>
                    </a:solidFill>
                  </a:rPr>
                  <a:t>STRATEGIC PRIORITIES</a:t>
                </a:r>
              </a:p>
              <a:p>
                <a:pPr>
                  <a:spcBef>
                    <a:spcPts val="300"/>
                  </a:spcBef>
                </a:pPr>
                <a:r>
                  <a:rPr lang="en-US" sz="1001" i="1">
                    <a:solidFill>
                      <a:schemeClr val="tx1"/>
                    </a:solidFill>
                  </a:rPr>
                  <a:t>We have established clear ownership and accountability within our Mexico leadership team across our eight strategic priorities, to ensure disciplined and effective execution.</a:t>
                </a:r>
              </a:p>
            </p:txBody>
          </p:sp>
          <p:sp>
            <p:nvSpPr>
              <p:cNvPr id="12" name="Rectangle 11">
                <a:extLst>
                  <a:ext uri="{FF2B5EF4-FFF2-40B4-BE49-F238E27FC236}">
                    <a16:creationId xmlns:a16="http://schemas.microsoft.com/office/drawing/2014/main" id="{F5DC88CA-90C8-B437-0F6C-63E2BD7FCA5A}"/>
                  </a:ext>
                </a:extLst>
              </p:cNvPr>
              <p:cNvSpPr/>
              <p:nvPr/>
            </p:nvSpPr>
            <p:spPr>
              <a:xfrm>
                <a:off x="648542" y="1625921"/>
                <a:ext cx="427566" cy="455630"/>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3" indent="-171453">
                  <a:spcBef>
                    <a:spcPts val="601"/>
                  </a:spcBef>
                  <a:buFont typeface="Arial" panose="020B0604020202020204" pitchFamily="34" charset="0"/>
                  <a:buChar char="•"/>
                </a:pPr>
                <a:endParaRPr lang="en-US" sz="1001">
                  <a:solidFill>
                    <a:schemeClr val="tx1"/>
                  </a:solidFill>
                </a:endParaRPr>
              </a:p>
            </p:txBody>
          </p:sp>
          <p:sp>
            <p:nvSpPr>
              <p:cNvPr id="13" name="Shape 2777">
                <a:extLst>
                  <a:ext uri="{FF2B5EF4-FFF2-40B4-BE49-F238E27FC236}">
                    <a16:creationId xmlns:a16="http://schemas.microsoft.com/office/drawing/2014/main" id="{F7EE3A84-5310-40E3-8E02-2EAC09AB51B6}"/>
                  </a:ext>
                </a:extLst>
              </p:cNvPr>
              <p:cNvSpPr/>
              <p:nvPr/>
            </p:nvSpPr>
            <p:spPr>
              <a:xfrm>
                <a:off x="751247" y="1691814"/>
                <a:ext cx="222156" cy="323844"/>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chemeClr val="tx1"/>
              </a:solidFill>
              <a:ln w="12700">
                <a:miter lim="400000"/>
              </a:ln>
            </p:spPr>
            <p:txBody>
              <a:bodyPr lIns="38091" tIns="38091" rIns="38091" bIns="38091" anchor="ctr"/>
              <a:lstStyle/>
              <a:p>
                <a:pPr defTabSz="45706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lang="en-US" sz="2999"/>
              </a:p>
            </p:txBody>
          </p:sp>
        </p:grpSp>
        <p:grpSp>
          <p:nvGrpSpPr>
            <p:cNvPr id="18" name="Group 17">
              <a:extLst>
                <a:ext uri="{FF2B5EF4-FFF2-40B4-BE49-F238E27FC236}">
                  <a16:creationId xmlns:a16="http://schemas.microsoft.com/office/drawing/2014/main" id="{4155E963-78B1-549B-704B-C2AE2DB5767E}"/>
                </a:ext>
              </a:extLst>
            </p:cNvPr>
            <p:cNvGrpSpPr/>
            <p:nvPr/>
          </p:nvGrpSpPr>
          <p:grpSpPr>
            <a:xfrm>
              <a:off x="488102" y="2241006"/>
              <a:ext cx="11178092" cy="3897391"/>
              <a:chOff x="488102" y="2241006"/>
              <a:chExt cx="11178092" cy="3897391"/>
            </a:xfrm>
          </p:grpSpPr>
          <p:grpSp>
            <p:nvGrpSpPr>
              <p:cNvPr id="6" name="Group 5">
                <a:extLst>
                  <a:ext uri="{FF2B5EF4-FFF2-40B4-BE49-F238E27FC236}">
                    <a16:creationId xmlns:a16="http://schemas.microsoft.com/office/drawing/2014/main" id="{159D47AA-C63D-44C4-6C7D-6EA4DD9DEC13}"/>
                  </a:ext>
                </a:extLst>
              </p:cNvPr>
              <p:cNvGrpSpPr/>
              <p:nvPr/>
            </p:nvGrpSpPr>
            <p:grpSpPr>
              <a:xfrm>
                <a:off x="488102" y="2241006"/>
                <a:ext cx="2685404" cy="1879650"/>
                <a:chOff x="488102" y="2241006"/>
                <a:chExt cx="2685404" cy="1879650"/>
              </a:xfrm>
            </p:grpSpPr>
            <p:sp>
              <p:nvSpPr>
                <p:cNvPr id="57" name="Rectangle 56">
                  <a:extLst>
                    <a:ext uri="{FF2B5EF4-FFF2-40B4-BE49-F238E27FC236}">
                      <a16:creationId xmlns:a16="http://schemas.microsoft.com/office/drawing/2014/main" id="{9AA87A0D-4E2D-ED2F-6911-3522E4240438}"/>
                    </a:ext>
                  </a:extLst>
                </p:cNvPr>
                <p:cNvSpPr/>
                <p:nvPr/>
              </p:nvSpPr>
              <p:spPr>
                <a:xfrm>
                  <a:off x="488102" y="2241006"/>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kern="0" spc="201">
                      <a:solidFill>
                        <a:schemeClr val="tx1"/>
                      </a:solidFill>
                    </a:rPr>
                    <a:t>CX TRANSFORMATION</a:t>
                  </a:r>
                </a:p>
              </p:txBody>
            </p:sp>
            <p:sp>
              <p:nvSpPr>
                <p:cNvPr id="59" name="Oval 58">
                  <a:extLst>
                    <a:ext uri="{FF2B5EF4-FFF2-40B4-BE49-F238E27FC236}">
                      <a16:creationId xmlns:a16="http://schemas.microsoft.com/office/drawing/2014/main" id="{32F274CC-105D-C46E-A77C-52C2C7913A88}"/>
                    </a:ext>
                  </a:extLst>
                </p:cNvPr>
                <p:cNvSpPr/>
                <p:nvPr/>
              </p:nvSpPr>
              <p:spPr>
                <a:xfrm>
                  <a:off x="579544" y="2351187"/>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1</a:t>
                  </a:r>
                </a:p>
              </p:txBody>
            </p:sp>
            <p:sp>
              <p:nvSpPr>
                <p:cNvPr id="61" name="TextBox 60">
                  <a:extLst>
                    <a:ext uri="{FF2B5EF4-FFF2-40B4-BE49-F238E27FC236}">
                      <a16:creationId xmlns:a16="http://schemas.microsoft.com/office/drawing/2014/main" id="{BE546902-8A79-0C84-EF82-C1AC94A91F98}"/>
                    </a:ext>
                  </a:extLst>
                </p:cNvPr>
                <p:cNvSpPr txBox="1"/>
                <p:nvPr/>
              </p:nvSpPr>
              <p:spPr>
                <a:xfrm>
                  <a:off x="579051" y="3469209"/>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Luis Alfredo Gonzalez (Technology)</a:t>
                  </a:r>
                  <a:endParaRPr lang="en-US" sz="900" b="1" spc="201"/>
                </a:p>
              </p:txBody>
            </p:sp>
            <p:sp>
              <p:nvSpPr>
                <p:cNvPr id="91" name="TextBox 90">
                  <a:extLst>
                    <a:ext uri="{FF2B5EF4-FFF2-40B4-BE49-F238E27FC236}">
                      <a16:creationId xmlns:a16="http://schemas.microsoft.com/office/drawing/2014/main" id="{52BFD974-2A5B-A43E-EF0A-853D4DC7ABED}"/>
                    </a:ext>
                  </a:extLst>
                </p:cNvPr>
                <p:cNvSpPr txBox="1"/>
                <p:nvPr/>
              </p:nvSpPr>
              <p:spPr>
                <a:xfrm>
                  <a:off x="579051" y="3781685"/>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Matias Nuñez (Retail Banking) </a:t>
                  </a:r>
                  <a:endParaRPr lang="en-US" sz="900" b="1" spc="201"/>
                </a:p>
              </p:txBody>
            </p:sp>
            <p:sp>
              <p:nvSpPr>
                <p:cNvPr id="92" name="Rectangle 91">
                  <a:extLst>
                    <a:ext uri="{FF2B5EF4-FFF2-40B4-BE49-F238E27FC236}">
                      <a16:creationId xmlns:a16="http://schemas.microsoft.com/office/drawing/2014/main" id="{1F477182-A335-AA0D-4789-35AB6A1E14C1}"/>
                    </a:ext>
                  </a:extLst>
                </p:cNvPr>
                <p:cNvSpPr/>
                <p:nvPr/>
              </p:nvSpPr>
              <p:spPr>
                <a:xfrm>
                  <a:off x="579052" y="2689597"/>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108000" rIns="46800" bIns="0" rtlCol="0" anchor="t" anchorCtr="0"/>
                <a:lstStyle/>
                <a:p>
                  <a:pPr algn="l"/>
                  <a:r>
                    <a:rPr lang="en-US" sz="900">
                      <a:solidFill>
                        <a:schemeClr val="tx1"/>
                      </a:solidFill>
                    </a:rPr>
                    <a:t>Closes client experience gaps by simplifying journeys and strengthening self-service, improving satisfaction, loyalty, and cost-to-serve</a:t>
                  </a:r>
                </a:p>
              </p:txBody>
            </p:sp>
          </p:grpSp>
          <p:grpSp>
            <p:nvGrpSpPr>
              <p:cNvPr id="15" name="Group 14">
                <a:extLst>
                  <a:ext uri="{FF2B5EF4-FFF2-40B4-BE49-F238E27FC236}">
                    <a16:creationId xmlns:a16="http://schemas.microsoft.com/office/drawing/2014/main" id="{5FAFA1D4-F817-5710-4CBF-D2723D8DE69E}"/>
                  </a:ext>
                </a:extLst>
              </p:cNvPr>
              <p:cNvGrpSpPr/>
              <p:nvPr/>
            </p:nvGrpSpPr>
            <p:grpSpPr>
              <a:xfrm>
                <a:off x="3318998" y="2241006"/>
                <a:ext cx="2685404" cy="1879650"/>
                <a:chOff x="3318998" y="2241006"/>
                <a:chExt cx="2685404" cy="1879650"/>
              </a:xfrm>
            </p:grpSpPr>
            <p:sp>
              <p:nvSpPr>
                <p:cNvPr id="63" name="Rectangle 62">
                  <a:extLst>
                    <a:ext uri="{FF2B5EF4-FFF2-40B4-BE49-F238E27FC236}">
                      <a16:creationId xmlns:a16="http://schemas.microsoft.com/office/drawing/2014/main" id="{C55BFA51-95D3-B2BA-1615-119B1DCA6602}"/>
                    </a:ext>
                  </a:extLst>
                </p:cNvPr>
                <p:cNvSpPr/>
                <p:nvPr/>
              </p:nvSpPr>
              <p:spPr>
                <a:xfrm>
                  <a:off x="3318998" y="2241006"/>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DEPOSITS &amp; INVESTMENT FOCUS</a:t>
                  </a:r>
                </a:p>
              </p:txBody>
            </p:sp>
            <p:sp>
              <p:nvSpPr>
                <p:cNvPr id="80" name="Oval 79">
                  <a:extLst>
                    <a:ext uri="{FF2B5EF4-FFF2-40B4-BE49-F238E27FC236}">
                      <a16:creationId xmlns:a16="http://schemas.microsoft.com/office/drawing/2014/main" id="{F04CDC88-6560-D4CC-EFAF-3540B4BDEDE2}"/>
                    </a:ext>
                  </a:extLst>
                </p:cNvPr>
                <p:cNvSpPr/>
                <p:nvPr/>
              </p:nvSpPr>
              <p:spPr>
                <a:xfrm>
                  <a:off x="3410041" y="2351187"/>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2</a:t>
                  </a:r>
                </a:p>
              </p:txBody>
            </p:sp>
            <p:sp>
              <p:nvSpPr>
                <p:cNvPr id="99" name="TextBox 98">
                  <a:extLst>
                    <a:ext uri="{FF2B5EF4-FFF2-40B4-BE49-F238E27FC236}">
                      <a16:creationId xmlns:a16="http://schemas.microsoft.com/office/drawing/2014/main" id="{DA033965-10D0-0508-8EDE-010CC9493D7D}"/>
                    </a:ext>
                  </a:extLst>
                </p:cNvPr>
                <p:cNvSpPr txBox="1"/>
                <p:nvPr/>
              </p:nvSpPr>
              <p:spPr>
                <a:xfrm>
                  <a:off x="3409947" y="3469209"/>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Odette Izquierdo (GTB)</a:t>
                  </a:r>
                  <a:endParaRPr lang="en-US" sz="900" b="1" spc="201"/>
                </a:p>
              </p:txBody>
            </p:sp>
            <p:sp>
              <p:nvSpPr>
                <p:cNvPr id="100" name="TextBox 99">
                  <a:extLst>
                    <a:ext uri="{FF2B5EF4-FFF2-40B4-BE49-F238E27FC236}">
                      <a16:creationId xmlns:a16="http://schemas.microsoft.com/office/drawing/2014/main" id="{BC1D3F2D-2EE2-AD00-7276-75D747D8BE1F}"/>
                    </a:ext>
                  </a:extLst>
                </p:cNvPr>
                <p:cNvSpPr txBox="1"/>
                <p:nvPr/>
              </p:nvSpPr>
              <p:spPr>
                <a:xfrm>
                  <a:off x="3409947" y="3781685"/>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Rodrigo Cordova (Wealth Management)</a:t>
                  </a:r>
                  <a:endParaRPr lang="en-US" sz="900" b="1" spc="201"/>
                </a:p>
              </p:txBody>
            </p:sp>
            <p:sp>
              <p:nvSpPr>
                <p:cNvPr id="101" name="Rectangle 100">
                  <a:extLst>
                    <a:ext uri="{FF2B5EF4-FFF2-40B4-BE49-F238E27FC236}">
                      <a16:creationId xmlns:a16="http://schemas.microsoft.com/office/drawing/2014/main" id="{A821C9CE-7CFC-3170-DED5-FD385F933CE9}"/>
                    </a:ext>
                  </a:extLst>
                </p:cNvPr>
                <p:cNvSpPr/>
                <p:nvPr/>
              </p:nvSpPr>
              <p:spPr>
                <a:xfrm>
                  <a:off x="3409948" y="2689597"/>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108000" rIns="46800" bIns="0" rtlCol="0" anchor="t" anchorCtr="0"/>
                <a:lstStyle/>
                <a:p>
                  <a:pPr algn="l"/>
                  <a:r>
                    <a:rPr lang="en-US" sz="900">
                      <a:solidFill>
                        <a:schemeClr val="tx1"/>
                      </a:solidFill>
                    </a:rPr>
                    <a:t>Addresses funding mix and revenue concentration by growing transactional deposits and deepening investment and cash-management penetration</a:t>
                  </a:r>
                </a:p>
              </p:txBody>
            </p:sp>
          </p:grpSp>
          <p:grpSp>
            <p:nvGrpSpPr>
              <p:cNvPr id="16" name="Group 15">
                <a:extLst>
                  <a:ext uri="{FF2B5EF4-FFF2-40B4-BE49-F238E27FC236}">
                    <a16:creationId xmlns:a16="http://schemas.microsoft.com/office/drawing/2014/main" id="{333B44B1-8345-7506-D293-2771422453B2}"/>
                  </a:ext>
                </a:extLst>
              </p:cNvPr>
              <p:cNvGrpSpPr/>
              <p:nvPr/>
            </p:nvGrpSpPr>
            <p:grpSpPr>
              <a:xfrm>
                <a:off x="6149894" y="2241006"/>
                <a:ext cx="2685404" cy="1879650"/>
                <a:chOff x="6149894" y="2241006"/>
                <a:chExt cx="2685404" cy="1879650"/>
              </a:xfrm>
            </p:grpSpPr>
            <p:sp>
              <p:nvSpPr>
                <p:cNvPr id="64" name="Rectangle 63">
                  <a:extLst>
                    <a:ext uri="{FF2B5EF4-FFF2-40B4-BE49-F238E27FC236}">
                      <a16:creationId xmlns:a16="http://schemas.microsoft.com/office/drawing/2014/main" id="{4261CA31-7C94-DB58-863D-EE56307C4D07}"/>
                    </a:ext>
                  </a:extLst>
                </p:cNvPr>
                <p:cNvSpPr/>
                <p:nvPr/>
              </p:nvSpPr>
              <p:spPr>
                <a:xfrm>
                  <a:off x="6149894" y="2241006"/>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LENDING PROFITABILITY</a:t>
                  </a:r>
                </a:p>
              </p:txBody>
            </p:sp>
            <p:sp>
              <p:nvSpPr>
                <p:cNvPr id="81" name="Oval 80">
                  <a:extLst>
                    <a:ext uri="{FF2B5EF4-FFF2-40B4-BE49-F238E27FC236}">
                      <a16:creationId xmlns:a16="http://schemas.microsoft.com/office/drawing/2014/main" id="{848486CA-069B-F14F-C695-784C750C91B1}"/>
                    </a:ext>
                  </a:extLst>
                </p:cNvPr>
                <p:cNvSpPr/>
                <p:nvPr/>
              </p:nvSpPr>
              <p:spPr>
                <a:xfrm>
                  <a:off x="6240538" y="2351187"/>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3</a:t>
                  </a:r>
                </a:p>
              </p:txBody>
            </p:sp>
            <p:sp>
              <p:nvSpPr>
                <p:cNvPr id="103" name="TextBox 102">
                  <a:extLst>
                    <a:ext uri="{FF2B5EF4-FFF2-40B4-BE49-F238E27FC236}">
                      <a16:creationId xmlns:a16="http://schemas.microsoft.com/office/drawing/2014/main" id="{F809DC18-3A9E-31B3-304E-A9863616E45A}"/>
                    </a:ext>
                  </a:extLst>
                </p:cNvPr>
                <p:cNvSpPr txBox="1"/>
                <p:nvPr/>
              </p:nvSpPr>
              <p:spPr>
                <a:xfrm>
                  <a:off x="6240843" y="3469209"/>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Carlos Vargas (Commercial Banking)</a:t>
                  </a:r>
                  <a:endParaRPr lang="en-US" sz="900" b="1" spc="201"/>
                </a:p>
              </p:txBody>
            </p:sp>
            <p:sp>
              <p:nvSpPr>
                <p:cNvPr id="104" name="TextBox 103">
                  <a:extLst>
                    <a:ext uri="{FF2B5EF4-FFF2-40B4-BE49-F238E27FC236}">
                      <a16:creationId xmlns:a16="http://schemas.microsoft.com/office/drawing/2014/main" id="{6227FC4E-FDCA-86A0-B6F5-345CCBDBD308}"/>
                    </a:ext>
                  </a:extLst>
                </p:cNvPr>
                <p:cNvSpPr txBox="1"/>
                <p:nvPr/>
              </p:nvSpPr>
              <p:spPr>
                <a:xfrm>
                  <a:off x="6240843" y="3781685"/>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Victor Carpio (GRM)</a:t>
                  </a:r>
                  <a:endParaRPr lang="en-US" sz="900" b="1" spc="201"/>
                </a:p>
              </p:txBody>
            </p:sp>
            <p:sp>
              <p:nvSpPr>
                <p:cNvPr id="105" name="Rectangle 104">
                  <a:extLst>
                    <a:ext uri="{FF2B5EF4-FFF2-40B4-BE49-F238E27FC236}">
                      <a16:creationId xmlns:a16="http://schemas.microsoft.com/office/drawing/2014/main" id="{14EAB0B6-BB8E-ABA6-A543-7BF2DE0A342E}"/>
                    </a:ext>
                  </a:extLst>
                </p:cNvPr>
                <p:cNvSpPr/>
                <p:nvPr/>
              </p:nvSpPr>
              <p:spPr>
                <a:xfrm>
                  <a:off x="6240844" y="2689597"/>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108000" rIns="46800" bIns="0" rtlCol="0" anchor="t" anchorCtr="0"/>
                <a:lstStyle/>
                <a:p>
                  <a:pPr algn="l"/>
                  <a:r>
                    <a:rPr lang="en-US" sz="900">
                      <a:solidFill>
                        <a:schemeClr val="tx1"/>
                      </a:solidFill>
                    </a:rPr>
                    <a:t>Improves risk-adjusted returns by optimizing wallet share, pricing, growth quality, and capital efficiency across the lending portfolio</a:t>
                  </a:r>
                </a:p>
              </p:txBody>
            </p:sp>
          </p:grpSp>
          <p:grpSp>
            <p:nvGrpSpPr>
              <p:cNvPr id="17" name="Group 16">
                <a:extLst>
                  <a:ext uri="{FF2B5EF4-FFF2-40B4-BE49-F238E27FC236}">
                    <a16:creationId xmlns:a16="http://schemas.microsoft.com/office/drawing/2014/main" id="{573F0701-269E-1808-6E56-57424B3EA73E}"/>
                  </a:ext>
                </a:extLst>
              </p:cNvPr>
              <p:cNvGrpSpPr/>
              <p:nvPr/>
            </p:nvGrpSpPr>
            <p:grpSpPr>
              <a:xfrm>
                <a:off x="8980790" y="2241006"/>
                <a:ext cx="2685404" cy="1879650"/>
                <a:chOff x="8980790" y="2241006"/>
                <a:chExt cx="2685404" cy="1879650"/>
              </a:xfrm>
            </p:grpSpPr>
            <p:sp>
              <p:nvSpPr>
                <p:cNvPr id="65" name="Rectangle 64">
                  <a:extLst>
                    <a:ext uri="{FF2B5EF4-FFF2-40B4-BE49-F238E27FC236}">
                      <a16:creationId xmlns:a16="http://schemas.microsoft.com/office/drawing/2014/main" id="{D3E9E7DB-8512-515A-B352-0B7FAFA3DE83}"/>
                    </a:ext>
                  </a:extLst>
                </p:cNvPr>
                <p:cNvSpPr/>
                <p:nvPr/>
              </p:nvSpPr>
              <p:spPr>
                <a:xfrm>
                  <a:off x="8980790" y="2241006"/>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PARTNERSHIPS</a:t>
                  </a:r>
                </a:p>
              </p:txBody>
            </p:sp>
            <p:sp>
              <p:nvSpPr>
                <p:cNvPr id="82" name="Oval 81">
                  <a:extLst>
                    <a:ext uri="{FF2B5EF4-FFF2-40B4-BE49-F238E27FC236}">
                      <a16:creationId xmlns:a16="http://schemas.microsoft.com/office/drawing/2014/main" id="{0DF99579-21F3-8456-D3C8-4547CBA29AA2}"/>
                    </a:ext>
                  </a:extLst>
                </p:cNvPr>
                <p:cNvSpPr/>
                <p:nvPr/>
              </p:nvSpPr>
              <p:spPr>
                <a:xfrm>
                  <a:off x="9071036" y="2351187"/>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4</a:t>
                  </a:r>
                </a:p>
              </p:txBody>
            </p:sp>
            <p:sp>
              <p:nvSpPr>
                <p:cNvPr id="107" name="TextBox 106">
                  <a:extLst>
                    <a:ext uri="{FF2B5EF4-FFF2-40B4-BE49-F238E27FC236}">
                      <a16:creationId xmlns:a16="http://schemas.microsoft.com/office/drawing/2014/main" id="{60BCBA12-5110-FE84-AEE6-7DAFC2527A69}"/>
                    </a:ext>
                  </a:extLst>
                </p:cNvPr>
                <p:cNvSpPr txBox="1"/>
                <p:nvPr/>
              </p:nvSpPr>
              <p:spPr>
                <a:xfrm>
                  <a:off x="9071739" y="3469209"/>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Natalia Domingo (Partnerships)</a:t>
                  </a:r>
                  <a:endParaRPr lang="en-US" sz="900" b="1" spc="201"/>
                </a:p>
              </p:txBody>
            </p:sp>
            <p:sp>
              <p:nvSpPr>
                <p:cNvPr id="108" name="TextBox 107">
                  <a:extLst>
                    <a:ext uri="{FF2B5EF4-FFF2-40B4-BE49-F238E27FC236}">
                      <a16:creationId xmlns:a16="http://schemas.microsoft.com/office/drawing/2014/main" id="{32A8934F-51FF-230F-0B76-4D041DA69329}"/>
                    </a:ext>
                  </a:extLst>
                </p:cNvPr>
                <p:cNvSpPr txBox="1"/>
                <p:nvPr/>
              </p:nvSpPr>
              <p:spPr>
                <a:xfrm>
                  <a:off x="9071739" y="3781685"/>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Rodrigo Barragan (Strategy)</a:t>
                  </a:r>
                  <a:endParaRPr lang="en-US" sz="900" b="1" spc="201"/>
                </a:p>
              </p:txBody>
            </p:sp>
            <p:sp>
              <p:nvSpPr>
                <p:cNvPr id="109" name="Rectangle 108">
                  <a:extLst>
                    <a:ext uri="{FF2B5EF4-FFF2-40B4-BE49-F238E27FC236}">
                      <a16:creationId xmlns:a16="http://schemas.microsoft.com/office/drawing/2014/main" id="{92ECE4E4-2260-1CE0-E070-57FB85701808}"/>
                    </a:ext>
                  </a:extLst>
                </p:cNvPr>
                <p:cNvSpPr/>
                <p:nvPr/>
              </p:nvSpPr>
              <p:spPr>
                <a:xfrm>
                  <a:off x="9071739" y="2689597"/>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108000" rIns="0" bIns="0" rtlCol="0" anchor="t" anchorCtr="0"/>
                <a:lstStyle/>
                <a:p>
                  <a:pPr algn="l"/>
                  <a:r>
                    <a:rPr lang="en-US" sz="900">
                      <a:solidFill>
                        <a:schemeClr val="tx1"/>
                      </a:solidFill>
                    </a:rPr>
                    <a:t>Unlocks incremental growth and relevance by leveraging strategic partnerships to expand distribution, capabilities, and revenue streams</a:t>
                  </a:r>
                </a:p>
              </p:txBody>
            </p:sp>
          </p:grpSp>
          <p:grpSp>
            <p:nvGrpSpPr>
              <p:cNvPr id="11" name="Group 10">
                <a:extLst>
                  <a:ext uri="{FF2B5EF4-FFF2-40B4-BE49-F238E27FC236}">
                    <a16:creationId xmlns:a16="http://schemas.microsoft.com/office/drawing/2014/main" id="{F0616FF3-EE91-E0E8-3C7B-A01BD19645CE}"/>
                  </a:ext>
                </a:extLst>
              </p:cNvPr>
              <p:cNvGrpSpPr/>
              <p:nvPr/>
            </p:nvGrpSpPr>
            <p:grpSpPr>
              <a:xfrm>
                <a:off x="3318998" y="4258747"/>
                <a:ext cx="2685404" cy="1879650"/>
                <a:chOff x="3318998" y="4258747"/>
                <a:chExt cx="2685404" cy="1879650"/>
              </a:xfrm>
            </p:grpSpPr>
            <p:sp>
              <p:nvSpPr>
                <p:cNvPr id="77" name="Rectangle 76">
                  <a:extLst>
                    <a:ext uri="{FF2B5EF4-FFF2-40B4-BE49-F238E27FC236}">
                      <a16:creationId xmlns:a16="http://schemas.microsoft.com/office/drawing/2014/main" id="{E38E4E6A-4A60-0781-7977-8E219EA55354}"/>
                    </a:ext>
                  </a:extLst>
                </p:cNvPr>
                <p:cNvSpPr/>
                <p:nvPr/>
              </p:nvSpPr>
              <p:spPr>
                <a:xfrm>
                  <a:off x="3318998" y="4258747"/>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NORTH AMERICAN CORRIDOR</a:t>
                  </a:r>
                </a:p>
              </p:txBody>
            </p:sp>
            <p:sp>
              <p:nvSpPr>
                <p:cNvPr id="85" name="Oval 84">
                  <a:extLst>
                    <a:ext uri="{FF2B5EF4-FFF2-40B4-BE49-F238E27FC236}">
                      <a16:creationId xmlns:a16="http://schemas.microsoft.com/office/drawing/2014/main" id="{EC4BBFB5-5766-D87D-ECEA-9AFBB86EE9EB}"/>
                    </a:ext>
                  </a:extLst>
                </p:cNvPr>
                <p:cNvSpPr/>
                <p:nvPr/>
              </p:nvSpPr>
              <p:spPr>
                <a:xfrm>
                  <a:off x="3410440" y="4371924"/>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6</a:t>
                  </a:r>
                </a:p>
              </p:txBody>
            </p:sp>
            <p:sp>
              <p:nvSpPr>
                <p:cNvPr id="111" name="TextBox 110">
                  <a:extLst>
                    <a:ext uri="{FF2B5EF4-FFF2-40B4-BE49-F238E27FC236}">
                      <a16:creationId xmlns:a16="http://schemas.microsoft.com/office/drawing/2014/main" id="{5FE58C20-1974-51D8-1A49-A1EC96D1847C}"/>
                    </a:ext>
                  </a:extLst>
                </p:cNvPr>
                <p:cNvSpPr txBox="1"/>
                <p:nvPr/>
              </p:nvSpPr>
              <p:spPr>
                <a:xfrm>
                  <a:off x="3409947" y="5487544"/>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Jose Jorge Rivero (GBM)</a:t>
                  </a:r>
                  <a:endParaRPr lang="en-US" sz="900" b="1" spc="201"/>
                </a:p>
              </p:txBody>
            </p:sp>
            <p:sp>
              <p:nvSpPr>
                <p:cNvPr id="112" name="TextBox 111">
                  <a:extLst>
                    <a:ext uri="{FF2B5EF4-FFF2-40B4-BE49-F238E27FC236}">
                      <a16:creationId xmlns:a16="http://schemas.microsoft.com/office/drawing/2014/main" id="{C493893E-00B6-1E03-2050-3DD48498F4B2}"/>
                    </a:ext>
                  </a:extLst>
                </p:cNvPr>
                <p:cNvSpPr txBox="1"/>
                <p:nvPr/>
              </p:nvSpPr>
              <p:spPr>
                <a:xfrm>
                  <a:off x="3409947" y="5800022"/>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Eduardo Fernandez (Legal)</a:t>
                  </a:r>
                  <a:endParaRPr lang="en-US" sz="900" b="1" spc="201"/>
                </a:p>
              </p:txBody>
            </p:sp>
            <p:sp>
              <p:nvSpPr>
                <p:cNvPr id="113" name="Rectangle 112">
                  <a:extLst>
                    <a:ext uri="{FF2B5EF4-FFF2-40B4-BE49-F238E27FC236}">
                      <a16:creationId xmlns:a16="http://schemas.microsoft.com/office/drawing/2014/main" id="{7C0E5C38-5B02-8E03-17CC-3BF4230EDD84}"/>
                    </a:ext>
                  </a:extLst>
                </p:cNvPr>
                <p:cNvSpPr/>
                <p:nvPr/>
              </p:nvSpPr>
              <p:spPr>
                <a:xfrm>
                  <a:off x="3409948" y="4707933"/>
                  <a:ext cx="2594454"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72000" rIns="46800" bIns="0" rtlCol="0" anchor="t" anchorCtr="0"/>
                <a:lstStyle/>
                <a:p>
                  <a:pPr algn="l"/>
                  <a:r>
                    <a:rPr lang="en-US" sz="900">
                      <a:solidFill>
                        <a:schemeClr val="tx1"/>
                      </a:solidFill>
                    </a:rPr>
                    <a:t>Captures cross-border opportunities by connecting client’s financial needs across Mexico, U.S., and Canada in a seamless way</a:t>
                  </a:r>
                </a:p>
              </p:txBody>
            </p:sp>
          </p:grpSp>
          <p:grpSp>
            <p:nvGrpSpPr>
              <p:cNvPr id="8" name="Group 7">
                <a:extLst>
                  <a:ext uri="{FF2B5EF4-FFF2-40B4-BE49-F238E27FC236}">
                    <a16:creationId xmlns:a16="http://schemas.microsoft.com/office/drawing/2014/main" id="{B53C736C-C1EF-531A-CFD8-156F68B0C6F3}"/>
                  </a:ext>
                </a:extLst>
              </p:cNvPr>
              <p:cNvGrpSpPr/>
              <p:nvPr/>
            </p:nvGrpSpPr>
            <p:grpSpPr>
              <a:xfrm>
                <a:off x="8980790" y="4258747"/>
                <a:ext cx="2685404" cy="1879650"/>
                <a:chOff x="6149894" y="4258747"/>
                <a:chExt cx="2685404" cy="1879650"/>
              </a:xfrm>
            </p:grpSpPr>
            <p:sp>
              <p:nvSpPr>
                <p:cNvPr id="78" name="Rectangle 77">
                  <a:extLst>
                    <a:ext uri="{FF2B5EF4-FFF2-40B4-BE49-F238E27FC236}">
                      <a16:creationId xmlns:a16="http://schemas.microsoft.com/office/drawing/2014/main" id="{05D71ADE-048F-433A-B11D-E1AEA4AD21B6}"/>
                    </a:ext>
                  </a:extLst>
                </p:cNvPr>
                <p:cNvSpPr/>
                <p:nvPr/>
              </p:nvSpPr>
              <p:spPr>
                <a:xfrm>
                  <a:off x="6149894" y="4258747"/>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LEVERAGE REGIONAL SCALE</a:t>
                  </a:r>
                </a:p>
              </p:txBody>
            </p:sp>
            <p:sp>
              <p:nvSpPr>
                <p:cNvPr id="86" name="Oval 85">
                  <a:extLst>
                    <a:ext uri="{FF2B5EF4-FFF2-40B4-BE49-F238E27FC236}">
                      <a16:creationId xmlns:a16="http://schemas.microsoft.com/office/drawing/2014/main" id="{99846D3B-BA97-6106-5B07-ECEEB45CDD5C}"/>
                    </a:ext>
                  </a:extLst>
                </p:cNvPr>
                <p:cNvSpPr/>
                <p:nvPr/>
              </p:nvSpPr>
              <p:spPr>
                <a:xfrm>
                  <a:off x="6240937" y="4371924"/>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8</a:t>
                  </a:r>
                </a:p>
              </p:txBody>
            </p:sp>
            <p:sp>
              <p:nvSpPr>
                <p:cNvPr id="115" name="TextBox 114">
                  <a:extLst>
                    <a:ext uri="{FF2B5EF4-FFF2-40B4-BE49-F238E27FC236}">
                      <a16:creationId xmlns:a16="http://schemas.microsoft.com/office/drawing/2014/main" id="{5DDBA6CA-3E8B-5D82-4051-97548BDCFA8E}"/>
                    </a:ext>
                  </a:extLst>
                </p:cNvPr>
                <p:cNvSpPr txBox="1"/>
                <p:nvPr/>
              </p:nvSpPr>
              <p:spPr>
                <a:xfrm>
                  <a:off x="6240843" y="5487544"/>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Javier Serebrisky (CFO)</a:t>
                  </a:r>
                  <a:endParaRPr lang="en-US" sz="900" b="1" spc="201"/>
                </a:p>
              </p:txBody>
            </p:sp>
            <p:sp>
              <p:nvSpPr>
                <p:cNvPr id="116" name="TextBox 115">
                  <a:extLst>
                    <a:ext uri="{FF2B5EF4-FFF2-40B4-BE49-F238E27FC236}">
                      <a16:creationId xmlns:a16="http://schemas.microsoft.com/office/drawing/2014/main" id="{4C52144B-7C84-EC2A-C991-2AC64DBDFCFB}"/>
                    </a:ext>
                  </a:extLst>
                </p:cNvPr>
                <p:cNvSpPr txBox="1"/>
                <p:nvPr/>
              </p:nvSpPr>
              <p:spPr>
                <a:xfrm>
                  <a:off x="6240843" y="5800022"/>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Jose Manuel Barbosa (Operations)</a:t>
                  </a:r>
                  <a:endParaRPr lang="en-US" sz="900" b="1" spc="201"/>
                </a:p>
              </p:txBody>
            </p:sp>
            <p:sp>
              <p:nvSpPr>
                <p:cNvPr id="117" name="Rectangle 116">
                  <a:extLst>
                    <a:ext uri="{FF2B5EF4-FFF2-40B4-BE49-F238E27FC236}">
                      <a16:creationId xmlns:a16="http://schemas.microsoft.com/office/drawing/2014/main" id="{4456589E-6462-2EF6-C4F9-EF69F73FFF5C}"/>
                    </a:ext>
                  </a:extLst>
                </p:cNvPr>
                <p:cNvSpPr/>
                <p:nvPr/>
              </p:nvSpPr>
              <p:spPr>
                <a:xfrm>
                  <a:off x="6240844" y="4707933"/>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72000" rIns="46800" bIns="0" rtlCol="0" anchor="t" anchorCtr="0"/>
                <a:lstStyle/>
                <a:p>
                  <a:pPr algn="l"/>
                  <a:r>
                    <a:rPr lang="en-US" sz="900">
                      <a:solidFill>
                        <a:schemeClr val="tx1"/>
                      </a:solidFill>
                    </a:rPr>
                    <a:t>Eliminates duplication and inefficiencies by leveraging regional platforms, capabilities, and best practices to scale faster and cheaper</a:t>
                  </a:r>
                </a:p>
              </p:txBody>
            </p:sp>
          </p:grpSp>
          <p:grpSp>
            <p:nvGrpSpPr>
              <p:cNvPr id="7" name="Group 6">
                <a:extLst>
                  <a:ext uri="{FF2B5EF4-FFF2-40B4-BE49-F238E27FC236}">
                    <a16:creationId xmlns:a16="http://schemas.microsoft.com/office/drawing/2014/main" id="{C56ADF51-B40A-0BD7-C59F-D9986449DE84}"/>
                  </a:ext>
                </a:extLst>
              </p:cNvPr>
              <p:cNvGrpSpPr/>
              <p:nvPr/>
            </p:nvGrpSpPr>
            <p:grpSpPr>
              <a:xfrm>
                <a:off x="6149894" y="4258747"/>
                <a:ext cx="2685404" cy="1879650"/>
                <a:chOff x="8980790" y="4258747"/>
                <a:chExt cx="2685404" cy="1879650"/>
              </a:xfrm>
            </p:grpSpPr>
            <p:sp>
              <p:nvSpPr>
                <p:cNvPr id="79" name="Rectangle 78">
                  <a:extLst>
                    <a:ext uri="{FF2B5EF4-FFF2-40B4-BE49-F238E27FC236}">
                      <a16:creationId xmlns:a16="http://schemas.microsoft.com/office/drawing/2014/main" id="{4B241037-4E74-138A-FD6A-30BF560CE56E}"/>
                    </a:ext>
                  </a:extLst>
                </p:cNvPr>
                <p:cNvSpPr/>
                <p:nvPr/>
              </p:nvSpPr>
              <p:spPr>
                <a:xfrm>
                  <a:off x="8980790" y="4258747"/>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BEST PLACE TO WORK</a:t>
                  </a:r>
                </a:p>
              </p:txBody>
            </p:sp>
            <p:sp>
              <p:nvSpPr>
                <p:cNvPr id="87" name="Oval 86">
                  <a:extLst>
                    <a:ext uri="{FF2B5EF4-FFF2-40B4-BE49-F238E27FC236}">
                      <a16:creationId xmlns:a16="http://schemas.microsoft.com/office/drawing/2014/main" id="{939DA5C3-17E0-CEA6-8F8A-78A06FB27972}"/>
                    </a:ext>
                  </a:extLst>
                </p:cNvPr>
                <p:cNvSpPr/>
                <p:nvPr/>
              </p:nvSpPr>
              <p:spPr>
                <a:xfrm>
                  <a:off x="9071434" y="4371924"/>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7</a:t>
                  </a:r>
                </a:p>
              </p:txBody>
            </p:sp>
            <p:sp>
              <p:nvSpPr>
                <p:cNvPr id="119" name="TextBox 118">
                  <a:extLst>
                    <a:ext uri="{FF2B5EF4-FFF2-40B4-BE49-F238E27FC236}">
                      <a16:creationId xmlns:a16="http://schemas.microsoft.com/office/drawing/2014/main" id="{ACC82FFD-5408-8DAF-2F52-43F445379B35}"/>
                    </a:ext>
                  </a:extLst>
                </p:cNvPr>
                <p:cNvSpPr txBox="1"/>
                <p:nvPr/>
              </p:nvSpPr>
              <p:spPr>
                <a:xfrm>
                  <a:off x="9071739" y="5487544"/>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Norma Saenz (HR)</a:t>
                  </a:r>
                  <a:endParaRPr lang="en-US" sz="900" b="1" spc="201"/>
                </a:p>
              </p:txBody>
            </p:sp>
            <p:sp>
              <p:nvSpPr>
                <p:cNvPr id="120" name="TextBox 119">
                  <a:extLst>
                    <a:ext uri="{FF2B5EF4-FFF2-40B4-BE49-F238E27FC236}">
                      <a16:creationId xmlns:a16="http://schemas.microsoft.com/office/drawing/2014/main" id="{73BA20EC-DB01-184D-609D-ED011D8FEA8D}"/>
                    </a:ext>
                  </a:extLst>
                </p:cNvPr>
                <p:cNvSpPr txBox="1"/>
                <p:nvPr/>
              </p:nvSpPr>
              <p:spPr>
                <a:xfrm>
                  <a:off x="9071739" y="5800022"/>
                  <a:ext cx="2503505" cy="230832"/>
                </a:xfrm>
                <a:prstGeom prst="rect">
                  <a:avLst/>
                </a:prstGeom>
                <a:solidFill>
                  <a:srgbClr val="FFFFFF"/>
                </a:solidFill>
                <a:ln>
                  <a:solidFill>
                    <a:srgbClr val="EBDFD1"/>
                  </a:solidFill>
                </a:ln>
              </p:spPr>
              <p:txBody>
                <a:bodyPr wrap="square" lIns="0" rIns="0">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Manuel Silva (Corporate Affairs &amp; </a:t>
                  </a:r>
                  <a:r>
                    <a:rPr lang="en-US" sz="900" b="1" err="1">
                      <a:solidFill>
                        <a:srgbClr val="242424"/>
                      </a:solidFill>
                      <a:latin typeface="Scotia" panose="020B0503020203020204" pitchFamily="34" charset="0"/>
                      <a:ea typeface="Scotia" panose="020B0503020203020204" pitchFamily="34" charset="0"/>
                    </a:rPr>
                    <a:t>Sustainab</a:t>
                  </a:r>
                  <a:r>
                    <a:rPr lang="en-US" sz="900" b="1">
                      <a:solidFill>
                        <a:srgbClr val="242424"/>
                      </a:solidFill>
                      <a:latin typeface="Scotia" panose="020B0503020203020204" pitchFamily="34" charset="0"/>
                      <a:ea typeface="Scotia" panose="020B0503020203020204" pitchFamily="34" charset="0"/>
                    </a:rPr>
                    <a:t>.)</a:t>
                  </a:r>
                  <a:endParaRPr lang="en-US" sz="900" b="1" spc="201"/>
                </a:p>
              </p:txBody>
            </p:sp>
            <p:sp>
              <p:nvSpPr>
                <p:cNvPr id="121" name="Rectangle 120">
                  <a:extLst>
                    <a:ext uri="{FF2B5EF4-FFF2-40B4-BE49-F238E27FC236}">
                      <a16:creationId xmlns:a16="http://schemas.microsoft.com/office/drawing/2014/main" id="{81A79781-C689-7C35-43FF-6DC47D693377}"/>
                    </a:ext>
                  </a:extLst>
                </p:cNvPr>
                <p:cNvSpPr/>
                <p:nvPr/>
              </p:nvSpPr>
              <p:spPr>
                <a:xfrm>
                  <a:off x="9071740" y="4707933"/>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72000" rIns="46800" bIns="0" rtlCol="0" anchor="t" anchorCtr="0"/>
                <a:lstStyle/>
                <a:p>
                  <a:r>
                    <a:rPr lang="en-US" sz="900">
                      <a:solidFill>
                        <a:schemeClr val="tx1"/>
                      </a:solidFill>
                    </a:rPr>
                    <a:t>Addresses engagement, talent retention, and leadership gaps by strengthening culture, leadership capabilities, and employee experience</a:t>
                  </a:r>
                </a:p>
              </p:txBody>
            </p:sp>
          </p:grpSp>
          <p:grpSp>
            <p:nvGrpSpPr>
              <p:cNvPr id="14" name="Group 13">
                <a:extLst>
                  <a:ext uri="{FF2B5EF4-FFF2-40B4-BE49-F238E27FC236}">
                    <a16:creationId xmlns:a16="http://schemas.microsoft.com/office/drawing/2014/main" id="{3A8633F6-8C90-F248-26EE-BE8EAB83D415}"/>
                  </a:ext>
                </a:extLst>
              </p:cNvPr>
              <p:cNvGrpSpPr/>
              <p:nvPr/>
            </p:nvGrpSpPr>
            <p:grpSpPr>
              <a:xfrm>
                <a:off x="488102" y="4258747"/>
                <a:ext cx="2685404" cy="1879650"/>
                <a:chOff x="8980790" y="4258747"/>
                <a:chExt cx="2685404" cy="1879650"/>
              </a:xfrm>
            </p:grpSpPr>
            <p:sp>
              <p:nvSpPr>
                <p:cNvPr id="76" name="Rectangle 75">
                  <a:extLst>
                    <a:ext uri="{FF2B5EF4-FFF2-40B4-BE49-F238E27FC236}">
                      <a16:creationId xmlns:a16="http://schemas.microsoft.com/office/drawing/2014/main" id="{BD454282-131B-D683-1CE1-65DDC6B7C963}"/>
                    </a:ext>
                  </a:extLst>
                </p:cNvPr>
                <p:cNvSpPr/>
                <p:nvPr/>
              </p:nvSpPr>
              <p:spPr>
                <a:xfrm>
                  <a:off x="8980790" y="4258747"/>
                  <a:ext cx="2685404" cy="18796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144000" rIns="91440" bIns="91440" rtlCol="0" anchor="t"/>
                <a:lstStyle/>
                <a:p>
                  <a:pPr>
                    <a:spcBef>
                      <a:spcPts val="601"/>
                    </a:spcBef>
                  </a:pPr>
                  <a:r>
                    <a:rPr lang="en-US" sz="1001" b="1" spc="201">
                      <a:solidFill>
                        <a:schemeClr val="tx1"/>
                      </a:solidFill>
                    </a:rPr>
                    <a:t>RISK AND CONTROL CULTURE</a:t>
                  </a:r>
                </a:p>
              </p:txBody>
            </p:sp>
            <p:sp>
              <p:nvSpPr>
                <p:cNvPr id="88" name="Oval 87">
                  <a:extLst>
                    <a:ext uri="{FF2B5EF4-FFF2-40B4-BE49-F238E27FC236}">
                      <a16:creationId xmlns:a16="http://schemas.microsoft.com/office/drawing/2014/main" id="{627631CA-D7E0-8646-138B-0C5F95B461F9}"/>
                    </a:ext>
                  </a:extLst>
                </p:cNvPr>
                <p:cNvSpPr/>
                <p:nvPr/>
              </p:nvSpPr>
              <p:spPr>
                <a:xfrm>
                  <a:off x="9071036" y="4371924"/>
                  <a:ext cx="232481" cy="242356"/>
                </a:xfrm>
                <a:prstGeom prst="ellipse">
                  <a:avLst/>
                </a:prstGeom>
                <a:solidFill>
                  <a:srgbClr val="E1111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11">
                    <a:defRPr/>
                  </a:pPr>
                  <a:r>
                    <a:rPr lang="en-US" sz="900" b="1">
                      <a:solidFill>
                        <a:schemeClr val="bg1"/>
                      </a:solidFill>
                      <a:latin typeface="Scotia"/>
                    </a:rPr>
                    <a:t>5</a:t>
                  </a:r>
                </a:p>
              </p:txBody>
            </p:sp>
            <p:sp>
              <p:nvSpPr>
                <p:cNvPr id="123" name="TextBox 122">
                  <a:extLst>
                    <a:ext uri="{FF2B5EF4-FFF2-40B4-BE49-F238E27FC236}">
                      <a16:creationId xmlns:a16="http://schemas.microsoft.com/office/drawing/2014/main" id="{E750D3C6-FBE3-D316-CD8C-A389E79F496F}"/>
                    </a:ext>
                  </a:extLst>
                </p:cNvPr>
                <p:cNvSpPr txBox="1"/>
                <p:nvPr/>
              </p:nvSpPr>
              <p:spPr>
                <a:xfrm>
                  <a:off x="9071739" y="5606551"/>
                  <a:ext cx="2503505" cy="230832"/>
                </a:xfrm>
                <a:prstGeom prst="rect">
                  <a:avLst/>
                </a:prstGeom>
                <a:solidFill>
                  <a:srgbClr val="FFFFFF"/>
                </a:solidFill>
                <a:ln>
                  <a:solidFill>
                    <a:srgbClr val="EBDFD1"/>
                  </a:solidFill>
                </a:ln>
              </p:spPr>
              <p:txBody>
                <a:bodyPr wrap="square" lIns="0" rIns="0" anchor="ctr">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Carlos Orta (Compliance &amp; AML/CFT)</a:t>
                  </a:r>
                  <a:endParaRPr lang="en-US" sz="900" b="1" spc="201"/>
                </a:p>
              </p:txBody>
            </p:sp>
            <p:sp>
              <p:nvSpPr>
                <p:cNvPr id="124" name="TextBox 123">
                  <a:extLst>
                    <a:ext uri="{FF2B5EF4-FFF2-40B4-BE49-F238E27FC236}">
                      <a16:creationId xmlns:a16="http://schemas.microsoft.com/office/drawing/2014/main" id="{CFF44F1C-64C9-0AA2-F476-4856934AF406}"/>
                    </a:ext>
                  </a:extLst>
                </p:cNvPr>
                <p:cNvSpPr txBox="1"/>
                <p:nvPr/>
              </p:nvSpPr>
              <p:spPr>
                <a:xfrm>
                  <a:off x="9071739" y="5830873"/>
                  <a:ext cx="2503505" cy="230832"/>
                </a:xfrm>
                <a:prstGeom prst="rect">
                  <a:avLst/>
                </a:prstGeom>
                <a:solidFill>
                  <a:srgbClr val="FFFFFF"/>
                </a:solidFill>
                <a:ln>
                  <a:solidFill>
                    <a:srgbClr val="EBDFD1"/>
                  </a:solidFill>
                </a:ln>
              </p:spPr>
              <p:txBody>
                <a:bodyPr wrap="square" lIns="0" rIns="0" anchor="ctr">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Fernando Antuña (Audit)</a:t>
                  </a:r>
                  <a:endParaRPr lang="en-US" sz="900" b="1" spc="201"/>
                </a:p>
              </p:txBody>
            </p:sp>
            <p:sp>
              <p:nvSpPr>
                <p:cNvPr id="125" name="Rectangle 124">
                  <a:extLst>
                    <a:ext uri="{FF2B5EF4-FFF2-40B4-BE49-F238E27FC236}">
                      <a16:creationId xmlns:a16="http://schemas.microsoft.com/office/drawing/2014/main" id="{BED51506-C22F-045F-0F83-9D10BDA676E5}"/>
                    </a:ext>
                  </a:extLst>
                </p:cNvPr>
                <p:cNvSpPr/>
                <p:nvPr/>
              </p:nvSpPr>
              <p:spPr>
                <a:xfrm>
                  <a:off x="9071739" y="4707933"/>
                  <a:ext cx="2503505" cy="694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6800" tIns="72000" rIns="46800" bIns="0" rtlCol="0" anchor="t" anchorCtr="0"/>
                <a:lstStyle/>
                <a:p>
                  <a:pPr algn="l"/>
                  <a:r>
                    <a:rPr lang="en-US" sz="900">
                      <a:solidFill>
                        <a:schemeClr val="tx1"/>
                      </a:solidFill>
                    </a:rPr>
                    <a:t>Mitigates operational, regulatory, and reputational risks by embedding strong risk ownership and control discipline across the organization</a:t>
                  </a:r>
                </a:p>
              </p:txBody>
            </p:sp>
            <p:sp>
              <p:nvSpPr>
                <p:cNvPr id="126" name="TextBox 125">
                  <a:extLst>
                    <a:ext uri="{FF2B5EF4-FFF2-40B4-BE49-F238E27FC236}">
                      <a16:creationId xmlns:a16="http://schemas.microsoft.com/office/drawing/2014/main" id="{4282575A-4267-44BE-AD55-AAAC8D51D6BB}"/>
                    </a:ext>
                  </a:extLst>
                </p:cNvPr>
                <p:cNvSpPr txBox="1"/>
                <p:nvPr/>
              </p:nvSpPr>
              <p:spPr>
                <a:xfrm>
                  <a:off x="9071739" y="5382227"/>
                  <a:ext cx="2503505" cy="230832"/>
                </a:xfrm>
                <a:prstGeom prst="rect">
                  <a:avLst/>
                </a:prstGeom>
                <a:solidFill>
                  <a:srgbClr val="FFFFFF"/>
                </a:solidFill>
                <a:ln>
                  <a:solidFill>
                    <a:srgbClr val="EBDFD1"/>
                  </a:solidFill>
                </a:ln>
              </p:spPr>
              <p:txBody>
                <a:bodyPr wrap="square" lIns="0" rIns="0" anchor="ctr">
                  <a:spAutoFit/>
                </a:bodyPr>
                <a:lstStyle/>
                <a:p>
                  <a:pPr algn="ctr">
                    <a:spcBef>
                      <a:spcPts val="800"/>
                    </a:spcBef>
                  </a:pPr>
                  <a:r>
                    <a:rPr lang="en-US" sz="900" b="1">
                      <a:solidFill>
                        <a:srgbClr val="242424"/>
                      </a:solidFill>
                      <a:latin typeface="Scotia" panose="020B0503020203020204" pitchFamily="34" charset="0"/>
                      <a:ea typeface="Scotia" panose="020B0503020203020204" pitchFamily="34" charset="0"/>
                    </a:rPr>
                    <a:t>Pablo Elek (CEO)</a:t>
                  </a:r>
                  <a:endParaRPr lang="en-US" sz="900" b="1" spc="201"/>
                </a:p>
              </p:txBody>
            </p:sp>
          </p:grpSp>
        </p:grpSp>
      </p:grpSp>
      <p:sp>
        <p:nvSpPr>
          <p:cNvPr id="4" name="Text Placeholder 6">
            <a:extLst>
              <a:ext uri="{FF2B5EF4-FFF2-40B4-BE49-F238E27FC236}">
                <a16:creationId xmlns:a16="http://schemas.microsoft.com/office/drawing/2014/main" id="{4ED981FE-8CC5-858F-A5FC-04B0EFD1D4DC}"/>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t>MEXICO</a:t>
            </a:r>
          </a:p>
        </p:txBody>
      </p:sp>
      <p:sp>
        <p:nvSpPr>
          <p:cNvPr id="5" name="Text Placeholder 6">
            <a:extLst>
              <a:ext uri="{FF2B5EF4-FFF2-40B4-BE49-F238E27FC236}">
                <a16:creationId xmlns:a16="http://schemas.microsoft.com/office/drawing/2014/main" id="{B9756B0B-D4C1-90B1-8837-FCBA1CDA3514}"/>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l">
              <a:defRPr/>
            </a:pPr>
            <a:r>
              <a:rPr lang="en-US" sz="1001">
                <a:solidFill>
                  <a:srgbClr val="000000"/>
                </a:solidFill>
              </a:rPr>
              <a:t>ALL BANK</a:t>
            </a:r>
          </a:p>
        </p:txBody>
      </p:sp>
    </p:spTree>
    <p:extLst>
      <p:ext uri="{BB962C8B-B14F-4D97-AF65-F5344CB8AC3E}">
        <p14:creationId xmlns:p14="http://schemas.microsoft.com/office/powerpoint/2010/main" val="279310135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65BD0A-DA6C-0941-0272-3AC00424AEF1}"/>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3C8F9079-999E-CF17-DFD8-8F8EDC5514DF}"/>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8" name="think-cell data - do not delete" hidden="1">
                        <a:extLst>
                          <a:ext uri="{FF2B5EF4-FFF2-40B4-BE49-F238E27FC236}">
                            <a16:creationId xmlns:a16="http://schemas.microsoft.com/office/drawing/2014/main" id="{3C8F9079-999E-CF17-DFD8-8F8EDC5514DF}"/>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0" name="Rectangle 29">
            <a:extLst>
              <a:ext uri="{FF2B5EF4-FFF2-40B4-BE49-F238E27FC236}">
                <a16:creationId xmlns:a16="http://schemas.microsoft.com/office/drawing/2014/main" id="{352C4826-59FD-8E98-18A5-FD97BF2DAA9A}"/>
              </a:ext>
            </a:extLst>
          </p:cNvPr>
          <p:cNvSpPr/>
          <p:nvPr/>
        </p:nvSpPr>
        <p:spPr>
          <a:xfrm>
            <a:off x="1312455" y="1681974"/>
            <a:ext cx="1989138" cy="44394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274320" rIns="91440" bIns="180000" rtlCol="0" anchor="t"/>
          <a:lstStyle/>
          <a:p>
            <a:pPr algn="l">
              <a:spcBef>
                <a:spcPts val="600"/>
              </a:spcBef>
            </a:pPr>
            <a:endParaRPr lang="en-US" sz="1000">
              <a:solidFill>
                <a:schemeClr val="tx1"/>
              </a:solidFill>
            </a:endParaRPr>
          </a:p>
        </p:txBody>
      </p:sp>
      <p:sp>
        <p:nvSpPr>
          <p:cNvPr id="50" name="Rectangle 49">
            <a:extLst>
              <a:ext uri="{FF2B5EF4-FFF2-40B4-BE49-F238E27FC236}">
                <a16:creationId xmlns:a16="http://schemas.microsoft.com/office/drawing/2014/main" id="{BE3FFE04-0FC4-4903-A5BE-75221E9368D8}"/>
              </a:ext>
            </a:extLst>
          </p:cNvPr>
          <p:cNvSpPr/>
          <p:nvPr/>
        </p:nvSpPr>
        <p:spPr>
          <a:xfrm>
            <a:off x="3389042" y="1681974"/>
            <a:ext cx="1989138" cy="44394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274320" rIns="91440" bIns="180000" rtlCol="0" anchor="t"/>
          <a:lstStyle/>
          <a:p>
            <a:pPr algn="l">
              <a:spcBef>
                <a:spcPts val="600"/>
              </a:spcBef>
            </a:pPr>
            <a:endParaRPr lang="en-US" sz="1000">
              <a:solidFill>
                <a:schemeClr val="tx1"/>
              </a:solidFill>
            </a:endParaRPr>
          </a:p>
        </p:txBody>
      </p:sp>
      <p:sp>
        <p:nvSpPr>
          <p:cNvPr id="62" name="Rectangle 61">
            <a:extLst>
              <a:ext uri="{FF2B5EF4-FFF2-40B4-BE49-F238E27FC236}">
                <a16:creationId xmlns:a16="http://schemas.microsoft.com/office/drawing/2014/main" id="{81B49D40-A32B-CB06-20A5-586E99CDE310}"/>
              </a:ext>
            </a:extLst>
          </p:cNvPr>
          <p:cNvSpPr/>
          <p:nvPr/>
        </p:nvSpPr>
        <p:spPr>
          <a:xfrm>
            <a:off x="7542216" y="1681974"/>
            <a:ext cx="1989138" cy="44394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274320" rIns="91440" bIns="180000" rtlCol="0" anchor="t"/>
          <a:lstStyle/>
          <a:p>
            <a:pPr algn="l">
              <a:spcBef>
                <a:spcPts val="600"/>
              </a:spcBef>
            </a:pPr>
            <a:endParaRPr lang="en-US" sz="1000">
              <a:solidFill>
                <a:schemeClr val="tx1"/>
              </a:solidFill>
            </a:endParaRPr>
          </a:p>
        </p:txBody>
      </p:sp>
      <p:sp>
        <p:nvSpPr>
          <p:cNvPr id="60" name="Rectangle 59">
            <a:extLst>
              <a:ext uri="{FF2B5EF4-FFF2-40B4-BE49-F238E27FC236}">
                <a16:creationId xmlns:a16="http://schemas.microsoft.com/office/drawing/2014/main" id="{49A5E664-E244-1EDB-7DA8-5B81FC0BA1B3}"/>
              </a:ext>
            </a:extLst>
          </p:cNvPr>
          <p:cNvSpPr/>
          <p:nvPr/>
        </p:nvSpPr>
        <p:spPr>
          <a:xfrm>
            <a:off x="5465629" y="1681706"/>
            <a:ext cx="1989138" cy="4439983"/>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274320" rIns="91440" bIns="180000" rtlCol="0" anchor="t"/>
          <a:lstStyle/>
          <a:p>
            <a:pPr algn="l">
              <a:spcBef>
                <a:spcPts val="600"/>
              </a:spcBef>
            </a:pPr>
            <a:endParaRPr lang="en-US" sz="1000">
              <a:solidFill>
                <a:schemeClr val="tx1"/>
              </a:solidFill>
            </a:endParaRPr>
          </a:p>
        </p:txBody>
      </p:sp>
      <p:sp>
        <p:nvSpPr>
          <p:cNvPr id="13" name="Rectangle 12">
            <a:extLst>
              <a:ext uri="{FF2B5EF4-FFF2-40B4-BE49-F238E27FC236}">
                <a16:creationId xmlns:a16="http://schemas.microsoft.com/office/drawing/2014/main" id="{02975EE4-4C1D-6BAE-CBA4-2BA7B710ECA4}"/>
              </a:ext>
            </a:extLst>
          </p:cNvPr>
          <p:cNvSpPr/>
          <p:nvPr/>
        </p:nvSpPr>
        <p:spPr>
          <a:xfrm>
            <a:off x="1312455" y="2987971"/>
            <a:ext cx="1989138" cy="20425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180000" rtlCol="0" anchor="t"/>
          <a:lstStyle/>
          <a:p>
            <a:pPr marL="171450" indent="-171450">
              <a:spcBef>
                <a:spcPts val="600"/>
              </a:spcBef>
              <a:buFont typeface="Arial" panose="020B0604020202020204" pitchFamily="34" charset="0"/>
              <a:buChar char="•"/>
            </a:pPr>
            <a:r>
              <a:rPr lang="en-US" sz="1000" b="1">
                <a:solidFill>
                  <a:schemeClr val="tx1"/>
                </a:solidFill>
              </a:rPr>
              <a:t>Seamless </a:t>
            </a:r>
            <a:r>
              <a:rPr lang="en-US" sz="1000">
                <a:solidFill>
                  <a:schemeClr val="tx1"/>
                </a:solidFill>
              </a:rPr>
              <a:t>onboarding across Retail and </a:t>
            </a:r>
            <a:r>
              <a:rPr lang="en-US" sz="1000" err="1">
                <a:solidFill>
                  <a:schemeClr val="tx1"/>
                </a:solidFill>
              </a:rPr>
              <a:t>iTRADE</a:t>
            </a:r>
            <a:endParaRPr lang="en-US" sz="1000" b="1">
              <a:solidFill>
                <a:schemeClr val="tx1"/>
              </a:solidFill>
            </a:endParaRPr>
          </a:p>
          <a:p>
            <a:pPr marL="171450" indent="-171450">
              <a:spcBef>
                <a:spcPts val="600"/>
              </a:spcBef>
              <a:buFont typeface="Arial" panose="020B0604020202020204" pitchFamily="34" charset="0"/>
              <a:buChar char="•"/>
            </a:pPr>
            <a:r>
              <a:rPr lang="en-US" sz="1000" b="1">
                <a:solidFill>
                  <a:schemeClr val="tx1"/>
                </a:solidFill>
              </a:rPr>
              <a:t>Retail channel strategy </a:t>
            </a:r>
            <a:r>
              <a:rPr lang="en-US" sz="1000">
                <a:solidFill>
                  <a:schemeClr val="tx1"/>
                </a:solidFill>
              </a:rPr>
              <a:t>to put the right channel in front of the right client </a:t>
            </a:r>
          </a:p>
          <a:p>
            <a:pPr marL="171450" indent="-171450">
              <a:spcBef>
                <a:spcPts val="600"/>
              </a:spcBef>
              <a:buFont typeface="Arial" panose="020B0604020202020204" pitchFamily="34" charset="0"/>
              <a:buChar char="•"/>
            </a:pPr>
            <a:r>
              <a:rPr lang="en-US" sz="1000" b="1">
                <a:solidFill>
                  <a:schemeClr val="tx1"/>
                </a:solidFill>
              </a:rPr>
              <a:t>Fired Up! Sales &amp; Service </a:t>
            </a:r>
            <a:r>
              <a:rPr lang="en-US" sz="1000">
                <a:solidFill>
                  <a:schemeClr val="tx1"/>
                </a:solidFill>
              </a:rPr>
              <a:t>to enhance client support</a:t>
            </a:r>
          </a:p>
          <a:p>
            <a:pPr marL="171450" indent="-171450" defTabSz="914411">
              <a:spcBef>
                <a:spcPts val="600"/>
              </a:spcBef>
              <a:buFont typeface="Arial" panose="020B0604020202020204" pitchFamily="34" charset="0"/>
              <a:buChar char="•"/>
              <a:defRPr/>
            </a:pPr>
            <a:r>
              <a:rPr lang="en-US" sz="1000" b="1" err="1">
                <a:solidFill>
                  <a:schemeClr val="tx1"/>
                </a:solidFill>
              </a:rPr>
              <a:t>iTRADE</a:t>
            </a:r>
            <a:r>
              <a:rPr lang="en-US" sz="1000" b="1">
                <a:solidFill>
                  <a:schemeClr val="tx1"/>
                </a:solidFill>
              </a:rPr>
              <a:t> transformation </a:t>
            </a:r>
            <a:r>
              <a:rPr lang="en-US" sz="1000">
                <a:solidFill>
                  <a:schemeClr val="tx1"/>
                </a:solidFill>
              </a:rPr>
              <a:t>to improve mobile platform &amp; capabilities</a:t>
            </a:r>
          </a:p>
        </p:txBody>
      </p:sp>
      <p:sp>
        <p:nvSpPr>
          <p:cNvPr id="51" name="Rectangle 50">
            <a:extLst>
              <a:ext uri="{FF2B5EF4-FFF2-40B4-BE49-F238E27FC236}">
                <a16:creationId xmlns:a16="http://schemas.microsoft.com/office/drawing/2014/main" id="{6973A0E6-83B8-384A-CEAF-BE5F4D8D16C8}"/>
              </a:ext>
            </a:extLst>
          </p:cNvPr>
          <p:cNvSpPr/>
          <p:nvPr/>
        </p:nvSpPr>
        <p:spPr>
          <a:xfrm>
            <a:off x="3389042" y="2987971"/>
            <a:ext cx="1989138" cy="25392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180000" rtlCol="0" anchor="t"/>
          <a:lstStyle/>
          <a:p>
            <a:pPr marL="171450" indent="-171450">
              <a:spcBef>
                <a:spcPts val="600"/>
              </a:spcBef>
              <a:buFont typeface="Arial" panose="020B0604020202020204" pitchFamily="34" charset="0"/>
              <a:buChar char="•"/>
            </a:pPr>
            <a:r>
              <a:rPr lang="en-US" sz="1000">
                <a:solidFill>
                  <a:schemeClr val="tx1"/>
                </a:solidFill>
              </a:rPr>
              <a:t>Comprehensive </a:t>
            </a:r>
            <a:r>
              <a:rPr lang="en-US" sz="1000" b="1">
                <a:solidFill>
                  <a:schemeClr val="tx1"/>
                </a:solidFill>
              </a:rPr>
              <a:t>product shelf</a:t>
            </a:r>
            <a:r>
              <a:rPr lang="en-US" sz="1000">
                <a:solidFill>
                  <a:schemeClr val="tx1"/>
                </a:solidFill>
              </a:rPr>
              <a:t> &amp; human-led </a:t>
            </a:r>
            <a:r>
              <a:rPr lang="en-US" sz="1000" b="1">
                <a:solidFill>
                  <a:schemeClr val="tx1"/>
                </a:solidFill>
              </a:rPr>
              <a:t>advice</a:t>
            </a:r>
          </a:p>
          <a:p>
            <a:pPr marL="171450" indent="-171450">
              <a:spcBef>
                <a:spcPts val="600"/>
              </a:spcBef>
              <a:buFont typeface="Arial" panose="020B0604020202020204" pitchFamily="34" charset="0"/>
              <a:buChar char="•"/>
            </a:pPr>
            <a:r>
              <a:rPr lang="en-US" sz="1000" b="1">
                <a:solidFill>
                  <a:schemeClr val="tx1"/>
                </a:solidFill>
              </a:rPr>
              <a:t>Client segmentation </a:t>
            </a:r>
            <a:r>
              <a:rPr lang="en-US" sz="1000">
                <a:solidFill>
                  <a:schemeClr val="tx1"/>
                </a:solidFill>
              </a:rPr>
              <a:t>to create tailored retail value propositions</a:t>
            </a:r>
          </a:p>
          <a:p>
            <a:pPr marL="171450" indent="-171450">
              <a:spcBef>
                <a:spcPts val="600"/>
              </a:spcBef>
              <a:buFont typeface="Arial" panose="020B0604020202020204" pitchFamily="34" charset="0"/>
              <a:buChar char="•"/>
            </a:pPr>
            <a:r>
              <a:rPr lang="en-US" sz="1000" b="1">
                <a:solidFill>
                  <a:schemeClr val="tx1"/>
                </a:solidFill>
                <a:ea typeface="+mn-lt"/>
                <a:cs typeface="+mn-lt"/>
              </a:rPr>
              <a:t>RIA must-win </a:t>
            </a:r>
            <a:r>
              <a:rPr lang="en-US" sz="1000">
                <a:solidFill>
                  <a:schemeClr val="tx1"/>
                </a:solidFill>
                <a:ea typeface="+mn-lt"/>
                <a:cs typeface="+mn-lt"/>
              </a:rPr>
              <a:t>to simplify clients’ banking and investing journeys through digital investing and financial planning</a:t>
            </a:r>
          </a:p>
          <a:p>
            <a:pPr marL="171450" indent="-171450">
              <a:spcBef>
                <a:spcPts val="600"/>
              </a:spcBef>
              <a:buFont typeface="Arial" panose="020B0604020202020204" pitchFamily="34" charset="0"/>
              <a:buChar char="•"/>
            </a:pPr>
            <a:r>
              <a:rPr lang="en-US" sz="1000" b="1">
                <a:solidFill>
                  <a:schemeClr val="tx1"/>
                </a:solidFill>
                <a:ea typeface="+mn-lt"/>
                <a:cs typeface="+mn-lt"/>
              </a:rPr>
              <a:t>Personalization</a:t>
            </a:r>
            <a:r>
              <a:rPr lang="en-US" sz="1000">
                <a:solidFill>
                  <a:schemeClr val="tx1"/>
                </a:solidFill>
                <a:ea typeface="+mn-lt"/>
                <a:cs typeface="+mn-lt"/>
              </a:rPr>
              <a:t> to coordinate client outreach</a:t>
            </a:r>
          </a:p>
        </p:txBody>
      </p:sp>
      <p:sp>
        <p:nvSpPr>
          <p:cNvPr id="71" name="Rectangle 70">
            <a:extLst>
              <a:ext uri="{FF2B5EF4-FFF2-40B4-BE49-F238E27FC236}">
                <a16:creationId xmlns:a16="http://schemas.microsoft.com/office/drawing/2014/main" id="{E29CD2DD-D410-6395-194A-DED9D91B9918}"/>
              </a:ext>
            </a:extLst>
          </p:cNvPr>
          <p:cNvSpPr/>
          <p:nvPr/>
        </p:nvSpPr>
        <p:spPr>
          <a:xfrm>
            <a:off x="7542216" y="2987971"/>
            <a:ext cx="1989138" cy="30110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180000" rtlCol="0" anchor="t"/>
          <a:lstStyle/>
          <a:p>
            <a:pPr marL="171450" indent="-171450">
              <a:spcBef>
                <a:spcPts val="600"/>
              </a:spcBef>
              <a:buFont typeface="Arial" panose="020B0604020202020204" pitchFamily="34" charset="0"/>
              <a:buChar char="•"/>
            </a:pPr>
            <a:r>
              <a:rPr lang="en-US" sz="1000" b="1">
                <a:solidFill>
                  <a:schemeClr val="tx1"/>
                </a:solidFill>
              </a:rPr>
              <a:t>Improved connections of data across Retail and </a:t>
            </a:r>
            <a:r>
              <a:rPr lang="en-US" sz="1000" b="1" err="1">
                <a:solidFill>
                  <a:schemeClr val="tx1"/>
                </a:solidFill>
              </a:rPr>
              <a:t>iTRADE</a:t>
            </a:r>
            <a:r>
              <a:rPr lang="en-US" sz="1000">
                <a:solidFill>
                  <a:schemeClr val="tx1"/>
                </a:solidFill>
              </a:rPr>
              <a:t> through 3DM Must-Win to make decisions on the clients’ whole bank relationship </a:t>
            </a:r>
          </a:p>
          <a:p>
            <a:pPr marL="171450" indent="-171450">
              <a:spcBef>
                <a:spcPts val="600"/>
              </a:spcBef>
              <a:buFont typeface="Arial" panose="020B0604020202020204" pitchFamily="34" charset="0"/>
              <a:buChar char="•"/>
            </a:pPr>
            <a:r>
              <a:rPr lang="en-US" sz="1000" b="1">
                <a:solidFill>
                  <a:schemeClr val="tx1"/>
                </a:solidFill>
              </a:rPr>
              <a:t>Investments in mobile platforms </a:t>
            </a:r>
            <a:r>
              <a:rPr lang="en-US" sz="1000">
                <a:solidFill>
                  <a:schemeClr val="tx1"/>
                </a:solidFill>
              </a:rPr>
              <a:t>to create single portfolio view and seamless transition between banking &amp; investments</a:t>
            </a:r>
          </a:p>
          <a:p>
            <a:pPr marL="171450" indent="-171450">
              <a:spcBef>
                <a:spcPts val="600"/>
              </a:spcBef>
              <a:buFont typeface="Arial" panose="020B0604020202020204" pitchFamily="34" charset="0"/>
              <a:buChar char="•"/>
            </a:pPr>
            <a:r>
              <a:rPr lang="en-US" sz="1000">
                <a:solidFill>
                  <a:schemeClr val="tx1"/>
                </a:solidFill>
              </a:rPr>
              <a:t>Within existing initiatives, </a:t>
            </a:r>
            <a:r>
              <a:rPr lang="en-US" sz="1000" b="1">
                <a:solidFill>
                  <a:schemeClr val="tx1"/>
                </a:solidFill>
              </a:rPr>
              <a:t>explore opportunities </a:t>
            </a:r>
            <a:r>
              <a:rPr lang="en-US" sz="1000">
                <a:solidFill>
                  <a:schemeClr val="tx1"/>
                </a:solidFill>
              </a:rPr>
              <a:t>to enhance Retail/</a:t>
            </a:r>
            <a:r>
              <a:rPr lang="en-CA" sz="1000" i="1">
                <a:solidFill>
                  <a:schemeClr val="tx1"/>
                </a:solidFill>
              </a:rPr>
              <a:t> </a:t>
            </a:r>
            <a:r>
              <a:rPr lang="en-CA" sz="1000" err="1">
                <a:solidFill>
                  <a:schemeClr val="tx1"/>
                </a:solidFill>
              </a:rPr>
              <a:t>iTRADE</a:t>
            </a:r>
            <a:r>
              <a:rPr lang="en-US" sz="1000">
                <a:solidFill>
                  <a:schemeClr val="tx1"/>
                </a:solidFill>
              </a:rPr>
              <a:t> integration (e.g., RIA Must Win, Retail Segmentation / Channel Strategy)</a:t>
            </a:r>
          </a:p>
        </p:txBody>
      </p:sp>
      <p:sp>
        <p:nvSpPr>
          <p:cNvPr id="63" name="Rectangle 62">
            <a:extLst>
              <a:ext uri="{FF2B5EF4-FFF2-40B4-BE49-F238E27FC236}">
                <a16:creationId xmlns:a16="http://schemas.microsoft.com/office/drawing/2014/main" id="{8F5E9BAD-D50C-2BE3-2A3E-794848B59399}"/>
              </a:ext>
            </a:extLst>
          </p:cNvPr>
          <p:cNvSpPr/>
          <p:nvPr/>
        </p:nvSpPr>
        <p:spPr>
          <a:xfrm>
            <a:off x="9618803" y="1681974"/>
            <a:ext cx="1989138" cy="443942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274320" rIns="91440" bIns="180000" rtlCol="0" anchor="t"/>
          <a:lstStyle/>
          <a:p>
            <a:pPr algn="l">
              <a:spcBef>
                <a:spcPts val="600"/>
              </a:spcBef>
            </a:pPr>
            <a:endParaRPr lang="en-US" sz="1000">
              <a:solidFill>
                <a:schemeClr val="tx1"/>
              </a:solidFill>
            </a:endParaRPr>
          </a:p>
        </p:txBody>
      </p:sp>
      <p:sp>
        <p:nvSpPr>
          <p:cNvPr id="75" name="Rectangle 74">
            <a:extLst>
              <a:ext uri="{FF2B5EF4-FFF2-40B4-BE49-F238E27FC236}">
                <a16:creationId xmlns:a16="http://schemas.microsoft.com/office/drawing/2014/main" id="{67F07F6D-6188-439A-BB4C-52EB11B48E8D}"/>
              </a:ext>
            </a:extLst>
          </p:cNvPr>
          <p:cNvSpPr/>
          <p:nvPr/>
        </p:nvSpPr>
        <p:spPr>
          <a:xfrm>
            <a:off x="9618803" y="2987970"/>
            <a:ext cx="1989138" cy="25392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180000" rtlCol="0" anchor="t"/>
          <a:lstStyle/>
          <a:p>
            <a:pPr marL="171450" indent="-171450">
              <a:spcBef>
                <a:spcPts val="600"/>
              </a:spcBef>
              <a:buFont typeface="Arial,Sans-Serif" panose="020B0604020202020204" pitchFamily="34" charset="0"/>
              <a:buChar char="•"/>
            </a:pPr>
            <a:r>
              <a:rPr lang="en-US" sz="1000" b="1">
                <a:solidFill>
                  <a:schemeClr val="tx1"/>
                </a:solidFill>
              </a:rPr>
              <a:t>Unique </a:t>
            </a:r>
            <a:r>
              <a:rPr lang="en-US" sz="1000" b="1" err="1">
                <a:solidFill>
                  <a:schemeClr val="tx1"/>
                </a:solidFill>
              </a:rPr>
              <a:t>iTRADE</a:t>
            </a:r>
            <a:r>
              <a:rPr lang="en-US" sz="1000" b="1">
                <a:solidFill>
                  <a:schemeClr val="tx1"/>
                </a:solidFill>
              </a:rPr>
              <a:t> positioning for &lt;45 “on the cusp investor” </a:t>
            </a:r>
            <a:r>
              <a:rPr lang="en-US" sz="1000">
                <a:solidFill>
                  <a:schemeClr val="tx1"/>
                </a:solidFill>
              </a:rPr>
              <a:t>that reframes investing as a bold act of identity transformation- moving from passive saver to empowered investor</a:t>
            </a:r>
          </a:p>
          <a:p>
            <a:pPr marL="171450" indent="-171450">
              <a:spcBef>
                <a:spcPts val="600"/>
              </a:spcBef>
              <a:buFont typeface="Arial,Sans-Serif" panose="020B0604020202020204" pitchFamily="34" charset="0"/>
              <a:buChar char="•"/>
            </a:pPr>
            <a:r>
              <a:rPr lang="en-US" sz="1000" b="1">
                <a:solidFill>
                  <a:schemeClr val="tx1"/>
                </a:solidFill>
              </a:rPr>
              <a:t>Continue to leverage “You’re richer than you think” </a:t>
            </a:r>
            <a:r>
              <a:rPr lang="en-US" sz="1000">
                <a:solidFill>
                  <a:schemeClr val="tx1"/>
                </a:solidFill>
              </a:rPr>
              <a:t>to connect all marketing across brand, product and service pillars</a:t>
            </a:r>
          </a:p>
          <a:p>
            <a:pPr marL="171450" indent="-171450">
              <a:spcBef>
                <a:spcPts val="600"/>
              </a:spcBef>
              <a:buFont typeface="Arial,Sans-Serif" panose="020B0604020202020204" pitchFamily="34" charset="0"/>
              <a:buChar char="•"/>
            </a:pPr>
            <a:r>
              <a:rPr lang="en-US" sz="1000">
                <a:solidFill>
                  <a:schemeClr val="tx1"/>
                </a:solidFill>
              </a:rPr>
              <a:t>Explore enhanced personalized </a:t>
            </a:r>
            <a:r>
              <a:rPr lang="en-US" sz="1000" b="1">
                <a:solidFill>
                  <a:schemeClr val="tx1"/>
                </a:solidFill>
              </a:rPr>
              <a:t>targeted marketing </a:t>
            </a:r>
            <a:r>
              <a:rPr lang="en-US" sz="1000">
                <a:solidFill>
                  <a:schemeClr val="tx1"/>
                </a:solidFill>
              </a:rPr>
              <a:t>initiatives</a:t>
            </a:r>
          </a:p>
        </p:txBody>
      </p:sp>
      <p:sp>
        <p:nvSpPr>
          <p:cNvPr id="61" name="Rectangle 60">
            <a:extLst>
              <a:ext uri="{FF2B5EF4-FFF2-40B4-BE49-F238E27FC236}">
                <a16:creationId xmlns:a16="http://schemas.microsoft.com/office/drawing/2014/main" id="{A8405463-9E2F-E191-11CB-7A9756BD2468}"/>
              </a:ext>
            </a:extLst>
          </p:cNvPr>
          <p:cNvSpPr/>
          <p:nvPr/>
        </p:nvSpPr>
        <p:spPr>
          <a:xfrm>
            <a:off x="5470360" y="2008583"/>
            <a:ext cx="1989138" cy="14608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2880" rIns="9144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sp>
        <p:nvSpPr>
          <p:cNvPr id="2" name="Title 1">
            <a:extLst>
              <a:ext uri="{FF2B5EF4-FFF2-40B4-BE49-F238E27FC236}">
                <a16:creationId xmlns:a16="http://schemas.microsoft.com/office/drawing/2014/main" id="{4B0A9AB2-2FBF-1100-83B5-DD12B3506E23}"/>
              </a:ext>
            </a:extLst>
          </p:cNvPr>
          <p:cNvSpPr>
            <a:spLocks noGrp="1"/>
          </p:cNvSpPr>
          <p:nvPr>
            <p:ph type="title"/>
          </p:nvPr>
        </p:nvSpPr>
        <p:spPr/>
        <p:txBody>
          <a:bodyPr vert="horz"/>
          <a:lstStyle/>
          <a:p>
            <a:r>
              <a:rPr lang="en-CA">
                <a:solidFill>
                  <a:srgbClr val="EC111A"/>
                </a:solidFill>
              </a:rPr>
              <a:t>Med-to-long-term roadmap | </a:t>
            </a:r>
            <a:r>
              <a:rPr lang="en-US"/>
              <a:t>We have initiatives underway across key value levers to achieve a competitive value proposition over time</a:t>
            </a:r>
          </a:p>
        </p:txBody>
      </p:sp>
      <p:sp>
        <p:nvSpPr>
          <p:cNvPr id="3" name="Slide Number Placeholder 2">
            <a:extLst>
              <a:ext uri="{FF2B5EF4-FFF2-40B4-BE49-F238E27FC236}">
                <a16:creationId xmlns:a16="http://schemas.microsoft.com/office/drawing/2014/main" id="{4D9936F8-2779-5680-D5F5-8BA53078641D}"/>
              </a:ext>
            </a:extLst>
          </p:cNvPr>
          <p:cNvSpPr>
            <a:spLocks noGrp="1"/>
          </p:cNvSpPr>
          <p:nvPr>
            <p:ph type="sldNum" sz="quarter" idx="10"/>
          </p:nvPr>
        </p:nvSpPr>
        <p:spPr/>
        <p:txBody>
          <a:bodyPr/>
          <a:lstStyle/>
          <a:p>
            <a:fld id="{95D835A7-12B2-4074-8DA2-469A8808C237}" type="slidenum">
              <a:rPr lang="en-CA" smtClean="0"/>
              <a:pPr/>
              <a:t>52</a:t>
            </a:fld>
            <a:endParaRPr lang="en-CA"/>
          </a:p>
        </p:txBody>
      </p:sp>
      <p:sp>
        <p:nvSpPr>
          <p:cNvPr id="5" name="Text Placeholder 4">
            <a:extLst>
              <a:ext uri="{FF2B5EF4-FFF2-40B4-BE49-F238E27FC236}">
                <a16:creationId xmlns:a16="http://schemas.microsoft.com/office/drawing/2014/main" id="{1B95B71A-78CD-961B-3D0A-A5A7A5DFE29B}"/>
              </a:ext>
            </a:extLst>
          </p:cNvPr>
          <p:cNvSpPr>
            <a:spLocks noGrp="1"/>
          </p:cNvSpPr>
          <p:nvPr>
            <p:ph type="body" sz="quarter" idx="13"/>
          </p:nvPr>
        </p:nvSpPr>
        <p:spPr/>
        <p:txBody>
          <a:bodyPr/>
          <a:lstStyle/>
          <a:p>
            <a:endParaRPr lang="en-US"/>
          </a:p>
        </p:txBody>
      </p:sp>
      <p:sp>
        <p:nvSpPr>
          <p:cNvPr id="22" name="Rectangle 21">
            <a:extLst>
              <a:ext uri="{FF2B5EF4-FFF2-40B4-BE49-F238E27FC236}">
                <a16:creationId xmlns:a16="http://schemas.microsoft.com/office/drawing/2014/main" id="{8563841F-47EE-48CA-55D6-67A7B4BBCB82}"/>
              </a:ext>
            </a:extLst>
          </p:cNvPr>
          <p:cNvSpPr/>
          <p:nvPr/>
        </p:nvSpPr>
        <p:spPr>
          <a:xfrm>
            <a:off x="277446" y="2396303"/>
            <a:ext cx="1111232" cy="6220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t"/>
          <a:lstStyle/>
          <a:p>
            <a:pPr algn="l">
              <a:spcBef>
                <a:spcPts val="600"/>
              </a:spcBef>
            </a:pPr>
            <a:r>
              <a:rPr lang="en-US" sz="1000">
                <a:solidFill>
                  <a:schemeClr val="tx1"/>
                </a:solidFill>
              </a:rPr>
              <a:t>BNS value drivers</a:t>
            </a:r>
          </a:p>
        </p:txBody>
      </p:sp>
      <p:sp>
        <p:nvSpPr>
          <p:cNvPr id="23" name="Rectangle 22">
            <a:extLst>
              <a:ext uri="{FF2B5EF4-FFF2-40B4-BE49-F238E27FC236}">
                <a16:creationId xmlns:a16="http://schemas.microsoft.com/office/drawing/2014/main" id="{AB6ABC57-1213-FF23-6DDD-1FEC654BB83C}"/>
              </a:ext>
            </a:extLst>
          </p:cNvPr>
          <p:cNvSpPr/>
          <p:nvPr/>
        </p:nvSpPr>
        <p:spPr>
          <a:xfrm>
            <a:off x="277233" y="2958109"/>
            <a:ext cx="1007618" cy="6220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t"/>
          <a:lstStyle/>
          <a:p>
            <a:r>
              <a:rPr lang="en-US" sz="1000">
                <a:solidFill>
                  <a:schemeClr val="tx1"/>
                </a:solidFill>
              </a:rPr>
              <a:t>Example initiatives</a:t>
            </a:r>
          </a:p>
          <a:p>
            <a:r>
              <a:rPr lang="en-US" sz="800" i="1">
                <a:solidFill>
                  <a:schemeClr val="tx1"/>
                </a:solidFill>
              </a:rPr>
              <a:t>(Non-exhaustive)</a:t>
            </a:r>
          </a:p>
        </p:txBody>
      </p:sp>
      <p:sp>
        <p:nvSpPr>
          <p:cNvPr id="64" name="Rectangle 63">
            <a:extLst>
              <a:ext uri="{FF2B5EF4-FFF2-40B4-BE49-F238E27FC236}">
                <a16:creationId xmlns:a16="http://schemas.microsoft.com/office/drawing/2014/main" id="{4EAB515C-1EC5-71FC-FB06-9818ED73C399}"/>
              </a:ext>
            </a:extLst>
          </p:cNvPr>
          <p:cNvSpPr/>
          <p:nvPr/>
        </p:nvSpPr>
        <p:spPr>
          <a:xfrm>
            <a:off x="5465629" y="3016546"/>
            <a:ext cx="1989138" cy="26202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180000" rtlCol="0" anchor="t"/>
          <a:lstStyle/>
          <a:p>
            <a:pPr marL="171450" indent="-171450">
              <a:spcBef>
                <a:spcPts val="600"/>
              </a:spcBef>
              <a:buFont typeface="Arial,Sans-Serif" panose="020B0604020202020204" pitchFamily="34" charset="0"/>
              <a:buChar char="•"/>
            </a:pPr>
            <a:r>
              <a:rPr lang="en-US" sz="1000">
                <a:solidFill>
                  <a:schemeClr val="tx1"/>
                </a:solidFill>
              </a:rPr>
              <a:t>Simple and transparent </a:t>
            </a:r>
            <a:r>
              <a:rPr lang="en-US" sz="1000" b="1">
                <a:solidFill>
                  <a:schemeClr val="tx1"/>
                </a:solidFill>
              </a:rPr>
              <a:t>communication</a:t>
            </a:r>
            <a:r>
              <a:rPr lang="en-US" sz="1000">
                <a:solidFill>
                  <a:schemeClr val="tx1"/>
                </a:solidFill>
              </a:rPr>
              <a:t> of value proposition and competitive offers</a:t>
            </a:r>
          </a:p>
          <a:p>
            <a:pPr marL="171450" indent="-171450">
              <a:spcBef>
                <a:spcPts val="600"/>
              </a:spcBef>
              <a:buFont typeface="Arial,Sans-Serif" panose="020B0604020202020204" pitchFamily="34" charset="0"/>
              <a:buChar char="•"/>
            </a:pPr>
            <a:r>
              <a:rPr lang="en-US" sz="1000" b="1">
                <a:solidFill>
                  <a:schemeClr val="tx1"/>
                </a:solidFill>
              </a:rPr>
              <a:t>Retail client segmentation </a:t>
            </a:r>
            <a:r>
              <a:rPr lang="en-US" sz="1000">
                <a:solidFill>
                  <a:schemeClr val="tx1"/>
                </a:solidFill>
              </a:rPr>
              <a:t>to offer </a:t>
            </a:r>
            <a:r>
              <a:rPr lang="en-US" sz="1000" b="1">
                <a:solidFill>
                  <a:schemeClr val="tx1"/>
                </a:solidFill>
              </a:rPr>
              <a:t>tiered packages &amp; pricing </a:t>
            </a:r>
            <a:r>
              <a:rPr lang="en-US" sz="1000">
                <a:solidFill>
                  <a:schemeClr val="tx1"/>
                </a:solidFill>
              </a:rPr>
              <a:t>based on holistic BNS relationship</a:t>
            </a:r>
          </a:p>
          <a:p>
            <a:pPr marL="171450" indent="-171450">
              <a:spcBef>
                <a:spcPts val="600"/>
              </a:spcBef>
              <a:buFont typeface="Arial" panose="020B0604020202020204" pitchFamily="34" charset="0"/>
              <a:buChar char="•"/>
            </a:pPr>
            <a:r>
              <a:rPr lang="en-US" sz="1000" b="1" err="1">
                <a:solidFill>
                  <a:schemeClr val="tx1"/>
                </a:solidFill>
              </a:rPr>
              <a:t>iTRADE</a:t>
            </a:r>
            <a:r>
              <a:rPr lang="en-US" sz="1000" b="1">
                <a:solidFill>
                  <a:schemeClr val="tx1"/>
                </a:solidFill>
              </a:rPr>
              <a:t> pricing initiatives </a:t>
            </a:r>
            <a:r>
              <a:rPr lang="en-US" sz="1000">
                <a:solidFill>
                  <a:schemeClr val="tx1"/>
                </a:solidFill>
              </a:rPr>
              <a:t>for select clients (tied to retail segmentation)</a:t>
            </a:r>
          </a:p>
        </p:txBody>
      </p:sp>
      <p:sp>
        <p:nvSpPr>
          <p:cNvPr id="137" name="Rectangle 136">
            <a:extLst>
              <a:ext uri="{FF2B5EF4-FFF2-40B4-BE49-F238E27FC236}">
                <a16:creationId xmlns:a16="http://schemas.microsoft.com/office/drawing/2014/main" id="{D718F40A-E6A1-BC36-78CB-55C2612BA55F}"/>
              </a:ext>
            </a:extLst>
          </p:cNvPr>
          <p:cNvSpPr/>
          <p:nvPr/>
        </p:nvSpPr>
        <p:spPr>
          <a:xfrm>
            <a:off x="9618803" y="2282051"/>
            <a:ext cx="1989138" cy="6563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a:spcBef>
                <a:spcPts val="600"/>
              </a:spcBef>
            </a:pPr>
            <a:r>
              <a:rPr lang="en-CA" sz="1200" b="1">
                <a:solidFill>
                  <a:schemeClr val="tx1"/>
                </a:solidFill>
              </a:rPr>
              <a:t>Marketing</a:t>
            </a:r>
          </a:p>
          <a:p>
            <a:pPr>
              <a:spcBef>
                <a:spcPts val="600"/>
              </a:spcBef>
            </a:pPr>
            <a:r>
              <a:rPr lang="en-US" sz="900" i="1">
                <a:solidFill>
                  <a:schemeClr val="tx1"/>
                </a:solidFill>
              </a:rPr>
              <a:t>Focus on distinct products with strong value and seamless CX</a:t>
            </a:r>
          </a:p>
        </p:txBody>
      </p:sp>
      <p:sp>
        <p:nvSpPr>
          <p:cNvPr id="138" name="Rectangle 137">
            <a:extLst>
              <a:ext uri="{FF2B5EF4-FFF2-40B4-BE49-F238E27FC236}">
                <a16:creationId xmlns:a16="http://schemas.microsoft.com/office/drawing/2014/main" id="{5230E07D-3763-FB38-4294-C5AE055DB3AD}"/>
              </a:ext>
            </a:extLst>
          </p:cNvPr>
          <p:cNvSpPr/>
          <p:nvPr/>
        </p:nvSpPr>
        <p:spPr>
          <a:xfrm>
            <a:off x="5465629" y="2282182"/>
            <a:ext cx="1989138" cy="502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a:spcBef>
                <a:spcPts val="600"/>
              </a:spcBef>
            </a:pPr>
            <a:r>
              <a:rPr lang="en-CA" sz="1200" b="1">
                <a:solidFill>
                  <a:schemeClr val="tx1"/>
                </a:solidFill>
              </a:rPr>
              <a:t>Value For Money</a:t>
            </a:r>
          </a:p>
          <a:p>
            <a:pPr>
              <a:spcBef>
                <a:spcPts val="600"/>
              </a:spcBef>
            </a:pPr>
            <a:r>
              <a:rPr lang="en-US" sz="900" i="1">
                <a:solidFill>
                  <a:schemeClr val="tx1"/>
                </a:solidFill>
              </a:rPr>
              <a:t>Articulate the value of products and services to clients</a:t>
            </a:r>
            <a:endParaRPr lang="en-CA" sz="900" i="1">
              <a:solidFill>
                <a:schemeClr val="tx1"/>
              </a:solidFill>
            </a:endParaRPr>
          </a:p>
        </p:txBody>
      </p:sp>
      <p:sp>
        <p:nvSpPr>
          <p:cNvPr id="139" name="Rectangle 138">
            <a:extLst>
              <a:ext uri="{FF2B5EF4-FFF2-40B4-BE49-F238E27FC236}">
                <a16:creationId xmlns:a16="http://schemas.microsoft.com/office/drawing/2014/main" id="{5B85296E-9123-95C2-C54D-BD913C340452}"/>
              </a:ext>
            </a:extLst>
          </p:cNvPr>
          <p:cNvSpPr/>
          <p:nvPr/>
        </p:nvSpPr>
        <p:spPr>
          <a:xfrm>
            <a:off x="7542216" y="2282051"/>
            <a:ext cx="1989138" cy="5030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a:spcBef>
                <a:spcPts val="600"/>
              </a:spcBef>
            </a:pPr>
            <a:r>
              <a:rPr lang="en-CA" sz="1200" b="1">
                <a:solidFill>
                  <a:schemeClr val="tx1"/>
                </a:solidFill>
              </a:rPr>
              <a:t>Ecosystem</a:t>
            </a:r>
          </a:p>
          <a:p>
            <a:pPr>
              <a:spcBef>
                <a:spcPts val="600"/>
              </a:spcBef>
            </a:pPr>
            <a:r>
              <a:rPr lang="en-CA" sz="900" i="1">
                <a:solidFill>
                  <a:schemeClr val="tx1"/>
                </a:solidFill>
              </a:rPr>
              <a:t>Deliver the whole bank to the client across Retail / </a:t>
            </a:r>
            <a:r>
              <a:rPr lang="en-CA" sz="900" i="1" err="1">
                <a:solidFill>
                  <a:schemeClr val="tx1"/>
                </a:solidFill>
              </a:rPr>
              <a:t>iTRADE</a:t>
            </a:r>
            <a:r>
              <a:rPr lang="en-CA" sz="900" i="1">
                <a:solidFill>
                  <a:schemeClr val="tx1"/>
                </a:solidFill>
                <a:highlight>
                  <a:srgbClr val="D8D6CA"/>
                </a:highlight>
              </a:rPr>
              <a:t> </a:t>
            </a:r>
          </a:p>
        </p:txBody>
      </p:sp>
      <p:sp>
        <p:nvSpPr>
          <p:cNvPr id="227" name="Rectangle 226">
            <a:extLst>
              <a:ext uri="{FF2B5EF4-FFF2-40B4-BE49-F238E27FC236}">
                <a16:creationId xmlns:a16="http://schemas.microsoft.com/office/drawing/2014/main" id="{B115B3DD-95B4-F3F1-B1B1-C6EC8F4B616B}"/>
              </a:ext>
            </a:extLst>
          </p:cNvPr>
          <p:cNvSpPr/>
          <p:nvPr/>
        </p:nvSpPr>
        <p:spPr>
          <a:xfrm>
            <a:off x="3389042" y="2282182"/>
            <a:ext cx="1989138" cy="502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a:spcBef>
                <a:spcPts val="600"/>
              </a:spcBef>
            </a:pPr>
            <a:r>
              <a:rPr lang="en-CA" sz="1200" b="1">
                <a:solidFill>
                  <a:schemeClr val="tx1"/>
                </a:solidFill>
              </a:rPr>
              <a:t>Offerings &amp; Advice</a:t>
            </a:r>
          </a:p>
          <a:p>
            <a:pPr>
              <a:spcBef>
                <a:spcPts val="600"/>
              </a:spcBef>
            </a:pPr>
            <a:r>
              <a:rPr lang="en-CA" sz="900" i="1">
                <a:solidFill>
                  <a:schemeClr val="tx1"/>
                </a:solidFill>
              </a:rPr>
              <a:t>Offer comprehensive products and services to meet client needs</a:t>
            </a:r>
          </a:p>
        </p:txBody>
      </p:sp>
      <p:sp>
        <p:nvSpPr>
          <p:cNvPr id="228" name="Rectangle 227">
            <a:extLst>
              <a:ext uri="{FF2B5EF4-FFF2-40B4-BE49-F238E27FC236}">
                <a16:creationId xmlns:a16="http://schemas.microsoft.com/office/drawing/2014/main" id="{F647ACBD-758A-2F6E-C1AE-DDD84413CD89}"/>
              </a:ext>
            </a:extLst>
          </p:cNvPr>
          <p:cNvSpPr/>
          <p:nvPr/>
        </p:nvSpPr>
        <p:spPr>
          <a:xfrm>
            <a:off x="1312455" y="2282182"/>
            <a:ext cx="1989138" cy="502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lstStyle/>
          <a:p>
            <a:pPr>
              <a:spcBef>
                <a:spcPts val="600"/>
              </a:spcBef>
            </a:pPr>
            <a:r>
              <a:rPr lang="en-CA" sz="1200" b="1">
                <a:solidFill>
                  <a:schemeClr val="tx1"/>
                </a:solidFill>
              </a:rPr>
              <a:t>Engagement Channel</a:t>
            </a:r>
          </a:p>
          <a:p>
            <a:pPr>
              <a:spcBef>
                <a:spcPts val="600"/>
              </a:spcBef>
            </a:pPr>
            <a:r>
              <a:rPr lang="en-CA" sz="900" i="1">
                <a:solidFill>
                  <a:schemeClr val="tx1"/>
                </a:solidFill>
              </a:rPr>
              <a:t>Enable omni-channel distribution &amp; servicing that is user-friendly</a:t>
            </a:r>
          </a:p>
        </p:txBody>
      </p:sp>
      <p:sp>
        <p:nvSpPr>
          <p:cNvPr id="235" name="Rectangle 234">
            <a:extLst>
              <a:ext uri="{FF2B5EF4-FFF2-40B4-BE49-F238E27FC236}">
                <a16:creationId xmlns:a16="http://schemas.microsoft.com/office/drawing/2014/main" id="{BB211F13-86F4-6466-41EB-8A7E0408A104}"/>
              </a:ext>
            </a:extLst>
          </p:cNvPr>
          <p:cNvSpPr/>
          <p:nvPr/>
        </p:nvSpPr>
        <p:spPr>
          <a:xfrm>
            <a:off x="1403895" y="1773415"/>
            <a:ext cx="456713" cy="464457"/>
          </a:xfrm>
          <a:prstGeom prst="rect">
            <a:avLst/>
          </a:prstGeom>
          <a:solidFill>
            <a:srgbClr val="DCCDB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pic>
        <p:nvPicPr>
          <p:cNvPr id="234" name="Graphic 233">
            <a:extLst>
              <a:ext uri="{FF2B5EF4-FFF2-40B4-BE49-F238E27FC236}">
                <a16:creationId xmlns:a16="http://schemas.microsoft.com/office/drawing/2014/main" id="{AC142CE4-8023-E5E6-1348-DC4A2ECBDCA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495794" y="1869186"/>
            <a:ext cx="272914" cy="272914"/>
          </a:xfrm>
          <a:prstGeom prst="rect">
            <a:avLst/>
          </a:prstGeom>
        </p:spPr>
      </p:pic>
      <p:sp>
        <p:nvSpPr>
          <p:cNvPr id="239" name="Rectangle 238">
            <a:extLst>
              <a:ext uri="{FF2B5EF4-FFF2-40B4-BE49-F238E27FC236}">
                <a16:creationId xmlns:a16="http://schemas.microsoft.com/office/drawing/2014/main" id="{57E1EEB8-6B9D-B7BC-ECE9-ED250C90657A}"/>
              </a:ext>
            </a:extLst>
          </p:cNvPr>
          <p:cNvSpPr/>
          <p:nvPr/>
        </p:nvSpPr>
        <p:spPr>
          <a:xfrm>
            <a:off x="3480482" y="1773415"/>
            <a:ext cx="456713" cy="464457"/>
          </a:xfrm>
          <a:prstGeom prst="rect">
            <a:avLst/>
          </a:prstGeom>
          <a:solidFill>
            <a:srgbClr val="DCCDB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pic>
        <p:nvPicPr>
          <p:cNvPr id="229" name="Graphic 228">
            <a:extLst>
              <a:ext uri="{FF2B5EF4-FFF2-40B4-BE49-F238E27FC236}">
                <a16:creationId xmlns:a16="http://schemas.microsoft.com/office/drawing/2014/main" id="{6F0065ED-4D32-7FBD-4B94-E46375ABD5FF}"/>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3577239" y="1908460"/>
            <a:ext cx="279885" cy="194365"/>
          </a:xfrm>
          <a:prstGeom prst="rect">
            <a:avLst/>
          </a:prstGeom>
        </p:spPr>
      </p:pic>
      <p:sp>
        <p:nvSpPr>
          <p:cNvPr id="242" name="Rectangle 241">
            <a:extLst>
              <a:ext uri="{FF2B5EF4-FFF2-40B4-BE49-F238E27FC236}">
                <a16:creationId xmlns:a16="http://schemas.microsoft.com/office/drawing/2014/main" id="{92A6D4E5-9810-3F89-283B-12D779A8702F}"/>
              </a:ext>
            </a:extLst>
          </p:cNvPr>
          <p:cNvSpPr/>
          <p:nvPr/>
        </p:nvSpPr>
        <p:spPr>
          <a:xfrm>
            <a:off x="5557069" y="1773146"/>
            <a:ext cx="456713" cy="464457"/>
          </a:xfrm>
          <a:prstGeom prst="rect">
            <a:avLst/>
          </a:prstGeom>
          <a:solidFill>
            <a:srgbClr val="DCCDB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sp>
        <p:nvSpPr>
          <p:cNvPr id="230" name="Shape 2633">
            <a:extLst>
              <a:ext uri="{FF2B5EF4-FFF2-40B4-BE49-F238E27FC236}">
                <a16:creationId xmlns:a16="http://schemas.microsoft.com/office/drawing/2014/main" id="{584A5BA1-FDC8-846C-0149-D6C0FF0A012E}"/>
              </a:ext>
            </a:extLst>
          </p:cNvPr>
          <p:cNvSpPr/>
          <p:nvPr/>
        </p:nvSpPr>
        <p:spPr>
          <a:xfrm>
            <a:off x="5662414" y="1888660"/>
            <a:ext cx="246023" cy="233429"/>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sp>
        <p:nvSpPr>
          <p:cNvPr id="245" name="Rectangle 244">
            <a:extLst>
              <a:ext uri="{FF2B5EF4-FFF2-40B4-BE49-F238E27FC236}">
                <a16:creationId xmlns:a16="http://schemas.microsoft.com/office/drawing/2014/main" id="{77202512-D9AE-F63D-7D31-931005CD1573}"/>
              </a:ext>
            </a:extLst>
          </p:cNvPr>
          <p:cNvSpPr/>
          <p:nvPr/>
        </p:nvSpPr>
        <p:spPr>
          <a:xfrm>
            <a:off x="7633656" y="1773415"/>
            <a:ext cx="456713" cy="464457"/>
          </a:xfrm>
          <a:prstGeom prst="rect">
            <a:avLst/>
          </a:prstGeom>
          <a:solidFill>
            <a:srgbClr val="DCCDB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sp>
        <p:nvSpPr>
          <p:cNvPr id="232" name="Shape 2857">
            <a:extLst>
              <a:ext uri="{FF2B5EF4-FFF2-40B4-BE49-F238E27FC236}">
                <a16:creationId xmlns:a16="http://schemas.microsoft.com/office/drawing/2014/main" id="{4A7B1DD7-DA3F-006E-07B6-B4EB5F8B769A}"/>
              </a:ext>
            </a:extLst>
          </p:cNvPr>
          <p:cNvSpPr/>
          <p:nvPr/>
        </p:nvSpPr>
        <p:spPr>
          <a:xfrm>
            <a:off x="7730354" y="1868243"/>
            <a:ext cx="274801" cy="274801"/>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sp>
        <p:nvSpPr>
          <p:cNvPr id="248" name="Rectangle 247">
            <a:extLst>
              <a:ext uri="{FF2B5EF4-FFF2-40B4-BE49-F238E27FC236}">
                <a16:creationId xmlns:a16="http://schemas.microsoft.com/office/drawing/2014/main" id="{A7696082-8351-311B-F200-FC5AB8FAC2E3}"/>
              </a:ext>
            </a:extLst>
          </p:cNvPr>
          <p:cNvSpPr/>
          <p:nvPr/>
        </p:nvSpPr>
        <p:spPr>
          <a:xfrm>
            <a:off x="9710243" y="1773415"/>
            <a:ext cx="456713" cy="464457"/>
          </a:xfrm>
          <a:prstGeom prst="rect">
            <a:avLst/>
          </a:prstGeom>
          <a:solidFill>
            <a:srgbClr val="DCCDBB"/>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US" sz="1000">
              <a:solidFill>
                <a:schemeClr val="tx1"/>
              </a:solidFill>
            </a:endParaRPr>
          </a:p>
        </p:txBody>
      </p:sp>
      <p:sp>
        <p:nvSpPr>
          <p:cNvPr id="231" name="Shape 2581">
            <a:extLst>
              <a:ext uri="{FF2B5EF4-FFF2-40B4-BE49-F238E27FC236}">
                <a16:creationId xmlns:a16="http://schemas.microsoft.com/office/drawing/2014/main" id="{8D5CFC86-C76A-D449-3E6F-01187B838473}"/>
              </a:ext>
            </a:extLst>
          </p:cNvPr>
          <p:cNvSpPr/>
          <p:nvPr/>
        </p:nvSpPr>
        <p:spPr>
          <a:xfrm>
            <a:off x="9801199" y="1868243"/>
            <a:ext cx="274801" cy="274801"/>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no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b="1">
              <a:solidFill>
                <a:schemeClr val="bg2"/>
              </a:solidFill>
            </a:endParaRPr>
          </a:p>
        </p:txBody>
      </p:sp>
      <p:grpSp>
        <p:nvGrpSpPr>
          <p:cNvPr id="252" name="Group 251">
            <a:extLst>
              <a:ext uri="{FF2B5EF4-FFF2-40B4-BE49-F238E27FC236}">
                <a16:creationId xmlns:a16="http://schemas.microsoft.com/office/drawing/2014/main" id="{FA86929E-3AF9-8689-80BC-8351F85D8FD4}"/>
              </a:ext>
            </a:extLst>
          </p:cNvPr>
          <p:cNvGrpSpPr/>
          <p:nvPr/>
        </p:nvGrpSpPr>
        <p:grpSpPr>
          <a:xfrm>
            <a:off x="1369443" y="3088135"/>
            <a:ext cx="124691" cy="230608"/>
            <a:chOff x="1369443" y="3073112"/>
            <a:chExt cx="124691" cy="230608"/>
          </a:xfrm>
        </p:grpSpPr>
        <p:sp>
          <p:nvSpPr>
            <p:cNvPr id="243" name="Oval 242">
              <a:extLst>
                <a:ext uri="{FF2B5EF4-FFF2-40B4-BE49-F238E27FC236}">
                  <a16:creationId xmlns:a16="http://schemas.microsoft.com/office/drawing/2014/main" id="{B0778C10-8A1E-85E9-3CE9-1153ADA8F4A3}"/>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244" name="Oval 243">
              <a:extLst>
                <a:ext uri="{FF2B5EF4-FFF2-40B4-BE49-F238E27FC236}">
                  <a16:creationId xmlns:a16="http://schemas.microsoft.com/office/drawing/2014/main" id="{1F48F07F-5CB9-048E-E776-056428D65CD4}"/>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sp>
        <p:nvSpPr>
          <p:cNvPr id="250" name="Oval 249">
            <a:extLst>
              <a:ext uri="{FF2B5EF4-FFF2-40B4-BE49-F238E27FC236}">
                <a16:creationId xmlns:a16="http://schemas.microsoft.com/office/drawing/2014/main" id="{B62393E0-F5C1-0341-E93D-E09D0137B249}"/>
              </a:ext>
            </a:extLst>
          </p:cNvPr>
          <p:cNvSpPr/>
          <p:nvPr/>
        </p:nvSpPr>
        <p:spPr>
          <a:xfrm>
            <a:off x="1369443" y="4012616"/>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34" name="Oval 33">
            <a:extLst>
              <a:ext uri="{FF2B5EF4-FFF2-40B4-BE49-F238E27FC236}">
                <a16:creationId xmlns:a16="http://schemas.microsoft.com/office/drawing/2014/main" id="{81013A8D-85EF-2C00-1A92-CBD345383A0B}"/>
              </a:ext>
            </a:extLst>
          </p:cNvPr>
          <p:cNvSpPr/>
          <p:nvPr/>
        </p:nvSpPr>
        <p:spPr>
          <a:xfrm>
            <a:off x="3439379" y="3477246"/>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36" name="Oval 35">
            <a:extLst>
              <a:ext uri="{FF2B5EF4-FFF2-40B4-BE49-F238E27FC236}">
                <a16:creationId xmlns:a16="http://schemas.microsoft.com/office/drawing/2014/main" id="{72330ECD-849E-E11E-9D4E-F1CD729C2995}"/>
              </a:ext>
            </a:extLst>
          </p:cNvPr>
          <p:cNvSpPr/>
          <p:nvPr/>
        </p:nvSpPr>
        <p:spPr>
          <a:xfrm>
            <a:off x="5524630" y="3786404"/>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nvGrpSpPr>
          <p:cNvPr id="16" name="Group 15">
            <a:extLst>
              <a:ext uri="{FF2B5EF4-FFF2-40B4-BE49-F238E27FC236}">
                <a16:creationId xmlns:a16="http://schemas.microsoft.com/office/drawing/2014/main" id="{2D1C73A7-93DC-9326-B054-FB7A461EDF7B}"/>
              </a:ext>
            </a:extLst>
          </p:cNvPr>
          <p:cNvGrpSpPr/>
          <p:nvPr/>
        </p:nvGrpSpPr>
        <p:grpSpPr>
          <a:xfrm>
            <a:off x="7607964" y="4082708"/>
            <a:ext cx="124691" cy="230608"/>
            <a:chOff x="1369443" y="3073112"/>
            <a:chExt cx="124691" cy="230608"/>
          </a:xfrm>
        </p:grpSpPr>
        <p:sp>
          <p:nvSpPr>
            <p:cNvPr id="17" name="Oval 16">
              <a:extLst>
                <a:ext uri="{FF2B5EF4-FFF2-40B4-BE49-F238E27FC236}">
                  <a16:creationId xmlns:a16="http://schemas.microsoft.com/office/drawing/2014/main" id="{71F9D117-0850-1FA6-EA11-7A6F8D566E11}"/>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18" name="Oval 17">
              <a:extLst>
                <a:ext uri="{FF2B5EF4-FFF2-40B4-BE49-F238E27FC236}">
                  <a16:creationId xmlns:a16="http://schemas.microsoft.com/office/drawing/2014/main" id="{0ADED89E-E0E6-6DA1-749F-99BFCC44B4F6}"/>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grpSp>
        <p:nvGrpSpPr>
          <p:cNvPr id="19" name="Group 18">
            <a:extLst>
              <a:ext uri="{FF2B5EF4-FFF2-40B4-BE49-F238E27FC236}">
                <a16:creationId xmlns:a16="http://schemas.microsoft.com/office/drawing/2014/main" id="{728E3103-FE0B-B0A7-0311-55B8E056E5AA}"/>
              </a:ext>
            </a:extLst>
          </p:cNvPr>
          <p:cNvGrpSpPr/>
          <p:nvPr/>
        </p:nvGrpSpPr>
        <p:grpSpPr>
          <a:xfrm>
            <a:off x="7607964" y="3098651"/>
            <a:ext cx="124691" cy="230608"/>
            <a:chOff x="1369443" y="3073112"/>
            <a:chExt cx="124691" cy="230608"/>
          </a:xfrm>
        </p:grpSpPr>
        <p:sp>
          <p:nvSpPr>
            <p:cNvPr id="20" name="Oval 19">
              <a:extLst>
                <a:ext uri="{FF2B5EF4-FFF2-40B4-BE49-F238E27FC236}">
                  <a16:creationId xmlns:a16="http://schemas.microsoft.com/office/drawing/2014/main" id="{173ADE39-816E-9491-4DC3-996606484DDF}"/>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21" name="Oval 20">
              <a:extLst>
                <a:ext uri="{FF2B5EF4-FFF2-40B4-BE49-F238E27FC236}">
                  <a16:creationId xmlns:a16="http://schemas.microsoft.com/office/drawing/2014/main" id="{6270AFE4-76E9-BB91-6902-2F23CEB002D1}"/>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sp>
        <p:nvSpPr>
          <p:cNvPr id="31" name="Oval 30">
            <a:extLst>
              <a:ext uri="{FF2B5EF4-FFF2-40B4-BE49-F238E27FC236}">
                <a16:creationId xmlns:a16="http://schemas.microsoft.com/office/drawing/2014/main" id="{FBD0DD0C-9499-55DA-035B-CD299AACC3FD}"/>
              </a:ext>
            </a:extLst>
          </p:cNvPr>
          <p:cNvSpPr/>
          <p:nvPr/>
        </p:nvSpPr>
        <p:spPr>
          <a:xfrm>
            <a:off x="5526595" y="4469715"/>
            <a:ext cx="124691" cy="124691"/>
          </a:xfrm>
          <a:prstGeom prst="ellipse">
            <a:avLst/>
          </a:prstGeom>
          <a:solidFill>
            <a:srgbClr val="12465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38" name="Oval 37">
            <a:extLst>
              <a:ext uri="{FF2B5EF4-FFF2-40B4-BE49-F238E27FC236}">
                <a16:creationId xmlns:a16="http://schemas.microsoft.com/office/drawing/2014/main" id="{0DE14861-CD65-E8EE-A417-A16D3ECC6ADA}"/>
              </a:ext>
            </a:extLst>
          </p:cNvPr>
          <p:cNvSpPr/>
          <p:nvPr/>
        </p:nvSpPr>
        <p:spPr>
          <a:xfrm>
            <a:off x="9673076" y="3085206"/>
            <a:ext cx="124691" cy="124691"/>
          </a:xfrm>
          <a:prstGeom prst="ellipse">
            <a:avLst/>
          </a:prstGeom>
          <a:solidFill>
            <a:srgbClr val="12465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39" name="Oval 38">
            <a:extLst>
              <a:ext uri="{FF2B5EF4-FFF2-40B4-BE49-F238E27FC236}">
                <a16:creationId xmlns:a16="http://schemas.microsoft.com/office/drawing/2014/main" id="{4751D6D2-4857-EF3E-FAD2-A1305615991A}"/>
              </a:ext>
            </a:extLst>
          </p:cNvPr>
          <p:cNvSpPr/>
          <p:nvPr/>
        </p:nvSpPr>
        <p:spPr>
          <a:xfrm>
            <a:off x="1369443" y="4407370"/>
            <a:ext cx="124691" cy="124691"/>
          </a:xfrm>
          <a:prstGeom prst="ellipse">
            <a:avLst/>
          </a:prstGeom>
          <a:solidFill>
            <a:srgbClr val="12465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26" name="Oval 25">
            <a:extLst>
              <a:ext uri="{FF2B5EF4-FFF2-40B4-BE49-F238E27FC236}">
                <a16:creationId xmlns:a16="http://schemas.microsoft.com/office/drawing/2014/main" id="{56DE2413-3F88-CAB0-ABA5-1A4AA14F5A4E}"/>
              </a:ext>
            </a:extLst>
          </p:cNvPr>
          <p:cNvSpPr/>
          <p:nvPr/>
        </p:nvSpPr>
        <p:spPr>
          <a:xfrm>
            <a:off x="3436248" y="4017624"/>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nvGrpSpPr>
          <p:cNvPr id="65" name="Group 64">
            <a:extLst>
              <a:ext uri="{FF2B5EF4-FFF2-40B4-BE49-F238E27FC236}">
                <a16:creationId xmlns:a16="http://schemas.microsoft.com/office/drawing/2014/main" id="{2BCBF3E9-FC68-E9BC-C7F3-C4E3E2402AC2}"/>
              </a:ext>
            </a:extLst>
          </p:cNvPr>
          <p:cNvGrpSpPr/>
          <p:nvPr/>
        </p:nvGrpSpPr>
        <p:grpSpPr>
          <a:xfrm>
            <a:off x="3436249" y="3075768"/>
            <a:ext cx="124691" cy="230608"/>
            <a:chOff x="1369443" y="3073112"/>
            <a:chExt cx="124691" cy="230608"/>
          </a:xfrm>
        </p:grpSpPr>
        <p:sp>
          <p:nvSpPr>
            <p:cNvPr id="66" name="Oval 65">
              <a:extLst>
                <a:ext uri="{FF2B5EF4-FFF2-40B4-BE49-F238E27FC236}">
                  <a16:creationId xmlns:a16="http://schemas.microsoft.com/office/drawing/2014/main" id="{D93309B5-8757-87C4-E044-7B835034B4AB}"/>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67" name="Oval 66">
              <a:extLst>
                <a:ext uri="{FF2B5EF4-FFF2-40B4-BE49-F238E27FC236}">
                  <a16:creationId xmlns:a16="http://schemas.microsoft.com/office/drawing/2014/main" id="{49F00DD6-902D-6270-17BA-60ADC1BBB5AC}"/>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grpSp>
        <p:nvGrpSpPr>
          <p:cNvPr id="68" name="Group 67">
            <a:extLst>
              <a:ext uri="{FF2B5EF4-FFF2-40B4-BE49-F238E27FC236}">
                <a16:creationId xmlns:a16="http://schemas.microsoft.com/office/drawing/2014/main" id="{45097433-C8B7-E05A-A0CC-23ADB755AD78}"/>
              </a:ext>
            </a:extLst>
          </p:cNvPr>
          <p:cNvGrpSpPr/>
          <p:nvPr/>
        </p:nvGrpSpPr>
        <p:grpSpPr>
          <a:xfrm>
            <a:off x="5526594" y="3078748"/>
            <a:ext cx="124691" cy="230608"/>
            <a:chOff x="1369443" y="3073112"/>
            <a:chExt cx="124691" cy="230608"/>
          </a:xfrm>
        </p:grpSpPr>
        <p:sp>
          <p:nvSpPr>
            <p:cNvPr id="69" name="Oval 68">
              <a:extLst>
                <a:ext uri="{FF2B5EF4-FFF2-40B4-BE49-F238E27FC236}">
                  <a16:creationId xmlns:a16="http://schemas.microsoft.com/office/drawing/2014/main" id="{A14DCC8C-4060-C8A3-DAAE-D205AEE733C0}"/>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70" name="Oval 69">
              <a:extLst>
                <a:ext uri="{FF2B5EF4-FFF2-40B4-BE49-F238E27FC236}">
                  <a16:creationId xmlns:a16="http://schemas.microsoft.com/office/drawing/2014/main" id="{83DE30A7-E5DE-0657-1B90-6B319B81081A}"/>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sp>
        <p:nvSpPr>
          <p:cNvPr id="236" name="Oval 235">
            <a:extLst>
              <a:ext uri="{FF2B5EF4-FFF2-40B4-BE49-F238E27FC236}">
                <a16:creationId xmlns:a16="http://schemas.microsoft.com/office/drawing/2014/main" id="{7F2848E1-4458-88F6-4D19-8BF755F8FCBD}"/>
              </a:ext>
            </a:extLst>
          </p:cNvPr>
          <p:cNvSpPr/>
          <p:nvPr/>
        </p:nvSpPr>
        <p:spPr>
          <a:xfrm>
            <a:off x="9673076" y="4242507"/>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80" name="Oval 79">
            <a:extLst>
              <a:ext uri="{FF2B5EF4-FFF2-40B4-BE49-F238E27FC236}">
                <a16:creationId xmlns:a16="http://schemas.microsoft.com/office/drawing/2014/main" id="{CD4F1792-E8C5-2D70-3F4A-C64F5A3266A4}"/>
              </a:ext>
            </a:extLst>
          </p:cNvPr>
          <p:cNvSpPr/>
          <p:nvPr/>
        </p:nvSpPr>
        <p:spPr>
          <a:xfrm>
            <a:off x="3451021" y="4853563"/>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9" name="Oval 8">
            <a:extLst>
              <a:ext uri="{FF2B5EF4-FFF2-40B4-BE49-F238E27FC236}">
                <a16:creationId xmlns:a16="http://schemas.microsoft.com/office/drawing/2014/main" id="{3CED47D6-15C1-ED12-3C1E-882D39CD7987}"/>
              </a:ext>
            </a:extLst>
          </p:cNvPr>
          <p:cNvSpPr/>
          <p:nvPr/>
        </p:nvSpPr>
        <p:spPr>
          <a:xfrm>
            <a:off x="1369443" y="3479513"/>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nvGrpSpPr>
          <p:cNvPr id="253" name="Group 252">
            <a:extLst>
              <a:ext uri="{FF2B5EF4-FFF2-40B4-BE49-F238E27FC236}">
                <a16:creationId xmlns:a16="http://schemas.microsoft.com/office/drawing/2014/main" id="{E1940579-CF33-FAAE-A90B-F32AA9866398}"/>
              </a:ext>
            </a:extLst>
          </p:cNvPr>
          <p:cNvGrpSpPr/>
          <p:nvPr/>
        </p:nvGrpSpPr>
        <p:grpSpPr>
          <a:xfrm>
            <a:off x="7605663" y="4915908"/>
            <a:ext cx="124691" cy="230608"/>
            <a:chOff x="1369443" y="3073112"/>
            <a:chExt cx="124691" cy="230608"/>
          </a:xfrm>
        </p:grpSpPr>
        <p:sp>
          <p:nvSpPr>
            <p:cNvPr id="254" name="Oval 253">
              <a:extLst>
                <a:ext uri="{FF2B5EF4-FFF2-40B4-BE49-F238E27FC236}">
                  <a16:creationId xmlns:a16="http://schemas.microsoft.com/office/drawing/2014/main" id="{0FF161F6-BC8C-5656-E137-A77F4E99F70E}"/>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255" name="Oval 254">
              <a:extLst>
                <a:ext uri="{FF2B5EF4-FFF2-40B4-BE49-F238E27FC236}">
                  <a16:creationId xmlns:a16="http://schemas.microsoft.com/office/drawing/2014/main" id="{A631B60F-D405-6BCB-2B9D-429745F69BB4}"/>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grpSp>
        <p:nvGrpSpPr>
          <p:cNvPr id="37" name="Group 36">
            <a:extLst>
              <a:ext uri="{FF2B5EF4-FFF2-40B4-BE49-F238E27FC236}">
                <a16:creationId xmlns:a16="http://schemas.microsoft.com/office/drawing/2014/main" id="{896FF1E2-0FE5-9DD5-FDE1-42F254594B07}"/>
              </a:ext>
            </a:extLst>
          </p:cNvPr>
          <p:cNvGrpSpPr/>
          <p:nvPr/>
        </p:nvGrpSpPr>
        <p:grpSpPr>
          <a:xfrm>
            <a:off x="9719144" y="6267294"/>
            <a:ext cx="1575631" cy="195863"/>
            <a:chOff x="6697907" y="6267294"/>
            <a:chExt cx="1575631" cy="195863"/>
          </a:xfrm>
        </p:grpSpPr>
        <p:sp>
          <p:nvSpPr>
            <p:cNvPr id="28" name="Oval 27">
              <a:extLst>
                <a:ext uri="{FF2B5EF4-FFF2-40B4-BE49-F238E27FC236}">
                  <a16:creationId xmlns:a16="http://schemas.microsoft.com/office/drawing/2014/main" id="{AD08B5C6-1A94-4CD7-9923-E5793D230239}"/>
                </a:ext>
              </a:extLst>
            </p:cNvPr>
            <p:cNvSpPr/>
            <p:nvPr/>
          </p:nvSpPr>
          <p:spPr>
            <a:xfrm>
              <a:off x="6697907" y="6297347"/>
              <a:ext cx="137160" cy="13716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rgbClr val="EC111A"/>
                </a:solidFill>
              </a:endParaRPr>
            </a:p>
          </p:txBody>
        </p:sp>
        <p:sp>
          <p:nvSpPr>
            <p:cNvPr id="29" name="Rectangle 28">
              <a:extLst>
                <a:ext uri="{FF2B5EF4-FFF2-40B4-BE49-F238E27FC236}">
                  <a16:creationId xmlns:a16="http://schemas.microsoft.com/office/drawing/2014/main" id="{3C4A0153-0637-A472-5D78-B41880D68907}"/>
                </a:ext>
              </a:extLst>
            </p:cNvPr>
            <p:cNvSpPr/>
            <p:nvPr/>
          </p:nvSpPr>
          <p:spPr>
            <a:xfrm>
              <a:off x="6751222" y="6268697"/>
              <a:ext cx="799124" cy="194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l">
                <a:spcBef>
                  <a:spcPts val="600"/>
                </a:spcBef>
              </a:pPr>
              <a:r>
                <a:rPr lang="en-US" sz="1000">
                  <a:solidFill>
                    <a:schemeClr val="tx1"/>
                  </a:solidFill>
                </a:rPr>
                <a:t>Retail</a:t>
              </a:r>
            </a:p>
          </p:txBody>
        </p:sp>
        <p:sp>
          <p:nvSpPr>
            <p:cNvPr id="224" name="Oval 223">
              <a:extLst>
                <a:ext uri="{FF2B5EF4-FFF2-40B4-BE49-F238E27FC236}">
                  <a16:creationId xmlns:a16="http://schemas.microsoft.com/office/drawing/2014/main" id="{913AD0B4-2980-63DC-1AB8-68169CB0207E}"/>
                </a:ext>
              </a:extLst>
            </p:cNvPr>
            <p:cNvSpPr/>
            <p:nvPr/>
          </p:nvSpPr>
          <p:spPr>
            <a:xfrm>
              <a:off x="7454767" y="6295944"/>
              <a:ext cx="137160" cy="137160"/>
            </a:xfrm>
            <a:prstGeom prst="ellipse">
              <a:avLst/>
            </a:prstGeom>
            <a:solidFill>
              <a:schemeClr val="accent4">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226" name="Rectangle 225">
              <a:extLst>
                <a:ext uri="{FF2B5EF4-FFF2-40B4-BE49-F238E27FC236}">
                  <a16:creationId xmlns:a16="http://schemas.microsoft.com/office/drawing/2014/main" id="{219E3888-5A98-9D21-E0A3-78F5F5260209}"/>
                </a:ext>
              </a:extLst>
            </p:cNvPr>
            <p:cNvSpPr/>
            <p:nvPr/>
          </p:nvSpPr>
          <p:spPr>
            <a:xfrm>
              <a:off x="7474414" y="6267294"/>
              <a:ext cx="799124" cy="194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l">
                <a:spcBef>
                  <a:spcPts val="600"/>
                </a:spcBef>
              </a:pPr>
              <a:r>
                <a:rPr lang="en-US" sz="1000" err="1">
                  <a:solidFill>
                    <a:schemeClr val="tx1"/>
                  </a:solidFill>
                </a:rPr>
                <a:t>iTRADE</a:t>
              </a:r>
              <a:endParaRPr lang="en-US" sz="1000">
                <a:solidFill>
                  <a:schemeClr val="tx1"/>
                </a:solidFill>
              </a:endParaRPr>
            </a:p>
          </p:txBody>
        </p:sp>
      </p:grpSp>
      <p:grpSp>
        <p:nvGrpSpPr>
          <p:cNvPr id="59" name="Group 58">
            <a:extLst>
              <a:ext uri="{FF2B5EF4-FFF2-40B4-BE49-F238E27FC236}">
                <a16:creationId xmlns:a16="http://schemas.microsoft.com/office/drawing/2014/main" id="{4761D866-42B8-D32F-63EA-865C7C0D33DD}"/>
              </a:ext>
            </a:extLst>
          </p:cNvPr>
          <p:cNvGrpSpPr/>
          <p:nvPr/>
        </p:nvGrpSpPr>
        <p:grpSpPr>
          <a:xfrm>
            <a:off x="9673075" y="5081092"/>
            <a:ext cx="124691" cy="230608"/>
            <a:chOff x="1369443" y="3073112"/>
            <a:chExt cx="124691" cy="230608"/>
          </a:xfrm>
        </p:grpSpPr>
        <p:sp>
          <p:nvSpPr>
            <p:cNvPr id="72" name="Oval 71">
              <a:extLst>
                <a:ext uri="{FF2B5EF4-FFF2-40B4-BE49-F238E27FC236}">
                  <a16:creationId xmlns:a16="http://schemas.microsoft.com/office/drawing/2014/main" id="{5F601620-DA02-002D-14A2-150FC33B99C4}"/>
                </a:ext>
              </a:extLst>
            </p:cNvPr>
            <p:cNvSpPr/>
            <p:nvPr/>
          </p:nvSpPr>
          <p:spPr>
            <a:xfrm>
              <a:off x="1369443" y="3073112"/>
              <a:ext cx="124691" cy="124691"/>
            </a:xfrm>
            <a:prstGeom prst="ellipse">
              <a:avLst/>
            </a:prstGeom>
            <a:solidFill>
              <a:srgbClr val="EC111A"/>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sp>
          <p:nvSpPr>
            <p:cNvPr id="73" name="Oval 72">
              <a:extLst>
                <a:ext uri="{FF2B5EF4-FFF2-40B4-BE49-F238E27FC236}">
                  <a16:creationId xmlns:a16="http://schemas.microsoft.com/office/drawing/2014/main" id="{CFA94997-7314-8D18-8225-E47DF068BFAD}"/>
                </a:ext>
              </a:extLst>
            </p:cNvPr>
            <p:cNvSpPr/>
            <p:nvPr/>
          </p:nvSpPr>
          <p:spPr>
            <a:xfrm>
              <a:off x="1369443" y="3179029"/>
              <a:ext cx="124691" cy="124691"/>
            </a:xfrm>
            <a:prstGeom prst="ellipse">
              <a:avLst/>
            </a:prstGeom>
            <a:solidFill>
              <a:schemeClr val="accent4">
                <a:lumMod val="2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spcBef>
                  <a:spcPts val="600"/>
                </a:spcBef>
              </a:pPr>
              <a:endParaRPr lang="en-US" sz="1000">
                <a:solidFill>
                  <a:schemeClr val="tx1"/>
                </a:solidFill>
              </a:endParaRPr>
            </a:p>
          </p:txBody>
        </p:sp>
      </p:grpSp>
    </p:spTree>
    <p:extLst>
      <p:ext uri="{BB962C8B-B14F-4D97-AF65-F5344CB8AC3E}">
        <p14:creationId xmlns:p14="http://schemas.microsoft.com/office/powerpoint/2010/main" val="11930202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E20E7-6ADC-DDF2-D243-735F86A3D52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6C853314-A720-1B7D-84E2-A52964A36D21}"/>
              </a:ext>
            </a:extLst>
          </p:cNvPr>
          <p:cNvSpPr>
            <a:spLocks noGrp="1"/>
          </p:cNvSpPr>
          <p:nvPr>
            <p:ph type="body" sz="quarter" idx="11"/>
          </p:nvPr>
        </p:nvSpPr>
        <p:spPr/>
        <p:txBody>
          <a:bodyPr/>
          <a:lstStyle/>
          <a:p>
            <a:r>
              <a:rPr lang="en-US"/>
              <a:t>Deep Dives and assorted analysis</a:t>
            </a:r>
            <a:endParaRPr lang="en-CA"/>
          </a:p>
        </p:txBody>
      </p:sp>
      <p:sp>
        <p:nvSpPr>
          <p:cNvPr id="3" name="Text Placeholder 2">
            <a:extLst>
              <a:ext uri="{FF2B5EF4-FFF2-40B4-BE49-F238E27FC236}">
                <a16:creationId xmlns:a16="http://schemas.microsoft.com/office/drawing/2014/main" id="{C2110CEC-D136-AB75-662A-DD2FF365ACAA}"/>
              </a:ext>
            </a:extLst>
          </p:cNvPr>
          <p:cNvSpPr>
            <a:spLocks noGrp="1"/>
          </p:cNvSpPr>
          <p:nvPr>
            <p:ph type="body" sz="quarter" idx="12"/>
          </p:nvPr>
        </p:nvSpPr>
        <p:spPr/>
        <p:txBody>
          <a:bodyPr/>
          <a:lstStyle/>
          <a:p>
            <a:r>
              <a:rPr lang="en-CA"/>
              <a:t>11</a:t>
            </a:r>
          </a:p>
        </p:txBody>
      </p:sp>
    </p:spTree>
    <p:extLst>
      <p:ext uri="{BB962C8B-B14F-4D97-AF65-F5344CB8AC3E}">
        <p14:creationId xmlns:p14="http://schemas.microsoft.com/office/powerpoint/2010/main" val="153799773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3BAB4D-FA50-164A-9A2C-8AE2713AD74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1CE3281-5983-870C-BF01-08C4BCBE5ACC}"/>
              </a:ext>
            </a:extLst>
          </p:cNvPr>
          <p:cNvSpPr>
            <a:spLocks noGrp="1"/>
          </p:cNvSpPr>
          <p:nvPr>
            <p:ph type="title"/>
          </p:nvPr>
        </p:nvSpPr>
        <p:spPr/>
        <p:txBody>
          <a:bodyPr vert="horz" lIns="0" tIns="0" rIns="0" bIns="0" rtlCol="0" anchor="t">
            <a:noAutofit/>
          </a:bodyPr>
          <a:lstStyle/>
          <a:p>
            <a:r>
              <a:rPr lang="en-CA">
                <a:solidFill>
                  <a:srgbClr val="EC111A"/>
                </a:solidFill>
              </a:rPr>
              <a:t>Global Market | </a:t>
            </a:r>
            <a:r>
              <a:rPr lang="en-CA"/>
              <a:t>The North American corridor drives 90% of GBM revenue, with additional opportunity to capture prospective subsidiaries within this geography</a:t>
            </a:r>
          </a:p>
        </p:txBody>
      </p:sp>
      <p:sp>
        <p:nvSpPr>
          <p:cNvPr id="3" name="Slide Number Placeholder 2">
            <a:extLst>
              <a:ext uri="{FF2B5EF4-FFF2-40B4-BE49-F238E27FC236}">
                <a16:creationId xmlns:a16="http://schemas.microsoft.com/office/drawing/2014/main" id="{A38689E9-F781-E897-6E00-A57FB0442A3A}"/>
              </a:ext>
            </a:extLst>
          </p:cNvPr>
          <p:cNvSpPr>
            <a:spLocks noGrp="1"/>
          </p:cNvSpPr>
          <p:nvPr>
            <p:ph type="sldNum" sz="quarter" idx="10"/>
          </p:nvPr>
        </p:nvSpPr>
        <p:spPr/>
        <p:txBody>
          <a:bodyPr/>
          <a:lstStyle/>
          <a:p>
            <a:fld id="{95D835A7-12B2-4074-8DA2-469A8808C237}" type="slidenum">
              <a:rPr lang="en-CA" smtClean="0"/>
              <a:pPr/>
              <a:t>54</a:t>
            </a:fld>
            <a:endParaRPr lang="en-CA"/>
          </a:p>
        </p:txBody>
      </p:sp>
      <p:sp>
        <p:nvSpPr>
          <p:cNvPr id="153" name="Text Placeholder 152">
            <a:extLst>
              <a:ext uri="{FF2B5EF4-FFF2-40B4-BE49-F238E27FC236}">
                <a16:creationId xmlns:a16="http://schemas.microsoft.com/office/drawing/2014/main" id="{0F75B07C-47CE-FA95-B6E7-AADEC647D025}"/>
              </a:ext>
            </a:extLst>
          </p:cNvPr>
          <p:cNvSpPr>
            <a:spLocks noGrp="1"/>
          </p:cNvSpPr>
          <p:nvPr>
            <p:ph type="body" sz="quarter" idx="11"/>
          </p:nvPr>
        </p:nvSpPr>
        <p:spPr/>
        <p:txBody>
          <a:bodyPr anchor="ctr"/>
          <a:lstStyle/>
          <a:p>
            <a:pPr defTabSz="914411">
              <a:buClrTx/>
              <a:defRPr/>
            </a:pPr>
            <a:r>
              <a:rPr lang="en-US">
                <a:solidFill>
                  <a:srgbClr val="333333"/>
                </a:solidFill>
                <a:latin typeface="Scotia" panose="020F0502020204030204"/>
                <a:ea typeface="Scotia" panose="020B0503020203020204" pitchFamily="34" charset="0"/>
                <a:cs typeface="Arial"/>
                <a:sym typeface="Scotia" panose="020B0503020203020204" pitchFamily="34" charset="0"/>
              </a:rPr>
              <a:t>Source: LTM Local information $CAD MM. Excludes Scotiabank Group and Scotiabank Chile. Client Dynamics as of M2’26, BNS26 Methodology; 1. Companies with relationships only within Mexico; 2. Companies not classified as MNC, but have global presence; 3. Encompasses MNC Full and Lite (sub segmentation for clients within MNC category); 4. Includes Europe, LATAM &amp; Caribbean, and other geographies. 5. Based on Canadian HQ, US size of the opportunity in progress.</a:t>
            </a:r>
          </a:p>
        </p:txBody>
      </p:sp>
      <p:sp>
        <p:nvSpPr>
          <p:cNvPr id="7" name="Text Placeholder 6">
            <a:extLst>
              <a:ext uri="{FF2B5EF4-FFF2-40B4-BE49-F238E27FC236}">
                <a16:creationId xmlns:a16="http://schemas.microsoft.com/office/drawing/2014/main" id="{4EC5474B-FD3B-7CC9-AB8C-DAE348AEE061}"/>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t>MEXICO</a:t>
            </a:r>
          </a:p>
        </p:txBody>
      </p:sp>
      <p:sp>
        <p:nvSpPr>
          <p:cNvPr id="8" name="Text Placeholder 6">
            <a:extLst>
              <a:ext uri="{FF2B5EF4-FFF2-40B4-BE49-F238E27FC236}">
                <a16:creationId xmlns:a16="http://schemas.microsoft.com/office/drawing/2014/main" id="{3C2E17D5-825C-E5ED-EE70-A04B318DEED8}"/>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001">
                <a:solidFill>
                  <a:schemeClr val="tx1"/>
                </a:solidFill>
              </a:rPr>
              <a:t>GBM</a:t>
            </a:r>
          </a:p>
        </p:txBody>
      </p:sp>
      <p:sp>
        <p:nvSpPr>
          <p:cNvPr id="47" name="Text Placeholder 154">
            <a:extLst>
              <a:ext uri="{FF2B5EF4-FFF2-40B4-BE49-F238E27FC236}">
                <a16:creationId xmlns:a16="http://schemas.microsoft.com/office/drawing/2014/main" id="{A54B89B3-9AE6-D2C1-51CC-8AECB5B0CE31}"/>
              </a:ext>
            </a:extLst>
          </p:cNvPr>
          <p:cNvSpPr txBox="1">
            <a:spLocks/>
          </p:cNvSpPr>
          <p:nvPr/>
        </p:nvSpPr>
        <p:spPr>
          <a:xfrm>
            <a:off x="515938" y="1681164"/>
            <a:ext cx="3657600" cy="179388"/>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CA"/>
              <a:t>BREAKDOWN BY PARENT HQ PROFILE</a:t>
            </a:r>
          </a:p>
        </p:txBody>
      </p:sp>
      <p:sp>
        <p:nvSpPr>
          <p:cNvPr id="172" name="Text Placeholder 154">
            <a:extLst>
              <a:ext uri="{FF2B5EF4-FFF2-40B4-BE49-F238E27FC236}">
                <a16:creationId xmlns:a16="http://schemas.microsoft.com/office/drawing/2014/main" id="{48BD25BA-4CD0-C938-63EE-DEF484DA81C0}"/>
              </a:ext>
            </a:extLst>
          </p:cNvPr>
          <p:cNvSpPr txBox="1">
            <a:spLocks/>
          </p:cNvSpPr>
          <p:nvPr/>
        </p:nvSpPr>
        <p:spPr>
          <a:xfrm>
            <a:off x="4344128" y="1672753"/>
            <a:ext cx="3657600" cy="180000"/>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CA"/>
              <a:t>BREAKDOWN BY PARENT HQ COUNTRY</a:t>
            </a:r>
          </a:p>
        </p:txBody>
      </p:sp>
      <p:cxnSp>
        <p:nvCxnSpPr>
          <p:cNvPr id="173" name="Straight Connector 172">
            <a:extLst>
              <a:ext uri="{FF2B5EF4-FFF2-40B4-BE49-F238E27FC236}">
                <a16:creationId xmlns:a16="http://schemas.microsoft.com/office/drawing/2014/main" id="{058F4B53-ADA2-C4D0-E94D-32AF5ED3AE34}"/>
              </a:ext>
            </a:extLst>
          </p:cNvPr>
          <p:cNvCxnSpPr>
            <a:cxnSpLocks/>
          </p:cNvCxnSpPr>
          <p:nvPr/>
        </p:nvCxnSpPr>
        <p:spPr>
          <a:xfrm flipH="1">
            <a:off x="3964892" y="2041525"/>
            <a:ext cx="0" cy="3816350"/>
          </a:xfrm>
          <a:prstGeom prst="line">
            <a:avLst/>
          </a:prstGeom>
          <a:ln w="12700">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74" name="Group 173">
            <a:extLst>
              <a:ext uri="{FF2B5EF4-FFF2-40B4-BE49-F238E27FC236}">
                <a16:creationId xmlns:a16="http://schemas.microsoft.com/office/drawing/2014/main" id="{0954E51B-9541-D494-4BDA-2D72FB3DF73F}"/>
              </a:ext>
            </a:extLst>
          </p:cNvPr>
          <p:cNvGrpSpPr/>
          <p:nvPr/>
        </p:nvGrpSpPr>
        <p:grpSpPr>
          <a:xfrm>
            <a:off x="3900886" y="1672753"/>
            <a:ext cx="128016" cy="182880"/>
            <a:chOff x="4238019" y="2185941"/>
            <a:chExt cx="123843" cy="264605"/>
          </a:xfrm>
        </p:grpSpPr>
        <p:sp>
          <p:nvSpPr>
            <p:cNvPr id="175" name="Isosceles Triangle 174">
              <a:extLst>
                <a:ext uri="{FF2B5EF4-FFF2-40B4-BE49-F238E27FC236}">
                  <a16:creationId xmlns:a16="http://schemas.microsoft.com/office/drawing/2014/main" id="{F9A76142-BEE1-C408-6726-A37BB27CD64D}"/>
                </a:ext>
              </a:extLst>
            </p:cNvPr>
            <p:cNvSpPr/>
            <p:nvPr/>
          </p:nvSpPr>
          <p:spPr>
            <a:xfrm rot="5400000">
              <a:off x="4143835" y="2280125"/>
              <a:ext cx="264605" cy="76237"/>
            </a:xfrm>
            <a:prstGeom prst="triangl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3" indent="-171453" defTabSz="914411">
                <a:spcBef>
                  <a:spcPts val="601"/>
                </a:spcBef>
                <a:buFont typeface="Arial" panose="020B0604020202020204" pitchFamily="34" charset="0"/>
                <a:buChar char="•"/>
                <a:defRPr/>
              </a:pPr>
              <a:endParaRPr lang="en-CA" sz="1401">
                <a:solidFill>
                  <a:srgbClr val="000000"/>
                </a:solidFill>
                <a:latin typeface="Scotia"/>
              </a:endParaRPr>
            </a:p>
          </p:txBody>
        </p:sp>
        <p:sp>
          <p:nvSpPr>
            <p:cNvPr id="176" name="Isosceles Triangle 175">
              <a:extLst>
                <a:ext uri="{FF2B5EF4-FFF2-40B4-BE49-F238E27FC236}">
                  <a16:creationId xmlns:a16="http://schemas.microsoft.com/office/drawing/2014/main" id="{32F881ED-168F-A886-C612-A9FF84CA5A62}"/>
                </a:ext>
              </a:extLst>
            </p:cNvPr>
            <p:cNvSpPr/>
            <p:nvPr/>
          </p:nvSpPr>
          <p:spPr>
            <a:xfrm rot="5400000">
              <a:off x="4191441" y="2280125"/>
              <a:ext cx="264605" cy="76237"/>
            </a:xfrm>
            <a:prstGeom prst="triangl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3" indent="-171453" defTabSz="914411">
                <a:spcBef>
                  <a:spcPts val="601"/>
                </a:spcBef>
                <a:buFont typeface="Arial" panose="020B0604020202020204" pitchFamily="34" charset="0"/>
                <a:buChar char="•"/>
                <a:defRPr/>
              </a:pPr>
              <a:endParaRPr lang="en-CA" sz="1401">
                <a:solidFill>
                  <a:srgbClr val="000000"/>
                </a:solidFill>
                <a:latin typeface="Scotia"/>
              </a:endParaRPr>
            </a:p>
          </p:txBody>
        </p:sp>
      </p:grpSp>
      <p:sp>
        <p:nvSpPr>
          <p:cNvPr id="177" name="Text Placeholder 2">
            <a:extLst>
              <a:ext uri="{FF2B5EF4-FFF2-40B4-BE49-F238E27FC236}">
                <a16:creationId xmlns:a16="http://schemas.microsoft.com/office/drawing/2014/main" id="{E29DF7B7-6D9F-11F5-4BDF-A2EE74910377}"/>
              </a:ext>
            </a:extLst>
          </p:cNvPr>
          <p:cNvSpPr>
            <a:spLocks noGrp="1"/>
          </p:cNvSpPr>
          <p:nvPr>
            <p:custDataLst>
              <p:tags r:id="rId1"/>
            </p:custDataLst>
          </p:nvPr>
        </p:nvSpPr>
        <p:spPr bwMode="auto">
          <a:xfrm>
            <a:off x="7213670" y="3425825"/>
            <a:ext cx="478569" cy="228601"/>
          </a:xfrm>
          <a:prstGeom prst="ellipse">
            <a:avLst/>
          </a:prstGeom>
          <a:noFill/>
          <a:ln w="9525" algn="ctr">
            <a:solidFill>
              <a:srgbClr val="EC111A"/>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914411">
              <a:spcBef>
                <a:spcPct val="0"/>
              </a:spcBef>
              <a:spcAft>
                <a:spcPct val="0"/>
              </a:spcAft>
              <a:buNone/>
              <a:defRPr/>
            </a:pPr>
            <a:r>
              <a:rPr lang="en-US" sz="1001">
                <a:latin typeface="Scotia"/>
              </a:rPr>
              <a:t>16</a:t>
            </a:r>
            <a:endParaRPr lang="en-US" sz="1001" baseline="30000">
              <a:latin typeface="Scotia"/>
            </a:endParaRPr>
          </a:p>
        </p:txBody>
      </p:sp>
      <p:sp>
        <p:nvSpPr>
          <p:cNvPr id="178" name="Text Placeholder 2">
            <a:extLst>
              <a:ext uri="{FF2B5EF4-FFF2-40B4-BE49-F238E27FC236}">
                <a16:creationId xmlns:a16="http://schemas.microsoft.com/office/drawing/2014/main" id="{4E2F4C61-5FC5-321F-02AC-5E29659C98F4}"/>
              </a:ext>
            </a:extLst>
          </p:cNvPr>
          <p:cNvSpPr>
            <a:spLocks noGrp="1"/>
          </p:cNvSpPr>
          <p:nvPr>
            <p:custDataLst>
              <p:tags r:id="rId2"/>
            </p:custDataLst>
          </p:nvPr>
        </p:nvSpPr>
        <p:spPr bwMode="auto">
          <a:xfrm>
            <a:off x="7213670" y="4613274"/>
            <a:ext cx="478569" cy="228601"/>
          </a:xfrm>
          <a:prstGeom prst="ellipse">
            <a:avLst/>
          </a:prstGeom>
          <a:noFill/>
          <a:ln w="9525" algn="ctr">
            <a:solidFill>
              <a:srgbClr val="C00000"/>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spcBef>
                <a:spcPct val="0"/>
              </a:spcBef>
              <a:spcAft>
                <a:spcPct val="0"/>
              </a:spcAft>
              <a:buNone/>
              <a:defRPr/>
            </a:pPr>
            <a:r>
              <a:rPr lang="en-US" sz="1001">
                <a:latin typeface="Scotia"/>
              </a:rPr>
              <a:t>+39</a:t>
            </a:r>
            <a:r>
              <a:rPr lang="en-US" sz="1001" baseline="30000">
                <a:latin typeface="Scotia"/>
              </a:rPr>
              <a:t>5</a:t>
            </a:r>
          </a:p>
        </p:txBody>
      </p:sp>
      <p:sp>
        <p:nvSpPr>
          <p:cNvPr id="179" name="Rectangle 178">
            <a:extLst>
              <a:ext uri="{FF2B5EF4-FFF2-40B4-BE49-F238E27FC236}">
                <a16:creationId xmlns:a16="http://schemas.microsoft.com/office/drawing/2014/main" id="{A5194353-754E-06E8-311A-63A3B8B79B0E}"/>
              </a:ext>
            </a:extLst>
          </p:cNvPr>
          <p:cNvSpPr/>
          <p:nvPr/>
        </p:nvSpPr>
        <p:spPr>
          <a:xfrm>
            <a:off x="6951417" y="2919414"/>
            <a:ext cx="1003076" cy="4857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1"/>
              </a:spcBef>
            </a:pPr>
            <a:r>
              <a:rPr lang="en-CA" sz="1001" i="1">
                <a:solidFill>
                  <a:schemeClr val="tx1"/>
                </a:solidFill>
              </a:rPr>
              <a:t>Size of the opportunity</a:t>
            </a:r>
            <a:r>
              <a:rPr lang="en-CA" sz="1001" i="1" baseline="30000">
                <a:solidFill>
                  <a:schemeClr val="tx1"/>
                </a:solidFill>
              </a:rPr>
              <a:t>5</a:t>
            </a:r>
          </a:p>
        </p:txBody>
      </p:sp>
      <p:graphicFrame>
        <p:nvGraphicFramePr>
          <p:cNvPr id="15" name="Chart 14">
            <a:extLst>
              <a:ext uri="{FF2B5EF4-FFF2-40B4-BE49-F238E27FC236}">
                <a16:creationId xmlns:a16="http://schemas.microsoft.com/office/drawing/2014/main" id="{5557CBD3-4BC4-EAFC-6241-1386AAB9C9D9}"/>
              </a:ext>
            </a:extLst>
          </p:cNvPr>
          <p:cNvGraphicFramePr/>
          <p:nvPr>
            <p:custDataLst>
              <p:tags r:id="rId3"/>
            </p:custDataLst>
          </p:nvPr>
        </p:nvGraphicFramePr>
        <p:xfrm>
          <a:off x="1146176" y="2120901"/>
          <a:ext cx="2651125" cy="3830638"/>
        </p:xfrm>
        <a:graphic>
          <a:graphicData uri="http://schemas.openxmlformats.org/drawingml/2006/chart">
            <c:chart xmlns:c="http://schemas.openxmlformats.org/drawingml/2006/chart" xmlns:r="http://schemas.openxmlformats.org/officeDocument/2006/relationships" r:id="rId35"/>
          </a:graphicData>
        </a:graphic>
      </p:graphicFrame>
      <p:cxnSp>
        <p:nvCxnSpPr>
          <p:cNvPr id="51" name="Straight Connector 50">
            <a:extLst>
              <a:ext uri="{FF2B5EF4-FFF2-40B4-BE49-F238E27FC236}">
                <a16:creationId xmlns:a16="http://schemas.microsoft.com/office/drawing/2014/main" id="{2D57262B-FDA4-E338-AB13-7AE28AB5493C}"/>
              </a:ext>
            </a:extLst>
          </p:cNvPr>
          <p:cNvCxnSpPr/>
          <p:nvPr>
            <p:custDataLst>
              <p:tags r:id="rId4"/>
            </p:custDataLst>
          </p:nvPr>
        </p:nvCxnSpPr>
        <p:spPr bwMode="gray">
          <a:xfrm>
            <a:off x="1427165" y="5595939"/>
            <a:ext cx="79374" cy="61913"/>
          </a:xfrm>
          <a:prstGeom prst="line">
            <a:avLst/>
          </a:prstGeom>
          <a:ln w="6350" cap="flat"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99" name="Text Placeholder 2">
            <a:extLst>
              <a:ext uri="{FF2B5EF4-FFF2-40B4-BE49-F238E27FC236}">
                <a16:creationId xmlns:a16="http://schemas.microsoft.com/office/drawing/2014/main" id="{ABFC2F42-A783-751E-C1B9-ADCAEB63084C}"/>
              </a:ext>
            </a:extLst>
          </p:cNvPr>
          <p:cNvSpPr>
            <a:spLocks/>
          </p:cNvSpPr>
          <p:nvPr>
            <p:custDataLst>
              <p:tags r:id="rId5"/>
            </p:custDataLst>
          </p:nvPr>
        </p:nvSpPr>
        <p:spPr bwMode="gray">
          <a:xfrm>
            <a:off x="1751014" y="2770188"/>
            <a:ext cx="249237"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B9D65E41-901A-4299-A07C-56F6CCEF7C38}" type="datetime'''''''''''''''''''''1''5''''''''''7'">
              <a:rPr lang="en-CA" altLang="en-US" sz="1100">
                <a:solidFill>
                  <a:schemeClr val="bg1"/>
                </a:solidFill>
              </a:rPr>
              <a:pPr marL="0" indent="0" algn="ctr" defTabSz="914422">
                <a:spcBef>
                  <a:spcPct val="0"/>
                </a:spcBef>
                <a:spcAft>
                  <a:spcPct val="0"/>
                </a:spcAft>
                <a:buClr>
                  <a:srgbClr val="000000"/>
                </a:buClr>
                <a:buNone/>
                <a:defRPr/>
              </a:pPr>
              <a:t>157</a:t>
            </a:fld>
            <a:endParaRPr lang="en-CA" sz="1100">
              <a:solidFill>
                <a:schemeClr val="bg1"/>
              </a:solidFill>
            </a:endParaRPr>
          </a:p>
        </p:txBody>
      </p:sp>
      <p:sp>
        <p:nvSpPr>
          <p:cNvPr id="200" name="Text Placeholder 2">
            <a:extLst>
              <a:ext uri="{FF2B5EF4-FFF2-40B4-BE49-F238E27FC236}">
                <a16:creationId xmlns:a16="http://schemas.microsoft.com/office/drawing/2014/main" id="{1DC70562-8463-0567-1354-B9CA6D280393}"/>
              </a:ext>
            </a:extLst>
          </p:cNvPr>
          <p:cNvSpPr>
            <a:spLocks/>
          </p:cNvSpPr>
          <p:nvPr>
            <p:custDataLst>
              <p:tags r:id="rId6"/>
            </p:custDataLst>
          </p:nvPr>
        </p:nvSpPr>
        <p:spPr bwMode="gray">
          <a:xfrm>
            <a:off x="1771650" y="3473450"/>
            <a:ext cx="206375"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8F0D45AE-B047-457C-B67E-743BECF00E6A}" type="datetime'''''''6''''''''''''''''''''''''''''''''''''''''9'''''">
              <a:rPr lang="en-CA" altLang="en-US" sz="1100">
                <a:solidFill>
                  <a:schemeClr val="bg1"/>
                </a:solidFill>
              </a:rPr>
              <a:pPr marL="0" indent="0" algn="ctr" defTabSz="914422">
                <a:spcBef>
                  <a:spcPct val="0"/>
                </a:spcBef>
                <a:spcAft>
                  <a:spcPct val="0"/>
                </a:spcAft>
                <a:buClr>
                  <a:srgbClr val="000000"/>
                </a:buClr>
                <a:buNone/>
                <a:defRPr/>
              </a:pPr>
              <a:t>69</a:t>
            </a:fld>
            <a:endParaRPr lang="en-CA" sz="1100">
              <a:solidFill>
                <a:schemeClr val="bg1"/>
              </a:solidFill>
            </a:endParaRPr>
          </a:p>
        </p:txBody>
      </p:sp>
      <p:sp>
        <p:nvSpPr>
          <p:cNvPr id="201" name="Text Placeholder 2">
            <a:extLst>
              <a:ext uri="{FF2B5EF4-FFF2-40B4-BE49-F238E27FC236}">
                <a16:creationId xmlns:a16="http://schemas.microsoft.com/office/drawing/2014/main" id="{D3860887-EC04-E299-5C83-F1AF7193EE5B}"/>
              </a:ext>
            </a:extLst>
          </p:cNvPr>
          <p:cNvSpPr>
            <a:spLocks/>
          </p:cNvSpPr>
          <p:nvPr>
            <p:custDataLst>
              <p:tags r:id="rId7"/>
            </p:custDataLst>
          </p:nvPr>
        </p:nvSpPr>
        <p:spPr bwMode="gray">
          <a:xfrm>
            <a:off x="1738313" y="4430714"/>
            <a:ext cx="27463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1C81F84-EBEE-4902-BF14-CEAADA7EE695}" type="datetime'''''''''''23''''''''''''''''''''''''''''''''''''''''''''9'''''">
              <a:rPr lang="en-CA" altLang="en-US" sz="1100">
                <a:solidFill>
                  <a:srgbClr val="000000"/>
                </a:solidFill>
              </a:rPr>
              <a:pPr marL="0" indent="0" algn="ctr" defTabSz="914422">
                <a:spcBef>
                  <a:spcPct val="0"/>
                </a:spcBef>
                <a:spcAft>
                  <a:spcPct val="0"/>
                </a:spcAft>
                <a:buClr>
                  <a:srgbClr val="000000"/>
                </a:buClr>
                <a:buNone/>
                <a:defRPr/>
              </a:pPr>
              <a:t>239</a:t>
            </a:fld>
            <a:endParaRPr lang="en-CA" sz="1100">
              <a:solidFill>
                <a:srgbClr val="000000"/>
              </a:solidFill>
            </a:endParaRPr>
          </a:p>
        </p:txBody>
      </p:sp>
      <p:sp>
        <p:nvSpPr>
          <p:cNvPr id="202" name="Text Placeholder 2">
            <a:extLst>
              <a:ext uri="{FF2B5EF4-FFF2-40B4-BE49-F238E27FC236}">
                <a16:creationId xmlns:a16="http://schemas.microsoft.com/office/drawing/2014/main" id="{0B57A783-48BA-0F96-48A1-BF299A59AEA1}"/>
              </a:ext>
            </a:extLst>
          </p:cNvPr>
          <p:cNvSpPr>
            <a:spLocks/>
          </p:cNvSpPr>
          <p:nvPr>
            <p:custDataLst>
              <p:tags r:id="rId8"/>
            </p:custDataLst>
          </p:nvPr>
        </p:nvSpPr>
        <p:spPr bwMode="gray">
          <a:xfrm>
            <a:off x="1779588" y="5349875"/>
            <a:ext cx="192089"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4A39B2E7-7AB6-49EC-B696-C868BDCC5FBD}" type="datetime'''''''''''''''''''''5''''''''''7'''''''''''''''''''''''''''''">
              <a:rPr lang="en-CA" altLang="en-US" sz="1100">
                <a:solidFill>
                  <a:srgbClr val="000000"/>
                </a:solidFill>
              </a:rPr>
              <a:pPr marL="0" indent="0" algn="ctr" defTabSz="914422">
                <a:spcBef>
                  <a:spcPct val="0"/>
                </a:spcBef>
                <a:spcAft>
                  <a:spcPct val="0"/>
                </a:spcAft>
                <a:buClr>
                  <a:srgbClr val="000000"/>
                </a:buClr>
                <a:buNone/>
                <a:defRPr/>
              </a:pPr>
              <a:t>57</a:t>
            </a:fld>
            <a:endParaRPr lang="en-CA" sz="1100">
              <a:solidFill>
                <a:srgbClr val="000000"/>
              </a:solidFill>
            </a:endParaRPr>
          </a:p>
        </p:txBody>
      </p:sp>
      <p:sp>
        <p:nvSpPr>
          <p:cNvPr id="50" name="Text Placeholder 2">
            <a:extLst>
              <a:ext uri="{FF2B5EF4-FFF2-40B4-BE49-F238E27FC236}">
                <a16:creationId xmlns:a16="http://schemas.microsoft.com/office/drawing/2014/main" id="{F06C6772-397F-CC0A-5A14-DA4C509881BD}"/>
              </a:ext>
            </a:extLst>
          </p:cNvPr>
          <p:cNvSpPr>
            <a:spLocks/>
          </p:cNvSpPr>
          <p:nvPr>
            <p:custDataLst>
              <p:tags r:id="rId9"/>
            </p:custDataLst>
          </p:nvPr>
        </p:nvSpPr>
        <p:spPr bwMode="gray">
          <a:xfrm>
            <a:off x="1789113" y="5573714"/>
            <a:ext cx="173038" cy="168276"/>
          </a:xfrm>
          <a:prstGeom prst="rect">
            <a:avLst/>
          </a:prstGeom>
          <a:solidFill>
            <a:srgbClr val="BEBBA6"/>
          </a:solidFill>
          <a:ln>
            <a:noFill/>
          </a:ln>
          <a:effec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F2C6BE61-2C7B-4762-8647-F04B41443690}" type="datetime'1''''''''''5'''''''''''''''''''''''''''''''''''''''''''''''">
              <a:rPr lang="en-CA" altLang="en-US" sz="1100">
                <a:solidFill>
                  <a:srgbClr val="000000"/>
                </a:solidFill>
              </a:rPr>
              <a:pPr marL="0" indent="0" algn="ctr" defTabSz="914422">
                <a:spcBef>
                  <a:spcPct val="0"/>
                </a:spcBef>
                <a:spcAft>
                  <a:spcPct val="0"/>
                </a:spcAft>
                <a:buClr>
                  <a:srgbClr val="000000"/>
                </a:buClr>
                <a:buNone/>
                <a:defRPr/>
              </a:pPr>
              <a:t>15</a:t>
            </a:fld>
            <a:endParaRPr lang="en-CA" sz="1100">
              <a:solidFill>
                <a:srgbClr val="000000"/>
              </a:solidFill>
            </a:endParaRPr>
          </a:p>
        </p:txBody>
      </p:sp>
      <p:sp>
        <p:nvSpPr>
          <p:cNvPr id="6" name="Text Placeholder 2">
            <a:extLst>
              <a:ext uri="{FF2B5EF4-FFF2-40B4-BE49-F238E27FC236}">
                <a16:creationId xmlns:a16="http://schemas.microsoft.com/office/drawing/2014/main" id="{97EF2A83-9322-A88B-5D75-06766D957280}"/>
              </a:ext>
            </a:extLst>
          </p:cNvPr>
          <p:cNvSpPr>
            <a:spLocks/>
          </p:cNvSpPr>
          <p:nvPr>
            <p:custDataLst>
              <p:tags r:id="rId10"/>
            </p:custDataLst>
          </p:nvPr>
        </p:nvSpPr>
        <p:spPr bwMode="auto">
          <a:xfrm>
            <a:off x="1428750" y="5788026"/>
            <a:ext cx="892174"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959FB0CB-981F-4FCE-93EA-7F6DA0BF299E}" type="datetime'No''''.'''' ''of'''''''''' ''Par''''e''''''''n''''''''ts'''">
              <a:rPr lang="en-CA" altLang="en-US" sz="1100">
                <a:solidFill>
                  <a:srgbClr val="000000"/>
                </a:solidFill>
              </a:rPr>
              <a:pPr marL="0" indent="0" algn="ctr">
                <a:spcBef>
                  <a:spcPct val="0"/>
                </a:spcBef>
                <a:spcAft>
                  <a:spcPct val="0"/>
                </a:spcAft>
                <a:buClr>
                  <a:srgbClr val="000000"/>
                </a:buClr>
                <a:buNone/>
                <a:defRPr/>
              </a:pPr>
              <a:t>No. of Parents</a:t>
            </a:fld>
            <a:endParaRPr lang="en-CA" sz="1100">
              <a:solidFill>
                <a:srgbClr val="000000"/>
              </a:solidFill>
            </a:endParaRPr>
          </a:p>
        </p:txBody>
      </p:sp>
      <p:sp>
        <p:nvSpPr>
          <p:cNvPr id="24" name="Text Placeholder 2">
            <a:extLst>
              <a:ext uri="{FF2B5EF4-FFF2-40B4-BE49-F238E27FC236}">
                <a16:creationId xmlns:a16="http://schemas.microsoft.com/office/drawing/2014/main" id="{D830DABE-624D-88B9-7D66-77EEBB47E4D1}"/>
              </a:ext>
            </a:extLst>
          </p:cNvPr>
          <p:cNvSpPr>
            <a:spLocks/>
          </p:cNvSpPr>
          <p:nvPr>
            <p:custDataLst>
              <p:tags r:id="rId11"/>
            </p:custDataLst>
          </p:nvPr>
        </p:nvSpPr>
        <p:spPr bwMode="auto">
          <a:xfrm>
            <a:off x="2792413" y="5788026"/>
            <a:ext cx="547689"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7F33989-6F4C-4370-BB33-A50C5068AA98}" type="datetime'''''Re''''''''v''''''e''''''''n''''''u''''''''''e'''''''''">
              <a:rPr lang="en-CA" altLang="en-US" sz="1100">
                <a:solidFill>
                  <a:srgbClr val="000000"/>
                </a:solidFill>
              </a:rPr>
              <a:pPr marL="0" indent="0" algn="ctr">
                <a:spcBef>
                  <a:spcPct val="0"/>
                </a:spcBef>
                <a:spcAft>
                  <a:spcPct val="0"/>
                </a:spcAft>
                <a:buClr>
                  <a:srgbClr val="000000"/>
                </a:buClr>
                <a:buNone/>
                <a:defRPr/>
              </a:pPr>
              <a:t>Revenue</a:t>
            </a:fld>
            <a:endParaRPr lang="en-CA" sz="1100">
              <a:solidFill>
                <a:srgbClr val="000000"/>
              </a:solidFill>
            </a:endParaRPr>
          </a:p>
        </p:txBody>
      </p:sp>
      <p:sp>
        <p:nvSpPr>
          <p:cNvPr id="12" name="Text Placeholder 2">
            <a:extLst>
              <a:ext uri="{FF2B5EF4-FFF2-40B4-BE49-F238E27FC236}">
                <a16:creationId xmlns:a16="http://schemas.microsoft.com/office/drawing/2014/main" id="{5C204ACF-362D-6E09-E51A-5F074BF6A779}"/>
              </a:ext>
            </a:extLst>
          </p:cNvPr>
          <p:cNvSpPr>
            <a:spLocks/>
          </p:cNvSpPr>
          <p:nvPr>
            <p:custDataLst>
              <p:tags r:id="rId12"/>
            </p:custDataLst>
          </p:nvPr>
        </p:nvSpPr>
        <p:spPr bwMode="auto">
          <a:xfrm>
            <a:off x="558801" y="2770188"/>
            <a:ext cx="842964"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28A1CF6B-1A17-45D8-BCD3-76BC5FBD02DA}" type="datetime'''''''L''''o''c''''a''''''''''l ''''P''l''''ay''''e''r''''s'">
              <a:rPr lang="en-CA" altLang="en-US" sz="1100">
                <a:solidFill>
                  <a:srgbClr val="000000"/>
                </a:solidFill>
              </a:rPr>
              <a:pPr marL="0" indent="0" algn="r">
                <a:spcBef>
                  <a:spcPct val="0"/>
                </a:spcBef>
                <a:spcAft>
                  <a:spcPct val="0"/>
                </a:spcAft>
                <a:buClr>
                  <a:srgbClr val="000000"/>
                </a:buClr>
                <a:buNone/>
                <a:defRPr/>
              </a:pPr>
              <a:t>Local Players</a:t>
            </a:fld>
            <a:r>
              <a:rPr lang="en-CA" altLang="en-US" sz="1100" baseline="30000">
                <a:solidFill>
                  <a:srgbClr val="000000"/>
                </a:solidFill>
              </a:rPr>
              <a:t>1</a:t>
            </a:r>
            <a:endParaRPr lang="en-CA" sz="1100" baseline="30000">
              <a:solidFill>
                <a:srgbClr val="000000"/>
              </a:solidFill>
            </a:endParaRPr>
          </a:p>
        </p:txBody>
      </p:sp>
      <p:sp>
        <p:nvSpPr>
          <p:cNvPr id="13" name="Text Placeholder 2">
            <a:extLst>
              <a:ext uri="{FF2B5EF4-FFF2-40B4-BE49-F238E27FC236}">
                <a16:creationId xmlns:a16="http://schemas.microsoft.com/office/drawing/2014/main" id="{1BC3D859-218E-6BBA-8435-0917E4C2E2BF}"/>
              </a:ext>
            </a:extLst>
          </p:cNvPr>
          <p:cNvSpPr>
            <a:spLocks/>
          </p:cNvSpPr>
          <p:nvPr>
            <p:custDataLst>
              <p:tags r:id="rId13"/>
            </p:custDataLst>
          </p:nvPr>
        </p:nvSpPr>
        <p:spPr bwMode="auto">
          <a:xfrm>
            <a:off x="681038" y="3473450"/>
            <a:ext cx="720725"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F84909D1-85A1-494C-AFD3-0B33787EC4B0}" type="datetime'''''M''u''''''l''ti''''l''a''''t''''i''''''n''a''''s'''''">
              <a:rPr lang="en-CA" altLang="en-US" sz="1100">
                <a:solidFill>
                  <a:srgbClr val="000000"/>
                </a:solidFill>
              </a:rPr>
              <a:pPr marL="0" indent="0" algn="r">
                <a:spcBef>
                  <a:spcPct val="0"/>
                </a:spcBef>
                <a:spcAft>
                  <a:spcPct val="0"/>
                </a:spcAft>
                <a:buClr>
                  <a:srgbClr val="000000"/>
                </a:buClr>
                <a:buNone/>
                <a:defRPr/>
              </a:pPr>
              <a:t>Multilatinas</a:t>
            </a:fld>
            <a:endParaRPr lang="en-CA" sz="1100">
              <a:solidFill>
                <a:srgbClr val="000000"/>
              </a:solidFill>
            </a:endParaRPr>
          </a:p>
        </p:txBody>
      </p:sp>
      <p:sp>
        <p:nvSpPr>
          <p:cNvPr id="14" name="Text Placeholder 2">
            <a:extLst>
              <a:ext uri="{FF2B5EF4-FFF2-40B4-BE49-F238E27FC236}">
                <a16:creationId xmlns:a16="http://schemas.microsoft.com/office/drawing/2014/main" id="{6C9BF104-4854-4A51-D8D0-667AA992CD2F}"/>
              </a:ext>
            </a:extLst>
          </p:cNvPr>
          <p:cNvSpPr>
            <a:spLocks/>
          </p:cNvSpPr>
          <p:nvPr>
            <p:custDataLst>
              <p:tags r:id="rId14"/>
            </p:custDataLst>
          </p:nvPr>
        </p:nvSpPr>
        <p:spPr bwMode="auto">
          <a:xfrm>
            <a:off x="950915" y="4430714"/>
            <a:ext cx="4508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65607DB3-CCEA-40A4-BA46-B14B2424199E}" type="datetime'''''''''''''''''''''''''''G''''lo''''''''''''''ba''''''l'''">
              <a:rPr lang="en-CA" altLang="en-US" sz="1100">
                <a:solidFill>
                  <a:srgbClr val="000000"/>
                </a:solidFill>
              </a:rPr>
              <a:pPr marL="0" indent="0" algn="r">
                <a:spcBef>
                  <a:spcPct val="0"/>
                </a:spcBef>
                <a:spcAft>
                  <a:spcPct val="0"/>
                </a:spcAft>
                <a:buClr>
                  <a:srgbClr val="000000"/>
                </a:buClr>
                <a:buNone/>
                <a:defRPr/>
              </a:pPr>
              <a:t>Global</a:t>
            </a:fld>
            <a:r>
              <a:rPr lang="en-CA" altLang="en-US" sz="1100" baseline="30000">
                <a:solidFill>
                  <a:srgbClr val="000000"/>
                </a:solidFill>
              </a:rPr>
              <a:t>2</a:t>
            </a:r>
            <a:endParaRPr lang="en-CA" sz="1100" baseline="30000">
              <a:solidFill>
                <a:srgbClr val="000000"/>
              </a:solidFill>
            </a:endParaRPr>
          </a:p>
        </p:txBody>
      </p:sp>
      <p:sp>
        <p:nvSpPr>
          <p:cNvPr id="43" name="Text Placeholder 2">
            <a:extLst>
              <a:ext uri="{FF2B5EF4-FFF2-40B4-BE49-F238E27FC236}">
                <a16:creationId xmlns:a16="http://schemas.microsoft.com/office/drawing/2014/main" id="{8373BD2D-3A3E-FB17-A522-B0426F173C09}"/>
              </a:ext>
            </a:extLst>
          </p:cNvPr>
          <p:cNvSpPr>
            <a:spLocks/>
          </p:cNvSpPr>
          <p:nvPr>
            <p:custDataLst>
              <p:tags r:id="rId15"/>
            </p:custDataLst>
          </p:nvPr>
        </p:nvSpPr>
        <p:spPr bwMode="auto">
          <a:xfrm>
            <a:off x="500064" y="5292725"/>
            <a:ext cx="9017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2EF2479F-025D-4AAF-AF17-0F9B8DD49697}" type="datetime'''M''''ul''''''t''nat''''io''''''''''n''''''''''''''''a''''ls'">
              <a:rPr lang="en-CA" altLang="en-US" sz="1100">
                <a:solidFill>
                  <a:srgbClr val="000000"/>
                </a:solidFill>
              </a:rPr>
              <a:pPr marL="0" indent="0" algn="r">
                <a:spcBef>
                  <a:spcPct val="0"/>
                </a:spcBef>
                <a:spcAft>
                  <a:spcPct val="0"/>
                </a:spcAft>
                <a:buClr>
                  <a:srgbClr val="000000"/>
                </a:buClr>
                <a:buNone/>
                <a:defRPr/>
              </a:pPr>
              <a:t>Multnationals</a:t>
            </a:fld>
            <a:r>
              <a:rPr lang="en-CA" altLang="en-US" sz="1100" baseline="30000">
                <a:solidFill>
                  <a:srgbClr val="000000"/>
                </a:solidFill>
              </a:rPr>
              <a:t>3</a:t>
            </a:r>
            <a:endParaRPr lang="en-CA" sz="1100" baseline="30000">
              <a:solidFill>
                <a:srgbClr val="000000"/>
              </a:solidFill>
            </a:endParaRPr>
          </a:p>
        </p:txBody>
      </p:sp>
      <p:sp>
        <p:nvSpPr>
          <p:cNvPr id="44" name="Text Placeholder 2">
            <a:extLst>
              <a:ext uri="{FF2B5EF4-FFF2-40B4-BE49-F238E27FC236}">
                <a16:creationId xmlns:a16="http://schemas.microsoft.com/office/drawing/2014/main" id="{907C7912-A26D-AD54-7235-5CB013662BDC}"/>
              </a:ext>
            </a:extLst>
          </p:cNvPr>
          <p:cNvSpPr>
            <a:spLocks/>
          </p:cNvSpPr>
          <p:nvPr>
            <p:custDataLst>
              <p:tags r:id="rId16"/>
            </p:custDataLst>
          </p:nvPr>
        </p:nvSpPr>
        <p:spPr bwMode="auto">
          <a:xfrm>
            <a:off x="787402" y="5511801"/>
            <a:ext cx="61436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C409928C-4697-4C97-B1E6-FC38B5AAFBC9}" type="datetime'''''''''''So''''ve''''r''''''''e''''''''''''''''i''g''n'''">
              <a:rPr lang="en-CA" altLang="en-US" sz="1100">
                <a:solidFill>
                  <a:srgbClr val="000000"/>
                </a:solidFill>
              </a:rPr>
              <a:pPr marL="0" indent="0" algn="r">
                <a:spcBef>
                  <a:spcPct val="0"/>
                </a:spcBef>
                <a:spcAft>
                  <a:spcPct val="0"/>
                </a:spcAft>
                <a:buClr>
                  <a:srgbClr val="000000"/>
                </a:buClr>
                <a:buNone/>
                <a:defRPr/>
              </a:pPr>
              <a:t>Sovereign</a:t>
            </a:fld>
            <a:endParaRPr lang="en-CA" sz="1100">
              <a:solidFill>
                <a:srgbClr val="000000"/>
              </a:solidFill>
            </a:endParaRPr>
          </a:p>
        </p:txBody>
      </p:sp>
      <p:sp>
        <p:nvSpPr>
          <p:cNvPr id="16" name="Text Placeholder 2">
            <a:extLst>
              <a:ext uri="{FF2B5EF4-FFF2-40B4-BE49-F238E27FC236}">
                <a16:creationId xmlns:a16="http://schemas.microsoft.com/office/drawing/2014/main" id="{E302A550-21F7-2AC2-FE9A-D121C108FD33}"/>
              </a:ext>
            </a:extLst>
          </p:cNvPr>
          <p:cNvSpPr>
            <a:spLocks/>
          </p:cNvSpPr>
          <p:nvPr>
            <p:custDataLst>
              <p:tags r:id="rId17"/>
            </p:custDataLst>
          </p:nvPr>
        </p:nvSpPr>
        <p:spPr bwMode="gray">
          <a:xfrm>
            <a:off x="1741488" y="2173289"/>
            <a:ext cx="2682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F0D597E7-A053-4D0F-931E-E2482CC75C17}" type="datetime'5''3''''''''''''''''7'''''''''''''''''''">
              <a:rPr lang="en-CA" altLang="en-US" sz="1100" b="1">
                <a:solidFill>
                  <a:srgbClr val="000000"/>
                </a:solidFill>
              </a:rPr>
              <a:pPr marL="0" indent="0" algn="ctr">
                <a:spcBef>
                  <a:spcPct val="0"/>
                </a:spcBef>
                <a:spcAft>
                  <a:spcPct val="0"/>
                </a:spcAft>
                <a:buClr>
                  <a:srgbClr val="000000"/>
                </a:buClr>
                <a:buNone/>
                <a:defRPr/>
              </a:pPr>
              <a:t>537</a:t>
            </a:fld>
            <a:endParaRPr lang="en-CA" sz="1100" b="1">
              <a:solidFill>
                <a:srgbClr val="000000"/>
              </a:solidFill>
            </a:endParaRPr>
          </a:p>
        </p:txBody>
      </p:sp>
      <p:sp>
        <p:nvSpPr>
          <p:cNvPr id="18" name="Text Placeholder 2">
            <a:extLst>
              <a:ext uri="{FF2B5EF4-FFF2-40B4-BE49-F238E27FC236}">
                <a16:creationId xmlns:a16="http://schemas.microsoft.com/office/drawing/2014/main" id="{B98C0B26-9B37-3FBC-3A4B-D78EB2807C9A}"/>
              </a:ext>
            </a:extLst>
          </p:cNvPr>
          <p:cNvSpPr>
            <a:spLocks/>
          </p:cNvSpPr>
          <p:nvPr>
            <p:custDataLst>
              <p:tags r:id="rId18"/>
            </p:custDataLst>
          </p:nvPr>
        </p:nvSpPr>
        <p:spPr bwMode="gray">
          <a:xfrm>
            <a:off x="2760664" y="2173289"/>
            <a:ext cx="6111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r>
              <a:rPr lang="en-CA" altLang="en-US" sz="1100" b="1">
                <a:solidFill>
                  <a:srgbClr val="000000"/>
                </a:solidFill>
              </a:rPr>
              <a:t>$</a:t>
            </a:r>
            <a:fld id="{98131326-F56D-444D-B260-E2AD4877B62F}" type="datetime'''''5''''''''''''''''''''''''''''1''6'''''''''''''''''''''">
              <a:rPr lang="en-CA" altLang="en-US" sz="1100" b="1">
                <a:solidFill>
                  <a:srgbClr val="000000"/>
                </a:solidFill>
              </a:rPr>
              <a:pPr marL="0" indent="0" algn="ctr">
                <a:spcBef>
                  <a:spcPct val="0"/>
                </a:spcBef>
                <a:spcAft>
                  <a:spcPct val="0"/>
                </a:spcAft>
                <a:buClr>
                  <a:srgbClr val="000000"/>
                </a:buClr>
                <a:buNone/>
                <a:defRPr/>
              </a:pPr>
              <a:t>516</a:t>
            </a:fld>
            <a:r>
              <a:rPr lang="en-CA" altLang="en-US" sz="1100" b="1">
                <a:solidFill>
                  <a:srgbClr val="000000"/>
                </a:solidFill>
              </a:rPr>
              <a:t> MM</a:t>
            </a:r>
            <a:endParaRPr lang="en-CA" sz="1100" b="1">
              <a:solidFill>
                <a:srgbClr val="000000"/>
              </a:solidFill>
            </a:endParaRPr>
          </a:p>
        </p:txBody>
      </p:sp>
      <p:graphicFrame>
        <p:nvGraphicFramePr>
          <p:cNvPr id="21" name="Chart 20">
            <a:extLst>
              <a:ext uri="{FF2B5EF4-FFF2-40B4-BE49-F238E27FC236}">
                <a16:creationId xmlns:a16="http://schemas.microsoft.com/office/drawing/2014/main" id="{E63AE47E-C97A-5162-3FDB-D6D7CAD8AB1A}"/>
              </a:ext>
            </a:extLst>
          </p:cNvPr>
          <p:cNvGraphicFramePr/>
          <p:nvPr>
            <p:custDataLst>
              <p:tags r:id="rId19"/>
            </p:custDataLst>
          </p:nvPr>
        </p:nvGraphicFramePr>
        <p:xfrm>
          <a:off x="4445001" y="2120901"/>
          <a:ext cx="2690812" cy="3830638"/>
        </p:xfrm>
        <a:graphic>
          <a:graphicData uri="http://schemas.openxmlformats.org/drawingml/2006/chart">
            <c:chart xmlns:c="http://schemas.openxmlformats.org/drawingml/2006/chart" xmlns:r="http://schemas.openxmlformats.org/officeDocument/2006/relationships" r:id="rId36"/>
          </a:graphicData>
        </a:graphic>
      </p:graphicFrame>
      <p:sp>
        <p:nvSpPr>
          <p:cNvPr id="236" name="Text Placeholder 2">
            <a:extLst>
              <a:ext uri="{FF2B5EF4-FFF2-40B4-BE49-F238E27FC236}">
                <a16:creationId xmlns:a16="http://schemas.microsoft.com/office/drawing/2014/main" id="{9270D5A1-2AA5-3F71-A935-845A0E9DFC53}"/>
              </a:ext>
            </a:extLst>
          </p:cNvPr>
          <p:cNvSpPr>
            <a:spLocks/>
          </p:cNvSpPr>
          <p:nvPr>
            <p:custDataLst>
              <p:tags r:id="rId20"/>
            </p:custDataLst>
          </p:nvPr>
        </p:nvSpPr>
        <p:spPr bwMode="gray">
          <a:xfrm>
            <a:off x="5059365" y="3074988"/>
            <a:ext cx="2667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D4F86A4B-0BD3-4661-BCFD-433A525A9504}" type="datetime'''''''''''''''''''''''''2''''''''''''5''5'''''">
              <a:rPr lang="en-CA" altLang="en-US" sz="1100">
                <a:solidFill>
                  <a:schemeClr val="bg1"/>
                </a:solidFill>
              </a:rPr>
              <a:pPr marL="0" indent="0" algn="ctr">
                <a:spcBef>
                  <a:spcPct val="0"/>
                </a:spcBef>
                <a:spcAft>
                  <a:spcPct val="0"/>
                </a:spcAft>
                <a:buClr>
                  <a:srgbClr val="000000"/>
                </a:buClr>
                <a:buNone/>
                <a:defRPr/>
              </a:pPr>
              <a:t>255</a:t>
            </a:fld>
            <a:endParaRPr lang="en-CA" sz="1100">
              <a:solidFill>
                <a:schemeClr val="bg1"/>
              </a:solidFill>
            </a:endParaRPr>
          </a:p>
        </p:txBody>
      </p:sp>
      <p:sp>
        <p:nvSpPr>
          <p:cNvPr id="237" name="Text Placeholder 2">
            <a:extLst>
              <a:ext uri="{FF2B5EF4-FFF2-40B4-BE49-F238E27FC236}">
                <a16:creationId xmlns:a16="http://schemas.microsoft.com/office/drawing/2014/main" id="{726B4E7E-CA25-7F24-3FB5-F953D2261AEE}"/>
              </a:ext>
            </a:extLst>
          </p:cNvPr>
          <p:cNvSpPr>
            <a:spLocks/>
          </p:cNvSpPr>
          <p:nvPr>
            <p:custDataLst>
              <p:tags r:id="rId21"/>
            </p:custDataLst>
          </p:nvPr>
        </p:nvSpPr>
        <p:spPr bwMode="gray">
          <a:xfrm>
            <a:off x="5103814" y="3995738"/>
            <a:ext cx="1778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21E6C3B9-5B88-4EFD-B2C1-CC856B202679}" type="datetime'''''''''''''''''''4''''''''''''''''''''''''''''''''''''1'''''">
              <a:rPr lang="en-CA" altLang="en-US" sz="1100">
                <a:solidFill>
                  <a:schemeClr val="bg1"/>
                </a:solidFill>
              </a:rPr>
              <a:pPr marL="0" indent="0" algn="ctr">
                <a:spcBef>
                  <a:spcPct val="0"/>
                </a:spcBef>
                <a:spcAft>
                  <a:spcPct val="0"/>
                </a:spcAft>
                <a:buClr>
                  <a:srgbClr val="000000"/>
                </a:buClr>
                <a:buNone/>
                <a:defRPr/>
              </a:pPr>
              <a:t>41</a:t>
            </a:fld>
            <a:endParaRPr lang="en-CA" sz="1100">
              <a:solidFill>
                <a:schemeClr val="bg1"/>
              </a:solidFill>
            </a:endParaRPr>
          </a:p>
        </p:txBody>
      </p:sp>
      <p:sp>
        <p:nvSpPr>
          <p:cNvPr id="238" name="Text Placeholder 2">
            <a:extLst>
              <a:ext uri="{FF2B5EF4-FFF2-40B4-BE49-F238E27FC236}">
                <a16:creationId xmlns:a16="http://schemas.microsoft.com/office/drawing/2014/main" id="{C8780A13-697E-3DC4-9782-9F6A002D0CBB}"/>
              </a:ext>
            </a:extLst>
          </p:cNvPr>
          <p:cNvSpPr>
            <a:spLocks/>
          </p:cNvSpPr>
          <p:nvPr>
            <p:custDataLst>
              <p:tags r:id="rId22"/>
            </p:custDataLst>
          </p:nvPr>
        </p:nvSpPr>
        <p:spPr bwMode="gray">
          <a:xfrm>
            <a:off x="5065715" y="4508501"/>
            <a:ext cx="2540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549D36F9-DFB8-4AB1-8D0A-4F1DB26BF2A9}" type="datetime'''''''''1''''''''''''''''''''2''''4'''''''''''">
              <a:rPr lang="en-CA" altLang="en-US" sz="1100">
                <a:solidFill>
                  <a:srgbClr val="000000"/>
                </a:solidFill>
              </a:rPr>
              <a:pPr marL="0" indent="0" algn="ctr">
                <a:spcBef>
                  <a:spcPct val="0"/>
                </a:spcBef>
                <a:spcAft>
                  <a:spcPct val="0"/>
                </a:spcAft>
                <a:buClr>
                  <a:srgbClr val="000000"/>
                </a:buClr>
                <a:buNone/>
                <a:defRPr/>
              </a:pPr>
              <a:t>124</a:t>
            </a:fld>
            <a:endParaRPr lang="en-CA" sz="1100">
              <a:solidFill>
                <a:srgbClr val="000000"/>
              </a:solidFill>
            </a:endParaRPr>
          </a:p>
        </p:txBody>
      </p:sp>
      <p:sp>
        <p:nvSpPr>
          <p:cNvPr id="239" name="Text Placeholder 2">
            <a:extLst>
              <a:ext uri="{FF2B5EF4-FFF2-40B4-BE49-F238E27FC236}">
                <a16:creationId xmlns:a16="http://schemas.microsoft.com/office/drawing/2014/main" id="{3CACAA1C-78D4-3478-3F02-3747A6E90819}"/>
              </a:ext>
            </a:extLst>
          </p:cNvPr>
          <p:cNvSpPr>
            <a:spLocks/>
          </p:cNvSpPr>
          <p:nvPr>
            <p:custDataLst>
              <p:tags r:id="rId23"/>
            </p:custDataLst>
          </p:nvPr>
        </p:nvSpPr>
        <p:spPr bwMode="gray">
          <a:xfrm>
            <a:off x="5076828" y="5257801"/>
            <a:ext cx="231774"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DF6C29BE-9A15-436C-A991-A85C427DEF7C}" type="datetime'''''''''''''''''''''''''''''''''''117'''''''''''''''''''''''">
              <a:rPr lang="en-CA" altLang="en-US" sz="1100">
                <a:solidFill>
                  <a:srgbClr val="000000"/>
                </a:solidFill>
              </a:rPr>
              <a:pPr marL="0" indent="0" algn="ctr">
                <a:spcBef>
                  <a:spcPct val="0"/>
                </a:spcBef>
                <a:spcAft>
                  <a:spcPct val="0"/>
                </a:spcAft>
                <a:buClr>
                  <a:srgbClr val="000000"/>
                </a:buClr>
                <a:buNone/>
                <a:defRPr/>
              </a:pPr>
              <a:t>117</a:t>
            </a:fld>
            <a:endParaRPr lang="en-CA" sz="1100">
              <a:solidFill>
                <a:srgbClr val="000000"/>
              </a:solidFill>
            </a:endParaRPr>
          </a:p>
        </p:txBody>
      </p:sp>
      <p:sp>
        <p:nvSpPr>
          <p:cNvPr id="226" name="Text Placeholder 2">
            <a:extLst>
              <a:ext uri="{FF2B5EF4-FFF2-40B4-BE49-F238E27FC236}">
                <a16:creationId xmlns:a16="http://schemas.microsoft.com/office/drawing/2014/main" id="{E4C12FBB-D7B6-9C54-4030-0449238DC61D}"/>
              </a:ext>
            </a:extLst>
          </p:cNvPr>
          <p:cNvSpPr>
            <a:spLocks/>
          </p:cNvSpPr>
          <p:nvPr>
            <p:custDataLst>
              <p:tags r:id="rId24"/>
            </p:custDataLst>
          </p:nvPr>
        </p:nvSpPr>
        <p:spPr bwMode="auto">
          <a:xfrm>
            <a:off x="4746626" y="5751514"/>
            <a:ext cx="892174"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CF522A96-BDC2-4C71-9956-941D3B78DCE4}" type="datetime'N''''o''.'''''''' ''''''of'' ''''''''P''''''are''nt''''''s'">
              <a:rPr lang="en-CA" altLang="en-US" sz="1100">
                <a:solidFill>
                  <a:srgbClr val="000000"/>
                </a:solidFill>
              </a:rPr>
              <a:pPr marL="0" indent="0" algn="ctr">
                <a:spcBef>
                  <a:spcPct val="0"/>
                </a:spcBef>
                <a:spcAft>
                  <a:spcPct val="0"/>
                </a:spcAft>
                <a:buClr>
                  <a:srgbClr val="000000"/>
                </a:buClr>
                <a:buNone/>
                <a:defRPr/>
              </a:pPr>
              <a:t>No. of Parents</a:t>
            </a:fld>
            <a:endParaRPr lang="en-CA" sz="1100">
              <a:solidFill>
                <a:srgbClr val="000000"/>
              </a:solidFill>
            </a:endParaRPr>
          </a:p>
        </p:txBody>
      </p:sp>
      <p:sp>
        <p:nvSpPr>
          <p:cNvPr id="232" name="Text Placeholder 2">
            <a:extLst>
              <a:ext uri="{FF2B5EF4-FFF2-40B4-BE49-F238E27FC236}">
                <a16:creationId xmlns:a16="http://schemas.microsoft.com/office/drawing/2014/main" id="{E9C878D8-FE61-0481-0C37-A42412DC58F0}"/>
              </a:ext>
            </a:extLst>
          </p:cNvPr>
          <p:cNvSpPr>
            <a:spLocks/>
          </p:cNvSpPr>
          <p:nvPr>
            <p:custDataLst>
              <p:tags r:id="rId25"/>
            </p:custDataLst>
          </p:nvPr>
        </p:nvSpPr>
        <p:spPr bwMode="auto">
          <a:xfrm>
            <a:off x="6110289" y="5751514"/>
            <a:ext cx="547689"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DDEBDB7-D9A9-491B-BBE5-DE7FE8203E58}" type="datetime'''''''R''''e''''''''v''''''e''''n''''''''''u''''e'''''''">
              <a:rPr lang="en-CA" altLang="en-US" sz="1100">
                <a:solidFill>
                  <a:srgbClr val="000000"/>
                </a:solidFill>
              </a:rPr>
              <a:pPr marL="0" indent="0" algn="ctr">
                <a:spcBef>
                  <a:spcPct val="0"/>
                </a:spcBef>
                <a:spcAft>
                  <a:spcPct val="0"/>
                </a:spcAft>
                <a:buClr>
                  <a:srgbClr val="000000"/>
                </a:buClr>
                <a:buNone/>
                <a:defRPr/>
              </a:pPr>
              <a:t>Revenue</a:t>
            </a:fld>
            <a:endParaRPr lang="en-CA" sz="1100">
              <a:solidFill>
                <a:srgbClr val="000000"/>
              </a:solidFill>
            </a:endParaRPr>
          </a:p>
        </p:txBody>
      </p:sp>
      <p:sp>
        <p:nvSpPr>
          <p:cNvPr id="227" name="Text Placeholder 2">
            <a:extLst>
              <a:ext uri="{FF2B5EF4-FFF2-40B4-BE49-F238E27FC236}">
                <a16:creationId xmlns:a16="http://schemas.microsoft.com/office/drawing/2014/main" id="{B58B723A-E8DC-8D1F-9017-1B845029B83E}"/>
              </a:ext>
            </a:extLst>
          </p:cNvPr>
          <p:cNvSpPr>
            <a:spLocks/>
          </p:cNvSpPr>
          <p:nvPr>
            <p:custDataLst>
              <p:tags r:id="rId26"/>
            </p:custDataLst>
          </p:nvPr>
        </p:nvSpPr>
        <p:spPr bwMode="auto">
          <a:xfrm>
            <a:off x="4284664" y="3074988"/>
            <a:ext cx="434974"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8F0D3D9D-AC78-42B6-8B9D-92D819591028}" type="datetime'Mex''''''''''''''''''''''''''''ic''''o'''''''''''''''">
              <a:rPr lang="en-CA" altLang="en-US" sz="1100">
                <a:solidFill>
                  <a:srgbClr val="000000"/>
                </a:solidFill>
              </a:rPr>
              <a:pPr marL="0" indent="0" algn="r">
                <a:spcBef>
                  <a:spcPct val="0"/>
                </a:spcBef>
                <a:spcAft>
                  <a:spcPct val="0"/>
                </a:spcAft>
                <a:buClr>
                  <a:srgbClr val="000000"/>
                </a:buClr>
                <a:buNone/>
                <a:defRPr/>
              </a:pPr>
              <a:t>Mexico</a:t>
            </a:fld>
            <a:endParaRPr lang="en-CA" sz="1100" baseline="30000">
              <a:solidFill>
                <a:srgbClr val="000000"/>
              </a:solidFill>
            </a:endParaRPr>
          </a:p>
        </p:txBody>
      </p:sp>
      <p:sp>
        <p:nvSpPr>
          <p:cNvPr id="228" name="Text Placeholder 2">
            <a:extLst>
              <a:ext uri="{FF2B5EF4-FFF2-40B4-BE49-F238E27FC236}">
                <a16:creationId xmlns:a16="http://schemas.microsoft.com/office/drawing/2014/main" id="{ACA5071F-824A-9962-33A7-07032B0F0C06}"/>
              </a:ext>
            </a:extLst>
          </p:cNvPr>
          <p:cNvSpPr>
            <a:spLocks/>
          </p:cNvSpPr>
          <p:nvPr>
            <p:custDataLst>
              <p:tags r:id="rId27"/>
            </p:custDataLst>
          </p:nvPr>
        </p:nvSpPr>
        <p:spPr bwMode="auto">
          <a:xfrm>
            <a:off x="4240214" y="3995738"/>
            <a:ext cx="479426"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673499DF-1007-4510-A3A4-3712957EABE5}" type="datetime'''C''''a''''''''n''''''''''''a''''''''''d''a'''''''''''''''''">
              <a:rPr lang="en-CA" altLang="en-US" sz="1100">
                <a:solidFill>
                  <a:srgbClr val="000000"/>
                </a:solidFill>
              </a:rPr>
              <a:pPr marL="0" indent="0" algn="r">
                <a:spcBef>
                  <a:spcPct val="0"/>
                </a:spcBef>
                <a:spcAft>
                  <a:spcPct val="0"/>
                </a:spcAft>
                <a:buClr>
                  <a:srgbClr val="000000"/>
                </a:buClr>
                <a:buNone/>
                <a:defRPr/>
              </a:pPr>
              <a:t>Canada</a:t>
            </a:fld>
            <a:endParaRPr lang="en-CA" sz="1100">
              <a:solidFill>
                <a:srgbClr val="000000"/>
              </a:solidFill>
            </a:endParaRPr>
          </a:p>
        </p:txBody>
      </p:sp>
      <p:sp>
        <p:nvSpPr>
          <p:cNvPr id="229" name="Text Placeholder 2">
            <a:extLst>
              <a:ext uri="{FF2B5EF4-FFF2-40B4-BE49-F238E27FC236}">
                <a16:creationId xmlns:a16="http://schemas.microsoft.com/office/drawing/2014/main" id="{E93E3EE5-C237-4283-9EEF-E4C514AAB2A3}"/>
              </a:ext>
            </a:extLst>
          </p:cNvPr>
          <p:cNvSpPr>
            <a:spLocks/>
          </p:cNvSpPr>
          <p:nvPr>
            <p:custDataLst>
              <p:tags r:id="rId28"/>
            </p:custDataLst>
          </p:nvPr>
        </p:nvSpPr>
        <p:spPr bwMode="auto">
          <a:xfrm>
            <a:off x="4541839" y="4508501"/>
            <a:ext cx="1778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D018F73B-EA14-4545-8AE4-19FAF285D035}" type="datetime'''''''''''''''''''''''''''''''''''''''U''S'''''''''''''''''''">
              <a:rPr lang="en-CA" altLang="en-US" sz="1100">
                <a:solidFill>
                  <a:srgbClr val="000000"/>
                </a:solidFill>
              </a:rPr>
              <a:pPr marL="0" indent="0" algn="r">
                <a:spcBef>
                  <a:spcPct val="0"/>
                </a:spcBef>
                <a:spcAft>
                  <a:spcPct val="0"/>
                </a:spcAft>
                <a:buClr>
                  <a:srgbClr val="000000"/>
                </a:buClr>
                <a:buNone/>
                <a:defRPr/>
              </a:pPr>
              <a:t>US</a:t>
            </a:fld>
            <a:endParaRPr lang="en-CA" sz="1100" baseline="30000">
              <a:solidFill>
                <a:srgbClr val="000000"/>
              </a:solidFill>
            </a:endParaRPr>
          </a:p>
        </p:txBody>
      </p:sp>
      <p:sp>
        <p:nvSpPr>
          <p:cNvPr id="233" name="Text Placeholder 2">
            <a:extLst>
              <a:ext uri="{FF2B5EF4-FFF2-40B4-BE49-F238E27FC236}">
                <a16:creationId xmlns:a16="http://schemas.microsoft.com/office/drawing/2014/main" id="{4E272A60-08E8-D0AC-61F8-554EECAA0E87}"/>
              </a:ext>
            </a:extLst>
          </p:cNvPr>
          <p:cNvSpPr>
            <a:spLocks/>
          </p:cNvSpPr>
          <p:nvPr>
            <p:custDataLst>
              <p:tags r:id="rId29"/>
            </p:custDataLst>
          </p:nvPr>
        </p:nvSpPr>
        <p:spPr bwMode="auto">
          <a:xfrm>
            <a:off x="4302127" y="5257801"/>
            <a:ext cx="4175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r">
              <a:spcBef>
                <a:spcPct val="0"/>
              </a:spcBef>
              <a:spcAft>
                <a:spcPct val="0"/>
              </a:spcAft>
              <a:buClr>
                <a:srgbClr val="000000"/>
              </a:buClr>
              <a:buNone/>
              <a:defRPr/>
            </a:pPr>
            <a:fld id="{AE524265-8C43-481D-8044-776FDE4044B7}" type="datetime'''''O''''''''''''''''t''''''''''''h''er'''''''''''">
              <a:rPr lang="en-CA" altLang="en-US" sz="1100">
                <a:solidFill>
                  <a:srgbClr val="000000"/>
                </a:solidFill>
              </a:rPr>
              <a:pPr marL="0" indent="0" algn="r">
                <a:spcBef>
                  <a:spcPct val="0"/>
                </a:spcBef>
                <a:spcAft>
                  <a:spcPct val="0"/>
                </a:spcAft>
                <a:buClr>
                  <a:srgbClr val="000000"/>
                </a:buClr>
                <a:buNone/>
                <a:defRPr/>
              </a:pPr>
              <a:t>Other</a:t>
            </a:fld>
            <a:r>
              <a:rPr lang="en-CA" altLang="en-US" sz="1100" baseline="30000">
                <a:solidFill>
                  <a:srgbClr val="000000"/>
                </a:solidFill>
              </a:rPr>
              <a:t>4</a:t>
            </a:r>
            <a:endParaRPr lang="en-CA" sz="1100" baseline="30000">
              <a:solidFill>
                <a:srgbClr val="000000"/>
              </a:solidFill>
            </a:endParaRPr>
          </a:p>
        </p:txBody>
      </p:sp>
      <p:sp>
        <p:nvSpPr>
          <p:cNvPr id="230" name="Text Placeholder 2">
            <a:extLst>
              <a:ext uri="{FF2B5EF4-FFF2-40B4-BE49-F238E27FC236}">
                <a16:creationId xmlns:a16="http://schemas.microsoft.com/office/drawing/2014/main" id="{814863CA-9BC9-3B44-8143-CD6B0747813B}"/>
              </a:ext>
            </a:extLst>
          </p:cNvPr>
          <p:cNvSpPr>
            <a:spLocks/>
          </p:cNvSpPr>
          <p:nvPr>
            <p:custDataLst>
              <p:tags r:id="rId30"/>
            </p:custDataLst>
          </p:nvPr>
        </p:nvSpPr>
        <p:spPr bwMode="gray">
          <a:xfrm>
            <a:off x="5059364" y="2173289"/>
            <a:ext cx="2682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3EE8468E-BED3-48EC-8915-82EB7470059F}" type="datetime'5''''''''''''3''''''''''''''''''''''''''''7'''''''''''''''''''">
              <a:rPr lang="en-CA" altLang="en-US" sz="1100" b="1">
                <a:solidFill>
                  <a:srgbClr val="000000"/>
                </a:solidFill>
              </a:rPr>
              <a:pPr marL="0" indent="0" algn="ctr">
                <a:spcBef>
                  <a:spcPct val="0"/>
                </a:spcBef>
                <a:spcAft>
                  <a:spcPct val="0"/>
                </a:spcAft>
                <a:buClr>
                  <a:srgbClr val="000000"/>
                </a:buClr>
                <a:buNone/>
                <a:defRPr/>
              </a:pPr>
              <a:t>537</a:t>
            </a:fld>
            <a:endParaRPr lang="en-CA" sz="1100" b="1">
              <a:solidFill>
                <a:srgbClr val="000000"/>
              </a:solidFill>
            </a:endParaRPr>
          </a:p>
        </p:txBody>
      </p:sp>
      <p:sp>
        <p:nvSpPr>
          <p:cNvPr id="231" name="Text Placeholder 2">
            <a:extLst>
              <a:ext uri="{FF2B5EF4-FFF2-40B4-BE49-F238E27FC236}">
                <a16:creationId xmlns:a16="http://schemas.microsoft.com/office/drawing/2014/main" id="{01CED8D3-0787-C2F7-CAB9-90F597777B90}"/>
              </a:ext>
            </a:extLst>
          </p:cNvPr>
          <p:cNvSpPr>
            <a:spLocks/>
          </p:cNvSpPr>
          <p:nvPr>
            <p:custDataLst>
              <p:tags r:id="rId31"/>
            </p:custDataLst>
          </p:nvPr>
        </p:nvSpPr>
        <p:spPr bwMode="gray">
          <a:xfrm>
            <a:off x="6078539" y="2173289"/>
            <a:ext cx="6111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r>
              <a:rPr lang="en-CA" altLang="en-US" sz="1100" b="1">
                <a:solidFill>
                  <a:srgbClr val="000000"/>
                </a:solidFill>
              </a:rPr>
              <a:t>$</a:t>
            </a:r>
            <a:fld id="{8C67943B-CF27-4392-B27F-C5D2E874CBC3}" type="datetime'''''''''''''5''''''''''''''''''''''''1''''''''''''6'''">
              <a:rPr lang="en-CA" altLang="en-US" sz="1100" b="1">
                <a:solidFill>
                  <a:srgbClr val="000000"/>
                </a:solidFill>
              </a:rPr>
              <a:pPr marL="0" indent="0" algn="ctr">
                <a:spcBef>
                  <a:spcPct val="0"/>
                </a:spcBef>
                <a:spcAft>
                  <a:spcPct val="0"/>
                </a:spcAft>
                <a:buClr>
                  <a:srgbClr val="000000"/>
                </a:buClr>
                <a:buNone/>
                <a:defRPr/>
              </a:pPr>
              <a:t>516</a:t>
            </a:fld>
            <a:r>
              <a:rPr lang="en-CA" altLang="en-US" sz="1100" b="1">
                <a:solidFill>
                  <a:srgbClr val="000000"/>
                </a:solidFill>
              </a:rPr>
              <a:t> MM</a:t>
            </a:r>
            <a:endParaRPr lang="en-CA" sz="1100" b="1">
              <a:solidFill>
                <a:srgbClr val="000000"/>
              </a:solidFill>
            </a:endParaRPr>
          </a:p>
        </p:txBody>
      </p:sp>
      <p:sp>
        <p:nvSpPr>
          <p:cNvPr id="271" name="Rectangle 270">
            <a:extLst>
              <a:ext uri="{FF2B5EF4-FFF2-40B4-BE49-F238E27FC236}">
                <a16:creationId xmlns:a16="http://schemas.microsoft.com/office/drawing/2014/main" id="{F5673737-E62A-6B49-4413-A4B786A99677}"/>
              </a:ext>
            </a:extLst>
          </p:cNvPr>
          <p:cNvSpPr/>
          <p:nvPr/>
        </p:nvSpPr>
        <p:spPr>
          <a:xfrm>
            <a:off x="6017906" y="2341564"/>
            <a:ext cx="736857" cy="3044825"/>
          </a:xfrm>
          <a:prstGeom prst="rect">
            <a:avLst/>
          </a:prstGeom>
          <a:noFill/>
          <a:ln w="1905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l"/>
            <a:endParaRPr lang="en-CA" sz="1001">
              <a:solidFill>
                <a:schemeClr val="tx1"/>
              </a:solidFill>
            </a:endParaRPr>
          </a:p>
        </p:txBody>
      </p:sp>
      <p:sp>
        <p:nvSpPr>
          <p:cNvPr id="275" name="Text Placeholder 2">
            <a:extLst>
              <a:ext uri="{FF2B5EF4-FFF2-40B4-BE49-F238E27FC236}">
                <a16:creationId xmlns:a16="http://schemas.microsoft.com/office/drawing/2014/main" id="{3797883C-EF6E-657E-15CE-414D7A3195CE}"/>
              </a:ext>
            </a:extLst>
          </p:cNvPr>
          <p:cNvSpPr>
            <a:spLocks noGrp="1"/>
          </p:cNvSpPr>
          <p:nvPr>
            <p:custDataLst>
              <p:tags r:id="rId32"/>
            </p:custDataLst>
          </p:nvPr>
        </p:nvSpPr>
        <p:spPr bwMode="auto">
          <a:xfrm>
            <a:off x="6734515" y="2292349"/>
            <a:ext cx="1212172" cy="268288"/>
          </a:xfrm>
          <a:prstGeom prst="rect">
            <a:avLst/>
          </a:prstGeom>
          <a:noFill/>
          <a:ln w="9525" algn="ctr">
            <a:no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914411">
              <a:spcBef>
                <a:spcPct val="0"/>
              </a:spcBef>
              <a:spcAft>
                <a:spcPct val="0"/>
              </a:spcAft>
              <a:buNone/>
              <a:defRPr/>
            </a:pPr>
            <a:r>
              <a:rPr lang="en-US" sz="1001" b="1" i="1">
                <a:solidFill>
                  <a:srgbClr val="FF0000"/>
                </a:solidFill>
                <a:latin typeface="Scotia"/>
              </a:rPr>
              <a:t>~90% of revenue</a:t>
            </a:r>
          </a:p>
        </p:txBody>
      </p:sp>
      <p:sp>
        <p:nvSpPr>
          <p:cNvPr id="4" name="Rectangle 3">
            <a:extLst>
              <a:ext uri="{FF2B5EF4-FFF2-40B4-BE49-F238E27FC236}">
                <a16:creationId xmlns:a16="http://schemas.microsoft.com/office/drawing/2014/main" id="{DE6DB382-9DAF-5FEC-6D92-07D090969C2E}"/>
              </a:ext>
            </a:extLst>
          </p:cNvPr>
          <p:cNvSpPr/>
          <p:nvPr/>
        </p:nvSpPr>
        <p:spPr>
          <a:xfrm>
            <a:off x="8088538" y="1680704"/>
            <a:ext cx="3587525" cy="4270836"/>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nchorCtr="0"/>
          <a:lstStyle/>
          <a:p>
            <a:pPr algn="ctr">
              <a:spcAft>
                <a:spcPts val="1200"/>
              </a:spcAft>
            </a:pPr>
            <a:r>
              <a:rPr lang="en-CA" sz="1100" b="1" spc="300">
                <a:solidFill>
                  <a:schemeClr val="tx1"/>
                </a:solidFill>
              </a:rPr>
              <a:t>OPPORTUNITIES</a:t>
            </a:r>
          </a:p>
          <a:p>
            <a:pPr>
              <a:spcAft>
                <a:spcPts val="601"/>
              </a:spcAft>
            </a:pPr>
            <a:r>
              <a:rPr lang="en-US" sz="1001" b="1">
                <a:solidFill>
                  <a:schemeClr val="tx1"/>
                </a:solidFill>
              </a:rPr>
              <a:t>PEMEX’s</a:t>
            </a:r>
            <a:r>
              <a:rPr lang="en-US" sz="1001">
                <a:solidFill>
                  <a:schemeClr val="tx1"/>
                </a:solidFill>
              </a:rPr>
              <a:t> recycling strategy </a:t>
            </a:r>
            <a:r>
              <a:rPr lang="en-US" sz="1001" b="1">
                <a:solidFill>
                  <a:schemeClr val="tx1"/>
                </a:solidFill>
              </a:rPr>
              <a:t>(19% of revenues in F25) </a:t>
            </a:r>
            <a:r>
              <a:rPr lang="en-US" sz="1001">
                <a:solidFill>
                  <a:schemeClr val="tx1"/>
                </a:solidFill>
              </a:rPr>
              <a:t>to be replaced by </a:t>
            </a:r>
            <a:r>
              <a:rPr lang="en-US" sz="1001" b="1">
                <a:solidFill>
                  <a:schemeClr val="tx1"/>
                </a:solidFill>
              </a:rPr>
              <a:t>other SOEs </a:t>
            </a:r>
            <a:r>
              <a:rPr lang="en-US" sz="1001">
                <a:solidFill>
                  <a:schemeClr val="tx1"/>
                </a:solidFill>
              </a:rPr>
              <a:t>as well as </a:t>
            </a:r>
            <a:r>
              <a:rPr lang="en-US" sz="1001" b="1">
                <a:solidFill>
                  <a:schemeClr val="tx1"/>
                </a:solidFill>
              </a:rPr>
              <a:t>U.S. and Canada </a:t>
            </a:r>
            <a:r>
              <a:rPr lang="en-US" sz="1001">
                <a:solidFill>
                  <a:schemeClr val="tx1"/>
                </a:solidFill>
              </a:rPr>
              <a:t>headquartered corporates with Mexican presence</a:t>
            </a:r>
          </a:p>
          <a:p>
            <a:pPr>
              <a:spcAft>
                <a:spcPts val="601"/>
              </a:spcAft>
            </a:pPr>
            <a:r>
              <a:rPr lang="en-US" sz="1001" b="1">
                <a:solidFill>
                  <a:srgbClr val="FF0000"/>
                </a:solidFill>
              </a:rPr>
              <a:t>Southbound Opportunity:  </a:t>
            </a:r>
            <a:r>
              <a:rPr lang="en-US" sz="1001">
                <a:solidFill>
                  <a:schemeClr val="tx1"/>
                </a:solidFill>
              </a:rPr>
              <a:t>US/CAN companies with operations in Mexico</a:t>
            </a:r>
          </a:p>
          <a:p>
            <a:pPr>
              <a:spcAft>
                <a:spcPts val="601"/>
              </a:spcAft>
            </a:pPr>
            <a:r>
              <a:rPr lang="en-US" sz="1001" b="1">
                <a:solidFill>
                  <a:schemeClr val="tx1"/>
                </a:solidFill>
              </a:rPr>
              <a:t>1. Canadian HQ Execution </a:t>
            </a:r>
            <a:r>
              <a:rPr lang="en-US" sz="1001" i="1">
                <a:solidFill>
                  <a:schemeClr val="tx1"/>
                </a:solidFill>
              </a:rPr>
              <a:t>– Right to Win</a:t>
            </a:r>
          </a:p>
          <a:p>
            <a:pPr marL="171453" indent="-171453">
              <a:spcAft>
                <a:spcPts val="601"/>
              </a:spcAft>
              <a:buFont typeface="Arial" panose="020B0604020202020204" pitchFamily="34" charset="0"/>
              <a:buChar char="•"/>
            </a:pPr>
            <a:r>
              <a:rPr lang="en-US" sz="1001">
                <a:solidFill>
                  <a:schemeClr val="tx1"/>
                </a:solidFill>
              </a:rPr>
              <a:t>Mexican RM assigned to all existing Scotiabank Global GBM relationships</a:t>
            </a:r>
          </a:p>
          <a:p>
            <a:pPr marL="171453" indent="-171453">
              <a:spcAft>
                <a:spcPts val="601"/>
              </a:spcAft>
              <a:buFont typeface="Arial" panose="020B0604020202020204" pitchFamily="34" charset="0"/>
              <a:buChar char="•"/>
            </a:pPr>
            <a:r>
              <a:rPr lang="en-US" sz="1001" b="1">
                <a:solidFill>
                  <a:schemeClr val="tx1"/>
                </a:solidFill>
              </a:rPr>
              <a:t>F26 short‑term opportunities identified </a:t>
            </a:r>
            <a:r>
              <a:rPr lang="en-US" sz="1001">
                <a:solidFill>
                  <a:schemeClr val="tx1"/>
                </a:solidFill>
              </a:rPr>
              <a:t>~12 prospects</a:t>
            </a:r>
          </a:p>
          <a:p>
            <a:pPr marL="171453" indent="-171453">
              <a:spcAft>
                <a:spcPts val="601"/>
              </a:spcAft>
              <a:buFont typeface="Arial" panose="020B0604020202020204" pitchFamily="34" charset="0"/>
              <a:buChar char="•"/>
            </a:pPr>
            <a:r>
              <a:rPr lang="en-US" sz="1001" b="1">
                <a:solidFill>
                  <a:schemeClr val="tx1"/>
                </a:solidFill>
              </a:rPr>
              <a:t>Medium‑term opportunities identified</a:t>
            </a:r>
            <a:r>
              <a:rPr lang="en-US" sz="1001">
                <a:solidFill>
                  <a:schemeClr val="tx1"/>
                </a:solidFill>
              </a:rPr>
              <a:t> (12–18 months); ~12 prospects</a:t>
            </a:r>
          </a:p>
          <a:p>
            <a:pPr>
              <a:spcBef>
                <a:spcPts val="601"/>
              </a:spcBef>
              <a:spcAft>
                <a:spcPts val="601"/>
              </a:spcAft>
            </a:pPr>
            <a:r>
              <a:rPr lang="en-US" sz="1001" b="1">
                <a:solidFill>
                  <a:schemeClr val="tx1"/>
                </a:solidFill>
              </a:rPr>
              <a:t>2. US HQ Execution</a:t>
            </a:r>
          </a:p>
          <a:p>
            <a:pPr marL="171453" indent="-171453">
              <a:spcAft>
                <a:spcPts val="601"/>
              </a:spcAft>
              <a:buFont typeface="Arial" panose="020B0604020202020204" pitchFamily="34" charset="0"/>
              <a:buChar char="•"/>
            </a:pPr>
            <a:r>
              <a:rPr lang="en-US" sz="1001">
                <a:solidFill>
                  <a:schemeClr val="tx1"/>
                </a:solidFill>
              </a:rPr>
              <a:t>Opportunity sizing in progress</a:t>
            </a:r>
          </a:p>
          <a:p>
            <a:pPr>
              <a:spcAft>
                <a:spcPts val="601"/>
              </a:spcAft>
            </a:pPr>
            <a:r>
              <a:rPr lang="en-US" sz="1001" b="1">
                <a:solidFill>
                  <a:srgbClr val="FF0000"/>
                </a:solidFill>
              </a:rPr>
              <a:t>Northbound Opportunity:  </a:t>
            </a:r>
            <a:r>
              <a:rPr lang="en-US" sz="1001">
                <a:solidFill>
                  <a:schemeClr val="tx1"/>
                </a:solidFill>
              </a:rPr>
              <a:t>Mexico companies with operations in CAN/US</a:t>
            </a:r>
          </a:p>
          <a:p>
            <a:pPr>
              <a:spcAft>
                <a:spcPts val="601"/>
              </a:spcAft>
            </a:pPr>
            <a:r>
              <a:rPr lang="en-US" sz="1001" b="1">
                <a:solidFill>
                  <a:schemeClr val="tx1"/>
                </a:solidFill>
              </a:rPr>
              <a:t>3. Mexican HQ Execution </a:t>
            </a:r>
            <a:r>
              <a:rPr lang="en-US" sz="1001">
                <a:solidFill>
                  <a:schemeClr val="tx1"/>
                </a:solidFill>
              </a:rPr>
              <a:t>- </a:t>
            </a:r>
            <a:r>
              <a:rPr lang="en-US" sz="1001" i="1">
                <a:solidFill>
                  <a:schemeClr val="tx1"/>
                </a:solidFill>
              </a:rPr>
              <a:t>Right to Win</a:t>
            </a:r>
          </a:p>
          <a:p>
            <a:pPr marL="171453" indent="-171453">
              <a:spcAft>
                <a:spcPts val="601"/>
              </a:spcAft>
              <a:buFont typeface="Arial" panose="020B0604020202020204" pitchFamily="34" charset="0"/>
              <a:buChar char="•"/>
            </a:pPr>
            <a:r>
              <a:rPr lang="en-US" sz="1001">
                <a:solidFill>
                  <a:schemeClr val="tx1"/>
                </a:solidFill>
              </a:rPr>
              <a:t>Opportunity sizing in progress</a:t>
            </a:r>
          </a:p>
          <a:p>
            <a:pPr marL="171453" indent="-171453">
              <a:spcAft>
                <a:spcPts val="601"/>
              </a:spcAft>
              <a:buFont typeface="Arial" panose="020B0604020202020204" pitchFamily="34" charset="0"/>
              <a:buChar char="•"/>
            </a:pPr>
            <a:endParaRPr lang="en-US" sz="1001">
              <a:solidFill>
                <a:schemeClr val="tx1"/>
              </a:solidFill>
            </a:endParaRPr>
          </a:p>
          <a:p>
            <a:pPr marL="171453" indent="-171453">
              <a:spcAft>
                <a:spcPts val="601"/>
              </a:spcAft>
              <a:buFont typeface="Arial" panose="020B0604020202020204" pitchFamily="34" charset="0"/>
              <a:buChar char="•"/>
            </a:pPr>
            <a:endParaRPr lang="en-US" sz="1100">
              <a:solidFill>
                <a:schemeClr val="tx1"/>
              </a:solidFill>
            </a:endParaRPr>
          </a:p>
        </p:txBody>
      </p:sp>
    </p:spTree>
    <p:extLst>
      <p:ext uri="{BB962C8B-B14F-4D97-AF65-F5344CB8AC3E}">
        <p14:creationId xmlns:p14="http://schemas.microsoft.com/office/powerpoint/2010/main" val="328026843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CCFEB39F-80A5-FCD0-D046-155D5E0B831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404" imgH="405" progId="TCLayout.ActiveDocument.1">
                  <p:embed/>
                </p:oleObj>
              </mc:Choice>
              <mc:Fallback>
                <p:oleObj name="think-cell Slide" r:id="rId13" imgW="404" imgH="405" progId="TCLayout.ActiveDocument.1">
                  <p:embed/>
                  <p:pic>
                    <p:nvPicPr>
                      <p:cNvPr id="8" name="think-cell data - do not delete" hidden="1">
                        <a:extLst>
                          <a:ext uri="{FF2B5EF4-FFF2-40B4-BE49-F238E27FC236}">
                            <a16:creationId xmlns:a16="http://schemas.microsoft.com/office/drawing/2014/main" id="{CCFEB39F-80A5-FCD0-D046-155D5E0B8314}"/>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FBD35DB5-7A10-526B-6F9D-5B807D038EFE}"/>
              </a:ext>
            </a:extLst>
          </p:cNvPr>
          <p:cNvSpPr>
            <a:spLocks noGrp="1"/>
          </p:cNvSpPr>
          <p:nvPr>
            <p:ph type="title"/>
          </p:nvPr>
        </p:nvSpPr>
        <p:spPr/>
        <p:txBody>
          <a:bodyPr vert="horz"/>
          <a:lstStyle/>
          <a:p>
            <a:r>
              <a:rPr lang="en-US" b="1">
                <a:solidFill>
                  <a:srgbClr val="EC111A"/>
                </a:solidFill>
              </a:rPr>
              <a:t>Loyalty | </a:t>
            </a:r>
            <a:r>
              <a:rPr lang="en-US" b="1"/>
              <a:t>Fragmentation and subpar UX dilutes value and returns, driving differences in cost, profitability and engagement, requiring consolidation at scale</a:t>
            </a:r>
            <a:endParaRPr lang="en-US"/>
          </a:p>
        </p:txBody>
      </p:sp>
      <p:sp>
        <p:nvSpPr>
          <p:cNvPr id="3" name="Slide Number Placeholder 2">
            <a:extLst>
              <a:ext uri="{FF2B5EF4-FFF2-40B4-BE49-F238E27FC236}">
                <a16:creationId xmlns:a16="http://schemas.microsoft.com/office/drawing/2014/main" id="{0F58B5C6-82A4-1243-D4B3-CB530CB42D18}"/>
              </a:ext>
            </a:extLst>
          </p:cNvPr>
          <p:cNvSpPr>
            <a:spLocks noGrp="1"/>
          </p:cNvSpPr>
          <p:nvPr>
            <p:ph type="sldNum" sz="quarter" idx="10"/>
          </p:nvPr>
        </p:nvSpPr>
        <p:spPr/>
        <p:txBody>
          <a:bodyPr/>
          <a:lstStyle/>
          <a:p>
            <a:fld id="{95D835A7-12B2-4074-8DA2-469A8808C237}" type="slidenum">
              <a:rPr lang="en-US" smtClean="0"/>
              <a:pPr/>
              <a:t>55</a:t>
            </a:fld>
            <a:endParaRPr lang="en-US"/>
          </a:p>
        </p:txBody>
      </p:sp>
      <p:sp>
        <p:nvSpPr>
          <p:cNvPr id="4" name="Text Placeholder 3">
            <a:extLst>
              <a:ext uri="{FF2B5EF4-FFF2-40B4-BE49-F238E27FC236}">
                <a16:creationId xmlns:a16="http://schemas.microsoft.com/office/drawing/2014/main" id="{7341A29D-EEEA-1982-BE20-556C68602B16}"/>
              </a:ext>
            </a:extLst>
          </p:cNvPr>
          <p:cNvSpPr>
            <a:spLocks noGrp="1"/>
          </p:cNvSpPr>
          <p:nvPr>
            <p:ph type="body" sz="quarter" idx="11"/>
          </p:nvPr>
        </p:nvSpPr>
        <p:spPr/>
        <p:txBody>
          <a:bodyPr anchor="ctr"/>
          <a:lstStyle/>
          <a:p>
            <a:r>
              <a:rPr lang="en-US"/>
              <a:t>Source: MC Advisors benchmarks and bank’s shared data (2024); 1. Debit and other products participating in program excluded for comparison; 2. Only 2024 data available at time of assessment as loyalty costs and KPIs are generated on an ad-hoc basis. Formal KPI tracking framework in progress; 3. Include points redemption costs, additional benefits costs (e.g. discounts and platform costs); 4. Percentage of clients with at least one redemption in 12 months; 5. Redeemed points / accumulated points in 12 months; 6. A loyalty program feature that lets cardholders’ use points to directly wipe out specific transactions (credit bank)</a:t>
            </a:r>
          </a:p>
        </p:txBody>
      </p:sp>
      <p:graphicFrame>
        <p:nvGraphicFramePr>
          <p:cNvPr id="10" name="Table 9">
            <a:extLst>
              <a:ext uri="{FF2B5EF4-FFF2-40B4-BE49-F238E27FC236}">
                <a16:creationId xmlns:a16="http://schemas.microsoft.com/office/drawing/2014/main" id="{3C1E9353-4397-1F25-F64E-C0E276E505C1}"/>
              </a:ext>
            </a:extLst>
          </p:cNvPr>
          <p:cNvGraphicFramePr>
            <a:graphicFrameLocks noGrp="1"/>
          </p:cNvGraphicFramePr>
          <p:nvPr/>
        </p:nvGraphicFramePr>
        <p:xfrm>
          <a:off x="515938" y="2026419"/>
          <a:ext cx="8540034" cy="3953551"/>
        </p:xfrm>
        <a:graphic>
          <a:graphicData uri="http://schemas.openxmlformats.org/drawingml/2006/table">
            <a:tbl>
              <a:tblPr bandRow="1">
                <a:tableStyleId>{5C22544A-7EE6-4342-B048-85BDC9FD1C3A}</a:tableStyleId>
              </a:tblPr>
              <a:tblGrid>
                <a:gridCol w="915042">
                  <a:extLst>
                    <a:ext uri="{9D8B030D-6E8A-4147-A177-3AD203B41FA5}">
                      <a16:colId xmlns:a16="http://schemas.microsoft.com/office/drawing/2014/main" val="891321664"/>
                    </a:ext>
                  </a:extLst>
                </a:gridCol>
                <a:gridCol w="767906">
                  <a:extLst>
                    <a:ext uri="{9D8B030D-6E8A-4147-A177-3AD203B41FA5}">
                      <a16:colId xmlns:a16="http://schemas.microsoft.com/office/drawing/2014/main" val="1342703540"/>
                    </a:ext>
                  </a:extLst>
                </a:gridCol>
                <a:gridCol w="670566">
                  <a:extLst>
                    <a:ext uri="{9D8B030D-6E8A-4147-A177-3AD203B41FA5}">
                      <a16:colId xmlns:a16="http://schemas.microsoft.com/office/drawing/2014/main" val="3873714770"/>
                    </a:ext>
                  </a:extLst>
                </a:gridCol>
                <a:gridCol w="618652">
                  <a:extLst>
                    <a:ext uri="{9D8B030D-6E8A-4147-A177-3AD203B41FA5}">
                      <a16:colId xmlns:a16="http://schemas.microsoft.com/office/drawing/2014/main" val="1327341119"/>
                    </a:ext>
                  </a:extLst>
                </a:gridCol>
                <a:gridCol w="618652">
                  <a:extLst>
                    <a:ext uri="{9D8B030D-6E8A-4147-A177-3AD203B41FA5}">
                      <a16:colId xmlns:a16="http://schemas.microsoft.com/office/drawing/2014/main" val="683729135"/>
                    </a:ext>
                  </a:extLst>
                </a:gridCol>
                <a:gridCol w="618652">
                  <a:extLst>
                    <a:ext uri="{9D8B030D-6E8A-4147-A177-3AD203B41FA5}">
                      <a16:colId xmlns:a16="http://schemas.microsoft.com/office/drawing/2014/main" val="3051008585"/>
                    </a:ext>
                  </a:extLst>
                </a:gridCol>
                <a:gridCol w="618652">
                  <a:extLst>
                    <a:ext uri="{9D8B030D-6E8A-4147-A177-3AD203B41FA5}">
                      <a16:colId xmlns:a16="http://schemas.microsoft.com/office/drawing/2014/main" val="1996858496"/>
                    </a:ext>
                  </a:extLst>
                </a:gridCol>
                <a:gridCol w="618652">
                  <a:extLst>
                    <a:ext uri="{9D8B030D-6E8A-4147-A177-3AD203B41FA5}">
                      <a16:colId xmlns:a16="http://schemas.microsoft.com/office/drawing/2014/main" val="3460069655"/>
                    </a:ext>
                  </a:extLst>
                </a:gridCol>
                <a:gridCol w="618652">
                  <a:extLst>
                    <a:ext uri="{9D8B030D-6E8A-4147-A177-3AD203B41FA5}">
                      <a16:colId xmlns:a16="http://schemas.microsoft.com/office/drawing/2014/main" val="3877370786"/>
                    </a:ext>
                  </a:extLst>
                </a:gridCol>
                <a:gridCol w="618652">
                  <a:extLst>
                    <a:ext uri="{9D8B030D-6E8A-4147-A177-3AD203B41FA5}">
                      <a16:colId xmlns:a16="http://schemas.microsoft.com/office/drawing/2014/main" val="3024802905"/>
                    </a:ext>
                  </a:extLst>
                </a:gridCol>
                <a:gridCol w="618652">
                  <a:extLst>
                    <a:ext uri="{9D8B030D-6E8A-4147-A177-3AD203B41FA5}">
                      <a16:colId xmlns:a16="http://schemas.microsoft.com/office/drawing/2014/main" val="1206229410"/>
                    </a:ext>
                  </a:extLst>
                </a:gridCol>
                <a:gridCol w="618652">
                  <a:extLst>
                    <a:ext uri="{9D8B030D-6E8A-4147-A177-3AD203B41FA5}">
                      <a16:colId xmlns:a16="http://schemas.microsoft.com/office/drawing/2014/main" val="4178082461"/>
                    </a:ext>
                  </a:extLst>
                </a:gridCol>
                <a:gridCol w="618652">
                  <a:extLst>
                    <a:ext uri="{9D8B030D-6E8A-4147-A177-3AD203B41FA5}">
                      <a16:colId xmlns:a16="http://schemas.microsoft.com/office/drawing/2014/main" val="4038724115"/>
                    </a:ext>
                  </a:extLst>
                </a:gridCol>
              </a:tblGrid>
              <a:tr h="418160">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endParaRPr lang="en-US" sz="1000" b="1" i="1" kern="1200">
                        <a:solidFill>
                          <a:schemeClr val="tx1"/>
                        </a:solidFill>
                        <a:latin typeface="+mn-lt"/>
                        <a:ea typeface="+mn-ea"/>
                        <a:cs typeface="+mn-cs"/>
                      </a:endParaRPr>
                    </a:p>
                  </a:txBody>
                  <a:tcPr marL="48000" marR="48000" marT="48000" marB="48000" anchor="ctr">
                    <a:noFill/>
                  </a:tcPr>
                </a:tc>
                <a:tc>
                  <a:txBody>
                    <a:bodyPr/>
                    <a:lstStyle/>
                    <a:p>
                      <a:pPr algn="ctr"/>
                      <a:endParaRPr lang="en-US" sz="1000">
                        <a:solidFill>
                          <a:schemeClr val="tx1"/>
                        </a:solidFill>
                      </a:endParaRPr>
                    </a:p>
                  </a:txBody>
                  <a:tcPr marL="0" marR="0" anchor="ctr">
                    <a:lnB w="28575" cap="flat" cmpd="sng" algn="ctr">
                      <a:no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B w="28575" cap="flat" cmpd="sng" algn="ctr">
                      <a:noFill/>
                      <a:prstDash val="solid"/>
                      <a:round/>
                      <a:headEnd type="none" w="med" len="med"/>
                      <a:tailEnd type="none" w="med" len="med"/>
                    </a:lnB>
                    <a:noFill/>
                  </a:tcPr>
                </a:tc>
                <a:tc>
                  <a:txBody>
                    <a:bodyPr/>
                    <a:lstStyle/>
                    <a:p>
                      <a:pPr algn="ctr"/>
                      <a:r>
                        <a:rPr lang="en-US" sz="1000" b="1">
                          <a:solidFill>
                            <a:schemeClr val="tx1"/>
                          </a:solidFill>
                        </a:rPr>
                        <a:t>MX</a:t>
                      </a:r>
                    </a:p>
                  </a:txBody>
                  <a:tcPr anchor="ctr">
                    <a:lnR w="12700" cap="flat" cmpd="sng" algn="ctr">
                      <a:solidFill>
                        <a:schemeClr val="bg1">
                          <a:lumMod val="95000"/>
                        </a:schemeClr>
                      </a:solidFill>
                      <a:prstDash val="sysDot"/>
                      <a:round/>
                      <a:headEnd type="none" w="med" len="med"/>
                      <a:tailEnd type="none" w="med" len="med"/>
                    </a:lnR>
                    <a:noFill/>
                  </a:tcPr>
                </a:tc>
                <a:tc>
                  <a:txBody>
                    <a:bodyPr/>
                    <a:lstStyle/>
                    <a:p>
                      <a:pPr algn="ctr"/>
                      <a:r>
                        <a:rPr lang="en-US" sz="1000" b="1">
                          <a:solidFill>
                            <a:schemeClr val="tx1"/>
                          </a:solidFill>
                        </a:rPr>
                        <a:t>CH</a:t>
                      </a:r>
                    </a:p>
                  </a:txBody>
                  <a:tcPr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noFill/>
                  </a:tcPr>
                </a:tc>
                <a:tc>
                  <a:txBody>
                    <a:bodyPr/>
                    <a:lstStyle/>
                    <a:p>
                      <a:pPr algn="ctr"/>
                      <a:r>
                        <a:rPr lang="en-US" sz="1000" b="1">
                          <a:solidFill>
                            <a:schemeClr val="tx1"/>
                          </a:solidFill>
                        </a:rPr>
                        <a:t>PE</a:t>
                      </a:r>
                    </a:p>
                  </a:txBody>
                  <a:tcPr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noFill/>
                  </a:tcPr>
                </a:tc>
                <a:tc gridSpan="3">
                  <a:txBody>
                    <a:bodyPr/>
                    <a:lstStyle/>
                    <a:p>
                      <a:pPr algn="ctr"/>
                      <a:r>
                        <a:rPr lang="en-US" sz="1000" b="1">
                          <a:solidFill>
                            <a:schemeClr val="tx1"/>
                          </a:solidFill>
                        </a:rPr>
                        <a:t>ECR</a:t>
                      </a:r>
                    </a:p>
                  </a:txBody>
                  <a:tcPr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noFill/>
                  </a:tcPr>
                </a:tc>
                <a:tc hMerge="1">
                  <a:txBody>
                    <a:bodyPr/>
                    <a:lstStyle/>
                    <a:p>
                      <a:pPr algn="ctr"/>
                      <a:endParaRPr lang="en-US" sz="1000">
                        <a:solidFill>
                          <a:schemeClr val="tx1"/>
                        </a:solidFill>
                      </a:endParaRPr>
                    </a:p>
                  </a:txBody>
                  <a:tcPr anchor="ctr"/>
                </a:tc>
                <a:tc hMerge="1">
                  <a:txBody>
                    <a:bodyPr/>
                    <a:lstStyle/>
                    <a:p>
                      <a:pPr algn="ctr"/>
                      <a:endParaRPr lang="en-US" sz="1000">
                        <a:solidFill>
                          <a:schemeClr val="tx1"/>
                        </a:solidFill>
                      </a:endParaRPr>
                    </a:p>
                  </a:txBody>
                  <a:tcPr anchor="ctr"/>
                </a:tc>
                <a:tc gridSpan="2">
                  <a:txBody>
                    <a:bodyPr/>
                    <a:lstStyle/>
                    <a:p>
                      <a:pPr algn="ctr"/>
                      <a:r>
                        <a:rPr lang="en-US" sz="1000" b="1">
                          <a:solidFill>
                            <a:schemeClr val="tx1"/>
                          </a:solidFill>
                        </a:rPr>
                        <a:t>DR</a:t>
                      </a:r>
                    </a:p>
                  </a:txBody>
                  <a:tcPr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noFill/>
                  </a:tcPr>
                </a:tc>
                <a:tc hMerge="1">
                  <a:txBody>
                    <a:bodyPr/>
                    <a:lstStyle/>
                    <a:p>
                      <a:pPr algn="ctr"/>
                      <a:endParaRPr lang="en-US" sz="1000">
                        <a:solidFill>
                          <a:schemeClr val="tx1"/>
                        </a:solidFill>
                      </a:endParaRPr>
                    </a:p>
                  </a:txBody>
                  <a:tcPr anchor="ctr"/>
                </a:tc>
                <a:tc gridSpan="2">
                  <a:txBody>
                    <a:bodyPr/>
                    <a:lstStyle/>
                    <a:p>
                      <a:pPr algn="ctr"/>
                      <a:r>
                        <a:rPr lang="en-US" sz="1000" b="1">
                          <a:solidFill>
                            <a:schemeClr val="tx1"/>
                          </a:solidFill>
                        </a:rPr>
                        <a:t>UY</a:t>
                      </a:r>
                    </a:p>
                  </a:txBody>
                  <a:tcPr anchor="ctr">
                    <a:lnL w="12700" cap="flat" cmpd="sng" algn="ctr">
                      <a:solidFill>
                        <a:schemeClr val="bg1">
                          <a:lumMod val="95000"/>
                        </a:schemeClr>
                      </a:solidFill>
                      <a:prstDash val="sysDot"/>
                      <a:round/>
                      <a:headEnd type="none" w="med" len="med"/>
                      <a:tailEnd type="none" w="med" len="med"/>
                    </a:lnL>
                    <a:noFill/>
                  </a:tcPr>
                </a:tc>
                <a:tc hMerge="1">
                  <a:txBody>
                    <a:bodyPr/>
                    <a:lstStyle/>
                    <a:p>
                      <a:pPr algn="ctr"/>
                      <a:endParaRPr lang="en-US" sz="1000">
                        <a:solidFill>
                          <a:schemeClr val="tx1"/>
                        </a:solidFill>
                      </a:endParaRPr>
                    </a:p>
                  </a:txBody>
                  <a:tcPr anchor="ctr"/>
                </a:tc>
                <a:extLst>
                  <a:ext uri="{0D108BD9-81ED-4DB2-BD59-A6C34878D82A}">
                    <a16:rowId xmlns:a16="http://schemas.microsoft.com/office/drawing/2014/main" val="3337021839"/>
                  </a:ext>
                </a:extLst>
              </a:tr>
              <a:tr h="446801">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endParaRPr lang="en-US" sz="1000" b="1" i="1" kern="1200">
                        <a:solidFill>
                          <a:schemeClr val="tx1"/>
                        </a:solidFill>
                        <a:latin typeface="+mn-lt"/>
                        <a:ea typeface="+mn-ea"/>
                        <a:cs typeface="+mn-cs"/>
                      </a:endParaRPr>
                    </a:p>
                  </a:txBody>
                  <a:tcPr marL="48000" marR="48000" marT="48000" marB="48000" anchor="ctr">
                    <a:noFill/>
                  </a:tcPr>
                </a:tc>
                <a:tc>
                  <a:txBody>
                    <a:bodyPr/>
                    <a:lstStyle/>
                    <a:p>
                      <a:pPr algn="ctr"/>
                      <a:r>
                        <a:rPr lang="en-US" sz="1000">
                          <a:solidFill>
                            <a:schemeClr val="tx1"/>
                          </a:solidFill>
                        </a:rPr>
                        <a:t>Benchmark</a:t>
                      </a:r>
                    </a:p>
                  </a:txBody>
                  <a:tcPr marL="0" marR="0" anchor="ctr">
                    <a:lnT w="28575" cap="flat" cmpd="sng" algn="ctr">
                      <a:noFill/>
                      <a:prstDash val="solid"/>
                      <a:round/>
                      <a:headEnd type="none" w="med" len="med"/>
                      <a:tailEnd type="none" w="med" len="med"/>
                    </a:lnT>
                    <a:lnB w="12700" cap="flat" cmpd="sng" algn="ctr">
                      <a:solidFill>
                        <a:srgbClr val="EC111A"/>
                      </a:solidFill>
                      <a:prstDash val="solid"/>
                      <a:round/>
                      <a:headEnd type="none" w="med" len="med"/>
                      <a:tailEnd type="none" w="med" len="med"/>
                    </a:lnB>
                    <a:solidFill>
                      <a:srgbClr val="FAF7F4"/>
                    </a:solidFill>
                  </a:tcPr>
                </a:tc>
                <a:tc>
                  <a:txBody>
                    <a:bodyPr/>
                    <a:lstStyle/>
                    <a:p>
                      <a:pPr algn="ctr"/>
                      <a:r>
                        <a:rPr lang="en-US" sz="1000">
                          <a:solidFill>
                            <a:schemeClr val="tx1"/>
                          </a:solidFill>
                        </a:rPr>
                        <a:t>IB Total / </a:t>
                      </a:r>
                      <a:br>
                        <a:rPr lang="en-US" sz="1000">
                          <a:solidFill>
                            <a:srgbClr val="000000"/>
                          </a:solidFill>
                        </a:rPr>
                      </a:br>
                      <a:r>
                        <a:rPr lang="en-US" sz="1000">
                          <a:solidFill>
                            <a:schemeClr val="tx1"/>
                          </a:solidFill>
                        </a:rPr>
                        <a:t>Average</a:t>
                      </a:r>
                    </a:p>
                  </a:txBody>
                  <a:tcPr marL="0" marR="0" anchor="ctr">
                    <a:lnT w="28575" cap="flat" cmpd="sng" algn="ctr">
                      <a:noFill/>
                      <a:prstDash val="solid"/>
                      <a:round/>
                      <a:headEnd type="none" w="med" len="med"/>
                      <a:tailEnd type="none" w="med" len="med"/>
                    </a:lnT>
                    <a:lnB w="12700" cap="flat" cmpd="sng" algn="ctr">
                      <a:solidFill>
                        <a:srgbClr val="EC111A"/>
                      </a:solidFill>
                      <a:prstDash val="solid"/>
                      <a:round/>
                      <a:headEnd type="none" w="med" len="med"/>
                      <a:tailEnd type="none" w="med" len="med"/>
                    </a:lnB>
                    <a:solidFill>
                      <a:srgbClr val="F5EFE8"/>
                    </a:solidFill>
                  </a:tcPr>
                </a:tc>
                <a:tc>
                  <a:txBody>
                    <a:bodyPr/>
                    <a:lstStyle/>
                    <a:p>
                      <a:pPr algn="ctr"/>
                      <a:endParaRPr lang="en-US" sz="1000">
                        <a:solidFill>
                          <a:schemeClr val="tx1"/>
                        </a:solidFill>
                      </a:endParaRPr>
                    </a:p>
                  </a:txBody>
                  <a:tcPr marL="0" marR="0" anchor="ctr">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B w="12700" cap="flat" cmpd="sng" algn="ctr">
                      <a:solidFill>
                        <a:srgbClr val="EC111A"/>
                      </a:solidFill>
                      <a:prstDash val="solid"/>
                      <a:round/>
                      <a:headEnd type="none" w="med" len="med"/>
                      <a:tailEnd type="none" w="med" len="med"/>
                    </a:lnB>
                    <a:noFill/>
                  </a:tcPr>
                </a:tc>
                <a:tc>
                  <a:txBody>
                    <a:bodyPr/>
                    <a:lstStyle/>
                    <a:p>
                      <a:pPr algn="ctr"/>
                      <a:endParaRPr lang="en-US" sz="1000">
                        <a:solidFill>
                          <a:schemeClr val="tx1"/>
                        </a:solidFill>
                      </a:endParaRPr>
                    </a:p>
                  </a:txBody>
                  <a:tcPr marL="0" marR="0" anchor="ctr">
                    <a:lnL w="12700" cap="flat" cmpd="sng" algn="ctr">
                      <a:solidFill>
                        <a:schemeClr val="bg1">
                          <a:lumMod val="95000"/>
                        </a:schemeClr>
                      </a:solidFill>
                      <a:prstDash val="sysDot"/>
                      <a:round/>
                      <a:headEnd type="none" w="med" len="med"/>
                      <a:tailEnd type="none" w="med" len="med"/>
                    </a:lnL>
                    <a:lnB w="12700" cap="flat" cmpd="sng" algn="ctr">
                      <a:solidFill>
                        <a:srgbClr val="EC111A"/>
                      </a:solidFill>
                      <a:prstDash val="solid"/>
                      <a:round/>
                      <a:headEnd type="none" w="med" len="med"/>
                      <a:tailEnd type="none" w="med" len="med"/>
                    </a:lnB>
                    <a:noFill/>
                  </a:tcPr>
                </a:tc>
                <a:extLst>
                  <a:ext uri="{0D108BD9-81ED-4DB2-BD59-A6C34878D82A}">
                    <a16:rowId xmlns:a16="http://schemas.microsoft.com/office/drawing/2014/main" val="626747454"/>
                  </a:ext>
                </a:extLst>
              </a:tr>
              <a:tr h="617718">
                <a:tc>
                  <a:txBody>
                    <a:bodyPr/>
                    <a:lstStyle/>
                    <a:p>
                      <a:pPr marL="0" marR="0" lvl="0" indent="0" algn="l" defTabSz="685783" rtl="0" eaLnBrk="1" fontAlgn="auto" latinLnBrk="0" hangingPunct="1">
                        <a:lnSpc>
                          <a:spcPct val="100000"/>
                        </a:lnSpc>
                        <a:spcBef>
                          <a:spcPts val="0"/>
                        </a:spcBef>
                        <a:spcAft>
                          <a:spcPts val="0"/>
                        </a:spcAft>
                        <a:buClrTx/>
                        <a:buSzTx/>
                        <a:buFontTx/>
                        <a:buNone/>
                        <a:tabLst/>
                        <a:defRPr/>
                      </a:pPr>
                      <a:r>
                        <a:rPr lang="en-US" sz="1000" b="1">
                          <a:solidFill>
                            <a:schemeClr val="tx1"/>
                          </a:solidFill>
                        </a:rPr>
                        <a:t>Total Loyalty Cost</a:t>
                      </a:r>
                      <a:r>
                        <a:rPr lang="en-US" sz="1000" b="1" baseline="30000">
                          <a:solidFill>
                            <a:schemeClr val="tx1"/>
                          </a:solidFill>
                        </a:rPr>
                        <a:t>3</a:t>
                      </a:r>
                    </a:p>
                    <a:p>
                      <a:pPr marL="0" marR="0" lvl="0" indent="0" algn="l" defTabSz="685783" rtl="0" eaLnBrk="1" fontAlgn="auto" latinLnBrk="0" hangingPunct="1">
                        <a:lnSpc>
                          <a:spcPct val="100000"/>
                        </a:lnSpc>
                        <a:spcBef>
                          <a:spcPts val="0"/>
                        </a:spcBef>
                        <a:spcAft>
                          <a:spcPts val="0"/>
                        </a:spcAft>
                        <a:buClrTx/>
                        <a:buSzTx/>
                        <a:buFontTx/>
                        <a:buNone/>
                        <a:tabLst/>
                        <a:defRPr/>
                      </a:pPr>
                      <a:r>
                        <a:rPr lang="en-US" sz="1000" b="0" i="0" kern="1200">
                          <a:solidFill>
                            <a:schemeClr val="tx1"/>
                          </a:solidFill>
                          <a:latin typeface="+mn-lt"/>
                          <a:ea typeface="+mn-ea"/>
                          <a:cs typeface="+mn-cs"/>
                        </a:rPr>
                        <a:t>$ CAD</a:t>
                      </a:r>
                    </a:p>
                  </a:txBody>
                  <a:tcPr marL="48000" marR="48000" marT="48000" marB="48000" anchor="ctr">
                    <a:lnB w="28575" cap="flat" cmpd="sng" algn="ctr">
                      <a:solidFill>
                        <a:schemeClr val="bg1"/>
                      </a:solidFill>
                      <a:prstDash val="solid"/>
                      <a:round/>
                      <a:headEnd type="none" w="med" len="med"/>
                      <a:tailEnd type="none" w="med" len="med"/>
                    </a:lnB>
                    <a:solidFill>
                      <a:srgbClr val="D8D6CA"/>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a:t>
                      </a:r>
                    </a:p>
                  </a:txBody>
                  <a:tcPr marL="48000" marR="48000" marT="48000" marB="48000" anchor="ct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AF7F4"/>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$150M</a:t>
                      </a:r>
                    </a:p>
                  </a:txBody>
                  <a:tcPr marL="48000" marR="48000" marT="48000" marB="48000" anchor="ct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5EFE8"/>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$14M</a:t>
                      </a:r>
                    </a:p>
                  </a:txBody>
                  <a:tcPr marL="48000" marR="48000" marT="48000" marB="48000" anchor="ctr">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a:t>
                      </a:r>
                      <a:r>
                        <a:rPr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24M</a:t>
                      </a:r>
                      <a:endPar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endParaRP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$28M</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ctr" rtl="0"/>
                      <a:r>
                        <a:rPr lang="en-US" sz="1000" b="0">
                          <a:solidFill>
                            <a:schemeClr val="tx1"/>
                          </a:solidFill>
                          <a:latin typeface="Scotia" panose="020B0503020203020204" pitchFamily="34" charset="0"/>
                          <a:ea typeface="Scotia" panose="020B0503020203020204" pitchFamily="34" charset="0"/>
                        </a:rPr>
                        <a:t>$23M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ctr" rtl="0"/>
                      <a:r>
                        <a:rPr lang="en-US" sz="1000" b="0">
                          <a:solidFill>
                            <a:schemeClr val="tx1"/>
                          </a:solidFill>
                          <a:latin typeface="Scotia" panose="020B0503020203020204" pitchFamily="34" charset="0"/>
                          <a:ea typeface="Scotia" panose="020B0503020203020204" pitchFamily="34" charset="0"/>
                        </a:rPr>
                        <a:t>$0.4M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$17M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$8M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$10M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$2M</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$0.4M</a:t>
                      </a:r>
                    </a:p>
                  </a:txBody>
                  <a:tcPr marL="48000" marR="48000" marT="48000" marB="48000" anchor="ctr">
                    <a:lnL w="12700" cap="flat" cmpd="sng" algn="ctr">
                      <a:solidFill>
                        <a:schemeClr val="bg1">
                          <a:lumMod val="95000"/>
                        </a:schemeClr>
                      </a:solidFill>
                      <a:prstDash val="sysDot"/>
                      <a:round/>
                      <a:headEnd type="none" w="med" len="med"/>
                      <a:tailEnd type="none" w="med" len="med"/>
                    </a:lnL>
                    <a:lnT w="12700" cap="flat" cmpd="sng" algn="ctr">
                      <a:solidFill>
                        <a:srgbClr val="EC111A"/>
                      </a:solidFill>
                      <a:prstDash val="solid"/>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746788766"/>
                  </a:ext>
                </a:extLst>
              </a:tr>
              <a:tr h="617718">
                <a:tc>
                  <a:txBody>
                    <a:bodyPr/>
                    <a:lstStyle/>
                    <a:p>
                      <a:pPr algn="l">
                        <a:lnSpc>
                          <a:spcPct val="80000"/>
                        </a:lnSpc>
                      </a:pPr>
                      <a:r>
                        <a:rPr lang="en-US" sz="1000" b="1" i="0">
                          <a:solidFill>
                            <a:schemeClr val="tx1"/>
                          </a:solidFill>
                        </a:rPr>
                        <a:t>Cost per Card</a:t>
                      </a:r>
                    </a:p>
                    <a:p>
                      <a:pPr algn="l">
                        <a:lnSpc>
                          <a:spcPct val="80000"/>
                        </a:lnSpc>
                      </a:pPr>
                      <a:r>
                        <a:rPr lang="en-US" sz="1000" b="0" i="0">
                          <a:solidFill>
                            <a:schemeClr val="tx1"/>
                          </a:solidFill>
                        </a:rPr>
                        <a:t>$CAD</a:t>
                      </a:r>
                    </a:p>
                  </a:txBody>
                  <a:tcPr marL="48000" marR="48000" marT="48000" marB="48000" anchor="ct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D8D6CA"/>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AF7F4"/>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$83</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5EFE8"/>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$41</a:t>
                      </a:r>
                    </a:p>
                  </a:txBody>
                  <a:tcPr marL="48000" marR="48000" marT="48000" marB="48000" anchor="ctr">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a:t>
                      </a:r>
                      <a:r>
                        <a:rPr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100</a:t>
                      </a:r>
                      <a:endParaRPr kumimoji="0"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endParaRP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$132</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$178</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$146</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$210</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$57</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$127</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$21</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$23</a:t>
                      </a:r>
                    </a:p>
                  </a:txBody>
                  <a:tcPr marL="48000" marR="48000" marT="48000" marB="48000" anchor="ctr">
                    <a:lnL w="12700" cap="flat" cmpd="sng" algn="ctr">
                      <a:solidFill>
                        <a:schemeClr val="bg1">
                          <a:lumMod val="95000"/>
                        </a:schemeClr>
                      </a:solid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547862578"/>
                  </a:ext>
                </a:extLst>
              </a:tr>
              <a:tr h="617718">
                <a:tc>
                  <a:txBody>
                    <a:bodyPr/>
                    <a:lstStyle/>
                    <a:p>
                      <a:pPr algn="l">
                        <a:lnSpc>
                          <a:spcPct val="80000"/>
                        </a:lnSpc>
                      </a:pPr>
                      <a:r>
                        <a:rPr lang="en-US" sz="1000" b="1">
                          <a:solidFill>
                            <a:schemeClr val="tx1"/>
                          </a:solidFill>
                        </a:rPr>
                        <a:t>Cost / Spend, </a:t>
                      </a:r>
                      <a:r>
                        <a:rPr lang="en-US" sz="1000" b="0">
                          <a:solidFill>
                            <a:schemeClr val="tx1"/>
                          </a:solidFill>
                        </a:rPr>
                        <a:t>%</a:t>
                      </a:r>
                    </a:p>
                  </a:txBody>
                  <a:tcPr marL="48000" marR="48000" marT="48000" marB="48000" anchor="ct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D8D6CA"/>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0.5%-2.5%</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AF7F4"/>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1.0%</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5EFE8"/>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0.6%</a:t>
                      </a:r>
                    </a:p>
                  </a:txBody>
                  <a:tcPr marL="48000" marR="48000" marT="48000" marB="48000" anchor="ctr">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1.0%</a:t>
                      </a:r>
                      <a:endPar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endParaRP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2.6%</a:t>
                      </a:r>
                      <a:endParaRPr kumimoji="0" lang="en-US" sz="1000" b="0" i="0" u="none" strike="noStrike" kern="1200" cap="none" spc="0" normalizeH="0" baseline="30000" noProof="0">
                        <a:ln>
                          <a:noFill/>
                        </a:ln>
                        <a:solidFill>
                          <a:schemeClr val="tx1"/>
                        </a:solidFill>
                        <a:effectLst/>
                        <a:uLnTx/>
                        <a:uFillTx/>
                        <a:latin typeface="Scotia" panose="020B0503020203020204" pitchFamily="34" charset="0"/>
                        <a:ea typeface="Scotia" panose="020B0503020203020204" pitchFamily="34" charset="0"/>
                        <a:cs typeface="+mn-cs"/>
                      </a:endParaRP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0.6%</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0.8%</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1.5%</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1.2%</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0.7%</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0.4%</a:t>
                      </a:r>
                    </a:p>
                  </a:txBody>
                  <a:tcPr marL="48000" marR="48000" marT="48000" marB="48000" anchor="ctr">
                    <a:lnL w="12700" cap="flat" cmpd="sng" algn="ctr">
                      <a:solidFill>
                        <a:schemeClr val="bg1">
                          <a:lumMod val="95000"/>
                        </a:schemeClr>
                      </a:solid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032396165"/>
                  </a:ext>
                </a:extLst>
              </a:tr>
              <a:tr h="617718">
                <a:tc>
                  <a:txBody>
                    <a:bodyPr/>
                    <a:lstStyle/>
                    <a:p>
                      <a:pPr algn="l"/>
                      <a:r>
                        <a:rPr lang="en-US" sz="1000" b="1">
                          <a:solidFill>
                            <a:schemeClr val="tx1"/>
                          </a:solidFill>
                        </a:rPr>
                        <a:t>Engagement rate</a:t>
                      </a:r>
                      <a:r>
                        <a:rPr lang="en-US" sz="1000" b="1" baseline="30000">
                          <a:solidFill>
                            <a:schemeClr val="tx1"/>
                          </a:solidFill>
                        </a:rPr>
                        <a:t>4</a:t>
                      </a:r>
                      <a:r>
                        <a:rPr lang="en-US" sz="1000" b="1">
                          <a:solidFill>
                            <a:schemeClr val="tx1"/>
                          </a:solidFill>
                        </a:rPr>
                        <a:t>, </a:t>
                      </a:r>
                      <a:r>
                        <a:rPr lang="en-US" sz="1000" b="0">
                          <a:solidFill>
                            <a:schemeClr val="tx1"/>
                          </a:solidFill>
                        </a:rPr>
                        <a:t>%</a:t>
                      </a:r>
                    </a:p>
                  </a:txBody>
                  <a:tcPr marL="48000" marR="48000" marT="48000" marB="48000" anchor="ct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D8D6CA"/>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50%-60%</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AF7F4"/>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18%</a:t>
                      </a:r>
                    </a:p>
                  </a:txBody>
                  <a:tcPr marL="48000" marR="48000" marT="48000" marB="4800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solidFill>
                      <a:srgbClr val="F5EFE8"/>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19%</a:t>
                      </a:r>
                    </a:p>
                  </a:txBody>
                  <a:tcPr marL="48000" marR="48000" marT="48000" marB="48000" anchor="ctr">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44</a:t>
                      </a:r>
                      <a:r>
                        <a:rPr kumimoji="0"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15%</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ctr" rtl="0"/>
                      <a:r>
                        <a:rPr lang="en-US" sz="1000" b="0">
                          <a:solidFill>
                            <a:schemeClr val="tx1"/>
                          </a:solidFill>
                          <a:latin typeface="Scotia" panose="020B0503020203020204" pitchFamily="34" charset="0"/>
                          <a:ea typeface="Scotia" panose="020B0503020203020204" pitchFamily="34" charset="0"/>
                        </a:rPr>
                        <a:t>10%</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ctr" rtl="0"/>
                      <a:r>
                        <a:rPr lang="en-US" sz="1000" b="0">
                          <a:solidFill>
                            <a:schemeClr val="tx1"/>
                          </a:solidFill>
                          <a:latin typeface="Scotia" panose="020B0503020203020204" pitchFamily="34" charset="0"/>
                          <a:ea typeface="Scotia" panose="020B0503020203020204" pitchFamily="34" charset="0"/>
                        </a:rPr>
                        <a:t>9%</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chemeClr val="bg1">
                              <a:lumMod val="75000"/>
                            </a:schemeClr>
                          </a:solidFill>
                          <a:effectLst/>
                          <a:uLnTx/>
                          <a:uFillTx/>
                          <a:latin typeface="Scotia" panose="020B0503020203020204" pitchFamily="34" charset="0"/>
                          <a:ea typeface="Scotia" panose="020B0503020203020204" pitchFamily="34" charset="0"/>
                          <a:cs typeface="+mn-cs"/>
                        </a:rPr>
                        <a:t>N/A</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7%</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6%</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13%</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13%</a:t>
                      </a:r>
                    </a:p>
                  </a:txBody>
                  <a:tcPr marL="48000" marR="48000" marT="48000" marB="48000" anchor="ctr">
                    <a:lnL w="12700" cap="flat" cmpd="sng" algn="ctr">
                      <a:solidFill>
                        <a:schemeClr val="bg1">
                          <a:lumMod val="95000"/>
                        </a:schemeClr>
                      </a:solid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292097203"/>
                  </a:ext>
                </a:extLst>
              </a:tr>
              <a:tr h="617718">
                <a:tc>
                  <a:txBody>
                    <a:bodyPr/>
                    <a:lstStyle/>
                    <a:p>
                      <a:pPr algn="l"/>
                      <a:r>
                        <a:rPr lang="en-US" sz="1000" b="1">
                          <a:solidFill>
                            <a:schemeClr val="tx1"/>
                          </a:solidFill>
                        </a:rPr>
                        <a:t>Redemption rate</a:t>
                      </a:r>
                      <a:r>
                        <a:rPr lang="en-US" sz="1000" b="1" baseline="30000">
                          <a:solidFill>
                            <a:schemeClr val="tx1"/>
                          </a:solidFill>
                        </a:rPr>
                        <a:t>5</a:t>
                      </a:r>
                      <a:r>
                        <a:rPr lang="en-US" sz="1000" b="1">
                          <a:solidFill>
                            <a:schemeClr val="tx1"/>
                          </a:solidFill>
                        </a:rPr>
                        <a:t>, </a:t>
                      </a:r>
                      <a:r>
                        <a:rPr lang="en-US" sz="1000" b="0">
                          <a:solidFill>
                            <a:schemeClr val="tx1"/>
                          </a:solidFill>
                        </a:rPr>
                        <a:t>%</a:t>
                      </a:r>
                      <a:endParaRPr lang="en-US" sz="1000" b="0" i="1">
                        <a:solidFill>
                          <a:schemeClr val="tx1"/>
                        </a:solidFill>
                      </a:endParaRPr>
                    </a:p>
                  </a:txBody>
                  <a:tcPr marL="48000" marR="48000" marT="48000" marB="48000" anchor="ctr">
                    <a:lnT w="28575" cap="flat" cmpd="sng" algn="ctr">
                      <a:solidFill>
                        <a:schemeClr val="bg1"/>
                      </a:solidFill>
                      <a:prstDash val="solid"/>
                      <a:round/>
                      <a:headEnd type="none" w="med" len="med"/>
                      <a:tailEnd type="none" w="med" len="med"/>
                    </a:lnT>
                    <a:solidFill>
                      <a:srgbClr val="D8D6CA"/>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70%-80%</a:t>
                      </a:r>
                    </a:p>
                  </a:txBody>
                  <a:tcPr marL="48000" marR="48000" marT="48000" marB="48000" anchor="ctr">
                    <a:lnT w="12700" cap="flat" cmpd="sng" algn="ctr">
                      <a:solidFill>
                        <a:schemeClr val="bg1">
                          <a:lumMod val="85000"/>
                        </a:schemeClr>
                      </a:solidFill>
                      <a:prstDash val="sysDot"/>
                      <a:round/>
                      <a:headEnd type="none" w="med" len="med"/>
                      <a:tailEnd type="none" w="med" len="med"/>
                    </a:lnT>
                    <a:solidFill>
                      <a:srgbClr val="FAF7F4"/>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72%</a:t>
                      </a:r>
                    </a:p>
                  </a:txBody>
                  <a:tcPr marL="48000" marR="48000" marT="48000" marB="48000" anchor="ctr">
                    <a:lnT w="12700" cap="flat" cmpd="sng" algn="ctr">
                      <a:solidFill>
                        <a:schemeClr val="bg1">
                          <a:lumMod val="85000"/>
                        </a:schemeClr>
                      </a:solidFill>
                      <a:prstDash val="sysDot"/>
                      <a:round/>
                      <a:headEnd type="none" w="med" len="med"/>
                      <a:tailEnd type="none" w="med" len="med"/>
                    </a:lnT>
                    <a:solidFill>
                      <a:srgbClr val="F5EFE8"/>
                    </a:solid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51%</a:t>
                      </a:r>
                    </a:p>
                  </a:txBody>
                  <a:tcPr marL="48000" marR="48000" marT="48000" marB="48000" anchor="ctr">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87</a:t>
                      </a:r>
                      <a:r>
                        <a:rPr kumimoji="0" lang="en-US" sz="1000" b="0" i="0" u="none" strike="noStrike" kern="1200" cap="none" spc="0" normalizeH="0" baseline="0" noProof="0">
                          <a:ln>
                            <a:noFill/>
                          </a:ln>
                          <a:solidFill>
                            <a:schemeClr val="tx1"/>
                          </a:solidFill>
                          <a:effectLst/>
                          <a:uLnTx/>
                          <a:uFillTx/>
                          <a:latin typeface="Scotia"/>
                          <a:ea typeface="Scotia" panose="020B0503020203020204" pitchFamily="34" charset="0"/>
                          <a:cs typeface="+mn-cs"/>
                        </a:rPr>
                        <a:t>%</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89%</a:t>
                      </a:r>
                    </a:p>
                  </a:txBody>
                  <a:tcPr marL="0" marR="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71%</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41%</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chemeClr val="bg1">
                              <a:lumMod val="75000"/>
                            </a:schemeClr>
                          </a:solidFill>
                          <a:effectLst/>
                          <a:uLnTx/>
                          <a:uFillTx/>
                          <a:latin typeface="Scotia" panose="020B0503020203020204" pitchFamily="34" charset="0"/>
                          <a:ea typeface="Scotia" panose="020B0503020203020204" pitchFamily="34" charset="0"/>
                          <a:cs typeface="+mn-cs"/>
                        </a:rPr>
                        <a:t>N/A</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89%</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73%</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25%</a:t>
                      </a:r>
                    </a:p>
                  </a:txBody>
                  <a:tcPr marL="48000" marR="48000" marT="48000" marB="48000" anchor="ctr">
                    <a:lnL w="12700" cap="flat" cmpd="sng" algn="ctr">
                      <a:solidFill>
                        <a:schemeClr val="bg1">
                          <a:lumMod val="95000"/>
                        </a:schemeClr>
                      </a:solidFill>
                      <a:prstDash val="sysDot"/>
                      <a:round/>
                      <a:headEnd type="none" w="med" len="med"/>
                      <a:tailEnd type="none" w="med" len="med"/>
                    </a:lnL>
                    <a:lnR w="12700" cap="flat" cmpd="sng" algn="ctr">
                      <a:solidFill>
                        <a:schemeClr val="bg1">
                          <a:lumMod val="95000"/>
                        </a:schemeClr>
                      </a:solidFill>
                      <a:prstDash val="sysDot"/>
                      <a:round/>
                      <a:headEnd type="none" w="med" len="med"/>
                      <a:tailEnd type="none" w="med" len="med"/>
                    </a:lnR>
                    <a:lnT w="12700" cap="flat" cmpd="sng" algn="ctr">
                      <a:solidFill>
                        <a:schemeClr val="bg1">
                          <a:lumMod val="85000"/>
                        </a:schemeClr>
                      </a:solidFill>
                      <a:prstDash val="sysDot"/>
                      <a:round/>
                      <a:headEnd type="none" w="med" len="med"/>
                      <a:tailEnd type="none" w="med" len="med"/>
                    </a:lnT>
                    <a:noFill/>
                  </a:tcPr>
                </a:tc>
                <a:tc>
                  <a:txBody>
                    <a:bodyPr/>
                    <a:lstStyle/>
                    <a:p>
                      <a:pPr marL="0" marR="0" lvl="0" indent="0" algn="ctr" defTabSz="685783"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Scotia" panose="020B0503020203020204" pitchFamily="34" charset="0"/>
                          <a:ea typeface="Scotia" panose="020B0503020203020204" pitchFamily="34" charset="0"/>
                          <a:cs typeface="+mn-cs"/>
                        </a:rPr>
                        <a:t>25%</a:t>
                      </a:r>
                    </a:p>
                  </a:txBody>
                  <a:tcPr marL="48000" marR="48000" marT="48000" marB="48000" anchor="ctr">
                    <a:lnL w="12700" cap="flat" cmpd="sng" algn="ctr">
                      <a:solidFill>
                        <a:schemeClr val="bg1">
                          <a:lumMod val="95000"/>
                        </a:schemeClr>
                      </a:solidFill>
                      <a:prstDash val="sysDot"/>
                      <a:round/>
                      <a:headEnd type="none" w="med" len="med"/>
                      <a:tailEnd type="none" w="med" len="med"/>
                    </a:lnL>
                    <a:lnT w="12700" cap="flat" cmpd="sng" algn="ctr">
                      <a:solidFill>
                        <a:schemeClr val="bg1">
                          <a:lumMod val="85000"/>
                        </a:schemeClr>
                      </a:solidFill>
                      <a:prstDash val="sysDot"/>
                      <a:round/>
                      <a:headEnd type="none" w="med" len="med"/>
                      <a:tailEnd type="none" w="med" len="med"/>
                    </a:lnT>
                    <a:noFill/>
                  </a:tcPr>
                </a:tc>
                <a:extLst>
                  <a:ext uri="{0D108BD9-81ED-4DB2-BD59-A6C34878D82A}">
                    <a16:rowId xmlns:a16="http://schemas.microsoft.com/office/drawing/2014/main" val="3603866671"/>
                  </a:ext>
                </a:extLst>
              </a:tr>
            </a:tbl>
          </a:graphicData>
        </a:graphic>
      </p:graphicFrame>
      <p:sp>
        <p:nvSpPr>
          <p:cNvPr id="11" name="Rectangle 238">
            <a:extLst>
              <a:ext uri="{FF2B5EF4-FFF2-40B4-BE49-F238E27FC236}">
                <a16:creationId xmlns:a16="http://schemas.microsoft.com/office/drawing/2014/main" id="{8F14543D-CD7B-61A9-2CF8-C79EACF39A05}"/>
              </a:ext>
            </a:extLst>
          </p:cNvPr>
          <p:cNvSpPr/>
          <p:nvPr/>
        </p:nvSpPr>
        <p:spPr>
          <a:xfrm>
            <a:off x="9282895" y="1797818"/>
            <a:ext cx="2393166" cy="4182153"/>
          </a:xfrm>
          <a:prstGeom prst="rect">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0000" tIns="144000" rIns="180000" bIns="360000" rtlCol="0" anchor="t"/>
          <a:lstStyle/>
          <a:p>
            <a:pPr marL="0" marR="0" lvl="0" indent="0" algn="ctr" defTabSz="914355" eaLnBrk="1" fontAlgn="auto" latinLnBrk="0" hangingPunct="1">
              <a:lnSpc>
                <a:spcPct val="100000"/>
              </a:lnSpc>
              <a:spcBef>
                <a:spcPts val="600"/>
              </a:spcBef>
              <a:spcAft>
                <a:spcPts val="1200"/>
              </a:spcAft>
              <a:buClrTx/>
              <a:buSzTx/>
              <a:buFontTx/>
              <a:buNone/>
              <a:tabLst/>
              <a:defRPr/>
            </a:pPr>
            <a:r>
              <a:rPr kumimoji="0" lang="en-US" sz="1000" b="1" i="0" u="none" strike="noStrike" kern="1200" cap="none" spc="200" normalizeH="0" baseline="0" noProof="0">
                <a:ln>
                  <a:noFill/>
                </a:ln>
                <a:solidFill>
                  <a:schemeClr val="tx1"/>
                </a:solidFill>
                <a:effectLst/>
                <a:uLnTx/>
                <a:uFillTx/>
                <a:ea typeface="Scotia" panose="020B0503020203020204" pitchFamily="34" charset="0"/>
              </a:rPr>
              <a:t>HIGHLIGHTS</a:t>
            </a:r>
          </a:p>
          <a:p>
            <a:pPr marL="180000" indent="-180000">
              <a:spcAft>
                <a:spcPts val="1200"/>
              </a:spcAft>
              <a:buFont typeface="Arial" panose="020B0604020202020204" pitchFamily="34" charset="0"/>
              <a:buChar char="•"/>
              <a:defRPr/>
            </a:pPr>
            <a:r>
              <a:rPr lang="en-US" sz="1000" b="1">
                <a:solidFill>
                  <a:schemeClr val="tx1"/>
                </a:solidFill>
                <a:ea typeface="Scotia" panose="020B0503020203020204" pitchFamily="34" charset="0"/>
              </a:rPr>
              <a:t>Expensive programs per card</a:t>
            </a:r>
            <a:r>
              <a:rPr lang="en-US" sz="1000">
                <a:solidFill>
                  <a:schemeClr val="tx1"/>
                </a:solidFill>
                <a:ea typeface="Scotia" panose="020B0503020203020204" pitchFamily="34" charset="0"/>
              </a:rPr>
              <a:t> due to </a:t>
            </a:r>
            <a:r>
              <a:rPr lang="en-US" sz="1000" b="1">
                <a:solidFill>
                  <a:schemeClr val="tx1"/>
                </a:solidFill>
                <a:ea typeface="Scotia" panose="020B0503020203020204" pitchFamily="34" charset="0"/>
              </a:rPr>
              <a:t>high affluent products base</a:t>
            </a:r>
            <a:r>
              <a:rPr lang="en-US" sz="1000">
                <a:solidFill>
                  <a:schemeClr val="tx1"/>
                </a:solidFill>
                <a:ea typeface="Scotia" panose="020B0503020203020204" pitchFamily="34" charset="0"/>
              </a:rPr>
              <a:t>, (ECR, PE), </a:t>
            </a:r>
            <a:r>
              <a:rPr lang="en-US" sz="1000" b="1">
                <a:solidFill>
                  <a:schemeClr val="tx1"/>
                </a:solidFill>
                <a:ea typeface="Scotia" panose="020B0503020203020204" pitchFamily="34" charset="0"/>
              </a:rPr>
              <a:t>cashback program </a:t>
            </a:r>
            <a:r>
              <a:rPr lang="en-US" sz="1000">
                <a:solidFill>
                  <a:schemeClr val="tx1"/>
                </a:solidFill>
                <a:ea typeface="Scotia" panose="020B0503020203020204" pitchFamily="34" charset="0"/>
              </a:rPr>
              <a:t>(ECR) or strong additional benefits</a:t>
            </a:r>
          </a:p>
          <a:p>
            <a:pPr marL="180000" indent="-180000">
              <a:spcAft>
                <a:spcPts val="1200"/>
              </a:spcAft>
              <a:buFont typeface="Arial" panose="020B0604020202020204" pitchFamily="34" charset="0"/>
              <a:buChar char="•"/>
              <a:defRPr/>
            </a:pPr>
            <a:r>
              <a:rPr lang="en-US" sz="1000" b="1">
                <a:solidFill>
                  <a:schemeClr val="tx1"/>
                </a:solidFill>
                <a:ea typeface="Scotia" panose="020B0503020203020204" pitchFamily="34" charset="0"/>
              </a:rPr>
              <a:t>Low cost per spend </a:t>
            </a:r>
            <a:r>
              <a:rPr lang="en-US" sz="1000">
                <a:solidFill>
                  <a:schemeClr val="tx1"/>
                </a:solidFill>
                <a:ea typeface="Scotia" panose="020B0503020203020204" pitchFamily="34" charset="0"/>
              </a:rPr>
              <a:t>in Mexico and Uruguay shows </a:t>
            </a:r>
            <a:r>
              <a:rPr lang="en-US" sz="1000" b="1">
                <a:solidFill>
                  <a:schemeClr val="tx1"/>
                </a:solidFill>
                <a:ea typeface="Scotia" panose="020B0503020203020204" pitchFamily="34" charset="0"/>
              </a:rPr>
              <a:t>opportunities in program robustness</a:t>
            </a:r>
          </a:p>
          <a:p>
            <a:pPr marL="180000" indent="-180000">
              <a:spcAft>
                <a:spcPts val="1200"/>
              </a:spcAft>
              <a:buFont typeface="Arial" panose="020B0604020202020204" pitchFamily="34" charset="0"/>
              <a:buChar char="•"/>
              <a:defRPr/>
            </a:pPr>
            <a:r>
              <a:rPr lang="en-US" sz="1000" b="1">
                <a:solidFill>
                  <a:schemeClr val="tx1"/>
                </a:solidFill>
                <a:ea typeface="Scotia" panose="020B0503020203020204" pitchFamily="34" charset="0"/>
              </a:rPr>
              <a:t>Low engagement </a:t>
            </a:r>
            <a:r>
              <a:rPr lang="en-US" sz="1000">
                <a:solidFill>
                  <a:schemeClr val="tx1"/>
                </a:solidFill>
                <a:ea typeface="Scotia" panose="020B0503020203020204" pitchFamily="34" charset="0"/>
              </a:rPr>
              <a:t>is driven by an </a:t>
            </a:r>
            <a:r>
              <a:rPr lang="en-US" sz="1000" b="1">
                <a:solidFill>
                  <a:schemeClr val="tx1"/>
                </a:solidFill>
                <a:ea typeface="Scotia" panose="020B0503020203020204" pitchFamily="34" charset="0"/>
              </a:rPr>
              <a:t>unsophisticated UX, weak offers </a:t>
            </a:r>
            <a:r>
              <a:rPr lang="en-US" sz="1000">
                <a:solidFill>
                  <a:schemeClr val="tx1"/>
                </a:solidFill>
                <a:ea typeface="Scotia" panose="020B0503020203020204" pitchFamily="34" charset="0"/>
              </a:rPr>
              <a:t>and inconsistent program communications</a:t>
            </a:r>
          </a:p>
          <a:p>
            <a:pPr marL="180000" indent="-180000">
              <a:spcAft>
                <a:spcPts val="1200"/>
              </a:spcAft>
              <a:buFont typeface="Arial" panose="020B0604020202020204" pitchFamily="34" charset="0"/>
              <a:buChar char="•"/>
              <a:defRPr/>
            </a:pPr>
            <a:r>
              <a:rPr lang="en-US" sz="1000" b="1">
                <a:solidFill>
                  <a:schemeClr val="tx1"/>
                </a:solidFill>
                <a:latin typeface="Scotia" panose="020B0503020203020204" pitchFamily="34" charset="0"/>
                <a:ea typeface="Scotia" panose="020B0503020203020204" pitchFamily="34" charset="0"/>
              </a:rPr>
              <a:t>High redemption rates </a:t>
            </a:r>
            <a:r>
              <a:rPr lang="en-US" sz="1000">
                <a:solidFill>
                  <a:schemeClr val="tx1"/>
                </a:solidFill>
                <a:latin typeface="Scotia" panose="020B0503020203020204" pitchFamily="34" charset="0"/>
                <a:ea typeface="Scotia" panose="020B0503020203020204" pitchFamily="34" charset="0"/>
              </a:rPr>
              <a:t>are due to </a:t>
            </a:r>
            <a:r>
              <a:rPr lang="en-US" sz="1000" b="1">
                <a:solidFill>
                  <a:schemeClr val="tx1"/>
                </a:solidFill>
                <a:latin typeface="Scotia" panose="020B0503020203020204" pitchFamily="34" charset="0"/>
                <a:ea typeface="Scotia" panose="020B0503020203020204" pitchFamily="34" charset="0"/>
              </a:rPr>
              <a:t>high redemption thresholds </a:t>
            </a:r>
            <a:r>
              <a:rPr lang="en-US" sz="1000">
                <a:solidFill>
                  <a:schemeClr val="tx1"/>
                </a:solidFill>
                <a:latin typeface="Scotia" panose="020B0503020203020204" pitchFamily="34" charset="0"/>
                <a:ea typeface="Scotia" panose="020B0503020203020204" pitchFamily="34" charset="0"/>
              </a:rPr>
              <a:t>(Travel), and </a:t>
            </a:r>
            <a:r>
              <a:rPr lang="en-US" sz="1000" b="1">
                <a:solidFill>
                  <a:schemeClr val="tx1"/>
                </a:solidFill>
                <a:latin typeface="Scotia" panose="020B0503020203020204" pitchFamily="34" charset="0"/>
                <a:ea typeface="Scotia" panose="020B0503020203020204" pitchFamily="34" charset="0"/>
              </a:rPr>
              <a:t>fast redemption options </a:t>
            </a:r>
            <a:r>
              <a:rPr lang="en-US" sz="1000">
                <a:solidFill>
                  <a:schemeClr val="tx1"/>
                </a:solidFill>
                <a:latin typeface="Scotia" panose="020B0503020203020204" pitchFamily="34" charset="0"/>
                <a:ea typeface="Scotia" panose="020B0503020203020204" pitchFamily="34" charset="0"/>
              </a:rPr>
              <a:t>like POS and/or Transaction Eraser</a:t>
            </a:r>
            <a:r>
              <a:rPr lang="en-US" sz="1000" baseline="30000">
                <a:solidFill>
                  <a:schemeClr val="tx1"/>
                </a:solidFill>
                <a:latin typeface="Scotia" panose="020B0503020203020204" pitchFamily="34" charset="0"/>
                <a:ea typeface="Scotia" panose="020B0503020203020204" pitchFamily="34" charset="0"/>
              </a:rPr>
              <a:t>6</a:t>
            </a:r>
            <a:endParaRPr lang="en-US" sz="1000">
              <a:solidFill>
                <a:schemeClr val="tx1"/>
              </a:solidFill>
              <a:ea typeface="Scotia" panose="020B0503020203020204" pitchFamily="34" charset="0"/>
            </a:endParaRPr>
          </a:p>
          <a:p>
            <a:pPr marL="180000" indent="-180000">
              <a:spcBef>
                <a:spcPts val="600"/>
              </a:spcBef>
              <a:spcAft>
                <a:spcPts val="1200"/>
              </a:spcAft>
              <a:buFont typeface="Arial" panose="020B0604020202020204" pitchFamily="34" charset="0"/>
              <a:buChar char="•"/>
              <a:defRPr/>
            </a:pPr>
            <a:endParaRPr lang="en-US" sz="1000">
              <a:solidFill>
                <a:schemeClr val="tx1"/>
              </a:solidFill>
              <a:ea typeface="Scotia" panose="020B0503020203020204" pitchFamily="34" charset="0"/>
            </a:endParaRPr>
          </a:p>
          <a:p>
            <a:pPr marL="180000" indent="-180000">
              <a:spcBef>
                <a:spcPts val="600"/>
              </a:spcBef>
              <a:spcAft>
                <a:spcPts val="1200"/>
              </a:spcAft>
              <a:buFont typeface="Arial" panose="020B0604020202020204" pitchFamily="34" charset="0"/>
              <a:buChar char="•"/>
              <a:defRPr/>
            </a:pPr>
            <a:endParaRPr lang="en-US" sz="1000">
              <a:solidFill>
                <a:schemeClr val="tx1"/>
              </a:solidFill>
              <a:highlight>
                <a:srgbClr val="FFFF00"/>
              </a:highlight>
              <a:ea typeface="Scotia" panose="020B0503020203020204" pitchFamily="34" charset="0"/>
            </a:endParaRPr>
          </a:p>
          <a:p>
            <a:pPr marL="180000" indent="-180000">
              <a:spcBef>
                <a:spcPts val="600"/>
              </a:spcBef>
              <a:spcAft>
                <a:spcPts val="1200"/>
              </a:spcAft>
              <a:buFont typeface="Arial" panose="020B0604020202020204" pitchFamily="34" charset="0"/>
              <a:buChar char="•"/>
              <a:defRPr/>
            </a:pPr>
            <a:endParaRPr lang="en-US" sz="1000" noProof="0">
              <a:solidFill>
                <a:schemeClr val="tx1"/>
              </a:solidFill>
              <a:ea typeface="Scotia" panose="020B0503020203020204" pitchFamily="34" charset="0"/>
            </a:endParaRPr>
          </a:p>
        </p:txBody>
      </p:sp>
      <p:sp>
        <p:nvSpPr>
          <p:cNvPr id="12" name="Rectangle 11">
            <a:extLst>
              <a:ext uri="{FF2B5EF4-FFF2-40B4-BE49-F238E27FC236}">
                <a16:creationId xmlns:a16="http://schemas.microsoft.com/office/drawing/2014/main" id="{8553435F-17A4-A75E-CE77-D09FA8B22FB7}"/>
              </a:ext>
            </a:extLst>
          </p:cNvPr>
          <p:cNvSpPr/>
          <p:nvPr/>
        </p:nvSpPr>
        <p:spPr>
          <a:xfrm>
            <a:off x="4159651" y="3602004"/>
            <a:ext cx="1129083"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3" name="Rectangle 12">
            <a:extLst>
              <a:ext uri="{FF2B5EF4-FFF2-40B4-BE49-F238E27FC236}">
                <a16:creationId xmlns:a16="http://schemas.microsoft.com/office/drawing/2014/main" id="{79CFCF23-EBD1-EF1E-F16A-9DA23CAD0750}"/>
              </a:ext>
            </a:extLst>
          </p:cNvPr>
          <p:cNvSpPr/>
          <p:nvPr/>
        </p:nvSpPr>
        <p:spPr>
          <a:xfrm>
            <a:off x="2906486" y="4233870"/>
            <a:ext cx="555172"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4" name="Rectangle 13">
            <a:extLst>
              <a:ext uri="{FF2B5EF4-FFF2-40B4-BE49-F238E27FC236}">
                <a16:creationId xmlns:a16="http://schemas.microsoft.com/office/drawing/2014/main" id="{0DC02D21-F919-FE4F-DAD8-52C02D25ED3D}"/>
              </a:ext>
            </a:extLst>
          </p:cNvPr>
          <p:cNvSpPr/>
          <p:nvPr/>
        </p:nvSpPr>
        <p:spPr>
          <a:xfrm>
            <a:off x="7849866" y="4233870"/>
            <a:ext cx="1208324"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5" name="Rectangle 14">
            <a:extLst>
              <a:ext uri="{FF2B5EF4-FFF2-40B4-BE49-F238E27FC236}">
                <a16:creationId xmlns:a16="http://schemas.microsoft.com/office/drawing/2014/main" id="{4837672C-0886-6EFC-24FF-B663F3F07300}"/>
              </a:ext>
            </a:extLst>
          </p:cNvPr>
          <p:cNvSpPr/>
          <p:nvPr/>
        </p:nvSpPr>
        <p:spPr>
          <a:xfrm>
            <a:off x="2200179" y="4860089"/>
            <a:ext cx="6858011"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6" name="Rectangle 15">
            <a:extLst>
              <a:ext uri="{FF2B5EF4-FFF2-40B4-BE49-F238E27FC236}">
                <a16:creationId xmlns:a16="http://schemas.microsoft.com/office/drawing/2014/main" id="{27BFFD94-8882-EB95-58D6-02AF633278D6}"/>
              </a:ext>
            </a:extLst>
          </p:cNvPr>
          <p:cNvSpPr/>
          <p:nvPr/>
        </p:nvSpPr>
        <p:spPr>
          <a:xfrm>
            <a:off x="3505202" y="5484310"/>
            <a:ext cx="1208313"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7" name="Rectangle 16">
            <a:extLst>
              <a:ext uri="{FF2B5EF4-FFF2-40B4-BE49-F238E27FC236}">
                <a16:creationId xmlns:a16="http://schemas.microsoft.com/office/drawing/2014/main" id="{57D0D4AC-DC38-7B12-EE47-67566CDE2316}"/>
              </a:ext>
            </a:extLst>
          </p:cNvPr>
          <p:cNvSpPr/>
          <p:nvPr/>
        </p:nvSpPr>
        <p:spPr>
          <a:xfrm>
            <a:off x="6597755" y="5484310"/>
            <a:ext cx="1208313" cy="402431"/>
          </a:xfrm>
          <a:prstGeom prst="rect">
            <a:avLst/>
          </a:prstGeom>
          <a:noFill/>
          <a:ln w="12700">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8" name="Text Placeholder 11">
            <a:extLst>
              <a:ext uri="{FF2B5EF4-FFF2-40B4-BE49-F238E27FC236}">
                <a16:creationId xmlns:a16="http://schemas.microsoft.com/office/drawing/2014/main" id="{EA718F8D-071F-E336-8224-3C0786D4B985}"/>
              </a:ext>
            </a:extLst>
          </p:cNvPr>
          <p:cNvSpPr>
            <a:spLocks noGrp="1"/>
          </p:cNvSpPr>
          <p:nvPr>
            <p:ph type="body" sz="quarter" idx="14"/>
          </p:nvPr>
        </p:nvSpPr>
        <p:spPr>
          <a:xfrm>
            <a:off x="515939" y="1672753"/>
            <a:ext cx="4304714" cy="180000"/>
          </a:xfrm>
          <a:noFill/>
        </p:spPr>
        <p:txBody>
          <a:bodyPr anchor="t">
            <a:noAutofit/>
          </a:bodyPr>
          <a:lstStyle/>
          <a:p>
            <a:r>
              <a:rPr lang="en-US" b="1"/>
              <a:t>AS-IS PROPRIETARY PROGRAMS ANALYSIS – IB</a:t>
            </a:r>
            <a:r>
              <a:rPr lang="en-US" b="1" baseline="30000"/>
              <a:t>1</a:t>
            </a:r>
            <a:br>
              <a:rPr lang="en-US" b="1"/>
            </a:br>
            <a:r>
              <a:rPr lang="en-US" spc="0"/>
              <a:t>2025 Assessment using estimates from 2024 data</a:t>
            </a:r>
            <a:r>
              <a:rPr lang="en-US" spc="0" baseline="30000"/>
              <a:t>2</a:t>
            </a:r>
            <a:r>
              <a:rPr lang="en-US" spc="0"/>
              <a:t>, $CAD</a:t>
            </a:r>
          </a:p>
        </p:txBody>
      </p:sp>
      <p:grpSp>
        <p:nvGrpSpPr>
          <p:cNvPr id="27" name="Group 26">
            <a:extLst>
              <a:ext uri="{FF2B5EF4-FFF2-40B4-BE49-F238E27FC236}">
                <a16:creationId xmlns:a16="http://schemas.microsoft.com/office/drawing/2014/main" id="{828C2E61-8FD3-1F43-1992-DE3313B9A56F}"/>
              </a:ext>
            </a:extLst>
          </p:cNvPr>
          <p:cNvGrpSpPr/>
          <p:nvPr/>
        </p:nvGrpSpPr>
        <p:grpSpPr>
          <a:xfrm>
            <a:off x="2930653" y="2496265"/>
            <a:ext cx="478783" cy="243017"/>
            <a:chOff x="1903889" y="1465321"/>
            <a:chExt cx="430212" cy="218364"/>
          </a:xfrm>
        </p:grpSpPr>
        <p:pic>
          <p:nvPicPr>
            <p:cNvPr id="28" name="Picture 27">
              <a:extLst>
                <a:ext uri="{FF2B5EF4-FFF2-40B4-BE49-F238E27FC236}">
                  <a16:creationId xmlns:a16="http://schemas.microsoft.com/office/drawing/2014/main" id="{A0333D2C-EB27-DAF8-1678-1D3DB0463ED4}"/>
                </a:ext>
              </a:extLst>
            </p:cNvPr>
            <p:cNvPicPr>
              <a:picLocks noChangeAspect="1"/>
            </p:cNvPicPr>
            <p:nvPr>
              <p:custDataLst>
                <p:tags r:id="rId10"/>
              </p:custDataLst>
            </p:nvPr>
          </p:nvPicPr>
          <p:blipFill>
            <a:blip r:embed="rId15">
              <a:clrChange>
                <a:clrFrom>
                  <a:srgbClr val="F7F7F7"/>
                </a:clrFrom>
                <a:clrTo>
                  <a:srgbClr val="F7F7F7">
                    <a:alpha val="0"/>
                  </a:srgbClr>
                </a:clrTo>
              </a:clrChange>
            </a:blip>
            <a:stretch>
              <a:fillRect/>
            </a:stretch>
          </p:blipFill>
          <p:spPr>
            <a:xfrm>
              <a:off x="1903889" y="1465321"/>
              <a:ext cx="430212" cy="105802"/>
            </a:xfrm>
            <a:prstGeom prst="roundRect">
              <a:avLst/>
            </a:prstGeom>
          </p:spPr>
        </p:pic>
        <p:pic>
          <p:nvPicPr>
            <p:cNvPr id="29" name="Picture 28">
              <a:extLst>
                <a:ext uri="{FF2B5EF4-FFF2-40B4-BE49-F238E27FC236}">
                  <a16:creationId xmlns:a16="http://schemas.microsoft.com/office/drawing/2014/main" id="{855AD01C-11B5-A379-04FB-A17F291EB63A}"/>
                </a:ext>
              </a:extLst>
            </p:cNvPr>
            <p:cNvPicPr>
              <a:picLocks noChangeAspect="1"/>
            </p:cNvPicPr>
            <p:nvPr/>
          </p:nvPicPr>
          <p:blipFill>
            <a:blip r:embed="rId16">
              <a:clrChange>
                <a:clrFrom>
                  <a:srgbClr val="FFFFFF"/>
                </a:clrFrom>
                <a:clrTo>
                  <a:srgbClr val="FFFFFF">
                    <a:alpha val="0"/>
                  </a:srgbClr>
                </a:clrTo>
              </a:clrChange>
            </a:blip>
            <a:stretch>
              <a:fillRect/>
            </a:stretch>
          </p:blipFill>
          <p:spPr>
            <a:xfrm>
              <a:off x="2055178" y="1588046"/>
              <a:ext cx="260350" cy="95639"/>
            </a:xfrm>
            <a:prstGeom prst="rect">
              <a:avLst/>
            </a:prstGeom>
          </p:spPr>
        </p:pic>
        <p:sp>
          <p:nvSpPr>
            <p:cNvPr id="30" name="Plus Sign 29">
              <a:extLst>
                <a:ext uri="{FF2B5EF4-FFF2-40B4-BE49-F238E27FC236}">
                  <a16:creationId xmlns:a16="http://schemas.microsoft.com/office/drawing/2014/main" id="{4E1D5B69-C928-44F0-8B80-2EBE962DC227}"/>
                </a:ext>
              </a:extLst>
            </p:cNvPr>
            <p:cNvSpPr/>
            <p:nvPr/>
          </p:nvSpPr>
          <p:spPr bwMode="gray">
            <a:xfrm>
              <a:off x="1971675" y="1609164"/>
              <a:ext cx="63500" cy="74288"/>
            </a:xfrm>
            <a:prstGeom prst="mathPlus">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33"/>
            </a:p>
          </p:txBody>
        </p:sp>
      </p:grpSp>
      <p:pic>
        <p:nvPicPr>
          <p:cNvPr id="31" name="Picture 2" descr="Tus puntos ScotiaClub te... - Scotiabank República Dominicana | Facebook">
            <a:extLst>
              <a:ext uri="{FF2B5EF4-FFF2-40B4-BE49-F238E27FC236}">
                <a16:creationId xmlns:a16="http://schemas.microsoft.com/office/drawing/2014/main" id="{0AE80691-0DD8-7C2F-C9B7-CFB7934777C3}"/>
              </a:ext>
            </a:extLst>
          </p:cNvPr>
          <p:cNvPicPr>
            <a:picLocks noChangeAspect="1" noChangeArrowheads="1"/>
          </p:cNvPicPr>
          <p:nvPr>
            <p:custDataLst>
              <p:tags r:id="rId2"/>
            </p:custDataLst>
          </p:nvPr>
        </p:nvPicPr>
        <p:blipFill rotWithShape="1">
          <a:blip r:embed="rId17">
            <a:clrChange>
              <a:clrFrom>
                <a:srgbClr val="FFFFFF"/>
              </a:clrFrom>
              <a:clrTo>
                <a:srgbClr val="FFFFFF">
                  <a:alpha val="0"/>
                </a:srgbClr>
              </a:clrTo>
            </a:clrChange>
            <a:extLst>
              <a:ext uri="{28A0092B-C50C-407E-A947-70E740481C1C}">
                <a14:useLocalDpi xmlns:a14="http://schemas.microsoft.com/office/drawing/2010/main" val="0"/>
              </a:ext>
            </a:extLst>
          </a:blip>
          <a:srcRect l="7976" t="5972" r="39206" b="74028"/>
          <a:stretch/>
        </p:blipFill>
        <p:spPr bwMode="auto">
          <a:xfrm>
            <a:off x="6609234" y="2510895"/>
            <a:ext cx="564502" cy="213756"/>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31" descr="scotiabank : aero rewards | jameswheldon">
            <a:extLst>
              <a:ext uri="{FF2B5EF4-FFF2-40B4-BE49-F238E27FC236}">
                <a16:creationId xmlns:a16="http://schemas.microsoft.com/office/drawing/2014/main" id="{261454B0-6335-89E1-5B92-8370D28A1958}"/>
              </a:ext>
            </a:extLst>
          </p:cNvPr>
          <p:cNvPicPr>
            <a:picLocks noChangeAspect="1" noChangeArrowheads="1"/>
          </p:cNvPicPr>
          <p:nvPr>
            <p:custDataLst>
              <p:tags r:id="rId3"/>
            </p:custDataLst>
          </p:nvPr>
        </p:nvPicPr>
        <p:blipFill rotWithShape="1">
          <a:blip r:embed="rId18">
            <a:extLst>
              <a:ext uri="{28A0092B-C50C-407E-A947-70E740481C1C}">
                <a14:useLocalDpi xmlns:a14="http://schemas.microsoft.com/office/drawing/2010/main" val="0"/>
              </a:ext>
            </a:extLst>
          </a:blip>
          <a:srcRect l="19542" t="20138" r="55230" b="65724"/>
          <a:stretch/>
        </p:blipFill>
        <p:spPr bwMode="auto">
          <a:xfrm>
            <a:off x="4788946" y="2529482"/>
            <a:ext cx="493657" cy="176583"/>
          </a:xfrm>
          <a:prstGeom prst="roundRect">
            <a:avLst/>
          </a:prstGeom>
          <a:extLst>
            <a:ext uri="{909E8E84-426E-40DD-AFC4-6F175D3DCCD1}">
              <a14:hiddenFill xmlns:a14="http://schemas.microsoft.com/office/drawing/2010/main">
                <a:solidFill>
                  <a:srgbClr val="FFFFFF"/>
                </a:solidFill>
              </a14:hiddenFill>
            </a:ext>
          </a:extLst>
        </p:spPr>
      </p:pic>
      <p:pic>
        <p:nvPicPr>
          <p:cNvPr id="33" name="Picture 2" descr="Programa de premios">
            <a:extLst>
              <a:ext uri="{FF2B5EF4-FFF2-40B4-BE49-F238E27FC236}">
                <a16:creationId xmlns:a16="http://schemas.microsoft.com/office/drawing/2014/main" id="{35CCAAA2-86C0-C1DE-FCB3-711BF3C8446F}"/>
              </a:ext>
            </a:extLst>
          </p:cNvPr>
          <p:cNvPicPr>
            <a:picLocks noChangeAspect="1" noChangeArrowheads="1"/>
          </p:cNvPicPr>
          <p:nvPr>
            <p:custDataLst>
              <p:tags r:id="rId4"/>
            </p:custDataLst>
          </p:nvPr>
        </p:nvPicPr>
        <p:blipFill rotWithShape="1">
          <a:blip r:embed="rId19">
            <a:extLst>
              <a:ext uri="{28A0092B-C50C-407E-A947-70E740481C1C}">
                <a14:useLocalDpi xmlns:a14="http://schemas.microsoft.com/office/drawing/2010/main" val="0"/>
              </a:ext>
            </a:extLst>
          </a:blip>
          <a:srcRect t="31520" b="29120"/>
          <a:stretch/>
        </p:blipFill>
        <p:spPr bwMode="auto">
          <a:xfrm>
            <a:off x="7848954" y="2507801"/>
            <a:ext cx="558800" cy="219944"/>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4" descr="Amex Rewards Programme | American Express SG">
            <a:extLst>
              <a:ext uri="{FF2B5EF4-FFF2-40B4-BE49-F238E27FC236}">
                <a16:creationId xmlns:a16="http://schemas.microsoft.com/office/drawing/2014/main" id="{C349A554-7A40-F9D4-368B-145075987AD8}"/>
              </a:ext>
            </a:extLst>
          </p:cNvPr>
          <p:cNvPicPr>
            <a:picLocks noChangeAspect="1" noChangeArrowheads="1"/>
          </p:cNvPicPr>
          <p:nvPr>
            <p:custDataLst>
              <p:tags r:id="rId5"/>
            </p:custDataLst>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257331" y="2543145"/>
            <a:ext cx="505884" cy="149256"/>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Amex Rewards Programme | American Express SG">
            <a:extLst>
              <a:ext uri="{FF2B5EF4-FFF2-40B4-BE49-F238E27FC236}">
                <a16:creationId xmlns:a16="http://schemas.microsoft.com/office/drawing/2014/main" id="{1D7F9FE3-E7DA-01B6-B3C3-F24D990D385C}"/>
              </a:ext>
            </a:extLst>
          </p:cNvPr>
          <p:cNvPicPr>
            <a:picLocks noChangeAspect="1" noChangeArrowheads="1"/>
          </p:cNvPicPr>
          <p:nvPr>
            <p:custDataLst>
              <p:tags r:id="rId6"/>
            </p:custDataLst>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484429" y="2543145"/>
            <a:ext cx="505884" cy="149256"/>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Group 39">
            <a:extLst>
              <a:ext uri="{FF2B5EF4-FFF2-40B4-BE49-F238E27FC236}">
                <a16:creationId xmlns:a16="http://schemas.microsoft.com/office/drawing/2014/main" id="{6223A92C-5A21-FD42-9C23-5D3DBA3ACF9F}"/>
              </a:ext>
            </a:extLst>
          </p:cNvPr>
          <p:cNvGrpSpPr/>
          <p:nvPr/>
        </p:nvGrpSpPr>
        <p:grpSpPr>
          <a:xfrm>
            <a:off x="3542858" y="2508515"/>
            <a:ext cx="494866" cy="218516"/>
            <a:chOff x="2463970" y="1440188"/>
            <a:chExt cx="433218" cy="191294"/>
          </a:xfrm>
        </p:grpSpPr>
        <p:pic>
          <p:nvPicPr>
            <p:cNvPr id="41" name="Picture 2" descr="Beneficios Scotia">
              <a:extLst>
                <a:ext uri="{FF2B5EF4-FFF2-40B4-BE49-F238E27FC236}">
                  <a16:creationId xmlns:a16="http://schemas.microsoft.com/office/drawing/2014/main" id="{B72C153E-B2DB-4707-A255-67680C4CD558}"/>
                </a:ext>
              </a:extLst>
            </p:cNvPr>
            <p:cNvPicPr>
              <a:picLocks noChangeAspect="1" noChangeArrowheads="1"/>
            </p:cNvPicPr>
            <p:nvPr/>
          </p:nvPicPr>
          <p:blipFill rotWithShape="1">
            <a:blip r:embed="rId21">
              <a:extLst>
                <a:ext uri="{28A0092B-C50C-407E-A947-70E740481C1C}">
                  <a14:useLocalDpi xmlns:a14="http://schemas.microsoft.com/office/drawing/2010/main" val="0"/>
                </a:ext>
              </a:extLst>
            </a:blip>
            <a:srcRect l="53116" t="33196" r="9037" b="30576"/>
            <a:stretch/>
          </p:blipFill>
          <p:spPr bwMode="auto">
            <a:xfrm>
              <a:off x="2590800" y="1544226"/>
              <a:ext cx="306388" cy="87256"/>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2" descr="Beneficios Scotia">
              <a:extLst>
                <a:ext uri="{FF2B5EF4-FFF2-40B4-BE49-F238E27FC236}">
                  <a16:creationId xmlns:a16="http://schemas.microsoft.com/office/drawing/2014/main" id="{6976CBEA-BBEF-CA76-2BBF-154EEF42E485}"/>
                </a:ext>
              </a:extLst>
            </p:cNvPr>
            <p:cNvPicPr>
              <a:picLocks noChangeAspect="1" noChangeArrowheads="1"/>
            </p:cNvPicPr>
            <p:nvPr/>
          </p:nvPicPr>
          <p:blipFill rotWithShape="1">
            <a:blip r:embed="rId21">
              <a:extLst>
                <a:ext uri="{28A0092B-C50C-407E-A947-70E740481C1C}">
                  <a14:useLocalDpi xmlns:a14="http://schemas.microsoft.com/office/drawing/2010/main" val="0"/>
                </a:ext>
              </a:extLst>
            </a:blip>
            <a:srcRect l="7668" t="26759" r="49213" b="33289"/>
            <a:stretch/>
          </p:blipFill>
          <p:spPr bwMode="auto">
            <a:xfrm>
              <a:off x="2463970" y="1440188"/>
              <a:ext cx="347662" cy="9583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3" name="Group 42">
            <a:extLst>
              <a:ext uri="{FF2B5EF4-FFF2-40B4-BE49-F238E27FC236}">
                <a16:creationId xmlns:a16="http://schemas.microsoft.com/office/drawing/2014/main" id="{8238D885-A096-6E73-2337-190A03977908}"/>
              </a:ext>
            </a:extLst>
          </p:cNvPr>
          <p:cNvGrpSpPr/>
          <p:nvPr/>
        </p:nvGrpSpPr>
        <p:grpSpPr>
          <a:xfrm>
            <a:off x="4163013" y="2456635"/>
            <a:ext cx="532279" cy="322276"/>
            <a:chOff x="2986723" y="1418472"/>
            <a:chExt cx="447358" cy="270858"/>
          </a:xfrm>
        </p:grpSpPr>
        <p:grpSp>
          <p:nvGrpSpPr>
            <p:cNvPr id="44" name="Group 43">
              <a:extLst>
                <a:ext uri="{FF2B5EF4-FFF2-40B4-BE49-F238E27FC236}">
                  <a16:creationId xmlns:a16="http://schemas.microsoft.com/office/drawing/2014/main" id="{28D58536-4299-F7F1-64F7-27BB1B35537F}"/>
                </a:ext>
              </a:extLst>
            </p:cNvPr>
            <p:cNvGrpSpPr/>
            <p:nvPr/>
          </p:nvGrpSpPr>
          <p:grpSpPr>
            <a:xfrm>
              <a:off x="2986723" y="1591312"/>
              <a:ext cx="447358" cy="98018"/>
              <a:chOff x="4672842" y="2259783"/>
              <a:chExt cx="1285914" cy="281552"/>
            </a:xfrm>
          </p:grpSpPr>
          <p:pic>
            <p:nvPicPr>
              <p:cNvPr id="46" name="Picture 45">
                <a:extLst>
                  <a:ext uri="{FF2B5EF4-FFF2-40B4-BE49-F238E27FC236}">
                    <a16:creationId xmlns:a16="http://schemas.microsoft.com/office/drawing/2014/main" id="{702EF799-9E1F-2C62-8FC7-BEB88AB255DB}"/>
                  </a:ext>
                </a:extLst>
              </p:cNvPr>
              <p:cNvPicPr>
                <a:picLocks noChangeAspect="1"/>
              </p:cNvPicPr>
              <p:nvPr/>
            </p:nvPicPr>
            <p:blipFill rotWithShape="1">
              <a:blip r:embed="rId22"/>
              <a:srcRect l="32056" t="14213" r="32000" b="13653"/>
              <a:stretch/>
            </p:blipFill>
            <p:spPr>
              <a:xfrm>
                <a:off x="5186885" y="2259783"/>
                <a:ext cx="280599" cy="281552"/>
              </a:xfrm>
              <a:prstGeom prst="rect">
                <a:avLst/>
              </a:prstGeom>
            </p:spPr>
          </p:pic>
          <p:pic>
            <p:nvPicPr>
              <p:cNvPr id="47" name="Picture 46">
                <a:extLst>
                  <a:ext uri="{FF2B5EF4-FFF2-40B4-BE49-F238E27FC236}">
                    <a16:creationId xmlns:a16="http://schemas.microsoft.com/office/drawing/2014/main" id="{0397A1D9-593A-9685-1D5C-721AD2AA014B}"/>
                  </a:ext>
                </a:extLst>
              </p:cNvPr>
              <p:cNvPicPr>
                <a:picLocks noChangeAspect="1"/>
              </p:cNvPicPr>
              <p:nvPr/>
            </p:nvPicPr>
            <p:blipFill>
              <a:blip r:embed="rId23"/>
              <a:srcRect t="3367"/>
              <a:stretch/>
            </p:blipFill>
            <p:spPr>
              <a:xfrm>
                <a:off x="4672842" y="2306670"/>
                <a:ext cx="488006" cy="187778"/>
              </a:xfrm>
              <a:prstGeom prst="rect">
                <a:avLst/>
              </a:prstGeom>
            </p:spPr>
          </p:pic>
          <p:pic>
            <p:nvPicPr>
              <p:cNvPr id="48" name="Picture 47">
                <a:extLst>
                  <a:ext uri="{FF2B5EF4-FFF2-40B4-BE49-F238E27FC236}">
                    <a16:creationId xmlns:a16="http://schemas.microsoft.com/office/drawing/2014/main" id="{1114B02A-E221-1E9E-2411-C734912303EF}"/>
                  </a:ext>
                </a:extLst>
              </p:cNvPr>
              <p:cNvPicPr>
                <a:picLocks noChangeAspect="1"/>
              </p:cNvPicPr>
              <p:nvPr/>
            </p:nvPicPr>
            <p:blipFill>
              <a:blip r:embed="rId24"/>
              <a:stretch>
                <a:fillRect/>
              </a:stretch>
            </p:blipFill>
            <p:spPr>
              <a:xfrm>
                <a:off x="5500404" y="2337918"/>
                <a:ext cx="458352" cy="125284"/>
              </a:xfrm>
              <a:prstGeom prst="rect">
                <a:avLst/>
              </a:prstGeom>
              <a:solidFill>
                <a:schemeClr val="accent6">
                  <a:lumMod val="75000"/>
                </a:schemeClr>
              </a:solidFill>
            </p:spPr>
          </p:pic>
        </p:grpSp>
        <p:pic>
          <p:nvPicPr>
            <p:cNvPr id="45" name="Picture 2" descr="Multiplica Puntos | Scotiabank Perú">
              <a:extLst>
                <a:ext uri="{FF2B5EF4-FFF2-40B4-BE49-F238E27FC236}">
                  <a16:creationId xmlns:a16="http://schemas.microsoft.com/office/drawing/2014/main" id="{AE429CD3-1CA5-3B96-5D16-A6B8AD6A36CE}"/>
                </a:ext>
              </a:extLst>
            </p:cNvPr>
            <p:cNvPicPr>
              <a:picLocks noChangeAspect="1" noChangeArrowheads="1"/>
            </p:cNvPicPr>
            <p:nvPr>
              <p:custDataLst>
                <p:tags r:id="rId9"/>
              </p:custDataLst>
            </p:nvPr>
          </p:nvPicPr>
          <p:blipFill rotWithShape="1">
            <a:blip r:embed="rId25">
              <a:clrChange>
                <a:clrFrom>
                  <a:srgbClr val="FFFFFF"/>
                </a:clrFrom>
                <a:clrTo>
                  <a:srgbClr val="FFFFFF">
                    <a:alpha val="0"/>
                  </a:srgbClr>
                </a:clrTo>
              </a:clrChange>
              <a:extLst>
                <a:ext uri="{28A0092B-C50C-407E-A947-70E740481C1C}">
                  <a14:useLocalDpi xmlns:a14="http://schemas.microsoft.com/office/drawing/2010/main" val="0"/>
                </a:ext>
              </a:extLst>
            </a:blip>
            <a:srcRect l="51347"/>
            <a:stretch/>
          </p:blipFill>
          <p:spPr bwMode="auto">
            <a:xfrm>
              <a:off x="3038793" y="1418472"/>
              <a:ext cx="347663" cy="179651"/>
            </a:xfrm>
            <a:prstGeom prst="rect">
              <a:avLst/>
            </a:prstGeom>
            <a:noFill/>
            <a:extLst>
              <a:ext uri="{909E8E84-426E-40DD-AFC4-6F175D3DCCD1}">
                <a14:hiddenFill xmlns:a14="http://schemas.microsoft.com/office/drawing/2010/main">
                  <a:solidFill>
                    <a:srgbClr val="FFFFFF"/>
                  </a:solidFill>
                </a14:hiddenFill>
              </a:ext>
            </a:extLst>
          </p:spPr>
        </p:pic>
      </p:grpSp>
      <p:pic>
        <p:nvPicPr>
          <p:cNvPr id="49" name="Picture 48">
            <a:extLst>
              <a:ext uri="{FF2B5EF4-FFF2-40B4-BE49-F238E27FC236}">
                <a16:creationId xmlns:a16="http://schemas.microsoft.com/office/drawing/2014/main" id="{DBE9DB9E-B5F9-0E40-6370-F2A7E7F4E475}"/>
              </a:ext>
            </a:extLst>
          </p:cNvPr>
          <p:cNvPicPr>
            <a:picLocks noChangeAspect="1"/>
          </p:cNvPicPr>
          <p:nvPr>
            <p:custDataLst>
              <p:tags r:id="rId7"/>
            </p:custDataLst>
          </p:nvPr>
        </p:nvPicPr>
        <p:blipFill>
          <a:blip r:embed="rId26">
            <a:clrChange>
              <a:clrFrom>
                <a:srgbClr val="FFFFFF"/>
              </a:clrFrom>
              <a:clrTo>
                <a:srgbClr val="FFFFFF">
                  <a:alpha val="0"/>
                </a:srgbClr>
              </a:clrTo>
            </a:clrChange>
          </a:blip>
          <a:srcRect l="-109" t="2757" r="-109" b="2757"/>
          <a:stretch/>
        </p:blipFill>
        <p:spPr>
          <a:xfrm>
            <a:off x="6048153" y="2578731"/>
            <a:ext cx="465667" cy="78084"/>
          </a:xfrm>
          <a:prstGeom prst="rect">
            <a:avLst/>
          </a:prstGeom>
        </p:spPr>
      </p:pic>
      <p:pic>
        <p:nvPicPr>
          <p:cNvPr id="50" name="Picture 4" descr="Amex Rewards Programme | American Express SG">
            <a:extLst>
              <a:ext uri="{FF2B5EF4-FFF2-40B4-BE49-F238E27FC236}">
                <a16:creationId xmlns:a16="http://schemas.microsoft.com/office/drawing/2014/main" id="{73C5CABC-9053-916A-735E-20B4DC2E110D}"/>
              </a:ext>
            </a:extLst>
          </p:cNvPr>
          <p:cNvPicPr>
            <a:picLocks noChangeAspect="1" noChangeArrowheads="1"/>
          </p:cNvPicPr>
          <p:nvPr>
            <p:custDataLst>
              <p:tags r:id="rId8"/>
            </p:custDataLst>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97990" y="2542833"/>
            <a:ext cx="508000" cy="149881"/>
          </a:xfrm>
          <a:prstGeom prst="rect">
            <a:avLst/>
          </a:prstGeom>
          <a:noFill/>
          <a:extLst>
            <a:ext uri="{909E8E84-426E-40DD-AFC4-6F175D3DCCD1}">
              <a14:hiddenFill xmlns:a14="http://schemas.microsoft.com/office/drawing/2010/main">
                <a:solidFill>
                  <a:srgbClr val="FFFFFF"/>
                </a:solidFill>
              </a14:hiddenFill>
            </a:ext>
          </a:extLst>
        </p:spPr>
      </p:pic>
      <p:sp>
        <p:nvSpPr>
          <p:cNvPr id="51" name="Oval 50">
            <a:extLst>
              <a:ext uri="{FF2B5EF4-FFF2-40B4-BE49-F238E27FC236}">
                <a16:creationId xmlns:a16="http://schemas.microsoft.com/office/drawing/2014/main" id="{C102997B-0D90-4716-6369-126EA997C249}"/>
              </a:ext>
            </a:extLst>
          </p:cNvPr>
          <p:cNvSpPr/>
          <p:nvPr/>
        </p:nvSpPr>
        <p:spPr>
          <a:xfrm>
            <a:off x="4109978" y="351367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1</a:t>
            </a:r>
          </a:p>
        </p:txBody>
      </p:sp>
      <p:sp>
        <p:nvSpPr>
          <p:cNvPr id="72" name="Oval 71">
            <a:extLst>
              <a:ext uri="{FF2B5EF4-FFF2-40B4-BE49-F238E27FC236}">
                <a16:creationId xmlns:a16="http://schemas.microsoft.com/office/drawing/2014/main" id="{9B483FC0-5A78-57BA-D756-E58734A504F7}"/>
              </a:ext>
            </a:extLst>
          </p:cNvPr>
          <p:cNvSpPr/>
          <p:nvPr/>
        </p:nvSpPr>
        <p:spPr>
          <a:xfrm>
            <a:off x="2849846" y="415525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2</a:t>
            </a:r>
          </a:p>
        </p:txBody>
      </p:sp>
      <p:sp>
        <p:nvSpPr>
          <p:cNvPr id="73" name="Oval 72">
            <a:extLst>
              <a:ext uri="{FF2B5EF4-FFF2-40B4-BE49-F238E27FC236}">
                <a16:creationId xmlns:a16="http://schemas.microsoft.com/office/drawing/2014/main" id="{97B69854-A7BA-3EA3-03E7-EAD592E48F4E}"/>
              </a:ext>
            </a:extLst>
          </p:cNvPr>
          <p:cNvSpPr/>
          <p:nvPr/>
        </p:nvSpPr>
        <p:spPr>
          <a:xfrm>
            <a:off x="7774245" y="415525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2</a:t>
            </a:r>
          </a:p>
        </p:txBody>
      </p:sp>
      <p:sp>
        <p:nvSpPr>
          <p:cNvPr id="74" name="Oval 73">
            <a:extLst>
              <a:ext uri="{FF2B5EF4-FFF2-40B4-BE49-F238E27FC236}">
                <a16:creationId xmlns:a16="http://schemas.microsoft.com/office/drawing/2014/main" id="{8FF4A750-4C6A-3B09-684C-8153D1186499}"/>
              </a:ext>
            </a:extLst>
          </p:cNvPr>
          <p:cNvSpPr/>
          <p:nvPr/>
        </p:nvSpPr>
        <p:spPr>
          <a:xfrm>
            <a:off x="2152471" y="476864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3</a:t>
            </a:r>
          </a:p>
        </p:txBody>
      </p:sp>
      <p:sp>
        <p:nvSpPr>
          <p:cNvPr id="75" name="Oval 74">
            <a:extLst>
              <a:ext uri="{FF2B5EF4-FFF2-40B4-BE49-F238E27FC236}">
                <a16:creationId xmlns:a16="http://schemas.microsoft.com/office/drawing/2014/main" id="{030696A8-C7C5-2FEB-CA87-E2E659CBF386}"/>
              </a:ext>
            </a:extLst>
          </p:cNvPr>
          <p:cNvSpPr/>
          <p:nvPr/>
        </p:nvSpPr>
        <p:spPr>
          <a:xfrm>
            <a:off x="3462057" y="541355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4</a:t>
            </a:r>
          </a:p>
        </p:txBody>
      </p:sp>
      <p:sp>
        <p:nvSpPr>
          <p:cNvPr id="76" name="Oval 75">
            <a:extLst>
              <a:ext uri="{FF2B5EF4-FFF2-40B4-BE49-F238E27FC236}">
                <a16:creationId xmlns:a16="http://schemas.microsoft.com/office/drawing/2014/main" id="{4C5C4C97-277D-B3F1-262A-085F13D4A140}"/>
              </a:ext>
            </a:extLst>
          </p:cNvPr>
          <p:cNvSpPr/>
          <p:nvPr/>
        </p:nvSpPr>
        <p:spPr>
          <a:xfrm>
            <a:off x="6551101" y="5413559"/>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4</a:t>
            </a:r>
          </a:p>
        </p:txBody>
      </p:sp>
      <p:sp>
        <p:nvSpPr>
          <p:cNvPr id="77" name="Oval 76">
            <a:extLst>
              <a:ext uri="{FF2B5EF4-FFF2-40B4-BE49-F238E27FC236}">
                <a16:creationId xmlns:a16="http://schemas.microsoft.com/office/drawing/2014/main" id="{CC869CB1-2A21-5269-9ECB-1491B09FBE60}"/>
              </a:ext>
            </a:extLst>
          </p:cNvPr>
          <p:cNvSpPr/>
          <p:nvPr/>
        </p:nvSpPr>
        <p:spPr>
          <a:xfrm>
            <a:off x="9385442" y="2263278"/>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1</a:t>
            </a:r>
          </a:p>
        </p:txBody>
      </p:sp>
      <p:sp>
        <p:nvSpPr>
          <p:cNvPr id="78" name="Oval 77">
            <a:extLst>
              <a:ext uri="{FF2B5EF4-FFF2-40B4-BE49-F238E27FC236}">
                <a16:creationId xmlns:a16="http://schemas.microsoft.com/office/drawing/2014/main" id="{D9448491-4145-17FC-651D-F71B04A472E4}"/>
              </a:ext>
            </a:extLst>
          </p:cNvPr>
          <p:cNvSpPr/>
          <p:nvPr/>
        </p:nvSpPr>
        <p:spPr>
          <a:xfrm>
            <a:off x="9385442" y="3165333"/>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2</a:t>
            </a:r>
          </a:p>
        </p:txBody>
      </p:sp>
      <p:sp>
        <p:nvSpPr>
          <p:cNvPr id="79" name="Oval 78">
            <a:extLst>
              <a:ext uri="{FF2B5EF4-FFF2-40B4-BE49-F238E27FC236}">
                <a16:creationId xmlns:a16="http://schemas.microsoft.com/office/drawing/2014/main" id="{A6564AE4-8937-03BC-A2D7-0D004BF93D6A}"/>
              </a:ext>
            </a:extLst>
          </p:cNvPr>
          <p:cNvSpPr/>
          <p:nvPr/>
        </p:nvSpPr>
        <p:spPr>
          <a:xfrm>
            <a:off x="9385442" y="3954196"/>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3</a:t>
            </a:r>
          </a:p>
        </p:txBody>
      </p:sp>
      <p:sp>
        <p:nvSpPr>
          <p:cNvPr id="80" name="Oval 79">
            <a:extLst>
              <a:ext uri="{FF2B5EF4-FFF2-40B4-BE49-F238E27FC236}">
                <a16:creationId xmlns:a16="http://schemas.microsoft.com/office/drawing/2014/main" id="{FCB4947C-F65A-1573-76B4-01357A0835E9}"/>
              </a:ext>
            </a:extLst>
          </p:cNvPr>
          <p:cNvSpPr/>
          <p:nvPr/>
        </p:nvSpPr>
        <p:spPr>
          <a:xfrm>
            <a:off x="9385442" y="4683043"/>
            <a:ext cx="182880" cy="18288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0" b="1">
                <a:solidFill>
                  <a:schemeClr val="bg1"/>
                </a:solidFill>
              </a:rPr>
              <a:t>4</a:t>
            </a:r>
          </a:p>
        </p:txBody>
      </p:sp>
      <p:grpSp>
        <p:nvGrpSpPr>
          <p:cNvPr id="5" name="Group 4">
            <a:extLst>
              <a:ext uri="{FF2B5EF4-FFF2-40B4-BE49-F238E27FC236}">
                <a16:creationId xmlns:a16="http://schemas.microsoft.com/office/drawing/2014/main" id="{532550D0-5F39-9862-5A41-EA6D0DE4C037}"/>
              </a:ext>
            </a:extLst>
          </p:cNvPr>
          <p:cNvGrpSpPr/>
          <p:nvPr/>
        </p:nvGrpSpPr>
        <p:grpSpPr>
          <a:xfrm>
            <a:off x="515939" y="194010"/>
            <a:ext cx="3579810" cy="176937"/>
            <a:chOff x="515940" y="209230"/>
            <a:chExt cx="2670252" cy="144956"/>
          </a:xfrm>
        </p:grpSpPr>
        <p:sp>
          <p:nvSpPr>
            <p:cNvPr id="6" name="Arrow: Chevron 5">
              <a:extLst>
                <a:ext uri="{FF2B5EF4-FFF2-40B4-BE49-F238E27FC236}">
                  <a16:creationId xmlns:a16="http://schemas.microsoft.com/office/drawing/2014/main" id="{AF1D791E-4531-8849-CA28-8367C9BAFCA0}"/>
                </a:ext>
              </a:extLst>
            </p:cNvPr>
            <p:cNvSpPr/>
            <p:nvPr/>
          </p:nvSpPr>
          <p:spPr>
            <a:xfrm>
              <a:off x="515940" y="209230"/>
              <a:ext cx="897746" cy="14495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000">
                  <a:solidFill>
                    <a:schemeClr val="bg1">
                      <a:lumMod val="75000"/>
                    </a:schemeClr>
                  </a:solidFill>
                </a:rPr>
                <a:t>ACQUISITION</a:t>
              </a:r>
            </a:p>
          </p:txBody>
        </p:sp>
        <p:sp>
          <p:nvSpPr>
            <p:cNvPr id="7" name="Arrow: Chevron 6">
              <a:extLst>
                <a:ext uri="{FF2B5EF4-FFF2-40B4-BE49-F238E27FC236}">
                  <a16:creationId xmlns:a16="http://schemas.microsoft.com/office/drawing/2014/main" id="{B4F3A8CA-B19B-C398-BA96-097103EE738F}"/>
                </a:ext>
              </a:extLst>
            </p:cNvPr>
            <p:cNvSpPr/>
            <p:nvPr/>
          </p:nvSpPr>
          <p:spPr>
            <a:xfrm>
              <a:off x="2288446" y="209230"/>
              <a:ext cx="897746" cy="144956"/>
            </a:xfrm>
            <a:prstGeom prst="chevron">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000" b="1">
                  <a:solidFill>
                    <a:schemeClr val="bg1"/>
                  </a:solidFill>
                </a:rPr>
                <a:t>USAGE</a:t>
              </a:r>
            </a:p>
          </p:txBody>
        </p:sp>
        <p:sp>
          <p:nvSpPr>
            <p:cNvPr id="9" name="Arrow: Chevron 8">
              <a:extLst>
                <a:ext uri="{FF2B5EF4-FFF2-40B4-BE49-F238E27FC236}">
                  <a16:creationId xmlns:a16="http://schemas.microsoft.com/office/drawing/2014/main" id="{27300312-2EFC-4F4A-8E6A-8B1E5D79DD67}"/>
                </a:ext>
              </a:extLst>
            </p:cNvPr>
            <p:cNvSpPr/>
            <p:nvPr/>
          </p:nvSpPr>
          <p:spPr>
            <a:xfrm>
              <a:off x="1373772" y="209230"/>
              <a:ext cx="954896" cy="14495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000">
                  <a:solidFill>
                    <a:schemeClr val="bg1">
                      <a:lumMod val="75000"/>
                    </a:schemeClr>
                  </a:solidFill>
                </a:rPr>
                <a:t>AUTHORIZATION</a:t>
              </a:r>
            </a:p>
          </p:txBody>
        </p:sp>
      </p:grpSp>
    </p:spTree>
    <p:extLst>
      <p:ext uri="{BB962C8B-B14F-4D97-AF65-F5344CB8AC3E}">
        <p14:creationId xmlns:p14="http://schemas.microsoft.com/office/powerpoint/2010/main" val="306766410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652DF2-FE8F-F774-97D8-59837AD16E1F}"/>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E88BF35-23AA-F190-108E-5B384C15A10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5" imgH="405" progId="TCLayout.ActiveDocument.1">
                  <p:embed/>
                </p:oleObj>
              </mc:Choice>
              <mc:Fallback>
                <p:oleObj name="think-cell Slide" r:id="rId4" imgW="405" imgH="405" progId="TCLayout.ActiveDocument.1">
                  <p:embed/>
                  <p:pic>
                    <p:nvPicPr>
                      <p:cNvPr id="7" name="think-cell data - do not delete" hidden="1">
                        <a:extLst>
                          <a:ext uri="{FF2B5EF4-FFF2-40B4-BE49-F238E27FC236}">
                            <a16:creationId xmlns:a16="http://schemas.microsoft.com/office/drawing/2014/main" id="{AE88BF35-23AA-F190-108E-5B384C15A10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9" name="Rectangle 60">
            <a:extLst>
              <a:ext uri="{FF2B5EF4-FFF2-40B4-BE49-F238E27FC236}">
                <a16:creationId xmlns:a16="http://schemas.microsoft.com/office/drawing/2014/main" id="{AF2D2769-E433-D542-F279-D31149801B84}"/>
              </a:ext>
            </a:extLst>
          </p:cNvPr>
          <p:cNvSpPr txBox="1"/>
          <p:nvPr/>
        </p:nvSpPr>
        <p:spPr>
          <a:xfrm>
            <a:off x="11125275" y="294542"/>
            <a:ext cx="258763" cy="247650"/>
          </a:xfrm>
          <a:prstGeom prst="ellipse">
            <a:avLst/>
          </a:prstGeom>
          <a:blipFill dpi="0" rotWithShape="1">
            <a:blip r:embed="rId6">
              <a:extLst>
                <a:ext uri="{28A0092B-C50C-407E-A947-70E740481C1C}">
                  <a14:useLocalDpi xmlns:a14="http://schemas.microsoft.com/office/drawing/2010/main" val="0"/>
                </a:ext>
                <a:ext uri="{837473B0-CC2E-450A-ABE3-18F120FF3D39}">
                  <a1611:picAttrSrcUrl xmlns:a1611="http://schemas.microsoft.com/office/drawing/2016/11/main" r:id="rId7"/>
                </a:ext>
              </a:extLst>
            </a:blip>
            <a:srcRect/>
            <a:stretch>
              <a:fillRect/>
            </a:stretch>
          </a:blipFill>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9144" tIns="9144" rIns="9144" bIns="9144" anchor="ctr">
            <a:noAutofit/>
          </a:bodyPr>
          <a:lstStyle>
            <a:lvl1pPr defTabSz="910697">
              <a:spcBef>
                <a:spcPts val="200"/>
              </a:spcBef>
              <a:defRPr sz="1300">
                <a:solidFill>
                  <a:srgbClr val="FFFFFF"/>
                </a:solidFill>
                <a:latin typeface="Scotia Bold"/>
                <a:ea typeface="Scotia Bold"/>
                <a:cs typeface="Scotia Bold"/>
                <a:sym typeface="Scotia Bold"/>
              </a:defRPr>
            </a:lvl1pPr>
          </a:lstStyle>
          <a:p>
            <a:pPr marL="0" marR="0" lvl="0" indent="0" algn="ctr" defTabSz="910697" rtl="0" eaLnBrk="1" fontAlgn="auto" latinLnBrk="0" hangingPunct="0">
              <a:lnSpc>
                <a:spcPts val="2200"/>
              </a:lnSpc>
              <a:spcBef>
                <a:spcPts val="0"/>
              </a:spcBef>
              <a:spcAft>
                <a:spcPts val="0"/>
              </a:spcAft>
              <a:buClrTx/>
              <a:buSzTx/>
              <a:buFontTx/>
              <a:buNone/>
              <a:tabLst/>
              <a:defRPr/>
            </a:pPr>
            <a:endParaRPr kumimoji="0" lang="en-US" sz="1200" b="1" i="0" u="none" strike="noStrike" kern="0" cap="none" spc="0" normalizeH="0" baseline="0" noProof="0">
              <a:ln>
                <a:noFill/>
              </a:ln>
              <a:solidFill>
                <a:srgbClr val="FFFFFF"/>
              </a:solidFill>
              <a:effectLst/>
              <a:uLnTx/>
              <a:uFillTx/>
              <a:latin typeface="Scotia"/>
              <a:ea typeface="Scotia Bold"/>
              <a:sym typeface="Scotia Bold"/>
            </a:endParaRPr>
          </a:p>
        </p:txBody>
      </p:sp>
      <p:sp>
        <p:nvSpPr>
          <p:cNvPr id="2" name="Title 1">
            <a:extLst>
              <a:ext uri="{FF2B5EF4-FFF2-40B4-BE49-F238E27FC236}">
                <a16:creationId xmlns:a16="http://schemas.microsoft.com/office/drawing/2014/main" id="{3FC6322F-8EB3-99A0-FCC1-A4BFAC50F89C}"/>
              </a:ext>
            </a:extLst>
          </p:cNvPr>
          <p:cNvSpPr>
            <a:spLocks noGrp="1"/>
          </p:cNvSpPr>
          <p:nvPr>
            <p:ph type="title"/>
          </p:nvPr>
        </p:nvSpPr>
        <p:spPr>
          <a:xfrm>
            <a:off x="515938" y="661850"/>
            <a:ext cx="11160124" cy="720000"/>
          </a:xfrm>
        </p:spPr>
        <p:txBody>
          <a:bodyPr vert="horz" rIns="0"/>
          <a:lstStyle/>
          <a:p>
            <a:r>
              <a:rPr lang="en-US">
                <a:solidFill>
                  <a:srgbClr val="EC111A"/>
                </a:solidFill>
              </a:rPr>
              <a:t>NTB Incremental Revenue Analysis | </a:t>
            </a:r>
            <a:r>
              <a:rPr lang="en-US"/>
              <a:t>Mexico: ~50% of incremental revenue upside driven by Top of Mass with Auto Loans, D2D, and Credit Cards as the ideal mix</a:t>
            </a:r>
          </a:p>
        </p:txBody>
      </p:sp>
      <p:sp>
        <p:nvSpPr>
          <p:cNvPr id="3" name="Slide Number Placeholder 2">
            <a:extLst>
              <a:ext uri="{FF2B5EF4-FFF2-40B4-BE49-F238E27FC236}">
                <a16:creationId xmlns:a16="http://schemas.microsoft.com/office/drawing/2014/main" id="{71374B8C-7BCD-1B32-60D5-5AB6DA403D49}"/>
              </a:ext>
            </a:extLst>
          </p:cNvPr>
          <p:cNvSpPr>
            <a:spLocks noGrp="1"/>
          </p:cNvSpPr>
          <p:nvPr>
            <p:ph type="sldNum" sz="quarter" idx="10"/>
          </p:nvPr>
        </p:nvSpPr>
        <p:spPr/>
        <p:txBody>
          <a:bodyPr/>
          <a:lstStyle/>
          <a:p>
            <a:fld id="{95D835A7-12B2-4074-8DA2-469A8808C237}" type="slidenum">
              <a:rPr lang="en-US" smtClean="0"/>
              <a:pPr/>
              <a:t>56</a:t>
            </a:fld>
            <a:endParaRPr lang="en-US"/>
          </a:p>
        </p:txBody>
      </p:sp>
      <p:sp>
        <p:nvSpPr>
          <p:cNvPr id="12" name="Text Placeholder 11">
            <a:extLst>
              <a:ext uri="{FF2B5EF4-FFF2-40B4-BE49-F238E27FC236}">
                <a16:creationId xmlns:a16="http://schemas.microsoft.com/office/drawing/2014/main" id="{C235D3A0-A2C2-3B30-D648-E78E36FF98CA}"/>
              </a:ext>
            </a:extLst>
          </p:cNvPr>
          <p:cNvSpPr>
            <a:spLocks noGrp="1"/>
          </p:cNvSpPr>
          <p:nvPr>
            <p:ph type="body" sz="quarter" idx="11"/>
          </p:nvPr>
        </p:nvSpPr>
        <p:spPr/>
        <p:txBody>
          <a:bodyPr/>
          <a:lstStyle/>
          <a:p>
            <a:r>
              <a:rPr lang="en-US"/>
              <a:t>1. Detailed methodology in Appendix on slide 24; 2. Analysis done based on sample size of 365 Affluent and 546 Top of Mass clients that migrated from Quartile 1 to Quartile 3/4</a:t>
            </a:r>
            <a:endParaRPr lang="en-CA"/>
          </a:p>
        </p:txBody>
      </p:sp>
      <p:sp>
        <p:nvSpPr>
          <p:cNvPr id="6" name="Rectangle 5">
            <a:extLst>
              <a:ext uri="{FF2B5EF4-FFF2-40B4-BE49-F238E27FC236}">
                <a16:creationId xmlns:a16="http://schemas.microsoft.com/office/drawing/2014/main" id="{6F59FAC2-552B-EE6F-DF4B-BE73092FD376}"/>
              </a:ext>
            </a:extLst>
          </p:cNvPr>
          <p:cNvSpPr/>
          <p:nvPr/>
        </p:nvSpPr>
        <p:spPr>
          <a:xfrm>
            <a:off x="515938" y="1672754"/>
            <a:ext cx="3594965" cy="42200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Bef>
                <a:spcPts val="600"/>
              </a:spcBef>
            </a:pPr>
            <a:r>
              <a:rPr lang="en-US" sz="1100" b="1" spc="200">
                <a:solidFill>
                  <a:schemeClr val="tx1"/>
                </a:solidFill>
              </a:rPr>
              <a:t>NTB AVG. REVENUE PER CLIENT</a:t>
            </a:r>
            <a:r>
              <a:rPr lang="en-US" sz="1100" b="1" spc="200" baseline="30000">
                <a:solidFill>
                  <a:schemeClr val="tx1"/>
                </a:solidFill>
              </a:rPr>
              <a:t>1</a:t>
            </a:r>
          </a:p>
          <a:p>
            <a:r>
              <a:rPr lang="en-US" sz="1100">
                <a:solidFill>
                  <a:schemeClr val="tx1"/>
                </a:solidFill>
              </a:rPr>
              <a:t>In CAD</a:t>
            </a:r>
            <a:endParaRPr lang="en-CA" sz="1100">
              <a:solidFill>
                <a:schemeClr val="tx1"/>
              </a:solidFill>
            </a:endParaRPr>
          </a:p>
        </p:txBody>
      </p:sp>
      <p:sp>
        <p:nvSpPr>
          <p:cNvPr id="9" name="Rectangle 8">
            <a:extLst>
              <a:ext uri="{FF2B5EF4-FFF2-40B4-BE49-F238E27FC236}">
                <a16:creationId xmlns:a16="http://schemas.microsoft.com/office/drawing/2014/main" id="{DE8EF7C4-16E8-F997-26EE-112A7D89899E}"/>
              </a:ext>
            </a:extLst>
          </p:cNvPr>
          <p:cNvSpPr/>
          <p:nvPr/>
        </p:nvSpPr>
        <p:spPr>
          <a:xfrm>
            <a:off x="3931931" y="1672754"/>
            <a:ext cx="7622470" cy="4220046"/>
          </a:xfrm>
          <a:prstGeom prst="rect">
            <a:avLst/>
          </a:prstGeom>
          <a:solidFill>
            <a:schemeClr val="bg1"/>
          </a:solidFill>
          <a:ln>
            <a:solidFill>
              <a:schemeClr val="bg1">
                <a:lumMod val="8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t"/>
          <a:lstStyle/>
          <a:p>
            <a:pPr>
              <a:spcBef>
                <a:spcPts val="600"/>
              </a:spcBef>
            </a:pPr>
            <a:r>
              <a:rPr lang="en-US" sz="1100" b="1">
                <a:solidFill>
                  <a:schemeClr val="tx1"/>
                </a:solidFill>
              </a:rPr>
              <a:t>Potential to advance low-performing NTB clients into top quartiles through product deepening</a:t>
            </a:r>
            <a:r>
              <a:rPr lang="en-US" sz="1100" b="1" baseline="30000">
                <a:solidFill>
                  <a:schemeClr val="tx1"/>
                </a:solidFill>
              </a:rPr>
              <a:t>1</a:t>
            </a:r>
            <a:r>
              <a:rPr lang="en-US" sz="1100" b="1">
                <a:solidFill>
                  <a:schemeClr val="tx1"/>
                </a:solidFill>
              </a:rPr>
              <a:t>:</a:t>
            </a:r>
            <a:endParaRPr lang="en-CA" sz="1100" b="1">
              <a:solidFill>
                <a:schemeClr val="tx1"/>
              </a:solidFill>
            </a:endParaRPr>
          </a:p>
        </p:txBody>
      </p:sp>
      <p:graphicFrame>
        <p:nvGraphicFramePr>
          <p:cNvPr id="14" name="Table 13">
            <a:extLst>
              <a:ext uri="{FF2B5EF4-FFF2-40B4-BE49-F238E27FC236}">
                <a16:creationId xmlns:a16="http://schemas.microsoft.com/office/drawing/2014/main" id="{4BB33722-4F85-CEE5-2EDC-7A7FF334CDF6}"/>
              </a:ext>
            </a:extLst>
          </p:cNvPr>
          <p:cNvGraphicFramePr>
            <a:graphicFrameLocks noGrp="1"/>
          </p:cNvGraphicFramePr>
          <p:nvPr/>
        </p:nvGraphicFramePr>
        <p:xfrm>
          <a:off x="524924" y="2335946"/>
          <a:ext cx="3164759" cy="3541480"/>
        </p:xfrm>
        <a:graphic>
          <a:graphicData uri="http://schemas.openxmlformats.org/drawingml/2006/table">
            <a:tbl>
              <a:tblPr firstRow="1" bandRow="1">
                <a:tableStyleId>{5C22544A-7EE6-4342-B048-85BDC9FD1C3A}</a:tableStyleId>
              </a:tblPr>
              <a:tblGrid>
                <a:gridCol w="848439">
                  <a:extLst>
                    <a:ext uri="{9D8B030D-6E8A-4147-A177-3AD203B41FA5}">
                      <a16:colId xmlns:a16="http://schemas.microsoft.com/office/drawing/2014/main" val="1344132196"/>
                    </a:ext>
                  </a:extLst>
                </a:gridCol>
                <a:gridCol w="579080">
                  <a:extLst>
                    <a:ext uri="{9D8B030D-6E8A-4147-A177-3AD203B41FA5}">
                      <a16:colId xmlns:a16="http://schemas.microsoft.com/office/drawing/2014/main" val="2729487877"/>
                    </a:ext>
                  </a:extLst>
                </a:gridCol>
                <a:gridCol w="579080">
                  <a:extLst>
                    <a:ext uri="{9D8B030D-6E8A-4147-A177-3AD203B41FA5}">
                      <a16:colId xmlns:a16="http://schemas.microsoft.com/office/drawing/2014/main" val="4120058211"/>
                    </a:ext>
                  </a:extLst>
                </a:gridCol>
                <a:gridCol w="579080">
                  <a:extLst>
                    <a:ext uri="{9D8B030D-6E8A-4147-A177-3AD203B41FA5}">
                      <a16:colId xmlns:a16="http://schemas.microsoft.com/office/drawing/2014/main" val="1636814917"/>
                    </a:ext>
                  </a:extLst>
                </a:gridCol>
                <a:gridCol w="579080">
                  <a:extLst>
                    <a:ext uri="{9D8B030D-6E8A-4147-A177-3AD203B41FA5}">
                      <a16:colId xmlns:a16="http://schemas.microsoft.com/office/drawing/2014/main" val="2119022797"/>
                    </a:ext>
                  </a:extLst>
                </a:gridCol>
              </a:tblGrid>
              <a:tr h="239842">
                <a:tc>
                  <a:txBody>
                    <a:bodyPr/>
                    <a:lstStyle/>
                    <a:p>
                      <a:r>
                        <a:rPr lang="en-US" sz="1000">
                          <a:solidFill>
                            <a:schemeClr val="tx1"/>
                          </a:solidFill>
                          <a:latin typeface="+mn-lt"/>
                        </a:rPr>
                        <a:t>Sub-seg.</a:t>
                      </a:r>
                      <a:endParaRPr lang="en-CA" sz="1000">
                        <a:solidFill>
                          <a:schemeClr val="tx1"/>
                        </a:solidFill>
                        <a:latin typeface="+mn-lt"/>
                      </a:endParaRPr>
                    </a:p>
                  </a:txBody>
                  <a:tcPr marR="4680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4</a:t>
                      </a:r>
                      <a:r>
                        <a:rPr lang="en-US" sz="1000" baseline="30000">
                          <a:solidFill>
                            <a:schemeClr val="tx1"/>
                          </a:solidFill>
                          <a:latin typeface="+mn-lt"/>
                        </a:rPr>
                        <a:t>th</a:t>
                      </a:r>
                      <a:r>
                        <a:rPr lang="en-US" sz="1000">
                          <a:solidFill>
                            <a:schemeClr val="tx1"/>
                          </a:solidFill>
                          <a:latin typeface="+mn-lt"/>
                        </a:rPr>
                        <a:t> Quartile</a:t>
                      </a:r>
                      <a:endParaRPr lang="en-CA" sz="1000">
                        <a:solidFill>
                          <a:schemeClr val="tx1"/>
                        </a:solidFill>
                        <a:latin typeface="+mn-lt"/>
                      </a:endParaRPr>
                    </a:p>
                  </a:txBody>
                  <a:tcPr marL="0" marR="0" marT="0" marB="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3</a:t>
                      </a:r>
                      <a:r>
                        <a:rPr lang="en-US" sz="1000" baseline="30000">
                          <a:solidFill>
                            <a:schemeClr val="tx1"/>
                          </a:solidFill>
                          <a:latin typeface="+mn-lt"/>
                        </a:rPr>
                        <a:t>rd</a:t>
                      </a:r>
                      <a:r>
                        <a:rPr lang="en-US" sz="1000">
                          <a:solidFill>
                            <a:schemeClr val="tx1"/>
                          </a:solidFill>
                          <a:latin typeface="+mn-lt"/>
                        </a:rPr>
                        <a:t> Quartile</a:t>
                      </a:r>
                      <a:endParaRPr lang="en-CA" sz="1000">
                        <a:solidFill>
                          <a:schemeClr val="tx1"/>
                        </a:solidFill>
                        <a:latin typeface="+mn-lt"/>
                      </a:endParaRPr>
                    </a:p>
                  </a:txBody>
                  <a:tcPr marL="0" marR="0" marT="0" marB="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2</a:t>
                      </a:r>
                      <a:r>
                        <a:rPr lang="en-US" sz="1000" baseline="30000">
                          <a:solidFill>
                            <a:schemeClr val="tx1"/>
                          </a:solidFill>
                          <a:latin typeface="+mn-lt"/>
                        </a:rPr>
                        <a:t>nd</a:t>
                      </a:r>
                      <a:r>
                        <a:rPr lang="en-US" sz="1000">
                          <a:solidFill>
                            <a:schemeClr val="tx1"/>
                          </a:solidFill>
                          <a:latin typeface="+mn-lt"/>
                        </a:rPr>
                        <a:t> Quartile</a:t>
                      </a:r>
                      <a:endParaRPr lang="en-CA" sz="1000">
                        <a:solidFill>
                          <a:schemeClr val="tx1"/>
                        </a:solidFill>
                        <a:latin typeface="+mn-lt"/>
                      </a:endParaRPr>
                    </a:p>
                  </a:txBody>
                  <a:tcPr marL="0" marR="0" marT="0" marB="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1</a:t>
                      </a:r>
                      <a:r>
                        <a:rPr lang="en-US" sz="1000" baseline="30000">
                          <a:solidFill>
                            <a:schemeClr val="tx1"/>
                          </a:solidFill>
                          <a:latin typeface="+mn-lt"/>
                        </a:rPr>
                        <a:t>st</a:t>
                      </a:r>
                      <a:r>
                        <a:rPr lang="en-US" sz="1000">
                          <a:solidFill>
                            <a:schemeClr val="tx1"/>
                          </a:solidFill>
                          <a:latin typeface="+mn-lt"/>
                        </a:rPr>
                        <a:t> Quartile</a:t>
                      </a:r>
                      <a:endParaRPr lang="en-CA" sz="1000">
                        <a:solidFill>
                          <a:schemeClr val="tx1"/>
                        </a:solidFill>
                        <a:latin typeface="+mn-lt"/>
                      </a:endParaRPr>
                    </a:p>
                  </a:txBody>
                  <a:tcPr marL="0" marR="0" marT="0" marB="0" anchor="ctr">
                    <a:lnB w="9525" cap="flat" cmpd="sng" algn="ctr">
                      <a:solidFill>
                        <a:srgbClr val="EC111A"/>
                      </a:solidFill>
                      <a:prstDash val="solid"/>
                      <a:round/>
                      <a:headEnd type="none" w="med" len="med"/>
                      <a:tailEnd type="none" w="med" len="med"/>
                    </a:lnB>
                    <a:noFill/>
                  </a:tcPr>
                </a:tc>
                <a:extLst>
                  <a:ext uri="{0D108BD9-81ED-4DB2-BD59-A6C34878D82A}">
                    <a16:rowId xmlns:a16="http://schemas.microsoft.com/office/drawing/2014/main" val="2915377967"/>
                  </a:ext>
                </a:extLst>
              </a:tr>
              <a:tr h="633910">
                <a:tc>
                  <a:txBody>
                    <a:bodyPr/>
                    <a:lstStyle/>
                    <a:p>
                      <a:r>
                        <a:rPr lang="en-US" sz="1000" b="1">
                          <a:latin typeface="+mn-lt"/>
                        </a:rPr>
                        <a:t>Small B.</a:t>
                      </a:r>
                    </a:p>
                    <a:p>
                      <a:r>
                        <a:rPr lang="en-US" sz="1000" i="1">
                          <a:latin typeface="+mn-lt"/>
                        </a:rPr>
                        <a:t>No. Clients: 6,628</a:t>
                      </a:r>
                      <a:endParaRPr lang="en-CA" sz="1000" i="1">
                        <a:latin typeface="+mn-lt"/>
                      </a:endParaRPr>
                    </a:p>
                  </a:txBody>
                  <a:tcPr marR="4680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$3,623</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$950</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$572</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$177</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1862458455"/>
                  </a:ext>
                </a:extLst>
              </a:tr>
              <a:tr h="633910">
                <a:tc>
                  <a:txBody>
                    <a:bodyPr/>
                    <a:lstStyle/>
                    <a:p>
                      <a:r>
                        <a:rPr lang="en-US" sz="1000" b="1">
                          <a:latin typeface="+mn-lt"/>
                        </a:rPr>
                        <a:t>Affluent</a:t>
                      </a:r>
                    </a:p>
                    <a:p>
                      <a:r>
                        <a:rPr lang="en-CA" sz="1000" i="1">
                          <a:latin typeface="+mn-lt"/>
                        </a:rPr>
                        <a:t>No. Clients: </a:t>
                      </a:r>
                    </a:p>
                    <a:p>
                      <a:r>
                        <a:rPr lang="en-CA" sz="1000" i="1">
                          <a:latin typeface="+mn-lt"/>
                        </a:rPr>
                        <a:t>5,777</a:t>
                      </a:r>
                    </a:p>
                  </a:txBody>
                  <a:tcPr marR="4680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$8,926</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$3,325</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$1,725</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$302</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4219046059"/>
                  </a:ext>
                </a:extLst>
              </a:tr>
              <a:tr h="633910">
                <a:tc>
                  <a:txBody>
                    <a:bodyPr/>
                    <a:lstStyle/>
                    <a:p>
                      <a:r>
                        <a:rPr lang="en-US" sz="1000" b="1">
                          <a:latin typeface="+mn-lt"/>
                        </a:rPr>
                        <a:t>Em. Affluent</a:t>
                      </a:r>
                    </a:p>
                    <a:p>
                      <a:r>
                        <a:rPr lang="en-CA" sz="1000" i="1">
                          <a:latin typeface="+mn-lt"/>
                        </a:rPr>
                        <a:t>No. Clients: 6,130</a:t>
                      </a:r>
                      <a:endParaRPr lang="en-CA" sz="1000">
                        <a:latin typeface="+mn-lt"/>
                      </a:endParaRPr>
                    </a:p>
                  </a:txBody>
                  <a:tcPr marR="4680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$3,787</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$1,990</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$1,093</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$117</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1159943717"/>
                  </a:ext>
                </a:extLst>
              </a:tr>
              <a:tr h="633910">
                <a:tc>
                  <a:txBody>
                    <a:bodyPr/>
                    <a:lstStyle/>
                    <a:p>
                      <a:r>
                        <a:rPr lang="en-US" sz="1000" b="1">
                          <a:latin typeface="+mn-lt"/>
                        </a:rPr>
                        <a:t>Top of Mass</a:t>
                      </a:r>
                    </a:p>
                    <a:p>
                      <a:r>
                        <a:rPr lang="en-US" sz="1000" i="1">
                          <a:latin typeface="+mn-lt"/>
                        </a:rPr>
                        <a:t>No. Clients: 22,157</a:t>
                      </a:r>
                      <a:endParaRPr lang="en-CA" sz="1000" i="1">
                        <a:latin typeface="+mn-lt"/>
                      </a:endParaRPr>
                    </a:p>
                  </a:txBody>
                  <a:tcPr marR="4680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$2,239</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$1,275</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$585</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$24</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453783790"/>
                  </a:ext>
                </a:extLst>
              </a:tr>
              <a:tr h="633910">
                <a:tc>
                  <a:txBody>
                    <a:bodyPr/>
                    <a:lstStyle/>
                    <a:p>
                      <a:r>
                        <a:rPr lang="en-US" sz="1000" b="1">
                          <a:latin typeface="+mn-lt"/>
                        </a:rPr>
                        <a:t>Mass</a:t>
                      </a:r>
                    </a:p>
                    <a:p>
                      <a:r>
                        <a:rPr lang="en-US" sz="1000" i="1">
                          <a:latin typeface="+mn-lt"/>
                        </a:rPr>
                        <a:t>No. Clients: 164,685</a:t>
                      </a:r>
                      <a:endParaRPr lang="en-CA" sz="1000" i="1">
                        <a:latin typeface="+mn-lt"/>
                      </a:endParaRPr>
                    </a:p>
                  </a:txBody>
                  <a:tcPr marR="46800" anchor="ctr">
                    <a:lnT w="9525" cap="flat" cmpd="sng" algn="ctr">
                      <a:solidFill>
                        <a:schemeClr val="bg1">
                          <a:lumMod val="75000"/>
                        </a:schemeClr>
                      </a:solidFill>
                      <a:prstDash val="sysDot"/>
                      <a:round/>
                      <a:headEnd type="none" w="med" len="med"/>
                      <a:tailEnd type="none" w="med" len="med"/>
                    </a:lnT>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$144</a:t>
                      </a:r>
                    </a:p>
                  </a:txBody>
                  <a:tcPr marL="6350" marR="6350" marT="6350" marB="0" anchor="ctr">
                    <a:lnT w="9525" cap="flat" cmpd="sng" algn="ctr">
                      <a:solidFill>
                        <a:schemeClr val="bg1">
                          <a:lumMod val="75000"/>
                        </a:schemeClr>
                      </a:solidFill>
                      <a:prstDash val="sysDot"/>
                      <a:round/>
                      <a:headEnd type="none" w="med" len="med"/>
                      <a:tailEnd type="none" w="med" len="med"/>
                    </a:lnT>
                    <a:noFill/>
                  </a:tcPr>
                </a:tc>
                <a:tc>
                  <a:txBody>
                    <a:bodyPr/>
                    <a:lstStyle/>
                    <a:p>
                      <a:pPr algn="ctr" fontAlgn="ctr">
                        <a:buNone/>
                      </a:pPr>
                      <a:r>
                        <a:rPr lang="en-US" sz="1000" b="0" i="0" u="none" strike="noStrike">
                          <a:solidFill>
                            <a:srgbClr val="000000"/>
                          </a:solidFill>
                          <a:effectLst/>
                          <a:latin typeface="Scotia" panose="020B0503020203020204" pitchFamily="34" charset="0"/>
                        </a:rPr>
                        <a:t>$13</a:t>
                      </a:r>
                    </a:p>
                  </a:txBody>
                  <a:tcPr marL="6350" marR="6350" marT="6350" marB="0" anchor="ctr">
                    <a:lnT w="9525" cap="flat" cmpd="sng" algn="ctr">
                      <a:solidFill>
                        <a:schemeClr val="bg1">
                          <a:lumMod val="75000"/>
                        </a:schemeClr>
                      </a:solidFill>
                      <a:prstDash val="sysDot"/>
                      <a:round/>
                      <a:headEnd type="none" w="med" len="med"/>
                      <a:tailEnd type="none" w="med" len="med"/>
                    </a:lnT>
                    <a:noFill/>
                  </a:tcPr>
                </a:tc>
                <a:tc>
                  <a:txBody>
                    <a:bodyPr/>
                    <a:lstStyle/>
                    <a:p>
                      <a:pPr algn="ctr" fontAlgn="ctr">
                        <a:buNone/>
                      </a:pPr>
                      <a:r>
                        <a:rPr lang="en-US" sz="1000" b="0" i="0" u="none" strike="noStrike">
                          <a:solidFill>
                            <a:srgbClr val="000000"/>
                          </a:solidFill>
                          <a:effectLst/>
                          <a:latin typeface="Scotia" panose="020B0503020203020204" pitchFamily="34" charset="0"/>
                        </a:rPr>
                        <a:t>$8</a:t>
                      </a:r>
                    </a:p>
                  </a:txBody>
                  <a:tcPr marL="6350" marR="6350" marT="6350" marB="0" anchor="ctr">
                    <a:lnT w="9525" cap="flat" cmpd="sng" algn="ctr">
                      <a:solidFill>
                        <a:schemeClr val="bg1">
                          <a:lumMod val="75000"/>
                        </a:schemeClr>
                      </a:solidFill>
                      <a:prstDash val="sysDot"/>
                      <a:round/>
                      <a:headEnd type="none" w="med" len="med"/>
                      <a:tailEnd type="none" w="med" len="med"/>
                    </a:lnT>
                    <a:noFill/>
                  </a:tcPr>
                </a:tc>
                <a:tc>
                  <a:txBody>
                    <a:bodyPr/>
                    <a:lstStyle/>
                    <a:p>
                      <a:pPr algn="ctr" fontAlgn="ctr">
                        <a:buNone/>
                      </a:pPr>
                      <a:r>
                        <a:rPr lang="en-US" sz="1000" b="0" i="0" u="none" strike="noStrike">
                          <a:solidFill>
                            <a:srgbClr val="000000"/>
                          </a:solidFill>
                          <a:effectLst/>
                          <a:latin typeface="Scotia" panose="020B0503020203020204" pitchFamily="34" charset="0"/>
                        </a:rPr>
                        <a:t>$6</a:t>
                      </a:r>
                    </a:p>
                  </a:txBody>
                  <a:tcPr marL="6350" marR="6350" marT="6350" marB="0" anchor="ctr">
                    <a:lnT w="9525" cap="flat" cmpd="sng" algn="ctr">
                      <a:solidFill>
                        <a:schemeClr val="bg1">
                          <a:lumMod val="75000"/>
                        </a:schemeClr>
                      </a:solidFill>
                      <a:prstDash val="sysDot"/>
                      <a:round/>
                      <a:headEnd type="none" w="med" len="med"/>
                      <a:tailEnd type="none" w="med" len="med"/>
                    </a:lnT>
                    <a:noFill/>
                  </a:tcPr>
                </a:tc>
                <a:extLst>
                  <a:ext uri="{0D108BD9-81ED-4DB2-BD59-A6C34878D82A}">
                    <a16:rowId xmlns:a16="http://schemas.microsoft.com/office/drawing/2014/main" val="64397876"/>
                  </a:ext>
                </a:extLst>
              </a:tr>
            </a:tbl>
          </a:graphicData>
        </a:graphic>
      </p:graphicFrame>
      <p:sp>
        <p:nvSpPr>
          <p:cNvPr id="31" name="Rectangle 30">
            <a:extLst>
              <a:ext uri="{FF2B5EF4-FFF2-40B4-BE49-F238E27FC236}">
                <a16:creationId xmlns:a16="http://schemas.microsoft.com/office/drawing/2014/main" id="{7F5D63A1-F9CE-686B-FABB-E9D8C64658C0}"/>
              </a:ext>
            </a:extLst>
          </p:cNvPr>
          <p:cNvSpPr/>
          <p:nvPr/>
        </p:nvSpPr>
        <p:spPr>
          <a:xfrm>
            <a:off x="1400001" y="2090115"/>
            <a:ext cx="1064020" cy="17781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chemeClr val="tx1"/>
                </a:solidFill>
              </a:rPr>
              <a:t>Top performers</a:t>
            </a:r>
            <a:endParaRPr lang="en-CA" sz="900" i="1">
              <a:solidFill>
                <a:schemeClr val="tx1"/>
              </a:solidFill>
            </a:endParaRPr>
          </a:p>
        </p:txBody>
      </p:sp>
      <p:sp>
        <p:nvSpPr>
          <p:cNvPr id="32" name="Rectangle 31">
            <a:extLst>
              <a:ext uri="{FF2B5EF4-FFF2-40B4-BE49-F238E27FC236}">
                <a16:creationId xmlns:a16="http://schemas.microsoft.com/office/drawing/2014/main" id="{D0B32CE2-0A51-05C6-21F5-CE2E5869A60C}"/>
              </a:ext>
            </a:extLst>
          </p:cNvPr>
          <p:cNvSpPr/>
          <p:nvPr/>
        </p:nvSpPr>
        <p:spPr>
          <a:xfrm>
            <a:off x="2567142" y="2090115"/>
            <a:ext cx="1064020" cy="177813"/>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chemeClr val="bg1"/>
                </a:solidFill>
              </a:rPr>
              <a:t>Low performers</a:t>
            </a:r>
            <a:endParaRPr lang="en-CA" sz="900" i="1">
              <a:solidFill>
                <a:schemeClr val="bg1"/>
              </a:solidFill>
            </a:endParaRPr>
          </a:p>
        </p:txBody>
      </p:sp>
      <p:sp>
        <p:nvSpPr>
          <p:cNvPr id="33" name="Rectangle 32">
            <a:extLst>
              <a:ext uri="{FF2B5EF4-FFF2-40B4-BE49-F238E27FC236}">
                <a16:creationId xmlns:a16="http://schemas.microsoft.com/office/drawing/2014/main" id="{AD7B24CE-B904-1BDC-0CB7-DADF3824F961}"/>
              </a:ext>
            </a:extLst>
          </p:cNvPr>
          <p:cNvSpPr/>
          <p:nvPr/>
        </p:nvSpPr>
        <p:spPr>
          <a:xfrm>
            <a:off x="2581877" y="2769173"/>
            <a:ext cx="1053080" cy="2336094"/>
          </a:xfrm>
          <a:prstGeom prst="rect">
            <a:avLst/>
          </a:prstGeom>
          <a:noFill/>
          <a:ln w="9525">
            <a:solidFill>
              <a:srgbClr val="EC111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sp>
        <p:nvSpPr>
          <p:cNvPr id="34" name="Arc 33">
            <a:extLst>
              <a:ext uri="{FF2B5EF4-FFF2-40B4-BE49-F238E27FC236}">
                <a16:creationId xmlns:a16="http://schemas.microsoft.com/office/drawing/2014/main" id="{6D6C9A67-CD64-BBED-4957-79EC96A669E1}"/>
              </a:ext>
            </a:extLst>
          </p:cNvPr>
          <p:cNvSpPr/>
          <p:nvPr/>
        </p:nvSpPr>
        <p:spPr>
          <a:xfrm rot="12645855" flipH="1" flipV="1">
            <a:off x="3620429" y="2743923"/>
            <a:ext cx="495618" cy="534272"/>
          </a:xfrm>
          <a:prstGeom prst="arc">
            <a:avLst>
              <a:gd name="adj1" fmla="val 11076243"/>
              <a:gd name="adj2" fmla="val 14646048"/>
            </a:avLst>
          </a:prstGeom>
          <a:ln w="9525">
            <a:prstDash val="sysDot"/>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cotia"/>
              <a:ea typeface="+mn-ea"/>
              <a:cs typeface="+mn-cs"/>
            </a:endParaRPr>
          </a:p>
        </p:txBody>
      </p:sp>
      <p:graphicFrame>
        <p:nvGraphicFramePr>
          <p:cNvPr id="36" name="Table 35">
            <a:extLst>
              <a:ext uri="{FF2B5EF4-FFF2-40B4-BE49-F238E27FC236}">
                <a16:creationId xmlns:a16="http://schemas.microsoft.com/office/drawing/2014/main" id="{21511C2D-09F4-556A-1FD4-98A101DED3D0}"/>
              </a:ext>
            </a:extLst>
          </p:cNvPr>
          <p:cNvGraphicFramePr>
            <a:graphicFrameLocks noGrp="1"/>
          </p:cNvGraphicFramePr>
          <p:nvPr/>
        </p:nvGraphicFramePr>
        <p:xfrm>
          <a:off x="4087743" y="2416478"/>
          <a:ext cx="3736276" cy="3254685"/>
        </p:xfrm>
        <a:graphic>
          <a:graphicData uri="http://schemas.openxmlformats.org/drawingml/2006/table">
            <a:tbl>
              <a:tblPr firstRow="1" bandRow="1">
                <a:tableStyleId>{5C22544A-7EE6-4342-B048-85BDC9FD1C3A}</a:tableStyleId>
              </a:tblPr>
              <a:tblGrid>
                <a:gridCol w="734420">
                  <a:extLst>
                    <a:ext uri="{9D8B030D-6E8A-4147-A177-3AD203B41FA5}">
                      <a16:colId xmlns:a16="http://schemas.microsoft.com/office/drawing/2014/main" val="1344132196"/>
                    </a:ext>
                  </a:extLst>
                </a:gridCol>
                <a:gridCol w="1165682">
                  <a:extLst>
                    <a:ext uri="{9D8B030D-6E8A-4147-A177-3AD203B41FA5}">
                      <a16:colId xmlns:a16="http://schemas.microsoft.com/office/drawing/2014/main" val="2729487877"/>
                    </a:ext>
                  </a:extLst>
                </a:gridCol>
                <a:gridCol w="1836174">
                  <a:extLst>
                    <a:ext uri="{9D8B030D-6E8A-4147-A177-3AD203B41FA5}">
                      <a16:colId xmlns:a16="http://schemas.microsoft.com/office/drawing/2014/main" val="4120058211"/>
                    </a:ext>
                  </a:extLst>
                </a:gridCol>
              </a:tblGrid>
              <a:tr h="326502">
                <a:tc>
                  <a:txBody>
                    <a:bodyPr/>
                    <a:lstStyle/>
                    <a:p>
                      <a:r>
                        <a:rPr lang="en-US" sz="1000">
                          <a:solidFill>
                            <a:schemeClr val="tx1"/>
                          </a:solidFill>
                          <a:latin typeface="+mn-lt"/>
                        </a:rPr>
                        <a:t>Sub-seg.</a:t>
                      </a:r>
                      <a:endParaRPr lang="en-CA" sz="1000">
                        <a:solidFill>
                          <a:schemeClr val="tx1"/>
                        </a:solidFill>
                        <a:latin typeface="+mn-lt"/>
                      </a:endParaRPr>
                    </a:p>
                  </a:txBody>
                  <a:tcPr marR="4680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NTB Clients </a:t>
                      </a:r>
                    </a:p>
                    <a:p>
                      <a:pPr algn="ctr"/>
                      <a:r>
                        <a:rPr lang="en-US" sz="1000" b="0" i="1">
                          <a:solidFill>
                            <a:schemeClr val="tx1"/>
                          </a:solidFill>
                          <a:latin typeface="+mn-lt"/>
                        </a:rPr>
                        <a:t>with 1 or 2 products</a:t>
                      </a:r>
                      <a:endParaRPr lang="en-CA" sz="1000" b="0" i="1">
                        <a:solidFill>
                          <a:schemeClr val="tx1"/>
                        </a:solidFill>
                        <a:latin typeface="+mn-lt"/>
                      </a:endParaRPr>
                    </a:p>
                  </a:txBody>
                  <a:tcPr marL="0" marR="0" anchor="ctr">
                    <a:lnB w="9525" cap="flat" cmpd="sng" algn="ctr">
                      <a:solidFill>
                        <a:srgbClr val="EC111A"/>
                      </a:solidFill>
                      <a:prstDash val="solid"/>
                      <a:round/>
                      <a:headEnd type="none" w="med" len="med"/>
                      <a:tailEnd type="none" w="med" len="med"/>
                    </a:lnB>
                    <a:noFill/>
                  </a:tcPr>
                </a:tc>
                <a:tc>
                  <a:txBody>
                    <a:bodyPr/>
                    <a:lstStyle/>
                    <a:p>
                      <a:pPr algn="ctr"/>
                      <a:r>
                        <a:rPr lang="en-US" sz="1000">
                          <a:solidFill>
                            <a:schemeClr val="tx1"/>
                          </a:solidFill>
                          <a:latin typeface="+mn-lt"/>
                        </a:rPr>
                        <a:t>Incremental Revenue</a:t>
                      </a:r>
                    </a:p>
                    <a:p>
                      <a:pPr algn="ctr"/>
                      <a:r>
                        <a:rPr lang="en-US" sz="1000" b="0" i="1">
                          <a:solidFill>
                            <a:schemeClr val="tx1"/>
                          </a:solidFill>
                          <a:latin typeface="+mn-lt"/>
                        </a:rPr>
                        <a:t>Cross sell 10-20% of NTB </a:t>
                      </a:r>
                      <a:endParaRPr lang="en-CA" sz="1000" b="0" i="1">
                        <a:solidFill>
                          <a:schemeClr val="tx1"/>
                        </a:solidFill>
                        <a:latin typeface="+mn-lt"/>
                      </a:endParaRPr>
                    </a:p>
                  </a:txBody>
                  <a:tcPr marL="0" marR="0" anchor="ctr">
                    <a:lnB w="9525" cap="flat" cmpd="sng" algn="ctr">
                      <a:solidFill>
                        <a:srgbClr val="EC111A"/>
                      </a:solidFill>
                      <a:prstDash val="solid"/>
                      <a:round/>
                      <a:headEnd type="none" w="med" len="med"/>
                      <a:tailEnd type="none" w="med" len="med"/>
                    </a:lnB>
                    <a:noFill/>
                  </a:tcPr>
                </a:tc>
                <a:extLst>
                  <a:ext uri="{0D108BD9-81ED-4DB2-BD59-A6C34878D82A}">
                    <a16:rowId xmlns:a16="http://schemas.microsoft.com/office/drawing/2014/main" val="2915377967"/>
                  </a:ext>
                </a:extLst>
              </a:tr>
              <a:tr h="571689">
                <a:tc>
                  <a:txBody>
                    <a:bodyPr/>
                    <a:lstStyle/>
                    <a:p>
                      <a:r>
                        <a:rPr lang="en-US" sz="1000" b="1">
                          <a:latin typeface="+mn-lt"/>
                        </a:rPr>
                        <a:t>Small Business</a:t>
                      </a:r>
                    </a:p>
                  </a:txBody>
                  <a:tcPr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1,130</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b">
                        <a:buNone/>
                      </a:pPr>
                      <a:r>
                        <a:rPr lang="en-US" sz="1000" b="0" i="0" u="none" strike="noStrike">
                          <a:solidFill>
                            <a:srgbClr val="000000"/>
                          </a:solidFill>
                          <a:effectLst/>
                          <a:latin typeface="+mn-lt"/>
                        </a:rPr>
                        <a:t>$0.2 – 0.4 MM</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1862458455"/>
                  </a:ext>
                </a:extLst>
              </a:tr>
              <a:tr h="571689">
                <a:tc>
                  <a:txBody>
                    <a:bodyPr/>
                    <a:lstStyle/>
                    <a:p>
                      <a:r>
                        <a:rPr lang="en-US" sz="1000" b="1">
                          <a:latin typeface="+mn-lt"/>
                        </a:rPr>
                        <a:t>Affluent</a:t>
                      </a:r>
                    </a:p>
                  </a:txBody>
                  <a:tcPr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588</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b">
                        <a:buNone/>
                      </a:pPr>
                      <a:r>
                        <a:rPr lang="en-US" sz="1000" b="0" i="0" u="none" strike="noStrike">
                          <a:solidFill>
                            <a:srgbClr val="000000"/>
                          </a:solidFill>
                          <a:effectLst/>
                          <a:latin typeface="+mn-lt"/>
                        </a:rPr>
                        <a:t>$0.3 – 0.6 MM</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4219046059"/>
                  </a:ext>
                </a:extLst>
              </a:tr>
              <a:tr h="571689">
                <a:tc>
                  <a:txBody>
                    <a:bodyPr/>
                    <a:lstStyle/>
                    <a:p>
                      <a:r>
                        <a:rPr lang="en-US" sz="1000" b="1">
                          <a:latin typeface="+mn-lt"/>
                        </a:rPr>
                        <a:t>Em. Affluent</a:t>
                      </a:r>
                    </a:p>
                  </a:txBody>
                  <a:tcPr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1,063</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b">
                        <a:buNone/>
                      </a:pPr>
                      <a:r>
                        <a:rPr lang="en-US" sz="1000" b="0" i="0" u="none" strike="noStrike">
                          <a:solidFill>
                            <a:srgbClr val="000000"/>
                          </a:solidFill>
                          <a:effectLst/>
                          <a:latin typeface="+mn-lt"/>
                        </a:rPr>
                        <a:t>$0.2 – 0.5 MM</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1159943717"/>
                  </a:ext>
                </a:extLst>
              </a:tr>
              <a:tr h="571689">
                <a:tc>
                  <a:txBody>
                    <a:bodyPr/>
                    <a:lstStyle/>
                    <a:p>
                      <a:r>
                        <a:rPr lang="en-US" sz="1000" b="1">
                          <a:latin typeface="+mn-lt"/>
                        </a:rPr>
                        <a:t>Top of Mass</a:t>
                      </a:r>
                    </a:p>
                  </a:txBody>
                  <a:tcPr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4,584</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algn="ctr" fontAlgn="b">
                        <a:buNone/>
                      </a:pPr>
                      <a:r>
                        <a:rPr lang="en-US" sz="1000" b="0" i="0" u="none" strike="noStrike">
                          <a:solidFill>
                            <a:srgbClr val="000000"/>
                          </a:solidFill>
                          <a:effectLst/>
                          <a:latin typeface="+mn-lt"/>
                        </a:rPr>
                        <a:t>$0.7 – 1.3 MM</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453783790"/>
                  </a:ext>
                </a:extLst>
              </a:tr>
              <a:tr h="571689">
                <a:tc>
                  <a:txBody>
                    <a:bodyPr/>
                    <a:lstStyle/>
                    <a:p>
                      <a:r>
                        <a:rPr lang="en-US" sz="1000" b="1">
                          <a:latin typeface="+mn-lt"/>
                        </a:rPr>
                        <a:t>Total</a:t>
                      </a:r>
                    </a:p>
                  </a:txBody>
                  <a:tcPr anchor="ct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solidFill>
                      <a:srgbClr val="EDE4D7"/>
                    </a:solidFill>
                  </a:tcPr>
                </a:tc>
                <a:tc>
                  <a:txBody>
                    <a:bodyPr/>
                    <a:lstStyle/>
                    <a:p>
                      <a:pPr algn="ctr" fontAlgn="ctr">
                        <a:buNone/>
                      </a:pPr>
                      <a:r>
                        <a:rPr lang="en-US" sz="1000" b="1" i="0" u="none" strike="noStrike">
                          <a:solidFill>
                            <a:srgbClr val="000000"/>
                          </a:solidFill>
                          <a:effectLst/>
                          <a:latin typeface="Scotia" panose="020B0503020203020204" pitchFamily="34" charset="0"/>
                        </a:rPr>
                        <a:t>7,365</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pPr algn="ctr" fontAlgn="b">
                        <a:buNone/>
                      </a:pPr>
                      <a:r>
                        <a:rPr lang="en-US" sz="1000" b="1" i="0" u="none" strike="noStrike">
                          <a:solidFill>
                            <a:srgbClr val="000000"/>
                          </a:solidFill>
                          <a:effectLst/>
                          <a:latin typeface="+mn-lt"/>
                        </a:rPr>
                        <a:t>$1.4 – 2.9 MM</a:t>
                      </a:r>
                    </a:p>
                  </a:txBody>
                  <a:tcPr marL="6350" marR="6350" marT="6350" marB="0" anchor="ctr">
                    <a:lnT w="9525" cap="flat" cmpd="sng" algn="ctr">
                      <a:solidFill>
                        <a:schemeClr val="bg1">
                          <a:lumMod val="75000"/>
                        </a:schemeClr>
                      </a:solidFill>
                      <a:prstDash val="sysDot"/>
                      <a:round/>
                      <a:headEnd type="none" w="med" len="med"/>
                      <a:tailEnd type="none" w="med" len="med"/>
                    </a:lnT>
                    <a:lnB w="9525" cap="flat" cmpd="sng" algn="ctr">
                      <a:noFill/>
                      <a:prstDash val="sysDot"/>
                      <a:round/>
                      <a:headEnd type="none" w="med" len="med"/>
                      <a:tailEnd type="none" w="med" len="med"/>
                    </a:lnB>
                    <a:noFill/>
                  </a:tcPr>
                </a:tc>
                <a:extLst>
                  <a:ext uri="{0D108BD9-81ED-4DB2-BD59-A6C34878D82A}">
                    <a16:rowId xmlns:a16="http://schemas.microsoft.com/office/drawing/2014/main" val="3901281371"/>
                  </a:ext>
                </a:extLst>
              </a:tr>
            </a:tbl>
          </a:graphicData>
        </a:graphic>
      </p:graphicFrame>
      <p:sp>
        <p:nvSpPr>
          <p:cNvPr id="37" name="Rectangle 36">
            <a:extLst>
              <a:ext uri="{FF2B5EF4-FFF2-40B4-BE49-F238E27FC236}">
                <a16:creationId xmlns:a16="http://schemas.microsoft.com/office/drawing/2014/main" id="{C6BCD029-B80E-D480-BEA6-995EFF500637}"/>
              </a:ext>
            </a:extLst>
          </p:cNvPr>
          <p:cNvSpPr/>
          <p:nvPr/>
        </p:nvSpPr>
        <p:spPr>
          <a:xfrm>
            <a:off x="8104040" y="2388826"/>
            <a:ext cx="3301468" cy="350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Bef>
                <a:spcPts val="600"/>
              </a:spcBef>
            </a:pPr>
            <a:r>
              <a:rPr lang="en-US" sz="1000">
                <a:solidFill>
                  <a:schemeClr val="tx1"/>
                </a:solidFill>
              </a:rPr>
              <a:t>Product mixes strongly associated with client progression and uplift:</a:t>
            </a:r>
            <a:endParaRPr lang="en-CA" sz="1000">
              <a:solidFill>
                <a:schemeClr val="tx1"/>
              </a:solidFill>
            </a:endParaRPr>
          </a:p>
        </p:txBody>
      </p:sp>
      <p:grpSp>
        <p:nvGrpSpPr>
          <p:cNvPr id="80" name="Group 79">
            <a:extLst>
              <a:ext uri="{FF2B5EF4-FFF2-40B4-BE49-F238E27FC236}">
                <a16:creationId xmlns:a16="http://schemas.microsoft.com/office/drawing/2014/main" id="{CAB17F77-A36E-CE72-7349-60169BD10B5A}"/>
              </a:ext>
            </a:extLst>
          </p:cNvPr>
          <p:cNvGrpSpPr/>
          <p:nvPr/>
        </p:nvGrpSpPr>
        <p:grpSpPr>
          <a:xfrm>
            <a:off x="8081099" y="2814675"/>
            <a:ext cx="3324408" cy="1361909"/>
            <a:chOff x="8081099" y="2814675"/>
            <a:chExt cx="3324408" cy="1361909"/>
          </a:xfrm>
        </p:grpSpPr>
        <p:sp>
          <p:nvSpPr>
            <p:cNvPr id="38" name="Rectangle 37">
              <a:extLst>
                <a:ext uri="{FF2B5EF4-FFF2-40B4-BE49-F238E27FC236}">
                  <a16:creationId xmlns:a16="http://schemas.microsoft.com/office/drawing/2014/main" id="{C9344259-0717-672B-4DC9-750767FAC331}"/>
                </a:ext>
              </a:extLst>
            </p:cNvPr>
            <p:cNvSpPr/>
            <p:nvPr/>
          </p:nvSpPr>
          <p:spPr>
            <a:xfrm>
              <a:off x="8081099" y="2814675"/>
              <a:ext cx="3324408" cy="1361909"/>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2880" tIns="274320" rIns="91440" bIns="274320" rtlCol="0" anchor="ctr"/>
            <a:lstStyle/>
            <a:p>
              <a:pPr>
                <a:spcAft>
                  <a:spcPts val="1200"/>
                </a:spcAft>
              </a:pPr>
              <a:endParaRPr lang="en-US" sz="1000" i="1" baseline="30000">
                <a:solidFill>
                  <a:srgbClr val="C00000"/>
                </a:solidFill>
                <a:sym typeface="Wingdings" panose="05000000000000000000" pitchFamily="2" charset="2"/>
              </a:endParaRPr>
            </a:p>
          </p:txBody>
        </p:sp>
        <p:sp>
          <p:nvSpPr>
            <p:cNvPr id="39" name="Rectangle 38">
              <a:extLst>
                <a:ext uri="{FF2B5EF4-FFF2-40B4-BE49-F238E27FC236}">
                  <a16:creationId xmlns:a16="http://schemas.microsoft.com/office/drawing/2014/main" id="{FE472DAC-D7BE-3769-5EB7-CAB4522B2211}"/>
                </a:ext>
              </a:extLst>
            </p:cNvPr>
            <p:cNvSpPr/>
            <p:nvPr/>
          </p:nvSpPr>
          <p:spPr>
            <a:xfrm>
              <a:off x="8182672" y="2911079"/>
              <a:ext cx="233230" cy="212027"/>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latin typeface="+mj-lt"/>
                </a:rPr>
                <a:t>A</a:t>
              </a:r>
            </a:p>
          </p:txBody>
        </p:sp>
      </p:grpSp>
      <p:sp>
        <p:nvSpPr>
          <p:cNvPr id="40" name="Rectangle 39">
            <a:extLst>
              <a:ext uri="{FF2B5EF4-FFF2-40B4-BE49-F238E27FC236}">
                <a16:creationId xmlns:a16="http://schemas.microsoft.com/office/drawing/2014/main" id="{66BF4CD3-0D84-E8C4-04D7-03AC6BFDF7E1}"/>
              </a:ext>
            </a:extLst>
          </p:cNvPr>
          <p:cNvSpPr/>
          <p:nvPr/>
        </p:nvSpPr>
        <p:spPr>
          <a:xfrm>
            <a:off x="8516244" y="2894520"/>
            <a:ext cx="2788920" cy="2565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b="1">
                <a:solidFill>
                  <a:schemeClr val="tx1"/>
                </a:solidFill>
              </a:rPr>
              <a:t>Ideal product mix for Affluent</a:t>
            </a:r>
          </a:p>
        </p:txBody>
      </p:sp>
      <p:sp>
        <p:nvSpPr>
          <p:cNvPr id="47" name="Rectangle 46">
            <a:extLst>
              <a:ext uri="{FF2B5EF4-FFF2-40B4-BE49-F238E27FC236}">
                <a16:creationId xmlns:a16="http://schemas.microsoft.com/office/drawing/2014/main" id="{96C1C2F1-4074-F3DA-99F8-6DA624964C7F}"/>
              </a:ext>
            </a:extLst>
          </p:cNvPr>
          <p:cNvSpPr/>
          <p:nvPr/>
        </p:nvSpPr>
        <p:spPr>
          <a:xfrm>
            <a:off x="8416435" y="3903205"/>
            <a:ext cx="2653737" cy="1710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CA" sz="900" b="1" i="1">
                <a:solidFill>
                  <a:schemeClr val="tx1"/>
                </a:solidFill>
              </a:rPr>
              <a:t>76%</a:t>
            </a:r>
            <a:r>
              <a:rPr lang="en-CA" sz="900" i="1">
                <a:solidFill>
                  <a:schemeClr val="tx1"/>
                </a:solidFill>
              </a:rPr>
              <a:t> </a:t>
            </a:r>
            <a:r>
              <a:rPr lang="en-CA" sz="800" i="1">
                <a:solidFill>
                  <a:schemeClr val="tx1"/>
                </a:solidFill>
              </a:rPr>
              <a:t>of NTB clients w/ 2- 3 products progressed from Quartile 1 to  Quartiles 3/4</a:t>
            </a:r>
          </a:p>
        </p:txBody>
      </p:sp>
      <p:sp>
        <p:nvSpPr>
          <p:cNvPr id="67" name="Rectangle 66">
            <a:extLst>
              <a:ext uri="{FF2B5EF4-FFF2-40B4-BE49-F238E27FC236}">
                <a16:creationId xmlns:a16="http://schemas.microsoft.com/office/drawing/2014/main" id="{100C26E4-480D-CFBD-4379-E099A502214E}"/>
              </a:ext>
            </a:extLst>
          </p:cNvPr>
          <p:cNvSpPr/>
          <p:nvPr/>
        </p:nvSpPr>
        <p:spPr>
          <a:xfrm>
            <a:off x="4087743" y="2098604"/>
            <a:ext cx="3736276" cy="21515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b="1">
                <a:solidFill>
                  <a:schemeClr val="tx1"/>
                </a:solidFill>
              </a:rPr>
              <a:t>Opportunity</a:t>
            </a:r>
            <a:endParaRPr lang="en-CA" sz="1000" b="1">
              <a:solidFill>
                <a:schemeClr val="tx1"/>
              </a:solidFill>
            </a:endParaRPr>
          </a:p>
        </p:txBody>
      </p:sp>
      <p:sp>
        <p:nvSpPr>
          <p:cNvPr id="68" name="Rectangle 67">
            <a:extLst>
              <a:ext uri="{FF2B5EF4-FFF2-40B4-BE49-F238E27FC236}">
                <a16:creationId xmlns:a16="http://schemas.microsoft.com/office/drawing/2014/main" id="{7F9A9843-FDD8-063E-4038-610279849803}"/>
              </a:ext>
            </a:extLst>
          </p:cNvPr>
          <p:cNvSpPr/>
          <p:nvPr/>
        </p:nvSpPr>
        <p:spPr>
          <a:xfrm>
            <a:off x="8081099" y="2098603"/>
            <a:ext cx="3324408" cy="21515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000" b="1">
                <a:solidFill>
                  <a:schemeClr val="tx1"/>
                </a:solidFill>
              </a:rPr>
              <a:t>Product mix drivers</a:t>
            </a:r>
            <a:r>
              <a:rPr lang="en-US" sz="1000" b="1" baseline="30000">
                <a:solidFill>
                  <a:schemeClr val="tx1"/>
                </a:solidFill>
              </a:rPr>
              <a:t>2</a:t>
            </a:r>
            <a:endParaRPr lang="en-CA" sz="1000" b="1" baseline="30000">
              <a:solidFill>
                <a:schemeClr val="tx1"/>
              </a:solidFill>
            </a:endParaRPr>
          </a:p>
        </p:txBody>
      </p:sp>
      <p:grpSp>
        <p:nvGrpSpPr>
          <p:cNvPr id="81" name="Group 80">
            <a:extLst>
              <a:ext uri="{FF2B5EF4-FFF2-40B4-BE49-F238E27FC236}">
                <a16:creationId xmlns:a16="http://schemas.microsoft.com/office/drawing/2014/main" id="{C3E533D4-33B7-2897-58E8-18744E670E07}"/>
              </a:ext>
            </a:extLst>
          </p:cNvPr>
          <p:cNvGrpSpPr/>
          <p:nvPr/>
        </p:nvGrpSpPr>
        <p:grpSpPr>
          <a:xfrm>
            <a:off x="8081099" y="4308834"/>
            <a:ext cx="3324408" cy="1361909"/>
            <a:chOff x="8081099" y="2814675"/>
            <a:chExt cx="3324408" cy="1361909"/>
          </a:xfrm>
        </p:grpSpPr>
        <p:sp>
          <p:nvSpPr>
            <p:cNvPr id="82" name="Rectangle 81">
              <a:extLst>
                <a:ext uri="{FF2B5EF4-FFF2-40B4-BE49-F238E27FC236}">
                  <a16:creationId xmlns:a16="http://schemas.microsoft.com/office/drawing/2014/main" id="{2D346DED-FE39-5B43-EA2D-7F4AB0C02023}"/>
                </a:ext>
              </a:extLst>
            </p:cNvPr>
            <p:cNvSpPr/>
            <p:nvPr/>
          </p:nvSpPr>
          <p:spPr>
            <a:xfrm>
              <a:off x="8081099" y="2814675"/>
              <a:ext cx="3324408" cy="1361909"/>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182880" tIns="274320" rIns="91440" bIns="274320" rtlCol="0" anchor="ctr"/>
            <a:lstStyle/>
            <a:p>
              <a:pPr>
                <a:spcAft>
                  <a:spcPts val="1200"/>
                </a:spcAft>
              </a:pPr>
              <a:endParaRPr lang="en-US" sz="1000" i="1" baseline="30000">
                <a:solidFill>
                  <a:srgbClr val="C00000"/>
                </a:solidFill>
                <a:sym typeface="Wingdings" panose="05000000000000000000" pitchFamily="2" charset="2"/>
              </a:endParaRPr>
            </a:p>
          </p:txBody>
        </p:sp>
        <p:sp>
          <p:nvSpPr>
            <p:cNvPr id="83" name="Rectangle 82">
              <a:extLst>
                <a:ext uri="{FF2B5EF4-FFF2-40B4-BE49-F238E27FC236}">
                  <a16:creationId xmlns:a16="http://schemas.microsoft.com/office/drawing/2014/main" id="{F49B332D-A8C0-F33C-3AA7-BBB202E8EAA6}"/>
                </a:ext>
              </a:extLst>
            </p:cNvPr>
            <p:cNvSpPr/>
            <p:nvPr/>
          </p:nvSpPr>
          <p:spPr>
            <a:xfrm>
              <a:off x="8182672" y="2911079"/>
              <a:ext cx="233230" cy="212027"/>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latin typeface="+mj-lt"/>
                </a:rPr>
                <a:t>B</a:t>
              </a:r>
            </a:p>
          </p:txBody>
        </p:sp>
      </p:grpSp>
      <p:grpSp>
        <p:nvGrpSpPr>
          <p:cNvPr id="84" name="Group 83">
            <a:extLst>
              <a:ext uri="{FF2B5EF4-FFF2-40B4-BE49-F238E27FC236}">
                <a16:creationId xmlns:a16="http://schemas.microsoft.com/office/drawing/2014/main" id="{37E0B0C1-5EFA-4EA6-4D02-582EEC429645}"/>
              </a:ext>
            </a:extLst>
          </p:cNvPr>
          <p:cNvGrpSpPr/>
          <p:nvPr/>
        </p:nvGrpSpPr>
        <p:grpSpPr>
          <a:xfrm>
            <a:off x="8272344" y="3318765"/>
            <a:ext cx="3056167" cy="207011"/>
            <a:chOff x="8224136" y="4837572"/>
            <a:chExt cx="3056167" cy="207011"/>
          </a:xfrm>
        </p:grpSpPr>
        <p:sp>
          <p:nvSpPr>
            <p:cNvPr id="60" name="Rectangle: Rounded Corners 59">
              <a:extLst>
                <a:ext uri="{FF2B5EF4-FFF2-40B4-BE49-F238E27FC236}">
                  <a16:creationId xmlns:a16="http://schemas.microsoft.com/office/drawing/2014/main" id="{4799859E-E1D6-BA67-0496-BACD43C6752E}"/>
                </a:ext>
              </a:extLst>
            </p:cNvPr>
            <p:cNvSpPr/>
            <p:nvPr/>
          </p:nvSpPr>
          <p:spPr>
            <a:xfrm>
              <a:off x="8224136"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D2D</a:t>
              </a:r>
            </a:p>
          </p:txBody>
        </p:sp>
        <p:sp>
          <p:nvSpPr>
            <p:cNvPr id="61" name="Rectangle: Rounded Corners 60">
              <a:extLst>
                <a:ext uri="{FF2B5EF4-FFF2-40B4-BE49-F238E27FC236}">
                  <a16:creationId xmlns:a16="http://schemas.microsoft.com/office/drawing/2014/main" id="{329BA6FB-99F4-7D71-5864-43C22D290476}"/>
                </a:ext>
              </a:extLst>
            </p:cNvPr>
            <p:cNvSpPr/>
            <p:nvPr/>
          </p:nvSpPr>
          <p:spPr>
            <a:xfrm>
              <a:off x="9337582"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Mortgage</a:t>
              </a:r>
            </a:p>
          </p:txBody>
        </p:sp>
        <p:sp>
          <p:nvSpPr>
            <p:cNvPr id="63" name="Rectangle: Rounded Corners 62">
              <a:extLst>
                <a:ext uri="{FF2B5EF4-FFF2-40B4-BE49-F238E27FC236}">
                  <a16:creationId xmlns:a16="http://schemas.microsoft.com/office/drawing/2014/main" id="{4B6E296F-DE5D-36EF-290C-53C3D105E8C1}"/>
                </a:ext>
              </a:extLst>
            </p:cNvPr>
            <p:cNvSpPr/>
            <p:nvPr/>
          </p:nvSpPr>
          <p:spPr>
            <a:xfrm>
              <a:off x="10451028"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Credit Card</a:t>
              </a:r>
            </a:p>
          </p:txBody>
        </p:sp>
        <p:sp>
          <p:nvSpPr>
            <p:cNvPr id="64" name="Oval 63">
              <a:extLst>
                <a:ext uri="{FF2B5EF4-FFF2-40B4-BE49-F238E27FC236}">
                  <a16:creationId xmlns:a16="http://schemas.microsoft.com/office/drawing/2014/main" id="{1D03EE92-E26A-0D2A-6725-9F28EEB3F521}"/>
                </a:ext>
              </a:extLst>
            </p:cNvPr>
            <p:cNvSpPr/>
            <p:nvPr/>
          </p:nvSpPr>
          <p:spPr>
            <a:xfrm>
              <a:off x="9141464" y="4887409"/>
              <a:ext cx="108065" cy="107335"/>
            </a:xfrm>
            <a:prstGeom prst="ellipse">
              <a:avLst/>
            </a:prstGeom>
            <a:solidFill>
              <a:srgbClr val="EC111A"/>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800" b="1">
                  <a:solidFill>
                    <a:schemeClr val="bg1"/>
                  </a:solidFill>
                </a:rPr>
                <a:t>+</a:t>
              </a:r>
            </a:p>
          </p:txBody>
        </p:sp>
        <p:sp>
          <p:nvSpPr>
            <p:cNvPr id="65" name="Oval 64">
              <a:extLst>
                <a:ext uri="{FF2B5EF4-FFF2-40B4-BE49-F238E27FC236}">
                  <a16:creationId xmlns:a16="http://schemas.microsoft.com/office/drawing/2014/main" id="{B330880E-C949-33AB-82CA-FC43065F88D9}"/>
                </a:ext>
              </a:extLst>
            </p:cNvPr>
            <p:cNvSpPr/>
            <p:nvPr/>
          </p:nvSpPr>
          <p:spPr>
            <a:xfrm>
              <a:off x="10254910" y="4887409"/>
              <a:ext cx="108065" cy="107335"/>
            </a:xfrm>
            <a:prstGeom prst="ellipse">
              <a:avLst/>
            </a:prstGeom>
            <a:solidFill>
              <a:srgbClr val="EC111A"/>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800" b="1">
                  <a:solidFill>
                    <a:schemeClr val="bg1"/>
                  </a:solidFill>
                </a:rPr>
                <a:t>+</a:t>
              </a:r>
            </a:p>
          </p:txBody>
        </p:sp>
      </p:grpSp>
      <p:sp>
        <p:nvSpPr>
          <p:cNvPr id="59" name="Rectangle 58">
            <a:extLst>
              <a:ext uri="{FF2B5EF4-FFF2-40B4-BE49-F238E27FC236}">
                <a16:creationId xmlns:a16="http://schemas.microsoft.com/office/drawing/2014/main" id="{D1E088F5-5A4C-4F25-51E0-705E31197BE0}"/>
              </a:ext>
            </a:extLst>
          </p:cNvPr>
          <p:cNvSpPr/>
          <p:nvPr/>
        </p:nvSpPr>
        <p:spPr>
          <a:xfrm>
            <a:off x="8516244" y="4418738"/>
            <a:ext cx="2788920" cy="2120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b="1">
                <a:solidFill>
                  <a:schemeClr val="tx1"/>
                </a:solidFill>
              </a:rPr>
              <a:t>Ideal product mix for Top of Mass</a:t>
            </a:r>
          </a:p>
        </p:txBody>
      </p:sp>
      <p:grpSp>
        <p:nvGrpSpPr>
          <p:cNvPr id="5" name="Group 4">
            <a:extLst>
              <a:ext uri="{FF2B5EF4-FFF2-40B4-BE49-F238E27FC236}">
                <a16:creationId xmlns:a16="http://schemas.microsoft.com/office/drawing/2014/main" id="{36B5390C-90FE-DFBE-42AA-93CE95217F1E}"/>
              </a:ext>
            </a:extLst>
          </p:cNvPr>
          <p:cNvGrpSpPr/>
          <p:nvPr/>
        </p:nvGrpSpPr>
        <p:grpSpPr>
          <a:xfrm>
            <a:off x="5381644" y="3784656"/>
            <a:ext cx="1737360" cy="137897"/>
            <a:chOff x="5381644" y="3208025"/>
            <a:chExt cx="1737360" cy="151687"/>
          </a:xfrm>
        </p:grpSpPr>
        <p:sp>
          <p:nvSpPr>
            <p:cNvPr id="15" name="Right Bracket 14">
              <a:extLst>
                <a:ext uri="{FF2B5EF4-FFF2-40B4-BE49-F238E27FC236}">
                  <a16:creationId xmlns:a16="http://schemas.microsoft.com/office/drawing/2014/main" id="{4B2BAA13-4059-DFD0-31DC-9C3B7E3EC851}"/>
                </a:ext>
              </a:extLst>
            </p:cNvPr>
            <p:cNvSpPr/>
            <p:nvPr/>
          </p:nvSpPr>
          <p:spPr>
            <a:xfrm rot="5400000">
              <a:off x="6209833" y="2379836"/>
              <a:ext cx="80982" cy="1737360"/>
            </a:xfrm>
            <a:prstGeom prst="rightBracket">
              <a:avLst>
                <a:gd name="adj" fmla="val 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13" name="Rectangle 12">
              <a:extLst>
                <a:ext uri="{FF2B5EF4-FFF2-40B4-BE49-F238E27FC236}">
                  <a16:creationId xmlns:a16="http://schemas.microsoft.com/office/drawing/2014/main" id="{388A0454-31F7-87AD-EAC8-A7CB6178AB34}"/>
                </a:ext>
              </a:extLst>
            </p:cNvPr>
            <p:cNvSpPr/>
            <p:nvPr/>
          </p:nvSpPr>
          <p:spPr>
            <a:xfrm>
              <a:off x="5471898" y="3212759"/>
              <a:ext cx="1556852" cy="146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rgbClr val="EC111A"/>
                  </a:solidFill>
                </a:rPr>
                <a:t>~20% of incremental revenue</a:t>
              </a:r>
              <a:endParaRPr lang="en-CA" sz="900" i="1">
                <a:solidFill>
                  <a:srgbClr val="EC111A"/>
                </a:solidFill>
              </a:endParaRPr>
            </a:p>
          </p:txBody>
        </p:sp>
      </p:grpSp>
      <p:sp>
        <p:nvSpPr>
          <p:cNvPr id="8" name="Right Bracket 7">
            <a:extLst>
              <a:ext uri="{FF2B5EF4-FFF2-40B4-BE49-F238E27FC236}">
                <a16:creationId xmlns:a16="http://schemas.microsoft.com/office/drawing/2014/main" id="{16714778-70CA-E0E6-11B6-087D8C7F95B2}"/>
              </a:ext>
            </a:extLst>
          </p:cNvPr>
          <p:cNvSpPr/>
          <p:nvPr/>
        </p:nvSpPr>
        <p:spPr>
          <a:xfrm rot="5400000">
            <a:off x="9701516" y="2363632"/>
            <a:ext cx="89080" cy="2543670"/>
          </a:xfrm>
          <a:prstGeom prst="rightBracket">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4" name="Rectangle 3">
            <a:extLst>
              <a:ext uri="{FF2B5EF4-FFF2-40B4-BE49-F238E27FC236}">
                <a16:creationId xmlns:a16="http://schemas.microsoft.com/office/drawing/2014/main" id="{9B4FF5A5-B3DF-BBE3-1C70-A3B18B6EA286}"/>
              </a:ext>
            </a:extLst>
          </p:cNvPr>
          <p:cNvSpPr/>
          <p:nvPr/>
        </p:nvSpPr>
        <p:spPr>
          <a:xfrm>
            <a:off x="9321885" y="3606312"/>
            <a:ext cx="849595" cy="146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rgbClr val="EC111A"/>
                </a:solidFill>
              </a:rPr>
              <a:t>2-3 product mix</a:t>
            </a:r>
            <a:endParaRPr lang="en-CA" sz="900" i="1">
              <a:solidFill>
                <a:srgbClr val="EC111A"/>
              </a:solidFill>
            </a:endParaRPr>
          </a:p>
        </p:txBody>
      </p:sp>
      <p:grpSp>
        <p:nvGrpSpPr>
          <p:cNvPr id="11" name="Group 10">
            <a:extLst>
              <a:ext uri="{FF2B5EF4-FFF2-40B4-BE49-F238E27FC236}">
                <a16:creationId xmlns:a16="http://schemas.microsoft.com/office/drawing/2014/main" id="{705420DB-17CC-0BCA-94C5-3C117C47E2D2}"/>
              </a:ext>
            </a:extLst>
          </p:cNvPr>
          <p:cNvGrpSpPr/>
          <p:nvPr/>
        </p:nvGrpSpPr>
        <p:grpSpPr>
          <a:xfrm>
            <a:off x="8272344" y="4774600"/>
            <a:ext cx="3056167" cy="207011"/>
            <a:chOff x="8224136" y="4837572"/>
            <a:chExt cx="3056167" cy="207011"/>
          </a:xfrm>
        </p:grpSpPr>
        <p:sp>
          <p:nvSpPr>
            <p:cNvPr id="16" name="Rectangle: Rounded Corners 15">
              <a:extLst>
                <a:ext uri="{FF2B5EF4-FFF2-40B4-BE49-F238E27FC236}">
                  <a16:creationId xmlns:a16="http://schemas.microsoft.com/office/drawing/2014/main" id="{B02EF8EF-9768-9DA1-44C8-D50E5D48D0FA}"/>
                </a:ext>
              </a:extLst>
            </p:cNvPr>
            <p:cNvSpPr/>
            <p:nvPr/>
          </p:nvSpPr>
          <p:spPr>
            <a:xfrm>
              <a:off x="8224136"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D2D</a:t>
              </a:r>
            </a:p>
          </p:txBody>
        </p:sp>
        <p:sp>
          <p:nvSpPr>
            <p:cNvPr id="17" name="Rectangle: Rounded Corners 16">
              <a:extLst>
                <a:ext uri="{FF2B5EF4-FFF2-40B4-BE49-F238E27FC236}">
                  <a16:creationId xmlns:a16="http://schemas.microsoft.com/office/drawing/2014/main" id="{99E6DB68-668C-054B-BAD2-E821AE758EC7}"/>
                </a:ext>
              </a:extLst>
            </p:cNvPr>
            <p:cNvSpPr/>
            <p:nvPr/>
          </p:nvSpPr>
          <p:spPr>
            <a:xfrm>
              <a:off x="9337582"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Auto/Mortg.</a:t>
              </a:r>
            </a:p>
          </p:txBody>
        </p:sp>
        <p:sp>
          <p:nvSpPr>
            <p:cNvPr id="20" name="Rectangle: Rounded Corners 19">
              <a:extLst>
                <a:ext uri="{FF2B5EF4-FFF2-40B4-BE49-F238E27FC236}">
                  <a16:creationId xmlns:a16="http://schemas.microsoft.com/office/drawing/2014/main" id="{300EA794-0DDB-D4D4-9F20-D4AC7F92D9B3}"/>
                </a:ext>
              </a:extLst>
            </p:cNvPr>
            <p:cNvSpPr/>
            <p:nvPr/>
          </p:nvSpPr>
          <p:spPr>
            <a:xfrm>
              <a:off x="10451028" y="4837572"/>
              <a:ext cx="829275" cy="207011"/>
            </a:xfrm>
            <a:prstGeom prst="roundRect">
              <a:avLst>
                <a:gd name="adj"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i="1">
                  <a:solidFill>
                    <a:schemeClr val="tx1"/>
                  </a:solidFill>
                </a:rPr>
                <a:t>Credit Card</a:t>
              </a:r>
            </a:p>
          </p:txBody>
        </p:sp>
        <p:sp>
          <p:nvSpPr>
            <p:cNvPr id="21" name="Oval 20">
              <a:extLst>
                <a:ext uri="{FF2B5EF4-FFF2-40B4-BE49-F238E27FC236}">
                  <a16:creationId xmlns:a16="http://schemas.microsoft.com/office/drawing/2014/main" id="{E05EC0C9-FDF8-8C84-29B7-F610AE06CBE8}"/>
                </a:ext>
              </a:extLst>
            </p:cNvPr>
            <p:cNvSpPr/>
            <p:nvPr/>
          </p:nvSpPr>
          <p:spPr>
            <a:xfrm>
              <a:off x="9141464" y="4887409"/>
              <a:ext cx="108065" cy="107335"/>
            </a:xfrm>
            <a:prstGeom prst="ellipse">
              <a:avLst/>
            </a:prstGeom>
            <a:solidFill>
              <a:srgbClr val="EC111A"/>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800" b="1">
                  <a:solidFill>
                    <a:schemeClr val="bg1"/>
                  </a:solidFill>
                </a:rPr>
                <a:t>+</a:t>
              </a:r>
            </a:p>
          </p:txBody>
        </p:sp>
        <p:sp>
          <p:nvSpPr>
            <p:cNvPr id="22" name="Oval 21">
              <a:extLst>
                <a:ext uri="{FF2B5EF4-FFF2-40B4-BE49-F238E27FC236}">
                  <a16:creationId xmlns:a16="http://schemas.microsoft.com/office/drawing/2014/main" id="{56795385-8F25-5D09-4AF7-5AB80A4C7F97}"/>
                </a:ext>
              </a:extLst>
            </p:cNvPr>
            <p:cNvSpPr/>
            <p:nvPr/>
          </p:nvSpPr>
          <p:spPr>
            <a:xfrm>
              <a:off x="10254910" y="4887409"/>
              <a:ext cx="108065" cy="107335"/>
            </a:xfrm>
            <a:prstGeom prst="ellipse">
              <a:avLst/>
            </a:prstGeom>
            <a:solidFill>
              <a:srgbClr val="EC111A"/>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800" b="1">
                  <a:solidFill>
                    <a:schemeClr val="bg1"/>
                  </a:solidFill>
                </a:rPr>
                <a:t>+</a:t>
              </a:r>
            </a:p>
          </p:txBody>
        </p:sp>
      </p:grpSp>
      <p:sp>
        <p:nvSpPr>
          <p:cNvPr id="23" name="Right Bracket 22">
            <a:extLst>
              <a:ext uri="{FF2B5EF4-FFF2-40B4-BE49-F238E27FC236}">
                <a16:creationId xmlns:a16="http://schemas.microsoft.com/office/drawing/2014/main" id="{E0DE7075-19B6-F18D-7862-87C6505382EE}"/>
              </a:ext>
            </a:extLst>
          </p:cNvPr>
          <p:cNvSpPr/>
          <p:nvPr/>
        </p:nvSpPr>
        <p:spPr>
          <a:xfrm rot="5400000">
            <a:off x="9701516" y="3819467"/>
            <a:ext cx="89080" cy="2543670"/>
          </a:xfrm>
          <a:prstGeom prst="rightBracket">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24" name="Rectangle 23">
            <a:extLst>
              <a:ext uri="{FF2B5EF4-FFF2-40B4-BE49-F238E27FC236}">
                <a16:creationId xmlns:a16="http://schemas.microsoft.com/office/drawing/2014/main" id="{38A69523-4034-9845-D40D-CC0F276D5FFD}"/>
              </a:ext>
            </a:extLst>
          </p:cNvPr>
          <p:cNvSpPr/>
          <p:nvPr/>
        </p:nvSpPr>
        <p:spPr>
          <a:xfrm>
            <a:off x="9321885" y="5062147"/>
            <a:ext cx="849595" cy="146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rgbClr val="EC111A"/>
                </a:solidFill>
              </a:rPr>
              <a:t>2-3 product mix</a:t>
            </a:r>
            <a:endParaRPr lang="en-CA" sz="900" i="1">
              <a:solidFill>
                <a:srgbClr val="EC111A"/>
              </a:solidFill>
            </a:endParaRPr>
          </a:p>
        </p:txBody>
      </p:sp>
      <p:grpSp>
        <p:nvGrpSpPr>
          <p:cNvPr id="10" name="Group 9">
            <a:extLst>
              <a:ext uri="{FF2B5EF4-FFF2-40B4-BE49-F238E27FC236}">
                <a16:creationId xmlns:a16="http://schemas.microsoft.com/office/drawing/2014/main" id="{B6C4738C-6B2C-6939-D48E-C4C993147D7D}"/>
              </a:ext>
            </a:extLst>
          </p:cNvPr>
          <p:cNvGrpSpPr/>
          <p:nvPr/>
        </p:nvGrpSpPr>
        <p:grpSpPr>
          <a:xfrm>
            <a:off x="5381644" y="4916319"/>
            <a:ext cx="1737360" cy="137897"/>
            <a:chOff x="5381644" y="3208025"/>
            <a:chExt cx="1737360" cy="151687"/>
          </a:xfrm>
        </p:grpSpPr>
        <p:sp>
          <p:nvSpPr>
            <p:cNvPr id="25" name="Right Bracket 24">
              <a:extLst>
                <a:ext uri="{FF2B5EF4-FFF2-40B4-BE49-F238E27FC236}">
                  <a16:creationId xmlns:a16="http://schemas.microsoft.com/office/drawing/2014/main" id="{DE0260F7-FEF3-0F9A-52F9-D203126A74D6}"/>
                </a:ext>
              </a:extLst>
            </p:cNvPr>
            <p:cNvSpPr/>
            <p:nvPr/>
          </p:nvSpPr>
          <p:spPr>
            <a:xfrm rot="5400000">
              <a:off x="6209833" y="2379836"/>
              <a:ext cx="80982" cy="1737360"/>
            </a:xfrm>
            <a:prstGeom prst="rightBracket">
              <a:avLst>
                <a:gd name="adj" fmla="val 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26" name="Rectangle 25">
              <a:extLst>
                <a:ext uri="{FF2B5EF4-FFF2-40B4-BE49-F238E27FC236}">
                  <a16:creationId xmlns:a16="http://schemas.microsoft.com/office/drawing/2014/main" id="{553102BB-BEBE-EC58-5EA6-1CA4D175D81F}"/>
                </a:ext>
              </a:extLst>
            </p:cNvPr>
            <p:cNvSpPr/>
            <p:nvPr/>
          </p:nvSpPr>
          <p:spPr>
            <a:xfrm>
              <a:off x="5471898" y="3212759"/>
              <a:ext cx="1556852" cy="146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900" i="1">
                  <a:solidFill>
                    <a:srgbClr val="EC111A"/>
                  </a:solidFill>
                </a:rPr>
                <a:t>~50% of incremental revenue</a:t>
              </a:r>
              <a:endParaRPr lang="en-CA" sz="900" i="1">
                <a:solidFill>
                  <a:srgbClr val="EC111A"/>
                </a:solidFill>
              </a:endParaRPr>
            </a:p>
          </p:txBody>
        </p:sp>
      </p:grpSp>
      <p:sp>
        <p:nvSpPr>
          <p:cNvPr id="27" name="Rectangle 26">
            <a:extLst>
              <a:ext uri="{FF2B5EF4-FFF2-40B4-BE49-F238E27FC236}">
                <a16:creationId xmlns:a16="http://schemas.microsoft.com/office/drawing/2014/main" id="{66B2CB12-B254-828A-C6FF-D9B61B96B30E}"/>
              </a:ext>
            </a:extLst>
          </p:cNvPr>
          <p:cNvSpPr/>
          <p:nvPr/>
        </p:nvSpPr>
        <p:spPr>
          <a:xfrm>
            <a:off x="8416435" y="5390453"/>
            <a:ext cx="2653737" cy="1710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CA" sz="900" b="1" i="1">
                <a:solidFill>
                  <a:schemeClr val="tx1"/>
                </a:solidFill>
              </a:rPr>
              <a:t>72%</a:t>
            </a:r>
            <a:r>
              <a:rPr lang="en-CA" sz="900" i="1">
                <a:solidFill>
                  <a:schemeClr val="tx1"/>
                </a:solidFill>
              </a:rPr>
              <a:t> </a:t>
            </a:r>
            <a:r>
              <a:rPr lang="en-CA" sz="800" i="1">
                <a:solidFill>
                  <a:schemeClr val="tx1"/>
                </a:solidFill>
              </a:rPr>
              <a:t>of NTB clients w/ 2- 3 products progressed from Quartile 1 to  Quartiles 3/4</a:t>
            </a:r>
          </a:p>
        </p:txBody>
      </p:sp>
    </p:spTree>
    <p:extLst>
      <p:ext uri="{BB962C8B-B14F-4D97-AF65-F5344CB8AC3E}">
        <p14:creationId xmlns:p14="http://schemas.microsoft.com/office/powerpoint/2010/main" val="175505160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D52DAC-6C76-36C1-5A73-BC0ED675AB07}"/>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F1CABDBF-F386-BA72-7B9D-074DFFF0B161}"/>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8" name="think-cell data - do not delete" hidden="1">
                        <a:extLst>
                          <a:ext uri="{FF2B5EF4-FFF2-40B4-BE49-F238E27FC236}">
                            <a16:creationId xmlns:a16="http://schemas.microsoft.com/office/drawing/2014/main" id="{F1CABDBF-F386-BA72-7B9D-074DFFF0B16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Rectangle 8">
            <a:extLst>
              <a:ext uri="{FF2B5EF4-FFF2-40B4-BE49-F238E27FC236}">
                <a16:creationId xmlns:a16="http://schemas.microsoft.com/office/drawing/2014/main" id="{2C55169A-0446-D893-340F-E2EECDCB26A8}"/>
              </a:ext>
            </a:extLst>
          </p:cNvPr>
          <p:cNvSpPr/>
          <p:nvPr/>
        </p:nvSpPr>
        <p:spPr>
          <a:xfrm>
            <a:off x="8774545" y="1525117"/>
            <a:ext cx="2901518" cy="4604221"/>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algn="ctr">
              <a:spcAft>
                <a:spcPts val="1200"/>
              </a:spcAft>
            </a:pPr>
            <a:r>
              <a:rPr lang="en-US" sz="1100" b="1" spc="300">
                <a:solidFill>
                  <a:schemeClr val="tx1"/>
                </a:solidFill>
              </a:rPr>
              <a:t>HIGHLIGHTS</a:t>
            </a:r>
          </a:p>
          <a:p>
            <a:pPr>
              <a:spcAft>
                <a:spcPts val="300"/>
              </a:spcAft>
            </a:pPr>
            <a:r>
              <a:rPr lang="en-US" sz="1100" b="1">
                <a:solidFill>
                  <a:schemeClr val="tx1"/>
                </a:solidFill>
              </a:rPr>
              <a:t>Top contributors to </a:t>
            </a:r>
            <a:r>
              <a:rPr lang="en-US" sz="1100" b="1" err="1">
                <a:solidFill>
                  <a:schemeClr val="tx1"/>
                </a:solidFill>
              </a:rPr>
              <a:t>increm</a:t>
            </a:r>
            <a:r>
              <a:rPr lang="en-US" sz="1100" b="1">
                <a:solidFill>
                  <a:schemeClr val="tx1"/>
                </a:solidFill>
              </a:rPr>
              <a:t>. revenue</a:t>
            </a:r>
          </a:p>
          <a:p>
            <a:pPr marL="171450" indent="-171450">
              <a:spcAft>
                <a:spcPts val="300"/>
              </a:spcAft>
              <a:buFont typeface="Arial" panose="020B0604020202020204" pitchFamily="34" charset="0"/>
              <a:buChar char="•"/>
            </a:pPr>
            <a:r>
              <a:rPr lang="en-US" sz="1100" b="1">
                <a:solidFill>
                  <a:schemeClr val="tx1"/>
                </a:solidFill>
              </a:rPr>
              <a:t>Credit Cards </a:t>
            </a:r>
            <a:r>
              <a:rPr lang="en-US" sz="1100">
                <a:solidFill>
                  <a:schemeClr val="tx1"/>
                </a:solidFill>
              </a:rPr>
              <a:t>contribute +$145MM (incl.$32MM one-time item), led by Mexico volume-driven NII growth (+12% CAGR) and Peru on spread expansion (+152 bps)</a:t>
            </a:r>
          </a:p>
          <a:p>
            <a:pPr marL="171450" indent="-171450">
              <a:spcAft>
                <a:spcPts val="300"/>
              </a:spcAft>
              <a:buFont typeface="Arial" panose="020B0604020202020204" pitchFamily="34" charset="0"/>
              <a:buChar char="•"/>
            </a:pPr>
            <a:r>
              <a:rPr lang="en-US" sz="1100" b="1">
                <a:solidFill>
                  <a:schemeClr val="tx1"/>
                </a:solidFill>
              </a:rPr>
              <a:t>SPL is the largest underlying driven</a:t>
            </a:r>
            <a:r>
              <a:rPr lang="en-US" sz="1100">
                <a:solidFill>
                  <a:schemeClr val="tx1"/>
                </a:solidFill>
              </a:rPr>
              <a:t>, with +$70MM led by Mexico and Peru volume growth and Mexico NIM expansion</a:t>
            </a:r>
          </a:p>
          <a:p>
            <a:pPr marL="171450" indent="-171450">
              <a:spcAft>
                <a:spcPts val="300"/>
              </a:spcAft>
              <a:buFont typeface="Arial" panose="020B0604020202020204" pitchFamily="34" charset="0"/>
              <a:buChar char="•"/>
            </a:pPr>
            <a:r>
              <a:rPr lang="en-US" sz="1100" b="1">
                <a:solidFill>
                  <a:schemeClr val="tx1"/>
                </a:solidFill>
              </a:rPr>
              <a:t>Demand Deposits </a:t>
            </a:r>
            <a:r>
              <a:rPr lang="en-US" sz="1100">
                <a:solidFill>
                  <a:schemeClr val="tx1"/>
                </a:solidFill>
              </a:rPr>
              <a:t>deliver +$102MM, , driven by UY and Chile on strong balance growth</a:t>
            </a:r>
          </a:p>
          <a:p>
            <a:pPr>
              <a:spcAft>
                <a:spcPts val="600"/>
              </a:spcAft>
            </a:pPr>
            <a:endParaRPr lang="en-US" sz="1100" b="1">
              <a:solidFill>
                <a:schemeClr val="tx1"/>
              </a:solidFill>
            </a:endParaRPr>
          </a:p>
          <a:p>
            <a:pPr>
              <a:spcAft>
                <a:spcPts val="600"/>
              </a:spcAft>
            </a:pPr>
            <a:r>
              <a:rPr lang="en-US" sz="1100" b="1">
                <a:solidFill>
                  <a:schemeClr val="tx1"/>
                </a:solidFill>
              </a:rPr>
              <a:t>Top detractors to incremental revenue</a:t>
            </a:r>
          </a:p>
          <a:p>
            <a:pPr marL="171450" indent="-171450">
              <a:spcAft>
                <a:spcPts val="300"/>
              </a:spcAft>
              <a:buFont typeface="Arial" panose="020B0604020202020204" pitchFamily="34" charset="0"/>
              <a:buChar char="•"/>
            </a:pPr>
            <a:r>
              <a:rPr lang="en-US" sz="1100" b="1">
                <a:solidFill>
                  <a:schemeClr val="tx1"/>
                </a:solidFill>
              </a:rPr>
              <a:t>Savings </a:t>
            </a:r>
            <a:r>
              <a:rPr lang="en-US" sz="1100">
                <a:solidFill>
                  <a:schemeClr val="tx1"/>
                </a:solidFill>
              </a:rPr>
              <a:t>is the largest drag, driven by Uruguay  and sharp balance contraction (-49%)</a:t>
            </a:r>
          </a:p>
          <a:p>
            <a:pPr marL="171450" indent="-171450">
              <a:spcAft>
                <a:spcPts val="300"/>
              </a:spcAft>
              <a:buFont typeface="Arial" panose="020B0604020202020204" pitchFamily="34" charset="0"/>
              <a:buChar char="•"/>
            </a:pPr>
            <a:r>
              <a:rPr lang="en-US" sz="1100" b="1">
                <a:solidFill>
                  <a:schemeClr val="tx1"/>
                </a:solidFill>
              </a:rPr>
              <a:t>Other Loans </a:t>
            </a:r>
            <a:r>
              <a:rPr lang="en-US" sz="1100">
                <a:solidFill>
                  <a:schemeClr val="tx1"/>
                </a:solidFill>
              </a:rPr>
              <a:t>decline -$33MM, driven by Uruguay</a:t>
            </a:r>
          </a:p>
          <a:p>
            <a:pPr marL="171450" indent="-171450">
              <a:spcAft>
                <a:spcPts val="300"/>
              </a:spcAft>
              <a:buFont typeface="Arial" panose="020B0604020202020204" pitchFamily="34" charset="0"/>
              <a:buChar char="•"/>
            </a:pPr>
            <a:endParaRPr lang="en-US" sz="1100">
              <a:solidFill>
                <a:schemeClr val="tx1"/>
              </a:solidFill>
            </a:endParaRPr>
          </a:p>
        </p:txBody>
      </p:sp>
      <p:sp>
        <p:nvSpPr>
          <p:cNvPr id="2" name="Title 1">
            <a:extLst>
              <a:ext uri="{FF2B5EF4-FFF2-40B4-BE49-F238E27FC236}">
                <a16:creationId xmlns:a16="http://schemas.microsoft.com/office/drawing/2014/main" id="{4996AF40-4440-E5AA-FF4A-7BD0FFB87F93}"/>
              </a:ext>
            </a:extLst>
          </p:cNvPr>
          <p:cNvSpPr>
            <a:spLocks noGrp="1"/>
          </p:cNvSpPr>
          <p:nvPr>
            <p:ph type="title"/>
          </p:nvPr>
        </p:nvSpPr>
        <p:spPr/>
        <p:txBody>
          <a:bodyPr vert="horz"/>
          <a:lstStyle/>
          <a:p>
            <a:r>
              <a:rPr lang="en-CA">
                <a:solidFill>
                  <a:srgbClr val="EC111A"/>
                </a:solidFill>
              </a:rPr>
              <a:t>Products </a:t>
            </a:r>
            <a:r>
              <a:rPr lang="en-US">
                <a:solidFill>
                  <a:srgbClr val="EC111A"/>
                </a:solidFill>
              </a:rPr>
              <a:t>(medium term) | </a:t>
            </a:r>
            <a:r>
              <a:rPr lang="en-US"/>
              <a:t>Cards and SPLs remain top growth drivers, with rising card contribution in Peru and easing deposits decline in Mexico and Peru</a:t>
            </a:r>
          </a:p>
        </p:txBody>
      </p:sp>
      <p:sp>
        <p:nvSpPr>
          <p:cNvPr id="3" name="Slide Number Placeholder 2">
            <a:extLst>
              <a:ext uri="{FF2B5EF4-FFF2-40B4-BE49-F238E27FC236}">
                <a16:creationId xmlns:a16="http://schemas.microsoft.com/office/drawing/2014/main" id="{B8F75C0D-3229-CEED-EFFB-0EB7DB21DCC6}"/>
              </a:ext>
            </a:extLst>
          </p:cNvPr>
          <p:cNvSpPr>
            <a:spLocks noGrp="1"/>
          </p:cNvSpPr>
          <p:nvPr>
            <p:ph type="sldNum" sz="quarter" idx="10"/>
          </p:nvPr>
        </p:nvSpPr>
        <p:spPr/>
        <p:txBody>
          <a:bodyPr/>
          <a:lstStyle/>
          <a:p>
            <a:fld id="{95D835A7-12B2-4074-8DA2-469A8808C237}" type="slidenum">
              <a:rPr lang="en-US" smtClean="0"/>
              <a:pPr/>
              <a:t>57</a:t>
            </a:fld>
            <a:endParaRPr lang="en-US"/>
          </a:p>
        </p:txBody>
      </p:sp>
      <p:sp>
        <p:nvSpPr>
          <p:cNvPr id="4" name="Text Placeholder 3">
            <a:extLst>
              <a:ext uri="{FF2B5EF4-FFF2-40B4-BE49-F238E27FC236}">
                <a16:creationId xmlns:a16="http://schemas.microsoft.com/office/drawing/2014/main" id="{B89535C4-E7BC-655F-22E3-48F6C9FFCBCD}"/>
              </a:ext>
            </a:extLst>
          </p:cNvPr>
          <p:cNvSpPr>
            <a:spLocks noGrp="1"/>
          </p:cNvSpPr>
          <p:nvPr>
            <p:ph type="body" sz="quarter" idx="11"/>
          </p:nvPr>
        </p:nvSpPr>
        <p:spPr/>
        <p:txBody>
          <a:bodyPr anchor="t"/>
          <a:lstStyle/>
          <a:p>
            <a:r>
              <a:rPr lang="en-US"/>
              <a:t>Source: IB Finance M4 Fcst; 1. Includes personal (student, staff, other), non-personal (government guarantee, lease financing, off-shore, other), and trade finance; 2. Includes other personal loans (-$17.7MM) and other non-personal loans (-$15.1MM); 3. Insurance revenue overlaps across other products, or included in “Other” category</a:t>
            </a:r>
          </a:p>
        </p:txBody>
      </p:sp>
      <p:sp>
        <p:nvSpPr>
          <p:cNvPr id="30" name="Text Placeholder 29">
            <a:extLst>
              <a:ext uri="{FF2B5EF4-FFF2-40B4-BE49-F238E27FC236}">
                <a16:creationId xmlns:a16="http://schemas.microsoft.com/office/drawing/2014/main" id="{4200A60B-BE1D-6060-ADC3-D0FF8063723D}"/>
              </a:ext>
            </a:extLst>
          </p:cNvPr>
          <p:cNvSpPr>
            <a:spLocks noGrp="1"/>
          </p:cNvSpPr>
          <p:nvPr>
            <p:ph type="body" sz="quarter" idx="14"/>
          </p:nvPr>
        </p:nvSpPr>
        <p:spPr/>
        <p:txBody>
          <a:bodyPr anchor="t">
            <a:noAutofit/>
          </a:bodyPr>
          <a:lstStyle/>
          <a:p>
            <a:r>
              <a:rPr lang="en-US" b="1"/>
              <a:t>F25-F27 REVENUE CONTRIBUTION BY COUNTRY-PRODUCT</a:t>
            </a:r>
          </a:p>
          <a:p>
            <a:r>
              <a:rPr lang="en-US" spc="0"/>
              <a:t>CAD $MM, Growth at Constant FX, F25-F27</a:t>
            </a:r>
          </a:p>
        </p:txBody>
      </p:sp>
      <p:graphicFrame>
        <p:nvGraphicFramePr>
          <p:cNvPr id="18" name="Table 17">
            <a:extLst>
              <a:ext uri="{FF2B5EF4-FFF2-40B4-BE49-F238E27FC236}">
                <a16:creationId xmlns:a16="http://schemas.microsoft.com/office/drawing/2014/main" id="{4B73AF47-FB77-8135-DD3E-2289AD1C116C}"/>
              </a:ext>
            </a:extLst>
          </p:cNvPr>
          <p:cNvGraphicFramePr>
            <a:graphicFrameLocks noGrp="1"/>
          </p:cNvGraphicFramePr>
          <p:nvPr>
            <p:extLst>
              <p:ext uri="{D42A27DB-BD31-4B8C-83A1-F6EECF244321}">
                <p14:modId xmlns:p14="http://schemas.microsoft.com/office/powerpoint/2010/main" val="3136314967"/>
              </p:ext>
            </p:extLst>
          </p:nvPr>
        </p:nvGraphicFramePr>
        <p:xfrm>
          <a:off x="515937" y="2111161"/>
          <a:ext cx="8105551" cy="4018170"/>
        </p:xfrm>
        <a:graphic>
          <a:graphicData uri="http://schemas.openxmlformats.org/drawingml/2006/table">
            <a:tbl>
              <a:tblPr bandRow="1">
                <a:tableStyleId>{5C22544A-7EE6-4342-B048-85BDC9FD1C3A}</a:tableStyleId>
              </a:tblPr>
              <a:tblGrid>
                <a:gridCol w="217471">
                  <a:extLst>
                    <a:ext uri="{9D8B030D-6E8A-4147-A177-3AD203B41FA5}">
                      <a16:colId xmlns:a16="http://schemas.microsoft.com/office/drawing/2014/main" val="601689081"/>
                    </a:ext>
                  </a:extLst>
                </a:gridCol>
                <a:gridCol w="1115153">
                  <a:extLst>
                    <a:ext uri="{9D8B030D-6E8A-4147-A177-3AD203B41FA5}">
                      <a16:colId xmlns:a16="http://schemas.microsoft.com/office/drawing/2014/main" val="959043280"/>
                    </a:ext>
                  </a:extLst>
                </a:gridCol>
                <a:gridCol w="967561">
                  <a:extLst>
                    <a:ext uri="{9D8B030D-6E8A-4147-A177-3AD203B41FA5}">
                      <a16:colId xmlns:a16="http://schemas.microsoft.com/office/drawing/2014/main" val="3862434602"/>
                    </a:ext>
                  </a:extLst>
                </a:gridCol>
                <a:gridCol w="967561">
                  <a:extLst>
                    <a:ext uri="{9D8B030D-6E8A-4147-A177-3AD203B41FA5}">
                      <a16:colId xmlns:a16="http://schemas.microsoft.com/office/drawing/2014/main" val="1511972206"/>
                    </a:ext>
                  </a:extLst>
                </a:gridCol>
                <a:gridCol w="967561">
                  <a:extLst>
                    <a:ext uri="{9D8B030D-6E8A-4147-A177-3AD203B41FA5}">
                      <a16:colId xmlns:a16="http://schemas.microsoft.com/office/drawing/2014/main" val="2570674179"/>
                    </a:ext>
                  </a:extLst>
                </a:gridCol>
                <a:gridCol w="967561">
                  <a:extLst>
                    <a:ext uri="{9D8B030D-6E8A-4147-A177-3AD203B41FA5}">
                      <a16:colId xmlns:a16="http://schemas.microsoft.com/office/drawing/2014/main" val="3561635030"/>
                    </a:ext>
                  </a:extLst>
                </a:gridCol>
                <a:gridCol w="967561">
                  <a:extLst>
                    <a:ext uri="{9D8B030D-6E8A-4147-A177-3AD203B41FA5}">
                      <a16:colId xmlns:a16="http://schemas.microsoft.com/office/drawing/2014/main" val="1439367628"/>
                    </a:ext>
                  </a:extLst>
                </a:gridCol>
                <a:gridCol w="967561">
                  <a:extLst>
                    <a:ext uri="{9D8B030D-6E8A-4147-A177-3AD203B41FA5}">
                      <a16:colId xmlns:a16="http://schemas.microsoft.com/office/drawing/2014/main" val="2176604191"/>
                    </a:ext>
                  </a:extLst>
                </a:gridCol>
                <a:gridCol w="967561">
                  <a:extLst>
                    <a:ext uri="{9D8B030D-6E8A-4147-A177-3AD203B41FA5}">
                      <a16:colId xmlns:a16="http://schemas.microsoft.com/office/drawing/2014/main" val="62848770"/>
                    </a:ext>
                  </a:extLst>
                </a:gridCol>
              </a:tblGrid>
              <a:tr h="267878">
                <a:tc>
                  <a:txBody>
                    <a:bodyPr/>
                    <a:lstStyle/>
                    <a:p>
                      <a:pPr algn="l" fontAlgn="b">
                        <a:buNone/>
                      </a:pPr>
                      <a:endParaRPr lang="en-US" sz="1000" b="0" i="1" u="none" strike="noStrike">
                        <a:effectLst/>
                        <a:latin typeface="Scotia" panose="020B0503020203020204" pitchFamily="34" charset="0"/>
                      </a:endParaRPr>
                    </a:p>
                  </a:txBody>
                  <a:tcPr marL="6350" marR="6350" marT="6350" marB="0" anchor="ctr">
                    <a:lnT w="12700" cap="flat" cmpd="sng" algn="ctr">
                      <a:noFill/>
                      <a:prstDash val="sysDot"/>
                      <a:round/>
                      <a:headEnd type="none" w="med" len="med"/>
                      <a:tailEnd type="none" w="med" len="med"/>
                    </a:lnT>
                    <a:lnB w="28575" cap="flat" cmpd="sng" algn="ctr">
                      <a:solidFill>
                        <a:schemeClr val="bg1"/>
                      </a:solidFill>
                      <a:prstDash val="solid"/>
                      <a:round/>
                      <a:headEnd type="none" w="med" len="med"/>
                      <a:tailEnd type="none" w="med" len="med"/>
                    </a:lnB>
                    <a:noFill/>
                  </a:tcPr>
                </a:tc>
                <a:tc>
                  <a:txBody>
                    <a:bodyPr/>
                    <a:lstStyle/>
                    <a:p>
                      <a:pPr algn="l" fontAlgn="b">
                        <a:buNone/>
                      </a:pPr>
                      <a:endParaRPr lang="en-US" sz="1000" b="0" i="1" u="none" strike="noStrike">
                        <a:effectLst/>
                        <a:latin typeface="Scotia" panose="020B0503020203020204" pitchFamily="34" charset="0"/>
                      </a:endParaRPr>
                    </a:p>
                  </a:txBody>
                  <a:tcPr marL="6350" marR="6350" marT="6350" marB="0" anchor="ctr">
                    <a:lnT w="12700" cap="flat" cmpd="sng" algn="ctr">
                      <a:noFill/>
                      <a:prstDash val="sysDot"/>
                      <a:round/>
                      <a:headEnd type="none" w="med" len="med"/>
                      <a:tailEnd type="none" w="med" len="med"/>
                    </a:lnT>
                    <a:noFill/>
                  </a:tcPr>
                </a:tc>
                <a:tc>
                  <a:txBody>
                    <a:bodyPr/>
                    <a:lstStyle/>
                    <a:p>
                      <a:pPr algn="ctr" fontAlgn="b">
                        <a:buNone/>
                      </a:pPr>
                      <a:r>
                        <a:rPr lang="en-US" sz="1000" b="1" i="0" u="none" strike="noStrike">
                          <a:effectLst/>
                          <a:latin typeface="Scotia" panose="020B0503020203020204" pitchFamily="34" charset="0"/>
                        </a:rPr>
                        <a:t>Total Product</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solidFill>
                      <a:srgbClr val="F5EFE8"/>
                    </a:solidFill>
                  </a:tcPr>
                </a:tc>
                <a:tc>
                  <a:txBody>
                    <a:bodyPr/>
                    <a:lstStyle/>
                    <a:p>
                      <a:pPr algn="ctr" fontAlgn="b">
                        <a:buNone/>
                      </a:pPr>
                      <a:r>
                        <a:rPr lang="en-US" sz="1000" b="1" i="0" u="none" strike="noStrike">
                          <a:effectLst/>
                          <a:latin typeface="Scotia" panose="020B0503020203020204" pitchFamily="34" charset="0"/>
                        </a:rPr>
                        <a:t>MX</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tc>
                  <a:txBody>
                    <a:bodyPr/>
                    <a:lstStyle/>
                    <a:p>
                      <a:pPr algn="ctr" fontAlgn="b">
                        <a:buNone/>
                      </a:pPr>
                      <a:r>
                        <a:rPr lang="en-US" sz="1000" b="1" i="0" u="none" strike="noStrike">
                          <a:effectLst/>
                          <a:latin typeface="Scotia" panose="020B0503020203020204" pitchFamily="34" charset="0"/>
                        </a:rPr>
                        <a:t>CH</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tc>
                  <a:txBody>
                    <a:bodyPr/>
                    <a:lstStyle/>
                    <a:p>
                      <a:pPr algn="ctr" fontAlgn="b">
                        <a:buNone/>
                      </a:pPr>
                      <a:r>
                        <a:rPr lang="en-US" sz="1000" b="1" i="0" u="none" strike="noStrike">
                          <a:effectLst/>
                          <a:latin typeface="Scotia" panose="020B0503020203020204" pitchFamily="34" charset="0"/>
                        </a:rPr>
                        <a:t>PE</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tc>
                  <a:txBody>
                    <a:bodyPr/>
                    <a:lstStyle/>
                    <a:p>
                      <a:pPr algn="ctr" fontAlgn="b">
                        <a:buNone/>
                      </a:pPr>
                      <a:r>
                        <a:rPr lang="en-US" sz="1000" b="1" i="0" u="none" strike="noStrike">
                          <a:effectLst/>
                          <a:latin typeface="Scotia" panose="020B0503020203020204" pitchFamily="34" charset="0"/>
                        </a:rPr>
                        <a:t>DR</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tc>
                  <a:txBody>
                    <a:bodyPr/>
                    <a:lstStyle/>
                    <a:p>
                      <a:pPr algn="ctr" fontAlgn="b">
                        <a:buNone/>
                      </a:pPr>
                      <a:r>
                        <a:rPr lang="en-US" sz="1000" b="1" i="0" u="none" strike="noStrike">
                          <a:effectLst/>
                          <a:latin typeface="Scotia" panose="020B0503020203020204" pitchFamily="34" charset="0"/>
                        </a:rPr>
                        <a:t>ECR</a:t>
                      </a:r>
                    </a:p>
                  </a:txBody>
                  <a:tcPr marL="6350" marR="6350" marT="6350" marB="0" anchor="ct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tc>
                  <a:txBody>
                    <a:bodyPr/>
                    <a:lstStyle/>
                    <a:p>
                      <a:pPr algn="ctr" fontAlgn="b">
                        <a:buNone/>
                      </a:pPr>
                      <a:r>
                        <a:rPr lang="en-US" sz="1000" b="1" i="0" u="none" strike="noStrike">
                          <a:effectLst/>
                          <a:latin typeface="Scotia" panose="020B0503020203020204" pitchFamily="34" charset="0"/>
                        </a:rPr>
                        <a:t>UY</a:t>
                      </a:r>
                    </a:p>
                  </a:txBody>
                  <a:tcPr marL="6350" marR="6350" marT="6350" marB="0" anchor="ctr">
                    <a:lnR w="12700" cap="flat" cmpd="sng" algn="ctr">
                      <a:noFill/>
                      <a:prstDash val="sysDot"/>
                      <a:round/>
                      <a:headEnd type="none" w="med" len="med"/>
                      <a:tailEnd type="none" w="med" len="med"/>
                    </a:lnR>
                    <a:lnT w="12700" cap="flat" cmpd="sng" algn="ctr">
                      <a:noFill/>
                      <a:prstDash val="sysDot"/>
                      <a:round/>
                      <a:headEnd type="none" w="med" len="med"/>
                      <a:tailEnd type="none" w="med" len="med"/>
                    </a:lnT>
                    <a:lnB w="9525" cap="flat" cmpd="sng" algn="ctr">
                      <a:solidFill>
                        <a:srgbClr val="EC111A"/>
                      </a:solidFill>
                      <a:prstDash val="solid"/>
                      <a:round/>
                      <a:headEnd type="none" w="med" len="med"/>
                      <a:tailEnd type="none" w="med" len="med"/>
                    </a:lnB>
                    <a:noFill/>
                  </a:tcPr>
                </a:tc>
                <a:extLst>
                  <a:ext uri="{0D108BD9-81ED-4DB2-BD59-A6C34878D82A}">
                    <a16:rowId xmlns:a16="http://schemas.microsoft.com/office/drawing/2014/main" val="3547786229"/>
                  </a:ext>
                </a:extLst>
              </a:tr>
              <a:tr h="267878">
                <a:tc gridSpan="2">
                  <a:txBody>
                    <a:bodyPr/>
                    <a:lstStyle/>
                    <a:p>
                      <a:pPr algn="l" fontAlgn="b">
                        <a:buNone/>
                      </a:pPr>
                      <a:r>
                        <a:rPr lang="en-US" sz="1000" b="1" i="0" u="none" strike="noStrike">
                          <a:effectLst/>
                          <a:latin typeface="Scotia" panose="020B0503020203020204" pitchFamily="34" charset="0"/>
                        </a:rPr>
                        <a:t>Total Country</a:t>
                      </a:r>
                    </a:p>
                  </a:txBody>
                  <a:tcPr marL="46800" marR="0" marT="0" marB="0" anchor="ctr">
                    <a:lnL w="28575" cap="flat" cmpd="sng" algn="ctr">
                      <a:solidFill>
                        <a:schemeClr val="bg1"/>
                      </a:solidFill>
                      <a:prstDash val="solid"/>
                      <a:round/>
                      <a:headEnd type="none" w="med" len="med"/>
                      <a:tailEnd type="none" w="med" len="med"/>
                    </a:lnL>
                    <a:lnT w="28575" cap="flat" cmpd="sng" algn="ctr">
                      <a:solidFill>
                        <a:schemeClr val="bg1"/>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hMerge="1">
                  <a:txBody>
                    <a:bodyPr/>
                    <a:lstStyle/>
                    <a:p>
                      <a:endParaRPr/>
                    </a:p>
                  </a:txBody>
                  <a:tcPr marR="6350" marT="6350" marB="0" anchor="ctr">
                    <a:lnL w="28575" cap="flat" cmpd="sng" algn="ctr">
                      <a:solidFill>
                        <a:schemeClr val="bg1"/>
                      </a:solidFill>
                      <a:prstDash val="solid"/>
                      <a:round/>
                      <a:headEnd type="none" w="med" len="med"/>
                      <a:tailEnd type="none" w="med" len="med"/>
                    </a:lnL>
                    <a:noFill/>
                  </a:tcPr>
                </a:tc>
                <a:tc>
                  <a:txBody>
                    <a:bodyPr/>
                    <a:lstStyle/>
                    <a:p>
                      <a:pPr algn="ctr" fontAlgn="ctr">
                        <a:buNone/>
                      </a:pPr>
                      <a:r>
                        <a:rPr lang="en-US" sz="1000" b="1" i="0" u="none" strike="noStrike">
                          <a:solidFill>
                            <a:srgbClr val="000000"/>
                          </a:solidFill>
                          <a:effectLst/>
                          <a:latin typeface="Scotia" panose="020B0503020203020204" pitchFamily="34" charset="0"/>
                        </a:rPr>
                        <a:t>$633</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1" i="0" u="none" strike="noStrike">
                          <a:solidFill>
                            <a:srgbClr val="000000"/>
                          </a:solidFill>
                          <a:effectLst/>
                          <a:latin typeface="Scotia" panose="020B0503020203020204" pitchFamily="34" charset="0"/>
                        </a:rPr>
                        <a:t>$256</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$106</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$125</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$31</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$111</a:t>
                      </a:r>
                    </a:p>
                  </a:txBody>
                  <a:tcPr marL="6350" marR="6350" marT="6350" marB="0" anchor="ct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$3</a:t>
                      </a:r>
                    </a:p>
                  </a:txBody>
                  <a:tcPr marL="6350" marR="6350" marT="6350" marB="0" anchor="ctr">
                    <a:lnR w="12700" cap="flat" cmpd="sng" algn="ctr">
                      <a:noFill/>
                      <a:prstDash val="sysDot"/>
                      <a:round/>
                      <a:headEnd type="none" w="med" len="med"/>
                      <a:tailEnd type="none" w="med" len="med"/>
                    </a:lnR>
                    <a:lnT w="9525" cap="flat" cmpd="sng" algn="ctr">
                      <a:solidFill>
                        <a:srgbClr val="EC111A"/>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426375707"/>
                  </a:ext>
                </a:extLst>
              </a:tr>
              <a:tr h="267878">
                <a:tc gridSpan="2">
                  <a:txBody>
                    <a:bodyPr/>
                    <a:lstStyle/>
                    <a:p>
                      <a:pPr algn="l" fontAlgn="b">
                        <a:buNone/>
                      </a:pPr>
                      <a:r>
                        <a:rPr lang="en-US" sz="1000" b="0" i="1" u="none" strike="noStrike">
                          <a:effectLst/>
                          <a:latin typeface="Scotia" panose="020B0503020203020204" pitchFamily="34" charset="0"/>
                        </a:rPr>
                        <a:t>Total Country vs plan</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a:p>
                  </a:txBody>
                  <a:tcPr marR="6350" marT="6350" marB="0" anchor="ctr">
                    <a:lnL w="28575" cap="flat" cmpd="sng" algn="ctr">
                      <a:solidFill>
                        <a:schemeClr val="bg1"/>
                      </a:solidFill>
                      <a:prstDash val="solid"/>
                      <a:round/>
                      <a:headEnd type="none" w="med" len="med"/>
                      <a:tailEnd type="none" w="med" len="med"/>
                    </a:lnL>
                    <a:noFill/>
                  </a:tcPr>
                </a:tc>
                <a:tc>
                  <a:txBody>
                    <a:bodyPr/>
                    <a:lstStyle/>
                    <a:p>
                      <a:pPr algn="ctr" fontAlgn="ctr">
                        <a:buNone/>
                      </a:pPr>
                      <a:r>
                        <a:rPr lang="en-US" sz="1000" b="1" i="0" u="none" strike="noStrike">
                          <a:solidFill>
                            <a:srgbClr val="000000"/>
                          </a:solidFill>
                          <a:effectLst/>
                          <a:latin typeface="Scotia" panose="020B0503020203020204" pitchFamily="34" charset="0"/>
                        </a:rPr>
                        <a:t>-$34</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5EFE8"/>
                    </a:solid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$16</a:t>
                      </a:r>
                      <a:endParaRPr lang="en-US" sz="1000" b="0" i="0" u="none" strike="noStrike">
                        <a:solidFill>
                          <a:srgbClr val="000000"/>
                        </a:solidFill>
                        <a:effectLst/>
                        <a:latin typeface="Scotia" panose="020B0503020203020204" pitchFamily="34" charset="0"/>
                      </a:endParaRP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-$55</a:t>
                      </a:r>
                      <a:endParaRPr lang="en-US" sz="1000" b="1" i="0" u="none" strike="noStrike">
                        <a:solidFill>
                          <a:srgbClr val="000000"/>
                        </a:solidFill>
                        <a:effectLst/>
                        <a:latin typeface="Scotia" panose="020B0503020203020204" pitchFamily="34" charset="0"/>
                      </a:endParaRP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$0</a:t>
                      </a:r>
                      <a:endParaRPr lang="en-US" sz="1000" b="1" i="0" u="none" strike="noStrike">
                        <a:solidFill>
                          <a:srgbClr val="000000"/>
                        </a:solidFill>
                        <a:effectLst/>
                        <a:latin typeface="Scotia" panose="020B0503020203020204" pitchFamily="34" charset="0"/>
                      </a:endParaRP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$5</a:t>
                      </a:r>
                      <a:endParaRPr lang="en-US" sz="1000" b="1" i="0" u="none" strike="noStrike">
                        <a:solidFill>
                          <a:srgbClr val="000000"/>
                        </a:solidFill>
                        <a:effectLst/>
                        <a:latin typeface="Scotia" panose="020B0503020203020204" pitchFamily="34" charset="0"/>
                      </a:endParaRP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a:t>
                      </a:r>
                      <a:endParaRPr lang="en-US" sz="1000" b="1" i="0" u="none" strike="noStrike">
                        <a:solidFill>
                          <a:srgbClr val="000000"/>
                        </a:solidFill>
                        <a:effectLst/>
                        <a:latin typeface="Scotia" panose="020B0503020203020204" pitchFamily="34" charset="0"/>
                      </a:endParaRP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kumimoji="0" lang="en-US" sz="1000" b="0" i="0" u="none" strike="noStrike" kern="1200" cap="none" spc="0" normalizeH="0" baseline="0" noProof="0">
                          <a:ln>
                            <a:noFill/>
                          </a:ln>
                          <a:solidFill>
                            <a:srgbClr val="000000"/>
                          </a:solidFill>
                          <a:effectLst/>
                          <a:uLnTx/>
                          <a:uFillTx/>
                          <a:latin typeface="Scotia" panose="020B0503020203020204" pitchFamily="34" charset="0"/>
                          <a:ea typeface="+mn-ea"/>
                          <a:cs typeface="+mn-cs"/>
                        </a:rPr>
                        <a:t>-$8</a:t>
                      </a:r>
                      <a:endParaRPr lang="en-US" sz="1000" b="1" i="0" u="none" strike="noStrike">
                        <a:solidFill>
                          <a:srgbClr val="000000"/>
                        </a:solidFill>
                        <a:effectLst/>
                        <a:latin typeface="Scotia" panose="020B0503020203020204" pitchFamily="34" charset="0"/>
                      </a:endParaRP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537404612"/>
                  </a:ext>
                </a:extLst>
              </a:tr>
              <a:tr h="267878">
                <a:tc rowSpan="6">
                  <a:txBody>
                    <a:bodyPr/>
                    <a:lstStyle/>
                    <a:p>
                      <a:pPr algn="ctr" fontAlgn="b">
                        <a:buNone/>
                      </a:pPr>
                      <a:r>
                        <a:rPr lang="en-US" sz="1000" b="0" i="0" u="none" strike="noStrike">
                          <a:effectLst/>
                          <a:latin typeface="Scotia" panose="020B0503020203020204" pitchFamily="34" charset="0"/>
                        </a:rPr>
                        <a:t>Loans</a:t>
                      </a:r>
                    </a:p>
                  </a:txBody>
                  <a:tcPr marL="0" marR="0" marT="0" marB="0" vert="vert27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D8D6CA"/>
                    </a:solidFill>
                  </a:tcPr>
                </a:tc>
                <a:tc>
                  <a:txBody>
                    <a:bodyPr/>
                    <a:lstStyle/>
                    <a:p>
                      <a:pPr algn="l" fontAlgn="b">
                        <a:buNone/>
                      </a:pPr>
                      <a:r>
                        <a:rPr lang="en-US" sz="1000" b="0" i="0" u="none" strike="noStrike">
                          <a:effectLst/>
                          <a:latin typeface="Scotia" panose="020B0503020203020204" pitchFamily="34" charset="0"/>
                        </a:rPr>
                        <a:t>Cards</a:t>
                      </a:r>
                    </a:p>
                  </a:txBody>
                  <a:tcPr marL="46800" marR="0" marT="0" marB="0" anchor="ctr">
                    <a:lnL w="28575" cap="flat" cmpd="sng" algn="ctr">
                      <a:solidFill>
                        <a:schemeClr val="bg1"/>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$145</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$77</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-$4</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$40</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$8</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$19</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$6</a:t>
                      </a:r>
                    </a:p>
                  </a:txBody>
                  <a:tcPr marL="6350" marR="6350" marT="6350" marB="0" anchor="ctr">
                    <a:lnR w="12700" cap="flat" cmpd="sng" algn="ctr">
                      <a:noFill/>
                      <a:prstDash val="sysDot"/>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4206578336"/>
                  </a:ext>
                </a:extLst>
              </a:tr>
              <a:tr h="267878">
                <a:tc vMerge="1">
                  <a:txBody>
                    <a:bodyPr/>
                    <a:lstStyle/>
                    <a:p>
                      <a:pPr algn="l" fontAlgn="b">
                        <a:buNone/>
                      </a:pPr>
                      <a:endParaRPr lang="en-US" sz="900" b="1" i="0" u="none" strike="noStrike">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SPL</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$145</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$49</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$25</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$43</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$8</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-$10</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513637631"/>
                  </a:ext>
                </a:extLst>
              </a:tr>
              <a:tr h="267878">
                <a:tc vMerge="1">
                  <a:txBody>
                    <a:bodyPr/>
                    <a:lstStyle/>
                    <a:p>
                      <a:pPr algn="l" fontAlgn="b">
                        <a:buNone/>
                      </a:pPr>
                      <a:endParaRPr lang="en-US" sz="900" b="1" i="0" u="none" strike="noStrike">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Mortgage</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$82</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$41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$14</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$14</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$9</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-$6</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540452487"/>
                  </a:ext>
                </a:extLst>
              </a:tr>
              <a:tr h="267878">
                <a:tc vMerge="1">
                  <a:txBody>
                    <a:bodyPr/>
                    <a:lstStyle/>
                    <a:p>
                      <a:pPr algn="l" fontAlgn="b">
                        <a:buNone/>
                      </a:pPr>
                      <a:endParaRPr lang="en-US" sz="900" b="1" i="0" u="none" strike="noStrike">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Auto</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$60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$59</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4107289716"/>
                  </a:ext>
                </a:extLst>
              </a:tr>
              <a:tr h="267878">
                <a:tc vMerge="1">
                  <a:txBody>
                    <a:bodyPr/>
                    <a:lstStyle/>
                    <a:p>
                      <a:pPr algn="l" fontAlgn="b">
                        <a:buNone/>
                      </a:pPr>
                      <a:endParaRPr lang="en-US" sz="900" b="1" i="0" u="none" strike="noStrike">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Business Loans</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$50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$33</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$14</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455195895"/>
                  </a:ext>
                </a:extLst>
              </a:tr>
              <a:tr h="267878">
                <a:tc vMerge="1">
                  <a:txBody>
                    <a:bodyPr/>
                    <a:lstStyle/>
                    <a:p>
                      <a:pPr algn="l" fontAlgn="b">
                        <a:buNone/>
                      </a:pPr>
                      <a:endParaRPr lang="en-US" sz="900" b="1" i="0" u="none" strike="noStrike" baseline="30000">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Other Loans</a:t>
                      </a:r>
                      <a:r>
                        <a:rPr lang="en-US" sz="1000" b="0" i="0" u="none" strike="noStrike" baseline="30000">
                          <a:effectLst/>
                          <a:latin typeface="Scotia" panose="020B0503020203020204" pitchFamily="34" charset="0"/>
                        </a:rPr>
                        <a:t>1</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-$33</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$5</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-$7</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-$33</a:t>
                      </a:r>
                      <a:r>
                        <a:rPr lang="en-US" sz="1000" b="0" i="0" u="none" strike="noStrike" baseline="30000">
                          <a:solidFill>
                            <a:srgbClr val="000000"/>
                          </a:solidFill>
                          <a:effectLst/>
                          <a:latin typeface="Scotia" panose="020B0503020203020204" pitchFamily="34" charset="0"/>
                        </a:rPr>
                        <a:t>2</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861553273"/>
                  </a:ext>
                </a:extLst>
              </a:tr>
              <a:tr h="267878">
                <a:tc rowSpan="3">
                  <a:txBody>
                    <a:bodyPr/>
                    <a:lstStyle/>
                    <a:p>
                      <a:pPr algn="ctr" fontAlgn="b">
                        <a:buNone/>
                      </a:pPr>
                      <a:r>
                        <a:rPr lang="en-US" sz="1000" b="0" i="0" u="none" strike="noStrike" baseline="0">
                          <a:effectLst/>
                          <a:latin typeface="Scotia" panose="020B0503020203020204" pitchFamily="34" charset="0"/>
                        </a:rPr>
                        <a:t>Deposits</a:t>
                      </a:r>
                    </a:p>
                  </a:txBody>
                  <a:tcPr marL="0" marR="0" marT="0" marB="0" vert="vert27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D8D6CA"/>
                    </a:solidFill>
                  </a:tcPr>
                </a:tc>
                <a:tc>
                  <a:txBody>
                    <a:bodyPr/>
                    <a:lstStyle/>
                    <a:p>
                      <a:pPr algn="l" fontAlgn="b">
                        <a:buNone/>
                      </a:pPr>
                      <a:r>
                        <a:rPr lang="en-US" sz="1000" b="0" i="0" u="none" strike="noStrike" baseline="0">
                          <a:effectLst/>
                          <a:latin typeface="Scotia" panose="020B0503020203020204" pitchFamily="34" charset="0"/>
                        </a:rPr>
                        <a:t>Demand</a:t>
                      </a:r>
                    </a:p>
                  </a:txBody>
                  <a:tcPr marL="46800" marR="0" marT="0" marB="0" anchor="ctr">
                    <a:lnL w="28575" cap="flat" cmpd="sng" algn="ctr">
                      <a:solidFill>
                        <a:schemeClr val="bg1"/>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$102</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-$4</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$37</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$4</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$16</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$50</a:t>
                      </a:r>
                    </a:p>
                  </a:txBody>
                  <a:tcPr marL="6350" marR="6350" marT="6350" marB="0" anchor="ctr">
                    <a:lnR w="12700" cap="flat" cmpd="sng" algn="ctr">
                      <a:noFill/>
                      <a:prstDash val="sysDot"/>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2056506585"/>
                  </a:ext>
                </a:extLst>
              </a:tr>
              <a:tr h="267878">
                <a:tc vMerge="1">
                  <a:txBody>
                    <a:bodyPr/>
                    <a:lstStyle/>
                    <a:p>
                      <a:pPr algn="l" fontAlgn="b">
                        <a:buNone/>
                      </a:pPr>
                      <a:endParaRPr lang="en-US" sz="900" b="1" i="0" u="none" strike="noStrike" baseline="0">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baseline="0">
                          <a:effectLst/>
                          <a:latin typeface="Scotia" panose="020B0503020203020204" pitchFamily="34" charset="0"/>
                        </a:rPr>
                        <a:t>Savings</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-$66</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-$8</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$22</a:t>
                      </a:r>
                    </a:p>
                  </a:txBody>
                  <a:tcPr marL="6350" marR="6350" marT="6350" marB="0" anchor="ct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-$70</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4055808278"/>
                  </a:ext>
                </a:extLst>
              </a:tr>
              <a:tr h="267878">
                <a:tc vMerge="1">
                  <a:txBody>
                    <a:bodyPr/>
                    <a:lstStyle/>
                    <a:p>
                      <a:pPr algn="l" fontAlgn="b">
                        <a:buNone/>
                      </a:pPr>
                      <a:endParaRPr lang="en-US" sz="900" b="1" i="0" u="none" strike="noStrike" baseline="0">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noFill/>
                  </a:tcPr>
                </a:tc>
                <a:tc>
                  <a:txBody>
                    <a:bodyPr/>
                    <a:lstStyle/>
                    <a:p>
                      <a:pPr algn="l" fontAlgn="b">
                        <a:buNone/>
                      </a:pPr>
                      <a:r>
                        <a:rPr lang="en-US" sz="1000" b="0" i="0" u="none" strike="noStrike" baseline="0">
                          <a:effectLst/>
                          <a:latin typeface="Scotia" panose="020B0503020203020204" pitchFamily="34" charset="0"/>
                        </a:rPr>
                        <a:t>Non-Core</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-$7</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-$7</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697694421"/>
                  </a:ext>
                </a:extLst>
              </a:tr>
              <a:tr h="267878">
                <a:tc rowSpan="2">
                  <a:txBody>
                    <a:bodyPr/>
                    <a:lstStyle/>
                    <a:p>
                      <a:pPr marL="0" marR="0" lvl="0" indent="0" algn="ctr" defTabSz="914411" rtl="0" eaLnBrk="1" fontAlgn="b" latinLnBrk="0" hangingPunct="1">
                        <a:lnSpc>
                          <a:spcPct val="100000"/>
                        </a:lnSpc>
                        <a:spcBef>
                          <a:spcPts val="0"/>
                        </a:spcBef>
                        <a:spcAft>
                          <a:spcPts val="0"/>
                        </a:spcAft>
                        <a:buClrTx/>
                        <a:buSzTx/>
                        <a:buFontTx/>
                        <a:buNone/>
                        <a:tabLst/>
                        <a:defRPr/>
                      </a:pPr>
                      <a:r>
                        <a:rPr lang="en-US" sz="1000" b="0" i="0" u="none" strike="noStrike">
                          <a:effectLst/>
                          <a:latin typeface="Scotia" panose="020B0503020203020204" pitchFamily="34" charset="0"/>
                        </a:rPr>
                        <a:t>Others</a:t>
                      </a:r>
                    </a:p>
                  </a:txBody>
                  <a:tcPr marL="0" marR="0" marT="0" marB="0" vert="vert27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D6CA"/>
                    </a:solidFill>
                  </a:tcPr>
                </a:tc>
                <a:tc>
                  <a:txBody>
                    <a:bodyPr/>
                    <a:lstStyle/>
                    <a:p>
                      <a:pPr marL="0" marR="0" lvl="0" indent="0" algn="l" defTabSz="914411" rtl="0" eaLnBrk="1" fontAlgn="b" latinLnBrk="0" hangingPunct="1">
                        <a:lnSpc>
                          <a:spcPct val="100000"/>
                        </a:lnSpc>
                        <a:spcBef>
                          <a:spcPts val="0"/>
                        </a:spcBef>
                        <a:spcAft>
                          <a:spcPts val="0"/>
                        </a:spcAft>
                        <a:buClrTx/>
                        <a:buSzTx/>
                        <a:buFontTx/>
                        <a:buNone/>
                        <a:tabLst/>
                        <a:defRPr/>
                      </a:pPr>
                      <a:r>
                        <a:rPr lang="en-US" sz="1000" b="0" i="0" u="none" strike="noStrike">
                          <a:effectLst/>
                          <a:latin typeface="Scotia" panose="020B0503020203020204" pitchFamily="34" charset="0"/>
                        </a:rPr>
                        <a:t>FX + Cash Mgmt.</a:t>
                      </a:r>
                    </a:p>
                  </a:txBody>
                  <a:tcPr marL="46800" marR="0" marT="0" marB="0" anchor="ctr">
                    <a:lnL w="28575" cap="flat" cmpd="sng" algn="ctr">
                      <a:solidFill>
                        <a:schemeClr val="bg1"/>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$95</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$44</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$8</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$3</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$9</a:t>
                      </a:r>
                    </a:p>
                  </a:txBody>
                  <a:tcPr marL="6350" marR="6350" marT="6350" marB="0" anchor="ct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$29</a:t>
                      </a:r>
                    </a:p>
                  </a:txBody>
                  <a:tcPr marL="6350" marR="6350" marT="6350" marB="0" anchor="ctr">
                    <a:lnR w="12700" cap="flat" cmpd="sng" algn="ctr">
                      <a:noFill/>
                      <a:prstDash val="sysDot"/>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ysDot"/>
                      <a:round/>
                      <a:headEnd type="none" w="med" len="med"/>
                      <a:tailEnd type="none" w="med" len="med"/>
                    </a:lnB>
                    <a:noFill/>
                  </a:tcPr>
                </a:tc>
                <a:extLst>
                  <a:ext uri="{0D108BD9-81ED-4DB2-BD59-A6C34878D82A}">
                    <a16:rowId xmlns:a16="http://schemas.microsoft.com/office/drawing/2014/main" val="3253623981"/>
                  </a:ext>
                </a:extLst>
              </a:tr>
              <a:tr h="267878">
                <a:tc vMerge="1">
                  <a:txBody>
                    <a:bodyPr/>
                    <a:lstStyle/>
                    <a:p>
                      <a:pPr algn="l" fontAlgn="b">
                        <a:buNone/>
                      </a:pPr>
                      <a:endParaRPr lang="en-US" sz="900" b="1" i="0" u="none" strike="noStrike">
                        <a:effectLst/>
                        <a:latin typeface="Scotia" panose="020B0503020203020204" pitchFamily="34" charset="0"/>
                      </a:endParaRPr>
                    </a:p>
                  </a:txBody>
                  <a:tcPr marR="6350" marT="6350" marB="0" anchor="ctr">
                    <a:lnT w="12700" cap="flat" cmpd="sng" algn="ctr">
                      <a:solidFill>
                        <a:schemeClr val="bg1">
                          <a:lumMod val="85000"/>
                        </a:schemeClr>
                      </a:solidFill>
                      <a:prstDash val="sysDot"/>
                      <a:round/>
                      <a:headEnd type="none" w="med" len="med"/>
                      <a:tailEnd type="none" w="med" len="med"/>
                    </a:lnT>
                    <a:lnB w="12700" cap="flat" cmpd="sng" algn="ctr">
                      <a:solidFill>
                        <a:srgbClr val="BEBBA6"/>
                      </a:solidFill>
                      <a:prstDash val="sysDot"/>
                      <a:round/>
                      <a:headEnd type="none" w="med" len="med"/>
                      <a:tailEnd type="none" w="med" len="med"/>
                    </a:lnB>
                    <a:noFill/>
                  </a:tcPr>
                </a:tc>
                <a:tc>
                  <a:txBody>
                    <a:bodyPr/>
                    <a:lstStyle/>
                    <a:p>
                      <a:pPr algn="l" fontAlgn="b">
                        <a:buNone/>
                      </a:pPr>
                      <a:r>
                        <a:rPr lang="en-US" sz="1000" b="0" i="0" u="none" strike="noStrike">
                          <a:effectLst/>
                          <a:latin typeface="Scotia" panose="020B0503020203020204" pitchFamily="34" charset="0"/>
                        </a:rPr>
                        <a:t>Others</a:t>
                      </a:r>
                    </a:p>
                  </a:txBody>
                  <a:tcPr marL="46800" marR="0" marT="0" marB="0" anchor="ctr">
                    <a:lnL w="28575" cap="flat" cmpd="sng" algn="ctr">
                      <a:solidFill>
                        <a:schemeClr val="bg1"/>
                      </a:solidFill>
                      <a:prstDash val="solid"/>
                      <a:round/>
                      <a:headEnd type="none" w="med" len="med"/>
                      <a:tailEnd type="none" w="med" len="med"/>
                    </a:lnL>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1" i="0" u="none" strike="noStrike">
                          <a:solidFill>
                            <a:srgbClr val="000000"/>
                          </a:solidFill>
                          <a:effectLst/>
                          <a:latin typeface="Scotia" panose="020B0503020203020204" pitchFamily="34" charset="0"/>
                        </a:rPr>
                        <a:t>$51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5EFE8"/>
                    </a:solid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$26</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-$1</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$0</a:t>
                      </a:r>
                    </a:p>
                  </a:txBody>
                  <a:tcPr marL="6350" marR="6350" marT="6350" marB="0" anchor="ct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buNone/>
                      </a:pPr>
                      <a:r>
                        <a:rPr lang="en-US" sz="1000" b="0" i="0" u="none" strike="noStrike">
                          <a:solidFill>
                            <a:srgbClr val="000000"/>
                          </a:solidFill>
                          <a:effectLst/>
                          <a:latin typeface="Scotia" panose="020B0503020203020204" pitchFamily="34" charset="0"/>
                        </a:rPr>
                        <a:t>$25</a:t>
                      </a:r>
                    </a:p>
                  </a:txBody>
                  <a:tcPr marL="6350" marR="6350" marT="6350" marB="0" anchor="ctr">
                    <a:lnR w="12700" cap="flat" cmpd="sng" algn="ctr">
                      <a:noFill/>
                      <a:prstDash val="sysDot"/>
                      <a:round/>
                      <a:headEnd type="none" w="med" len="med"/>
                      <a:tailEnd type="none" w="med" len="med"/>
                    </a:lnR>
                    <a:lnT w="9525"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212573136"/>
                  </a:ext>
                </a:extLst>
              </a:tr>
              <a:tr h="267878">
                <a:tc>
                  <a:txBody>
                    <a:bodyPr/>
                    <a:lstStyle/>
                    <a:p>
                      <a:pPr algn="l" fontAlgn="b">
                        <a:buNone/>
                      </a:pPr>
                      <a:endParaRPr lang="en-US" sz="1000" b="0" i="0" u="none" strike="noStrike" baseline="30000">
                        <a:effectLst/>
                        <a:latin typeface="Scotia" panose="020B0503020203020204" pitchFamily="34" charset="0"/>
                      </a:endParaRPr>
                    </a:p>
                  </a:txBody>
                  <a:tcPr marL="0" marR="0" marT="0" marB="0" anchor="ctr">
                    <a:lnT w="12700" cap="flat" cmpd="sng" algn="ctr">
                      <a:solidFill>
                        <a:schemeClr val="bg1">
                          <a:lumMod val="85000"/>
                        </a:schemeClr>
                      </a:solidFill>
                      <a:prstDash val="solid"/>
                      <a:round/>
                      <a:headEnd type="none" w="med" len="med"/>
                      <a:tailEnd type="none" w="med" len="med"/>
                    </a:lnT>
                    <a:noFill/>
                  </a:tcPr>
                </a:tc>
                <a:tc>
                  <a:txBody>
                    <a:bodyPr/>
                    <a:lstStyle/>
                    <a:p>
                      <a:pPr algn="l" fontAlgn="b">
                        <a:buNone/>
                      </a:pPr>
                      <a:r>
                        <a:rPr lang="en-US" sz="1000" b="1" i="0" u="none" strike="noStrike">
                          <a:effectLst/>
                          <a:latin typeface="Scotia" panose="020B0503020203020204" pitchFamily="34" charset="0"/>
                        </a:rPr>
                        <a:t>Insurance</a:t>
                      </a:r>
                      <a:r>
                        <a:rPr lang="en-US" sz="1000" b="1" i="0" u="none" strike="noStrike" baseline="30000">
                          <a:effectLst/>
                          <a:latin typeface="Scotia" panose="020B0503020203020204" pitchFamily="34" charset="0"/>
                        </a:rPr>
                        <a:t>3</a:t>
                      </a:r>
                    </a:p>
                  </a:txBody>
                  <a:tcPr marL="46800" marR="0" marT="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1" i="0" u="none" strike="noStrike">
                          <a:effectLst/>
                          <a:latin typeface="Scotia" panose="020B0503020203020204" pitchFamily="34" charset="0"/>
                        </a:rPr>
                        <a:t>$64</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$25</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$30</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$11</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$2</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$5</a:t>
                      </a:r>
                    </a:p>
                  </a:txBody>
                  <a:tcPr marL="6350" marR="6350" marT="6350" marB="0" anchor="ctr">
                    <a:lnT w="12700" cap="flat" cmpd="sng" algn="ctr">
                      <a:solidFill>
                        <a:schemeClr val="bg1">
                          <a:lumMod val="85000"/>
                        </a:schemeClr>
                      </a:solidFill>
                      <a:prstDash val="solid"/>
                      <a:round/>
                      <a:headEnd type="none" w="med" len="med"/>
                      <a:tailEnd type="none" w="med" len="med"/>
                    </a:lnT>
                    <a:noFill/>
                  </a:tcPr>
                </a:tc>
                <a:tc>
                  <a:txBody>
                    <a:bodyPr/>
                    <a:lstStyle/>
                    <a:p>
                      <a:pPr algn="ctr" fontAlgn="b">
                        <a:buNone/>
                      </a:pPr>
                      <a:r>
                        <a:rPr lang="en-US" sz="1000" b="0" i="0" u="none" strike="noStrike">
                          <a:effectLst/>
                          <a:latin typeface="Scotia" panose="020B0503020203020204" pitchFamily="34" charset="0"/>
                        </a:rPr>
                        <a:t>-$8</a:t>
                      </a:r>
                    </a:p>
                  </a:txBody>
                  <a:tcPr marL="6350" marR="6350" marT="6350" marB="0" anchor="ctr">
                    <a:lnR w="12700" cmpd="sng">
                      <a:noFill/>
                    </a:ln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2317690582"/>
                  </a:ext>
                </a:extLst>
              </a:tr>
            </a:tbl>
          </a:graphicData>
        </a:graphic>
      </p:graphicFrame>
      <p:grpSp>
        <p:nvGrpSpPr>
          <p:cNvPr id="218" name="Group 217">
            <a:extLst>
              <a:ext uri="{FF2B5EF4-FFF2-40B4-BE49-F238E27FC236}">
                <a16:creationId xmlns:a16="http://schemas.microsoft.com/office/drawing/2014/main" id="{B5A9F536-F43B-EBCF-9937-008ACA559B80}"/>
              </a:ext>
            </a:extLst>
          </p:cNvPr>
          <p:cNvGrpSpPr/>
          <p:nvPr/>
        </p:nvGrpSpPr>
        <p:grpSpPr>
          <a:xfrm>
            <a:off x="6352629" y="1661573"/>
            <a:ext cx="1222943" cy="180840"/>
            <a:chOff x="9488869" y="1491615"/>
            <a:chExt cx="1397414" cy="201684"/>
          </a:xfrm>
        </p:grpSpPr>
        <p:sp>
          <p:nvSpPr>
            <p:cNvPr id="219" name="Rectangle 218">
              <a:extLst>
                <a:ext uri="{FF2B5EF4-FFF2-40B4-BE49-F238E27FC236}">
                  <a16:creationId xmlns:a16="http://schemas.microsoft.com/office/drawing/2014/main" id="{AB2A6346-A40E-BFD5-7A10-FE9569EA75D4}"/>
                </a:ext>
              </a:extLst>
            </p:cNvPr>
            <p:cNvSpPr/>
            <p:nvPr/>
          </p:nvSpPr>
          <p:spPr>
            <a:xfrm>
              <a:off x="9488869" y="1494897"/>
              <a:ext cx="182880" cy="182880"/>
            </a:xfrm>
            <a:prstGeom prst="rect">
              <a:avLst/>
            </a:prstGeom>
            <a:noFill/>
            <a:ln>
              <a:solidFill>
                <a:srgbClr val="00A467"/>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20" name="Rectangle 219">
              <a:extLst>
                <a:ext uri="{FF2B5EF4-FFF2-40B4-BE49-F238E27FC236}">
                  <a16:creationId xmlns:a16="http://schemas.microsoft.com/office/drawing/2014/main" id="{AC50B2A8-C8CB-9340-BE9E-6BCB7FFBE6BC}"/>
                </a:ext>
              </a:extLst>
            </p:cNvPr>
            <p:cNvSpPr/>
            <p:nvPr/>
          </p:nvSpPr>
          <p:spPr>
            <a:xfrm>
              <a:off x="9632459" y="1491615"/>
              <a:ext cx="1253824" cy="2016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900" i="1">
                  <a:solidFill>
                    <a:schemeClr val="tx1"/>
                  </a:solidFill>
                </a:rPr>
                <a:t>Top contributors</a:t>
              </a:r>
            </a:p>
          </p:txBody>
        </p:sp>
      </p:grpSp>
      <p:grpSp>
        <p:nvGrpSpPr>
          <p:cNvPr id="221" name="Group 220">
            <a:extLst>
              <a:ext uri="{FF2B5EF4-FFF2-40B4-BE49-F238E27FC236}">
                <a16:creationId xmlns:a16="http://schemas.microsoft.com/office/drawing/2014/main" id="{5F8AE3C8-3CEF-061B-8296-1F43E87DF5CC}"/>
              </a:ext>
            </a:extLst>
          </p:cNvPr>
          <p:cNvGrpSpPr/>
          <p:nvPr/>
        </p:nvGrpSpPr>
        <p:grpSpPr>
          <a:xfrm>
            <a:off x="7503386" y="1661573"/>
            <a:ext cx="1097281" cy="180840"/>
            <a:chOff x="9488869" y="1491615"/>
            <a:chExt cx="1397416" cy="201684"/>
          </a:xfrm>
        </p:grpSpPr>
        <p:sp>
          <p:nvSpPr>
            <p:cNvPr id="222" name="Rectangle 221">
              <a:extLst>
                <a:ext uri="{FF2B5EF4-FFF2-40B4-BE49-F238E27FC236}">
                  <a16:creationId xmlns:a16="http://schemas.microsoft.com/office/drawing/2014/main" id="{299DF7C1-4331-0ABD-5822-9974D88BB879}"/>
                </a:ext>
              </a:extLst>
            </p:cNvPr>
            <p:cNvSpPr/>
            <p:nvPr/>
          </p:nvSpPr>
          <p:spPr>
            <a:xfrm>
              <a:off x="9488869" y="1494897"/>
              <a:ext cx="182880" cy="182880"/>
            </a:xfrm>
            <a:prstGeom prst="rect">
              <a:avLst/>
            </a:prstGeom>
            <a:noFill/>
            <a:ln>
              <a:solidFill>
                <a:srgbClr val="EC111A"/>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23" name="Rectangle 222">
              <a:extLst>
                <a:ext uri="{FF2B5EF4-FFF2-40B4-BE49-F238E27FC236}">
                  <a16:creationId xmlns:a16="http://schemas.microsoft.com/office/drawing/2014/main" id="{1F96E116-61A4-4848-8876-E0D3E0E6E979}"/>
                </a:ext>
              </a:extLst>
            </p:cNvPr>
            <p:cNvSpPr/>
            <p:nvPr/>
          </p:nvSpPr>
          <p:spPr>
            <a:xfrm>
              <a:off x="9632461" y="1491615"/>
              <a:ext cx="1253824" cy="2016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900" i="1">
                  <a:solidFill>
                    <a:schemeClr val="tx1"/>
                  </a:solidFill>
                </a:rPr>
                <a:t>Top detractors</a:t>
              </a:r>
            </a:p>
          </p:txBody>
        </p:sp>
      </p:grpSp>
      <p:sp>
        <p:nvSpPr>
          <p:cNvPr id="32" name="Text Placeholder 7">
            <a:extLst>
              <a:ext uri="{FF2B5EF4-FFF2-40B4-BE49-F238E27FC236}">
                <a16:creationId xmlns:a16="http://schemas.microsoft.com/office/drawing/2014/main" id="{F2987704-36DE-BD50-FEBE-764BF4A954FF}"/>
              </a:ext>
            </a:extLst>
          </p:cNvPr>
          <p:cNvSpPr txBox="1">
            <a:spLocks/>
          </p:cNvSpPr>
          <p:nvPr/>
        </p:nvSpPr>
        <p:spPr>
          <a:xfrm>
            <a:off x="515938" y="342857"/>
            <a:ext cx="5400000" cy="180000"/>
          </a:xfrm>
          <a:prstGeom prst="rect">
            <a:avLst/>
          </a:prstGeom>
        </p:spPr>
        <p:txBody>
          <a:bodyPr vert="horz" lIns="0" tIns="0" rIns="0" bIns="0" rtlCol="0" anchor="ctr">
            <a:noAutofit/>
          </a:bodyPr>
          <a:lstStyle>
            <a:lvl1pPr indent="0" defTabSz="914411">
              <a:lnSpc>
                <a:spcPct val="100000"/>
              </a:lnSpc>
              <a:spcBef>
                <a:spcPts val="601"/>
              </a:spcBef>
              <a:buClr>
                <a:schemeClr val="tx1"/>
              </a:buClr>
              <a:buFont typeface="Arial" panose="020B0604020202020204" pitchFamily="34" charset="0"/>
              <a:buNone/>
              <a:defRPr sz="900" b="0" cap="all" spc="201" baseline="0">
                <a:solidFill>
                  <a:srgbClr val="EC111A"/>
                </a:solidFill>
                <a:latin typeface="Scotia Light" panose="020B0403020203020204" pitchFamily="34" charset="0"/>
                <a:ea typeface="Scotia Light" panose="020B0403020203020204" pitchFamily="34" charset="0"/>
              </a:defRPr>
            </a:lvl1pPr>
            <a:lvl2pPr marL="685809" indent="-228604" defTabSz="914411">
              <a:lnSpc>
                <a:spcPct val="100000"/>
              </a:lnSpc>
              <a:spcBef>
                <a:spcPts val="601"/>
              </a:spcBef>
              <a:buClr>
                <a:schemeClr val="tx1"/>
              </a:buClr>
              <a:buFont typeface="Arial" panose="020B0604020202020204" pitchFamily="34" charset="0"/>
              <a:buChar char="•"/>
              <a:defRPr sz="1200"/>
            </a:lvl2pPr>
            <a:lvl3pPr marL="1143015" indent="-228604" defTabSz="914411">
              <a:lnSpc>
                <a:spcPct val="100000"/>
              </a:lnSpc>
              <a:spcBef>
                <a:spcPts val="601"/>
              </a:spcBef>
              <a:buClr>
                <a:schemeClr val="tx1"/>
              </a:buClr>
              <a:buFont typeface="Arial" panose="020B0604020202020204" pitchFamily="34" charset="0"/>
              <a:buChar char="•"/>
              <a:defRPr sz="1200"/>
            </a:lvl3pPr>
            <a:lvl4pPr marL="1600221" indent="-228604" defTabSz="914411">
              <a:lnSpc>
                <a:spcPct val="100000"/>
              </a:lnSpc>
              <a:spcBef>
                <a:spcPts val="601"/>
              </a:spcBef>
              <a:buClr>
                <a:schemeClr val="tx1"/>
              </a:buClr>
              <a:buFont typeface="Arial" panose="020B0604020202020204" pitchFamily="34" charset="0"/>
              <a:buChar char="•"/>
              <a:defRPr sz="1100"/>
            </a:lvl4pPr>
            <a:lvl5pPr marL="2057427" indent="-228604" defTabSz="914411">
              <a:lnSpc>
                <a:spcPct val="100000"/>
              </a:lnSpc>
              <a:spcBef>
                <a:spcPts val="601"/>
              </a:spcBef>
              <a:buClr>
                <a:schemeClr val="tx1"/>
              </a:buClr>
              <a:buFont typeface="Arial" panose="020B0604020202020204" pitchFamily="34" charset="0"/>
              <a:buChar char="•"/>
              <a:defRPr sz="1100"/>
            </a:lvl5pPr>
            <a:lvl6pPr marL="2514632" indent="-228604" defTabSz="914411">
              <a:lnSpc>
                <a:spcPct val="90000"/>
              </a:lnSpc>
              <a:spcBef>
                <a:spcPts val="500"/>
              </a:spcBef>
              <a:buFont typeface="Arial" panose="020B0604020202020204" pitchFamily="34" charset="0"/>
              <a:buChar char="•"/>
              <a:defRPr sz="1801"/>
            </a:lvl6pPr>
            <a:lvl7pPr marL="2971838" indent="-228604" defTabSz="914411">
              <a:lnSpc>
                <a:spcPct val="90000"/>
              </a:lnSpc>
              <a:spcBef>
                <a:spcPts val="500"/>
              </a:spcBef>
              <a:buFont typeface="Arial" panose="020B0604020202020204" pitchFamily="34" charset="0"/>
              <a:buChar char="•"/>
              <a:defRPr sz="1801"/>
            </a:lvl7pPr>
            <a:lvl8pPr marL="3429044" indent="-228604" defTabSz="914411">
              <a:lnSpc>
                <a:spcPct val="90000"/>
              </a:lnSpc>
              <a:spcBef>
                <a:spcPts val="500"/>
              </a:spcBef>
              <a:buFont typeface="Arial" panose="020B0604020202020204" pitchFamily="34" charset="0"/>
              <a:buChar char="•"/>
              <a:defRPr sz="1801"/>
            </a:lvl8pPr>
            <a:lvl9pPr marL="3886249" indent="-228604" defTabSz="914411">
              <a:lnSpc>
                <a:spcPct val="90000"/>
              </a:lnSpc>
              <a:spcBef>
                <a:spcPts val="500"/>
              </a:spcBef>
              <a:buFont typeface="Arial" panose="020B0604020202020204" pitchFamily="34" charset="0"/>
              <a:buChar char="•"/>
              <a:defRPr sz="1801"/>
            </a:lvl9pPr>
          </a:lstStyle>
          <a:p>
            <a:r>
              <a:rPr lang="en-US"/>
              <a:t>PRODUCTS DOMAIN</a:t>
            </a:r>
          </a:p>
        </p:txBody>
      </p:sp>
      <p:sp>
        <p:nvSpPr>
          <p:cNvPr id="35" name="Rectangle 34">
            <a:extLst>
              <a:ext uri="{FF2B5EF4-FFF2-40B4-BE49-F238E27FC236}">
                <a16:creationId xmlns:a16="http://schemas.microsoft.com/office/drawing/2014/main" id="{5A79B48C-7017-2A52-5DED-FAE943CABF7C}"/>
              </a:ext>
            </a:extLst>
          </p:cNvPr>
          <p:cNvSpPr/>
          <p:nvPr/>
        </p:nvSpPr>
        <p:spPr>
          <a:xfrm>
            <a:off x="0" y="0"/>
            <a:ext cx="393700" cy="39370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US" sz="1400" b="1">
                <a:solidFill>
                  <a:schemeClr val="bg1"/>
                </a:solidFill>
              </a:rPr>
              <a:t>3</a:t>
            </a:r>
          </a:p>
        </p:txBody>
      </p:sp>
      <p:sp>
        <p:nvSpPr>
          <p:cNvPr id="6" name="Rectangle 5">
            <a:extLst>
              <a:ext uri="{FF2B5EF4-FFF2-40B4-BE49-F238E27FC236}">
                <a16:creationId xmlns:a16="http://schemas.microsoft.com/office/drawing/2014/main" id="{35D97FA2-FBB1-1083-51D8-CE0BB421EDBE}"/>
              </a:ext>
            </a:extLst>
          </p:cNvPr>
          <p:cNvSpPr/>
          <p:nvPr/>
        </p:nvSpPr>
        <p:spPr>
          <a:xfrm>
            <a:off x="3077938" y="2960629"/>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1" name="Rectangle 10">
            <a:extLst>
              <a:ext uri="{FF2B5EF4-FFF2-40B4-BE49-F238E27FC236}">
                <a16:creationId xmlns:a16="http://schemas.microsoft.com/office/drawing/2014/main" id="{E2D2E6E5-E3B0-8C36-332B-D9873AA6130A}"/>
              </a:ext>
            </a:extLst>
          </p:cNvPr>
          <p:cNvSpPr/>
          <p:nvPr/>
        </p:nvSpPr>
        <p:spPr>
          <a:xfrm>
            <a:off x="3077938" y="3239127"/>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6" name="Rectangle 15">
            <a:extLst>
              <a:ext uri="{FF2B5EF4-FFF2-40B4-BE49-F238E27FC236}">
                <a16:creationId xmlns:a16="http://schemas.microsoft.com/office/drawing/2014/main" id="{829F3C4C-29B2-C55B-C6B5-F45EEEED9FA4}"/>
              </a:ext>
            </a:extLst>
          </p:cNvPr>
          <p:cNvSpPr/>
          <p:nvPr/>
        </p:nvSpPr>
        <p:spPr>
          <a:xfrm>
            <a:off x="5001988" y="3239127"/>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7" name="Oval 16">
            <a:extLst>
              <a:ext uri="{FF2B5EF4-FFF2-40B4-BE49-F238E27FC236}">
                <a16:creationId xmlns:a16="http://schemas.microsoft.com/office/drawing/2014/main" id="{D1141275-87ED-7AF5-F026-05D651AA51A6}"/>
              </a:ext>
            </a:extLst>
          </p:cNvPr>
          <p:cNvSpPr/>
          <p:nvPr/>
        </p:nvSpPr>
        <p:spPr>
          <a:xfrm>
            <a:off x="3466148" y="2734584"/>
            <a:ext cx="102119" cy="102119"/>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9" name="Oval 18">
            <a:extLst>
              <a:ext uri="{FF2B5EF4-FFF2-40B4-BE49-F238E27FC236}">
                <a16:creationId xmlns:a16="http://schemas.microsoft.com/office/drawing/2014/main" id="{6C44F72A-5680-5208-3296-10D99CDCD01C}"/>
              </a:ext>
            </a:extLst>
          </p:cNvPr>
          <p:cNvSpPr/>
          <p:nvPr/>
        </p:nvSpPr>
        <p:spPr>
          <a:xfrm>
            <a:off x="4442035" y="2734584"/>
            <a:ext cx="102119" cy="102119"/>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0" name="Oval 19">
            <a:extLst>
              <a:ext uri="{FF2B5EF4-FFF2-40B4-BE49-F238E27FC236}">
                <a16:creationId xmlns:a16="http://schemas.microsoft.com/office/drawing/2014/main" id="{3E669869-9AF4-7E82-1860-5CC0E1CD7BC7}"/>
              </a:ext>
            </a:extLst>
          </p:cNvPr>
          <p:cNvSpPr/>
          <p:nvPr/>
        </p:nvSpPr>
        <p:spPr>
          <a:xfrm>
            <a:off x="5417922" y="2734584"/>
            <a:ext cx="102119" cy="102119"/>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1" name="Oval 20">
            <a:extLst>
              <a:ext uri="{FF2B5EF4-FFF2-40B4-BE49-F238E27FC236}">
                <a16:creationId xmlns:a16="http://schemas.microsoft.com/office/drawing/2014/main" id="{EBDB5E55-C097-E1D7-8A4C-C4450266A498}"/>
              </a:ext>
            </a:extLst>
          </p:cNvPr>
          <p:cNvSpPr/>
          <p:nvPr/>
        </p:nvSpPr>
        <p:spPr>
          <a:xfrm>
            <a:off x="6393809" y="2734584"/>
            <a:ext cx="102119" cy="102119"/>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2" name="Oval 21">
            <a:extLst>
              <a:ext uri="{FF2B5EF4-FFF2-40B4-BE49-F238E27FC236}">
                <a16:creationId xmlns:a16="http://schemas.microsoft.com/office/drawing/2014/main" id="{9B8795B1-4B6A-DB68-0A4B-0BD9BEE772B2}"/>
              </a:ext>
            </a:extLst>
          </p:cNvPr>
          <p:cNvSpPr/>
          <p:nvPr/>
        </p:nvSpPr>
        <p:spPr>
          <a:xfrm>
            <a:off x="7369696" y="2734584"/>
            <a:ext cx="102119" cy="102119"/>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3" name="Oval 22">
            <a:extLst>
              <a:ext uri="{FF2B5EF4-FFF2-40B4-BE49-F238E27FC236}">
                <a16:creationId xmlns:a16="http://schemas.microsoft.com/office/drawing/2014/main" id="{EB5811E3-87DC-6DCF-640E-A108FB1EC554}"/>
              </a:ext>
            </a:extLst>
          </p:cNvPr>
          <p:cNvSpPr/>
          <p:nvPr/>
        </p:nvSpPr>
        <p:spPr>
          <a:xfrm>
            <a:off x="8345581" y="2734584"/>
            <a:ext cx="102119" cy="102119"/>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4" name="Oval 23">
            <a:extLst>
              <a:ext uri="{FF2B5EF4-FFF2-40B4-BE49-F238E27FC236}">
                <a16:creationId xmlns:a16="http://schemas.microsoft.com/office/drawing/2014/main" id="{70DC5B04-F426-FC13-C842-954E8BF5486B}"/>
              </a:ext>
            </a:extLst>
          </p:cNvPr>
          <p:cNvSpPr/>
          <p:nvPr/>
        </p:nvSpPr>
        <p:spPr>
          <a:xfrm>
            <a:off x="2518492" y="2734583"/>
            <a:ext cx="102119" cy="102119"/>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5" name="Rectangle 4">
            <a:extLst>
              <a:ext uri="{FF2B5EF4-FFF2-40B4-BE49-F238E27FC236}">
                <a16:creationId xmlns:a16="http://schemas.microsoft.com/office/drawing/2014/main" id="{4A44AECA-E7B8-8827-B702-10BBDAC15DF7}"/>
              </a:ext>
            </a:extLst>
          </p:cNvPr>
          <p:cNvSpPr/>
          <p:nvPr/>
        </p:nvSpPr>
        <p:spPr>
          <a:xfrm>
            <a:off x="7915510" y="4837437"/>
            <a:ext cx="457200" cy="182880"/>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7" name="Rectangle 6">
            <a:extLst>
              <a:ext uri="{FF2B5EF4-FFF2-40B4-BE49-F238E27FC236}">
                <a16:creationId xmlns:a16="http://schemas.microsoft.com/office/drawing/2014/main" id="{BD730AC7-10B4-7599-9EBE-38D14414F0B4}"/>
              </a:ext>
            </a:extLst>
          </p:cNvPr>
          <p:cNvSpPr/>
          <p:nvPr/>
        </p:nvSpPr>
        <p:spPr>
          <a:xfrm>
            <a:off x="2124791" y="2960629"/>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13" name="Rectangle 12">
            <a:extLst>
              <a:ext uri="{FF2B5EF4-FFF2-40B4-BE49-F238E27FC236}">
                <a16:creationId xmlns:a16="http://schemas.microsoft.com/office/drawing/2014/main" id="{850F9965-30E0-F09F-F4AB-AA134CA421B3}"/>
              </a:ext>
            </a:extLst>
          </p:cNvPr>
          <p:cNvSpPr/>
          <p:nvPr/>
        </p:nvSpPr>
        <p:spPr>
          <a:xfrm>
            <a:off x="2124791" y="3239127"/>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5" name="Rectangle 24">
            <a:extLst>
              <a:ext uri="{FF2B5EF4-FFF2-40B4-BE49-F238E27FC236}">
                <a16:creationId xmlns:a16="http://schemas.microsoft.com/office/drawing/2014/main" id="{9D506C51-2CAB-52AF-505B-500BB7E77518}"/>
              </a:ext>
            </a:extLst>
          </p:cNvPr>
          <p:cNvSpPr/>
          <p:nvPr/>
        </p:nvSpPr>
        <p:spPr>
          <a:xfrm>
            <a:off x="2123617" y="4836071"/>
            <a:ext cx="457200" cy="182880"/>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6" name="Rectangle 25">
            <a:extLst>
              <a:ext uri="{FF2B5EF4-FFF2-40B4-BE49-F238E27FC236}">
                <a16:creationId xmlns:a16="http://schemas.microsoft.com/office/drawing/2014/main" id="{F77028E0-8C54-7507-D493-750FE1B64010}"/>
              </a:ext>
            </a:extLst>
          </p:cNvPr>
          <p:cNvSpPr/>
          <p:nvPr/>
        </p:nvSpPr>
        <p:spPr>
          <a:xfrm>
            <a:off x="2123617" y="4296516"/>
            <a:ext cx="457200" cy="182880"/>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7" name="Rectangle 26">
            <a:extLst>
              <a:ext uri="{FF2B5EF4-FFF2-40B4-BE49-F238E27FC236}">
                <a16:creationId xmlns:a16="http://schemas.microsoft.com/office/drawing/2014/main" id="{6B2C3DFC-2F54-CDCC-F8FD-C1D467A4DFEC}"/>
              </a:ext>
            </a:extLst>
          </p:cNvPr>
          <p:cNvSpPr/>
          <p:nvPr/>
        </p:nvSpPr>
        <p:spPr>
          <a:xfrm>
            <a:off x="2123617" y="4556028"/>
            <a:ext cx="457200" cy="182880"/>
          </a:xfrm>
          <a:prstGeom prst="rect">
            <a:avLst/>
          </a:prstGeom>
          <a:noFill/>
          <a:ln>
            <a:solidFill>
              <a:srgbClr val="00A467"/>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
        <p:nvSpPr>
          <p:cNvPr id="29" name="Rectangle 28">
            <a:extLst>
              <a:ext uri="{FF2B5EF4-FFF2-40B4-BE49-F238E27FC236}">
                <a16:creationId xmlns:a16="http://schemas.microsoft.com/office/drawing/2014/main" id="{0EFF8487-85B9-2520-207B-3CBE690DBC87}"/>
              </a:ext>
            </a:extLst>
          </p:cNvPr>
          <p:cNvSpPr/>
          <p:nvPr/>
        </p:nvSpPr>
        <p:spPr>
          <a:xfrm>
            <a:off x="7915510" y="4305619"/>
            <a:ext cx="457200" cy="182880"/>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0">
              <a:solidFill>
                <a:schemeClr val="tx1"/>
              </a:solidFill>
            </a:endParaRPr>
          </a:p>
        </p:txBody>
      </p:sp>
    </p:spTree>
    <p:extLst>
      <p:ext uri="{BB962C8B-B14F-4D97-AF65-F5344CB8AC3E}">
        <p14:creationId xmlns:p14="http://schemas.microsoft.com/office/powerpoint/2010/main" val="248587536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9947576A-8798-972F-9D67-0123FC24E7C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11" name="think-cell data - do not delete" hidden="1">
                        <a:extLst>
                          <a:ext uri="{FF2B5EF4-FFF2-40B4-BE49-F238E27FC236}">
                            <a16:creationId xmlns:a16="http://schemas.microsoft.com/office/drawing/2014/main" id="{9947576A-8798-972F-9D67-0123FC24E7C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40C8D51E-F55D-A4FA-6B66-825E2E76DC6A}"/>
              </a:ext>
            </a:extLst>
          </p:cNvPr>
          <p:cNvSpPr>
            <a:spLocks noGrp="1"/>
          </p:cNvSpPr>
          <p:nvPr>
            <p:ph type="title"/>
          </p:nvPr>
        </p:nvSpPr>
        <p:spPr/>
        <p:txBody>
          <a:bodyPr vert="horz"/>
          <a:lstStyle/>
          <a:p>
            <a:r>
              <a:rPr lang="en-CA">
                <a:solidFill>
                  <a:schemeClr val="accent1"/>
                </a:solidFill>
              </a:rPr>
              <a:t>Deep-dive: iTRADE | </a:t>
            </a:r>
            <a:r>
              <a:rPr lang="en-CA"/>
              <a:t>We have multiple tactics in-flight to support growth despite increased competition</a:t>
            </a:r>
          </a:p>
        </p:txBody>
      </p:sp>
      <p:sp>
        <p:nvSpPr>
          <p:cNvPr id="3" name="Slide Number Placeholder 2">
            <a:extLst>
              <a:ext uri="{FF2B5EF4-FFF2-40B4-BE49-F238E27FC236}">
                <a16:creationId xmlns:a16="http://schemas.microsoft.com/office/drawing/2014/main" id="{388FFBEB-836D-3E8E-13C6-398E2BB3A873}"/>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7" name="Text Placeholder 6">
            <a:extLst>
              <a:ext uri="{FF2B5EF4-FFF2-40B4-BE49-F238E27FC236}">
                <a16:creationId xmlns:a16="http://schemas.microsoft.com/office/drawing/2014/main" id="{5C4067DE-4931-EF2B-6BC5-299050403041}"/>
              </a:ext>
            </a:extLst>
          </p:cNvPr>
          <p:cNvSpPr>
            <a:spLocks noGrp="1"/>
          </p:cNvSpPr>
          <p:nvPr>
            <p:ph type="body" sz="quarter" idx="13"/>
          </p:nvPr>
        </p:nvSpPr>
        <p:spPr/>
        <p:txBody>
          <a:bodyPr/>
          <a:lstStyle/>
          <a:p>
            <a:r>
              <a:rPr lang="en-CA"/>
              <a:t>APPENDIX – BNS and TNG strategic initiatives</a:t>
            </a:r>
          </a:p>
        </p:txBody>
      </p:sp>
      <p:graphicFrame>
        <p:nvGraphicFramePr>
          <p:cNvPr id="14" name="Table 13">
            <a:extLst>
              <a:ext uri="{FF2B5EF4-FFF2-40B4-BE49-F238E27FC236}">
                <a16:creationId xmlns:a16="http://schemas.microsoft.com/office/drawing/2014/main" id="{8BE50AD7-BBC8-55B2-33F9-45EBD6ABD20A}"/>
              </a:ext>
            </a:extLst>
          </p:cNvPr>
          <p:cNvGraphicFramePr>
            <a:graphicFrameLocks noGrp="1"/>
          </p:cNvGraphicFramePr>
          <p:nvPr/>
        </p:nvGraphicFramePr>
        <p:xfrm>
          <a:off x="838200" y="1508760"/>
          <a:ext cx="10971530" cy="4561841"/>
        </p:xfrm>
        <a:graphic>
          <a:graphicData uri="http://schemas.openxmlformats.org/drawingml/2006/table">
            <a:tbl>
              <a:tblPr firstRow="1" bandRow="1"/>
              <a:tblGrid>
                <a:gridCol w="3046228">
                  <a:extLst>
                    <a:ext uri="{9D8B030D-6E8A-4147-A177-3AD203B41FA5}">
                      <a16:colId xmlns:a16="http://schemas.microsoft.com/office/drawing/2014/main" val="382962680"/>
                    </a:ext>
                  </a:extLst>
                </a:gridCol>
                <a:gridCol w="3962651">
                  <a:extLst>
                    <a:ext uri="{9D8B030D-6E8A-4147-A177-3AD203B41FA5}">
                      <a16:colId xmlns:a16="http://schemas.microsoft.com/office/drawing/2014/main" val="1203566892"/>
                    </a:ext>
                  </a:extLst>
                </a:gridCol>
                <a:gridCol w="3962651">
                  <a:extLst>
                    <a:ext uri="{9D8B030D-6E8A-4147-A177-3AD203B41FA5}">
                      <a16:colId xmlns:a16="http://schemas.microsoft.com/office/drawing/2014/main" val="3393002519"/>
                    </a:ext>
                  </a:extLst>
                </a:gridCol>
              </a:tblGrid>
              <a:tr h="259453">
                <a:tc>
                  <a:txBody>
                    <a:body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CA" sz="1050" b="1" spc="300" baseline="0"/>
                        <a:t>TACTIC</a:t>
                      </a:r>
                    </a:p>
                  </a:txBody>
                  <a:tcPr anchor="ctr">
                    <a:lnL w="12700" cmpd="sng">
                      <a:noFill/>
                    </a:lnL>
                    <a:lnR w="12700" cmpd="sng">
                      <a:noFill/>
                    </a:lnR>
                    <a:lnT w="12700" cmpd="sng">
                      <a:noFill/>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050" b="1" spc="300" baseline="0"/>
                        <a:t>DESCRIPTION</a:t>
                      </a:r>
                    </a:p>
                  </a:txBody>
                  <a:tcPr anchor="ct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0" indent="0" algn="l">
                        <a:lnSpc>
                          <a:spcPct val="100000"/>
                        </a:lnSpc>
                        <a:spcBef>
                          <a:spcPts val="0"/>
                        </a:spcBef>
                        <a:spcAft>
                          <a:spcPts val="600"/>
                        </a:spcAft>
                        <a:buFont typeface="Arial" panose="020B0604020202020204" pitchFamily="34" charset="0"/>
                        <a:buNone/>
                      </a:pPr>
                      <a:r>
                        <a:rPr lang="en-CA" sz="1050" b="1" spc="300" baseline="0"/>
                        <a:t>IMPACT</a:t>
                      </a:r>
                    </a:p>
                  </a:txBody>
                  <a:tcPr anchor="ct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2538050"/>
                  </a:ext>
                </a:extLst>
              </a:tr>
              <a:tr h="42455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050" b="1" spc="0" baseline="0">
                          <a:solidFill>
                            <a:schemeClr val="tx1"/>
                          </a:solidFill>
                          <a:latin typeface="+mn-lt"/>
                        </a:rPr>
                        <a:t>Preferred Package for Youth &amp; Students</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171450" indent="-171450" algn="l">
                        <a:spcAft>
                          <a:spcPts val="0"/>
                        </a:spcAft>
                        <a:buFont typeface="Arial" panose="020B0604020202020204" pitchFamily="34" charset="0"/>
                        <a:buChar char="•"/>
                      </a:pPr>
                      <a:r>
                        <a:rPr lang="en-CA" sz="1050">
                          <a:solidFill>
                            <a:srgbClr val="232323"/>
                          </a:solidFill>
                          <a:latin typeface="+mn-lt"/>
                        </a:rPr>
                        <a:t>Offer </a:t>
                      </a:r>
                      <a:r>
                        <a:rPr lang="en-CA" sz="1050" b="1">
                          <a:solidFill>
                            <a:srgbClr val="232323"/>
                          </a:solidFill>
                          <a:latin typeface="+mn-lt"/>
                        </a:rPr>
                        <a:t>$0 commissions </a:t>
                      </a:r>
                      <a:r>
                        <a:rPr lang="en-CA" sz="1050">
                          <a:solidFill>
                            <a:srgbClr val="232323"/>
                          </a:solidFill>
                          <a:latin typeface="+mn-lt"/>
                        </a:rPr>
                        <a:t>to Retail Preferred Package account holders &lt;=23, expanding to &lt;=25 in Q1/26</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l">
                        <a:lnSpc>
                          <a:spcPct val="100000"/>
                        </a:lnSpc>
                        <a:spcBef>
                          <a:spcPts val="0"/>
                        </a:spcBef>
                        <a:spcAft>
                          <a:spcPts val="0"/>
                        </a:spcAft>
                        <a:buFont typeface="Arial" panose="020B0604020202020204" pitchFamily="34" charset="0"/>
                        <a:buChar char="•"/>
                      </a:pPr>
                      <a:r>
                        <a:rPr lang="en-CA" sz="1050" b="0" i="0" u="none" strike="noStrike" noProof="0">
                          <a:solidFill>
                            <a:srgbClr val="232323"/>
                          </a:solidFill>
                          <a:latin typeface="+mn-lt"/>
                        </a:rPr>
                        <a:t>Targeting 10% lift in youth and student acquisition to deliver </a:t>
                      </a:r>
                      <a:r>
                        <a:rPr lang="en-CA" sz="1050" b="1" i="0" u="none" strike="noStrike" noProof="0">
                          <a:solidFill>
                            <a:srgbClr val="232323"/>
                          </a:solidFill>
                          <a:latin typeface="+mn-lt"/>
                        </a:rPr>
                        <a:t>$175M Contribution Margin </a:t>
                      </a:r>
                      <a:r>
                        <a:rPr lang="en-CA" sz="1050" b="0" i="0" u="none" strike="noStrike" noProof="0">
                          <a:solidFill>
                            <a:srgbClr val="232323"/>
                          </a:solidFill>
                          <a:latin typeface="+mn-lt"/>
                        </a:rPr>
                        <a:t>(CM) annually</a:t>
                      </a: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25562908"/>
                  </a:ext>
                </a:extLst>
              </a:tr>
              <a:tr h="7547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050" b="1" spc="0" baseline="0">
                          <a:solidFill>
                            <a:schemeClr val="tx1"/>
                          </a:solidFill>
                          <a:latin typeface="+mn-lt"/>
                        </a:rPr>
                        <a:t>Winter Campaign</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171450" indent="-171450" algn="l">
                        <a:spcAft>
                          <a:spcPts val="0"/>
                        </a:spcAft>
                        <a:buFont typeface="Arial" panose="020B0604020202020204" pitchFamily="34" charset="0"/>
                        <a:buChar char="•"/>
                      </a:pPr>
                      <a:r>
                        <a:rPr lang="en-CA" sz="1050">
                          <a:solidFill>
                            <a:srgbClr val="232323"/>
                          </a:solidFill>
                          <a:latin typeface="+mn-lt"/>
                        </a:rPr>
                        <a:t>Offer </a:t>
                      </a:r>
                      <a:r>
                        <a:rPr lang="en-CA" sz="1050" b="1">
                          <a:solidFill>
                            <a:srgbClr val="232323"/>
                          </a:solidFill>
                          <a:latin typeface="+mn-lt"/>
                        </a:rPr>
                        <a:t>1% cashback </a:t>
                      </a:r>
                      <a:r>
                        <a:rPr lang="en-CA" sz="1050">
                          <a:solidFill>
                            <a:srgbClr val="232323"/>
                          </a:solidFill>
                          <a:latin typeface="+mn-lt"/>
                        </a:rPr>
                        <a:t>for other FI assets and lower tiered base for BNS assets</a:t>
                      </a:r>
                    </a:p>
                    <a:p>
                      <a:pPr marL="171450" lvl="0" indent="-171450" algn="l">
                        <a:spcAft>
                          <a:spcPts val="0"/>
                        </a:spcAft>
                        <a:buFont typeface="Arial" panose="020B0604020202020204" pitchFamily="34" charset="0"/>
                        <a:buChar char="•"/>
                      </a:pPr>
                      <a:r>
                        <a:rPr lang="en-CA" sz="1050" b="0" i="0" u="none" strike="noStrike" noProof="0">
                          <a:solidFill>
                            <a:srgbClr val="232323"/>
                          </a:solidFill>
                          <a:latin typeface="+mn-lt"/>
                        </a:rPr>
                        <a:t>Target Highly Active and Active Traders</a:t>
                      </a:r>
                      <a:endParaRPr lang="en-CA" sz="1050">
                        <a:solidFill>
                          <a:srgbClr val="232323"/>
                        </a:solidFill>
                        <a:latin typeface="+mn-lt"/>
                      </a:endParaRP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l">
                        <a:lnSpc>
                          <a:spcPct val="100000"/>
                        </a:lnSpc>
                        <a:spcBef>
                          <a:spcPts val="0"/>
                        </a:spcBef>
                        <a:spcAft>
                          <a:spcPts val="0"/>
                        </a:spcAft>
                        <a:buFont typeface="Arial" panose="020B0604020202020204" pitchFamily="34" charset="0"/>
                        <a:buChar char="•"/>
                      </a:pPr>
                      <a:r>
                        <a:rPr lang="en-CA" sz="1050" b="0" i="0" u="none" strike="noStrike" noProof="0">
                          <a:solidFill>
                            <a:srgbClr val="232323"/>
                          </a:solidFill>
                          <a:latin typeface="+mn-lt"/>
                        </a:rPr>
                        <a:t>Incr. AUA, acquire new clients, and win back inactive clients</a:t>
                      </a:r>
                      <a:endParaRPr lang="en-US" sz="1050">
                        <a:solidFill>
                          <a:srgbClr val="232323"/>
                        </a:solidFill>
                        <a:latin typeface="+mn-lt"/>
                      </a:endParaRPr>
                    </a:p>
                    <a:p>
                      <a:pPr marL="356616" lvl="1" indent="-171450" algn="l">
                        <a:lnSpc>
                          <a:spcPct val="100000"/>
                        </a:lnSpc>
                        <a:spcBef>
                          <a:spcPts val="0"/>
                        </a:spcBef>
                        <a:spcAft>
                          <a:spcPts val="0"/>
                        </a:spcAft>
                        <a:buFont typeface="Scotia" panose="020B0503020203020204" pitchFamily="34" charset="0"/>
                        <a:buChar char="−"/>
                      </a:pPr>
                      <a:r>
                        <a:rPr lang="en-CA" sz="1050" b="0" i="0" u="none" strike="noStrike" noProof="0">
                          <a:solidFill>
                            <a:srgbClr val="232323"/>
                          </a:solidFill>
                          <a:latin typeface="+mn-lt"/>
                        </a:rPr>
                        <a:t>Projected AUA of $1.7 Bn (55% OFI assets)</a:t>
                      </a:r>
                    </a:p>
                    <a:p>
                      <a:pPr marL="356616" lvl="1" indent="-171450" algn="l">
                        <a:lnSpc>
                          <a:spcPct val="100000"/>
                        </a:lnSpc>
                        <a:spcBef>
                          <a:spcPts val="0"/>
                        </a:spcBef>
                        <a:spcAft>
                          <a:spcPts val="0"/>
                        </a:spcAft>
                        <a:buFont typeface="Scotia" panose="020B0503020203020204" pitchFamily="34" charset="0"/>
                        <a:buChar char="−"/>
                      </a:pPr>
                      <a:r>
                        <a:rPr lang="en-CA" sz="1050" b="0" i="0" u="none" strike="noStrike" noProof="0">
                          <a:solidFill>
                            <a:srgbClr val="232323"/>
                          </a:solidFill>
                          <a:latin typeface="+mn-lt"/>
                        </a:rPr>
                        <a:t>5M net new clients, and </a:t>
                      </a:r>
                      <a:r>
                        <a:rPr lang="en-CA" sz="1050" b="1" i="0" u="none" strike="noStrike" noProof="0">
                          <a:solidFill>
                            <a:srgbClr val="232323"/>
                          </a:solidFill>
                          <a:latin typeface="+mn-lt"/>
                        </a:rPr>
                        <a:t>$5.4MM in CM</a:t>
                      </a:r>
                      <a:endParaRPr lang="en-CA" sz="1050" b="1">
                        <a:solidFill>
                          <a:srgbClr val="232323"/>
                        </a:solidFill>
                        <a:latin typeface="+mn-lt"/>
                      </a:endParaRPr>
                    </a:p>
                    <a:p>
                      <a:pPr marL="171450" lvl="0" indent="-171450" algn="l">
                        <a:spcBef>
                          <a:spcPts val="0"/>
                        </a:spcBef>
                        <a:spcAft>
                          <a:spcPts val="0"/>
                        </a:spcAft>
                        <a:buFont typeface="Arial" panose="020B0604020202020204" pitchFamily="34" charset="0"/>
                        <a:buChar char="•"/>
                      </a:pPr>
                      <a:r>
                        <a:rPr lang="en-CA" sz="1050" b="0" i="0" u="none" strike="noStrike" noProof="0">
                          <a:solidFill>
                            <a:srgbClr val="232323"/>
                          </a:solidFill>
                          <a:latin typeface="+mn-lt"/>
                        </a:rPr>
                        <a:t>Estimated incentive cost $9MM</a:t>
                      </a:r>
                      <a:endParaRPr lang="en-US" sz="1050">
                        <a:solidFill>
                          <a:srgbClr val="232323"/>
                        </a:solidFill>
                        <a:latin typeface="+mn-lt"/>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49073184"/>
                  </a:ext>
                </a:extLst>
              </a:tr>
              <a:tr h="589665">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050" b="1" spc="0" baseline="0">
                          <a:solidFill>
                            <a:schemeClr val="tx1"/>
                          </a:solidFill>
                          <a:latin typeface="+mn-lt"/>
                        </a:rPr>
                        <a:t>Expand Sales &amp; Enablement Team</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171450" indent="-171450" algn="l">
                        <a:spcAft>
                          <a:spcPts val="0"/>
                        </a:spcAft>
                        <a:buFont typeface="Arial" panose="020B0604020202020204" pitchFamily="34" charset="0"/>
                        <a:buChar char="•"/>
                      </a:pPr>
                      <a:r>
                        <a:rPr lang="en-CA" sz="1050">
                          <a:solidFill>
                            <a:srgbClr val="232323"/>
                          </a:solidFill>
                          <a:latin typeface="+mn-lt"/>
                        </a:rPr>
                        <a:t>Rebuild scorecard to </a:t>
                      </a:r>
                      <a:r>
                        <a:rPr lang="en-CA" sz="1050" b="1">
                          <a:solidFill>
                            <a:srgbClr val="232323"/>
                          </a:solidFill>
                          <a:latin typeface="+mn-lt"/>
                        </a:rPr>
                        <a:t>focus on new client acquisition</a:t>
                      </a:r>
                    </a:p>
                    <a:p>
                      <a:pPr marL="171450" indent="-171450" algn="l">
                        <a:spcAft>
                          <a:spcPts val="0"/>
                        </a:spcAft>
                        <a:buFont typeface="Arial" panose="020B0604020202020204" pitchFamily="34" charset="0"/>
                        <a:buChar char="•"/>
                      </a:pPr>
                      <a:r>
                        <a:rPr lang="en-CA" sz="1050">
                          <a:solidFill>
                            <a:srgbClr val="232323"/>
                          </a:solidFill>
                          <a:latin typeface="+mn-lt"/>
                        </a:rPr>
                        <a:t>Change mandate from inbound only to inbound &amp; outbound supported by new Retail leads</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spcBef>
                          <a:spcPts val="0"/>
                        </a:spcBef>
                        <a:spcAft>
                          <a:spcPts val="0"/>
                        </a:spcAft>
                        <a:buFont typeface="Arial" panose="020B0604020202020204" pitchFamily="34" charset="0"/>
                        <a:buChar char="•"/>
                      </a:pPr>
                      <a:r>
                        <a:rPr lang="en-CA" sz="1050">
                          <a:solidFill>
                            <a:srgbClr val="232323"/>
                          </a:solidFill>
                          <a:latin typeface="+mn-lt"/>
                        </a:rPr>
                        <a:t>Acquire 17M new active clients (+49% Y/Y)</a:t>
                      </a: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99179482"/>
                  </a:ext>
                </a:extLst>
              </a:tr>
              <a:tr h="339839">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050" b="1" spc="0" baseline="0">
                          <a:solidFill>
                            <a:schemeClr val="tx1"/>
                          </a:solidFill>
                          <a:latin typeface="+mn-lt"/>
                        </a:rPr>
                        <a:t>Retention Offer:  Inbound NSA</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171450" indent="-171450" algn="l">
                        <a:spcAft>
                          <a:spcPts val="0"/>
                        </a:spcAft>
                        <a:buFont typeface="Arial" panose="020B0604020202020204" pitchFamily="34" charset="0"/>
                        <a:buChar char="•"/>
                      </a:pPr>
                      <a:r>
                        <a:rPr lang="en-CA" sz="1050"/>
                        <a:t>Offer </a:t>
                      </a:r>
                      <a:r>
                        <a:rPr lang="en-CA" sz="1050" b="1"/>
                        <a:t>custom discounts </a:t>
                      </a:r>
                      <a:r>
                        <a:rPr lang="en-CA" sz="1050"/>
                        <a:t>based on client profitability</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171450" lvl="0" indent="-171450" algn="l">
                        <a:lnSpc>
                          <a:spcPct val="100000"/>
                        </a:lnSpc>
                        <a:spcBef>
                          <a:spcPts val="0"/>
                        </a:spcBef>
                        <a:spcAft>
                          <a:spcPts val="0"/>
                        </a:spcAft>
                        <a:buFont typeface="Arial" panose="020B0604020202020204" pitchFamily="34" charset="0"/>
                        <a:buChar char="•"/>
                      </a:pPr>
                      <a:r>
                        <a:rPr lang="en-CA" sz="1050" b="0" i="0" u="none" strike="noStrike" noProof="0">
                          <a:solidFill>
                            <a:srgbClr val="1E1117"/>
                          </a:solidFill>
                          <a:latin typeface="+mn-lt"/>
                        </a:rPr>
                        <a:t>Active options traders contribute $25MM in annual CM</a:t>
                      </a:r>
                    </a:p>
                    <a:p>
                      <a:pPr marL="171450" lvl="0" indent="-171450" algn="l">
                        <a:lnSpc>
                          <a:spcPct val="100000"/>
                        </a:lnSpc>
                        <a:spcBef>
                          <a:spcPts val="0"/>
                        </a:spcBef>
                        <a:spcAft>
                          <a:spcPts val="0"/>
                        </a:spcAft>
                        <a:buFont typeface="Arial" panose="020B0604020202020204" pitchFamily="34" charset="0"/>
                        <a:buChar char="•"/>
                      </a:pPr>
                      <a:r>
                        <a:rPr lang="en-CA" sz="1050" b="0" i="0" u="none" strike="noStrike" noProof="0">
                          <a:solidFill>
                            <a:srgbClr val="1E1117"/>
                          </a:solidFill>
                          <a:latin typeface="+mn-lt"/>
                        </a:rPr>
                        <a:t>Worst case </a:t>
                      </a:r>
                      <a:r>
                        <a:rPr lang="en-CA" sz="1050" b="1" i="0" u="none" strike="noStrike" noProof="0">
                          <a:solidFill>
                            <a:srgbClr val="1E1117"/>
                          </a:solidFill>
                          <a:latin typeface="+mn-lt"/>
                        </a:rPr>
                        <a:t>attrition risk</a:t>
                      </a:r>
                      <a:r>
                        <a:rPr lang="en-CA" sz="1050" b="0" i="0" u="none" strike="noStrike" noProof="0">
                          <a:solidFill>
                            <a:srgbClr val="1E1117"/>
                          </a:solidFill>
                          <a:latin typeface="+mn-lt"/>
                        </a:rPr>
                        <a:t> estimated to be </a:t>
                      </a:r>
                      <a:r>
                        <a:rPr lang="en-CA" sz="1050" b="1" i="0" u="none" strike="noStrike" noProof="0">
                          <a:solidFill>
                            <a:srgbClr val="1E1117"/>
                          </a:solidFill>
                          <a:latin typeface="+mn-lt"/>
                        </a:rPr>
                        <a:t>$9MM CM loss</a:t>
                      </a:r>
                    </a:p>
                    <a:p>
                      <a:pPr marL="171450" lvl="0" indent="-171450" algn="l">
                        <a:lnSpc>
                          <a:spcPct val="100000"/>
                        </a:lnSpc>
                        <a:spcBef>
                          <a:spcPts val="0"/>
                        </a:spcBef>
                        <a:spcAft>
                          <a:spcPts val="0"/>
                        </a:spcAft>
                        <a:buFont typeface="Arial" panose="020B0604020202020204" pitchFamily="34" charset="0"/>
                        <a:buChar char="•"/>
                      </a:pPr>
                      <a:r>
                        <a:rPr lang="en-CA" sz="1050" b="0" i="0" u="none" strike="noStrike" noProof="0">
                          <a:solidFill>
                            <a:srgbClr val="1E1117"/>
                          </a:solidFill>
                          <a:latin typeface="+mn-lt"/>
                        </a:rPr>
                        <a:t>Every incremental 1% retained results in $250M saved CM</a:t>
                      </a:r>
                      <a:endParaRPr lang="en-CA" sz="1050">
                        <a:latin typeface="+mn-lt"/>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7735634"/>
                  </a:ext>
                </a:extLst>
              </a:tr>
              <a:tr h="42455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050" b="1" spc="0" baseline="0">
                          <a:solidFill>
                            <a:schemeClr val="tx1"/>
                          </a:solidFill>
                          <a:latin typeface="+mn-lt"/>
                        </a:rPr>
                        <a:t>Retention Offer: Outbound Test &amp; Learn</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0AC93">
                        <a:alpha val="60000"/>
                      </a:srgbClr>
                    </a:solidFill>
                  </a:tcPr>
                </a:tc>
                <a:tc>
                  <a:txBody>
                    <a:bodyPr/>
                    <a:lstStyle/>
                    <a:p>
                      <a:pPr marL="171450" lvl="0" indent="-171450" algn="l">
                        <a:spcAft>
                          <a:spcPts val="0"/>
                        </a:spcAft>
                        <a:buFont typeface="Arial" panose="020B0604020202020204" pitchFamily="34" charset="0"/>
                        <a:buChar char="•"/>
                      </a:pPr>
                      <a:r>
                        <a:rPr lang="en-CA" sz="1050"/>
                        <a:t>Offer </a:t>
                      </a:r>
                      <a:r>
                        <a:rPr lang="en-CA" sz="1050" b="1"/>
                        <a:t>preferred option pricing </a:t>
                      </a:r>
                      <a:r>
                        <a:rPr lang="en-CA" sz="1050"/>
                        <a:t>with A/B test tied to RSP campaign</a:t>
                      </a:r>
                    </a:p>
                  </a:txBody>
                  <a:tcPr anchor="ctr">
                    <a:lnL w="381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US"/>
                    </a:p>
                  </a:txBody>
                  <a:tcPr>
                    <a:lnL w="12700" cmpd="sng">
                      <a:noFill/>
                    </a:lnL>
                    <a:lnR w="12700" cmpd="sng">
                      <a:noFill/>
                    </a:lnR>
                    <a:lnT w="9525" cap="flat" cmpd="sng" algn="ctr">
                      <a:solidFill>
                        <a:srgbClr val="FFFFFF">
                          <a:lumMod val="75000"/>
                        </a:srgbClr>
                      </a:solidFill>
                      <a:prstDash val="sysDot"/>
                      <a:round/>
                      <a:headEnd type="none" w="med" len="med"/>
                      <a:tailEnd type="none" w="med" len="med"/>
                    </a:lnT>
                    <a:lnB w="9525" cap="flat" cmpd="sng" algn="ctr">
                      <a:solidFill>
                        <a:srgbClr val="FFFFFF">
                          <a:lumMod val="75000"/>
                        </a:srgb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90001"/>
                  </a:ext>
                </a:extLst>
              </a:tr>
              <a:tr h="424559">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050" b="1" spc="0" baseline="0">
                          <a:solidFill>
                            <a:schemeClr val="tx1"/>
                          </a:solidFill>
                          <a:latin typeface="+mn-lt"/>
                        </a:rPr>
                        <a:t>Preferred Pricing BNS Employees</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0AC93">
                        <a:alpha val="60000"/>
                      </a:srgbClr>
                    </a:solidFill>
                  </a:tcPr>
                </a:tc>
                <a:tc>
                  <a:txBody>
                    <a:bodyPr/>
                    <a:lstStyle/>
                    <a:p>
                      <a:pPr marL="171450" indent="-171450" algn="l">
                        <a:spcAft>
                          <a:spcPts val="0"/>
                        </a:spcAft>
                        <a:buFont typeface="Arial" panose="020B0604020202020204" pitchFamily="34" charset="0"/>
                        <a:buChar char="•"/>
                      </a:pPr>
                      <a:r>
                        <a:rPr lang="en-CA" sz="1050">
                          <a:solidFill>
                            <a:srgbClr val="232323"/>
                          </a:solidFill>
                          <a:latin typeface="+mn-lt"/>
                        </a:rPr>
                        <a:t>Offer </a:t>
                      </a:r>
                      <a:r>
                        <a:rPr lang="en-CA" sz="1050" b="1">
                          <a:solidFill>
                            <a:srgbClr val="232323"/>
                          </a:solidFill>
                          <a:latin typeface="+mn-lt"/>
                        </a:rPr>
                        <a:t>$0 commissions </a:t>
                      </a:r>
                      <a:r>
                        <a:rPr lang="en-CA" sz="1050">
                          <a:solidFill>
                            <a:srgbClr val="232323"/>
                          </a:solidFill>
                          <a:latin typeface="+mn-lt"/>
                        </a:rPr>
                        <a:t>on stocks, ETFs and base options to all BNS employees</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spcBef>
                          <a:spcPts val="0"/>
                        </a:spcBef>
                        <a:spcAft>
                          <a:spcPts val="0"/>
                        </a:spcAft>
                        <a:buFont typeface="Arial" panose="020B0604020202020204" pitchFamily="34" charset="0"/>
                        <a:buChar char="•"/>
                      </a:pPr>
                      <a:r>
                        <a:rPr lang="en-CA" sz="1050">
                          <a:solidFill>
                            <a:srgbClr val="232323"/>
                          </a:solidFill>
                          <a:latin typeface="+mn-lt"/>
                        </a:rPr>
                        <a:t>Target 36M staff, </a:t>
                      </a:r>
                      <a:r>
                        <a:rPr lang="en-CA" sz="1050" b="0" i="0" u="none" strike="noStrike" noProof="0">
                          <a:solidFill>
                            <a:srgbClr val="232323"/>
                          </a:solidFill>
                          <a:latin typeface="+mn-lt"/>
                        </a:rPr>
                        <a:t>forecasted to deliver 900 new clients &amp; </a:t>
                      </a:r>
                      <a:r>
                        <a:rPr lang="en-CA" sz="1050" b="1" i="0" u="none" strike="noStrike" noProof="0">
                          <a:solidFill>
                            <a:srgbClr val="232323"/>
                          </a:solidFill>
                          <a:latin typeface="+mn-lt"/>
                        </a:rPr>
                        <a:t>$942M CM </a:t>
                      </a:r>
                      <a:r>
                        <a:rPr lang="en-CA" sz="1050" b="0" i="0" u="none" strike="noStrike" noProof="0">
                          <a:solidFill>
                            <a:srgbClr val="232323"/>
                          </a:solidFill>
                          <a:latin typeface="+mn-lt"/>
                        </a:rPr>
                        <a:t>in F26</a:t>
                      </a:r>
                      <a:endParaRPr lang="en-CA" sz="1050">
                        <a:solidFill>
                          <a:srgbClr val="232323"/>
                        </a:solidFill>
                        <a:latin typeface="+mn-lt"/>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3582357"/>
                  </a:ext>
                </a:extLst>
              </a:tr>
              <a:tr h="589665">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CA" sz="1050" b="1" spc="0" baseline="0">
                          <a:solidFill>
                            <a:schemeClr val="tx1"/>
                          </a:solidFill>
                          <a:latin typeface="+mn-lt"/>
                        </a:rPr>
                        <a:t>Ladder to Wealth Campaign</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0AC93">
                        <a:alpha val="60000"/>
                      </a:srgbClr>
                    </a:solidFill>
                  </a:tcPr>
                </a:tc>
                <a:tc>
                  <a:txBody>
                    <a:bodyPr/>
                    <a:lstStyle/>
                    <a:p>
                      <a:pPr marL="171450" indent="-171450" algn="l">
                        <a:spcAft>
                          <a:spcPts val="0"/>
                        </a:spcAft>
                        <a:buFont typeface="Arial" panose="020B0604020202020204" pitchFamily="34" charset="0"/>
                        <a:buChar char="•"/>
                      </a:pPr>
                      <a:r>
                        <a:rPr lang="en-CA" sz="1050"/>
                        <a:t>Target </a:t>
                      </a:r>
                      <a:r>
                        <a:rPr lang="en-CA" sz="1050" b="1"/>
                        <a:t>iClub Platinum clients </a:t>
                      </a:r>
                      <a:r>
                        <a:rPr lang="en-CA" sz="1050"/>
                        <a:t>with benefits of becoming Wealth clients (e.g., email campaigns)</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spcBef>
                          <a:spcPts val="0"/>
                        </a:spcBef>
                        <a:spcAft>
                          <a:spcPts val="0"/>
                        </a:spcAft>
                        <a:buFont typeface="Arial" panose="020B0604020202020204" pitchFamily="34" charset="0"/>
                        <a:buChar char="•"/>
                      </a:pPr>
                      <a:r>
                        <a:rPr lang="en-CA" sz="1050">
                          <a:latin typeface="+mn-lt"/>
                        </a:rPr>
                        <a:t>Target 16M iTRADE Clients with &gt;$1MM in assets</a:t>
                      </a:r>
                    </a:p>
                    <a:p>
                      <a:pPr marL="171450" lvl="0" indent="-171450" algn="l">
                        <a:spcBef>
                          <a:spcPts val="0"/>
                        </a:spcBef>
                        <a:spcAft>
                          <a:spcPts val="0"/>
                        </a:spcAft>
                        <a:buFont typeface="Arial" panose="020B0604020202020204" pitchFamily="34" charset="0"/>
                        <a:buChar char="•"/>
                      </a:pPr>
                      <a:r>
                        <a:rPr lang="en-CA" sz="1050" b="0" i="0" u="none" strike="noStrike" noProof="0">
                          <a:solidFill>
                            <a:srgbClr val="1E1117"/>
                          </a:solidFill>
                          <a:latin typeface="+mn-lt"/>
                        </a:rPr>
                        <a:t>Drive </a:t>
                      </a:r>
                      <a:r>
                        <a:rPr lang="en-CA" sz="1050" b="1" i="0" u="none" strike="noStrike" noProof="0">
                          <a:solidFill>
                            <a:srgbClr val="1E1117"/>
                          </a:solidFill>
                          <a:latin typeface="+mn-lt"/>
                        </a:rPr>
                        <a:t>awareness of CWM offerings </a:t>
                      </a:r>
                      <a:r>
                        <a:rPr lang="en-CA" sz="1050" b="0" i="0" u="none" strike="noStrike" noProof="0">
                          <a:solidFill>
                            <a:srgbClr val="1E1117"/>
                          </a:solidFill>
                          <a:latin typeface="+mn-lt"/>
                        </a:rPr>
                        <a:t>and incr. referral</a:t>
                      </a:r>
                      <a:r>
                        <a:rPr lang="en-CA" sz="1050" b="1" i="0" u="none" strike="noStrike" noProof="0">
                          <a:solidFill>
                            <a:srgbClr val="1E1117"/>
                          </a:solidFill>
                          <a:latin typeface="+mn-lt"/>
                        </a:rPr>
                        <a:t> </a:t>
                      </a:r>
                      <a:r>
                        <a:rPr lang="en-CA" sz="1050" b="0" i="0" u="none" strike="noStrike" noProof="0">
                          <a:solidFill>
                            <a:srgbClr val="1E1117"/>
                          </a:solidFill>
                          <a:latin typeface="+mn-lt"/>
                        </a:rPr>
                        <a:t>opps.</a:t>
                      </a:r>
                      <a:endParaRPr lang="en-CA" sz="1050">
                        <a:latin typeface="+mn-lt"/>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5555181"/>
                  </a:ext>
                </a:extLst>
              </a:tr>
              <a:tr h="7547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050" b="1" spc="0" baseline="0">
                          <a:solidFill>
                            <a:schemeClr val="tx1"/>
                          </a:solidFill>
                          <a:latin typeface="+mn-lt"/>
                        </a:rPr>
                        <a:t>High Value Client Engagement</a:t>
                      </a:r>
                      <a:endParaRPr lang="en-CA" sz="1050" b="1" spc="0">
                        <a:solidFill>
                          <a:schemeClr val="tx1"/>
                        </a:solidFill>
                        <a:latin typeface="+mn-lt"/>
                      </a:endParaRPr>
                    </a:p>
                  </a:txBody>
                  <a:tcPr marL="50292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0AC93">
                        <a:alpha val="60000"/>
                      </a:srgbClr>
                    </a:solidFill>
                  </a:tcPr>
                </a:tc>
                <a:tc>
                  <a:txBody>
                    <a:bodyPr/>
                    <a:lstStyle/>
                    <a:p>
                      <a:pPr marL="171450" lvl="0" indent="-171450" algn="l">
                        <a:spcAft>
                          <a:spcPts val="0"/>
                        </a:spcAft>
                        <a:buFont typeface="Arial" panose="020B0604020202020204" pitchFamily="34" charset="0"/>
                        <a:buChar char="•"/>
                      </a:pPr>
                      <a:r>
                        <a:rPr lang="en-CA" sz="1050"/>
                        <a:t>Revitalize high-value client program (e.g., provide them access to digital tools)</a:t>
                      </a:r>
                    </a:p>
                  </a:txBody>
                  <a:tcPr anchor="ctr">
                    <a:lnL w="381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l">
                        <a:spcBef>
                          <a:spcPts val="0"/>
                        </a:spcBef>
                        <a:spcAft>
                          <a:spcPts val="0"/>
                        </a:spcAft>
                        <a:buFont typeface="Arial" panose="020B0604020202020204" pitchFamily="34" charset="0"/>
                        <a:buChar char="•"/>
                      </a:pPr>
                      <a:r>
                        <a:rPr lang="en-CA" sz="1050" b="0" i="0" u="none" strike="noStrike" noProof="0">
                          <a:solidFill>
                            <a:srgbClr val="1E1117"/>
                          </a:solidFill>
                          <a:latin typeface="+mn-lt"/>
                        </a:rPr>
                        <a:t>Top 3 high-value segments form 23% of clients, who contribute 80% of AUA and 70% of CM</a:t>
                      </a:r>
                    </a:p>
                    <a:p>
                      <a:pPr marL="171450" lvl="0" indent="-171450" algn="l">
                        <a:spcBef>
                          <a:spcPts val="0"/>
                        </a:spcBef>
                        <a:spcAft>
                          <a:spcPts val="0"/>
                        </a:spcAft>
                        <a:buFont typeface="Arial" panose="020B0604020202020204" pitchFamily="34" charset="0"/>
                        <a:buChar char="•"/>
                      </a:pPr>
                      <a:r>
                        <a:rPr lang="en-CA" sz="1050" b="0" i="0" u="none" strike="noStrike" noProof="0">
                          <a:solidFill>
                            <a:srgbClr val="1E1117"/>
                          </a:solidFill>
                          <a:latin typeface="+mn-lt"/>
                        </a:rPr>
                        <a:t>Increase engagement and loyalty of this segment to </a:t>
                      </a:r>
                      <a:r>
                        <a:rPr lang="en-CA" sz="1050" b="1" i="0" u="none" strike="noStrike" noProof="0">
                          <a:solidFill>
                            <a:srgbClr val="1E1117"/>
                          </a:solidFill>
                          <a:latin typeface="+mn-lt"/>
                        </a:rPr>
                        <a:t>reduce attrition risk </a:t>
                      </a:r>
                      <a:r>
                        <a:rPr lang="en-CA" sz="1050" b="0" i="0" u="none" strike="noStrike" noProof="0">
                          <a:solidFill>
                            <a:srgbClr val="1E1117"/>
                          </a:solidFill>
                          <a:latin typeface="+mn-lt"/>
                        </a:rPr>
                        <a:t>and sustain asset growth and trading activity</a:t>
                      </a: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798523"/>
                  </a:ext>
                </a:extLst>
              </a:tr>
            </a:tbl>
          </a:graphicData>
        </a:graphic>
      </p:graphicFrame>
      <p:sp>
        <p:nvSpPr>
          <p:cNvPr id="18" name="Rectangle 17">
            <a:extLst>
              <a:ext uri="{FF2B5EF4-FFF2-40B4-BE49-F238E27FC236}">
                <a16:creationId xmlns:a16="http://schemas.microsoft.com/office/drawing/2014/main" id="{7E4D1156-AC3F-4B70-B2B0-C9D5F4E98960}"/>
              </a:ext>
            </a:extLst>
          </p:cNvPr>
          <p:cNvSpPr/>
          <p:nvPr/>
        </p:nvSpPr>
        <p:spPr>
          <a:xfrm rot="16200000">
            <a:off x="-363264" y="2693842"/>
            <a:ext cx="2058005" cy="246957"/>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1" i="0" u="none" strike="noStrike" kern="1200" cap="none" spc="300" normalizeH="0" baseline="0" noProof="0">
                <a:ln>
                  <a:noFill/>
                </a:ln>
                <a:solidFill>
                  <a:srgbClr val="000000"/>
                </a:solidFill>
                <a:effectLst/>
                <a:uLnTx/>
                <a:uFillTx/>
                <a:latin typeface="Scotia"/>
                <a:ea typeface="+mn-ea"/>
                <a:cs typeface="+mn-cs"/>
              </a:rPr>
              <a:t>ACTIVE</a:t>
            </a:r>
          </a:p>
        </p:txBody>
      </p:sp>
      <p:sp>
        <p:nvSpPr>
          <p:cNvPr id="19" name="Rectangle 18">
            <a:extLst>
              <a:ext uri="{FF2B5EF4-FFF2-40B4-BE49-F238E27FC236}">
                <a16:creationId xmlns:a16="http://schemas.microsoft.com/office/drawing/2014/main" id="{AE46D826-F579-B377-E077-496684329233}"/>
              </a:ext>
            </a:extLst>
          </p:cNvPr>
          <p:cNvSpPr/>
          <p:nvPr/>
        </p:nvSpPr>
        <p:spPr>
          <a:xfrm rot="16200000">
            <a:off x="-420507" y="4860874"/>
            <a:ext cx="2172496" cy="246957"/>
          </a:xfrm>
          <a:prstGeom prst="rect">
            <a:avLst/>
          </a:prstGeom>
          <a:solidFill>
            <a:srgbClr val="B0AC93">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1" i="0" u="none" strike="noStrike" kern="1200" cap="none" spc="300" normalizeH="0" baseline="0" noProof="0">
                <a:ln>
                  <a:noFill/>
                </a:ln>
                <a:solidFill>
                  <a:srgbClr val="000000"/>
                </a:solidFill>
                <a:effectLst/>
                <a:uLnTx/>
                <a:uFillTx/>
                <a:latin typeface="Scotia"/>
                <a:ea typeface="+mn-ea"/>
                <a:cs typeface="+mn-cs"/>
              </a:rPr>
              <a:t>PLANNED (F26)</a:t>
            </a:r>
          </a:p>
        </p:txBody>
      </p:sp>
      <p:cxnSp>
        <p:nvCxnSpPr>
          <p:cNvPr id="6" name="Straight Connector 5">
            <a:extLst>
              <a:ext uri="{FF2B5EF4-FFF2-40B4-BE49-F238E27FC236}">
                <a16:creationId xmlns:a16="http://schemas.microsoft.com/office/drawing/2014/main" id="{021D3678-D341-728E-7E86-C57A6DAB3E75}"/>
              </a:ext>
            </a:extLst>
          </p:cNvPr>
          <p:cNvCxnSpPr>
            <a:cxnSpLocks/>
          </p:cNvCxnSpPr>
          <p:nvPr/>
        </p:nvCxnSpPr>
        <p:spPr>
          <a:xfrm>
            <a:off x="858741" y="2190161"/>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B763558D-FB20-8C30-24E7-EAECF39B294F}"/>
              </a:ext>
            </a:extLst>
          </p:cNvPr>
          <p:cNvSpPr/>
          <p:nvPr/>
        </p:nvSpPr>
        <p:spPr>
          <a:xfrm>
            <a:off x="968365" y="1845891"/>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cxnSp>
        <p:nvCxnSpPr>
          <p:cNvPr id="42" name="Straight Connector 41">
            <a:extLst>
              <a:ext uri="{FF2B5EF4-FFF2-40B4-BE49-F238E27FC236}">
                <a16:creationId xmlns:a16="http://schemas.microsoft.com/office/drawing/2014/main" id="{588B0DEA-3DDE-138C-85B0-AF6A45E8655F}"/>
              </a:ext>
            </a:extLst>
          </p:cNvPr>
          <p:cNvCxnSpPr>
            <a:cxnSpLocks/>
          </p:cNvCxnSpPr>
          <p:nvPr/>
        </p:nvCxnSpPr>
        <p:spPr>
          <a:xfrm>
            <a:off x="858741" y="2944735"/>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A00E0059-0F7B-C92E-547E-594AD72CF14C}"/>
              </a:ext>
            </a:extLst>
          </p:cNvPr>
          <p:cNvCxnSpPr>
            <a:cxnSpLocks/>
          </p:cNvCxnSpPr>
          <p:nvPr/>
        </p:nvCxnSpPr>
        <p:spPr>
          <a:xfrm>
            <a:off x="858741" y="3534272"/>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0394E0C-1E2A-5C1D-D89D-8BE532BA9FEC}"/>
              </a:ext>
            </a:extLst>
          </p:cNvPr>
          <p:cNvCxnSpPr>
            <a:cxnSpLocks/>
          </p:cNvCxnSpPr>
          <p:nvPr/>
        </p:nvCxnSpPr>
        <p:spPr>
          <a:xfrm>
            <a:off x="858741" y="4292906"/>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10DA704-F230-18A5-179E-5240597ED509}"/>
              </a:ext>
            </a:extLst>
          </p:cNvPr>
          <p:cNvCxnSpPr>
            <a:cxnSpLocks/>
          </p:cNvCxnSpPr>
          <p:nvPr/>
        </p:nvCxnSpPr>
        <p:spPr>
          <a:xfrm>
            <a:off x="858741" y="3871421"/>
            <a:ext cx="6911046"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9" name="Shape 2616">
            <a:extLst>
              <a:ext uri="{FF2B5EF4-FFF2-40B4-BE49-F238E27FC236}">
                <a16:creationId xmlns:a16="http://schemas.microsoft.com/office/drawing/2014/main" id="{3231EF28-E2A4-0BDA-2409-70ED41D5B648}"/>
              </a:ext>
            </a:extLst>
          </p:cNvPr>
          <p:cNvSpPr>
            <a:spLocks noChangeAspect="1"/>
          </p:cNvSpPr>
          <p:nvPr/>
        </p:nvSpPr>
        <p:spPr>
          <a:xfrm>
            <a:off x="1004967" y="1891611"/>
            <a:ext cx="201117" cy="182880"/>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chemeClr val="bg1"/>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grpSp>
        <p:nvGrpSpPr>
          <p:cNvPr id="79" name="Group 78">
            <a:extLst>
              <a:ext uri="{FF2B5EF4-FFF2-40B4-BE49-F238E27FC236}">
                <a16:creationId xmlns:a16="http://schemas.microsoft.com/office/drawing/2014/main" id="{A7B7EF77-46ED-B9F9-B627-B2544DE1B782}"/>
              </a:ext>
            </a:extLst>
          </p:cNvPr>
          <p:cNvGrpSpPr/>
          <p:nvPr/>
        </p:nvGrpSpPr>
        <p:grpSpPr>
          <a:xfrm>
            <a:off x="968365" y="2436096"/>
            <a:ext cx="274320" cy="274320"/>
            <a:chOff x="977890" y="2483546"/>
            <a:chExt cx="274320" cy="274320"/>
          </a:xfrm>
        </p:grpSpPr>
        <p:sp>
          <p:nvSpPr>
            <p:cNvPr id="16" name="Rectangle 15">
              <a:extLst>
                <a:ext uri="{FF2B5EF4-FFF2-40B4-BE49-F238E27FC236}">
                  <a16:creationId xmlns:a16="http://schemas.microsoft.com/office/drawing/2014/main" id="{A99786B1-9C2E-3A68-5BBC-6E9F4E2FA97F}"/>
                </a:ext>
              </a:extLst>
            </p:cNvPr>
            <p:cNvSpPr/>
            <p:nvPr/>
          </p:nvSpPr>
          <p:spPr>
            <a:xfrm>
              <a:off x="977890" y="2483546"/>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0" name="Graphic 59">
              <a:extLst>
                <a:ext uri="{FF2B5EF4-FFF2-40B4-BE49-F238E27FC236}">
                  <a16:creationId xmlns:a16="http://schemas.microsoft.com/office/drawing/2014/main" id="{CAA55560-C4FF-7E28-800A-D5894ECE1E0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8690" y="2529266"/>
              <a:ext cx="172720" cy="182880"/>
            </a:xfrm>
            <a:prstGeom prst="rect">
              <a:avLst/>
            </a:prstGeom>
          </p:spPr>
        </p:pic>
      </p:grpSp>
      <p:grpSp>
        <p:nvGrpSpPr>
          <p:cNvPr id="82" name="Group 81">
            <a:extLst>
              <a:ext uri="{FF2B5EF4-FFF2-40B4-BE49-F238E27FC236}">
                <a16:creationId xmlns:a16="http://schemas.microsoft.com/office/drawing/2014/main" id="{AD02BFAC-E5FB-1AD3-CCF8-99D811C93C52}"/>
              </a:ext>
            </a:extLst>
          </p:cNvPr>
          <p:cNvGrpSpPr/>
          <p:nvPr/>
        </p:nvGrpSpPr>
        <p:grpSpPr>
          <a:xfrm>
            <a:off x="968365" y="3953324"/>
            <a:ext cx="274320" cy="274320"/>
            <a:chOff x="977890" y="4035475"/>
            <a:chExt cx="274320" cy="274320"/>
          </a:xfrm>
        </p:grpSpPr>
        <p:sp>
          <p:nvSpPr>
            <p:cNvPr id="31" name="Rectangle 30">
              <a:extLst>
                <a:ext uri="{FF2B5EF4-FFF2-40B4-BE49-F238E27FC236}">
                  <a16:creationId xmlns:a16="http://schemas.microsoft.com/office/drawing/2014/main" id="{79E2C6F2-5C62-380C-6BB0-F415155580AA}"/>
                </a:ext>
              </a:extLst>
            </p:cNvPr>
            <p:cNvSpPr/>
            <p:nvPr/>
          </p:nvSpPr>
          <p:spPr>
            <a:xfrm>
              <a:off x="977890" y="4035475"/>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1" name="Graphic 60">
              <a:extLst>
                <a:ext uri="{FF2B5EF4-FFF2-40B4-BE49-F238E27FC236}">
                  <a16:creationId xmlns:a16="http://schemas.microsoft.com/office/drawing/2014/main" id="{36360574-C694-29E9-9420-7C5EE5E1245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023610" y="4081195"/>
              <a:ext cx="182880" cy="182880"/>
            </a:xfrm>
            <a:prstGeom prst="rect">
              <a:avLst/>
            </a:prstGeom>
          </p:spPr>
        </p:pic>
      </p:grpSp>
      <p:grpSp>
        <p:nvGrpSpPr>
          <p:cNvPr id="81" name="Group 80">
            <a:extLst>
              <a:ext uri="{FF2B5EF4-FFF2-40B4-BE49-F238E27FC236}">
                <a16:creationId xmlns:a16="http://schemas.microsoft.com/office/drawing/2014/main" id="{78F41210-A507-DBB4-4435-9195EE1F3601}"/>
              </a:ext>
            </a:extLst>
          </p:cNvPr>
          <p:cNvGrpSpPr/>
          <p:nvPr/>
        </p:nvGrpSpPr>
        <p:grpSpPr>
          <a:xfrm>
            <a:off x="968365" y="3562481"/>
            <a:ext cx="274320" cy="274320"/>
            <a:chOff x="977890" y="3660637"/>
            <a:chExt cx="274320" cy="274320"/>
          </a:xfrm>
        </p:grpSpPr>
        <p:sp>
          <p:nvSpPr>
            <p:cNvPr id="24" name="Rectangle 23">
              <a:extLst>
                <a:ext uri="{FF2B5EF4-FFF2-40B4-BE49-F238E27FC236}">
                  <a16:creationId xmlns:a16="http://schemas.microsoft.com/office/drawing/2014/main" id="{B8CCC656-B9FB-4599-ED31-E0B4028F9ABE}"/>
                </a:ext>
              </a:extLst>
            </p:cNvPr>
            <p:cNvSpPr/>
            <p:nvPr/>
          </p:nvSpPr>
          <p:spPr>
            <a:xfrm>
              <a:off x="977890" y="3660637"/>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2" name="Graphic 61">
              <a:extLst>
                <a:ext uri="{FF2B5EF4-FFF2-40B4-BE49-F238E27FC236}">
                  <a16:creationId xmlns:a16="http://schemas.microsoft.com/office/drawing/2014/main" id="{E16E0AB3-38EB-854D-01C6-FAE63FE98239}"/>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020998" y="3706357"/>
              <a:ext cx="188105" cy="182880"/>
            </a:xfrm>
            <a:prstGeom prst="rect">
              <a:avLst/>
            </a:prstGeom>
          </p:spPr>
        </p:pic>
      </p:grpSp>
      <p:grpSp>
        <p:nvGrpSpPr>
          <p:cNvPr id="83" name="Group 82">
            <a:extLst>
              <a:ext uri="{FF2B5EF4-FFF2-40B4-BE49-F238E27FC236}">
                <a16:creationId xmlns:a16="http://schemas.microsoft.com/office/drawing/2014/main" id="{D586F8B7-1342-84FB-B554-03366A3D2683}"/>
              </a:ext>
            </a:extLst>
          </p:cNvPr>
          <p:cNvGrpSpPr/>
          <p:nvPr/>
        </p:nvGrpSpPr>
        <p:grpSpPr>
          <a:xfrm>
            <a:off x="968365" y="4374318"/>
            <a:ext cx="274320" cy="274320"/>
            <a:chOff x="977890" y="4444372"/>
            <a:chExt cx="274320" cy="274320"/>
          </a:xfrm>
        </p:grpSpPr>
        <p:sp>
          <p:nvSpPr>
            <p:cNvPr id="34" name="Rectangle 33">
              <a:extLst>
                <a:ext uri="{FF2B5EF4-FFF2-40B4-BE49-F238E27FC236}">
                  <a16:creationId xmlns:a16="http://schemas.microsoft.com/office/drawing/2014/main" id="{09959633-3DDF-86BC-DED2-D7E0615D3D29}"/>
                </a:ext>
              </a:extLst>
            </p:cNvPr>
            <p:cNvSpPr/>
            <p:nvPr/>
          </p:nvSpPr>
          <p:spPr>
            <a:xfrm>
              <a:off x="977890" y="4444372"/>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3" name="Graphic 62">
              <a:extLst>
                <a:ext uri="{FF2B5EF4-FFF2-40B4-BE49-F238E27FC236}">
                  <a16:creationId xmlns:a16="http://schemas.microsoft.com/office/drawing/2014/main" id="{F9E08961-CC86-ADE1-23A1-94A51EFCCABE}"/>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31230" y="4490092"/>
              <a:ext cx="167640" cy="182880"/>
            </a:xfrm>
            <a:prstGeom prst="rect">
              <a:avLst/>
            </a:prstGeom>
          </p:spPr>
        </p:pic>
      </p:grpSp>
      <p:grpSp>
        <p:nvGrpSpPr>
          <p:cNvPr id="85" name="Group 84">
            <a:extLst>
              <a:ext uri="{FF2B5EF4-FFF2-40B4-BE49-F238E27FC236}">
                <a16:creationId xmlns:a16="http://schemas.microsoft.com/office/drawing/2014/main" id="{6E46C7C8-7028-591B-02A5-D3918610CA50}"/>
              </a:ext>
            </a:extLst>
          </p:cNvPr>
          <p:cNvGrpSpPr/>
          <p:nvPr/>
        </p:nvGrpSpPr>
        <p:grpSpPr>
          <a:xfrm>
            <a:off x="968365" y="5547578"/>
            <a:ext cx="274320" cy="274320"/>
            <a:chOff x="977890" y="5586489"/>
            <a:chExt cx="274320" cy="274320"/>
          </a:xfrm>
        </p:grpSpPr>
        <p:sp>
          <p:nvSpPr>
            <p:cNvPr id="40" name="Rectangle 39">
              <a:extLst>
                <a:ext uri="{FF2B5EF4-FFF2-40B4-BE49-F238E27FC236}">
                  <a16:creationId xmlns:a16="http://schemas.microsoft.com/office/drawing/2014/main" id="{530AA3C0-FFC2-51AE-0E82-7C639B74F7A1}"/>
                </a:ext>
              </a:extLst>
            </p:cNvPr>
            <p:cNvSpPr/>
            <p:nvPr/>
          </p:nvSpPr>
          <p:spPr>
            <a:xfrm>
              <a:off x="977890" y="5586489"/>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4" name="Graphic 63">
              <a:extLst>
                <a:ext uri="{FF2B5EF4-FFF2-40B4-BE49-F238E27FC236}">
                  <a16:creationId xmlns:a16="http://schemas.microsoft.com/office/drawing/2014/main" id="{49E88A49-7D84-BBA3-DF43-01AC5F45B51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1023610" y="5632209"/>
              <a:ext cx="182880" cy="182880"/>
            </a:xfrm>
            <a:prstGeom prst="rect">
              <a:avLst/>
            </a:prstGeom>
          </p:spPr>
        </p:pic>
      </p:grpSp>
      <p:grpSp>
        <p:nvGrpSpPr>
          <p:cNvPr id="84" name="Group 83">
            <a:extLst>
              <a:ext uri="{FF2B5EF4-FFF2-40B4-BE49-F238E27FC236}">
                <a16:creationId xmlns:a16="http://schemas.microsoft.com/office/drawing/2014/main" id="{EB79C008-C767-C287-7A61-E6B8DA85E884}"/>
              </a:ext>
            </a:extLst>
          </p:cNvPr>
          <p:cNvGrpSpPr/>
          <p:nvPr/>
        </p:nvGrpSpPr>
        <p:grpSpPr>
          <a:xfrm>
            <a:off x="968365" y="4887239"/>
            <a:ext cx="274320" cy="274320"/>
            <a:chOff x="977890" y="4941283"/>
            <a:chExt cx="274320" cy="274320"/>
          </a:xfrm>
        </p:grpSpPr>
        <p:sp>
          <p:nvSpPr>
            <p:cNvPr id="37" name="Rectangle 36">
              <a:extLst>
                <a:ext uri="{FF2B5EF4-FFF2-40B4-BE49-F238E27FC236}">
                  <a16:creationId xmlns:a16="http://schemas.microsoft.com/office/drawing/2014/main" id="{1C2BF74F-D99C-4D56-1297-D2020194C96E}"/>
                </a:ext>
              </a:extLst>
            </p:cNvPr>
            <p:cNvSpPr/>
            <p:nvPr/>
          </p:nvSpPr>
          <p:spPr>
            <a:xfrm>
              <a:off x="977890" y="4941283"/>
              <a:ext cx="274320" cy="27432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65" name="Graphic 64">
              <a:extLst>
                <a:ext uri="{FF2B5EF4-FFF2-40B4-BE49-F238E27FC236}">
                  <a16:creationId xmlns:a16="http://schemas.microsoft.com/office/drawing/2014/main" id="{54ACB0A7-8A90-2BB8-D76A-F3AC03423653}"/>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005322" y="4987003"/>
              <a:ext cx="219456" cy="182880"/>
            </a:xfrm>
            <a:prstGeom prst="rect">
              <a:avLst/>
            </a:prstGeom>
          </p:spPr>
        </p:pic>
      </p:grpSp>
      <p:grpSp>
        <p:nvGrpSpPr>
          <p:cNvPr id="80" name="Group 79">
            <a:extLst>
              <a:ext uri="{FF2B5EF4-FFF2-40B4-BE49-F238E27FC236}">
                <a16:creationId xmlns:a16="http://schemas.microsoft.com/office/drawing/2014/main" id="{BB3E38A8-4E80-BC17-8BFE-B4761A0A4A86}"/>
              </a:ext>
            </a:extLst>
          </p:cNvPr>
          <p:cNvGrpSpPr/>
          <p:nvPr/>
        </p:nvGrpSpPr>
        <p:grpSpPr>
          <a:xfrm>
            <a:off x="968365" y="3102657"/>
            <a:ext cx="274320" cy="274320"/>
            <a:chOff x="977890" y="3215066"/>
            <a:chExt cx="274320" cy="274320"/>
          </a:xfrm>
        </p:grpSpPr>
        <p:sp>
          <p:nvSpPr>
            <p:cNvPr id="21" name="Rectangle 20">
              <a:extLst>
                <a:ext uri="{FF2B5EF4-FFF2-40B4-BE49-F238E27FC236}">
                  <a16:creationId xmlns:a16="http://schemas.microsoft.com/office/drawing/2014/main" id="{1C2ED3A8-E6E7-ACEF-D39A-9EF6C94902AE}"/>
                </a:ext>
              </a:extLst>
            </p:cNvPr>
            <p:cNvSpPr/>
            <p:nvPr/>
          </p:nvSpPr>
          <p:spPr>
            <a:xfrm>
              <a:off x="977890" y="3215066"/>
              <a:ext cx="274320" cy="274320"/>
            </a:xfrm>
            <a:prstGeom prst="rect">
              <a:avLst/>
            </a:prstGeom>
            <a:solidFill>
              <a:srgbClr val="EC111A"/>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nvGrpSpPr>
            <p:cNvPr id="66" name="Group 65">
              <a:extLst>
                <a:ext uri="{FF2B5EF4-FFF2-40B4-BE49-F238E27FC236}">
                  <a16:creationId xmlns:a16="http://schemas.microsoft.com/office/drawing/2014/main" id="{B72C6959-22EF-D1B0-58DD-A0E843294A53}"/>
                </a:ext>
              </a:extLst>
            </p:cNvPr>
            <p:cNvGrpSpPr>
              <a:grpSpLocks noChangeAspect="1"/>
            </p:cNvGrpSpPr>
            <p:nvPr/>
          </p:nvGrpSpPr>
          <p:grpSpPr>
            <a:xfrm>
              <a:off x="1012005" y="3291478"/>
              <a:ext cx="206067" cy="121496"/>
              <a:chOff x="14989603" y="1404262"/>
              <a:chExt cx="1422854" cy="835929"/>
            </a:xfrm>
            <a:noFill/>
          </p:grpSpPr>
          <p:grpSp>
            <p:nvGrpSpPr>
              <p:cNvPr id="67" name="Graphic 213">
                <a:extLst>
                  <a:ext uri="{FF2B5EF4-FFF2-40B4-BE49-F238E27FC236}">
                    <a16:creationId xmlns:a16="http://schemas.microsoft.com/office/drawing/2014/main" id="{0E1BA983-C5A0-B969-A992-60486C4865FD}"/>
                  </a:ext>
                </a:extLst>
              </p:cNvPr>
              <p:cNvGrpSpPr/>
              <p:nvPr/>
            </p:nvGrpSpPr>
            <p:grpSpPr>
              <a:xfrm>
                <a:off x="14989603" y="1619569"/>
                <a:ext cx="439007" cy="516442"/>
                <a:chOff x="3142108" y="4520284"/>
                <a:chExt cx="710589" cy="835929"/>
              </a:xfrm>
              <a:grpFill/>
            </p:grpSpPr>
            <p:sp>
              <p:nvSpPr>
                <p:cNvPr id="74" name="Freeform 279">
                  <a:extLst>
                    <a:ext uri="{FF2B5EF4-FFF2-40B4-BE49-F238E27FC236}">
                      <a16:creationId xmlns:a16="http://schemas.microsoft.com/office/drawing/2014/main" id="{9B8712B7-071B-B62F-E21C-FF1DE11D969D}"/>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sp>
              <p:nvSpPr>
                <p:cNvPr id="75" name="Freeform 280">
                  <a:extLst>
                    <a:ext uri="{FF2B5EF4-FFF2-40B4-BE49-F238E27FC236}">
                      <a16:creationId xmlns:a16="http://schemas.microsoft.com/office/drawing/2014/main" id="{E76DB5F8-F491-F9FA-B6B0-BB9B5AE60263}"/>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grpSp>
          <p:grpSp>
            <p:nvGrpSpPr>
              <p:cNvPr id="68" name="Graphic 213">
                <a:extLst>
                  <a:ext uri="{FF2B5EF4-FFF2-40B4-BE49-F238E27FC236}">
                    <a16:creationId xmlns:a16="http://schemas.microsoft.com/office/drawing/2014/main" id="{5924B5D3-B892-3EDA-79F5-49FB773BC61B}"/>
                  </a:ext>
                </a:extLst>
              </p:cNvPr>
              <p:cNvGrpSpPr/>
              <p:nvPr/>
            </p:nvGrpSpPr>
            <p:grpSpPr>
              <a:xfrm>
                <a:off x="15973450" y="1619569"/>
                <a:ext cx="439007" cy="516442"/>
                <a:chOff x="3142108" y="4520284"/>
                <a:chExt cx="710589" cy="835929"/>
              </a:xfrm>
              <a:grpFill/>
            </p:grpSpPr>
            <p:sp>
              <p:nvSpPr>
                <p:cNvPr id="72" name="Freeform 272">
                  <a:extLst>
                    <a:ext uri="{FF2B5EF4-FFF2-40B4-BE49-F238E27FC236}">
                      <a16:creationId xmlns:a16="http://schemas.microsoft.com/office/drawing/2014/main" id="{791AFB7D-E4F9-2AC4-5F97-F86FBEA2B864}"/>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sp>
              <p:nvSpPr>
                <p:cNvPr id="73" name="Freeform 278">
                  <a:extLst>
                    <a:ext uri="{FF2B5EF4-FFF2-40B4-BE49-F238E27FC236}">
                      <a16:creationId xmlns:a16="http://schemas.microsoft.com/office/drawing/2014/main" id="{1443700F-2214-225A-770D-987FDCD20262}"/>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grpSp>
          <p:grpSp>
            <p:nvGrpSpPr>
              <p:cNvPr id="69" name="Graphic 213">
                <a:extLst>
                  <a:ext uri="{FF2B5EF4-FFF2-40B4-BE49-F238E27FC236}">
                    <a16:creationId xmlns:a16="http://schemas.microsoft.com/office/drawing/2014/main" id="{92B209BB-5FAD-6472-A5B0-2FB72E94E215}"/>
                  </a:ext>
                </a:extLst>
              </p:cNvPr>
              <p:cNvGrpSpPr/>
              <p:nvPr/>
            </p:nvGrpSpPr>
            <p:grpSpPr>
              <a:xfrm>
                <a:off x="15346429" y="1404262"/>
                <a:ext cx="710589" cy="835929"/>
                <a:chOff x="3142108" y="4520284"/>
                <a:chExt cx="710589" cy="835929"/>
              </a:xfrm>
              <a:grpFill/>
            </p:grpSpPr>
            <p:sp>
              <p:nvSpPr>
                <p:cNvPr id="70" name="Freeform 270">
                  <a:extLst>
                    <a:ext uri="{FF2B5EF4-FFF2-40B4-BE49-F238E27FC236}">
                      <a16:creationId xmlns:a16="http://schemas.microsoft.com/office/drawing/2014/main" id="{FA0C197B-D00A-8128-2123-E45E43DBC694}"/>
                    </a:ext>
                  </a:extLst>
                </p:cNvPr>
                <p:cNvSpPr/>
                <p:nvPr/>
              </p:nvSpPr>
              <p:spPr>
                <a:xfrm>
                  <a:off x="3142108" y="4959147"/>
                  <a:ext cx="710589" cy="397066"/>
                </a:xfrm>
                <a:custGeom>
                  <a:avLst/>
                  <a:gdLst>
                    <a:gd name="connsiteX0" fmla="*/ 709137 w 710589"/>
                    <a:gd name="connsiteY0" fmla="*/ 271677 h 397066"/>
                    <a:gd name="connsiteX1" fmla="*/ 355120 w 710589"/>
                    <a:gd name="connsiteY1" fmla="*/ 0 h 397066"/>
                    <a:gd name="connsiteX2" fmla="*/ 1105 w 710589"/>
                    <a:gd name="connsiteY2" fmla="*/ 271677 h 397066"/>
                    <a:gd name="connsiteX3" fmla="*/ 355329 w 710589"/>
                    <a:gd name="connsiteY3" fmla="*/ 397067 h 397066"/>
                    <a:gd name="connsiteX4" fmla="*/ 709137 w 710589"/>
                    <a:gd name="connsiteY4" fmla="*/ 271677 h 397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89" h="397066">
                      <a:moveTo>
                        <a:pt x="709137" y="271677"/>
                      </a:moveTo>
                      <a:cubicBezTo>
                        <a:pt x="721676" y="250779"/>
                        <a:pt x="657100" y="0"/>
                        <a:pt x="355120" y="0"/>
                      </a:cubicBezTo>
                      <a:cubicBezTo>
                        <a:pt x="53141" y="0"/>
                        <a:pt x="-9554" y="250779"/>
                        <a:pt x="1105" y="271677"/>
                      </a:cubicBezTo>
                      <a:cubicBezTo>
                        <a:pt x="11763" y="292576"/>
                        <a:pt x="160767" y="397067"/>
                        <a:pt x="355329" y="397067"/>
                      </a:cubicBezTo>
                      <a:cubicBezTo>
                        <a:pt x="549892" y="397067"/>
                        <a:pt x="696598" y="292576"/>
                        <a:pt x="709137" y="271677"/>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sp>
              <p:nvSpPr>
                <p:cNvPr id="71" name="Freeform 271">
                  <a:extLst>
                    <a:ext uri="{FF2B5EF4-FFF2-40B4-BE49-F238E27FC236}">
                      <a16:creationId xmlns:a16="http://schemas.microsoft.com/office/drawing/2014/main" id="{1F946634-FD7F-0FEF-00D4-43571DA2429F}"/>
                    </a:ext>
                  </a:extLst>
                </p:cNvPr>
                <p:cNvSpPr/>
                <p:nvPr/>
              </p:nvSpPr>
              <p:spPr>
                <a:xfrm>
                  <a:off x="3309355" y="4520284"/>
                  <a:ext cx="376168" cy="376168"/>
                </a:xfrm>
                <a:custGeom>
                  <a:avLst/>
                  <a:gdLst>
                    <a:gd name="connsiteX0" fmla="*/ 188084 w 376168"/>
                    <a:gd name="connsiteY0" fmla="*/ 376169 h 376168"/>
                    <a:gd name="connsiteX1" fmla="*/ 376169 w 376168"/>
                    <a:gd name="connsiteY1" fmla="*/ 188084 h 376168"/>
                    <a:gd name="connsiteX2" fmla="*/ 188084 w 376168"/>
                    <a:gd name="connsiteY2" fmla="*/ 0 h 376168"/>
                    <a:gd name="connsiteX3" fmla="*/ 0 w 376168"/>
                    <a:gd name="connsiteY3" fmla="*/ 188084 h 376168"/>
                    <a:gd name="connsiteX4" fmla="*/ 188084 w 376168"/>
                    <a:gd name="connsiteY4" fmla="*/ 376169 h 376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68" h="376168">
                      <a:moveTo>
                        <a:pt x="188084" y="376169"/>
                      </a:moveTo>
                      <a:cubicBezTo>
                        <a:pt x="291961" y="376169"/>
                        <a:pt x="376169" y="291961"/>
                        <a:pt x="376169" y="188084"/>
                      </a:cubicBezTo>
                      <a:cubicBezTo>
                        <a:pt x="376169" y="84207"/>
                        <a:pt x="291961" y="0"/>
                        <a:pt x="188084" y="0"/>
                      </a:cubicBezTo>
                      <a:cubicBezTo>
                        <a:pt x="84207" y="0"/>
                        <a:pt x="0" y="84207"/>
                        <a:pt x="0" y="188084"/>
                      </a:cubicBezTo>
                      <a:cubicBezTo>
                        <a:pt x="0" y="291961"/>
                        <a:pt x="84207" y="376169"/>
                        <a:pt x="188084" y="376169"/>
                      </a:cubicBezTo>
                      <a:close/>
                    </a:path>
                  </a:pathLst>
                </a:custGeom>
                <a:grpFill/>
                <a:ln w="6350" cap="flat">
                  <a:solidFill>
                    <a:schemeClr val="bg1"/>
                  </a:solidFill>
                  <a:prstDash val="solid"/>
                  <a:miter/>
                </a:ln>
              </p:spPr>
              <p:txBody>
                <a:bodyPr rtlCol="0" anchor="ctr"/>
                <a:lstStyle/>
                <a:p>
                  <a:pPr marL="0" marR="0" lvl="0" indent="0" algn="l" defTabSz="91435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33333"/>
                    </a:solidFill>
                    <a:effectLst/>
                    <a:uLnTx/>
                    <a:uFillTx/>
                    <a:latin typeface="Calibri" panose="020F0502020204030204"/>
                    <a:ea typeface="+mn-ea"/>
                    <a:cs typeface="+mn-cs"/>
                  </a:endParaRPr>
                </a:p>
              </p:txBody>
            </p:sp>
          </p:grpSp>
        </p:grpSp>
      </p:grpSp>
      <p:cxnSp>
        <p:nvCxnSpPr>
          <p:cNvPr id="77" name="Straight Connector 76">
            <a:extLst>
              <a:ext uri="{FF2B5EF4-FFF2-40B4-BE49-F238E27FC236}">
                <a16:creationId xmlns:a16="http://schemas.microsoft.com/office/drawing/2014/main" id="{6B2C2209-BFCF-45B2-180B-DB152134A74C}"/>
              </a:ext>
            </a:extLst>
          </p:cNvPr>
          <p:cNvCxnSpPr>
            <a:cxnSpLocks/>
          </p:cNvCxnSpPr>
          <p:nvPr/>
        </p:nvCxnSpPr>
        <p:spPr>
          <a:xfrm>
            <a:off x="858741" y="4719343"/>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41E8195C-8D6C-0254-F3F0-666BC8C2C162}"/>
              </a:ext>
            </a:extLst>
          </p:cNvPr>
          <p:cNvCxnSpPr>
            <a:cxnSpLocks/>
          </p:cNvCxnSpPr>
          <p:nvPr/>
        </p:nvCxnSpPr>
        <p:spPr>
          <a:xfrm>
            <a:off x="858741" y="5311290"/>
            <a:ext cx="10817322" cy="0"/>
          </a:xfrm>
          <a:prstGeom prst="line">
            <a:avLst/>
          </a:prstGeom>
          <a:ln w="19050">
            <a:solidFill>
              <a:schemeClr val="bg2">
                <a:lumMod val="20000"/>
                <a:lumOff val="8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131577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C6E770-563E-DCF5-6981-0091664570C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D5D1BA30-54AD-966A-3FBE-5550134FEDA5}"/>
              </a:ext>
            </a:extLst>
          </p:cNvPr>
          <p:cNvSpPr>
            <a:spLocks noGrp="1"/>
          </p:cNvSpPr>
          <p:nvPr>
            <p:ph type="body" sz="quarter" idx="11"/>
          </p:nvPr>
        </p:nvSpPr>
        <p:spPr/>
        <p:txBody>
          <a:bodyPr/>
          <a:lstStyle/>
          <a:p>
            <a:r>
              <a:rPr lang="en-CA"/>
              <a:t>Client Experience &amp; Client Journey</a:t>
            </a:r>
          </a:p>
        </p:txBody>
      </p:sp>
      <p:sp>
        <p:nvSpPr>
          <p:cNvPr id="3" name="Text Placeholder 2">
            <a:extLst>
              <a:ext uri="{FF2B5EF4-FFF2-40B4-BE49-F238E27FC236}">
                <a16:creationId xmlns:a16="http://schemas.microsoft.com/office/drawing/2014/main" id="{0C20FB9C-20EF-9FAF-1E56-EF9415E5123C}"/>
              </a:ext>
            </a:extLst>
          </p:cNvPr>
          <p:cNvSpPr>
            <a:spLocks noGrp="1"/>
          </p:cNvSpPr>
          <p:nvPr>
            <p:ph type="body" sz="quarter" idx="12"/>
          </p:nvPr>
        </p:nvSpPr>
        <p:spPr/>
        <p:txBody>
          <a:bodyPr/>
          <a:lstStyle/>
          <a:p>
            <a:r>
              <a:rPr lang="en-CA"/>
              <a:t>12</a:t>
            </a:r>
          </a:p>
        </p:txBody>
      </p:sp>
    </p:spTree>
    <p:extLst>
      <p:ext uri="{BB962C8B-B14F-4D97-AF65-F5344CB8AC3E}">
        <p14:creationId xmlns:p14="http://schemas.microsoft.com/office/powerpoint/2010/main" val="378597065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E8FBE6-3C9B-69CC-2A45-C4F47FFEC396}"/>
            </a:ext>
          </a:extLst>
        </p:cNvPr>
        <p:cNvGrpSpPr/>
        <p:nvPr/>
      </p:nvGrpSpPr>
      <p:grpSpPr>
        <a:xfrm>
          <a:off x="0" y="0"/>
          <a:ext cx="0" cy="0"/>
          <a:chOff x="0" y="0"/>
          <a:chExt cx="0" cy="0"/>
        </a:xfrm>
      </p:grpSpPr>
      <p:sp>
        <p:nvSpPr>
          <p:cNvPr id="356" name="Title 355">
            <a:extLst>
              <a:ext uri="{FF2B5EF4-FFF2-40B4-BE49-F238E27FC236}">
                <a16:creationId xmlns:a16="http://schemas.microsoft.com/office/drawing/2014/main" id="{68041CC0-12F9-2561-3F63-F5D9AE682DE8}"/>
              </a:ext>
            </a:extLst>
          </p:cNvPr>
          <p:cNvSpPr>
            <a:spLocks noGrp="1"/>
          </p:cNvSpPr>
          <p:nvPr>
            <p:ph type="title"/>
          </p:nvPr>
        </p:nvSpPr>
        <p:spPr/>
        <p:txBody>
          <a:bodyPr vert="horz" lIns="0" tIns="0" rIns="0" bIns="0" rtlCol="0" anchor="t">
            <a:noAutofit/>
          </a:bodyPr>
          <a:lstStyle/>
          <a:p>
            <a:r>
              <a:rPr lang="en-US" noProof="0">
                <a:solidFill>
                  <a:srgbClr val="EC111A"/>
                </a:solidFill>
              </a:rPr>
              <a:t>CX gaps in Retail </a:t>
            </a:r>
            <a:r>
              <a:rPr lang="en-US">
                <a:solidFill>
                  <a:srgbClr val="EC111A"/>
                </a:solidFill>
              </a:rPr>
              <a:t>| </a:t>
            </a:r>
            <a:r>
              <a:rPr lang="en-US"/>
              <a:t>Digital experience gaps undermine competitiveness and client </a:t>
            </a:r>
            <a:r>
              <a:rPr lang="en-US" noProof="0"/>
              <a:t>satisfaction</a:t>
            </a:r>
            <a:endParaRPr lang="en-US"/>
          </a:p>
        </p:txBody>
      </p:sp>
      <p:sp>
        <p:nvSpPr>
          <p:cNvPr id="8" name="Slide Number Placeholder 2">
            <a:extLst>
              <a:ext uri="{FF2B5EF4-FFF2-40B4-BE49-F238E27FC236}">
                <a16:creationId xmlns:a16="http://schemas.microsoft.com/office/drawing/2014/main" id="{83756655-9855-B5A9-EFAC-5366772A5FD3}"/>
              </a:ext>
            </a:extLst>
          </p:cNvPr>
          <p:cNvSpPr>
            <a:spLocks noGrp="1"/>
          </p:cNvSpPr>
          <p:nvPr>
            <p:ph type="sldNum" sz="quarter" idx="10"/>
          </p:nvPr>
        </p:nvSpPr>
        <p:spPr/>
        <p:txBody>
          <a:bodyPr/>
          <a:lstStyle/>
          <a:p>
            <a:pPr defTabSz="914411">
              <a:defRPr/>
            </a:pPr>
            <a:fld id="{95D835A7-12B2-4074-8DA2-469A8808C237}" type="slidenum">
              <a:rPr lang="en-US">
                <a:solidFill>
                  <a:srgbClr val="000000"/>
                </a:solidFill>
              </a:rPr>
              <a:pPr defTabSz="914411">
                <a:defRPr/>
              </a:pPr>
              <a:t>60</a:t>
            </a:fld>
            <a:endParaRPr lang="en-US">
              <a:solidFill>
                <a:srgbClr val="000000"/>
              </a:solidFill>
            </a:endParaRPr>
          </a:p>
        </p:txBody>
      </p:sp>
      <p:sp>
        <p:nvSpPr>
          <p:cNvPr id="10" name="Text Placeholder 9">
            <a:extLst>
              <a:ext uri="{FF2B5EF4-FFF2-40B4-BE49-F238E27FC236}">
                <a16:creationId xmlns:a16="http://schemas.microsoft.com/office/drawing/2014/main" id="{75383F05-3107-EDBE-72C2-8BC96180F2F4}"/>
              </a:ext>
            </a:extLst>
          </p:cNvPr>
          <p:cNvSpPr>
            <a:spLocks noGrp="1"/>
          </p:cNvSpPr>
          <p:nvPr>
            <p:ph type="body" sz="quarter" idx="11"/>
          </p:nvPr>
        </p:nvSpPr>
        <p:spPr/>
        <p:txBody>
          <a:bodyPr anchor="ctr"/>
          <a:lstStyle/>
          <a:p>
            <a:r>
              <a:rPr lang="en-US" noProof="0">
                <a:solidFill>
                  <a:srgbClr val="000000"/>
                </a:solidFill>
              </a:rPr>
              <a:t>1. </a:t>
            </a:r>
            <a:r>
              <a:rPr lang="en-US" noProof="0"/>
              <a:t>Based on a functional benchmark of key digital capabilities per workstream, scoring each feature according to its availability and maturity vs best in class, more info in the appendix; 2. </a:t>
            </a:r>
            <a:r>
              <a:rPr lang="en-US" noProof="0">
                <a:solidFill>
                  <a:srgbClr val="000000"/>
                </a:solidFill>
              </a:rPr>
              <a:t>Source: Global Brand &amp; Client Insights – Mexico Q4’25 Competitive NPS Report</a:t>
            </a:r>
            <a:endParaRPr lang="en-US" noProof="0"/>
          </a:p>
        </p:txBody>
      </p:sp>
      <p:sp>
        <p:nvSpPr>
          <p:cNvPr id="3" name="Text Placeholder 12">
            <a:extLst>
              <a:ext uri="{FF2B5EF4-FFF2-40B4-BE49-F238E27FC236}">
                <a16:creationId xmlns:a16="http://schemas.microsoft.com/office/drawing/2014/main" id="{A862E6BC-F2CB-8824-5B7E-6E9BBDE278DD}"/>
              </a:ext>
            </a:extLst>
          </p:cNvPr>
          <p:cNvSpPr>
            <a:spLocks noGrp="1"/>
          </p:cNvSpPr>
          <p:nvPr>
            <p:ph type="body" sz="quarter" idx="14"/>
          </p:nvPr>
        </p:nvSpPr>
        <p:spPr/>
        <p:txBody>
          <a:bodyPr/>
          <a:lstStyle/>
          <a:p>
            <a:r>
              <a:rPr lang="en-US" b="1" noProof="0"/>
              <a:t>APP FEATURES BENCHMARK SBM VS BEST IN CLASS</a:t>
            </a:r>
          </a:p>
        </p:txBody>
      </p:sp>
      <p:sp>
        <p:nvSpPr>
          <p:cNvPr id="4" name="Text Placeholder 6">
            <a:extLst>
              <a:ext uri="{FF2B5EF4-FFF2-40B4-BE49-F238E27FC236}">
                <a16:creationId xmlns:a16="http://schemas.microsoft.com/office/drawing/2014/main" id="{AF3D29D3-E06E-661F-5FA1-7E64CF5AAE8B}"/>
              </a:ext>
            </a:extLst>
          </p:cNvPr>
          <p:cNvSpPr txBox="1">
            <a:spLocks/>
          </p:cNvSpPr>
          <p:nvPr/>
        </p:nvSpPr>
        <p:spPr>
          <a:xfrm>
            <a:off x="2" y="0"/>
            <a:ext cx="792000" cy="20410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4411">
              <a:defRPr/>
            </a:pPr>
            <a:r>
              <a:rPr lang="en-US" sz="1001" spc="201">
                <a:solidFill>
                  <a:srgbClr val="FFFFFF"/>
                </a:solidFill>
                <a:latin typeface="Scotia"/>
              </a:rPr>
              <a:t>MEXICO</a:t>
            </a:r>
          </a:p>
        </p:txBody>
      </p:sp>
      <p:sp>
        <p:nvSpPr>
          <p:cNvPr id="7" name="Text Placeholder 6">
            <a:extLst>
              <a:ext uri="{FF2B5EF4-FFF2-40B4-BE49-F238E27FC236}">
                <a16:creationId xmlns:a16="http://schemas.microsoft.com/office/drawing/2014/main" id="{B9ABE2C5-06AD-2917-8D4A-B801708005D8}"/>
              </a:ext>
            </a:extLst>
          </p:cNvPr>
          <p:cNvSpPr txBox="1">
            <a:spLocks/>
          </p:cNvSpPr>
          <p:nvPr/>
        </p:nvSpPr>
        <p:spPr>
          <a:xfrm>
            <a:off x="792210" y="0"/>
            <a:ext cx="2255790" cy="204108"/>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90000" rIns="90000" bIns="90000" rtlCol="0" anchor="ctr"/>
          <a:lstStyle>
            <a:defPPr>
              <a:defRPr lang="en-US"/>
            </a:defPPr>
            <a:lvl1pPr algn="ctr">
              <a:defRPr sz="1000" b="1" spc="200">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l">
              <a:defRPr/>
            </a:pPr>
            <a:r>
              <a:rPr lang="en-US" sz="1001">
                <a:solidFill>
                  <a:srgbClr val="000000"/>
                </a:solidFill>
              </a:rPr>
              <a:t>ALL BANK</a:t>
            </a:r>
          </a:p>
        </p:txBody>
      </p:sp>
      <p:cxnSp>
        <p:nvCxnSpPr>
          <p:cNvPr id="540" name="Straight Connector 539">
            <a:extLst>
              <a:ext uri="{FF2B5EF4-FFF2-40B4-BE49-F238E27FC236}">
                <a16:creationId xmlns:a16="http://schemas.microsoft.com/office/drawing/2014/main" id="{E22E851F-8DBE-CC3D-75E4-AA7346B73951}"/>
              </a:ext>
            </a:extLst>
          </p:cNvPr>
          <p:cNvCxnSpPr>
            <a:cxnSpLocks/>
          </p:cNvCxnSpPr>
          <p:nvPr/>
        </p:nvCxnSpPr>
        <p:spPr>
          <a:xfrm>
            <a:off x="5908284" y="1672753"/>
            <a:ext cx="0" cy="4412164"/>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aphicFrame>
        <p:nvGraphicFramePr>
          <p:cNvPr id="30" name="Chart 29">
            <a:extLst>
              <a:ext uri="{FF2B5EF4-FFF2-40B4-BE49-F238E27FC236}">
                <a16:creationId xmlns:a16="http://schemas.microsoft.com/office/drawing/2014/main" id="{73DE9B0F-7ED8-9175-BD98-2D7D7D065C93}"/>
              </a:ext>
            </a:extLst>
          </p:cNvPr>
          <p:cNvGraphicFramePr/>
          <p:nvPr>
            <p:custDataLst>
              <p:tags r:id="rId1"/>
            </p:custDataLst>
          </p:nvPr>
        </p:nvGraphicFramePr>
        <p:xfrm>
          <a:off x="6230938" y="2278063"/>
          <a:ext cx="5294312" cy="1063625"/>
        </p:xfrm>
        <a:graphic>
          <a:graphicData uri="http://schemas.openxmlformats.org/drawingml/2006/chart">
            <c:chart xmlns:c="http://schemas.openxmlformats.org/drawingml/2006/chart" xmlns:r="http://schemas.openxmlformats.org/officeDocument/2006/relationships" r:id="rId38"/>
          </a:graphicData>
        </a:graphic>
      </p:graphicFrame>
      <p:sp>
        <p:nvSpPr>
          <p:cNvPr id="480" name="Text Placeholder 2">
            <a:extLst>
              <a:ext uri="{FF2B5EF4-FFF2-40B4-BE49-F238E27FC236}">
                <a16:creationId xmlns:a16="http://schemas.microsoft.com/office/drawing/2014/main" id="{0ADE6BAB-F781-8F4D-8B38-DD3BEBBF67CA}"/>
              </a:ext>
            </a:extLst>
          </p:cNvPr>
          <p:cNvSpPr>
            <a:spLocks/>
          </p:cNvSpPr>
          <p:nvPr>
            <p:custDataLst>
              <p:tags r:id="rId2"/>
            </p:custDataLst>
          </p:nvPr>
        </p:nvSpPr>
        <p:spPr bwMode="auto">
          <a:xfrm>
            <a:off x="6527801" y="3305177"/>
            <a:ext cx="304800"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76179324-E566-4BB0-A0E0-7C2FEF019A56}" type="datetime'''''''''''A''''''''''''''''''''''''''T''''''''''''M'''">
              <a:rPr lang="en-US" sz="1100">
                <a:solidFill>
                  <a:srgbClr val="1E1117"/>
                </a:solidFill>
              </a:rPr>
              <a:pPr marL="0" indent="0" algn="ctr">
                <a:spcBef>
                  <a:spcPct val="0"/>
                </a:spcBef>
                <a:buClr>
                  <a:srgbClr val="000000"/>
                </a:buClr>
                <a:buNone/>
                <a:defRPr/>
              </a:pPr>
              <a:t>ATM</a:t>
            </a:fld>
            <a:endParaRPr lang="en-US" sz="1100">
              <a:solidFill>
                <a:srgbClr val="1E1117"/>
              </a:solidFill>
              <a:sym typeface="Scotia" panose="020B0503020203020204" pitchFamily="34" charset="0"/>
            </a:endParaRPr>
          </a:p>
        </p:txBody>
      </p:sp>
      <p:sp>
        <p:nvSpPr>
          <p:cNvPr id="483" name="Text Placeholder 2">
            <a:extLst>
              <a:ext uri="{FF2B5EF4-FFF2-40B4-BE49-F238E27FC236}">
                <a16:creationId xmlns:a16="http://schemas.microsoft.com/office/drawing/2014/main" id="{84C6686F-2B57-1A0A-9EBC-CD756010E277}"/>
              </a:ext>
            </a:extLst>
          </p:cNvPr>
          <p:cNvSpPr>
            <a:spLocks/>
          </p:cNvSpPr>
          <p:nvPr>
            <p:custDataLst>
              <p:tags r:id="rId3"/>
            </p:custDataLst>
          </p:nvPr>
        </p:nvSpPr>
        <p:spPr bwMode="auto">
          <a:xfrm>
            <a:off x="7259637" y="3305177"/>
            <a:ext cx="304800"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FE80BC40-5C82-4CB1-8AF1-B45A5EA39BB5}" type="datetime'''''''''''''''''W''''''''e''''b'''''''''''''''''''''">
              <a:rPr lang="en-US" sz="1100">
                <a:solidFill>
                  <a:srgbClr val="1E1117"/>
                </a:solidFill>
              </a:rPr>
              <a:pPr marL="0" indent="0" algn="ctr">
                <a:spcBef>
                  <a:spcPct val="0"/>
                </a:spcBef>
                <a:buClr>
                  <a:srgbClr val="000000"/>
                </a:buClr>
                <a:buNone/>
                <a:defRPr/>
              </a:pPr>
              <a:t>Web</a:t>
            </a:fld>
            <a:endParaRPr lang="en-US" sz="1100">
              <a:solidFill>
                <a:srgbClr val="1E1117"/>
              </a:solidFill>
              <a:sym typeface="Scotia" panose="020B0503020203020204" pitchFamily="34" charset="0"/>
            </a:endParaRPr>
          </a:p>
        </p:txBody>
      </p:sp>
      <p:sp>
        <p:nvSpPr>
          <p:cNvPr id="486" name="Text Placeholder 2">
            <a:extLst>
              <a:ext uri="{FF2B5EF4-FFF2-40B4-BE49-F238E27FC236}">
                <a16:creationId xmlns:a16="http://schemas.microsoft.com/office/drawing/2014/main" id="{13770474-3E70-5392-4372-47BA2CE69E8B}"/>
              </a:ext>
            </a:extLst>
          </p:cNvPr>
          <p:cNvSpPr>
            <a:spLocks/>
          </p:cNvSpPr>
          <p:nvPr>
            <p:custDataLst>
              <p:tags r:id="rId4"/>
            </p:custDataLst>
          </p:nvPr>
        </p:nvSpPr>
        <p:spPr bwMode="auto">
          <a:xfrm>
            <a:off x="8039101" y="3305177"/>
            <a:ext cx="214313"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2EBF234F-2B28-43E5-8E36-2C4288EF7042}" type="datetime'''''''''''''R''''''''''''''''''''''M'''''''''''''">
              <a:rPr lang="en-US" sz="1100">
                <a:solidFill>
                  <a:srgbClr val="1E1117"/>
                </a:solidFill>
              </a:rPr>
              <a:pPr marL="0" indent="0" algn="ctr">
                <a:spcBef>
                  <a:spcPct val="0"/>
                </a:spcBef>
                <a:buClr>
                  <a:srgbClr val="000000"/>
                </a:buClr>
                <a:buNone/>
                <a:defRPr/>
              </a:pPr>
              <a:t>RM</a:t>
            </a:fld>
            <a:endParaRPr lang="en-US" sz="1100">
              <a:solidFill>
                <a:srgbClr val="1E1117"/>
              </a:solidFill>
              <a:sym typeface="Scotia" panose="020B0503020203020204" pitchFamily="34" charset="0"/>
            </a:endParaRPr>
          </a:p>
        </p:txBody>
      </p:sp>
      <p:sp>
        <p:nvSpPr>
          <p:cNvPr id="490" name="Text Placeholder 2">
            <a:extLst>
              <a:ext uri="{FF2B5EF4-FFF2-40B4-BE49-F238E27FC236}">
                <a16:creationId xmlns:a16="http://schemas.microsoft.com/office/drawing/2014/main" id="{C1841341-021A-B0C5-E2EB-0CC8191938B6}"/>
              </a:ext>
            </a:extLst>
          </p:cNvPr>
          <p:cNvSpPr>
            <a:spLocks/>
          </p:cNvSpPr>
          <p:nvPr>
            <p:custDataLst>
              <p:tags r:id="rId5"/>
            </p:custDataLst>
          </p:nvPr>
        </p:nvSpPr>
        <p:spPr bwMode="auto">
          <a:xfrm>
            <a:off x="8740776" y="3305177"/>
            <a:ext cx="273051"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r>
              <a:rPr lang="en-US" sz="1100">
                <a:solidFill>
                  <a:srgbClr val="1E1117"/>
                </a:solidFill>
              </a:rPr>
              <a:t>App</a:t>
            </a:r>
            <a:endParaRPr lang="en-US" sz="1100">
              <a:solidFill>
                <a:srgbClr val="1E1117"/>
              </a:solidFill>
              <a:sym typeface="Scotia" panose="020B0503020203020204" pitchFamily="34" charset="0"/>
            </a:endParaRPr>
          </a:p>
        </p:txBody>
      </p:sp>
      <p:sp>
        <p:nvSpPr>
          <p:cNvPr id="493" name="Text Placeholder 2">
            <a:extLst>
              <a:ext uri="{FF2B5EF4-FFF2-40B4-BE49-F238E27FC236}">
                <a16:creationId xmlns:a16="http://schemas.microsoft.com/office/drawing/2014/main" id="{18BCEF39-ABDE-BC2A-1A24-7F38F0E59E67}"/>
              </a:ext>
            </a:extLst>
          </p:cNvPr>
          <p:cNvSpPr>
            <a:spLocks/>
          </p:cNvSpPr>
          <p:nvPr>
            <p:custDataLst>
              <p:tags r:id="rId6"/>
            </p:custDataLst>
          </p:nvPr>
        </p:nvSpPr>
        <p:spPr bwMode="auto">
          <a:xfrm>
            <a:off x="9513888" y="3305177"/>
            <a:ext cx="193675"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59E28FCF-5509-4ACF-B760-E786CCEDC3FE}" type="datetime'''''''''''C''''''''''''''''C'''''''''''''''''">
              <a:rPr lang="en-US" sz="1100">
                <a:solidFill>
                  <a:srgbClr val="1E1117"/>
                </a:solidFill>
              </a:rPr>
              <a:pPr marL="0" indent="0" algn="ctr">
                <a:spcBef>
                  <a:spcPct val="0"/>
                </a:spcBef>
                <a:buClr>
                  <a:srgbClr val="000000"/>
                </a:buClr>
                <a:buNone/>
                <a:defRPr/>
              </a:pPr>
              <a:t>CC</a:t>
            </a:fld>
            <a:endParaRPr lang="en-US" sz="1100">
              <a:solidFill>
                <a:srgbClr val="1E1117"/>
              </a:solidFill>
              <a:sym typeface="Scotia" panose="020B0503020203020204" pitchFamily="34" charset="0"/>
            </a:endParaRPr>
          </a:p>
        </p:txBody>
      </p:sp>
      <p:sp>
        <p:nvSpPr>
          <p:cNvPr id="496" name="Text Placeholder 2">
            <a:extLst>
              <a:ext uri="{FF2B5EF4-FFF2-40B4-BE49-F238E27FC236}">
                <a16:creationId xmlns:a16="http://schemas.microsoft.com/office/drawing/2014/main" id="{A236DE14-1F73-CF0F-C0EC-95F5C9F5E8E4}"/>
              </a:ext>
            </a:extLst>
          </p:cNvPr>
          <p:cNvSpPr>
            <a:spLocks/>
          </p:cNvSpPr>
          <p:nvPr>
            <p:custDataLst>
              <p:tags r:id="rId7"/>
            </p:custDataLst>
          </p:nvPr>
        </p:nvSpPr>
        <p:spPr bwMode="auto">
          <a:xfrm>
            <a:off x="10117139" y="3305177"/>
            <a:ext cx="450850"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244AA884-261A-4123-BFF9-EECE6BC0010C}" type="datetime'''''''''''''''B''''''''''''''ra''''n''''''''''''''''ch'">
              <a:rPr lang="en-US" sz="1100">
                <a:solidFill>
                  <a:srgbClr val="1E1117"/>
                </a:solidFill>
              </a:rPr>
              <a:pPr marL="0" indent="0" algn="ctr">
                <a:spcBef>
                  <a:spcPct val="0"/>
                </a:spcBef>
                <a:buClr>
                  <a:srgbClr val="000000"/>
                </a:buClr>
                <a:buNone/>
                <a:defRPr/>
              </a:pPr>
              <a:t>Branch</a:t>
            </a:fld>
            <a:endParaRPr lang="en-US" sz="1100">
              <a:solidFill>
                <a:srgbClr val="1E1117"/>
              </a:solidFill>
              <a:sym typeface="Scotia" panose="020B0503020203020204" pitchFamily="34" charset="0"/>
            </a:endParaRPr>
          </a:p>
        </p:txBody>
      </p:sp>
      <p:sp>
        <p:nvSpPr>
          <p:cNvPr id="499" name="Text Placeholder 2">
            <a:extLst>
              <a:ext uri="{FF2B5EF4-FFF2-40B4-BE49-F238E27FC236}">
                <a16:creationId xmlns:a16="http://schemas.microsoft.com/office/drawing/2014/main" id="{094C782A-98C5-E9D7-6DAD-AFAFD1317E63}"/>
              </a:ext>
            </a:extLst>
          </p:cNvPr>
          <p:cNvSpPr>
            <a:spLocks/>
          </p:cNvSpPr>
          <p:nvPr>
            <p:custDataLst>
              <p:tags r:id="rId8"/>
            </p:custDataLst>
          </p:nvPr>
        </p:nvSpPr>
        <p:spPr bwMode="auto">
          <a:xfrm>
            <a:off x="10963276" y="3305177"/>
            <a:ext cx="227013" cy="168276"/>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noAutofit/>
          </a:bodyPr>
          <a:lstStyle>
            <a:lvl1pPr marL="179982" indent="-179982" algn="l" rtl="0" eaLnBrk="0" fontAlgn="base" hangingPunct="0">
              <a:spcBef>
                <a:spcPts val="600"/>
              </a:spcBef>
              <a:spcAft>
                <a:spcPct val="0"/>
              </a:spcAft>
              <a:buClr>
                <a:schemeClr val="tx1"/>
              </a:buClr>
              <a:buFont typeface="Wingdings" panose="05000000000000000000" pitchFamily="2" charset="2"/>
              <a:buChar char="§"/>
              <a:defRPr sz="1400" kern="1200">
                <a:solidFill>
                  <a:schemeClr val="tx1"/>
                </a:solidFill>
                <a:latin typeface="+mn-lt"/>
                <a:ea typeface="+mn-ea"/>
                <a:cs typeface="+mn-cs"/>
              </a:defRPr>
            </a:lvl1pPr>
            <a:lvl2pPr marL="457154" indent="0" algn="l" rtl="0" eaLnBrk="0" fontAlgn="base" hangingPunct="0">
              <a:spcBef>
                <a:spcPts val="600"/>
              </a:spcBef>
              <a:spcAft>
                <a:spcPct val="0"/>
              </a:spcAft>
              <a:buClr>
                <a:schemeClr val="tx1"/>
              </a:buClr>
              <a:buFont typeface="Arial" pitchFamily="34" charset="0"/>
              <a:buNone/>
              <a:defRPr lang="en-US" sz="1200" kern="1200" dirty="0" smtClean="0">
                <a:solidFill>
                  <a:schemeClr val="tx1"/>
                </a:solidFill>
                <a:latin typeface="+mn-lt"/>
                <a:ea typeface="+mn-ea"/>
                <a:cs typeface="+mn-cs"/>
              </a:defRPr>
            </a:lvl2pPr>
            <a:lvl3pPr marL="1142886"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3pPr>
            <a:lvl4pPr marL="1600040" indent="-228578" algn="l" rtl="0" eaLnBrk="0" fontAlgn="base" hangingPunct="0">
              <a:spcBef>
                <a:spcPts val="600"/>
              </a:spcBef>
              <a:spcAft>
                <a:spcPct val="0"/>
              </a:spcAft>
              <a:buClr>
                <a:schemeClr val="tx1"/>
              </a:buClr>
              <a:buFont typeface="Arial" pitchFamily="34" charset="0"/>
              <a:buChar char="–"/>
              <a:defRPr sz="1000" kern="1200">
                <a:solidFill>
                  <a:schemeClr val="tx1"/>
                </a:solidFill>
                <a:latin typeface="+mn-lt"/>
                <a:ea typeface="+mn-ea"/>
                <a:cs typeface="+mn-cs"/>
              </a:defRPr>
            </a:lvl4pPr>
            <a:lvl5pPr marL="2057194" indent="-228578" algn="l" rtl="0" eaLnBrk="0" fontAlgn="base" hangingPunct="0">
              <a:spcBef>
                <a:spcPts val="600"/>
              </a:spcBef>
              <a:spcAft>
                <a:spcPct val="0"/>
              </a:spcAft>
              <a:buClr>
                <a:schemeClr val="tx1"/>
              </a:buClr>
              <a:buFont typeface="Georgia" panose="02040502050405020303" pitchFamily="18" charset="0"/>
              <a:buChar char="−"/>
              <a:defRPr sz="1000" kern="1200">
                <a:solidFill>
                  <a:schemeClr val="tx1"/>
                </a:solidFill>
                <a:latin typeface="+mn-lt"/>
                <a:ea typeface="+mn-ea"/>
                <a:cs typeface="+mn-cs"/>
              </a:defRPr>
            </a:lvl5pPr>
            <a:lvl6pPr marL="2514350"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504"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658"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812" indent="-228578" algn="l" defTabSz="91431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buClr>
                <a:srgbClr val="000000"/>
              </a:buClr>
              <a:buNone/>
              <a:defRPr/>
            </a:pPr>
            <a:fld id="{F12EC77A-69E2-4B3F-8C00-2BFEB34F1B19}" type="datetime'''''''''''''''''''''''''''''''''I''''V''''''''''R'''''''''''">
              <a:rPr lang="en-US" sz="1100">
                <a:solidFill>
                  <a:srgbClr val="1E1117"/>
                </a:solidFill>
              </a:rPr>
              <a:pPr marL="0" indent="0" algn="ctr">
                <a:spcBef>
                  <a:spcPct val="0"/>
                </a:spcBef>
                <a:buClr>
                  <a:srgbClr val="000000"/>
                </a:buClr>
                <a:buNone/>
                <a:defRPr/>
              </a:pPr>
              <a:t>IVR</a:t>
            </a:fld>
            <a:endParaRPr lang="en-US" sz="1100">
              <a:solidFill>
                <a:srgbClr val="1E1117"/>
              </a:solidFill>
              <a:sym typeface="Scotia" panose="020B0503020203020204" pitchFamily="34" charset="0"/>
            </a:endParaRPr>
          </a:p>
        </p:txBody>
      </p:sp>
      <p:sp>
        <p:nvSpPr>
          <p:cNvPr id="554" name="Text Placeholder 2">
            <a:extLst>
              <a:ext uri="{FF2B5EF4-FFF2-40B4-BE49-F238E27FC236}">
                <a16:creationId xmlns:a16="http://schemas.microsoft.com/office/drawing/2014/main" id="{94536B69-122A-68AA-EB40-444DF16F15A6}"/>
              </a:ext>
            </a:extLst>
          </p:cNvPr>
          <p:cNvSpPr>
            <a:spLocks/>
          </p:cNvSpPr>
          <p:nvPr>
            <p:custDataLst>
              <p:tags r:id="rId9"/>
            </p:custDataLst>
          </p:nvPr>
        </p:nvSpPr>
        <p:spPr bwMode="gray">
          <a:xfrm>
            <a:off x="6350001" y="2305050"/>
            <a:ext cx="32543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99591157-A0CB-4012-B9A6-0C0038FDC8A6}" type="datetime'6''''''''''''6''''''''''''''''''''''''''''''''''''''''''''%'">
              <a:rPr lang="en-US" sz="1100">
                <a:solidFill>
                  <a:srgbClr val="000000"/>
                </a:solidFill>
              </a:rPr>
              <a:pPr marL="0" indent="0" algn="ctr" defTabSz="914422">
                <a:spcBef>
                  <a:spcPct val="0"/>
                </a:spcBef>
                <a:spcAft>
                  <a:spcPct val="0"/>
                </a:spcAft>
                <a:buClr>
                  <a:srgbClr val="000000"/>
                </a:buClr>
                <a:buNone/>
                <a:defRPr/>
              </a:pPr>
              <a:t>66%</a:t>
            </a:fld>
            <a:endParaRPr lang="en-US" sz="1100">
              <a:solidFill>
                <a:srgbClr val="000000"/>
              </a:solidFill>
            </a:endParaRPr>
          </a:p>
        </p:txBody>
      </p:sp>
      <p:sp>
        <p:nvSpPr>
          <p:cNvPr id="555" name="Text Placeholder 2">
            <a:extLst>
              <a:ext uri="{FF2B5EF4-FFF2-40B4-BE49-F238E27FC236}">
                <a16:creationId xmlns:a16="http://schemas.microsoft.com/office/drawing/2014/main" id="{39613918-D47F-EC93-FCBE-6EF365EE1036}"/>
              </a:ext>
            </a:extLst>
          </p:cNvPr>
          <p:cNvSpPr>
            <a:spLocks/>
          </p:cNvSpPr>
          <p:nvPr>
            <p:custDataLst>
              <p:tags r:id="rId10"/>
            </p:custDataLst>
          </p:nvPr>
        </p:nvSpPr>
        <p:spPr bwMode="gray">
          <a:xfrm>
            <a:off x="6654800" y="2201865"/>
            <a:ext cx="3111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C13C4714-3838-4D4D-971A-5EA9D22AE39A}" type="datetime'''''''''7''''''''''''''''''''5''''''''''''''''''''%'''''''">
              <a:rPr lang="en-US" sz="1100">
                <a:solidFill>
                  <a:srgbClr val="000000"/>
                </a:solidFill>
              </a:rPr>
              <a:pPr marL="0" indent="0" algn="ctr" defTabSz="914422">
                <a:spcBef>
                  <a:spcPct val="0"/>
                </a:spcBef>
                <a:spcAft>
                  <a:spcPct val="0"/>
                </a:spcAft>
                <a:buClr>
                  <a:srgbClr val="000000"/>
                </a:buClr>
                <a:buNone/>
                <a:defRPr/>
              </a:pPr>
              <a:t>75%</a:t>
            </a:fld>
            <a:endParaRPr lang="en-US" sz="1100">
              <a:solidFill>
                <a:srgbClr val="000000"/>
              </a:solidFill>
            </a:endParaRPr>
          </a:p>
        </p:txBody>
      </p:sp>
      <p:sp>
        <p:nvSpPr>
          <p:cNvPr id="557" name="Text Placeholder 2">
            <a:extLst>
              <a:ext uri="{FF2B5EF4-FFF2-40B4-BE49-F238E27FC236}">
                <a16:creationId xmlns:a16="http://schemas.microsoft.com/office/drawing/2014/main" id="{B349AEDC-6519-F351-B77E-94324FDED151}"/>
              </a:ext>
            </a:extLst>
          </p:cNvPr>
          <p:cNvSpPr>
            <a:spLocks/>
          </p:cNvSpPr>
          <p:nvPr>
            <p:custDataLst>
              <p:tags r:id="rId11"/>
            </p:custDataLst>
          </p:nvPr>
        </p:nvSpPr>
        <p:spPr bwMode="gray">
          <a:xfrm>
            <a:off x="7085014" y="2328864"/>
            <a:ext cx="32226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06108B3-15EC-476C-8D04-6003C73DF587}" type="datetime'''''''6''''''''''4''''''%'''''''''''''''''''''''''''''''''">
              <a:rPr lang="en-US" sz="1100">
                <a:solidFill>
                  <a:srgbClr val="000000"/>
                </a:solidFill>
              </a:rPr>
              <a:pPr marL="0" indent="0" algn="ctr" defTabSz="914422">
                <a:spcBef>
                  <a:spcPct val="0"/>
                </a:spcBef>
                <a:spcAft>
                  <a:spcPct val="0"/>
                </a:spcAft>
                <a:buClr>
                  <a:srgbClr val="000000"/>
                </a:buClr>
                <a:buNone/>
                <a:defRPr/>
              </a:pPr>
              <a:t>64%</a:t>
            </a:fld>
            <a:endParaRPr lang="en-US" sz="1100">
              <a:solidFill>
                <a:srgbClr val="000000"/>
              </a:solidFill>
            </a:endParaRPr>
          </a:p>
        </p:txBody>
      </p:sp>
      <p:sp>
        <p:nvSpPr>
          <p:cNvPr id="558" name="Text Placeholder 2">
            <a:extLst>
              <a:ext uri="{FF2B5EF4-FFF2-40B4-BE49-F238E27FC236}">
                <a16:creationId xmlns:a16="http://schemas.microsoft.com/office/drawing/2014/main" id="{ACB46A06-BC32-5C9F-1846-B3BD20E52515}"/>
              </a:ext>
            </a:extLst>
          </p:cNvPr>
          <p:cNvSpPr>
            <a:spLocks/>
          </p:cNvSpPr>
          <p:nvPr>
            <p:custDataLst>
              <p:tags r:id="rId12"/>
            </p:custDataLst>
          </p:nvPr>
        </p:nvSpPr>
        <p:spPr bwMode="gray">
          <a:xfrm>
            <a:off x="7410451" y="2305050"/>
            <a:ext cx="32543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E0C668D-BDD6-4734-A3CD-397B8F391822}" type="datetime'''6''6''''''''''''''''''''''''''''''''%'''''''''''''">
              <a:rPr lang="en-US" sz="1100">
                <a:solidFill>
                  <a:srgbClr val="000000"/>
                </a:solidFill>
              </a:rPr>
              <a:pPr marL="0" indent="0" algn="ctr" defTabSz="914422">
                <a:spcBef>
                  <a:spcPct val="0"/>
                </a:spcBef>
                <a:spcAft>
                  <a:spcPct val="0"/>
                </a:spcAft>
                <a:buClr>
                  <a:srgbClr val="000000"/>
                </a:buClr>
                <a:buNone/>
                <a:defRPr/>
              </a:pPr>
              <a:t>66%</a:t>
            </a:fld>
            <a:endParaRPr lang="en-US" sz="1100">
              <a:solidFill>
                <a:srgbClr val="000000"/>
              </a:solidFill>
            </a:endParaRPr>
          </a:p>
        </p:txBody>
      </p:sp>
      <p:sp>
        <p:nvSpPr>
          <p:cNvPr id="559" name="Text Placeholder 2">
            <a:extLst>
              <a:ext uri="{FF2B5EF4-FFF2-40B4-BE49-F238E27FC236}">
                <a16:creationId xmlns:a16="http://schemas.microsoft.com/office/drawing/2014/main" id="{5E5409F7-A7A8-ABD6-8E77-07A92F207667}"/>
              </a:ext>
            </a:extLst>
          </p:cNvPr>
          <p:cNvSpPr>
            <a:spLocks/>
          </p:cNvSpPr>
          <p:nvPr>
            <p:custDataLst>
              <p:tags r:id="rId13"/>
            </p:custDataLst>
          </p:nvPr>
        </p:nvSpPr>
        <p:spPr bwMode="gray">
          <a:xfrm>
            <a:off x="7829550" y="2408240"/>
            <a:ext cx="3111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F4E7FA9F-DB19-489F-995F-B9E0A55F72E9}" type="datetime'''''''''''''''''''''5''7''''''''''''''''''''%'''''">
              <a:rPr lang="en-US" sz="1100">
                <a:solidFill>
                  <a:srgbClr val="000000"/>
                </a:solidFill>
              </a:rPr>
              <a:pPr marL="0" indent="0" algn="ctr" defTabSz="914422">
                <a:spcBef>
                  <a:spcPct val="0"/>
                </a:spcBef>
                <a:spcAft>
                  <a:spcPct val="0"/>
                </a:spcAft>
                <a:buClr>
                  <a:srgbClr val="000000"/>
                </a:buClr>
                <a:buNone/>
                <a:defRPr/>
              </a:pPr>
              <a:t>57%</a:t>
            </a:fld>
            <a:endParaRPr lang="en-US" sz="1100">
              <a:solidFill>
                <a:srgbClr val="000000"/>
              </a:solidFill>
            </a:endParaRPr>
          </a:p>
        </p:txBody>
      </p:sp>
      <p:sp>
        <p:nvSpPr>
          <p:cNvPr id="560" name="Text Placeholder 2">
            <a:extLst>
              <a:ext uri="{FF2B5EF4-FFF2-40B4-BE49-F238E27FC236}">
                <a16:creationId xmlns:a16="http://schemas.microsoft.com/office/drawing/2014/main" id="{C1B36DB0-EE7B-0D72-44AC-23F0C5156E2D}"/>
              </a:ext>
            </a:extLst>
          </p:cNvPr>
          <p:cNvSpPr>
            <a:spLocks/>
          </p:cNvSpPr>
          <p:nvPr>
            <p:custDataLst>
              <p:tags r:id="rId14"/>
            </p:custDataLst>
          </p:nvPr>
        </p:nvSpPr>
        <p:spPr bwMode="gray">
          <a:xfrm>
            <a:off x="8143877" y="2328864"/>
            <a:ext cx="32226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3C133A20-309B-4F3C-B5D7-36638D16CBFD}" type="datetime'''''6''''''''''''4''''''''%'''''''''''''''''''">
              <a:rPr lang="en-US" sz="1100">
                <a:solidFill>
                  <a:srgbClr val="000000"/>
                </a:solidFill>
              </a:rPr>
              <a:pPr marL="0" indent="0" algn="ctr" defTabSz="914422">
                <a:spcBef>
                  <a:spcPct val="0"/>
                </a:spcBef>
                <a:spcAft>
                  <a:spcPct val="0"/>
                </a:spcAft>
                <a:buClr>
                  <a:srgbClr val="000000"/>
                </a:buClr>
                <a:buNone/>
                <a:defRPr/>
              </a:pPr>
              <a:t>64%</a:t>
            </a:fld>
            <a:endParaRPr lang="en-US" sz="1100">
              <a:solidFill>
                <a:srgbClr val="000000"/>
              </a:solidFill>
            </a:endParaRPr>
          </a:p>
        </p:txBody>
      </p:sp>
      <p:sp>
        <p:nvSpPr>
          <p:cNvPr id="561" name="Text Placeholder 2">
            <a:extLst>
              <a:ext uri="{FF2B5EF4-FFF2-40B4-BE49-F238E27FC236}">
                <a16:creationId xmlns:a16="http://schemas.microsoft.com/office/drawing/2014/main" id="{7D239711-424A-70AF-DCF7-5CF9CC558E29}"/>
              </a:ext>
            </a:extLst>
          </p:cNvPr>
          <p:cNvSpPr>
            <a:spLocks/>
          </p:cNvSpPr>
          <p:nvPr>
            <p:custDataLst>
              <p:tags r:id="rId15"/>
            </p:custDataLst>
          </p:nvPr>
        </p:nvSpPr>
        <p:spPr bwMode="gray">
          <a:xfrm>
            <a:off x="8555038" y="2339977"/>
            <a:ext cx="3175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8A2F9F31-508F-4567-920B-C8DDC73FA607}" type="datetime'''''''''''''''''''6''''''''''3''''%'''''''''''''''''''''">
              <a:rPr lang="en-US" sz="1100">
                <a:solidFill>
                  <a:srgbClr val="000000"/>
                </a:solidFill>
              </a:rPr>
              <a:pPr marL="0" indent="0" algn="ctr" defTabSz="914422">
                <a:spcBef>
                  <a:spcPct val="0"/>
                </a:spcBef>
                <a:spcAft>
                  <a:spcPct val="0"/>
                </a:spcAft>
                <a:buClr>
                  <a:srgbClr val="000000"/>
                </a:buClr>
                <a:buNone/>
                <a:defRPr/>
              </a:pPr>
              <a:t>63%</a:t>
            </a:fld>
            <a:endParaRPr lang="en-US" sz="1100">
              <a:solidFill>
                <a:srgbClr val="000000"/>
              </a:solidFill>
            </a:endParaRPr>
          </a:p>
        </p:txBody>
      </p:sp>
      <p:sp>
        <p:nvSpPr>
          <p:cNvPr id="562" name="Text Placeholder 2">
            <a:extLst>
              <a:ext uri="{FF2B5EF4-FFF2-40B4-BE49-F238E27FC236}">
                <a16:creationId xmlns:a16="http://schemas.microsoft.com/office/drawing/2014/main" id="{3AFE988E-E84A-46E2-3219-7376FC4144DF}"/>
              </a:ext>
            </a:extLst>
          </p:cNvPr>
          <p:cNvSpPr>
            <a:spLocks/>
          </p:cNvSpPr>
          <p:nvPr>
            <p:custDataLst>
              <p:tags r:id="rId16"/>
            </p:custDataLst>
          </p:nvPr>
        </p:nvSpPr>
        <p:spPr bwMode="gray">
          <a:xfrm>
            <a:off x="8848726" y="2166938"/>
            <a:ext cx="3175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43A8F8F7-DE58-4BFF-88BC-D20079CD092F}" type="datetime'''''''''''''''''''7''''''''''''8''''''''''%'''''''''''''''">
              <a:rPr lang="en-US" sz="1100">
                <a:solidFill>
                  <a:srgbClr val="000000"/>
                </a:solidFill>
              </a:rPr>
              <a:pPr marL="0" indent="0" algn="ctr" defTabSz="914422">
                <a:spcBef>
                  <a:spcPct val="0"/>
                </a:spcBef>
                <a:spcAft>
                  <a:spcPct val="0"/>
                </a:spcAft>
                <a:buClr>
                  <a:srgbClr val="000000"/>
                </a:buClr>
                <a:buNone/>
                <a:defRPr/>
              </a:pPr>
              <a:t>78%</a:t>
            </a:fld>
            <a:endParaRPr lang="en-US" sz="1100">
              <a:solidFill>
                <a:srgbClr val="000000"/>
              </a:solidFill>
            </a:endParaRPr>
          </a:p>
        </p:txBody>
      </p:sp>
      <p:sp>
        <p:nvSpPr>
          <p:cNvPr id="563" name="Text Placeholder 2">
            <a:extLst>
              <a:ext uri="{FF2B5EF4-FFF2-40B4-BE49-F238E27FC236}">
                <a16:creationId xmlns:a16="http://schemas.microsoft.com/office/drawing/2014/main" id="{16F7F7E3-58A0-D542-0F06-16EFE0B83BDD}"/>
              </a:ext>
            </a:extLst>
          </p:cNvPr>
          <p:cNvSpPr>
            <a:spLocks/>
          </p:cNvSpPr>
          <p:nvPr>
            <p:custDataLst>
              <p:tags r:id="rId17"/>
            </p:custDataLst>
          </p:nvPr>
        </p:nvSpPr>
        <p:spPr bwMode="gray">
          <a:xfrm>
            <a:off x="9270999" y="2420938"/>
            <a:ext cx="3175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BB722A64-1044-467D-BED7-63197FA310FA}" type="datetime'''''''''''''''''''''''''''''''''5''6%'''''''''">
              <a:rPr lang="en-US" sz="1100">
                <a:solidFill>
                  <a:srgbClr val="000000"/>
                </a:solidFill>
              </a:rPr>
              <a:pPr marL="0" indent="0" algn="ctr" defTabSz="914422">
                <a:spcBef>
                  <a:spcPct val="0"/>
                </a:spcBef>
                <a:spcAft>
                  <a:spcPct val="0"/>
                </a:spcAft>
                <a:buClr>
                  <a:srgbClr val="000000"/>
                </a:buClr>
                <a:buNone/>
                <a:defRPr/>
              </a:pPr>
              <a:t>56%</a:t>
            </a:fld>
            <a:endParaRPr lang="en-US" sz="1100">
              <a:solidFill>
                <a:srgbClr val="000000"/>
              </a:solidFill>
            </a:endParaRPr>
          </a:p>
        </p:txBody>
      </p:sp>
      <p:sp>
        <p:nvSpPr>
          <p:cNvPr id="564" name="Text Placeholder 2">
            <a:extLst>
              <a:ext uri="{FF2B5EF4-FFF2-40B4-BE49-F238E27FC236}">
                <a16:creationId xmlns:a16="http://schemas.microsoft.com/office/drawing/2014/main" id="{4E3E629B-9550-EF3F-E09D-3721515C9572}"/>
              </a:ext>
            </a:extLst>
          </p:cNvPr>
          <p:cNvSpPr>
            <a:spLocks/>
          </p:cNvSpPr>
          <p:nvPr>
            <p:custDataLst>
              <p:tags r:id="rId18"/>
            </p:custDataLst>
          </p:nvPr>
        </p:nvSpPr>
        <p:spPr bwMode="gray">
          <a:xfrm>
            <a:off x="9591676" y="2362201"/>
            <a:ext cx="300037"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4FDC3693-751C-4BBB-97AD-9AEE4E5602B5}" type="datetime'''''''''6''''''''''''''''''''''''''1''%'''''''''''''''''''''''">
              <a:rPr lang="en-US" sz="1100">
                <a:solidFill>
                  <a:srgbClr val="000000"/>
                </a:solidFill>
              </a:rPr>
              <a:pPr marL="0" indent="0" algn="ctr" defTabSz="914422">
                <a:spcBef>
                  <a:spcPct val="0"/>
                </a:spcBef>
                <a:spcAft>
                  <a:spcPct val="0"/>
                </a:spcAft>
                <a:buClr>
                  <a:srgbClr val="000000"/>
                </a:buClr>
                <a:buNone/>
                <a:defRPr/>
              </a:pPr>
              <a:t>61%</a:t>
            </a:fld>
            <a:endParaRPr lang="en-US" sz="1100">
              <a:solidFill>
                <a:srgbClr val="000000"/>
              </a:solidFill>
            </a:endParaRPr>
          </a:p>
        </p:txBody>
      </p:sp>
      <p:sp>
        <p:nvSpPr>
          <p:cNvPr id="565" name="Text Placeholder 2">
            <a:extLst>
              <a:ext uri="{FF2B5EF4-FFF2-40B4-BE49-F238E27FC236}">
                <a16:creationId xmlns:a16="http://schemas.microsoft.com/office/drawing/2014/main" id="{D1E7EADA-B57B-3264-EF35-7883C7FFFEC3}"/>
              </a:ext>
            </a:extLst>
          </p:cNvPr>
          <p:cNvSpPr>
            <a:spLocks/>
          </p:cNvSpPr>
          <p:nvPr>
            <p:custDataLst>
              <p:tags r:id="rId19"/>
            </p:custDataLst>
          </p:nvPr>
        </p:nvSpPr>
        <p:spPr bwMode="gray">
          <a:xfrm>
            <a:off x="10026651" y="2408240"/>
            <a:ext cx="3111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397331CD-BBB8-4AF7-BDAB-7F9BFB3BAA03}" type="datetime'''''''''''''''''''''''''''''''''''''57''%'''''''''''''">
              <a:rPr lang="en-US" sz="1100">
                <a:solidFill>
                  <a:srgbClr val="000000"/>
                </a:solidFill>
              </a:rPr>
              <a:pPr marL="0" indent="0" algn="ctr" defTabSz="914422">
                <a:spcBef>
                  <a:spcPct val="0"/>
                </a:spcBef>
                <a:spcAft>
                  <a:spcPct val="0"/>
                </a:spcAft>
                <a:buClr>
                  <a:srgbClr val="000000"/>
                </a:buClr>
                <a:buNone/>
                <a:defRPr/>
              </a:pPr>
              <a:t>57%</a:t>
            </a:fld>
            <a:endParaRPr lang="en-US" sz="1100">
              <a:solidFill>
                <a:srgbClr val="000000"/>
              </a:solidFill>
            </a:endParaRPr>
          </a:p>
        </p:txBody>
      </p:sp>
      <p:sp>
        <p:nvSpPr>
          <p:cNvPr id="566" name="Text Placeholder 2">
            <a:extLst>
              <a:ext uri="{FF2B5EF4-FFF2-40B4-BE49-F238E27FC236}">
                <a16:creationId xmlns:a16="http://schemas.microsoft.com/office/drawing/2014/main" id="{9FB01614-2707-77FC-E810-E2FA5D9C4C40}"/>
              </a:ext>
            </a:extLst>
          </p:cNvPr>
          <p:cNvSpPr>
            <a:spLocks/>
          </p:cNvSpPr>
          <p:nvPr>
            <p:custDataLst>
              <p:tags r:id="rId20"/>
            </p:custDataLst>
          </p:nvPr>
        </p:nvSpPr>
        <p:spPr bwMode="gray">
          <a:xfrm>
            <a:off x="10340974" y="2316163"/>
            <a:ext cx="3175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E025B0FD-DD94-4949-876A-B379BFCCC294}" type="datetime'''''''''''''''''''''''6''''''''''''''''''''''''''''5''''''%'">
              <a:rPr lang="en-US" sz="1100">
                <a:solidFill>
                  <a:srgbClr val="000000"/>
                </a:solidFill>
              </a:rPr>
              <a:pPr marL="0" indent="0" algn="ctr" defTabSz="914422">
                <a:spcBef>
                  <a:spcPct val="0"/>
                </a:spcBef>
                <a:spcAft>
                  <a:spcPct val="0"/>
                </a:spcAft>
                <a:buClr>
                  <a:srgbClr val="000000"/>
                </a:buClr>
                <a:buNone/>
                <a:defRPr/>
              </a:pPr>
              <a:t>65%</a:t>
            </a:fld>
            <a:endParaRPr lang="en-US" sz="1100">
              <a:solidFill>
                <a:srgbClr val="000000"/>
              </a:solidFill>
            </a:endParaRPr>
          </a:p>
        </p:txBody>
      </p:sp>
      <p:sp>
        <p:nvSpPr>
          <p:cNvPr id="567" name="Text Placeholder 2">
            <a:extLst>
              <a:ext uri="{FF2B5EF4-FFF2-40B4-BE49-F238E27FC236}">
                <a16:creationId xmlns:a16="http://schemas.microsoft.com/office/drawing/2014/main" id="{29F53CE7-0CD9-F5AC-0A17-2F80E0E50603}"/>
              </a:ext>
            </a:extLst>
          </p:cNvPr>
          <p:cNvSpPr>
            <a:spLocks/>
          </p:cNvSpPr>
          <p:nvPr>
            <p:custDataLst>
              <p:tags r:id="rId21"/>
            </p:custDataLst>
          </p:nvPr>
        </p:nvSpPr>
        <p:spPr bwMode="gray">
          <a:xfrm>
            <a:off x="10798176" y="2478089"/>
            <a:ext cx="29210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DFCE4FC1-56F3-4CC7-8BA6-FBB3CB86279F}" type="datetime'''''''''''5''''''''1''''''''''''''''''''''''''%'''''''''''''">
              <a:rPr lang="en-US" sz="1100">
                <a:solidFill>
                  <a:srgbClr val="000000"/>
                </a:solidFill>
              </a:rPr>
              <a:pPr marL="0" indent="0" algn="ctr" defTabSz="914422">
                <a:spcBef>
                  <a:spcPct val="0"/>
                </a:spcBef>
                <a:spcAft>
                  <a:spcPct val="0"/>
                </a:spcAft>
                <a:buClr>
                  <a:srgbClr val="000000"/>
                </a:buClr>
                <a:buNone/>
                <a:defRPr/>
              </a:pPr>
              <a:t>51%</a:t>
            </a:fld>
            <a:endParaRPr lang="en-US" sz="1100">
              <a:solidFill>
                <a:srgbClr val="000000"/>
              </a:solidFill>
            </a:endParaRPr>
          </a:p>
        </p:txBody>
      </p:sp>
      <p:sp>
        <p:nvSpPr>
          <p:cNvPr id="568" name="Text Placeholder 2">
            <a:extLst>
              <a:ext uri="{FF2B5EF4-FFF2-40B4-BE49-F238E27FC236}">
                <a16:creationId xmlns:a16="http://schemas.microsoft.com/office/drawing/2014/main" id="{89FE81A0-0828-7400-BB38-12112DE79C74}"/>
              </a:ext>
            </a:extLst>
          </p:cNvPr>
          <p:cNvSpPr>
            <a:spLocks/>
          </p:cNvSpPr>
          <p:nvPr>
            <p:custDataLst>
              <p:tags r:id="rId22"/>
            </p:custDataLst>
          </p:nvPr>
        </p:nvSpPr>
        <p:spPr bwMode="gray">
          <a:xfrm>
            <a:off x="11093451" y="2466976"/>
            <a:ext cx="3111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DD57C433-0250-473B-AD34-0E5B29A7D584}" type="datetime'''''''''5''''''''''''''''''''2''''''''%'''''''''''''''''''''''">
              <a:rPr lang="en-US" sz="1100">
                <a:solidFill>
                  <a:srgbClr val="000000"/>
                </a:solidFill>
              </a:rPr>
              <a:pPr marL="0" indent="0" algn="ctr" defTabSz="914422">
                <a:spcBef>
                  <a:spcPct val="0"/>
                </a:spcBef>
                <a:spcAft>
                  <a:spcPct val="0"/>
                </a:spcAft>
                <a:buClr>
                  <a:srgbClr val="000000"/>
                </a:buClr>
                <a:buNone/>
                <a:defRPr/>
              </a:pPr>
              <a:t>52%</a:t>
            </a:fld>
            <a:endParaRPr lang="en-US" sz="1100">
              <a:solidFill>
                <a:srgbClr val="000000"/>
              </a:solidFill>
            </a:endParaRPr>
          </a:p>
        </p:txBody>
      </p:sp>
      <p:sp>
        <p:nvSpPr>
          <p:cNvPr id="500" name="Rectangle 499">
            <a:extLst>
              <a:ext uri="{FF2B5EF4-FFF2-40B4-BE49-F238E27FC236}">
                <a16:creationId xmlns:a16="http://schemas.microsoft.com/office/drawing/2014/main" id="{74EA0DA2-8622-B85B-ED56-6BACB9683208}"/>
              </a:ext>
            </a:extLst>
          </p:cNvPr>
          <p:cNvSpPr/>
          <p:nvPr>
            <p:custDataLst>
              <p:tags r:id="rId23"/>
            </p:custDataLst>
          </p:nvPr>
        </p:nvSpPr>
        <p:spPr bwMode="auto">
          <a:xfrm>
            <a:off x="6981825" y="1839913"/>
            <a:ext cx="196850" cy="147637"/>
          </a:xfrm>
          <a:prstGeom prst="rect">
            <a:avLst/>
          </a:prstGeom>
          <a:solidFill>
            <a:srgbClr val="E1111A"/>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501" name="Rectangle 500">
            <a:extLst>
              <a:ext uri="{FF2B5EF4-FFF2-40B4-BE49-F238E27FC236}">
                <a16:creationId xmlns:a16="http://schemas.microsoft.com/office/drawing/2014/main" id="{639CC531-9550-296F-D6C4-0151C92A7809}"/>
              </a:ext>
            </a:extLst>
          </p:cNvPr>
          <p:cNvSpPr/>
          <p:nvPr>
            <p:custDataLst>
              <p:tags r:id="rId24"/>
            </p:custDataLst>
          </p:nvPr>
        </p:nvSpPr>
        <p:spPr bwMode="auto">
          <a:xfrm>
            <a:off x="7610475" y="1839913"/>
            <a:ext cx="196850" cy="147637"/>
          </a:xfrm>
          <a:prstGeom prst="rect">
            <a:avLst/>
          </a:prstGeom>
          <a:solidFill>
            <a:srgbClr val="D8D6CA"/>
          </a:solidFill>
          <a:ln w="12700" cmpd="sng" algn="ctr">
            <a:solidFill>
              <a:srgbClr val="FFFFFF"/>
            </a:solidFill>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t" anchorCtr="0"/>
          <a:lstStyle/>
          <a:p>
            <a:pPr algn="l"/>
            <a:endParaRPr lang="en-US" sz="1001">
              <a:solidFill>
                <a:schemeClr val="tx1"/>
              </a:solidFill>
            </a:endParaRPr>
          </a:p>
        </p:txBody>
      </p:sp>
      <p:sp>
        <p:nvSpPr>
          <p:cNvPr id="502" name="Text Placeholder 2">
            <a:extLst>
              <a:ext uri="{FF2B5EF4-FFF2-40B4-BE49-F238E27FC236}">
                <a16:creationId xmlns:a16="http://schemas.microsoft.com/office/drawing/2014/main" id="{1A447D4B-BC7E-0CF1-F7A5-686C0D23BDC9}"/>
              </a:ext>
            </a:extLst>
          </p:cNvPr>
          <p:cNvSpPr>
            <a:spLocks/>
          </p:cNvSpPr>
          <p:nvPr>
            <p:custDataLst>
              <p:tags r:id="rId25"/>
            </p:custDataLst>
          </p:nvPr>
        </p:nvSpPr>
        <p:spPr bwMode="auto">
          <a:xfrm>
            <a:off x="7229475" y="1835150"/>
            <a:ext cx="279401"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91DEAB88-1416-43A8-A65C-087834B663CD}" type="datetime'''''''''''''SB''''''''''''''''''M'''''''''''''''">
              <a:rPr lang="en-US" sz="1100">
                <a:solidFill>
                  <a:srgbClr val="000000"/>
                </a:solidFill>
              </a:rPr>
              <a:pPr marL="0" indent="0">
                <a:spcBef>
                  <a:spcPct val="0"/>
                </a:spcBef>
                <a:spcAft>
                  <a:spcPct val="0"/>
                </a:spcAft>
                <a:buClr>
                  <a:srgbClr val="000000"/>
                </a:buClr>
                <a:buNone/>
                <a:defRPr/>
              </a:pPr>
              <a:t>SBM</a:t>
            </a:fld>
            <a:endParaRPr lang="en-US" sz="1100">
              <a:solidFill>
                <a:srgbClr val="000000"/>
              </a:solidFill>
            </a:endParaRPr>
          </a:p>
        </p:txBody>
      </p:sp>
      <p:sp>
        <p:nvSpPr>
          <p:cNvPr id="503" name="Text Placeholder 2">
            <a:extLst>
              <a:ext uri="{FF2B5EF4-FFF2-40B4-BE49-F238E27FC236}">
                <a16:creationId xmlns:a16="http://schemas.microsoft.com/office/drawing/2014/main" id="{74609909-6648-434E-9608-A80A53F77937}"/>
              </a:ext>
            </a:extLst>
          </p:cNvPr>
          <p:cNvSpPr>
            <a:spLocks/>
          </p:cNvSpPr>
          <p:nvPr>
            <p:custDataLst>
              <p:tags r:id="rId26"/>
            </p:custDataLst>
          </p:nvPr>
        </p:nvSpPr>
        <p:spPr bwMode="auto">
          <a:xfrm>
            <a:off x="7858125" y="1835150"/>
            <a:ext cx="430213"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spcBef>
                <a:spcPct val="0"/>
              </a:spcBef>
              <a:spcAft>
                <a:spcPct val="0"/>
              </a:spcAft>
              <a:buClr>
                <a:srgbClr val="000000"/>
              </a:buClr>
              <a:buNone/>
              <a:defRPr/>
            </a:pPr>
            <a:fld id="{D2C49006-60F0-4AC5-A392-AB71E5632F51}" type="datetime'''L''e''a''d''''''''''''''''''''''''''''''''''''''''''''''er'">
              <a:rPr lang="en-US" sz="1100">
                <a:solidFill>
                  <a:srgbClr val="000000"/>
                </a:solidFill>
              </a:rPr>
              <a:pPr marL="0" indent="0">
                <a:spcBef>
                  <a:spcPct val="0"/>
                </a:spcBef>
                <a:spcAft>
                  <a:spcPct val="0"/>
                </a:spcAft>
                <a:buClr>
                  <a:srgbClr val="000000"/>
                </a:buClr>
                <a:buNone/>
                <a:defRPr/>
              </a:pPr>
              <a:t>Leader</a:t>
            </a:fld>
            <a:endParaRPr lang="en-US" sz="1100">
              <a:solidFill>
                <a:srgbClr val="000000"/>
              </a:solidFill>
            </a:endParaRPr>
          </a:p>
        </p:txBody>
      </p:sp>
      <p:sp>
        <p:nvSpPr>
          <p:cNvPr id="570" name="Text Placeholder 12">
            <a:extLst>
              <a:ext uri="{FF2B5EF4-FFF2-40B4-BE49-F238E27FC236}">
                <a16:creationId xmlns:a16="http://schemas.microsoft.com/office/drawing/2014/main" id="{D96B5C8D-4C1C-D6A1-8D7F-220621989936}"/>
              </a:ext>
            </a:extLst>
          </p:cNvPr>
          <p:cNvSpPr txBox="1">
            <a:spLocks/>
          </p:cNvSpPr>
          <p:nvPr/>
        </p:nvSpPr>
        <p:spPr>
          <a:xfrm>
            <a:off x="6179541" y="1672753"/>
            <a:ext cx="5392345" cy="180000"/>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US" b="1"/>
              <a:t>CHANNEL SATISFACTION</a:t>
            </a:r>
            <a:r>
              <a:rPr lang="en-US" b="1" baseline="30000"/>
              <a:t>2</a:t>
            </a:r>
          </a:p>
        </p:txBody>
      </p:sp>
      <p:sp>
        <p:nvSpPr>
          <p:cNvPr id="355" name="Rectangle 354">
            <a:extLst>
              <a:ext uri="{FF2B5EF4-FFF2-40B4-BE49-F238E27FC236}">
                <a16:creationId xmlns:a16="http://schemas.microsoft.com/office/drawing/2014/main" id="{1A1A305E-9BAB-F4B0-726A-3E1EC37F0CF3}"/>
              </a:ext>
            </a:extLst>
          </p:cNvPr>
          <p:cNvSpPr/>
          <p:nvPr/>
        </p:nvSpPr>
        <p:spPr>
          <a:xfrm>
            <a:off x="6112909" y="1855065"/>
            <a:ext cx="942108" cy="1912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100">
                <a:solidFill>
                  <a:schemeClr val="tx1"/>
                </a:solidFill>
              </a:rPr>
              <a:t>Rolling 12M</a:t>
            </a:r>
          </a:p>
        </p:txBody>
      </p:sp>
      <p:grpSp>
        <p:nvGrpSpPr>
          <p:cNvPr id="39" name="Group 38">
            <a:extLst>
              <a:ext uri="{FF2B5EF4-FFF2-40B4-BE49-F238E27FC236}">
                <a16:creationId xmlns:a16="http://schemas.microsoft.com/office/drawing/2014/main" id="{118A9C0A-2978-A8CF-E7A9-4D4E99899F60}"/>
              </a:ext>
            </a:extLst>
          </p:cNvPr>
          <p:cNvGrpSpPr/>
          <p:nvPr/>
        </p:nvGrpSpPr>
        <p:grpSpPr>
          <a:xfrm>
            <a:off x="515292" y="2091059"/>
            <a:ext cx="5116217" cy="3952782"/>
            <a:chOff x="515292" y="2091059"/>
            <a:chExt cx="5116216" cy="3952782"/>
          </a:xfrm>
        </p:grpSpPr>
        <p:grpSp>
          <p:nvGrpSpPr>
            <p:cNvPr id="473" name="Group 472">
              <a:extLst>
                <a:ext uri="{FF2B5EF4-FFF2-40B4-BE49-F238E27FC236}">
                  <a16:creationId xmlns:a16="http://schemas.microsoft.com/office/drawing/2014/main" id="{C5F3483C-0D81-8C01-2FAE-94F39BE499A0}"/>
                </a:ext>
              </a:extLst>
            </p:cNvPr>
            <p:cNvGrpSpPr/>
            <p:nvPr/>
          </p:nvGrpSpPr>
          <p:grpSpPr>
            <a:xfrm>
              <a:off x="515292" y="5532773"/>
              <a:ext cx="5115570" cy="401348"/>
              <a:chOff x="515292" y="5532773"/>
              <a:chExt cx="5115570" cy="401348"/>
            </a:xfrm>
          </p:grpSpPr>
          <p:sp>
            <p:nvSpPr>
              <p:cNvPr id="17" name="Rectangle 16">
                <a:extLst>
                  <a:ext uri="{FF2B5EF4-FFF2-40B4-BE49-F238E27FC236}">
                    <a16:creationId xmlns:a16="http://schemas.microsoft.com/office/drawing/2014/main" id="{8690345A-1C05-87AD-2CF0-9A2C73622B08}"/>
                  </a:ext>
                </a:extLst>
              </p:cNvPr>
              <p:cNvSpPr/>
              <p:nvPr/>
            </p:nvSpPr>
            <p:spPr>
              <a:xfrm>
                <a:off x="515292" y="5532773"/>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Martech &amp; Metrics</a:t>
                </a:r>
              </a:p>
            </p:txBody>
          </p:sp>
          <p:sp>
            <p:nvSpPr>
              <p:cNvPr id="464" name="Oval 463">
                <a:extLst>
                  <a:ext uri="{FF2B5EF4-FFF2-40B4-BE49-F238E27FC236}">
                    <a16:creationId xmlns:a16="http://schemas.microsoft.com/office/drawing/2014/main" id="{FEE9FACA-575F-37D2-02ED-131350D3C368}"/>
                  </a:ext>
                </a:extLst>
              </p:cNvPr>
              <p:cNvSpPr/>
              <p:nvPr/>
            </p:nvSpPr>
            <p:spPr>
              <a:xfrm>
                <a:off x="614633" y="5590186"/>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sp>
            <p:nvSpPr>
              <p:cNvPr id="450" name="Gráfico 33" descr="User network con relleno sólido">
                <a:extLst>
                  <a:ext uri="{FF2B5EF4-FFF2-40B4-BE49-F238E27FC236}">
                    <a16:creationId xmlns:a16="http://schemas.microsoft.com/office/drawing/2014/main" id="{C2494CC1-044E-888C-C772-D7998DD68318}"/>
                  </a:ext>
                </a:extLst>
              </p:cNvPr>
              <p:cNvSpPr/>
              <p:nvPr/>
            </p:nvSpPr>
            <p:spPr>
              <a:xfrm>
                <a:off x="658000" y="5645922"/>
                <a:ext cx="183492" cy="175050"/>
              </a:xfrm>
              <a:custGeom>
                <a:avLst/>
                <a:gdLst>
                  <a:gd name="csX0" fmla="*/ 200277 w 201841"/>
                  <a:gd name="csY0" fmla="*/ 61251 h 175050"/>
                  <a:gd name="csX1" fmla="*/ 172147 w 201841"/>
                  <a:gd name="csY1" fmla="*/ 50704 h 175050"/>
                  <a:gd name="csX2" fmla="*/ 159268 w 201841"/>
                  <a:gd name="csY2" fmla="*/ 71646 h 175050"/>
                  <a:gd name="csX3" fmla="*/ 130649 w 201841"/>
                  <a:gd name="csY3" fmla="*/ 82759 h 175050"/>
                  <a:gd name="csX4" fmla="*/ 107013 w 201841"/>
                  <a:gd name="csY4" fmla="*/ 67513 h 175050"/>
                  <a:gd name="csX5" fmla="*/ 107013 w 201841"/>
                  <a:gd name="csY5" fmla="*/ 38976 h 175050"/>
                  <a:gd name="csX6" fmla="*/ 122325 w 201841"/>
                  <a:gd name="csY6" fmla="*/ 14855 h 175050"/>
                  <a:gd name="csX7" fmla="*/ 96355 w 201841"/>
                  <a:gd name="csY7" fmla="*/ 634 h 175050"/>
                  <a:gd name="csX8" fmla="*/ 81043 w 201841"/>
                  <a:gd name="csY8" fmla="*/ 24755 h 175050"/>
                  <a:gd name="csX9" fmla="*/ 96355 w 201841"/>
                  <a:gd name="csY9" fmla="*/ 38976 h 175050"/>
                  <a:gd name="csX10" fmla="*/ 96355 w 201841"/>
                  <a:gd name="csY10" fmla="*/ 67488 h 175050"/>
                  <a:gd name="csX11" fmla="*/ 72852 w 201841"/>
                  <a:gd name="csY11" fmla="*/ 82561 h 175050"/>
                  <a:gd name="csX12" fmla="*/ 44127 w 201841"/>
                  <a:gd name="csY12" fmla="*/ 71399 h 175050"/>
                  <a:gd name="csX13" fmla="*/ 26334 w 201841"/>
                  <a:gd name="csY13" fmla="*/ 47293 h 175050"/>
                  <a:gd name="csX14" fmla="*/ 381 w 201841"/>
                  <a:gd name="csY14" fmla="*/ 63821 h 175050"/>
                  <a:gd name="csX15" fmla="*/ 18175 w 201841"/>
                  <a:gd name="csY15" fmla="*/ 87925 h 175050"/>
                  <a:gd name="csX16" fmla="*/ 39597 w 201841"/>
                  <a:gd name="csY16" fmla="*/ 80556 h 175050"/>
                  <a:gd name="csX17" fmla="*/ 69042 w 201841"/>
                  <a:gd name="csY17" fmla="*/ 91694 h 175050"/>
                  <a:gd name="csX18" fmla="*/ 75011 w 201841"/>
                  <a:gd name="csY18" fmla="*/ 116444 h 175050"/>
                  <a:gd name="csX19" fmla="*/ 52121 w 201841"/>
                  <a:gd name="csY19" fmla="*/ 137976 h 175050"/>
                  <a:gd name="csX20" fmla="*/ 22911 w 201841"/>
                  <a:gd name="csY20" fmla="*/ 144906 h 175050"/>
                  <a:gd name="csX21" fmla="*/ 30372 w 201841"/>
                  <a:gd name="csY21" fmla="*/ 172036 h 175050"/>
                  <a:gd name="csX22" fmla="*/ 59582 w 201841"/>
                  <a:gd name="csY22" fmla="*/ 165106 h 175050"/>
                  <a:gd name="csX23" fmla="*/ 59582 w 201841"/>
                  <a:gd name="csY23" fmla="*/ 144906 h 175050"/>
                  <a:gd name="csX24" fmla="*/ 82711 w 201841"/>
                  <a:gd name="csY24" fmla="*/ 123423 h 175050"/>
                  <a:gd name="csX25" fmla="*/ 120656 w 201841"/>
                  <a:gd name="csY25" fmla="*/ 123423 h 175050"/>
                  <a:gd name="csX26" fmla="*/ 143786 w 201841"/>
                  <a:gd name="csY26" fmla="*/ 144906 h 175050"/>
                  <a:gd name="csX27" fmla="*/ 146983 w 201841"/>
                  <a:gd name="csY27" fmla="*/ 169161 h 175050"/>
                  <a:gd name="csX28" fmla="*/ 177130 w 201841"/>
                  <a:gd name="csY28" fmla="*/ 169341 h 175050"/>
                  <a:gd name="csX29" fmla="*/ 177324 w 201841"/>
                  <a:gd name="csY29" fmla="*/ 141340 h 175050"/>
                  <a:gd name="csX30" fmla="*/ 151274 w 201841"/>
                  <a:gd name="csY30" fmla="*/ 138224 h 175050"/>
                  <a:gd name="csX31" fmla="*/ 128251 w 201841"/>
                  <a:gd name="csY31" fmla="*/ 116617 h 175050"/>
                  <a:gd name="csX32" fmla="*/ 134992 w 201841"/>
                  <a:gd name="csY32" fmla="*/ 98005 h 175050"/>
                  <a:gd name="csX33" fmla="*/ 134353 w 201841"/>
                  <a:gd name="csY33" fmla="*/ 91991 h 175050"/>
                  <a:gd name="csX34" fmla="*/ 163664 w 201841"/>
                  <a:gd name="csY34" fmla="*/ 80804 h 175050"/>
                  <a:gd name="csX35" fmla="*/ 188712 w 201841"/>
                  <a:gd name="csY35" fmla="*/ 87239 h 175050"/>
                  <a:gd name="csX36" fmla="*/ 200277 w 201841"/>
                  <a:gd name="csY36" fmla="*/ 61251 h 175050"/>
                  <a:gd name="csX37" fmla="*/ 101844 w 201841"/>
                  <a:gd name="csY37" fmla="*/ 79319 h 175050"/>
                  <a:gd name="csX38" fmla="*/ 111170 w 201841"/>
                  <a:gd name="csY38" fmla="*/ 87981 h 175050"/>
                  <a:gd name="csX39" fmla="*/ 101844 w 201841"/>
                  <a:gd name="csY39" fmla="*/ 96644 h 175050"/>
                  <a:gd name="csX40" fmla="*/ 92517 w 201841"/>
                  <a:gd name="csY40" fmla="*/ 87981 h 175050"/>
                  <a:gd name="csX41" fmla="*/ 101844 w 201841"/>
                  <a:gd name="csY41" fmla="*/ 79319 h 175050"/>
                  <a:gd name="csX42" fmla="*/ 120497 w 201841"/>
                  <a:gd name="csY42" fmla="*/ 113969 h 175050"/>
                  <a:gd name="csX43" fmla="*/ 83191 w 201841"/>
                  <a:gd name="csY43" fmla="*/ 113969 h 175050"/>
                  <a:gd name="csX44" fmla="*/ 83191 w 201841"/>
                  <a:gd name="csY44" fmla="*/ 107237 h 175050"/>
                  <a:gd name="csX45" fmla="*/ 85056 w 201841"/>
                  <a:gd name="csY45" fmla="*/ 103772 h 175050"/>
                  <a:gd name="csX46" fmla="*/ 94170 w 201841"/>
                  <a:gd name="csY46" fmla="*/ 99638 h 175050"/>
                  <a:gd name="csX47" fmla="*/ 101870 w 201841"/>
                  <a:gd name="csY47" fmla="*/ 98574 h 175050"/>
                  <a:gd name="csX48" fmla="*/ 109571 w 201841"/>
                  <a:gd name="csY48" fmla="*/ 99638 h 175050"/>
                  <a:gd name="csX49" fmla="*/ 118685 w 201841"/>
                  <a:gd name="csY49" fmla="*/ 103772 h 175050"/>
                  <a:gd name="csX50" fmla="*/ 120550 w 201841"/>
                  <a:gd name="csY50" fmla="*/ 107237 h 175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01841" h="175050">
                    <a:moveTo>
                      <a:pt x="200277" y="61251"/>
                    </a:moveTo>
                    <a:cubicBezTo>
                      <a:pt x="195645" y="51124"/>
                      <a:pt x="183050" y="46401"/>
                      <a:pt x="172147" y="50704"/>
                    </a:cubicBezTo>
                    <a:cubicBezTo>
                      <a:pt x="163276" y="54205"/>
                      <a:pt x="158008" y="62771"/>
                      <a:pt x="159268" y="71646"/>
                    </a:cubicBezTo>
                    <a:lnTo>
                      <a:pt x="130649" y="82759"/>
                    </a:lnTo>
                    <a:cubicBezTo>
                      <a:pt x="125668" y="74610"/>
                      <a:pt x="116974" y="69002"/>
                      <a:pt x="107013" y="67513"/>
                    </a:cubicBezTo>
                    <a:lnTo>
                      <a:pt x="107013" y="38976"/>
                    </a:lnTo>
                    <a:cubicBezTo>
                      <a:pt x="118413" y="36242"/>
                      <a:pt x="125268" y="25443"/>
                      <a:pt x="122325" y="14855"/>
                    </a:cubicBezTo>
                    <a:cubicBezTo>
                      <a:pt x="119381" y="4267"/>
                      <a:pt x="107754" y="-2100"/>
                      <a:pt x="96355" y="634"/>
                    </a:cubicBezTo>
                    <a:cubicBezTo>
                      <a:pt x="84955" y="3367"/>
                      <a:pt x="78100" y="14167"/>
                      <a:pt x="81043" y="24755"/>
                    </a:cubicBezTo>
                    <a:cubicBezTo>
                      <a:pt x="82982" y="31729"/>
                      <a:pt x="88846" y="37175"/>
                      <a:pt x="96355" y="38976"/>
                    </a:cubicBezTo>
                    <a:lnTo>
                      <a:pt x="96355" y="67488"/>
                    </a:lnTo>
                    <a:cubicBezTo>
                      <a:pt x="86478" y="68973"/>
                      <a:pt x="77846" y="74509"/>
                      <a:pt x="72852" y="82561"/>
                    </a:cubicBezTo>
                    <a:lnTo>
                      <a:pt x="44127" y="71399"/>
                    </a:lnTo>
                    <a:cubicBezTo>
                      <a:pt x="46380" y="60178"/>
                      <a:pt x="38414" y="49386"/>
                      <a:pt x="26334" y="47293"/>
                    </a:cubicBezTo>
                    <a:cubicBezTo>
                      <a:pt x="14253" y="45201"/>
                      <a:pt x="2634" y="52600"/>
                      <a:pt x="381" y="63821"/>
                    </a:cubicBezTo>
                    <a:cubicBezTo>
                      <a:pt x="-1872" y="75041"/>
                      <a:pt x="6094" y="85833"/>
                      <a:pt x="18175" y="87925"/>
                    </a:cubicBezTo>
                    <a:cubicBezTo>
                      <a:pt x="26232" y="89321"/>
                      <a:pt x="34462" y="86490"/>
                      <a:pt x="39597" y="80556"/>
                    </a:cubicBezTo>
                    <a:lnTo>
                      <a:pt x="69042" y="91694"/>
                    </a:lnTo>
                    <a:cubicBezTo>
                      <a:pt x="67111" y="100357"/>
                      <a:pt x="69285" y="109373"/>
                      <a:pt x="75011" y="116444"/>
                    </a:cubicBezTo>
                    <a:lnTo>
                      <a:pt x="52121" y="137976"/>
                    </a:lnTo>
                    <a:cubicBezTo>
                      <a:pt x="41995" y="132398"/>
                      <a:pt x="28917" y="135501"/>
                      <a:pt x="22911" y="144906"/>
                    </a:cubicBezTo>
                    <a:cubicBezTo>
                      <a:pt x="16906" y="154312"/>
                      <a:pt x="20246" y="166458"/>
                      <a:pt x="30372" y="172036"/>
                    </a:cubicBezTo>
                    <a:cubicBezTo>
                      <a:pt x="40499" y="177615"/>
                      <a:pt x="53576" y="174512"/>
                      <a:pt x="59582" y="165106"/>
                    </a:cubicBezTo>
                    <a:cubicBezTo>
                      <a:pt x="63558" y="158879"/>
                      <a:pt x="63558" y="151133"/>
                      <a:pt x="59582" y="144906"/>
                    </a:cubicBezTo>
                    <a:lnTo>
                      <a:pt x="82711" y="123423"/>
                    </a:lnTo>
                    <a:cubicBezTo>
                      <a:pt x="94119" y="130783"/>
                      <a:pt x="109249" y="130783"/>
                      <a:pt x="120656" y="123423"/>
                    </a:cubicBezTo>
                    <a:lnTo>
                      <a:pt x="143786" y="144906"/>
                    </a:lnTo>
                    <a:cubicBezTo>
                      <a:pt x="138895" y="152746"/>
                      <a:pt x="140201" y="162649"/>
                      <a:pt x="146983" y="169161"/>
                    </a:cubicBezTo>
                    <a:cubicBezTo>
                      <a:pt x="155255" y="176943"/>
                      <a:pt x="168752" y="177023"/>
                      <a:pt x="177130" y="169341"/>
                    </a:cubicBezTo>
                    <a:cubicBezTo>
                      <a:pt x="185509" y="161658"/>
                      <a:pt x="185595" y="149122"/>
                      <a:pt x="177324" y="141340"/>
                    </a:cubicBezTo>
                    <a:cubicBezTo>
                      <a:pt x="170442" y="134866"/>
                      <a:pt x="159697" y="133580"/>
                      <a:pt x="151274" y="138224"/>
                    </a:cubicBezTo>
                    <a:lnTo>
                      <a:pt x="128251" y="116617"/>
                    </a:lnTo>
                    <a:cubicBezTo>
                      <a:pt x="132627" y="111263"/>
                      <a:pt x="134995" y="104726"/>
                      <a:pt x="134992" y="98005"/>
                    </a:cubicBezTo>
                    <a:cubicBezTo>
                      <a:pt x="134996" y="95985"/>
                      <a:pt x="134782" y="93970"/>
                      <a:pt x="134353" y="91991"/>
                    </a:cubicBezTo>
                    <a:lnTo>
                      <a:pt x="163664" y="80804"/>
                    </a:lnTo>
                    <a:cubicBezTo>
                      <a:pt x="169478" y="87974"/>
                      <a:pt x="179758" y="90615"/>
                      <a:pt x="188712" y="87239"/>
                    </a:cubicBezTo>
                    <a:cubicBezTo>
                      <a:pt x="199526" y="82930"/>
                      <a:pt x="204660" y="71393"/>
                      <a:pt x="200277" y="61251"/>
                    </a:cubicBezTo>
                    <a:close/>
                    <a:moveTo>
                      <a:pt x="101844" y="79319"/>
                    </a:moveTo>
                    <a:cubicBezTo>
                      <a:pt x="106995" y="79319"/>
                      <a:pt x="111170" y="83197"/>
                      <a:pt x="111170" y="87981"/>
                    </a:cubicBezTo>
                    <a:cubicBezTo>
                      <a:pt x="111170" y="92765"/>
                      <a:pt x="106995" y="96644"/>
                      <a:pt x="101844" y="96644"/>
                    </a:cubicBezTo>
                    <a:cubicBezTo>
                      <a:pt x="96693" y="96644"/>
                      <a:pt x="92517" y="92765"/>
                      <a:pt x="92517" y="87981"/>
                    </a:cubicBezTo>
                    <a:cubicBezTo>
                      <a:pt x="92517" y="83197"/>
                      <a:pt x="96693" y="79319"/>
                      <a:pt x="101844" y="79319"/>
                    </a:cubicBezTo>
                    <a:close/>
                    <a:moveTo>
                      <a:pt x="120497" y="113969"/>
                    </a:moveTo>
                    <a:lnTo>
                      <a:pt x="83191" y="113969"/>
                    </a:lnTo>
                    <a:lnTo>
                      <a:pt x="83191" y="107237"/>
                    </a:lnTo>
                    <a:cubicBezTo>
                      <a:pt x="83226" y="105881"/>
                      <a:pt x="83910" y="104611"/>
                      <a:pt x="85056" y="103772"/>
                    </a:cubicBezTo>
                    <a:cubicBezTo>
                      <a:pt x="87822" y="101927"/>
                      <a:pt x="90903" y="100529"/>
                      <a:pt x="94170" y="99638"/>
                    </a:cubicBezTo>
                    <a:cubicBezTo>
                      <a:pt x="96675" y="98970"/>
                      <a:pt x="99264" y="98612"/>
                      <a:pt x="101870" y="98574"/>
                    </a:cubicBezTo>
                    <a:cubicBezTo>
                      <a:pt x="104479" y="98581"/>
                      <a:pt x="107073" y="98940"/>
                      <a:pt x="109571" y="99638"/>
                    </a:cubicBezTo>
                    <a:cubicBezTo>
                      <a:pt x="112876" y="100435"/>
                      <a:pt x="115975" y="101841"/>
                      <a:pt x="118685" y="103772"/>
                    </a:cubicBezTo>
                    <a:cubicBezTo>
                      <a:pt x="119831" y="104611"/>
                      <a:pt x="120514" y="105881"/>
                      <a:pt x="120550" y="107237"/>
                    </a:cubicBezTo>
                    <a:close/>
                  </a:path>
                </a:pathLst>
              </a:custGeom>
              <a:solidFill>
                <a:schemeClr val="tx1"/>
              </a:solidFill>
              <a:ln w="2580" cap="flat">
                <a:noFill/>
                <a:prstDash val="solid"/>
                <a:miter/>
              </a:ln>
            </p:spPr>
            <p:txBody>
              <a:bodyPr/>
              <a:lstStyle/>
              <a:p>
                <a:endParaRPr lang="en-US" sz="1801"/>
              </a:p>
            </p:txBody>
          </p:sp>
        </p:grpSp>
        <p:grpSp>
          <p:nvGrpSpPr>
            <p:cNvPr id="32" name="Group 31">
              <a:extLst>
                <a:ext uri="{FF2B5EF4-FFF2-40B4-BE49-F238E27FC236}">
                  <a16:creationId xmlns:a16="http://schemas.microsoft.com/office/drawing/2014/main" id="{657C5C74-FF41-9CE0-F7B4-4F255E45083B}"/>
                </a:ext>
              </a:extLst>
            </p:cNvPr>
            <p:cNvGrpSpPr/>
            <p:nvPr/>
          </p:nvGrpSpPr>
          <p:grpSpPr>
            <a:xfrm>
              <a:off x="515292" y="5032140"/>
              <a:ext cx="5115570" cy="401348"/>
              <a:chOff x="515292" y="5032140"/>
              <a:chExt cx="5115570" cy="401348"/>
            </a:xfrm>
          </p:grpSpPr>
          <p:sp>
            <p:nvSpPr>
              <p:cNvPr id="15" name="Rectangle 14">
                <a:extLst>
                  <a:ext uri="{FF2B5EF4-FFF2-40B4-BE49-F238E27FC236}">
                    <a16:creationId xmlns:a16="http://schemas.microsoft.com/office/drawing/2014/main" id="{FBC4D53F-0DE1-1465-EB39-BC963F8B6C1A}"/>
                  </a:ext>
                </a:extLst>
              </p:cNvPr>
              <p:cNvSpPr/>
              <p:nvPr/>
            </p:nvSpPr>
            <p:spPr>
              <a:xfrm>
                <a:off x="515292" y="5032140"/>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E-Commerce</a:t>
                </a:r>
              </a:p>
            </p:txBody>
          </p:sp>
          <p:sp>
            <p:nvSpPr>
              <p:cNvPr id="457" name="Oval 456">
                <a:extLst>
                  <a:ext uri="{FF2B5EF4-FFF2-40B4-BE49-F238E27FC236}">
                    <a16:creationId xmlns:a16="http://schemas.microsoft.com/office/drawing/2014/main" id="{8FBCA797-FA16-78E7-3105-D3FDFE98D378}"/>
                  </a:ext>
                </a:extLst>
              </p:cNvPr>
              <p:cNvSpPr/>
              <p:nvPr/>
            </p:nvSpPr>
            <p:spPr>
              <a:xfrm>
                <a:off x="614633" y="5089547"/>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pic>
            <p:nvPicPr>
              <p:cNvPr id="29" name="Gráfico 29" descr="Ecommerce con relleno sólido">
                <a:extLst>
                  <a:ext uri="{FF2B5EF4-FFF2-40B4-BE49-F238E27FC236}">
                    <a16:creationId xmlns:a16="http://schemas.microsoft.com/office/drawing/2014/main" id="{A8C3CED3-CA0D-E4D6-5AE7-242BDB86F2B7}"/>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653650" y="5136407"/>
                <a:ext cx="192194" cy="196364"/>
              </a:xfrm>
              <a:prstGeom prst="rect">
                <a:avLst/>
              </a:prstGeom>
            </p:spPr>
          </p:pic>
        </p:grpSp>
        <p:grpSp>
          <p:nvGrpSpPr>
            <p:cNvPr id="33" name="Group 32">
              <a:extLst>
                <a:ext uri="{FF2B5EF4-FFF2-40B4-BE49-F238E27FC236}">
                  <a16:creationId xmlns:a16="http://schemas.microsoft.com/office/drawing/2014/main" id="{09DB72EF-5AE1-77DD-0C32-AD5B0F3E7399}"/>
                </a:ext>
              </a:extLst>
            </p:cNvPr>
            <p:cNvGrpSpPr/>
            <p:nvPr/>
          </p:nvGrpSpPr>
          <p:grpSpPr>
            <a:xfrm>
              <a:off x="515938" y="4527840"/>
              <a:ext cx="5115570" cy="401348"/>
              <a:chOff x="515938" y="4527840"/>
              <a:chExt cx="5115570" cy="401348"/>
            </a:xfrm>
          </p:grpSpPr>
          <p:sp>
            <p:nvSpPr>
              <p:cNvPr id="14" name="Rectangle 13">
                <a:extLst>
                  <a:ext uri="{FF2B5EF4-FFF2-40B4-BE49-F238E27FC236}">
                    <a16:creationId xmlns:a16="http://schemas.microsoft.com/office/drawing/2014/main" id="{38AAF263-2EB1-1262-6532-62D19D3C791E}"/>
                  </a:ext>
                </a:extLst>
              </p:cNvPr>
              <p:cNvSpPr/>
              <p:nvPr/>
            </p:nvSpPr>
            <p:spPr>
              <a:xfrm>
                <a:off x="515938" y="4527840"/>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Security</a:t>
                </a:r>
              </a:p>
            </p:txBody>
          </p:sp>
          <p:sp>
            <p:nvSpPr>
              <p:cNvPr id="462" name="Oval 461">
                <a:extLst>
                  <a:ext uri="{FF2B5EF4-FFF2-40B4-BE49-F238E27FC236}">
                    <a16:creationId xmlns:a16="http://schemas.microsoft.com/office/drawing/2014/main" id="{67823063-0EDC-2262-007A-D444FF21CF81}"/>
                  </a:ext>
                </a:extLst>
              </p:cNvPr>
              <p:cNvSpPr/>
              <p:nvPr/>
            </p:nvSpPr>
            <p:spPr>
              <a:xfrm>
                <a:off x="614633" y="4588917"/>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pic>
            <p:nvPicPr>
              <p:cNvPr id="27" name="Gráfico 27" descr="Shield Tick con relleno sólido">
                <a:extLst>
                  <a:ext uri="{FF2B5EF4-FFF2-40B4-BE49-F238E27FC236}">
                    <a16:creationId xmlns:a16="http://schemas.microsoft.com/office/drawing/2014/main" id="{4E726314-EB9B-E2AE-03D4-9D1492C1FC2A}"/>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646043" y="4624315"/>
                <a:ext cx="211413" cy="215999"/>
              </a:xfrm>
              <a:prstGeom prst="rect">
                <a:avLst/>
              </a:prstGeom>
            </p:spPr>
          </p:pic>
        </p:grpSp>
        <p:grpSp>
          <p:nvGrpSpPr>
            <p:cNvPr id="34" name="Group 33">
              <a:extLst>
                <a:ext uri="{FF2B5EF4-FFF2-40B4-BE49-F238E27FC236}">
                  <a16:creationId xmlns:a16="http://schemas.microsoft.com/office/drawing/2014/main" id="{81A84937-5CEB-2841-5C5F-EB789D302777}"/>
                </a:ext>
              </a:extLst>
            </p:cNvPr>
            <p:cNvGrpSpPr/>
            <p:nvPr/>
          </p:nvGrpSpPr>
          <p:grpSpPr>
            <a:xfrm>
              <a:off x="515292" y="4030878"/>
              <a:ext cx="5115570" cy="401348"/>
              <a:chOff x="515292" y="4030878"/>
              <a:chExt cx="5115570" cy="401348"/>
            </a:xfrm>
          </p:grpSpPr>
          <p:sp>
            <p:nvSpPr>
              <p:cNvPr id="13" name="Rectangle 12">
                <a:extLst>
                  <a:ext uri="{FF2B5EF4-FFF2-40B4-BE49-F238E27FC236}">
                    <a16:creationId xmlns:a16="http://schemas.microsoft.com/office/drawing/2014/main" id="{C46D9F5E-959A-FE53-FC9C-F0268EB2A738}"/>
                  </a:ext>
                </a:extLst>
              </p:cNvPr>
              <p:cNvSpPr/>
              <p:nvPr/>
            </p:nvSpPr>
            <p:spPr>
              <a:xfrm>
                <a:off x="515292" y="4030878"/>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Servicing Products</a:t>
                </a:r>
              </a:p>
            </p:txBody>
          </p:sp>
          <p:sp>
            <p:nvSpPr>
              <p:cNvPr id="461" name="Oval 460">
                <a:extLst>
                  <a:ext uri="{FF2B5EF4-FFF2-40B4-BE49-F238E27FC236}">
                    <a16:creationId xmlns:a16="http://schemas.microsoft.com/office/drawing/2014/main" id="{B15A4109-970C-8C49-603A-8BB2E85AD39D}"/>
                  </a:ext>
                </a:extLst>
              </p:cNvPr>
              <p:cNvSpPr/>
              <p:nvPr/>
            </p:nvSpPr>
            <p:spPr>
              <a:xfrm>
                <a:off x="614633" y="4088287"/>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pic>
            <p:nvPicPr>
              <p:cNvPr id="26" name="Gráfico 25" descr="Inventory con relleno sólido">
                <a:extLst>
                  <a:ext uri="{FF2B5EF4-FFF2-40B4-BE49-F238E27FC236}">
                    <a16:creationId xmlns:a16="http://schemas.microsoft.com/office/drawing/2014/main" id="{8AB9E544-55CD-3992-9CAF-6FB727D1C1C5}"/>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653649" y="4123816"/>
                <a:ext cx="192194" cy="196363"/>
              </a:xfrm>
              <a:prstGeom prst="rect">
                <a:avLst/>
              </a:prstGeom>
            </p:spPr>
          </p:pic>
        </p:grpSp>
        <p:grpSp>
          <p:nvGrpSpPr>
            <p:cNvPr id="35" name="Group 34">
              <a:extLst>
                <a:ext uri="{FF2B5EF4-FFF2-40B4-BE49-F238E27FC236}">
                  <a16:creationId xmlns:a16="http://schemas.microsoft.com/office/drawing/2014/main" id="{25DE09DD-F455-6A83-F608-B4AACD15026D}"/>
                </a:ext>
              </a:extLst>
            </p:cNvPr>
            <p:cNvGrpSpPr/>
            <p:nvPr/>
          </p:nvGrpSpPr>
          <p:grpSpPr>
            <a:xfrm>
              <a:off x="515292" y="3530247"/>
              <a:ext cx="5115570" cy="401348"/>
              <a:chOff x="515292" y="3530247"/>
              <a:chExt cx="5115570" cy="401348"/>
            </a:xfrm>
          </p:grpSpPr>
          <p:sp>
            <p:nvSpPr>
              <p:cNvPr id="12" name="Rectangle 11">
                <a:extLst>
                  <a:ext uri="{FF2B5EF4-FFF2-40B4-BE49-F238E27FC236}">
                    <a16:creationId xmlns:a16="http://schemas.microsoft.com/office/drawing/2014/main" id="{85A54585-CDF8-6AC9-E09C-F67A718FCA6C}"/>
                  </a:ext>
                </a:extLst>
              </p:cNvPr>
              <p:cNvSpPr/>
              <p:nvPr/>
            </p:nvSpPr>
            <p:spPr>
              <a:xfrm>
                <a:off x="515292" y="3530247"/>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Servicing Clients</a:t>
                </a:r>
              </a:p>
            </p:txBody>
          </p:sp>
          <p:sp>
            <p:nvSpPr>
              <p:cNvPr id="460" name="Oval 459">
                <a:extLst>
                  <a:ext uri="{FF2B5EF4-FFF2-40B4-BE49-F238E27FC236}">
                    <a16:creationId xmlns:a16="http://schemas.microsoft.com/office/drawing/2014/main" id="{48CD7951-958C-A3CD-72AD-ED330AA998EF}"/>
                  </a:ext>
                </a:extLst>
              </p:cNvPr>
              <p:cNvSpPr/>
              <p:nvPr/>
            </p:nvSpPr>
            <p:spPr>
              <a:xfrm>
                <a:off x="614633" y="3587657"/>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sp>
            <p:nvSpPr>
              <p:cNvPr id="467" name="Oval 466">
                <a:extLst>
                  <a:ext uri="{FF2B5EF4-FFF2-40B4-BE49-F238E27FC236}">
                    <a16:creationId xmlns:a16="http://schemas.microsoft.com/office/drawing/2014/main" id="{213F5FA3-B0F6-5E87-3503-0A17523B6BF8}"/>
                  </a:ext>
                </a:extLst>
              </p:cNvPr>
              <p:cNvSpPr/>
              <p:nvPr/>
            </p:nvSpPr>
            <p:spPr>
              <a:xfrm>
                <a:off x="722232" y="3649103"/>
                <a:ext cx="64065" cy="65454"/>
              </a:xfrm>
              <a:prstGeom prst="ellipse">
                <a:avLst/>
              </a:prstGeom>
              <a:solidFill>
                <a:schemeClr val="tx1"/>
              </a:solidFill>
              <a:ln w="2183" cap="flat">
                <a:noFill/>
                <a:prstDash val="solid"/>
                <a:miter/>
              </a:ln>
            </p:spPr>
            <p:txBody>
              <a:bodyPr/>
              <a:lstStyle/>
              <a:p>
                <a:endParaRPr lang="en-US" sz="1801"/>
              </a:p>
            </p:txBody>
          </p:sp>
          <p:sp>
            <p:nvSpPr>
              <p:cNvPr id="468" name="Freeform: Shape 467">
                <a:extLst>
                  <a:ext uri="{FF2B5EF4-FFF2-40B4-BE49-F238E27FC236}">
                    <a16:creationId xmlns:a16="http://schemas.microsoft.com/office/drawing/2014/main" id="{9077EAE9-9E6C-6A55-7B3C-F134B20D1211}"/>
                  </a:ext>
                </a:extLst>
              </p:cNvPr>
              <p:cNvSpPr/>
              <p:nvPr/>
            </p:nvSpPr>
            <p:spPr>
              <a:xfrm>
                <a:off x="690199" y="3722738"/>
                <a:ext cx="128129" cy="65454"/>
              </a:xfrm>
              <a:custGeom>
                <a:avLst/>
                <a:gdLst>
                  <a:gd name="csX0" fmla="*/ 140942 w 140942"/>
                  <a:gd name="csY0" fmla="*/ 65455 h 65454"/>
                  <a:gd name="csX1" fmla="*/ 140942 w 140942"/>
                  <a:gd name="csY1" fmla="*/ 32727 h 65454"/>
                  <a:gd name="csX2" fmla="*/ 133895 w 140942"/>
                  <a:gd name="csY2" fmla="*/ 19636 h 65454"/>
                  <a:gd name="csX3" fmla="*/ 99540 w 140942"/>
                  <a:gd name="csY3" fmla="*/ 4091 h 65454"/>
                  <a:gd name="csX4" fmla="*/ 70471 w 140942"/>
                  <a:gd name="csY4" fmla="*/ 0 h 65454"/>
                  <a:gd name="csX5" fmla="*/ 41402 w 140942"/>
                  <a:gd name="csY5" fmla="*/ 4091 h 65454"/>
                  <a:gd name="csX6" fmla="*/ 7047 w 140942"/>
                  <a:gd name="csY6" fmla="*/ 19636 h 65454"/>
                  <a:gd name="csX7" fmla="*/ 0 w 140942"/>
                  <a:gd name="csY7" fmla="*/ 32727 h 65454"/>
                  <a:gd name="csX8" fmla="*/ 0 w 140942"/>
                  <a:gd name="csY8" fmla="*/ 65455 h 65454"/>
                  <a:gd name="csX9" fmla="*/ 140942 w 140942"/>
                  <a:gd name="csY9" fmla="*/ 65455 h 654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0942" h="65454">
                    <a:moveTo>
                      <a:pt x="140942" y="65455"/>
                    </a:moveTo>
                    <a:lnTo>
                      <a:pt x="140942" y="32727"/>
                    </a:lnTo>
                    <a:cubicBezTo>
                      <a:pt x="140942" y="27818"/>
                      <a:pt x="138299" y="22909"/>
                      <a:pt x="133895" y="19636"/>
                    </a:cubicBezTo>
                    <a:cubicBezTo>
                      <a:pt x="124205" y="12273"/>
                      <a:pt x="111873" y="7364"/>
                      <a:pt x="99540" y="4091"/>
                    </a:cubicBezTo>
                    <a:cubicBezTo>
                      <a:pt x="90731" y="1636"/>
                      <a:pt x="81042" y="0"/>
                      <a:pt x="70471" y="0"/>
                    </a:cubicBezTo>
                    <a:cubicBezTo>
                      <a:pt x="60781" y="0"/>
                      <a:pt x="51091" y="1636"/>
                      <a:pt x="41402" y="4091"/>
                    </a:cubicBezTo>
                    <a:cubicBezTo>
                      <a:pt x="29069" y="7364"/>
                      <a:pt x="16737" y="13091"/>
                      <a:pt x="7047" y="19636"/>
                    </a:cubicBezTo>
                    <a:cubicBezTo>
                      <a:pt x="2643" y="22909"/>
                      <a:pt x="0" y="27818"/>
                      <a:pt x="0" y="32727"/>
                    </a:cubicBezTo>
                    <a:lnTo>
                      <a:pt x="0" y="65455"/>
                    </a:lnTo>
                    <a:lnTo>
                      <a:pt x="140942" y="65455"/>
                    </a:lnTo>
                    <a:close/>
                  </a:path>
                </a:pathLst>
              </a:custGeom>
              <a:solidFill>
                <a:schemeClr val="tx1"/>
              </a:solidFill>
              <a:ln w="2183" cap="flat">
                <a:noFill/>
                <a:prstDash val="solid"/>
                <a:miter/>
              </a:ln>
            </p:spPr>
            <p:txBody>
              <a:bodyPr/>
              <a:lstStyle/>
              <a:p>
                <a:endParaRPr lang="en-US" sz="1801"/>
              </a:p>
            </p:txBody>
          </p:sp>
        </p:grpSp>
        <p:grpSp>
          <p:nvGrpSpPr>
            <p:cNvPr id="36" name="Group 35">
              <a:extLst>
                <a:ext uri="{FF2B5EF4-FFF2-40B4-BE49-F238E27FC236}">
                  <a16:creationId xmlns:a16="http://schemas.microsoft.com/office/drawing/2014/main" id="{1ECC64BA-9030-CDB5-9020-3510A596DFCB}"/>
                </a:ext>
              </a:extLst>
            </p:cNvPr>
            <p:cNvGrpSpPr/>
            <p:nvPr/>
          </p:nvGrpSpPr>
          <p:grpSpPr>
            <a:xfrm>
              <a:off x="515292" y="3029616"/>
              <a:ext cx="5115570" cy="401348"/>
              <a:chOff x="515292" y="3029616"/>
              <a:chExt cx="5115570" cy="401348"/>
            </a:xfrm>
          </p:grpSpPr>
          <p:sp>
            <p:nvSpPr>
              <p:cNvPr id="11" name="Rectangle 10">
                <a:extLst>
                  <a:ext uri="{FF2B5EF4-FFF2-40B4-BE49-F238E27FC236}">
                    <a16:creationId xmlns:a16="http://schemas.microsoft.com/office/drawing/2014/main" id="{B872AF31-3672-CFDF-1022-A6D958B6BA3A}"/>
                  </a:ext>
                </a:extLst>
              </p:cNvPr>
              <p:cNvSpPr/>
              <p:nvPr/>
            </p:nvSpPr>
            <p:spPr>
              <a:xfrm>
                <a:off x="515292" y="3029616"/>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Payments</a:t>
                </a:r>
              </a:p>
            </p:txBody>
          </p:sp>
          <p:sp>
            <p:nvSpPr>
              <p:cNvPr id="459" name="Oval 458">
                <a:extLst>
                  <a:ext uri="{FF2B5EF4-FFF2-40B4-BE49-F238E27FC236}">
                    <a16:creationId xmlns:a16="http://schemas.microsoft.com/office/drawing/2014/main" id="{DA51C6C0-86CE-F06D-15F7-498AFB974A5A}"/>
                  </a:ext>
                </a:extLst>
              </p:cNvPr>
              <p:cNvSpPr/>
              <p:nvPr/>
            </p:nvSpPr>
            <p:spPr>
              <a:xfrm>
                <a:off x="614633" y="3087026"/>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pic>
            <p:nvPicPr>
              <p:cNvPr id="23" name="Gráfico 21" descr="Register con relleno sólido">
                <a:extLst>
                  <a:ext uri="{FF2B5EF4-FFF2-40B4-BE49-F238E27FC236}">
                    <a16:creationId xmlns:a16="http://schemas.microsoft.com/office/drawing/2014/main" id="{64917FC6-F431-4235-06AB-72AECAE9D34C}"/>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656225" y="3124663"/>
                <a:ext cx="192194" cy="196364"/>
              </a:xfrm>
              <a:prstGeom prst="rect">
                <a:avLst/>
              </a:prstGeom>
            </p:spPr>
          </p:pic>
        </p:grpSp>
        <p:grpSp>
          <p:nvGrpSpPr>
            <p:cNvPr id="38" name="Group 37">
              <a:extLst>
                <a:ext uri="{FF2B5EF4-FFF2-40B4-BE49-F238E27FC236}">
                  <a16:creationId xmlns:a16="http://schemas.microsoft.com/office/drawing/2014/main" id="{4E785B7D-7A0C-3EA5-8673-3B47A7595F11}"/>
                </a:ext>
              </a:extLst>
            </p:cNvPr>
            <p:cNvGrpSpPr/>
            <p:nvPr/>
          </p:nvGrpSpPr>
          <p:grpSpPr>
            <a:xfrm>
              <a:off x="515292" y="2528985"/>
              <a:ext cx="5115570" cy="401348"/>
              <a:chOff x="515292" y="2528985"/>
              <a:chExt cx="5115570" cy="401348"/>
            </a:xfrm>
          </p:grpSpPr>
          <p:sp>
            <p:nvSpPr>
              <p:cNvPr id="2" name="Rectangle 1">
                <a:extLst>
                  <a:ext uri="{FF2B5EF4-FFF2-40B4-BE49-F238E27FC236}">
                    <a16:creationId xmlns:a16="http://schemas.microsoft.com/office/drawing/2014/main" id="{198B5954-BED4-01EF-2089-B8D3E6B8C9BB}"/>
                  </a:ext>
                </a:extLst>
              </p:cNvPr>
              <p:cNvSpPr/>
              <p:nvPr/>
            </p:nvSpPr>
            <p:spPr>
              <a:xfrm>
                <a:off x="515292" y="2528985"/>
                <a:ext cx="5115570" cy="401348"/>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tIns="91440" rIns="91440" bIns="91440" rtlCol="0" anchor="ctr" anchorCtr="0"/>
              <a:lstStyle/>
              <a:p>
                <a:pPr algn="l"/>
                <a:r>
                  <a:rPr lang="en-US" sz="1100">
                    <a:solidFill>
                      <a:schemeClr val="tx1"/>
                    </a:solidFill>
                  </a:rPr>
                  <a:t>Everyday Banking</a:t>
                </a:r>
              </a:p>
            </p:txBody>
          </p:sp>
          <p:sp>
            <p:nvSpPr>
              <p:cNvPr id="458" name="Oval 457">
                <a:extLst>
                  <a:ext uri="{FF2B5EF4-FFF2-40B4-BE49-F238E27FC236}">
                    <a16:creationId xmlns:a16="http://schemas.microsoft.com/office/drawing/2014/main" id="{6C346408-F734-E403-CEBF-CC48A5BD4638}"/>
                  </a:ext>
                </a:extLst>
              </p:cNvPr>
              <p:cNvSpPr/>
              <p:nvPr/>
            </p:nvSpPr>
            <p:spPr>
              <a:xfrm>
                <a:off x="614633" y="2586398"/>
                <a:ext cx="274406" cy="286522"/>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endParaRPr lang="en-US" sz="1001">
                  <a:solidFill>
                    <a:schemeClr val="tx1"/>
                  </a:solidFill>
                </a:endParaRPr>
              </a:p>
            </p:txBody>
          </p:sp>
          <p:pic>
            <p:nvPicPr>
              <p:cNvPr id="22" name="Gráfico 19" descr="Court con relleno sólido">
                <a:extLst>
                  <a:ext uri="{FF2B5EF4-FFF2-40B4-BE49-F238E27FC236}">
                    <a16:creationId xmlns:a16="http://schemas.microsoft.com/office/drawing/2014/main" id="{A6A945CD-D405-711D-D0DA-D068667849DF}"/>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655739" y="2622100"/>
                <a:ext cx="192194" cy="196363"/>
              </a:xfrm>
              <a:prstGeom prst="rect">
                <a:avLst/>
              </a:prstGeom>
            </p:spPr>
          </p:pic>
        </p:grpSp>
        <p:grpSp>
          <p:nvGrpSpPr>
            <p:cNvPr id="472" name="Group 471">
              <a:extLst>
                <a:ext uri="{FF2B5EF4-FFF2-40B4-BE49-F238E27FC236}">
                  <a16:creationId xmlns:a16="http://schemas.microsoft.com/office/drawing/2014/main" id="{DE8FB34A-3237-8092-052F-1FC2DF196BCD}"/>
                </a:ext>
              </a:extLst>
            </p:cNvPr>
            <p:cNvGrpSpPr/>
            <p:nvPr/>
          </p:nvGrpSpPr>
          <p:grpSpPr>
            <a:xfrm>
              <a:off x="2359121" y="2094204"/>
              <a:ext cx="994490" cy="3942869"/>
              <a:chOff x="2359121" y="2094204"/>
              <a:chExt cx="994490" cy="3942869"/>
            </a:xfrm>
          </p:grpSpPr>
          <p:sp>
            <p:nvSpPr>
              <p:cNvPr id="470" name="Rectangle 469">
                <a:extLst>
                  <a:ext uri="{FF2B5EF4-FFF2-40B4-BE49-F238E27FC236}">
                    <a16:creationId xmlns:a16="http://schemas.microsoft.com/office/drawing/2014/main" id="{F6FD5314-8672-0E31-10C0-47B030983EA5}"/>
                  </a:ext>
                </a:extLst>
              </p:cNvPr>
              <p:cNvSpPr/>
              <p:nvPr/>
            </p:nvSpPr>
            <p:spPr>
              <a:xfrm>
                <a:off x="2359121" y="2094204"/>
                <a:ext cx="994490" cy="3942869"/>
              </a:xfrm>
              <a:prstGeom prst="rect">
                <a:avLst/>
              </a:prstGeom>
              <a:solidFill>
                <a:srgbClr val="FFFFFF">
                  <a:alpha val="69804"/>
                </a:srgbClr>
              </a:solid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91440" tIns="46800" rIns="91440" bIns="91440" rtlCol="0" anchor="t" anchorCtr="0"/>
              <a:lstStyle/>
              <a:p>
                <a:pPr algn="ctr"/>
                <a:r>
                  <a:rPr lang="en-US" sz="1100" b="1">
                    <a:solidFill>
                      <a:srgbClr val="EC111A"/>
                    </a:solidFill>
                  </a:rPr>
                  <a:t>SBM </a:t>
                </a:r>
              </a:p>
              <a:p>
                <a:pPr algn="ctr"/>
                <a:r>
                  <a:rPr lang="en-US" sz="1100" i="1">
                    <a:solidFill>
                      <a:schemeClr val="tx1"/>
                    </a:solidFill>
                  </a:rPr>
                  <a:t># features</a:t>
                </a:r>
              </a:p>
            </p:txBody>
          </p:sp>
          <p:sp>
            <p:nvSpPr>
              <p:cNvPr id="476" name="Rectangle 475">
                <a:extLst>
                  <a:ext uri="{FF2B5EF4-FFF2-40B4-BE49-F238E27FC236}">
                    <a16:creationId xmlns:a16="http://schemas.microsoft.com/office/drawing/2014/main" id="{B97F3A69-74F6-EED4-AF73-5568EDDFEDBC}"/>
                  </a:ext>
                </a:extLst>
              </p:cNvPr>
              <p:cNvSpPr/>
              <p:nvPr/>
            </p:nvSpPr>
            <p:spPr>
              <a:xfrm>
                <a:off x="2414604" y="2570212"/>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5</a:t>
                </a:r>
              </a:p>
            </p:txBody>
          </p:sp>
          <p:sp>
            <p:nvSpPr>
              <p:cNvPr id="477" name="Rectangle 476">
                <a:extLst>
                  <a:ext uri="{FF2B5EF4-FFF2-40B4-BE49-F238E27FC236}">
                    <a16:creationId xmlns:a16="http://schemas.microsoft.com/office/drawing/2014/main" id="{9073F3B6-F9AC-70A7-DB40-3393CB2CFDE3}"/>
                  </a:ext>
                </a:extLst>
              </p:cNvPr>
              <p:cNvSpPr/>
              <p:nvPr/>
            </p:nvSpPr>
            <p:spPr>
              <a:xfrm>
                <a:off x="2414604" y="3070843"/>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5</a:t>
                </a:r>
              </a:p>
            </p:txBody>
          </p:sp>
          <p:sp>
            <p:nvSpPr>
              <p:cNvPr id="478" name="Rectangle 477">
                <a:extLst>
                  <a:ext uri="{FF2B5EF4-FFF2-40B4-BE49-F238E27FC236}">
                    <a16:creationId xmlns:a16="http://schemas.microsoft.com/office/drawing/2014/main" id="{65AD5894-78BB-5FE3-C2E9-068AA20E576E}"/>
                  </a:ext>
                </a:extLst>
              </p:cNvPr>
              <p:cNvSpPr/>
              <p:nvPr/>
            </p:nvSpPr>
            <p:spPr>
              <a:xfrm>
                <a:off x="2414604" y="3571474"/>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3.5</a:t>
                </a:r>
              </a:p>
            </p:txBody>
          </p:sp>
          <p:sp>
            <p:nvSpPr>
              <p:cNvPr id="479" name="Rectangle 478">
                <a:extLst>
                  <a:ext uri="{FF2B5EF4-FFF2-40B4-BE49-F238E27FC236}">
                    <a16:creationId xmlns:a16="http://schemas.microsoft.com/office/drawing/2014/main" id="{61F689F2-176B-98B9-9ACC-1AC58E1047D6}"/>
                  </a:ext>
                </a:extLst>
              </p:cNvPr>
              <p:cNvSpPr/>
              <p:nvPr/>
            </p:nvSpPr>
            <p:spPr>
              <a:xfrm>
                <a:off x="2414604" y="4072105"/>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a:t>
                </a:r>
              </a:p>
            </p:txBody>
          </p:sp>
          <p:sp>
            <p:nvSpPr>
              <p:cNvPr id="481" name="Rectangle 480">
                <a:extLst>
                  <a:ext uri="{FF2B5EF4-FFF2-40B4-BE49-F238E27FC236}">
                    <a16:creationId xmlns:a16="http://schemas.microsoft.com/office/drawing/2014/main" id="{967D14E2-AFDF-6623-1840-67221B7EBFD5}"/>
                  </a:ext>
                </a:extLst>
              </p:cNvPr>
              <p:cNvSpPr/>
              <p:nvPr/>
            </p:nvSpPr>
            <p:spPr>
              <a:xfrm>
                <a:off x="2414604" y="4572736"/>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4</a:t>
                </a:r>
              </a:p>
            </p:txBody>
          </p:sp>
          <p:sp>
            <p:nvSpPr>
              <p:cNvPr id="482" name="Rectangle 481">
                <a:extLst>
                  <a:ext uri="{FF2B5EF4-FFF2-40B4-BE49-F238E27FC236}">
                    <a16:creationId xmlns:a16="http://schemas.microsoft.com/office/drawing/2014/main" id="{A4117623-7D24-9E62-16F1-AF6C504E8044}"/>
                  </a:ext>
                </a:extLst>
              </p:cNvPr>
              <p:cNvSpPr/>
              <p:nvPr/>
            </p:nvSpPr>
            <p:spPr>
              <a:xfrm>
                <a:off x="2414604" y="5073367"/>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a:t>
                </a:r>
              </a:p>
            </p:txBody>
          </p:sp>
          <p:sp>
            <p:nvSpPr>
              <p:cNvPr id="485" name="Rectangle 484">
                <a:extLst>
                  <a:ext uri="{FF2B5EF4-FFF2-40B4-BE49-F238E27FC236}">
                    <a16:creationId xmlns:a16="http://schemas.microsoft.com/office/drawing/2014/main" id="{01D15401-5E9A-86E8-CD15-E535D7514FD9}"/>
                  </a:ext>
                </a:extLst>
              </p:cNvPr>
              <p:cNvSpPr/>
              <p:nvPr/>
            </p:nvSpPr>
            <p:spPr>
              <a:xfrm>
                <a:off x="2414604" y="5574000"/>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0</a:t>
                </a:r>
              </a:p>
            </p:txBody>
          </p:sp>
        </p:grpSp>
        <p:grpSp>
          <p:nvGrpSpPr>
            <p:cNvPr id="471" name="Group 470">
              <a:extLst>
                <a:ext uri="{FF2B5EF4-FFF2-40B4-BE49-F238E27FC236}">
                  <a16:creationId xmlns:a16="http://schemas.microsoft.com/office/drawing/2014/main" id="{886EC8AE-4021-FE50-0A3D-4C505106D84E}"/>
                </a:ext>
              </a:extLst>
            </p:cNvPr>
            <p:cNvGrpSpPr/>
            <p:nvPr/>
          </p:nvGrpSpPr>
          <p:grpSpPr>
            <a:xfrm>
              <a:off x="3448849" y="2091059"/>
              <a:ext cx="994490" cy="3946015"/>
              <a:chOff x="3448849" y="2091059"/>
              <a:chExt cx="994490" cy="3946015"/>
            </a:xfrm>
          </p:grpSpPr>
          <p:sp>
            <p:nvSpPr>
              <p:cNvPr id="474" name="Rectangle 473">
                <a:extLst>
                  <a:ext uri="{FF2B5EF4-FFF2-40B4-BE49-F238E27FC236}">
                    <a16:creationId xmlns:a16="http://schemas.microsoft.com/office/drawing/2014/main" id="{99F9D2A5-45F6-5A9A-3410-7D8115A878B8}"/>
                  </a:ext>
                </a:extLst>
              </p:cNvPr>
              <p:cNvSpPr/>
              <p:nvPr/>
            </p:nvSpPr>
            <p:spPr>
              <a:xfrm>
                <a:off x="3448849" y="2091059"/>
                <a:ext cx="994490" cy="3946015"/>
              </a:xfrm>
              <a:prstGeom prst="rect">
                <a:avLst/>
              </a:prstGeom>
              <a:solidFill>
                <a:srgbClr val="FFFFFF">
                  <a:alpha val="69804"/>
                </a:srgbClr>
              </a:solid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91440" tIns="46800" rIns="91440" bIns="91440" rtlCol="0" anchor="t" anchorCtr="0"/>
              <a:lstStyle/>
              <a:p>
                <a:pPr algn="ctr"/>
                <a:r>
                  <a:rPr lang="en-US" sz="1100" b="1">
                    <a:solidFill>
                      <a:schemeClr val="tx1"/>
                    </a:solidFill>
                  </a:rPr>
                  <a:t>Best in Class</a:t>
                </a:r>
              </a:p>
              <a:p>
                <a:pPr algn="ctr"/>
                <a:r>
                  <a:rPr lang="en-US" sz="1100" i="1">
                    <a:solidFill>
                      <a:schemeClr val="tx1"/>
                    </a:solidFill>
                  </a:rPr>
                  <a:t># features</a:t>
                </a:r>
              </a:p>
            </p:txBody>
          </p:sp>
          <p:sp>
            <p:nvSpPr>
              <p:cNvPr id="20" name="Rectangle 19">
                <a:extLst>
                  <a:ext uri="{FF2B5EF4-FFF2-40B4-BE49-F238E27FC236}">
                    <a16:creationId xmlns:a16="http://schemas.microsoft.com/office/drawing/2014/main" id="{9C1AF6B5-78C4-4EED-8315-22B1EE1F2AD9}"/>
                  </a:ext>
                </a:extLst>
              </p:cNvPr>
              <p:cNvSpPr/>
              <p:nvPr/>
            </p:nvSpPr>
            <p:spPr>
              <a:xfrm>
                <a:off x="3497412" y="2570212"/>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11</a:t>
                </a:r>
              </a:p>
            </p:txBody>
          </p:sp>
          <p:sp>
            <p:nvSpPr>
              <p:cNvPr id="21" name="Rectangle 20">
                <a:extLst>
                  <a:ext uri="{FF2B5EF4-FFF2-40B4-BE49-F238E27FC236}">
                    <a16:creationId xmlns:a16="http://schemas.microsoft.com/office/drawing/2014/main" id="{8CC0AAFC-B887-1E84-4F3E-821EB5D4BB9A}"/>
                  </a:ext>
                </a:extLst>
              </p:cNvPr>
              <p:cNvSpPr/>
              <p:nvPr/>
            </p:nvSpPr>
            <p:spPr>
              <a:xfrm>
                <a:off x="3497412" y="3070843"/>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14</a:t>
                </a:r>
              </a:p>
            </p:txBody>
          </p:sp>
          <p:sp>
            <p:nvSpPr>
              <p:cNvPr id="24" name="Rectangle 23">
                <a:extLst>
                  <a:ext uri="{FF2B5EF4-FFF2-40B4-BE49-F238E27FC236}">
                    <a16:creationId xmlns:a16="http://schemas.microsoft.com/office/drawing/2014/main" id="{80DAC4C2-25B3-83E8-25AD-3543D4BA7BC2}"/>
                  </a:ext>
                </a:extLst>
              </p:cNvPr>
              <p:cNvSpPr/>
              <p:nvPr/>
            </p:nvSpPr>
            <p:spPr>
              <a:xfrm>
                <a:off x="3497412" y="3571474"/>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12</a:t>
                </a:r>
              </a:p>
            </p:txBody>
          </p:sp>
          <p:sp>
            <p:nvSpPr>
              <p:cNvPr id="25" name="Rectangle 24">
                <a:extLst>
                  <a:ext uri="{FF2B5EF4-FFF2-40B4-BE49-F238E27FC236}">
                    <a16:creationId xmlns:a16="http://schemas.microsoft.com/office/drawing/2014/main" id="{42AA1F2E-70C9-912E-051B-137602F2CB29}"/>
                  </a:ext>
                </a:extLst>
              </p:cNvPr>
              <p:cNvSpPr/>
              <p:nvPr/>
            </p:nvSpPr>
            <p:spPr>
              <a:xfrm>
                <a:off x="3497412" y="4072105"/>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12</a:t>
                </a:r>
              </a:p>
            </p:txBody>
          </p:sp>
          <p:sp>
            <p:nvSpPr>
              <p:cNvPr id="28" name="Rectangle 27">
                <a:extLst>
                  <a:ext uri="{FF2B5EF4-FFF2-40B4-BE49-F238E27FC236}">
                    <a16:creationId xmlns:a16="http://schemas.microsoft.com/office/drawing/2014/main" id="{5ECF25C3-77C4-9808-3477-05CBE808D71D}"/>
                  </a:ext>
                </a:extLst>
              </p:cNvPr>
              <p:cNvSpPr/>
              <p:nvPr/>
            </p:nvSpPr>
            <p:spPr>
              <a:xfrm>
                <a:off x="3497412" y="4572736"/>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11</a:t>
                </a:r>
              </a:p>
            </p:txBody>
          </p:sp>
          <p:sp>
            <p:nvSpPr>
              <p:cNvPr id="31" name="Rectangle 30">
                <a:extLst>
                  <a:ext uri="{FF2B5EF4-FFF2-40B4-BE49-F238E27FC236}">
                    <a16:creationId xmlns:a16="http://schemas.microsoft.com/office/drawing/2014/main" id="{80823A91-B0F7-2DA6-FB8C-A93C52366894}"/>
                  </a:ext>
                </a:extLst>
              </p:cNvPr>
              <p:cNvSpPr/>
              <p:nvPr/>
            </p:nvSpPr>
            <p:spPr>
              <a:xfrm>
                <a:off x="3497412" y="5073367"/>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10</a:t>
                </a:r>
              </a:p>
            </p:txBody>
          </p:sp>
          <p:sp>
            <p:nvSpPr>
              <p:cNvPr id="449" name="Rectangle 448">
                <a:extLst>
                  <a:ext uri="{FF2B5EF4-FFF2-40B4-BE49-F238E27FC236}">
                    <a16:creationId xmlns:a16="http://schemas.microsoft.com/office/drawing/2014/main" id="{A83B2CE1-7374-4B91-9280-8CF06FCA2674}"/>
                  </a:ext>
                </a:extLst>
              </p:cNvPr>
              <p:cNvSpPr/>
              <p:nvPr/>
            </p:nvSpPr>
            <p:spPr>
              <a:xfrm>
                <a:off x="3497412" y="5574000"/>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7</a:t>
                </a:r>
              </a:p>
            </p:txBody>
          </p:sp>
        </p:grpSp>
        <p:grpSp>
          <p:nvGrpSpPr>
            <p:cNvPr id="451" name="Group 450">
              <a:extLst>
                <a:ext uri="{FF2B5EF4-FFF2-40B4-BE49-F238E27FC236}">
                  <a16:creationId xmlns:a16="http://schemas.microsoft.com/office/drawing/2014/main" id="{6C52DC3D-266D-B743-953E-9C7389DE786B}"/>
                </a:ext>
              </a:extLst>
            </p:cNvPr>
            <p:cNvGrpSpPr/>
            <p:nvPr/>
          </p:nvGrpSpPr>
          <p:grpSpPr>
            <a:xfrm>
              <a:off x="4538577" y="2097825"/>
              <a:ext cx="994490" cy="3946016"/>
              <a:chOff x="4538577" y="2097825"/>
              <a:chExt cx="994490" cy="3946016"/>
            </a:xfrm>
          </p:grpSpPr>
          <p:sp>
            <p:nvSpPr>
              <p:cNvPr id="475" name="Rectangle 474">
                <a:extLst>
                  <a:ext uri="{FF2B5EF4-FFF2-40B4-BE49-F238E27FC236}">
                    <a16:creationId xmlns:a16="http://schemas.microsoft.com/office/drawing/2014/main" id="{252A039F-9DAF-8279-E068-E8B829EBAEED}"/>
                  </a:ext>
                </a:extLst>
              </p:cNvPr>
              <p:cNvSpPr/>
              <p:nvPr/>
            </p:nvSpPr>
            <p:spPr>
              <a:xfrm>
                <a:off x="4538577" y="2097825"/>
                <a:ext cx="994490" cy="3946016"/>
              </a:xfrm>
              <a:prstGeom prst="rect">
                <a:avLst/>
              </a:prstGeom>
              <a:solidFill>
                <a:srgbClr val="FFFFFF">
                  <a:alpha val="69804"/>
                </a:srgbClr>
              </a:solid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91440" tIns="46800" rIns="91440" bIns="91440" rtlCol="0" anchor="t" anchorCtr="0"/>
              <a:lstStyle/>
              <a:p>
                <a:pPr algn="ctr"/>
                <a:r>
                  <a:rPr lang="en-US" sz="1100" b="1">
                    <a:solidFill>
                      <a:schemeClr val="tx1"/>
                    </a:solidFill>
                  </a:rPr>
                  <a:t>Score</a:t>
                </a:r>
                <a:r>
                  <a:rPr lang="en-US" sz="1100" baseline="30000">
                    <a:solidFill>
                      <a:schemeClr val="tx1"/>
                    </a:solidFill>
                  </a:rPr>
                  <a:t>1</a:t>
                </a:r>
              </a:p>
              <a:p>
                <a:pPr algn="ctr"/>
                <a:r>
                  <a:rPr lang="en-US" sz="1100" i="1">
                    <a:solidFill>
                      <a:schemeClr val="tx1"/>
                    </a:solidFill>
                  </a:rPr>
                  <a:t>Out of 100</a:t>
                </a:r>
              </a:p>
            </p:txBody>
          </p:sp>
          <p:sp>
            <p:nvSpPr>
              <p:cNvPr id="452" name="Rectangle 451">
                <a:extLst>
                  <a:ext uri="{FF2B5EF4-FFF2-40B4-BE49-F238E27FC236}">
                    <a16:creationId xmlns:a16="http://schemas.microsoft.com/office/drawing/2014/main" id="{A7C05CE7-9BF5-ED41-61D6-9307B442E294}"/>
                  </a:ext>
                </a:extLst>
              </p:cNvPr>
              <p:cNvSpPr/>
              <p:nvPr/>
            </p:nvSpPr>
            <p:spPr>
              <a:xfrm>
                <a:off x="4594060" y="2570212"/>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36.6</a:t>
                </a:r>
              </a:p>
            </p:txBody>
          </p:sp>
          <p:sp>
            <p:nvSpPr>
              <p:cNvPr id="453" name="Rectangle 452">
                <a:extLst>
                  <a:ext uri="{FF2B5EF4-FFF2-40B4-BE49-F238E27FC236}">
                    <a16:creationId xmlns:a16="http://schemas.microsoft.com/office/drawing/2014/main" id="{95987243-7B72-4B5B-B20E-C0AA14414FCE}"/>
                  </a:ext>
                </a:extLst>
              </p:cNvPr>
              <p:cNvSpPr/>
              <p:nvPr/>
            </p:nvSpPr>
            <p:spPr>
              <a:xfrm>
                <a:off x="4594060" y="3070843"/>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35.7</a:t>
                </a:r>
              </a:p>
            </p:txBody>
          </p:sp>
          <p:sp>
            <p:nvSpPr>
              <p:cNvPr id="454" name="Rectangle 453">
                <a:extLst>
                  <a:ext uri="{FF2B5EF4-FFF2-40B4-BE49-F238E27FC236}">
                    <a16:creationId xmlns:a16="http://schemas.microsoft.com/office/drawing/2014/main" id="{CF7BA2A7-A06E-A8D0-9226-39D43511C817}"/>
                  </a:ext>
                </a:extLst>
              </p:cNvPr>
              <p:cNvSpPr/>
              <p:nvPr/>
            </p:nvSpPr>
            <p:spPr>
              <a:xfrm>
                <a:off x="4594060" y="3571474"/>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29.1</a:t>
                </a:r>
              </a:p>
            </p:txBody>
          </p:sp>
          <p:sp>
            <p:nvSpPr>
              <p:cNvPr id="455" name="Rectangle 454">
                <a:extLst>
                  <a:ext uri="{FF2B5EF4-FFF2-40B4-BE49-F238E27FC236}">
                    <a16:creationId xmlns:a16="http://schemas.microsoft.com/office/drawing/2014/main" id="{8E489423-50D4-2856-2304-3378D4802B81}"/>
                  </a:ext>
                </a:extLst>
              </p:cNvPr>
              <p:cNvSpPr/>
              <p:nvPr/>
            </p:nvSpPr>
            <p:spPr>
              <a:xfrm>
                <a:off x="4594060" y="4072105"/>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23.1</a:t>
                </a:r>
              </a:p>
            </p:txBody>
          </p:sp>
          <p:sp>
            <p:nvSpPr>
              <p:cNvPr id="456" name="Rectangle 455">
                <a:extLst>
                  <a:ext uri="{FF2B5EF4-FFF2-40B4-BE49-F238E27FC236}">
                    <a16:creationId xmlns:a16="http://schemas.microsoft.com/office/drawing/2014/main" id="{35F02ECA-379B-46C2-836E-5E33800843CB}"/>
                  </a:ext>
                </a:extLst>
              </p:cNvPr>
              <p:cNvSpPr/>
              <p:nvPr/>
            </p:nvSpPr>
            <p:spPr>
              <a:xfrm>
                <a:off x="4594060" y="4572736"/>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36.6</a:t>
                </a:r>
              </a:p>
            </p:txBody>
          </p:sp>
          <p:sp>
            <p:nvSpPr>
              <p:cNvPr id="465" name="Rectangle 464">
                <a:extLst>
                  <a:ext uri="{FF2B5EF4-FFF2-40B4-BE49-F238E27FC236}">
                    <a16:creationId xmlns:a16="http://schemas.microsoft.com/office/drawing/2014/main" id="{EA68F4A4-F56C-5D50-1282-554A2D0C524D}"/>
                  </a:ext>
                </a:extLst>
              </p:cNvPr>
              <p:cNvSpPr/>
              <p:nvPr/>
            </p:nvSpPr>
            <p:spPr>
              <a:xfrm>
                <a:off x="4594060" y="5073367"/>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30</a:t>
                </a:r>
              </a:p>
            </p:txBody>
          </p:sp>
          <p:sp>
            <p:nvSpPr>
              <p:cNvPr id="469" name="Rectangle 468">
                <a:extLst>
                  <a:ext uri="{FF2B5EF4-FFF2-40B4-BE49-F238E27FC236}">
                    <a16:creationId xmlns:a16="http://schemas.microsoft.com/office/drawing/2014/main" id="{22D2D01A-4A7E-1125-2BE0-530B27C9F4C4}"/>
                  </a:ext>
                </a:extLst>
              </p:cNvPr>
              <p:cNvSpPr/>
              <p:nvPr/>
            </p:nvSpPr>
            <p:spPr>
              <a:xfrm>
                <a:off x="4594060" y="5574000"/>
                <a:ext cx="883522" cy="318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100">
                    <a:solidFill>
                      <a:schemeClr val="tx1"/>
                    </a:solidFill>
                  </a:rPr>
                  <a:t>0</a:t>
                </a:r>
              </a:p>
            </p:txBody>
          </p:sp>
        </p:grpSp>
      </p:grpSp>
      <p:sp>
        <p:nvSpPr>
          <p:cNvPr id="524" name="Speech Bubble: Rectangle 523">
            <a:extLst>
              <a:ext uri="{FF2B5EF4-FFF2-40B4-BE49-F238E27FC236}">
                <a16:creationId xmlns:a16="http://schemas.microsoft.com/office/drawing/2014/main" id="{F77C4A99-DC3B-3CB6-47DB-A2DDD2522DEB}"/>
              </a:ext>
            </a:extLst>
          </p:cNvPr>
          <p:cNvSpPr/>
          <p:nvPr/>
        </p:nvSpPr>
        <p:spPr>
          <a:xfrm>
            <a:off x="8780888" y="1600333"/>
            <a:ext cx="1894533" cy="376151"/>
          </a:xfrm>
          <a:prstGeom prst="wedgeRectCallout">
            <a:avLst>
              <a:gd name="adj1" fmla="val -34544"/>
              <a:gd name="adj2" fmla="val 76946"/>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1" b="1">
                <a:solidFill>
                  <a:schemeClr val="tx1"/>
                </a:solidFill>
              </a:rPr>
              <a:t>App NPS remains our largest gap vs market leader</a:t>
            </a:r>
          </a:p>
        </p:txBody>
      </p:sp>
      <p:sp>
        <p:nvSpPr>
          <p:cNvPr id="19" name="Text Placeholder 12">
            <a:extLst>
              <a:ext uri="{FF2B5EF4-FFF2-40B4-BE49-F238E27FC236}">
                <a16:creationId xmlns:a16="http://schemas.microsoft.com/office/drawing/2014/main" id="{843A98AA-AE75-5239-77E7-551E0E6FA480}"/>
              </a:ext>
            </a:extLst>
          </p:cNvPr>
          <p:cNvSpPr txBox="1">
            <a:spLocks/>
          </p:cNvSpPr>
          <p:nvPr/>
        </p:nvSpPr>
        <p:spPr>
          <a:xfrm>
            <a:off x="6179541" y="3799594"/>
            <a:ext cx="5392345" cy="180000"/>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11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US" b="1"/>
              <a:t>F25 DIGITAL CLIENT ACQUISITION</a:t>
            </a:r>
            <a:endParaRPr lang="en-US" b="1" baseline="30000"/>
          </a:p>
        </p:txBody>
      </p:sp>
      <p:sp>
        <p:nvSpPr>
          <p:cNvPr id="494" name="Rectangle 493">
            <a:extLst>
              <a:ext uri="{FF2B5EF4-FFF2-40B4-BE49-F238E27FC236}">
                <a16:creationId xmlns:a16="http://schemas.microsoft.com/office/drawing/2014/main" id="{407D976A-7908-EAFA-A9C1-23F6D99CF8C7}"/>
              </a:ext>
            </a:extLst>
          </p:cNvPr>
          <p:cNvSpPr/>
          <p:nvPr/>
        </p:nvSpPr>
        <p:spPr>
          <a:xfrm>
            <a:off x="8474347" y="4042574"/>
            <a:ext cx="3050240" cy="20201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46800" rIns="91440" bIns="46800" rtlCol="0" anchor="ctr" anchorCtr="1"/>
          <a:lstStyle/>
          <a:p>
            <a:pPr marL="171453" indent="-171453">
              <a:spcAft>
                <a:spcPts val="601"/>
              </a:spcAft>
              <a:buFont typeface="Wingdings" panose="05000000000000000000" pitchFamily="2" charset="2"/>
              <a:buChar char="§"/>
              <a:defRPr/>
            </a:pPr>
            <a:r>
              <a:rPr lang="en-US" sz="1100" b="1">
                <a:solidFill>
                  <a:srgbClr val="000000"/>
                </a:solidFill>
              </a:rPr>
              <a:t>Overreliance on branches </a:t>
            </a:r>
            <a:r>
              <a:rPr lang="en-US" sz="1100">
                <a:solidFill>
                  <a:srgbClr val="000000"/>
                </a:solidFill>
              </a:rPr>
              <a:t>for standard and simple processes that could be effectively digitized.</a:t>
            </a:r>
          </a:p>
          <a:p>
            <a:pPr marL="171453" indent="-171453">
              <a:spcAft>
                <a:spcPts val="601"/>
              </a:spcAft>
              <a:buFont typeface="Wingdings" panose="05000000000000000000" pitchFamily="2" charset="2"/>
              <a:buChar char="§"/>
              <a:defRPr/>
            </a:pPr>
            <a:r>
              <a:rPr lang="en-US" sz="1100" b="1">
                <a:solidFill>
                  <a:srgbClr val="000000"/>
                </a:solidFill>
              </a:rPr>
              <a:t>Limited digital capabilities </a:t>
            </a:r>
            <a:r>
              <a:rPr lang="en-US" sz="1100">
                <a:solidFill>
                  <a:srgbClr val="000000"/>
                </a:solidFill>
              </a:rPr>
              <a:t>result in a suboptimal client experience, driving low NPS.</a:t>
            </a:r>
          </a:p>
          <a:p>
            <a:pPr marL="171453" indent="-171453">
              <a:spcAft>
                <a:spcPts val="601"/>
              </a:spcAft>
              <a:buFont typeface="Wingdings" panose="05000000000000000000" pitchFamily="2" charset="2"/>
              <a:buChar char="§"/>
              <a:defRPr/>
            </a:pPr>
            <a:r>
              <a:rPr lang="en-US" sz="1100" b="1">
                <a:solidFill>
                  <a:srgbClr val="000000"/>
                </a:solidFill>
              </a:rPr>
              <a:t>Insufficient back‑end automation </a:t>
            </a:r>
            <a:r>
              <a:rPr lang="en-US" sz="1100">
                <a:solidFill>
                  <a:srgbClr val="000000"/>
                </a:solidFill>
              </a:rPr>
              <a:t>constrains productivity and scalability.</a:t>
            </a:r>
            <a:endParaRPr lang="en-US" sz="1100">
              <a:solidFill>
                <a:srgbClr val="000000"/>
              </a:solidFill>
              <a:latin typeface="Scotia"/>
            </a:endParaRPr>
          </a:p>
        </p:txBody>
      </p:sp>
      <p:graphicFrame>
        <p:nvGraphicFramePr>
          <p:cNvPr id="40" name="Chart 39">
            <a:extLst>
              <a:ext uri="{FF2B5EF4-FFF2-40B4-BE49-F238E27FC236}">
                <a16:creationId xmlns:a16="http://schemas.microsoft.com/office/drawing/2014/main" id="{C20D3B52-942D-1F87-4DED-89C1F0FB5925}"/>
              </a:ext>
            </a:extLst>
          </p:cNvPr>
          <p:cNvGraphicFramePr/>
          <p:nvPr>
            <p:custDataLst>
              <p:tags r:id="rId27"/>
            </p:custDataLst>
          </p:nvPr>
        </p:nvGraphicFramePr>
        <p:xfrm>
          <a:off x="6180138" y="4337050"/>
          <a:ext cx="2109787" cy="1355725"/>
        </p:xfrm>
        <a:graphic>
          <a:graphicData uri="http://schemas.openxmlformats.org/drawingml/2006/chart">
            <c:chart xmlns:c="http://schemas.openxmlformats.org/drawingml/2006/chart" xmlns:r="http://schemas.openxmlformats.org/officeDocument/2006/relationships" r:id="rId44"/>
          </a:graphicData>
        </a:graphic>
      </p:graphicFrame>
      <p:sp>
        <p:nvSpPr>
          <p:cNvPr id="37" name="Text Placeholder 2">
            <a:extLst>
              <a:ext uri="{FF2B5EF4-FFF2-40B4-BE49-F238E27FC236}">
                <a16:creationId xmlns:a16="http://schemas.microsoft.com/office/drawing/2014/main" id="{EA59F0DA-0E13-A8A6-43DB-BE9F0BB65D28}"/>
              </a:ext>
            </a:extLst>
          </p:cNvPr>
          <p:cNvSpPr>
            <a:spLocks/>
          </p:cNvSpPr>
          <p:nvPr>
            <p:custDataLst>
              <p:tags r:id="rId28"/>
            </p:custDataLst>
          </p:nvPr>
        </p:nvSpPr>
        <p:spPr bwMode="auto">
          <a:xfrm>
            <a:off x="6345239" y="5656265"/>
            <a:ext cx="320676"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6BDF0E1E-8B90-49FD-BA6F-572C8279E492}" type="datetime'Ch''''''''''i''''''''''''''''''''''''''''''''''''l''''''''e'">
              <a:rPr lang="en-US" sz="1100">
                <a:solidFill>
                  <a:srgbClr val="000000"/>
                </a:solidFill>
              </a:rPr>
              <a:pPr marL="0" indent="0" algn="ctr">
                <a:spcBef>
                  <a:spcPct val="0"/>
                </a:spcBef>
                <a:spcAft>
                  <a:spcPct val="0"/>
                </a:spcAft>
                <a:buClr>
                  <a:srgbClr val="000000"/>
                </a:buClr>
                <a:buNone/>
                <a:defRPr/>
              </a:pPr>
              <a:t>Chile</a:t>
            </a:fld>
            <a:endParaRPr lang="en-US" sz="1100">
              <a:solidFill>
                <a:srgbClr val="000000"/>
              </a:solidFill>
            </a:endParaRPr>
          </a:p>
        </p:txBody>
      </p:sp>
      <p:sp>
        <p:nvSpPr>
          <p:cNvPr id="44" name="Text Placeholder 2">
            <a:extLst>
              <a:ext uri="{FF2B5EF4-FFF2-40B4-BE49-F238E27FC236}">
                <a16:creationId xmlns:a16="http://schemas.microsoft.com/office/drawing/2014/main" id="{5D2283F0-6303-7A12-D036-E882413846D3}"/>
              </a:ext>
            </a:extLst>
          </p:cNvPr>
          <p:cNvSpPr>
            <a:spLocks/>
          </p:cNvSpPr>
          <p:nvPr>
            <p:custDataLst>
              <p:tags r:id="rId29"/>
            </p:custDataLst>
          </p:nvPr>
        </p:nvSpPr>
        <p:spPr bwMode="auto">
          <a:xfrm>
            <a:off x="6819901" y="5656265"/>
            <a:ext cx="344489"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6D0B76F3-CE94-4A82-A080-F6378800FFEC}" type="datetime'''''''''''''''''''C''a''''r''''''''''''''''''''''''''''''ib'''">
              <a:rPr lang="en-US" sz="1100">
                <a:solidFill>
                  <a:srgbClr val="000000"/>
                </a:solidFill>
              </a:rPr>
              <a:pPr marL="0" indent="0" algn="ctr">
                <a:spcBef>
                  <a:spcPct val="0"/>
                </a:spcBef>
                <a:spcAft>
                  <a:spcPct val="0"/>
                </a:spcAft>
                <a:buClr>
                  <a:srgbClr val="000000"/>
                </a:buClr>
                <a:buNone/>
                <a:defRPr/>
              </a:pPr>
              <a:t>Carib</a:t>
            </a:fld>
            <a:endParaRPr lang="en-US" sz="1100">
              <a:solidFill>
                <a:srgbClr val="000000"/>
              </a:solidFill>
            </a:endParaRPr>
          </a:p>
        </p:txBody>
      </p:sp>
      <p:sp>
        <p:nvSpPr>
          <p:cNvPr id="49" name="Text Placeholder 2">
            <a:extLst>
              <a:ext uri="{FF2B5EF4-FFF2-40B4-BE49-F238E27FC236}">
                <a16:creationId xmlns:a16="http://schemas.microsoft.com/office/drawing/2014/main" id="{CB0A51F3-EBB0-CF9C-9ABC-CBD2F8EB0248}"/>
              </a:ext>
            </a:extLst>
          </p:cNvPr>
          <p:cNvSpPr>
            <a:spLocks/>
          </p:cNvSpPr>
          <p:nvPr>
            <p:custDataLst>
              <p:tags r:id="rId30"/>
            </p:custDataLst>
          </p:nvPr>
        </p:nvSpPr>
        <p:spPr bwMode="auto">
          <a:xfrm>
            <a:off x="7254877" y="5656265"/>
            <a:ext cx="447675"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838227F1-BA74-4860-B848-7DA51039C908}" type="datetime'Mex''i''''''''''''''''''''''''''''c''''''''''''''''''''''''o'">
              <a:rPr lang="en-US" sz="1100">
                <a:solidFill>
                  <a:srgbClr val="000000"/>
                </a:solidFill>
              </a:rPr>
              <a:pPr marL="0" indent="0" algn="ctr">
                <a:spcBef>
                  <a:spcPct val="0"/>
                </a:spcBef>
                <a:spcAft>
                  <a:spcPct val="0"/>
                </a:spcAft>
                <a:buClr>
                  <a:srgbClr val="000000"/>
                </a:buClr>
                <a:buNone/>
                <a:defRPr/>
              </a:pPr>
              <a:t>Mexico</a:t>
            </a:fld>
            <a:endParaRPr lang="en-US" sz="1100">
              <a:solidFill>
                <a:srgbClr val="000000"/>
              </a:solidFill>
            </a:endParaRPr>
          </a:p>
        </p:txBody>
      </p:sp>
      <p:sp>
        <p:nvSpPr>
          <p:cNvPr id="54" name="Text Placeholder 2">
            <a:extLst>
              <a:ext uri="{FF2B5EF4-FFF2-40B4-BE49-F238E27FC236}">
                <a16:creationId xmlns:a16="http://schemas.microsoft.com/office/drawing/2014/main" id="{1216D3CF-A6DF-FFB3-6DF9-6E6CFD534E2F}"/>
              </a:ext>
            </a:extLst>
          </p:cNvPr>
          <p:cNvSpPr>
            <a:spLocks/>
          </p:cNvSpPr>
          <p:nvPr>
            <p:custDataLst>
              <p:tags r:id="rId31"/>
            </p:custDataLst>
          </p:nvPr>
        </p:nvSpPr>
        <p:spPr bwMode="auto">
          <a:xfrm>
            <a:off x="7815264" y="5656265"/>
            <a:ext cx="298450"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10DC49C0-62B1-4B5E-9282-7C9C3EC3B7EA}" type="datetime'P''''''''''''''''''''''''''''''''''''e''''''''''''''''''''ru'">
              <a:rPr lang="en-US" sz="1100">
                <a:solidFill>
                  <a:srgbClr val="000000"/>
                </a:solidFill>
              </a:rPr>
              <a:pPr marL="0" indent="0" algn="ctr">
                <a:spcBef>
                  <a:spcPct val="0"/>
                </a:spcBef>
                <a:spcAft>
                  <a:spcPct val="0"/>
                </a:spcAft>
                <a:buClr>
                  <a:srgbClr val="000000"/>
                </a:buClr>
                <a:buNone/>
                <a:defRPr/>
              </a:pPr>
              <a:t>Peru</a:t>
            </a:fld>
            <a:endParaRPr lang="en-US" sz="1100">
              <a:solidFill>
                <a:srgbClr val="000000"/>
              </a:solidFill>
            </a:endParaRPr>
          </a:p>
        </p:txBody>
      </p:sp>
      <p:sp>
        <p:nvSpPr>
          <p:cNvPr id="542" name="Text Placeholder 2">
            <a:extLst>
              <a:ext uri="{FF2B5EF4-FFF2-40B4-BE49-F238E27FC236}">
                <a16:creationId xmlns:a16="http://schemas.microsoft.com/office/drawing/2014/main" id="{BBE4CD69-6446-C32F-F550-11D84874577A}"/>
              </a:ext>
            </a:extLst>
          </p:cNvPr>
          <p:cNvSpPr>
            <a:spLocks/>
          </p:cNvSpPr>
          <p:nvPr>
            <p:custDataLst>
              <p:tags r:id="rId32"/>
            </p:custDataLst>
          </p:nvPr>
        </p:nvSpPr>
        <p:spPr bwMode="gray">
          <a:xfrm>
            <a:off x="6289676" y="4225927"/>
            <a:ext cx="4333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a:spcBef>
                <a:spcPct val="0"/>
              </a:spcBef>
              <a:spcAft>
                <a:spcPct val="0"/>
              </a:spcAft>
              <a:buClr>
                <a:srgbClr val="000000"/>
              </a:buClr>
              <a:buNone/>
              <a:defRPr/>
            </a:pPr>
            <a:fld id="{E3EA438A-65F3-46BC-9645-8A137F2528F4}" type="datetime'''''''''''''''''50''''''''''''''''.''''''''2''''''''%'">
              <a:rPr lang="en-US" sz="1100">
                <a:solidFill>
                  <a:srgbClr val="000000"/>
                </a:solidFill>
              </a:rPr>
              <a:pPr marL="0" indent="0" algn="ctr">
                <a:spcBef>
                  <a:spcPct val="0"/>
                </a:spcBef>
                <a:spcAft>
                  <a:spcPct val="0"/>
                </a:spcAft>
                <a:buClr>
                  <a:srgbClr val="000000"/>
                </a:buClr>
                <a:buNone/>
                <a:defRPr/>
              </a:pPr>
              <a:t>50.2%</a:t>
            </a:fld>
            <a:endParaRPr lang="en-US" sz="1100">
              <a:solidFill>
                <a:srgbClr val="000000"/>
              </a:solidFill>
            </a:endParaRPr>
          </a:p>
        </p:txBody>
      </p:sp>
      <p:sp>
        <p:nvSpPr>
          <p:cNvPr id="549" name="Text Placeholder 2">
            <a:extLst>
              <a:ext uri="{FF2B5EF4-FFF2-40B4-BE49-F238E27FC236}">
                <a16:creationId xmlns:a16="http://schemas.microsoft.com/office/drawing/2014/main" id="{63D43AF4-4C0B-9E0C-44A4-F853A6C4247D}"/>
              </a:ext>
            </a:extLst>
          </p:cNvPr>
          <p:cNvSpPr>
            <a:spLocks/>
          </p:cNvSpPr>
          <p:nvPr>
            <p:custDataLst>
              <p:tags r:id="rId33"/>
            </p:custDataLst>
          </p:nvPr>
        </p:nvSpPr>
        <p:spPr bwMode="gray">
          <a:xfrm>
            <a:off x="6775452" y="4929189"/>
            <a:ext cx="4333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2C558C65-4BE0-422F-AB97-A6395261CF04}" type="datetime'''''''''''''''''''''''''''''''''20.''''''''''''5''''%'''">
              <a:rPr lang="en-US" sz="1100">
                <a:solidFill>
                  <a:srgbClr val="000000"/>
                </a:solidFill>
              </a:rPr>
              <a:pPr marL="0" indent="0" algn="ctr" defTabSz="914422">
                <a:spcBef>
                  <a:spcPct val="0"/>
                </a:spcBef>
                <a:spcAft>
                  <a:spcPct val="0"/>
                </a:spcAft>
                <a:buClr>
                  <a:srgbClr val="000000"/>
                </a:buClr>
                <a:buNone/>
                <a:defRPr/>
              </a:pPr>
              <a:t>20.5%</a:t>
            </a:fld>
            <a:endParaRPr lang="en-US" sz="1100">
              <a:solidFill>
                <a:srgbClr val="000000"/>
              </a:solidFill>
            </a:endParaRPr>
          </a:p>
        </p:txBody>
      </p:sp>
      <p:sp>
        <p:nvSpPr>
          <p:cNvPr id="550" name="Text Placeholder 2">
            <a:extLst>
              <a:ext uri="{FF2B5EF4-FFF2-40B4-BE49-F238E27FC236}">
                <a16:creationId xmlns:a16="http://schemas.microsoft.com/office/drawing/2014/main" id="{2361560B-A876-41E0-EFF2-761970BB1DA4}"/>
              </a:ext>
            </a:extLst>
          </p:cNvPr>
          <p:cNvSpPr>
            <a:spLocks/>
          </p:cNvSpPr>
          <p:nvPr>
            <p:custDataLst>
              <p:tags r:id="rId34"/>
            </p:custDataLst>
          </p:nvPr>
        </p:nvSpPr>
        <p:spPr bwMode="gray">
          <a:xfrm>
            <a:off x="7269164" y="5021264"/>
            <a:ext cx="4206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CDB1352A-5E15-4745-A4C7-48541CB46ED0}" type="datetime'''1''''6''''''''''''''''''.''7''%'''''''''''''''''''''''''''''">
              <a:rPr lang="en-US" sz="1100" b="1">
                <a:solidFill>
                  <a:srgbClr val="000000"/>
                </a:solidFill>
              </a:rPr>
              <a:pPr marL="0" indent="0" algn="ctr" defTabSz="914422">
                <a:spcBef>
                  <a:spcPct val="0"/>
                </a:spcBef>
                <a:spcAft>
                  <a:spcPct val="0"/>
                </a:spcAft>
                <a:buClr>
                  <a:srgbClr val="000000"/>
                </a:buClr>
                <a:buNone/>
                <a:defRPr/>
              </a:pPr>
              <a:t>16.7%</a:t>
            </a:fld>
            <a:endParaRPr lang="en-US" sz="1100" b="1">
              <a:solidFill>
                <a:srgbClr val="000000"/>
              </a:solidFill>
            </a:endParaRPr>
          </a:p>
        </p:txBody>
      </p:sp>
      <p:sp>
        <p:nvSpPr>
          <p:cNvPr id="551" name="Text Placeholder 2">
            <a:extLst>
              <a:ext uri="{FF2B5EF4-FFF2-40B4-BE49-F238E27FC236}">
                <a16:creationId xmlns:a16="http://schemas.microsoft.com/office/drawing/2014/main" id="{FE388A10-7AB1-1A95-F5C8-30471244DECC}"/>
              </a:ext>
            </a:extLst>
          </p:cNvPr>
          <p:cNvSpPr>
            <a:spLocks/>
          </p:cNvSpPr>
          <p:nvPr>
            <p:custDataLst>
              <p:tags r:id="rId35"/>
            </p:custDataLst>
          </p:nvPr>
        </p:nvSpPr>
        <p:spPr bwMode="gray">
          <a:xfrm>
            <a:off x="7761290" y="5026026"/>
            <a:ext cx="407988" cy="16827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447680" indent="-447680" algn="l" defTabSz="914411" rtl="0" eaLnBrk="1" latinLnBrk="0" hangingPunct="1">
              <a:lnSpc>
                <a:spcPct val="100000"/>
              </a:lnSpc>
              <a:spcBef>
                <a:spcPts val="601"/>
              </a:spcBef>
              <a:buClr>
                <a:schemeClr val="tx1"/>
              </a:buClr>
              <a:buFont typeface="Arial" panose="020B0604020202020204" pitchFamily="34" charset="0"/>
              <a:buChar char="•"/>
              <a:defRPr sz="1401" kern="120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pPr marL="0" indent="0" algn="ctr" defTabSz="914422">
              <a:spcBef>
                <a:spcPct val="0"/>
              </a:spcBef>
              <a:spcAft>
                <a:spcPct val="0"/>
              </a:spcAft>
              <a:buClr>
                <a:srgbClr val="000000"/>
              </a:buClr>
              <a:buNone/>
              <a:defRPr/>
            </a:pPr>
            <a:fld id="{671875F6-0BB5-41CF-B9FB-E14267F77AB4}" type="datetime'''''''''''''''''''''''16''''''''''''''.''''5''''%'''">
              <a:rPr lang="en-US" sz="1100">
                <a:solidFill>
                  <a:srgbClr val="000000"/>
                </a:solidFill>
              </a:rPr>
              <a:pPr marL="0" indent="0" algn="ctr" defTabSz="914422">
                <a:spcBef>
                  <a:spcPct val="0"/>
                </a:spcBef>
                <a:spcAft>
                  <a:spcPct val="0"/>
                </a:spcAft>
                <a:buClr>
                  <a:srgbClr val="000000"/>
                </a:buClr>
                <a:buNone/>
                <a:defRPr/>
              </a:pPr>
              <a:t>16.5%</a:t>
            </a:fld>
            <a:endParaRPr lang="en-US" sz="1100">
              <a:solidFill>
                <a:srgbClr val="000000"/>
              </a:solidFill>
            </a:endParaRPr>
          </a:p>
        </p:txBody>
      </p:sp>
      <p:sp>
        <p:nvSpPr>
          <p:cNvPr id="571" name="Rectangle 570">
            <a:extLst>
              <a:ext uri="{FF2B5EF4-FFF2-40B4-BE49-F238E27FC236}">
                <a16:creationId xmlns:a16="http://schemas.microsoft.com/office/drawing/2014/main" id="{6F7D51EA-3139-F240-517C-A63EBA303BE7}"/>
              </a:ext>
            </a:extLst>
          </p:cNvPr>
          <p:cNvSpPr/>
          <p:nvPr/>
        </p:nvSpPr>
        <p:spPr>
          <a:xfrm>
            <a:off x="6981034" y="4351867"/>
            <a:ext cx="1235074" cy="225266"/>
          </a:xfrm>
          <a:prstGeom prst="rect">
            <a:avLst/>
          </a:prstGeom>
          <a:noFill/>
          <a:ln>
            <a:solidFill>
              <a:srgbClr val="D8D6CA"/>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ctr"/>
            <a:r>
              <a:rPr lang="en-US" sz="1001" i="1">
                <a:solidFill>
                  <a:schemeClr val="tx1"/>
                </a:solidFill>
              </a:rPr>
              <a:t>Total IB: 20.8%</a:t>
            </a:r>
          </a:p>
        </p:txBody>
      </p:sp>
      <p:sp>
        <p:nvSpPr>
          <p:cNvPr id="5" name="Rectangle 4">
            <a:extLst>
              <a:ext uri="{FF2B5EF4-FFF2-40B4-BE49-F238E27FC236}">
                <a16:creationId xmlns:a16="http://schemas.microsoft.com/office/drawing/2014/main" id="{7368B363-35EC-A6F3-B243-A1426D608DFF}"/>
              </a:ext>
            </a:extLst>
          </p:cNvPr>
          <p:cNvSpPr/>
          <p:nvPr/>
        </p:nvSpPr>
        <p:spPr>
          <a:xfrm>
            <a:off x="489801" y="2065501"/>
            <a:ext cx="1529572" cy="3571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chorCtr="0"/>
          <a:lstStyle/>
          <a:p>
            <a:pPr algn="l"/>
            <a:r>
              <a:rPr lang="en-US" sz="1001" b="1">
                <a:solidFill>
                  <a:schemeClr val="tx1"/>
                </a:solidFill>
              </a:rPr>
              <a:t>Digital Capabilities</a:t>
            </a:r>
          </a:p>
        </p:txBody>
      </p:sp>
    </p:spTree>
    <p:extLst>
      <p:ext uri="{BB962C8B-B14F-4D97-AF65-F5344CB8AC3E}">
        <p14:creationId xmlns:p14="http://schemas.microsoft.com/office/powerpoint/2010/main" val="328101552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7F4B3-1713-BCF2-5ABB-5849412118DD}"/>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B3ABEC1-98AA-4290-2732-8F6DAD57A89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5" imgH="405" progId="TCLayout.ActiveDocument.1">
                  <p:embed/>
                </p:oleObj>
              </mc:Choice>
              <mc:Fallback>
                <p:oleObj name="think-cell Slide" r:id="rId4" imgW="405" imgH="405" progId="TCLayout.ActiveDocument.1">
                  <p:embed/>
                  <p:pic>
                    <p:nvPicPr>
                      <p:cNvPr id="7" name="think-cell data - do not delete" hidden="1">
                        <a:extLst>
                          <a:ext uri="{FF2B5EF4-FFF2-40B4-BE49-F238E27FC236}">
                            <a16:creationId xmlns:a16="http://schemas.microsoft.com/office/drawing/2014/main" id="{6B3ABEC1-98AA-4290-2732-8F6DAD57A89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F8F53814-C88A-D4F5-ABC1-9A5F5D9C8F57}"/>
              </a:ext>
            </a:extLst>
          </p:cNvPr>
          <p:cNvSpPr>
            <a:spLocks noGrp="1"/>
          </p:cNvSpPr>
          <p:nvPr>
            <p:ph type="title"/>
          </p:nvPr>
        </p:nvSpPr>
        <p:spPr/>
        <p:txBody>
          <a:bodyPr vert="horz" rIns="0"/>
          <a:lstStyle/>
          <a:p>
            <a:r>
              <a:rPr lang="en-US">
                <a:solidFill>
                  <a:srgbClr val="EC111A"/>
                </a:solidFill>
              </a:rPr>
              <a:t>Client-centric growth approach | </a:t>
            </a:r>
            <a:r>
              <a:rPr lang="en-US"/>
              <a:t>Leveraged client behavior insights to identify highest‑impact strategic levers to drive revenue growth</a:t>
            </a:r>
          </a:p>
        </p:txBody>
      </p:sp>
      <p:sp>
        <p:nvSpPr>
          <p:cNvPr id="3" name="Slide Number Placeholder 2">
            <a:extLst>
              <a:ext uri="{FF2B5EF4-FFF2-40B4-BE49-F238E27FC236}">
                <a16:creationId xmlns:a16="http://schemas.microsoft.com/office/drawing/2014/main" id="{F27A9A4D-862B-627B-9007-4A6EF9B5E8F4}"/>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US"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1192" name="Text Placeholder 1191">
            <a:extLst>
              <a:ext uri="{FF2B5EF4-FFF2-40B4-BE49-F238E27FC236}">
                <a16:creationId xmlns:a16="http://schemas.microsoft.com/office/drawing/2014/main" id="{3A461104-2928-29E7-39A3-2E1B8A7C2534}"/>
              </a:ext>
            </a:extLst>
          </p:cNvPr>
          <p:cNvSpPr>
            <a:spLocks noGrp="1"/>
          </p:cNvSpPr>
          <p:nvPr>
            <p:ph type="body" sz="quarter" idx="14"/>
          </p:nvPr>
        </p:nvSpPr>
        <p:spPr>
          <a:xfrm>
            <a:off x="515939" y="1673352"/>
            <a:ext cx="5400000" cy="180000"/>
          </a:xfrm>
        </p:spPr>
        <p:txBody>
          <a:bodyPr/>
          <a:lstStyle/>
          <a:p>
            <a:r>
              <a:rPr lang="en-CA" b="1"/>
              <a:t>CLIENT-CENTRIC APPROACH TO REVENUE GROWTH</a:t>
            </a:r>
          </a:p>
        </p:txBody>
      </p:sp>
      <p:sp>
        <p:nvSpPr>
          <p:cNvPr id="39" name="Rectangle 38">
            <a:extLst>
              <a:ext uri="{FF2B5EF4-FFF2-40B4-BE49-F238E27FC236}">
                <a16:creationId xmlns:a16="http://schemas.microsoft.com/office/drawing/2014/main" id="{E595D0DB-4AB9-2879-7E07-7C9CE2AAE881}"/>
              </a:ext>
            </a:extLst>
          </p:cNvPr>
          <p:cNvSpPr/>
          <p:nvPr/>
        </p:nvSpPr>
        <p:spPr>
          <a:xfrm>
            <a:off x="515938" y="1866346"/>
            <a:ext cx="11151138" cy="1950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lang="en-CA" sz="1050" i="1">
                <a:solidFill>
                  <a:schemeClr val="tx1"/>
                </a:solidFill>
              </a:rPr>
              <a:t>Provide early visibility into revenue performance to drive revenue planning and proactively identify highest value strategic domains and prioritize initiatives accordingly </a:t>
            </a:r>
          </a:p>
        </p:txBody>
      </p:sp>
      <p:grpSp>
        <p:nvGrpSpPr>
          <p:cNvPr id="6" name="Group 5">
            <a:extLst>
              <a:ext uri="{FF2B5EF4-FFF2-40B4-BE49-F238E27FC236}">
                <a16:creationId xmlns:a16="http://schemas.microsoft.com/office/drawing/2014/main" id="{DA6272FC-64E3-A52B-9064-8AAA7427F821}"/>
              </a:ext>
            </a:extLst>
          </p:cNvPr>
          <p:cNvGrpSpPr/>
          <p:nvPr/>
        </p:nvGrpSpPr>
        <p:grpSpPr>
          <a:xfrm>
            <a:off x="515936" y="2146429"/>
            <a:ext cx="11160124" cy="3662778"/>
            <a:chOff x="515936" y="2281179"/>
            <a:chExt cx="11160124" cy="3662778"/>
          </a:xfrm>
        </p:grpSpPr>
        <p:sp>
          <p:nvSpPr>
            <p:cNvPr id="34" name="Rectangle 33">
              <a:extLst>
                <a:ext uri="{FF2B5EF4-FFF2-40B4-BE49-F238E27FC236}">
                  <a16:creationId xmlns:a16="http://schemas.microsoft.com/office/drawing/2014/main" id="{56A26F70-F918-AD23-011E-23E113C5FEE7}"/>
                </a:ext>
              </a:extLst>
            </p:cNvPr>
            <p:cNvSpPr/>
            <p:nvPr/>
          </p:nvSpPr>
          <p:spPr>
            <a:xfrm>
              <a:off x="9293350" y="4798836"/>
              <a:ext cx="2249423" cy="195668"/>
            </a:xfrm>
            <a:prstGeom prst="rect">
              <a:avLst/>
            </a:prstGeom>
            <a:noFill/>
            <a:ln>
              <a:solidFill>
                <a:schemeClr val="bg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Back-book revenue</a:t>
              </a:r>
            </a:p>
          </p:txBody>
        </p:sp>
        <p:sp>
          <p:nvSpPr>
            <p:cNvPr id="16" name="Rectangle 15">
              <a:extLst>
                <a:ext uri="{FF2B5EF4-FFF2-40B4-BE49-F238E27FC236}">
                  <a16:creationId xmlns:a16="http://schemas.microsoft.com/office/drawing/2014/main" id="{8BC0949B-217B-01A6-4EC0-42A833B3E4F8}"/>
                </a:ext>
              </a:extLst>
            </p:cNvPr>
            <p:cNvSpPr/>
            <p:nvPr/>
          </p:nvSpPr>
          <p:spPr>
            <a:xfrm>
              <a:off x="6816224" y="2281179"/>
              <a:ext cx="4859836" cy="3662778"/>
            </a:xfrm>
            <a:prstGeom prst="rect">
              <a:avLst/>
            </a:prstGeom>
            <a:solidFill>
              <a:schemeClr val="bg1"/>
            </a:solidFill>
            <a:ln w="9525">
              <a:solidFill>
                <a:srgbClr val="D8D6CA"/>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0000" tIns="146304" bIns="9144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000" b="1" u="none" strike="noStrike" kern="1200" cap="none" spc="0" normalizeH="0" baseline="0" noProof="0">
                <a:ln>
                  <a:noFill/>
                </a:ln>
                <a:solidFill>
                  <a:srgbClr val="EC111A"/>
                </a:solidFill>
                <a:effectLst/>
                <a:uLnTx/>
                <a:uFillTx/>
                <a:latin typeface="Scotia"/>
                <a:ea typeface="+mn-ea"/>
                <a:cs typeface="+mn-cs"/>
              </a:endParaRPr>
            </a:p>
          </p:txBody>
        </p:sp>
        <p:sp>
          <p:nvSpPr>
            <p:cNvPr id="1159" name="Rectangle 1158">
              <a:extLst>
                <a:ext uri="{FF2B5EF4-FFF2-40B4-BE49-F238E27FC236}">
                  <a16:creationId xmlns:a16="http://schemas.microsoft.com/office/drawing/2014/main" id="{D674E05B-642F-AA43-7108-93F7843DFEB3}"/>
                </a:ext>
              </a:extLst>
            </p:cNvPr>
            <p:cNvSpPr/>
            <p:nvPr/>
          </p:nvSpPr>
          <p:spPr>
            <a:xfrm>
              <a:off x="6949508" y="4798836"/>
              <a:ext cx="2249424" cy="214284"/>
            </a:xfrm>
            <a:prstGeom prst="rect">
              <a:avLst/>
            </a:pr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36576"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Front-book revenue</a:t>
              </a:r>
            </a:p>
          </p:txBody>
        </p:sp>
        <p:sp>
          <p:nvSpPr>
            <p:cNvPr id="1133" name="Rectangle 1132">
              <a:extLst>
                <a:ext uri="{FF2B5EF4-FFF2-40B4-BE49-F238E27FC236}">
                  <a16:creationId xmlns:a16="http://schemas.microsoft.com/office/drawing/2014/main" id="{A63FD3D8-D1A8-D193-1199-E95883879FCD}"/>
                </a:ext>
              </a:extLst>
            </p:cNvPr>
            <p:cNvSpPr/>
            <p:nvPr/>
          </p:nvSpPr>
          <p:spPr>
            <a:xfrm>
              <a:off x="6949508" y="5016270"/>
              <a:ext cx="4593265" cy="851522"/>
            </a:xfrm>
            <a:custGeom>
              <a:avLst/>
              <a:gdLst>
                <a:gd name="csX0" fmla="*/ 0 w 2847767"/>
                <a:gd name="csY0" fmla="*/ 0 h 509970"/>
                <a:gd name="csX1" fmla="*/ 2847767 w 2847767"/>
                <a:gd name="csY1" fmla="*/ 0 h 509970"/>
                <a:gd name="csX2" fmla="*/ 2847767 w 2847767"/>
                <a:gd name="csY2" fmla="*/ 509970 h 509970"/>
                <a:gd name="csX3" fmla="*/ 0 w 2847767"/>
                <a:gd name="csY3" fmla="*/ 509970 h 509970"/>
                <a:gd name="csX4" fmla="*/ 0 w 2847767"/>
                <a:gd name="csY4" fmla="*/ 0 h 509970"/>
                <a:gd name="csX0" fmla="*/ 0 w 2847767"/>
                <a:gd name="csY0" fmla="*/ 0 h 509970"/>
                <a:gd name="csX1" fmla="*/ 1397195 w 2847767"/>
                <a:gd name="csY1" fmla="*/ 606 h 509970"/>
                <a:gd name="csX2" fmla="*/ 2847767 w 2847767"/>
                <a:gd name="csY2" fmla="*/ 0 h 509970"/>
                <a:gd name="csX3" fmla="*/ 2847767 w 2847767"/>
                <a:gd name="csY3" fmla="*/ 509970 h 509970"/>
                <a:gd name="csX4" fmla="*/ 0 w 2847767"/>
                <a:gd name="csY4" fmla="*/ 509970 h 509970"/>
                <a:gd name="csX5" fmla="*/ 0 w 2847767"/>
                <a:gd name="csY5" fmla="*/ 0 h 509970"/>
                <a:gd name="csX0" fmla="*/ 0 w 2847767"/>
                <a:gd name="csY0" fmla="*/ 0 h 509970"/>
                <a:gd name="csX1" fmla="*/ 647102 w 2847767"/>
                <a:gd name="csY1" fmla="*/ 606 h 509970"/>
                <a:gd name="csX2" fmla="*/ 1397195 w 2847767"/>
                <a:gd name="csY2" fmla="*/ 606 h 509970"/>
                <a:gd name="csX3" fmla="*/ 2847767 w 2847767"/>
                <a:gd name="csY3" fmla="*/ 0 h 509970"/>
                <a:gd name="csX4" fmla="*/ 2847767 w 2847767"/>
                <a:gd name="csY4" fmla="*/ 509970 h 509970"/>
                <a:gd name="csX5" fmla="*/ 0 w 2847767"/>
                <a:gd name="csY5" fmla="*/ 509970 h 509970"/>
                <a:gd name="csX6" fmla="*/ 0 w 2847767"/>
                <a:gd name="csY6" fmla="*/ 0 h 50997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47767" h="509970">
                  <a:moveTo>
                    <a:pt x="0" y="0"/>
                  </a:moveTo>
                  <a:lnTo>
                    <a:pt x="647102" y="606"/>
                  </a:lnTo>
                  <a:lnTo>
                    <a:pt x="1397195" y="606"/>
                  </a:lnTo>
                  <a:lnTo>
                    <a:pt x="2847767" y="0"/>
                  </a:lnTo>
                  <a:lnTo>
                    <a:pt x="2847767" y="509970"/>
                  </a:lnTo>
                  <a:lnTo>
                    <a:pt x="0" y="509970"/>
                  </a:lnTo>
                  <a:lnTo>
                    <a:pt x="0" y="0"/>
                  </a:lnTo>
                  <a:close/>
                </a:path>
              </a:pathLst>
            </a:custGeom>
            <a:no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9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000" b="1" u="none" strike="noStrike" kern="1200" cap="none" spc="0" normalizeH="0" baseline="0" noProof="0">
                <a:ln>
                  <a:noFill/>
                </a:ln>
                <a:solidFill>
                  <a:srgbClr val="000000"/>
                </a:solidFill>
                <a:effectLst/>
                <a:uLnTx/>
                <a:uFillTx/>
                <a:latin typeface="Scotia"/>
                <a:ea typeface="+mn-ea"/>
                <a:cs typeface="+mn-cs"/>
              </a:endParaRPr>
            </a:p>
          </p:txBody>
        </p:sp>
        <p:sp>
          <p:nvSpPr>
            <p:cNvPr id="1059" name="Rectangle 1058">
              <a:extLst>
                <a:ext uri="{FF2B5EF4-FFF2-40B4-BE49-F238E27FC236}">
                  <a16:creationId xmlns:a16="http://schemas.microsoft.com/office/drawing/2014/main" id="{B92833F0-6CCA-07F5-B27C-D3BA8198AA7C}"/>
                </a:ext>
              </a:extLst>
            </p:cNvPr>
            <p:cNvSpPr/>
            <p:nvPr/>
          </p:nvSpPr>
          <p:spPr>
            <a:xfrm>
              <a:off x="6952369" y="2690590"/>
              <a:ext cx="2249424" cy="219273"/>
            </a:xfrm>
            <a:prstGeom prst="rect">
              <a:avLst/>
            </a:prstGeom>
            <a:solidFill>
              <a:schemeClr val="bg1">
                <a:lumMod val="95000"/>
              </a:schemeClr>
            </a:solidFill>
            <a:ln>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NTB (Acquisition)</a:t>
              </a:r>
            </a:p>
          </p:txBody>
        </p:sp>
        <p:sp>
          <p:nvSpPr>
            <p:cNvPr id="1062" name="Rectangle 1061">
              <a:extLst>
                <a:ext uri="{FF2B5EF4-FFF2-40B4-BE49-F238E27FC236}">
                  <a16:creationId xmlns:a16="http://schemas.microsoft.com/office/drawing/2014/main" id="{1E4BB437-E23D-86B7-77B7-3005B93B1775}"/>
                </a:ext>
              </a:extLst>
            </p:cNvPr>
            <p:cNvSpPr/>
            <p:nvPr/>
          </p:nvSpPr>
          <p:spPr>
            <a:xfrm>
              <a:off x="9293350" y="2690590"/>
              <a:ext cx="2249424"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Stock (Deepening)</a:t>
              </a:r>
            </a:p>
          </p:txBody>
        </p:sp>
        <p:grpSp>
          <p:nvGrpSpPr>
            <p:cNvPr id="14" name="Group 13">
              <a:extLst>
                <a:ext uri="{FF2B5EF4-FFF2-40B4-BE49-F238E27FC236}">
                  <a16:creationId xmlns:a16="http://schemas.microsoft.com/office/drawing/2014/main" id="{BDE7DBEF-4AA9-5067-D970-7DA9263DED72}"/>
                </a:ext>
              </a:extLst>
            </p:cNvPr>
            <p:cNvGrpSpPr/>
            <p:nvPr/>
          </p:nvGrpSpPr>
          <p:grpSpPr>
            <a:xfrm>
              <a:off x="6952369" y="3099832"/>
              <a:ext cx="4584806" cy="495169"/>
              <a:chOff x="3872894" y="3239176"/>
              <a:chExt cx="4584806" cy="495169"/>
            </a:xfrm>
          </p:grpSpPr>
          <p:sp>
            <p:nvSpPr>
              <p:cNvPr id="1061" name="Rectangle 1060">
                <a:extLst>
                  <a:ext uri="{FF2B5EF4-FFF2-40B4-BE49-F238E27FC236}">
                    <a16:creationId xmlns:a16="http://schemas.microsoft.com/office/drawing/2014/main" id="{51CD7D1C-8BE7-EE9F-0333-B49E7A2A0831}"/>
                  </a:ext>
                </a:extLst>
              </p:cNvPr>
              <p:cNvSpPr/>
              <p:nvPr/>
            </p:nvSpPr>
            <p:spPr>
              <a:xfrm>
                <a:off x="3872894" y="3239176"/>
                <a:ext cx="4584806"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ARPC Evolution</a:t>
                </a:r>
              </a:p>
            </p:txBody>
          </p:sp>
          <p:sp>
            <p:nvSpPr>
              <p:cNvPr id="1065" name="Rectangle 1064">
                <a:extLst>
                  <a:ext uri="{FF2B5EF4-FFF2-40B4-BE49-F238E27FC236}">
                    <a16:creationId xmlns:a16="http://schemas.microsoft.com/office/drawing/2014/main" id="{20067AA9-AC38-8E5A-CE7F-19FD3CE123CC}"/>
                  </a:ext>
                </a:extLst>
              </p:cNvPr>
              <p:cNvSpPr/>
              <p:nvPr/>
            </p:nvSpPr>
            <p:spPr>
              <a:xfrm>
                <a:off x="3872895" y="3515072"/>
                <a:ext cx="4584805"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Client Attrition </a:t>
                </a:r>
              </a:p>
            </p:txBody>
          </p:sp>
        </p:grpSp>
        <p:sp>
          <p:nvSpPr>
            <p:cNvPr id="1115" name="Rectangle 1114">
              <a:extLst>
                <a:ext uri="{FF2B5EF4-FFF2-40B4-BE49-F238E27FC236}">
                  <a16:creationId xmlns:a16="http://schemas.microsoft.com/office/drawing/2014/main" id="{B907DDF9-0EB9-0AF7-B3BD-EA03B9B7A0D4}"/>
                </a:ext>
              </a:extLst>
            </p:cNvPr>
            <p:cNvSpPr/>
            <p:nvPr/>
          </p:nvSpPr>
          <p:spPr>
            <a:xfrm>
              <a:off x="7042572" y="3848282"/>
              <a:ext cx="1001097"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Markets</a:t>
              </a:r>
            </a:p>
          </p:txBody>
        </p:sp>
        <p:sp>
          <p:nvSpPr>
            <p:cNvPr id="1125" name="Rectangle 1124">
              <a:extLst>
                <a:ext uri="{FF2B5EF4-FFF2-40B4-BE49-F238E27FC236}">
                  <a16:creationId xmlns:a16="http://schemas.microsoft.com/office/drawing/2014/main" id="{AE5A5701-F495-5B57-2004-3138FB5EE863}"/>
                </a:ext>
              </a:extLst>
            </p:cNvPr>
            <p:cNvSpPr/>
            <p:nvPr/>
          </p:nvSpPr>
          <p:spPr>
            <a:xfrm>
              <a:off x="8177899" y="3848282"/>
              <a:ext cx="1001097"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Segments</a:t>
              </a:r>
            </a:p>
          </p:txBody>
        </p:sp>
        <p:sp>
          <p:nvSpPr>
            <p:cNvPr id="1126" name="Rectangle 1125">
              <a:extLst>
                <a:ext uri="{FF2B5EF4-FFF2-40B4-BE49-F238E27FC236}">
                  <a16:creationId xmlns:a16="http://schemas.microsoft.com/office/drawing/2014/main" id="{8D96ECBF-EE61-B504-8E17-226DE088D57C}"/>
                </a:ext>
              </a:extLst>
            </p:cNvPr>
            <p:cNvSpPr/>
            <p:nvPr/>
          </p:nvSpPr>
          <p:spPr>
            <a:xfrm>
              <a:off x="9313226" y="3848282"/>
              <a:ext cx="1001097"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Products</a:t>
              </a:r>
            </a:p>
          </p:txBody>
        </p:sp>
        <p:sp>
          <p:nvSpPr>
            <p:cNvPr id="1127" name="Rectangle 1126">
              <a:extLst>
                <a:ext uri="{FF2B5EF4-FFF2-40B4-BE49-F238E27FC236}">
                  <a16:creationId xmlns:a16="http://schemas.microsoft.com/office/drawing/2014/main" id="{D4B4134D-7C94-97C1-58B7-818A5284AE14}"/>
                </a:ext>
              </a:extLst>
            </p:cNvPr>
            <p:cNvSpPr/>
            <p:nvPr/>
          </p:nvSpPr>
          <p:spPr>
            <a:xfrm>
              <a:off x="10448552" y="3848282"/>
              <a:ext cx="1001097" cy="219273"/>
            </a:xfrm>
            <a:prstGeom prst="rect">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Channels</a:t>
              </a:r>
            </a:p>
          </p:txBody>
        </p:sp>
        <p:sp>
          <p:nvSpPr>
            <p:cNvPr id="27" name="Rectangle 26">
              <a:extLst>
                <a:ext uri="{FF2B5EF4-FFF2-40B4-BE49-F238E27FC236}">
                  <a16:creationId xmlns:a16="http://schemas.microsoft.com/office/drawing/2014/main" id="{1855622E-E165-937D-76B9-7F4E68C7285C}"/>
                </a:ext>
              </a:extLst>
            </p:cNvPr>
            <p:cNvSpPr/>
            <p:nvPr/>
          </p:nvSpPr>
          <p:spPr>
            <a:xfrm>
              <a:off x="6952369" y="3784971"/>
              <a:ext cx="4586170" cy="329085"/>
            </a:xfrm>
            <a:prstGeom prst="rect">
              <a:avLst/>
            </a:prstGeom>
            <a:noFill/>
            <a:ln w="9525">
              <a:solidFill>
                <a:srgbClr val="EC111A"/>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1140" name="Rectangle 1139">
              <a:extLst>
                <a:ext uri="{FF2B5EF4-FFF2-40B4-BE49-F238E27FC236}">
                  <a16:creationId xmlns:a16="http://schemas.microsoft.com/office/drawing/2014/main" id="{4A04CA6F-ACD5-FBAB-EBBD-2BB8CAC1D6A9}"/>
                </a:ext>
              </a:extLst>
            </p:cNvPr>
            <p:cNvSpPr/>
            <p:nvPr/>
          </p:nvSpPr>
          <p:spPr>
            <a:xfrm>
              <a:off x="6952369" y="5669900"/>
              <a:ext cx="4586171" cy="19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Analyze units sold and FTE productivity across channels </a:t>
              </a:r>
            </a:p>
          </p:txBody>
        </p:sp>
        <p:sp>
          <p:nvSpPr>
            <p:cNvPr id="30" name="Rectangle 29">
              <a:extLst>
                <a:ext uri="{FF2B5EF4-FFF2-40B4-BE49-F238E27FC236}">
                  <a16:creationId xmlns:a16="http://schemas.microsoft.com/office/drawing/2014/main" id="{55E5CF7D-9593-92F7-524B-E7EE788C668E}"/>
                </a:ext>
              </a:extLst>
            </p:cNvPr>
            <p:cNvSpPr/>
            <p:nvPr/>
          </p:nvSpPr>
          <p:spPr>
            <a:xfrm>
              <a:off x="6952369" y="4504463"/>
              <a:ext cx="4584805" cy="228600"/>
            </a:xfrm>
            <a:prstGeom prst="rect">
              <a:avLst/>
            </a:prstGeom>
            <a:solidFill>
              <a:srgbClr val="EC111A"/>
            </a:solidFill>
            <a:ln w="9525">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1" u="none" strike="noStrike" kern="1200" cap="none" spc="0" normalizeH="0" baseline="0" noProof="0">
                  <a:ln>
                    <a:noFill/>
                  </a:ln>
                  <a:solidFill>
                    <a:srgbClr val="FFFFFF"/>
                  </a:solidFill>
                  <a:effectLst/>
                  <a:uLnTx/>
                  <a:uFillTx/>
                  <a:latin typeface="Scotia"/>
                  <a:ea typeface="+mn-ea"/>
                  <a:cs typeface="+mn-cs"/>
                </a:rPr>
                <a:t>REVENUE PLAN </a:t>
              </a:r>
              <a:r>
                <a:rPr kumimoji="0" lang="en-CA" sz="1000" b="0" u="none" strike="noStrike" kern="1200" cap="none" spc="0" normalizeH="0" baseline="0" noProof="0">
                  <a:ln>
                    <a:noFill/>
                  </a:ln>
                  <a:solidFill>
                    <a:srgbClr val="FFFFFF"/>
                  </a:solidFill>
                  <a:effectLst/>
                  <a:uLnTx/>
                  <a:uFillTx/>
                  <a:latin typeface="Scotia"/>
                  <a:ea typeface="+mn-ea"/>
                  <a:cs typeface="+mn-cs"/>
                </a:rPr>
                <a:t>- Defined based on Client performance and insights</a:t>
              </a:r>
            </a:p>
          </p:txBody>
        </p:sp>
        <p:sp>
          <p:nvSpPr>
            <p:cNvPr id="1040" name="Isosceles Triangle 1039">
              <a:extLst>
                <a:ext uri="{FF2B5EF4-FFF2-40B4-BE49-F238E27FC236}">
                  <a16:creationId xmlns:a16="http://schemas.microsoft.com/office/drawing/2014/main" id="{C27B2DAD-1A32-9C83-5D66-DF38D9A370BF}"/>
                </a:ext>
              </a:extLst>
            </p:cNvPr>
            <p:cNvSpPr/>
            <p:nvPr/>
          </p:nvSpPr>
          <p:spPr>
            <a:xfrm flipV="1">
              <a:off x="9167334" y="3651624"/>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1041" name="Isosceles Triangle 1040">
              <a:extLst>
                <a:ext uri="{FF2B5EF4-FFF2-40B4-BE49-F238E27FC236}">
                  <a16:creationId xmlns:a16="http://schemas.microsoft.com/office/drawing/2014/main" id="{892490AC-8071-B1F7-6821-1E6B5A460442}"/>
                </a:ext>
              </a:extLst>
            </p:cNvPr>
            <p:cNvSpPr/>
            <p:nvPr/>
          </p:nvSpPr>
          <p:spPr>
            <a:xfrm flipV="1">
              <a:off x="7473863" y="4270898"/>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1042" name="Isosceles Triangle 1041">
              <a:extLst>
                <a:ext uri="{FF2B5EF4-FFF2-40B4-BE49-F238E27FC236}">
                  <a16:creationId xmlns:a16="http://schemas.microsoft.com/office/drawing/2014/main" id="{0BE16068-8060-63EE-89A8-6A1F9A6F6D56}"/>
                </a:ext>
              </a:extLst>
            </p:cNvPr>
            <p:cNvSpPr/>
            <p:nvPr/>
          </p:nvSpPr>
          <p:spPr>
            <a:xfrm flipV="1">
              <a:off x="10870294" y="4270898"/>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1043" name="Isosceles Triangle 1042">
              <a:extLst>
                <a:ext uri="{FF2B5EF4-FFF2-40B4-BE49-F238E27FC236}">
                  <a16:creationId xmlns:a16="http://schemas.microsoft.com/office/drawing/2014/main" id="{8B92586B-1E55-9DF1-77F7-0F4D303620E6}"/>
                </a:ext>
              </a:extLst>
            </p:cNvPr>
            <p:cNvSpPr/>
            <p:nvPr/>
          </p:nvSpPr>
          <p:spPr>
            <a:xfrm flipV="1">
              <a:off x="8606005" y="4270898"/>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1044" name="Isosceles Triangle 1043">
              <a:extLst>
                <a:ext uri="{FF2B5EF4-FFF2-40B4-BE49-F238E27FC236}">
                  <a16:creationId xmlns:a16="http://schemas.microsoft.com/office/drawing/2014/main" id="{E8C3C1BD-D04E-3E1F-49E8-FBF7D292BE92}"/>
                </a:ext>
              </a:extLst>
            </p:cNvPr>
            <p:cNvSpPr/>
            <p:nvPr/>
          </p:nvSpPr>
          <p:spPr>
            <a:xfrm flipV="1">
              <a:off x="9738148" y="4270898"/>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23" name="Isosceles Triangle 22">
              <a:extLst>
                <a:ext uri="{FF2B5EF4-FFF2-40B4-BE49-F238E27FC236}">
                  <a16:creationId xmlns:a16="http://schemas.microsoft.com/office/drawing/2014/main" id="{0B6C47C6-39D1-4C67-775D-BD8829FDA9B5}"/>
                </a:ext>
              </a:extLst>
            </p:cNvPr>
            <p:cNvSpPr/>
            <p:nvPr/>
          </p:nvSpPr>
          <p:spPr>
            <a:xfrm flipV="1">
              <a:off x="8035808" y="2966486"/>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sp>
          <p:nvSpPr>
            <p:cNvPr id="24" name="Isosceles Triangle 23">
              <a:extLst>
                <a:ext uri="{FF2B5EF4-FFF2-40B4-BE49-F238E27FC236}">
                  <a16:creationId xmlns:a16="http://schemas.microsoft.com/office/drawing/2014/main" id="{F0E0DB2B-F6F9-5667-084A-C76212224C9B}"/>
                </a:ext>
              </a:extLst>
            </p:cNvPr>
            <p:cNvSpPr/>
            <p:nvPr/>
          </p:nvSpPr>
          <p:spPr>
            <a:xfrm flipV="1">
              <a:off x="10298799" y="2966486"/>
              <a:ext cx="157614" cy="76723"/>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grpSp>
          <p:nvGrpSpPr>
            <p:cNvPr id="1056" name="Group 1055">
              <a:extLst>
                <a:ext uri="{FF2B5EF4-FFF2-40B4-BE49-F238E27FC236}">
                  <a16:creationId xmlns:a16="http://schemas.microsoft.com/office/drawing/2014/main" id="{F0B5AB0E-D074-5D2A-1891-923660722210}"/>
                </a:ext>
              </a:extLst>
            </p:cNvPr>
            <p:cNvGrpSpPr/>
            <p:nvPr/>
          </p:nvGrpSpPr>
          <p:grpSpPr>
            <a:xfrm>
              <a:off x="8373701" y="2332641"/>
              <a:ext cx="1743516" cy="294829"/>
              <a:chOff x="6590860" y="2088646"/>
              <a:chExt cx="1743516" cy="294829"/>
            </a:xfrm>
          </p:grpSpPr>
          <p:sp>
            <p:nvSpPr>
              <p:cNvPr id="1057" name="Rectangle 1056">
                <a:extLst>
                  <a:ext uri="{FF2B5EF4-FFF2-40B4-BE49-F238E27FC236}">
                    <a16:creationId xmlns:a16="http://schemas.microsoft.com/office/drawing/2014/main" id="{346A590D-5E94-9583-F4D8-AFA81950E6A5}"/>
                  </a:ext>
                </a:extLst>
              </p:cNvPr>
              <p:cNvSpPr/>
              <p:nvPr/>
            </p:nvSpPr>
            <p:spPr>
              <a:xfrm>
                <a:off x="6897692" y="2088646"/>
                <a:ext cx="1436684" cy="2948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CA" sz="1000" b="1">
                    <a:solidFill>
                      <a:srgbClr val="EC111A"/>
                    </a:solidFill>
                  </a:rPr>
                  <a:t>CLIENT AT THE CENTER</a:t>
                </a:r>
                <a:endParaRPr lang="en-CA" sz="1000">
                  <a:solidFill>
                    <a:srgbClr val="EC111A"/>
                  </a:solidFill>
                </a:endParaRPr>
              </a:p>
            </p:txBody>
          </p:sp>
          <p:grpSp>
            <p:nvGrpSpPr>
              <p:cNvPr id="1058" name="Group 1057">
                <a:extLst>
                  <a:ext uri="{FF2B5EF4-FFF2-40B4-BE49-F238E27FC236}">
                    <a16:creationId xmlns:a16="http://schemas.microsoft.com/office/drawing/2014/main" id="{5ABF225A-46CA-5986-925A-E8FD67667E13}"/>
                  </a:ext>
                </a:extLst>
              </p:cNvPr>
              <p:cNvGrpSpPr/>
              <p:nvPr/>
            </p:nvGrpSpPr>
            <p:grpSpPr>
              <a:xfrm>
                <a:off x="6590860" y="2121760"/>
                <a:ext cx="228600" cy="228600"/>
                <a:chOff x="951670" y="2212685"/>
                <a:chExt cx="228600" cy="228600"/>
              </a:xfrm>
            </p:grpSpPr>
            <p:sp>
              <p:nvSpPr>
                <p:cNvPr id="1060" name="Oval 1059">
                  <a:extLst>
                    <a:ext uri="{FF2B5EF4-FFF2-40B4-BE49-F238E27FC236}">
                      <a16:creationId xmlns:a16="http://schemas.microsoft.com/office/drawing/2014/main" id="{925014ED-C716-E657-C4D2-DA4480437261}"/>
                    </a:ext>
                  </a:extLst>
                </p:cNvPr>
                <p:cNvSpPr/>
                <p:nvPr/>
              </p:nvSpPr>
              <p:spPr>
                <a:xfrm>
                  <a:off x="951670" y="2212685"/>
                  <a:ext cx="228600" cy="228600"/>
                </a:xfrm>
                <a:prstGeom prst="ellipse">
                  <a:avLst/>
                </a:prstGeom>
                <a:solidFill>
                  <a:srgbClr val="EC111A"/>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1063" name="Graphic 1062" descr="User outline">
                  <a:extLst>
                    <a:ext uri="{FF2B5EF4-FFF2-40B4-BE49-F238E27FC236}">
                      <a16:creationId xmlns:a16="http://schemas.microsoft.com/office/drawing/2014/main" id="{B03BE4AE-A3A3-6141-8B67-BD1706B3EE8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69995" y="2231010"/>
                  <a:ext cx="191951" cy="191951"/>
                </a:xfrm>
                <a:prstGeom prst="rect">
                  <a:avLst/>
                </a:prstGeom>
              </p:spPr>
            </p:pic>
          </p:grpSp>
        </p:grpSp>
        <p:grpSp>
          <p:nvGrpSpPr>
            <p:cNvPr id="52" name="Group 51">
              <a:extLst>
                <a:ext uri="{FF2B5EF4-FFF2-40B4-BE49-F238E27FC236}">
                  <a16:creationId xmlns:a16="http://schemas.microsoft.com/office/drawing/2014/main" id="{4560AA0F-4C1C-6F9D-0103-F5D265554E25}"/>
                </a:ext>
              </a:extLst>
            </p:cNvPr>
            <p:cNvGrpSpPr/>
            <p:nvPr/>
          </p:nvGrpSpPr>
          <p:grpSpPr>
            <a:xfrm>
              <a:off x="515936" y="2366199"/>
              <a:ext cx="2788921" cy="3357632"/>
              <a:chOff x="515936" y="2505543"/>
              <a:chExt cx="2788921" cy="3357632"/>
            </a:xfrm>
          </p:grpSpPr>
          <p:sp>
            <p:nvSpPr>
              <p:cNvPr id="1129" name="Rectangle 1128">
                <a:extLst>
                  <a:ext uri="{FF2B5EF4-FFF2-40B4-BE49-F238E27FC236}">
                    <a16:creationId xmlns:a16="http://schemas.microsoft.com/office/drawing/2014/main" id="{48E999C9-135C-CC3F-26CA-F129F0A731E4}"/>
                  </a:ext>
                </a:extLst>
              </p:cNvPr>
              <p:cNvSpPr/>
              <p:nvPr/>
            </p:nvSpPr>
            <p:spPr>
              <a:xfrm>
                <a:off x="515936" y="2916314"/>
                <a:ext cx="2788920" cy="7498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b="1">
                    <a:solidFill>
                      <a:schemeClr val="tx1"/>
                    </a:solidFill>
                  </a:rPr>
                  <a:t>Monitor and understand client behaviour </a:t>
                </a:r>
                <a:r>
                  <a:rPr lang="en-CA" sz="1000">
                    <a:solidFill>
                      <a:schemeClr val="tx1"/>
                    </a:solidFill>
                  </a:rPr>
                  <a:t>to identify and scale best practices from top performers, while enabling early course correction actions from early risks emerge</a:t>
                </a:r>
              </a:p>
            </p:txBody>
          </p:sp>
          <p:sp>
            <p:nvSpPr>
              <p:cNvPr id="1130" name="Rectangle 1129">
                <a:extLst>
                  <a:ext uri="{FF2B5EF4-FFF2-40B4-BE49-F238E27FC236}">
                    <a16:creationId xmlns:a16="http://schemas.microsoft.com/office/drawing/2014/main" id="{79E32057-0318-544A-EC7F-CDD29A65E5B0}"/>
                  </a:ext>
                </a:extLst>
              </p:cNvPr>
              <p:cNvSpPr/>
              <p:nvPr/>
            </p:nvSpPr>
            <p:spPr>
              <a:xfrm>
                <a:off x="515937" y="5113367"/>
                <a:ext cx="2788920" cy="7498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b="1">
                    <a:solidFill>
                      <a:schemeClr val="tx1"/>
                    </a:solidFill>
                  </a:rPr>
                  <a:t>Monitor sales channels performance and FTE </a:t>
                </a:r>
                <a:r>
                  <a:rPr lang="en-CA" sz="1000">
                    <a:solidFill>
                      <a:schemeClr val="tx1"/>
                    </a:solidFill>
                  </a:rPr>
                  <a:t>productivity to understand their impact on front-book revenue outcomes</a:t>
                </a:r>
              </a:p>
            </p:txBody>
          </p:sp>
          <p:sp>
            <p:nvSpPr>
              <p:cNvPr id="1131" name="Rectangle 1130">
                <a:extLst>
                  <a:ext uri="{FF2B5EF4-FFF2-40B4-BE49-F238E27FC236}">
                    <a16:creationId xmlns:a16="http://schemas.microsoft.com/office/drawing/2014/main" id="{53147C3C-4C93-06F7-4F6E-8AF5E8367892}"/>
                  </a:ext>
                </a:extLst>
              </p:cNvPr>
              <p:cNvSpPr/>
              <p:nvPr/>
            </p:nvSpPr>
            <p:spPr>
              <a:xfrm>
                <a:off x="515936" y="3996309"/>
                <a:ext cx="2788920" cy="7498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spcBef>
                    <a:spcPts val="600"/>
                  </a:spcBef>
                </a:pPr>
                <a:r>
                  <a:rPr lang="en-CA" sz="1000" b="1">
                    <a:solidFill>
                      <a:schemeClr val="tx1"/>
                    </a:solidFill>
                  </a:rPr>
                  <a:t>Understand contribution of markets, segments, products and channels </a:t>
                </a:r>
                <a:r>
                  <a:rPr lang="en-CA" sz="1000">
                    <a:solidFill>
                      <a:schemeClr val="tx1"/>
                    </a:solidFill>
                  </a:rPr>
                  <a:t>to revenue plan and to near- and medium-term growth</a:t>
                </a:r>
              </a:p>
            </p:txBody>
          </p:sp>
          <p:sp>
            <p:nvSpPr>
              <p:cNvPr id="13" name="Rectangle 12">
                <a:extLst>
                  <a:ext uri="{FF2B5EF4-FFF2-40B4-BE49-F238E27FC236}">
                    <a16:creationId xmlns:a16="http://schemas.microsoft.com/office/drawing/2014/main" id="{135F67EE-05EE-CA85-4195-E6E27F5A788F}"/>
                  </a:ext>
                </a:extLst>
              </p:cNvPr>
              <p:cNvSpPr/>
              <p:nvPr/>
            </p:nvSpPr>
            <p:spPr>
              <a:xfrm>
                <a:off x="515937" y="2505543"/>
                <a:ext cx="2788920" cy="227712"/>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b="1">
                    <a:solidFill>
                      <a:schemeClr val="tx1"/>
                    </a:solidFill>
                  </a:rPr>
                  <a:t>OBJECTIVES</a:t>
                </a:r>
              </a:p>
            </p:txBody>
          </p:sp>
        </p:grpSp>
        <p:cxnSp>
          <p:nvCxnSpPr>
            <p:cNvPr id="18" name="Straight Connector 17">
              <a:extLst>
                <a:ext uri="{FF2B5EF4-FFF2-40B4-BE49-F238E27FC236}">
                  <a16:creationId xmlns:a16="http://schemas.microsoft.com/office/drawing/2014/main" id="{CC518289-95C0-0358-C86F-4A3429014AA9}"/>
                </a:ext>
              </a:extLst>
            </p:cNvPr>
            <p:cNvCxnSpPr>
              <a:cxnSpLocks/>
            </p:cNvCxnSpPr>
            <p:nvPr/>
          </p:nvCxnSpPr>
          <p:spPr>
            <a:xfrm>
              <a:off x="515938" y="3709838"/>
              <a:ext cx="6217920" cy="0"/>
            </a:xfrm>
            <a:prstGeom prst="line">
              <a:avLst/>
            </a:prstGeom>
            <a:ln w="9525">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B953D1D-43AF-E964-78F1-85410DE8E78B}"/>
                </a:ext>
              </a:extLst>
            </p:cNvPr>
            <p:cNvCxnSpPr>
              <a:cxnSpLocks/>
            </p:cNvCxnSpPr>
            <p:nvPr/>
          </p:nvCxnSpPr>
          <p:spPr>
            <a:xfrm>
              <a:off x="515938" y="4753899"/>
              <a:ext cx="6217920" cy="0"/>
            </a:xfrm>
            <a:prstGeom prst="line">
              <a:avLst/>
            </a:prstGeom>
            <a:ln w="9525">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809AA34-12DD-9CDF-44CC-D0EEAC221DC3}"/>
                </a:ext>
              </a:extLst>
            </p:cNvPr>
            <p:cNvCxnSpPr>
              <a:cxnSpLocks/>
            </p:cNvCxnSpPr>
            <p:nvPr/>
          </p:nvCxnSpPr>
          <p:spPr>
            <a:xfrm>
              <a:off x="515938" y="5943957"/>
              <a:ext cx="6217920" cy="0"/>
            </a:xfrm>
            <a:prstGeom prst="line">
              <a:avLst/>
            </a:prstGeom>
            <a:ln w="9525">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17CCDB01-F99B-58F6-AB9A-3BEC6BEF20D4}"/>
                </a:ext>
              </a:extLst>
            </p:cNvPr>
            <p:cNvSpPr/>
            <p:nvPr/>
          </p:nvSpPr>
          <p:spPr>
            <a:xfrm>
              <a:off x="6949508" y="2540839"/>
              <a:ext cx="881685" cy="1497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defTabSz="914400" rtl="0" eaLnBrk="1" fontAlgn="auto" latinLnBrk="0" hangingPunct="1">
                <a:lnSpc>
                  <a:spcPct val="100000"/>
                </a:lnSpc>
                <a:spcBef>
                  <a:spcPts val="600"/>
                </a:spcBef>
                <a:spcAft>
                  <a:spcPts val="0"/>
                </a:spcAft>
                <a:buClrTx/>
                <a:buSzTx/>
                <a:buFontTx/>
                <a:buNone/>
                <a:tabLst/>
                <a:defRPr/>
              </a:pPr>
              <a:r>
                <a:rPr kumimoji="0" lang="en-CA" sz="700" u="none" strike="noStrike" kern="1200" cap="none" spc="0" normalizeH="0" baseline="0" noProof="0">
                  <a:ln>
                    <a:noFill/>
                  </a:ln>
                  <a:solidFill>
                    <a:srgbClr val="EC111A"/>
                  </a:solidFill>
                  <a:effectLst/>
                  <a:uLnTx/>
                  <a:uFillTx/>
                  <a:latin typeface="Scotia"/>
                  <a:ea typeface="+mn-ea"/>
                  <a:cs typeface="+mn-cs"/>
                </a:rPr>
                <a:t>Focus for today:</a:t>
              </a:r>
            </a:p>
          </p:txBody>
        </p:sp>
        <p:sp>
          <p:nvSpPr>
            <p:cNvPr id="43" name="Oval 42">
              <a:extLst>
                <a:ext uri="{FF2B5EF4-FFF2-40B4-BE49-F238E27FC236}">
                  <a16:creationId xmlns:a16="http://schemas.microsoft.com/office/drawing/2014/main" id="{B3325800-9D94-002A-6FED-6A05E111D41B}"/>
                </a:ext>
              </a:extLst>
            </p:cNvPr>
            <p:cNvSpPr/>
            <p:nvPr/>
          </p:nvSpPr>
          <p:spPr>
            <a:xfrm>
              <a:off x="6872596" y="2717930"/>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1</a:t>
              </a:r>
            </a:p>
          </p:txBody>
        </p:sp>
        <p:sp>
          <p:nvSpPr>
            <p:cNvPr id="44" name="Oval 43">
              <a:extLst>
                <a:ext uri="{FF2B5EF4-FFF2-40B4-BE49-F238E27FC236}">
                  <a16:creationId xmlns:a16="http://schemas.microsoft.com/office/drawing/2014/main" id="{CB1C3A11-E6EF-680C-7829-F16482011C5A}"/>
                </a:ext>
              </a:extLst>
            </p:cNvPr>
            <p:cNvSpPr/>
            <p:nvPr/>
          </p:nvSpPr>
          <p:spPr>
            <a:xfrm>
              <a:off x="6872596" y="3279859"/>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2</a:t>
              </a:r>
            </a:p>
          </p:txBody>
        </p:sp>
        <p:sp>
          <p:nvSpPr>
            <p:cNvPr id="45" name="Oval 44">
              <a:extLst>
                <a:ext uri="{FF2B5EF4-FFF2-40B4-BE49-F238E27FC236}">
                  <a16:creationId xmlns:a16="http://schemas.microsoft.com/office/drawing/2014/main" id="{FEAFB950-3414-0CD7-02C5-A65508BDB0D0}"/>
                </a:ext>
              </a:extLst>
            </p:cNvPr>
            <p:cNvSpPr/>
            <p:nvPr/>
          </p:nvSpPr>
          <p:spPr>
            <a:xfrm>
              <a:off x="6872596" y="3876920"/>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3</a:t>
              </a:r>
            </a:p>
          </p:txBody>
        </p:sp>
        <p:sp>
          <p:nvSpPr>
            <p:cNvPr id="46" name="Oval 45">
              <a:extLst>
                <a:ext uri="{FF2B5EF4-FFF2-40B4-BE49-F238E27FC236}">
                  <a16:creationId xmlns:a16="http://schemas.microsoft.com/office/drawing/2014/main" id="{26F7AA6E-0756-6A2D-576F-1D551A127EF0}"/>
                </a:ext>
              </a:extLst>
            </p:cNvPr>
            <p:cNvSpPr/>
            <p:nvPr/>
          </p:nvSpPr>
          <p:spPr>
            <a:xfrm>
              <a:off x="6872596" y="4543621"/>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4</a:t>
              </a:r>
            </a:p>
          </p:txBody>
        </p:sp>
        <p:sp>
          <p:nvSpPr>
            <p:cNvPr id="47" name="Oval 46">
              <a:extLst>
                <a:ext uri="{FF2B5EF4-FFF2-40B4-BE49-F238E27FC236}">
                  <a16:creationId xmlns:a16="http://schemas.microsoft.com/office/drawing/2014/main" id="{21CBDF11-8E67-A6AE-A1DC-7D4677CECAC9}"/>
                </a:ext>
              </a:extLst>
            </p:cNvPr>
            <p:cNvSpPr/>
            <p:nvPr/>
          </p:nvSpPr>
          <p:spPr>
            <a:xfrm>
              <a:off x="6872596" y="5212156"/>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5</a:t>
              </a:r>
            </a:p>
          </p:txBody>
        </p:sp>
        <p:grpSp>
          <p:nvGrpSpPr>
            <p:cNvPr id="50" name="Group 49">
              <a:extLst>
                <a:ext uri="{FF2B5EF4-FFF2-40B4-BE49-F238E27FC236}">
                  <a16:creationId xmlns:a16="http://schemas.microsoft.com/office/drawing/2014/main" id="{EC44E67C-94D7-C8CA-9853-8A015BEDED22}"/>
                </a:ext>
              </a:extLst>
            </p:cNvPr>
            <p:cNvGrpSpPr/>
            <p:nvPr/>
          </p:nvGrpSpPr>
          <p:grpSpPr>
            <a:xfrm>
              <a:off x="3666081" y="2366199"/>
              <a:ext cx="2788920" cy="3188701"/>
              <a:chOff x="3666080" y="2505543"/>
              <a:chExt cx="2788920" cy="3188701"/>
            </a:xfrm>
          </p:grpSpPr>
          <p:grpSp>
            <p:nvGrpSpPr>
              <p:cNvPr id="19" name="Group 18">
                <a:extLst>
                  <a:ext uri="{FF2B5EF4-FFF2-40B4-BE49-F238E27FC236}">
                    <a16:creationId xmlns:a16="http://schemas.microsoft.com/office/drawing/2014/main" id="{D621A9C9-81CA-B1EC-13EC-F22F76A8C855}"/>
                  </a:ext>
                </a:extLst>
              </p:cNvPr>
              <p:cNvGrpSpPr/>
              <p:nvPr/>
            </p:nvGrpSpPr>
            <p:grpSpPr>
              <a:xfrm>
                <a:off x="3666080" y="2878264"/>
                <a:ext cx="2788920" cy="340450"/>
                <a:chOff x="3666080" y="2878264"/>
                <a:chExt cx="2788920" cy="340450"/>
              </a:xfrm>
            </p:grpSpPr>
            <p:sp>
              <p:nvSpPr>
                <p:cNvPr id="1092" name="Rectangle 1091">
                  <a:extLst>
                    <a:ext uri="{FF2B5EF4-FFF2-40B4-BE49-F238E27FC236}">
                      <a16:creationId xmlns:a16="http://schemas.microsoft.com/office/drawing/2014/main" id="{46F82C37-9BC6-6361-3EB7-88DE974D3667}"/>
                    </a:ext>
                  </a:extLst>
                </p:cNvPr>
                <p:cNvSpPr/>
                <p:nvPr/>
              </p:nvSpPr>
              <p:spPr>
                <a:xfrm>
                  <a:off x="3937009" y="2878264"/>
                  <a:ext cx="2517991" cy="3404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lang="en-CA" sz="1000" i="1">
                      <a:solidFill>
                        <a:srgbClr val="000000"/>
                      </a:solidFill>
                      <a:latin typeface="Scotia"/>
                    </a:rPr>
                    <a:t>Client cohorts for </a:t>
                  </a:r>
                  <a:r>
                    <a:rPr lang="en-CA" sz="1000" b="1" i="1">
                      <a:solidFill>
                        <a:srgbClr val="000000"/>
                      </a:solidFill>
                      <a:latin typeface="Scotia"/>
                    </a:rPr>
                    <a:t>vintage analysis</a:t>
                  </a:r>
                  <a:endParaRPr kumimoji="0" lang="en-CA" sz="1000" b="1" i="1" u="none" strike="noStrike" kern="1200" cap="none" spc="0" normalizeH="0" baseline="0" noProof="0">
                    <a:ln>
                      <a:noFill/>
                    </a:ln>
                    <a:solidFill>
                      <a:srgbClr val="000000"/>
                    </a:solidFill>
                    <a:effectLst/>
                    <a:uLnTx/>
                    <a:uFillTx/>
                    <a:latin typeface="Scotia"/>
                    <a:ea typeface="+mn-ea"/>
                    <a:cs typeface="+mn-cs"/>
                  </a:endParaRPr>
                </a:p>
              </p:txBody>
            </p:sp>
            <p:sp>
              <p:nvSpPr>
                <p:cNvPr id="37" name="Oval 36">
                  <a:extLst>
                    <a:ext uri="{FF2B5EF4-FFF2-40B4-BE49-F238E27FC236}">
                      <a16:creationId xmlns:a16="http://schemas.microsoft.com/office/drawing/2014/main" id="{0337FFB0-DF76-45E1-9A41-00FC704B4B87}"/>
                    </a:ext>
                  </a:extLst>
                </p:cNvPr>
                <p:cNvSpPr/>
                <p:nvPr/>
              </p:nvSpPr>
              <p:spPr>
                <a:xfrm>
                  <a:off x="3666080" y="2966193"/>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1</a:t>
                  </a:r>
                </a:p>
              </p:txBody>
            </p:sp>
          </p:grpSp>
          <p:grpSp>
            <p:nvGrpSpPr>
              <p:cNvPr id="28" name="Group 27">
                <a:extLst>
                  <a:ext uri="{FF2B5EF4-FFF2-40B4-BE49-F238E27FC236}">
                    <a16:creationId xmlns:a16="http://schemas.microsoft.com/office/drawing/2014/main" id="{5BAD99EB-5A26-51FB-4B16-838620F7B7B0}"/>
                  </a:ext>
                </a:extLst>
              </p:cNvPr>
              <p:cNvGrpSpPr/>
              <p:nvPr/>
            </p:nvGrpSpPr>
            <p:grpSpPr>
              <a:xfrm>
                <a:off x="3666080" y="3363723"/>
                <a:ext cx="2788920" cy="340450"/>
                <a:chOff x="3666080" y="3363723"/>
                <a:chExt cx="2788920" cy="340450"/>
              </a:xfrm>
            </p:grpSpPr>
            <p:sp>
              <p:nvSpPr>
                <p:cNvPr id="1093" name="Rectangle 1092">
                  <a:extLst>
                    <a:ext uri="{FF2B5EF4-FFF2-40B4-BE49-F238E27FC236}">
                      <a16:creationId xmlns:a16="http://schemas.microsoft.com/office/drawing/2014/main" id="{8DF61E59-AEB5-B9A2-1849-061B03F3CFBE}"/>
                    </a:ext>
                  </a:extLst>
                </p:cNvPr>
                <p:cNvSpPr/>
                <p:nvPr/>
              </p:nvSpPr>
              <p:spPr>
                <a:xfrm>
                  <a:off x="3937009" y="3363723"/>
                  <a:ext cx="2517991" cy="3404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1" u="none" strike="noStrike" kern="1200" cap="none" spc="0" normalizeH="0" baseline="0" noProof="0">
                      <a:ln>
                        <a:noFill/>
                      </a:ln>
                      <a:solidFill>
                        <a:srgbClr val="000000"/>
                      </a:solidFill>
                      <a:effectLst/>
                      <a:uLnTx/>
                      <a:uFillTx/>
                      <a:latin typeface="Scotia"/>
                      <a:ea typeface="+mn-ea"/>
                      <a:cs typeface="+mn-cs"/>
                    </a:rPr>
                    <a:t>Analyse vintages to understand and compare </a:t>
                  </a:r>
                  <a:r>
                    <a:rPr kumimoji="0" lang="en-CA" sz="1000" b="1" i="1" u="none" strike="noStrike" kern="1200" cap="none" spc="0" normalizeH="0" baseline="0" noProof="0">
                      <a:ln>
                        <a:noFill/>
                      </a:ln>
                      <a:solidFill>
                        <a:srgbClr val="000000"/>
                      </a:solidFill>
                      <a:effectLst/>
                      <a:uLnTx/>
                      <a:uFillTx/>
                      <a:latin typeface="Scotia"/>
                      <a:ea typeface="+mn-ea"/>
                      <a:cs typeface="+mn-cs"/>
                    </a:rPr>
                    <a:t>client cohort performance </a:t>
                  </a:r>
                  <a:endParaRPr kumimoji="0" lang="en-CA" sz="1000" b="0" i="1" u="none" strike="noStrike" kern="1200" cap="none" spc="0" normalizeH="0" baseline="0" noProof="0">
                    <a:ln>
                      <a:noFill/>
                    </a:ln>
                    <a:solidFill>
                      <a:srgbClr val="000000"/>
                    </a:solidFill>
                    <a:effectLst/>
                    <a:uLnTx/>
                    <a:uFillTx/>
                    <a:latin typeface="Scotia"/>
                    <a:ea typeface="+mn-ea"/>
                    <a:cs typeface="+mn-cs"/>
                  </a:endParaRPr>
                </a:p>
              </p:txBody>
            </p:sp>
            <p:sp>
              <p:nvSpPr>
                <p:cNvPr id="38" name="Oval 37">
                  <a:extLst>
                    <a:ext uri="{FF2B5EF4-FFF2-40B4-BE49-F238E27FC236}">
                      <a16:creationId xmlns:a16="http://schemas.microsoft.com/office/drawing/2014/main" id="{5D5B856B-AE07-D44E-EEEC-7D021ACC04C3}"/>
                    </a:ext>
                  </a:extLst>
                </p:cNvPr>
                <p:cNvSpPr/>
                <p:nvPr/>
              </p:nvSpPr>
              <p:spPr>
                <a:xfrm>
                  <a:off x="3666080" y="3451652"/>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2</a:t>
                  </a:r>
                </a:p>
              </p:txBody>
            </p:sp>
          </p:grpSp>
          <p:grpSp>
            <p:nvGrpSpPr>
              <p:cNvPr id="31" name="Group 30">
                <a:extLst>
                  <a:ext uri="{FF2B5EF4-FFF2-40B4-BE49-F238E27FC236}">
                    <a16:creationId xmlns:a16="http://schemas.microsoft.com/office/drawing/2014/main" id="{AF2377B6-4D40-3ABD-AC71-4C3DAD87CCB4}"/>
                  </a:ext>
                </a:extLst>
              </p:cNvPr>
              <p:cNvGrpSpPr/>
              <p:nvPr/>
            </p:nvGrpSpPr>
            <p:grpSpPr>
              <a:xfrm>
                <a:off x="3666080" y="3922573"/>
                <a:ext cx="2788920" cy="411944"/>
                <a:chOff x="3666080" y="3922573"/>
                <a:chExt cx="2788920" cy="411944"/>
              </a:xfrm>
            </p:grpSpPr>
            <p:sp>
              <p:nvSpPr>
                <p:cNvPr id="1094" name="Rectangle 1093">
                  <a:extLst>
                    <a:ext uri="{FF2B5EF4-FFF2-40B4-BE49-F238E27FC236}">
                      <a16:creationId xmlns:a16="http://schemas.microsoft.com/office/drawing/2014/main" id="{23A66795-2045-C4A5-4FB3-3B3AADBE0336}"/>
                    </a:ext>
                  </a:extLst>
                </p:cNvPr>
                <p:cNvSpPr/>
                <p:nvPr/>
              </p:nvSpPr>
              <p:spPr>
                <a:xfrm>
                  <a:off x="3937009" y="3922573"/>
                  <a:ext cx="2517991" cy="4119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1" i="1" u="none" strike="noStrike" kern="1200" cap="none" spc="0" normalizeH="0" baseline="0" noProof="0">
                      <a:ln>
                        <a:noFill/>
                      </a:ln>
                      <a:solidFill>
                        <a:srgbClr val="000000"/>
                      </a:solidFill>
                      <a:effectLst/>
                      <a:uLnTx/>
                      <a:uFillTx/>
                      <a:latin typeface="Scotia"/>
                      <a:ea typeface="+mn-ea"/>
                      <a:cs typeface="+mn-cs"/>
                    </a:rPr>
                    <a:t>Identification</a:t>
                  </a:r>
                  <a:r>
                    <a:rPr kumimoji="0" lang="en-CA" sz="1000" b="0" i="1" u="none" strike="noStrike" kern="1200" cap="none" spc="0" normalizeH="0" baseline="0" noProof="0">
                      <a:ln>
                        <a:noFill/>
                      </a:ln>
                      <a:solidFill>
                        <a:srgbClr val="000000"/>
                      </a:solidFill>
                      <a:effectLst/>
                      <a:uLnTx/>
                      <a:uFillTx/>
                      <a:latin typeface="Scotia"/>
                      <a:ea typeface="+mn-ea"/>
                      <a:cs typeface="+mn-cs"/>
                    </a:rPr>
                    <a:t> </a:t>
                  </a:r>
                  <a:r>
                    <a:rPr kumimoji="0" lang="en-CA" sz="1000" i="1" u="none" strike="noStrike" kern="1200" cap="none" spc="0" normalizeH="0" baseline="0" noProof="0">
                      <a:ln>
                        <a:noFill/>
                      </a:ln>
                      <a:solidFill>
                        <a:srgbClr val="000000"/>
                      </a:solidFill>
                      <a:effectLst/>
                      <a:uLnTx/>
                      <a:uFillTx/>
                      <a:latin typeface="Scotia"/>
                      <a:ea typeface="+mn-ea"/>
                      <a:cs typeface="+mn-cs"/>
                    </a:rPr>
                    <a:t>of best practices &amp; course correction</a:t>
                  </a:r>
                  <a:r>
                    <a:rPr kumimoji="0" lang="en-CA" sz="1000" b="0" i="1" u="none" strike="noStrike" kern="1200" cap="none" spc="0" normalizeH="0" baseline="0" noProof="0">
                      <a:ln>
                        <a:noFill/>
                      </a:ln>
                      <a:solidFill>
                        <a:srgbClr val="000000"/>
                      </a:solidFill>
                      <a:effectLst/>
                      <a:uLnTx/>
                      <a:uFillTx/>
                      <a:latin typeface="Scotia"/>
                      <a:ea typeface="+mn-ea"/>
                      <a:cs typeface="+mn-cs"/>
                    </a:rPr>
                    <a:t> across domains via analysis</a:t>
                  </a:r>
                </a:p>
              </p:txBody>
            </p:sp>
            <p:sp>
              <p:nvSpPr>
                <p:cNvPr id="40" name="Oval 39">
                  <a:extLst>
                    <a:ext uri="{FF2B5EF4-FFF2-40B4-BE49-F238E27FC236}">
                      <a16:creationId xmlns:a16="http://schemas.microsoft.com/office/drawing/2014/main" id="{3732AC42-9FCA-77AA-8463-2C49B86525D8}"/>
                    </a:ext>
                  </a:extLst>
                </p:cNvPr>
                <p:cNvSpPr/>
                <p:nvPr/>
              </p:nvSpPr>
              <p:spPr>
                <a:xfrm>
                  <a:off x="3666080" y="4046249"/>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3</a:t>
                  </a:r>
                </a:p>
              </p:txBody>
            </p:sp>
          </p:grpSp>
          <p:grpSp>
            <p:nvGrpSpPr>
              <p:cNvPr id="33" name="Group 32">
                <a:extLst>
                  <a:ext uri="{FF2B5EF4-FFF2-40B4-BE49-F238E27FC236}">
                    <a16:creationId xmlns:a16="http://schemas.microsoft.com/office/drawing/2014/main" id="{C02430E8-9534-7660-DF7E-5A3E93333115}"/>
                  </a:ext>
                </a:extLst>
              </p:cNvPr>
              <p:cNvGrpSpPr/>
              <p:nvPr/>
            </p:nvGrpSpPr>
            <p:grpSpPr>
              <a:xfrm>
                <a:off x="3666080" y="4407908"/>
                <a:ext cx="2788920" cy="411944"/>
                <a:chOff x="3666080" y="4407908"/>
                <a:chExt cx="2788920" cy="411944"/>
              </a:xfrm>
            </p:grpSpPr>
            <p:sp>
              <p:nvSpPr>
                <p:cNvPr id="54" name="Rectangle 53">
                  <a:extLst>
                    <a:ext uri="{FF2B5EF4-FFF2-40B4-BE49-F238E27FC236}">
                      <a16:creationId xmlns:a16="http://schemas.microsoft.com/office/drawing/2014/main" id="{6F32C06B-3A70-5FB0-A189-007847D4A200}"/>
                    </a:ext>
                  </a:extLst>
                </p:cNvPr>
                <p:cNvSpPr/>
                <p:nvPr/>
              </p:nvSpPr>
              <p:spPr>
                <a:xfrm>
                  <a:off x="3937009" y="4407908"/>
                  <a:ext cx="2517991" cy="4119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1" i="1" u="none" strike="noStrike" kern="1200" cap="none" spc="0" normalizeH="0" baseline="0" noProof="0">
                      <a:ln>
                        <a:noFill/>
                      </a:ln>
                      <a:solidFill>
                        <a:srgbClr val="000000"/>
                      </a:solidFill>
                      <a:effectLst/>
                      <a:uLnTx/>
                      <a:uFillTx/>
                      <a:latin typeface="Scotia"/>
                      <a:ea typeface="+mn-ea"/>
                      <a:cs typeface="+mn-cs"/>
                    </a:rPr>
                    <a:t>Mobilization of best practices &amp; course correction</a:t>
                  </a:r>
                  <a:r>
                    <a:rPr kumimoji="0" lang="en-CA" sz="1000" b="0" i="1" u="none" strike="noStrike" kern="1200" cap="none" spc="0" normalizeH="0" baseline="0" noProof="0">
                      <a:ln>
                        <a:noFill/>
                      </a:ln>
                      <a:solidFill>
                        <a:srgbClr val="000000"/>
                      </a:solidFill>
                      <a:effectLst/>
                      <a:uLnTx/>
                      <a:uFillTx/>
                      <a:latin typeface="Scotia"/>
                      <a:ea typeface="+mn-ea"/>
                      <a:cs typeface="+mn-cs"/>
                    </a:rPr>
                    <a:t> into Revenue Plan to drive growth</a:t>
                  </a:r>
                </a:p>
              </p:txBody>
            </p:sp>
            <p:sp>
              <p:nvSpPr>
                <p:cNvPr id="41" name="Oval 40">
                  <a:extLst>
                    <a:ext uri="{FF2B5EF4-FFF2-40B4-BE49-F238E27FC236}">
                      <a16:creationId xmlns:a16="http://schemas.microsoft.com/office/drawing/2014/main" id="{2D7A023F-7A06-678A-C592-93E33A3BEC7B}"/>
                    </a:ext>
                  </a:extLst>
                </p:cNvPr>
                <p:cNvSpPr/>
                <p:nvPr/>
              </p:nvSpPr>
              <p:spPr>
                <a:xfrm>
                  <a:off x="3666080" y="4531584"/>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4</a:t>
                  </a:r>
                </a:p>
              </p:txBody>
            </p:sp>
          </p:grpSp>
          <p:grpSp>
            <p:nvGrpSpPr>
              <p:cNvPr id="35" name="Group 34">
                <a:extLst>
                  <a:ext uri="{FF2B5EF4-FFF2-40B4-BE49-F238E27FC236}">
                    <a16:creationId xmlns:a16="http://schemas.microsoft.com/office/drawing/2014/main" id="{6AE9B985-CACC-F3DA-1030-A7673A8D36C9}"/>
                  </a:ext>
                </a:extLst>
              </p:cNvPr>
              <p:cNvGrpSpPr/>
              <p:nvPr/>
            </p:nvGrpSpPr>
            <p:grpSpPr>
              <a:xfrm>
                <a:off x="3666080" y="5282300"/>
                <a:ext cx="2788920" cy="411944"/>
                <a:chOff x="3666080" y="5282300"/>
                <a:chExt cx="2788920" cy="411944"/>
              </a:xfrm>
            </p:grpSpPr>
            <p:sp>
              <p:nvSpPr>
                <p:cNvPr id="1024" name="Rectangle 1023">
                  <a:extLst>
                    <a:ext uri="{FF2B5EF4-FFF2-40B4-BE49-F238E27FC236}">
                      <a16:creationId xmlns:a16="http://schemas.microsoft.com/office/drawing/2014/main" id="{F7EA449D-C3B1-51F3-3858-08FB6B8A1139}"/>
                    </a:ext>
                  </a:extLst>
                </p:cNvPr>
                <p:cNvSpPr/>
                <p:nvPr/>
              </p:nvSpPr>
              <p:spPr>
                <a:xfrm>
                  <a:off x="3937009" y="5282300"/>
                  <a:ext cx="2517991" cy="4119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1" i="1" u="none" strike="noStrike" kern="1200" cap="none" spc="0" normalizeH="0" baseline="0" noProof="0">
                      <a:ln>
                        <a:noFill/>
                      </a:ln>
                      <a:solidFill>
                        <a:srgbClr val="000000"/>
                      </a:solidFill>
                      <a:effectLst/>
                      <a:uLnTx/>
                      <a:uFillTx/>
                      <a:latin typeface="Scotia"/>
                      <a:ea typeface="+mn-ea"/>
                      <a:cs typeface="+mn-cs"/>
                    </a:rPr>
                    <a:t>Continuous front-line analysis</a:t>
                  </a:r>
                  <a:r>
                    <a:rPr kumimoji="0" lang="en-CA" sz="1000" b="0" i="1" u="none" strike="noStrike" kern="1200" cap="none" spc="0" normalizeH="0" baseline="0" noProof="0">
                      <a:ln>
                        <a:noFill/>
                      </a:ln>
                      <a:solidFill>
                        <a:srgbClr val="000000"/>
                      </a:solidFill>
                      <a:effectLst/>
                      <a:uLnTx/>
                      <a:uFillTx/>
                      <a:latin typeface="Scotia"/>
                      <a:ea typeface="+mn-ea"/>
                      <a:cs typeface="+mn-cs"/>
                    </a:rPr>
                    <a:t> to optimize revenue growth </a:t>
                  </a:r>
                </a:p>
              </p:txBody>
            </p:sp>
            <p:sp>
              <p:nvSpPr>
                <p:cNvPr id="42" name="Oval 41">
                  <a:extLst>
                    <a:ext uri="{FF2B5EF4-FFF2-40B4-BE49-F238E27FC236}">
                      <a16:creationId xmlns:a16="http://schemas.microsoft.com/office/drawing/2014/main" id="{FBB471E4-085C-CDD8-0E8B-FA85208B0787}"/>
                    </a:ext>
                  </a:extLst>
                </p:cNvPr>
                <p:cNvSpPr/>
                <p:nvPr/>
              </p:nvSpPr>
              <p:spPr>
                <a:xfrm>
                  <a:off x="3666080" y="5405976"/>
                  <a:ext cx="164592" cy="164592"/>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Scotia"/>
                      <a:ea typeface="+mn-ea"/>
                      <a:cs typeface="+mn-cs"/>
                    </a:rPr>
                    <a:t>5</a:t>
                  </a:r>
                </a:p>
              </p:txBody>
            </p:sp>
          </p:grpSp>
          <p:sp>
            <p:nvSpPr>
              <p:cNvPr id="4" name="Rectangle 3">
                <a:extLst>
                  <a:ext uri="{FF2B5EF4-FFF2-40B4-BE49-F238E27FC236}">
                    <a16:creationId xmlns:a16="http://schemas.microsoft.com/office/drawing/2014/main" id="{36FF895F-BF6C-5E7A-4FC6-6EF54719A406}"/>
                  </a:ext>
                </a:extLst>
              </p:cNvPr>
              <p:cNvSpPr/>
              <p:nvPr/>
            </p:nvSpPr>
            <p:spPr>
              <a:xfrm>
                <a:off x="3666080" y="2505543"/>
                <a:ext cx="2788920" cy="227712"/>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CA" sz="1000" b="1">
                    <a:solidFill>
                      <a:schemeClr val="tx1"/>
                    </a:solidFill>
                  </a:rPr>
                  <a:t>PROCESS</a:t>
                </a:r>
              </a:p>
            </p:txBody>
          </p:sp>
        </p:grpSp>
        <p:sp>
          <p:nvSpPr>
            <p:cNvPr id="15" name="Rectangle 14">
              <a:extLst>
                <a:ext uri="{FF2B5EF4-FFF2-40B4-BE49-F238E27FC236}">
                  <a16:creationId xmlns:a16="http://schemas.microsoft.com/office/drawing/2014/main" id="{94929EAA-9F4C-2541-5EA9-9696E657FDE3}"/>
                </a:ext>
              </a:extLst>
            </p:cNvPr>
            <p:cNvSpPr/>
            <p:nvPr/>
          </p:nvSpPr>
          <p:spPr>
            <a:xfrm>
              <a:off x="6961700" y="4996676"/>
              <a:ext cx="2234289" cy="71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64008"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000" b="0" u="none" strike="noStrike" kern="1200" cap="none" spc="0" normalizeH="0" baseline="0" noProof="0">
                <a:ln>
                  <a:noFill/>
                </a:ln>
                <a:solidFill>
                  <a:srgbClr val="000000"/>
                </a:solidFill>
                <a:effectLst/>
                <a:uLnTx/>
                <a:uFillTx/>
                <a:latin typeface="Scotia"/>
                <a:ea typeface="+mn-ea"/>
                <a:cs typeface="+mn-cs"/>
              </a:endParaRPr>
            </a:p>
          </p:txBody>
        </p:sp>
        <p:grpSp>
          <p:nvGrpSpPr>
            <p:cNvPr id="17" name="Group 16">
              <a:extLst>
                <a:ext uri="{FF2B5EF4-FFF2-40B4-BE49-F238E27FC236}">
                  <a16:creationId xmlns:a16="http://schemas.microsoft.com/office/drawing/2014/main" id="{8A6EC287-51EF-C2B8-174E-931AB4C6125E}"/>
                </a:ext>
              </a:extLst>
            </p:cNvPr>
            <p:cNvGrpSpPr/>
            <p:nvPr/>
          </p:nvGrpSpPr>
          <p:grpSpPr>
            <a:xfrm>
              <a:off x="7001329" y="5101236"/>
              <a:ext cx="4481163" cy="535205"/>
              <a:chOff x="7001329" y="5125390"/>
              <a:chExt cx="4481163" cy="535205"/>
            </a:xfrm>
          </p:grpSpPr>
          <p:sp>
            <p:nvSpPr>
              <p:cNvPr id="20" name="Rectangle 19">
                <a:extLst>
                  <a:ext uri="{FF2B5EF4-FFF2-40B4-BE49-F238E27FC236}">
                    <a16:creationId xmlns:a16="http://schemas.microsoft.com/office/drawing/2014/main" id="{3006A3A0-0F89-BE7E-9BAC-8B0BC9F6AA39}"/>
                  </a:ext>
                </a:extLst>
              </p:cNvPr>
              <p:cNvSpPr/>
              <p:nvPr/>
            </p:nvSpPr>
            <p:spPr>
              <a:xfrm>
                <a:off x="10670692" y="5125390"/>
                <a:ext cx="811800" cy="5352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Digital</a:t>
                </a:r>
              </a:p>
            </p:txBody>
          </p:sp>
          <p:sp>
            <p:nvSpPr>
              <p:cNvPr id="21" name="Rectangle 20">
                <a:extLst>
                  <a:ext uri="{FF2B5EF4-FFF2-40B4-BE49-F238E27FC236}">
                    <a16:creationId xmlns:a16="http://schemas.microsoft.com/office/drawing/2014/main" id="{5CD9E107-9DD8-28C5-13F2-50150B532EF6}"/>
                  </a:ext>
                </a:extLst>
              </p:cNvPr>
              <p:cNvSpPr/>
              <p:nvPr/>
            </p:nvSpPr>
            <p:spPr>
              <a:xfrm>
                <a:off x="8836011" y="5125390"/>
                <a:ext cx="811800" cy="5352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C. Centers</a:t>
                </a:r>
              </a:p>
            </p:txBody>
          </p:sp>
          <p:sp>
            <p:nvSpPr>
              <p:cNvPr id="25" name="Rectangle 24">
                <a:extLst>
                  <a:ext uri="{FF2B5EF4-FFF2-40B4-BE49-F238E27FC236}">
                    <a16:creationId xmlns:a16="http://schemas.microsoft.com/office/drawing/2014/main" id="{D9FB0FAF-3B8D-C71D-8D91-314D591FF29E}"/>
                  </a:ext>
                </a:extLst>
              </p:cNvPr>
              <p:cNvSpPr/>
              <p:nvPr/>
            </p:nvSpPr>
            <p:spPr>
              <a:xfrm>
                <a:off x="9753352" y="5125390"/>
                <a:ext cx="811800" cy="5352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Virt. Branch</a:t>
                </a:r>
              </a:p>
            </p:txBody>
          </p:sp>
          <p:sp>
            <p:nvSpPr>
              <p:cNvPr id="48" name="Rectangle 47">
                <a:extLst>
                  <a:ext uri="{FF2B5EF4-FFF2-40B4-BE49-F238E27FC236}">
                    <a16:creationId xmlns:a16="http://schemas.microsoft.com/office/drawing/2014/main" id="{016E7F9D-BD66-F69D-9DB6-1C987C0C30B2}"/>
                  </a:ext>
                </a:extLst>
              </p:cNvPr>
              <p:cNvSpPr/>
              <p:nvPr/>
            </p:nvSpPr>
            <p:spPr>
              <a:xfrm>
                <a:off x="7918670" y="5125390"/>
                <a:ext cx="811800" cy="5352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NBSF</a:t>
                </a:r>
              </a:p>
            </p:txBody>
          </p:sp>
          <p:sp>
            <p:nvSpPr>
              <p:cNvPr id="49" name="Rectangle 48">
                <a:extLst>
                  <a:ext uri="{FF2B5EF4-FFF2-40B4-BE49-F238E27FC236}">
                    <a16:creationId xmlns:a16="http://schemas.microsoft.com/office/drawing/2014/main" id="{84B8513A-6036-2E6A-E8A0-92A55DB6C27A}"/>
                  </a:ext>
                </a:extLst>
              </p:cNvPr>
              <p:cNvSpPr/>
              <p:nvPr/>
            </p:nvSpPr>
            <p:spPr>
              <a:xfrm>
                <a:off x="7001329" y="5125390"/>
                <a:ext cx="811800" cy="5352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00" b="0" u="none" strike="noStrike" kern="1200" cap="none" spc="0" normalizeH="0" baseline="0" noProof="0">
                    <a:ln>
                      <a:noFill/>
                    </a:ln>
                    <a:solidFill>
                      <a:srgbClr val="000000"/>
                    </a:solidFill>
                    <a:effectLst/>
                    <a:uLnTx/>
                    <a:uFillTx/>
                    <a:latin typeface="Scotia"/>
                    <a:ea typeface="+mn-ea"/>
                    <a:cs typeface="+mn-cs"/>
                  </a:rPr>
                  <a:t>Branch</a:t>
                </a:r>
              </a:p>
            </p:txBody>
          </p:sp>
          <p:grpSp>
            <p:nvGrpSpPr>
              <p:cNvPr id="53" name="Group 52">
                <a:extLst>
                  <a:ext uri="{FF2B5EF4-FFF2-40B4-BE49-F238E27FC236}">
                    <a16:creationId xmlns:a16="http://schemas.microsoft.com/office/drawing/2014/main" id="{84F97A0A-E50E-D7C7-B8BC-FC0B4A61F067}"/>
                  </a:ext>
                </a:extLst>
              </p:cNvPr>
              <p:cNvGrpSpPr/>
              <p:nvPr/>
            </p:nvGrpSpPr>
            <p:grpSpPr>
              <a:xfrm>
                <a:off x="10913394" y="5305996"/>
                <a:ext cx="326396" cy="326396"/>
                <a:chOff x="11631326" y="5305996"/>
                <a:chExt cx="326396" cy="326396"/>
              </a:xfrm>
            </p:grpSpPr>
            <p:sp>
              <p:nvSpPr>
                <p:cNvPr id="1028" name="Oval 1027">
                  <a:extLst>
                    <a:ext uri="{FF2B5EF4-FFF2-40B4-BE49-F238E27FC236}">
                      <a16:creationId xmlns:a16="http://schemas.microsoft.com/office/drawing/2014/main" id="{600B62EA-2856-AC26-EFB0-6FE8D4EAFEF1}"/>
                    </a:ext>
                  </a:extLst>
                </p:cNvPr>
                <p:cNvSpPr/>
                <p:nvPr/>
              </p:nvSpPr>
              <p:spPr>
                <a:xfrm>
                  <a:off x="11631326" y="5305996"/>
                  <a:ext cx="326396" cy="326396"/>
                </a:xfrm>
                <a:prstGeom prst="ellipse">
                  <a:avLst/>
                </a:prstGeom>
                <a:solidFill>
                  <a:srgbClr val="D8D6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1029" name="Graphic 1028" descr="Smart Phone outline">
                  <a:extLst>
                    <a:ext uri="{FF2B5EF4-FFF2-40B4-BE49-F238E27FC236}">
                      <a16:creationId xmlns:a16="http://schemas.microsoft.com/office/drawing/2014/main" id="{CC536DF9-5161-635F-4974-15E49BA88FA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1690411" y="5360395"/>
                  <a:ext cx="217597" cy="217597"/>
                </a:xfrm>
                <a:prstGeom prst="rect">
                  <a:avLst/>
                </a:prstGeom>
              </p:spPr>
            </p:pic>
          </p:grpSp>
          <p:grpSp>
            <p:nvGrpSpPr>
              <p:cNvPr id="55" name="Group 54">
                <a:extLst>
                  <a:ext uri="{FF2B5EF4-FFF2-40B4-BE49-F238E27FC236}">
                    <a16:creationId xmlns:a16="http://schemas.microsoft.com/office/drawing/2014/main" id="{E73F870C-FB06-17D9-63AB-F1126082C18B}"/>
                  </a:ext>
                </a:extLst>
              </p:cNvPr>
              <p:cNvGrpSpPr/>
              <p:nvPr/>
            </p:nvGrpSpPr>
            <p:grpSpPr>
              <a:xfrm>
                <a:off x="9078713" y="5305996"/>
                <a:ext cx="326396" cy="326396"/>
                <a:chOff x="9453041" y="5305996"/>
                <a:chExt cx="326396" cy="326396"/>
              </a:xfrm>
            </p:grpSpPr>
            <p:sp>
              <p:nvSpPr>
                <p:cNvPr id="1026" name="Oval 1025">
                  <a:extLst>
                    <a:ext uri="{FF2B5EF4-FFF2-40B4-BE49-F238E27FC236}">
                      <a16:creationId xmlns:a16="http://schemas.microsoft.com/office/drawing/2014/main" id="{2959DB76-B7AE-59DF-B522-DE7460FA1029}"/>
                    </a:ext>
                  </a:extLst>
                </p:cNvPr>
                <p:cNvSpPr/>
                <p:nvPr/>
              </p:nvSpPr>
              <p:spPr>
                <a:xfrm>
                  <a:off x="9453041" y="5305996"/>
                  <a:ext cx="326396" cy="326396"/>
                </a:xfrm>
                <a:prstGeom prst="ellipse">
                  <a:avLst/>
                </a:prstGeom>
                <a:solidFill>
                  <a:srgbClr val="D8D6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1027" name="Graphic 1026" descr="Call center outline">
                  <a:extLst>
                    <a:ext uri="{FF2B5EF4-FFF2-40B4-BE49-F238E27FC236}">
                      <a16:creationId xmlns:a16="http://schemas.microsoft.com/office/drawing/2014/main" id="{8324D696-50D5-A488-E5A7-E1E3AAD1CB70}"/>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9480241" y="5333196"/>
                  <a:ext cx="271997" cy="271997"/>
                </a:xfrm>
                <a:prstGeom prst="rect">
                  <a:avLst/>
                </a:prstGeom>
              </p:spPr>
            </p:pic>
          </p:grpSp>
          <p:grpSp>
            <p:nvGrpSpPr>
              <p:cNvPr id="56" name="Group 55">
                <a:extLst>
                  <a:ext uri="{FF2B5EF4-FFF2-40B4-BE49-F238E27FC236}">
                    <a16:creationId xmlns:a16="http://schemas.microsoft.com/office/drawing/2014/main" id="{92F44E47-4DF5-C124-7668-5BAA16085564}"/>
                  </a:ext>
                </a:extLst>
              </p:cNvPr>
              <p:cNvGrpSpPr/>
              <p:nvPr/>
            </p:nvGrpSpPr>
            <p:grpSpPr>
              <a:xfrm>
                <a:off x="9996054" y="5305996"/>
                <a:ext cx="326396" cy="326396"/>
                <a:chOff x="10544527" y="5305996"/>
                <a:chExt cx="326396" cy="326396"/>
              </a:xfrm>
            </p:grpSpPr>
            <p:sp>
              <p:nvSpPr>
                <p:cNvPr id="63" name="Oval 62">
                  <a:extLst>
                    <a:ext uri="{FF2B5EF4-FFF2-40B4-BE49-F238E27FC236}">
                      <a16:creationId xmlns:a16="http://schemas.microsoft.com/office/drawing/2014/main" id="{AD275E57-35ED-4A97-A78C-74876E536425}"/>
                    </a:ext>
                  </a:extLst>
                </p:cNvPr>
                <p:cNvSpPr/>
                <p:nvPr/>
              </p:nvSpPr>
              <p:spPr>
                <a:xfrm>
                  <a:off x="10544527" y="5305996"/>
                  <a:ext cx="326396" cy="326396"/>
                </a:xfrm>
                <a:prstGeom prst="ellipse">
                  <a:avLst/>
                </a:prstGeom>
                <a:solidFill>
                  <a:srgbClr val="D8D6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1025" name="Graphic 1024" descr="Internet outline">
                  <a:extLst>
                    <a:ext uri="{FF2B5EF4-FFF2-40B4-BE49-F238E27FC236}">
                      <a16:creationId xmlns:a16="http://schemas.microsoft.com/office/drawing/2014/main" id="{E25172FF-DD91-103D-78B6-8CC59111B97B}"/>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588046" y="5349515"/>
                  <a:ext cx="239357" cy="239357"/>
                </a:xfrm>
                <a:prstGeom prst="rect">
                  <a:avLst/>
                </a:prstGeom>
              </p:spPr>
            </p:pic>
          </p:grpSp>
          <p:grpSp>
            <p:nvGrpSpPr>
              <p:cNvPr id="57" name="Group 56">
                <a:extLst>
                  <a:ext uri="{FF2B5EF4-FFF2-40B4-BE49-F238E27FC236}">
                    <a16:creationId xmlns:a16="http://schemas.microsoft.com/office/drawing/2014/main" id="{49CCE5E3-5618-165F-8338-65BFC143DFE1}"/>
                  </a:ext>
                </a:extLst>
              </p:cNvPr>
              <p:cNvGrpSpPr/>
              <p:nvPr/>
            </p:nvGrpSpPr>
            <p:grpSpPr>
              <a:xfrm>
                <a:off x="8161372" y="5305996"/>
                <a:ext cx="326396" cy="326396"/>
                <a:chOff x="8361555" y="5305996"/>
                <a:chExt cx="326396" cy="326396"/>
              </a:xfrm>
            </p:grpSpPr>
            <p:sp>
              <p:nvSpPr>
                <p:cNvPr id="61" name="Oval 60">
                  <a:extLst>
                    <a:ext uri="{FF2B5EF4-FFF2-40B4-BE49-F238E27FC236}">
                      <a16:creationId xmlns:a16="http://schemas.microsoft.com/office/drawing/2014/main" id="{2B598AF8-0E2A-81AF-5B30-88CF8EF73D5E}"/>
                    </a:ext>
                  </a:extLst>
                </p:cNvPr>
                <p:cNvSpPr/>
                <p:nvPr/>
              </p:nvSpPr>
              <p:spPr>
                <a:xfrm>
                  <a:off x="8361555" y="5305996"/>
                  <a:ext cx="326396" cy="326396"/>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62" name="Graphic 61" descr="Female Profile outline">
                  <a:extLst>
                    <a:ext uri="{FF2B5EF4-FFF2-40B4-BE49-F238E27FC236}">
                      <a16:creationId xmlns:a16="http://schemas.microsoft.com/office/drawing/2014/main" id="{E7ABA4EC-9B75-7F5A-184F-519C9D919F5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388755" y="5333196"/>
                  <a:ext cx="271997" cy="271997"/>
                </a:xfrm>
                <a:prstGeom prst="rect">
                  <a:avLst/>
                </a:prstGeom>
              </p:spPr>
            </p:pic>
          </p:grpSp>
          <p:grpSp>
            <p:nvGrpSpPr>
              <p:cNvPr id="58" name="Group 57">
                <a:extLst>
                  <a:ext uri="{FF2B5EF4-FFF2-40B4-BE49-F238E27FC236}">
                    <a16:creationId xmlns:a16="http://schemas.microsoft.com/office/drawing/2014/main" id="{ED13AB5F-D554-1C97-F82C-920808751486}"/>
                  </a:ext>
                </a:extLst>
              </p:cNvPr>
              <p:cNvGrpSpPr/>
              <p:nvPr/>
            </p:nvGrpSpPr>
            <p:grpSpPr>
              <a:xfrm>
                <a:off x="7244031" y="5305996"/>
                <a:ext cx="326396" cy="326396"/>
                <a:chOff x="7270069" y="5305996"/>
                <a:chExt cx="326396" cy="326396"/>
              </a:xfrm>
            </p:grpSpPr>
            <p:sp>
              <p:nvSpPr>
                <p:cNvPr id="59" name="Oval 58">
                  <a:extLst>
                    <a:ext uri="{FF2B5EF4-FFF2-40B4-BE49-F238E27FC236}">
                      <a16:creationId xmlns:a16="http://schemas.microsoft.com/office/drawing/2014/main" id="{5196F21D-3DFB-4E37-C143-ADDE6B38CF85}"/>
                    </a:ext>
                  </a:extLst>
                </p:cNvPr>
                <p:cNvSpPr/>
                <p:nvPr/>
              </p:nvSpPr>
              <p:spPr>
                <a:xfrm>
                  <a:off x="7270069" y="5305996"/>
                  <a:ext cx="326396" cy="326396"/>
                </a:xfrm>
                <a:prstGeom prst="ellipse">
                  <a:avLst/>
                </a:prstGeom>
                <a:solidFill>
                  <a:srgbClr val="D8D6C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000">
                    <a:solidFill>
                      <a:schemeClr val="tx1"/>
                    </a:solidFill>
                  </a:endParaRPr>
                </a:p>
              </p:txBody>
            </p:sp>
            <p:pic>
              <p:nvPicPr>
                <p:cNvPr id="60" name="Graphic 59" descr="Bank outline">
                  <a:extLst>
                    <a:ext uri="{FF2B5EF4-FFF2-40B4-BE49-F238E27FC236}">
                      <a16:creationId xmlns:a16="http://schemas.microsoft.com/office/drawing/2014/main" id="{F16A4EE3-72D8-AF57-7023-256423C5FCF0}"/>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7297269" y="5333196"/>
                  <a:ext cx="271997" cy="271997"/>
                </a:xfrm>
                <a:prstGeom prst="rect">
                  <a:avLst/>
                </a:prstGeom>
              </p:spPr>
            </p:pic>
          </p:grpSp>
        </p:grpSp>
      </p:grpSp>
      <p:sp>
        <p:nvSpPr>
          <p:cNvPr id="1148" name="TextBox 1147">
            <a:extLst>
              <a:ext uri="{FF2B5EF4-FFF2-40B4-BE49-F238E27FC236}">
                <a16:creationId xmlns:a16="http://schemas.microsoft.com/office/drawing/2014/main" id="{5D57DDF9-4F84-9DA5-D4FC-A6DA7D608B1D}"/>
              </a:ext>
            </a:extLst>
          </p:cNvPr>
          <p:cNvSpPr txBox="1"/>
          <p:nvPr/>
        </p:nvSpPr>
        <p:spPr>
          <a:xfrm>
            <a:off x="515936" y="5910245"/>
            <a:ext cx="11160123" cy="261610"/>
          </a:xfrm>
          <a:prstGeom prst="rect">
            <a:avLst/>
          </a:prstGeom>
          <a:solidFill>
            <a:srgbClr val="E5D7C5"/>
          </a:solidFill>
          <a:ln>
            <a:noFill/>
          </a:ln>
        </p:spPr>
        <p:txBody>
          <a:bodyPr wrap="square" rtlCol="0" anchor="ctr">
            <a:spAutoFit/>
          </a:bodyPr>
          <a:lstStyle/>
          <a:p>
            <a:pPr algn="ctr"/>
            <a:r>
              <a:rPr lang="en-US" sz="1100" b="1" i="1"/>
              <a:t>Initial analysis on next slide focused on Peru, given growing contribution to incremental revenue; additional countries to follow as data becomes available</a:t>
            </a:r>
          </a:p>
        </p:txBody>
      </p:sp>
    </p:spTree>
    <p:extLst>
      <p:ext uri="{BB962C8B-B14F-4D97-AF65-F5344CB8AC3E}">
        <p14:creationId xmlns:p14="http://schemas.microsoft.com/office/powerpoint/2010/main" val="218140781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27C4B1DE-01D4-2AF4-371B-581838498FB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606" imgH="608" progId="TCLayout.ActiveDocument.1">
                  <p:embed/>
                </p:oleObj>
              </mc:Choice>
              <mc:Fallback>
                <p:oleObj name="think-cell Slide" r:id="rId4" imgW="606" imgH="608" progId="TCLayout.ActiveDocument.1">
                  <p:embed/>
                  <p:pic>
                    <p:nvPicPr>
                      <p:cNvPr id="14" name="think-cell data - do not delete" hidden="1">
                        <a:extLst>
                          <a:ext uri="{FF2B5EF4-FFF2-40B4-BE49-F238E27FC236}">
                            <a16:creationId xmlns:a16="http://schemas.microsoft.com/office/drawing/2014/main" id="{27C4B1DE-01D4-2AF4-371B-581838498FB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7CFAB2CC-F0D2-D816-1C20-C7B0ECC0CE03}"/>
              </a:ext>
            </a:extLst>
          </p:cNvPr>
          <p:cNvSpPr>
            <a:spLocks noGrp="1"/>
          </p:cNvSpPr>
          <p:nvPr>
            <p:ph type="title"/>
          </p:nvPr>
        </p:nvSpPr>
        <p:spPr/>
        <p:txBody>
          <a:bodyPr vert="horz"/>
          <a:lstStyle/>
          <a:p>
            <a:r>
              <a:rPr lang="en-CA">
                <a:solidFill>
                  <a:srgbClr val="EC111A"/>
                </a:solidFill>
              </a:rPr>
              <a:t>Mass Affluent Clients | </a:t>
            </a:r>
            <a:r>
              <a:rPr lang="en-CA"/>
              <a:t>Age segments</a:t>
            </a:r>
            <a:r>
              <a:rPr lang="en-CA">
                <a:solidFill>
                  <a:srgbClr val="EC111A"/>
                </a:solidFill>
              </a:rPr>
              <a:t> </a:t>
            </a:r>
            <a:r>
              <a:rPr lang="en-CA"/>
              <a:t>have distinct motivations; </a:t>
            </a:r>
            <a:r>
              <a:rPr lang="en-US"/>
              <a:t>younger clients show the strongest demand for advice and are the most willing to pay</a:t>
            </a:r>
            <a:endParaRPr lang="en-CA">
              <a:solidFill>
                <a:srgbClr val="EC111A"/>
              </a:solidFill>
            </a:endParaRPr>
          </a:p>
        </p:txBody>
      </p:sp>
      <p:sp>
        <p:nvSpPr>
          <p:cNvPr id="3" name="Slide Number Placeholder 2">
            <a:extLst>
              <a:ext uri="{FF2B5EF4-FFF2-40B4-BE49-F238E27FC236}">
                <a16:creationId xmlns:a16="http://schemas.microsoft.com/office/drawing/2014/main" id="{D1176EBF-F320-697A-834C-CD0F7970183E}"/>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 name="Text Placeholder 4">
            <a:extLst>
              <a:ext uri="{FF2B5EF4-FFF2-40B4-BE49-F238E27FC236}">
                <a16:creationId xmlns:a16="http://schemas.microsoft.com/office/drawing/2014/main" id="{44F4653A-3466-BF87-BA2D-66825EA23782}"/>
              </a:ext>
            </a:extLst>
          </p:cNvPr>
          <p:cNvSpPr>
            <a:spLocks noGrp="1"/>
          </p:cNvSpPr>
          <p:nvPr>
            <p:ph type="body" sz="quarter" idx="13"/>
          </p:nvPr>
        </p:nvSpPr>
        <p:spPr/>
        <p:txBody>
          <a:bodyPr/>
          <a:lstStyle/>
          <a:p>
            <a:r>
              <a:rPr lang="en-CA"/>
              <a:t>Client Segments</a:t>
            </a:r>
          </a:p>
        </p:txBody>
      </p:sp>
      <p:sp>
        <p:nvSpPr>
          <p:cNvPr id="6" name="Text Placeholder 5">
            <a:extLst>
              <a:ext uri="{FF2B5EF4-FFF2-40B4-BE49-F238E27FC236}">
                <a16:creationId xmlns:a16="http://schemas.microsoft.com/office/drawing/2014/main" id="{CF55D1EA-484D-C364-FD6F-BABF75BBBD46}"/>
              </a:ext>
            </a:extLst>
          </p:cNvPr>
          <p:cNvSpPr>
            <a:spLocks noGrp="1"/>
          </p:cNvSpPr>
          <p:nvPr>
            <p:ph type="body" sz="quarter" idx="11"/>
          </p:nvPr>
        </p:nvSpPr>
        <p:spPr/>
        <p:txBody>
          <a:bodyPr/>
          <a:lstStyle/>
          <a:p>
            <a:r>
              <a:rPr lang="en-CA"/>
              <a:t>Source: </a:t>
            </a:r>
            <a:r>
              <a:rPr lang="en-CA" err="1"/>
              <a:t>Curinos</a:t>
            </a:r>
            <a:r>
              <a:rPr lang="en-CA"/>
              <a:t> Channel Engagement Survey; 2025 </a:t>
            </a:r>
          </a:p>
        </p:txBody>
      </p:sp>
      <p:pic>
        <p:nvPicPr>
          <p:cNvPr id="7" name="Picture 6">
            <a:extLst>
              <a:ext uri="{FF2B5EF4-FFF2-40B4-BE49-F238E27FC236}">
                <a16:creationId xmlns:a16="http://schemas.microsoft.com/office/drawing/2014/main" id="{FDBC54D8-B290-4215-4E26-5D3F452975CE}"/>
              </a:ext>
            </a:extLst>
          </p:cNvPr>
          <p:cNvPicPr>
            <a:picLocks noChangeAspect="1"/>
          </p:cNvPicPr>
          <p:nvPr/>
        </p:nvPicPr>
        <p:blipFill>
          <a:blip r:embed="rId6"/>
          <a:srcRect l="18158" t="1010"/>
          <a:stretch>
            <a:fillRect/>
          </a:stretch>
        </p:blipFill>
        <p:spPr>
          <a:xfrm>
            <a:off x="7187936" y="2520364"/>
            <a:ext cx="612571" cy="564678"/>
          </a:xfrm>
          <a:prstGeom prst="rect">
            <a:avLst/>
          </a:prstGeom>
        </p:spPr>
      </p:pic>
      <p:pic>
        <p:nvPicPr>
          <p:cNvPr id="8" name="Picture 2" descr="Man ">
            <a:extLst>
              <a:ext uri="{FF2B5EF4-FFF2-40B4-BE49-F238E27FC236}">
                <a16:creationId xmlns:a16="http://schemas.microsoft.com/office/drawing/2014/main" id="{B0FB223B-1C3D-340C-7BDB-5D5FBB55155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64346" y="2552464"/>
            <a:ext cx="506256" cy="491143"/>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id="{AC3BFB0A-D95F-2428-0432-F875F61E3B27}"/>
              </a:ext>
            </a:extLst>
          </p:cNvPr>
          <p:cNvSpPr/>
          <p:nvPr/>
        </p:nvSpPr>
        <p:spPr>
          <a:xfrm>
            <a:off x="7892882" y="2571666"/>
            <a:ext cx="3764417" cy="462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Above 35 years</a:t>
            </a:r>
            <a:r>
              <a:rPr kumimoji="0" lang="en-US" sz="1200" b="0" i="0" u="none" strike="noStrike" kern="1200" cap="none" spc="0" normalizeH="0" baseline="0" noProof="0">
                <a:ln>
                  <a:noFill/>
                </a:ln>
                <a:solidFill>
                  <a:srgbClr val="000000"/>
                </a:solidFill>
                <a:effectLst/>
                <a:uLnTx/>
                <a:uFillTx/>
                <a:latin typeface="Scotia"/>
                <a:ea typeface="+mn-ea"/>
                <a:cs typeface="+mn-cs"/>
              </a:rPr>
              <a:t> in age, with over $100M in income</a:t>
            </a:r>
          </a:p>
        </p:txBody>
      </p:sp>
      <p:sp>
        <p:nvSpPr>
          <p:cNvPr id="17" name="Rectangle 16">
            <a:extLst>
              <a:ext uri="{FF2B5EF4-FFF2-40B4-BE49-F238E27FC236}">
                <a16:creationId xmlns:a16="http://schemas.microsoft.com/office/drawing/2014/main" id="{50C65B2E-FB29-C52F-0088-E470E300A023}"/>
              </a:ext>
            </a:extLst>
          </p:cNvPr>
          <p:cNvSpPr/>
          <p:nvPr/>
        </p:nvSpPr>
        <p:spPr>
          <a:xfrm>
            <a:off x="2862978" y="2566998"/>
            <a:ext cx="3764417" cy="462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Below 35 years</a:t>
            </a:r>
            <a:r>
              <a:rPr kumimoji="0" lang="en-US" sz="1200" b="0" i="0" u="none" strike="noStrike" kern="1200" cap="none" spc="0" normalizeH="0" baseline="0" noProof="0">
                <a:ln>
                  <a:noFill/>
                </a:ln>
                <a:solidFill>
                  <a:srgbClr val="000000"/>
                </a:solidFill>
                <a:effectLst/>
                <a:uLnTx/>
                <a:uFillTx/>
                <a:latin typeface="Scotia"/>
                <a:ea typeface="+mn-ea"/>
                <a:cs typeface="+mn-cs"/>
              </a:rPr>
              <a:t> in age, with over $100M in income</a:t>
            </a:r>
          </a:p>
        </p:txBody>
      </p:sp>
      <p:sp>
        <p:nvSpPr>
          <p:cNvPr id="22" name="Rectangle 21">
            <a:extLst>
              <a:ext uri="{FF2B5EF4-FFF2-40B4-BE49-F238E27FC236}">
                <a16:creationId xmlns:a16="http://schemas.microsoft.com/office/drawing/2014/main" id="{90F5880E-6AAB-BD2B-F035-40E79F7CB3E0}"/>
              </a:ext>
            </a:extLst>
          </p:cNvPr>
          <p:cNvSpPr/>
          <p:nvPr/>
        </p:nvSpPr>
        <p:spPr>
          <a:xfrm>
            <a:off x="2148851" y="1989791"/>
            <a:ext cx="4636834" cy="3581388"/>
          </a:xfrm>
          <a:prstGeom prst="rect">
            <a:avLst/>
          </a:prstGeom>
          <a:no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3" name="Rectangle 22">
            <a:extLst>
              <a:ext uri="{FF2B5EF4-FFF2-40B4-BE49-F238E27FC236}">
                <a16:creationId xmlns:a16="http://schemas.microsoft.com/office/drawing/2014/main" id="{BA9145B7-712C-62CC-1555-668E7609967D}"/>
              </a:ext>
            </a:extLst>
          </p:cNvPr>
          <p:cNvSpPr/>
          <p:nvPr/>
        </p:nvSpPr>
        <p:spPr>
          <a:xfrm>
            <a:off x="7043091" y="1994686"/>
            <a:ext cx="4636834" cy="3576434"/>
          </a:xfrm>
          <a:prstGeom prst="rect">
            <a:avLst/>
          </a:prstGeom>
          <a:no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6" name="Rectangle 25">
            <a:extLst>
              <a:ext uri="{FF2B5EF4-FFF2-40B4-BE49-F238E27FC236}">
                <a16:creationId xmlns:a16="http://schemas.microsoft.com/office/drawing/2014/main" id="{371B1777-2B92-8BEC-3D4E-635A9C501F84}"/>
              </a:ext>
            </a:extLst>
          </p:cNvPr>
          <p:cNvSpPr/>
          <p:nvPr/>
        </p:nvSpPr>
        <p:spPr>
          <a:xfrm>
            <a:off x="2148851" y="5514799"/>
            <a:ext cx="4636834" cy="49159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200" b="0" i="0" u="none" strike="noStrike" kern="1200" cap="none" spc="0" normalizeH="0" baseline="0" noProof="0">
                <a:ln>
                  <a:noFill/>
                </a:ln>
                <a:solidFill>
                  <a:srgbClr val="FFFFFF"/>
                </a:solidFill>
                <a:effectLst/>
                <a:uLnTx/>
                <a:uFillTx/>
                <a:latin typeface="Scotia"/>
                <a:ea typeface="+mn-ea"/>
                <a:cs typeface="+mn-cs"/>
              </a:rPr>
              <a:t>HENRY show </a:t>
            </a:r>
            <a:r>
              <a:rPr kumimoji="0" lang="en-CA" sz="1200" b="1" i="0" u="none" strike="noStrike" kern="1200" cap="none" spc="0" normalizeH="0" baseline="0" noProof="0">
                <a:ln>
                  <a:noFill/>
                </a:ln>
                <a:solidFill>
                  <a:srgbClr val="FFFFFF"/>
                </a:solidFill>
                <a:effectLst/>
                <a:uLnTx/>
                <a:uFillTx/>
                <a:latin typeface="Scotia"/>
                <a:ea typeface="+mn-ea"/>
                <a:cs typeface="+mn-cs"/>
              </a:rPr>
              <a:t>strong demand and willingness to pay for advice</a:t>
            </a:r>
            <a:r>
              <a:rPr kumimoji="0" lang="en-CA" sz="1200" b="0" i="0" u="none" strike="noStrike" kern="1200" cap="none" spc="0" normalizeH="0" baseline="0" noProof="0">
                <a:ln>
                  <a:noFill/>
                </a:ln>
                <a:solidFill>
                  <a:srgbClr val="FFFFFF"/>
                </a:solidFill>
                <a:effectLst/>
                <a:uLnTx/>
                <a:uFillTx/>
                <a:latin typeface="Scotia"/>
                <a:ea typeface="+mn-ea"/>
                <a:cs typeface="+mn-cs"/>
              </a:rPr>
              <a:t>, positioning them as a high opportunity segment</a:t>
            </a:r>
          </a:p>
        </p:txBody>
      </p:sp>
      <p:sp>
        <p:nvSpPr>
          <p:cNvPr id="31" name="Rectangle 30">
            <a:extLst>
              <a:ext uri="{FF2B5EF4-FFF2-40B4-BE49-F238E27FC236}">
                <a16:creationId xmlns:a16="http://schemas.microsoft.com/office/drawing/2014/main" id="{245AC6F5-2EE3-E6A8-B519-F632BFAF57D0}"/>
              </a:ext>
            </a:extLst>
          </p:cNvPr>
          <p:cNvSpPr/>
          <p:nvPr/>
        </p:nvSpPr>
        <p:spPr>
          <a:xfrm>
            <a:off x="7043091" y="5519467"/>
            <a:ext cx="4636834" cy="49159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200" b="0" i="0" u="none" strike="noStrike" kern="1200" cap="none" spc="0" normalizeH="0" baseline="0" noProof="0">
                <a:ln>
                  <a:noFill/>
                </a:ln>
                <a:solidFill>
                  <a:srgbClr val="FFFFFF"/>
                </a:solidFill>
                <a:effectLst/>
                <a:uLnTx/>
                <a:uFillTx/>
                <a:latin typeface="Scotia"/>
                <a:ea typeface="+mn-ea"/>
                <a:cs typeface="+mn-cs"/>
              </a:rPr>
              <a:t>Affluent consumers are </a:t>
            </a:r>
            <a:r>
              <a:rPr kumimoji="0" lang="en-CA" sz="1200" b="1" i="0" u="none" strike="noStrike" kern="1200" cap="none" spc="0" normalizeH="0" baseline="0" noProof="0">
                <a:ln>
                  <a:noFill/>
                </a:ln>
                <a:solidFill>
                  <a:srgbClr val="FFFFFF"/>
                </a:solidFill>
                <a:effectLst/>
                <a:uLnTx/>
                <a:uFillTx/>
                <a:latin typeface="Scotia"/>
                <a:ea typeface="+mn-ea"/>
                <a:cs typeface="+mn-cs"/>
              </a:rPr>
              <a:t>selective and self-reliant</a:t>
            </a:r>
            <a:r>
              <a:rPr kumimoji="0" lang="en-CA" sz="1200" b="0" i="0" u="none" strike="noStrike" kern="1200" cap="none" spc="0" normalizeH="0" baseline="0" noProof="0">
                <a:ln>
                  <a:noFill/>
                </a:ln>
                <a:solidFill>
                  <a:srgbClr val="FFFFFF"/>
                </a:solidFill>
                <a:effectLst/>
                <a:uLnTx/>
                <a:uFillTx/>
                <a:latin typeface="Scotia"/>
                <a:ea typeface="+mn-ea"/>
                <a:cs typeface="+mn-cs"/>
              </a:rPr>
              <a:t>; advice must signal credibility and deliver tangible value</a:t>
            </a:r>
          </a:p>
        </p:txBody>
      </p:sp>
      <p:sp>
        <p:nvSpPr>
          <p:cNvPr id="71" name="Rectangle 70">
            <a:extLst>
              <a:ext uri="{FF2B5EF4-FFF2-40B4-BE49-F238E27FC236}">
                <a16:creationId xmlns:a16="http://schemas.microsoft.com/office/drawing/2014/main" id="{6D46489C-EBD4-7430-0A6E-A6F5376D7276}"/>
              </a:ext>
            </a:extLst>
          </p:cNvPr>
          <p:cNvSpPr/>
          <p:nvPr/>
        </p:nvSpPr>
        <p:spPr>
          <a:xfrm>
            <a:off x="9503230" y="-2111"/>
            <a:ext cx="2688770" cy="3551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300" normalizeH="0" baseline="0" noProof="0">
                <a:ln>
                  <a:noFill/>
                </a:ln>
                <a:solidFill>
                  <a:srgbClr val="FFFFFF"/>
                </a:solidFill>
                <a:effectLst/>
                <a:uLnTx/>
                <a:uFillTx/>
                <a:latin typeface="Scotia"/>
                <a:ea typeface="+mn-ea"/>
                <a:cs typeface="+mn-cs"/>
              </a:rPr>
              <a:t>MORE RESEARCH ON SEGMENT UNDERWAY</a:t>
            </a:r>
          </a:p>
        </p:txBody>
      </p:sp>
      <p:sp>
        <p:nvSpPr>
          <p:cNvPr id="4" name="Rectangle 3">
            <a:extLst>
              <a:ext uri="{FF2B5EF4-FFF2-40B4-BE49-F238E27FC236}">
                <a16:creationId xmlns:a16="http://schemas.microsoft.com/office/drawing/2014/main" id="{E783C53F-8803-E3D3-C989-99443912A281}"/>
              </a:ext>
            </a:extLst>
          </p:cNvPr>
          <p:cNvSpPr/>
          <p:nvPr/>
        </p:nvSpPr>
        <p:spPr>
          <a:xfrm>
            <a:off x="866746" y="3352728"/>
            <a:ext cx="1446443" cy="523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Channel</a:t>
            </a:r>
          </a:p>
        </p:txBody>
      </p:sp>
      <p:sp>
        <p:nvSpPr>
          <p:cNvPr id="20" name="Rectangle 19">
            <a:extLst>
              <a:ext uri="{FF2B5EF4-FFF2-40B4-BE49-F238E27FC236}">
                <a16:creationId xmlns:a16="http://schemas.microsoft.com/office/drawing/2014/main" id="{9F019EFD-F2F3-E623-0E0C-DBA253923886}"/>
              </a:ext>
            </a:extLst>
          </p:cNvPr>
          <p:cNvSpPr/>
          <p:nvPr/>
        </p:nvSpPr>
        <p:spPr>
          <a:xfrm>
            <a:off x="827780" y="4915644"/>
            <a:ext cx="1446443" cy="523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Investments</a:t>
            </a:r>
          </a:p>
        </p:txBody>
      </p:sp>
      <p:sp>
        <p:nvSpPr>
          <p:cNvPr id="25" name="Rectangle 24">
            <a:extLst>
              <a:ext uri="{FF2B5EF4-FFF2-40B4-BE49-F238E27FC236}">
                <a16:creationId xmlns:a16="http://schemas.microsoft.com/office/drawing/2014/main" id="{5E1BB24D-02BD-8464-CAC2-17B97D91DFBF}"/>
              </a:ext>
            </a:extLst>
          </p:cNvPr>
          <p:cNvSpPr/>
          <p:nvPr/>
        </p:nvSpPr>
        <p:spPr>
          <a:xfrm>
            <a:off x="866746" y="4139868"/>
            <a:ext cx="1446443" cy="523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Advice</a:t>
            </a:r>
          </a:p>
        </p:txBody>
      </p:sp>
      <p:sp>
        <p:nvSpPr>
          <p:cNvPr id="64" name="TextBox 63">
            <a:extLst>
              <a:ext uri="{FF2B5EF4-FFF2-40B4-BE49-F238E27FC236}">
                <a16:creationId xmlns:a16="http://schemas.microsoft.com/office/drawing/2014/main" id="{F527E9BA-666B-B3BC-0D29-FD184B7A086A}"/>
              </a:ext>
            </a:extLst>
          </p:cNvPr>
          <p:cNvSpPr txBox="1"/>
          <p:nvPr/>
        </p:nvSpPr>
        <p:spPr>
          <a:xfrm>
            <a:off x="2171476" y="3396291"/>
            <a:ext cx="4591583" cy="43088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Branch channels </a:t>
            </a:r>
            <a:r>
              <a:rPr kumimoji="0" lang="en-CA" sz="1100" b="0" i="0" u="none" strike="noStrike" kern="1200" cap="none" spc="0" normalizeH="0" baseline="0" noProof="0">
                <a:ln>
                  <a:noFill/>
                </a:ln>
                <a:solidFill>
                  <a:srgbClr val="000000"/>
                </a:solidFill>
                <a:effectLst/>
                <a:uLnTx/>
                <a:uFillTx/>
                <a:latin typeface="Scotia"/>
                <a:ea typeface="+mn-ea"/>
                <a:cs typeface="+mn-cs"/>
              </a:rPr>
              <a:t>are the most preferred channel for receiving advice (30%), followed by phone calls (18%)</a:t>
            </a:r>
          </a:p>
        </p:txBody>
      </p:sp>
      <p:sp>
        <p:nvSpPr>
          <p:cNvPr id="66" name="TextBox 65">
            <a:extLst>
              <a:ext uri="{FF2B5EF4-FFF2-40B4-BE49-F238E27FC236}">
                <a16:creationId xmlns:a16="http://schemas.microsoft.com/office/drawing/2014/main" id="{3513D2BA-4A06-3C6A-BC3B-CE06BBA9B191}"/>
              </a:ext>
            </a:extLst>
          </p:cNvPr>
          <p:cNvSpPr txBox="1"/>
          <p:nvPr/>
        </p:nvSpPr>
        <p:spPr>
          <a:xfrm>
            <a:off x="7065716" y="3400959"/>
            <a:ext cx="4591583" cy="43088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Branch channels </a:t>
            </a:r>
            <a:r>
              <a:rPr kumimoji="0" lang="en-US" sz="1100" b="0" i="0" u="none" strike="noStrike" kern="1200" cap="none" spc="0" normalizeH="0" baseline="0" noProof="0">
                <a:ln>
                  <a:noFill/>
                </a:ln>
                <a:solidFill>
                  <a:srgbClr val="000000"/>
                </a:solidFill>
                <a:effectLst/>
                <a:uLnTx/>
                <a:uFillTx/>
                <a:latin typeface="Scotia"/>
                <a:ea typeface="+mn-ea"/>
                <a:cs typeface="+mn-cs"/>
              </a:rPr>
              <a:t>most preferred channel for advice (24%), with openness </a:t>
            </a:r>
            <a:r>
              <a:rPr kumimoji="0" lang="en-US" sz="1100" b="1" i="0" u="none" strike="noStrike" kern="1200" cap="none" spc="0" normalizeH="0" baseline="0" noProof="0">
                <a:ln>
                  <a:noFill/>
                </a:ln>
                <a:solidFill>
                  <a:srgbClr val="000000"/>
                </a:solidFill>
                <a:effectLst/>
                <a:uLnTx/>
                <a:uFillTx/>
                <a:latin typeface="Scotia"/>
                <a:ea typeface="+mn-ea"/>
                <a:cs typeface="+mn-cs"/>
              </a:rPr>
              <a:t>to virtual channels (i.e., video call, chat or text message)</a:t>
            </a:r>
          </a:p>
        </p:txBody>
      </p:sp>
      <p:sp>
        <p:nvSpPr>
          <p:cNvPr id="67" name="TextBox 66">
            <a:extLst>
              <a:ext uri="{FF2B5EF4-FFF2-40B4-BE49-F238E27FC236}">
                <a16:creationId xmlns:a16="http://schemas.microsoft.com/office/drawing/2014/main" id="{C1A364E4-2E3F-A56B-B6C2-250FEB0990BF}"/>
              </a:ext>
            </a:extLst>
          </p:cNvPr>
          <p:cNvSpPr txBox="1"/>
          <p:nvPr/>
        </p:nvSpPr>
        <p:spPr>
          <a:xfrm>
            <a:off x="2171477" y="3986307"/>
            <a:ext cx="4591583" cy="83099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65% </a:t>
            </a:r>
            <a:r>
              <a:rPr kumimoji="0" lang="en-US" sz="1100" b="0" i="0" u="none" strike="noStrike" kern="1200" cap="none" spc="0" normalizeH="0" baseline="0" noProof="0">
                <a:ln>
                  <a:noFill/>
                </a:ln>
                <a:solidFill>
                  <a:srgbClr val="000000"/>
                </a:solidFill>
                <a:effectLst/>
                <a:uLnTx/>
                <a:uFillTx/>
                <a:latin typeface="Scotia"/>
                <a:ea typeface="+mn-ea"/>
                <a:cs typeface="+mn-cs"/>
              </a:rPr>
              <a:t>of</a:t>
            </a:r>
            <a:r>
              <a:rPr kumimoji="0" lang="en-US" sz="1100" b="1" i="0" u="none" strike="noStrike" kern="1200" cap="none" spc="0" normalizeH="0" baseline="0" noProof="0">
                <a:ln>
                  <a:noFill/>
                </a:ln>
                <a:solidFill>
                  <a:srgbClr val="000000"/>
                </a:solidFill>
                <a:effectLst/>
                <a:uLnTx/>
                <a:uFillTx/>
                <a:latin typeface="Scotia"/>
                <a:ea typeface="+mn-ea"/>
                <a:cs typeface="+mn-cs"/>
              </a:rPr>
              <a:t> </a:t>
            </a:r>
            <a:r>
              <a:rPr kumimoji="0" lang="en-US" sz="1100" b="0" i="0" u="none" strike="noStrike" kern="1200" cap="none" spc="0" normalizeH="0" baseline="0" noProof="0">
                <a:ln>
                  <a:noFill/>
                </a:ln>
                <a:solidFill>
                  <a:srgbClr val="000000"/>
                </a:solidFill>
                <a:effectLst/>
                <a:uLnTx/>
                <a:uFillTx/>
                <a:latin typeface="Scotia"/>
                <a:ea typeface="+mn-ea"/>
                <a:cs typeface="+mn-cs"/>
              </a:rPr>
              <a:t>respondents created a </a:t>
            </a:r>
            <a:r>
              <a:rPr kumimoji="0" lang="en-US" sz="1100" b="1" i="0" u="none" strike="noStrike" kern="1200" cap="none" spc="0" normalizeH="0" baseline="0" noProof="0">
                <a:ln>
                  <a:noFill/>
                </a:ln>
                <a:solidFill>
                  <a:srgbClr val="000000"/>
                </a:solidFill>
                <a:effectLst/>
                <a:uLnTx/>
                <a:uFillTx/>
                <a:latin typeface="Scotia"/>
                <a:ea typeface="+mn-ea"/>
                <a:cs typeface="+mn-cs"/>
              </a:rPr>
              <a:t>financial plan in the last year</a:t>
            </a:r>
          </a:p>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50% willing to pay for personalized advice</a:t>
            </a:r>
            <a:r>
              <a:rPr kumimoji="0" lang="en-US" sz="1100" b="0" i="0" u="none" strike="noStrike" kern="1200" cap="none" spc="0" normalizeH="0" baseline="0" noProof="0">
                <a:ln>
                  <a:noFill/>
                </a:ln>
                <a:solidFill>
                  <a:srgbClr val="000000"/>
                </a:solidFill>
                <a:effectLst/>
                <a:uLnTx/>
                <a:uFillTx/>
                <a:latin typeface="Scotia"/>
                <a:ea typeface="+mn-ea"/>
                <a:cs typeface="+mn-cs"/>
              </a:rPr>
              <a:t>; highest of any segment</a:t>
            </a:r>
          </a:p>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High use of </a:t>
            </a:r>
            <a:r>
              <a:rPr kumimoji="0" lang="en-US" sz="1100" b="1" i="0" u="none" strike="noStrike" kern="1200" cap="none" spc="0" normalizeH="0" baseline="0" noProof="0">
                <a:ln>
                  <a:noFill/>
                </a:ln>
                <a:solidFill>
                  <a:srgbClr val="000000"/>
                </a:solidFill>
                <a:effectLst/>
                <a:uLnTx/>
                <a:uFillTx/>
                <a:latin typeface="Scotia"/>
                <a:ea typeface="+mn-ea"/>
                <a:cs typeface="+mn-cs"/>
              </a:rPr>
              <a:t>bank tools &amp; resources </a:t>
            </a:r>
            <a:r>
              <a:rPr kumimoji="0" lang="en-US" sz="1100" b="0" i="0" u="none" strike="noStrike" kern="1200" cap="none" spc="0" normalizeH="0" baseline="0" noProof="0">
                <a:ln>
                  <a:noFill/>
                </a:ln>
                <a:solidFill>
                  <a:srgbClr val="000000"/>
                </a:solidFill>
                <a:effectLst/>
                <a:uLnTx/>
                <a:uFillTx/>
                <a:latin typeface="Scotia"/>
                <a:ea typeface="+mn-ea"/>
                <a:cs typeface="+mn-cs"/>
              </a:rPr>
              <a:t>relative to other segments (29%)</a:t>
            </a:r>
          </a:p>
        </p:txBody>
      </p:sp>
      <p:sp>
        <p:nvSpPr>
          <p:cNvPr id="70" name="Rectangle 69">
            <a:extLst>
              <a:ext uri="{FF2B5EF4-FFF2-40B4-BE49-F238E27FC236}">
                <a16:creationId xmlns:a16="http://schemas.microsoft.com/office/drawing/2014/main" id="{A3539A44-4112-B5B2-A71A-EA2FE9C4D50D}"/>
              </a:ext>
            </a:extLst>
          </p:cNvPr>
          <p:cNvSpPr/>
          <p:nvPr/>
        </p:nvSpPr>
        <p:spPr>
          <a:xfrm>
            <a:off x="250912" y="2968072"/>
            <a:ext cx="2071967" cy="523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300" normalizeH="0" baseline="0" noProof="0">
                <a:ln>
                  <a:noFill/>
                </a:ln>
                <a:solidFill>
                  <a:srgbClr val="000000"/>
                </a:solidFill>
                <a:effectLst/>
                <a:uLnTx/>
                <a:uFillTx/>
                <a:latin typeface="Scotia"/>
                <a:ea typeface="+mn-ea"/>
                <a:cs typeface="+mn-cs"/>
              </a:rPr>
              <a:t>PREFERENCES</a:t>
            </a:r>
          </a:p>
        </p:txBody>
      </p:sp>
      <p:sp>
        <p:nvSpPr>
          <p:cNvPr id="72" name="TextBox 71">
            <a:extLst>
              <a:ext uri="{FF2B5EF4-FFF2-40B4-BE49-F238E27FC236}">
                <a16:creationId xmlns:a16="http://schemas.microsoft.com/office/drawing/2014/main" id="{AE4EFEF4-EB85-7100-B47E-97F56576213B}"/>
              </a:ext>
            </a:extLst>
          </p:cNvPr>
          <p:cNvSpPr txBox="1"/>
          <p:nvPr/>
        </p:nvSpPr>
        <p:spPr>
          <a:xfrm>
            <a:off x="2171477" y="4959207"/>
            <a:ext cx="4591583" cy="43088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Demand for low-cost, innovative investment vehicles </a:t>
            </a:r>
            <a:r>
              <a:rPr kumimoji="0" lang="en-US" sz="1100" b="0" i="0" u="none" strike="noStrike" kern="1200" cap="none" spc="0" normalizeH="0" baseline="0" noProof="0">
                <a:ln>
                  <a:noFill/>
                </a:ln>
                <a:solidFill>
                  <a:srgbClr val="000000"/>
                </a:solidFill>
                <a:effectLst/>
                <a:uLnTx/>
                <a:uFillTx/>
                <a:latin typeface="Scotia"/>
                <a:ea typeface="+mn-ea"/>
                <a:cs typeface="+mn-cs"/>
              </a:rPr>
              <a:t>tailored to individual values, preferences, and longer investment horizons</a:t>
            </a:r>
          </a:p>
        </p:txBody>
      </p:sp>
      <p:sp>
        <p:nvSpPr>
          <p:cNvPr id="73" name="TextBox 72">
            <a:extLst>
              <a:ext uri="{FF2B5EF4-FFF2-40B4-BE49-F238E27FC236}">
                <a16:creationId xmlns:a16="http://schemas.microsoft.com/office/drawing/2014/main" id="{D5A76CD8-640A-2FE2-FFCA-E07EF6901E83}"/>
              </a:ext>
            </a:extLst>
          </p:cNvPr>
          <p:cNvSpPr txBox="1"/>
          <p:nvPr/>
        </p:nvSpPr>
        <p:spPr>
          <a:xfrm>
            <a:off x="7065716" y="3986307"/>
            <a:ext cx="4591583" cy="83099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Strong</a:t>
            </a:r>
            <a:r>
              <a:rPr kumimoji="0" lang="en-US" sz="1100" b="1" i="0" u="none" strike="noStrike" kern="1200" cap="none" spc="0" normalizeH="0" baseline="0" noProof="0">
                <a:ln>
                  <a:noFill/>
                </a:ln>
                <a:solidFill>
                  <a:srgbClr val="000000"/>
                </a:solidFill>
                <a:effectLst/>
                <a:uLnTx/>
                <a:uFillTx/>
                <a:latin typeface="Scotia"/>
                <a:ea typeface="+mn-ea"/>
                <a:cs typeface="+mn-cs"/>
              </a:rPr>
              <a:t> preference for expertise </a:t>
            </a:r>
            <a:r>
              <a:rPr kumimoji="0" lang="en-US" sz="1100" b="0" i="0" u="none" strike="noStrike" kern="1200" cap="none" spc="0" normalizeH="0" baseline="0" noProof="0">
                <a:ln>
                  <a:noFill/>
                </a:ln>
                <a:solidFill>
                  <a:srgbClr val="000000"/>
                </a:solidFill>
                <a:effectLst/>
                <a:uLnTx/>
                <a:uFillTx/>
                <a:latin typeface="Scotia"/>
                <a:ea typeface="+mn-ea"/>
                <a:cs typeface="+mn-cs"/>
              </a:rPr>
              <a:t>(43%)</a:t>
            </a:r>
          </a:p>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Value having a </a:t>
            </a:r>
            <a:r>
              <a:rPr kumimoji="0" lang="en-US" sz="1100" b="1" i="0" u="none" strike="noStrike" kern="1200" cap="none" spc="0" normalizeH="0" baseline="0" noProof="0">
                <a:ln>
                  <a:noFill/>
                </a:ln>
                <a:solidFill>
                  <a:srgbClr val="000000"/>
                </a:solidFill>
                <a:effectLst/>
                <a:uLnTx/>
                <a:uFillTx/>
                <a:latin typeface="Scotia"/>
                <a:ea typeface="+mn-ea"/>
                <a:cs typeface="+mn-cs"/>
              </a:rPr>
              <a:t>single dedicated advisor </a:t>
            </a:r>
            <a:r>
              <a:rPr kumimoji="0" lang="en-US" sz="1100" b="0" i="0" u="none" strike="noStrike" kern="1200" cap="none" spc="0" normalizeH="0" baseline="0" noProof="0">
                <a:ln>
                  <a:noFill/>
                </a:ln>
                <a:solidFill>
                  <a:srgbClr val="000000"/>
                </a:solidFill>
                <a:effectLst/>
                <a:uLnTx/>
                <a:uFillTx/>
                <a:latin typeface="Scotia"/>
                <a:ea typeface="+mn-ea"/>
                <a:cs typeface="+mn-cs"/>
              </a:rPr>
              <a:t>(39%)</a:t>
            </a:r>
          </a:p>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Majority (57%) rely on </a:t>
            </a:r>
            <a:r>
              <a:rPr kumimoji="0" lang="en-US" sz="1100" b="1" i="0" u="none" strike="noStrike" kern="1200" cap="none" spc="0" normalizeH="0" baseline="0" noProof="0">
                <a:ln>
                  <a:noFill/>
                </a:ln>
                <a:solidFill>
                  <a:srgbClr val="000000"/>
                </a:solidFill>
                <a:effectLst/>
                <a:uLnTx/>
                <a:uFillTx/>
                <a:latin typeface="Scotia"/>
                <a:ea typeface="+mn-ea"/>
                <a:cs typeface="+mn-cs"/>
              </a:rPr>
              <a:t>independent research </a:t>
            </a:r>
            <a:r>
              <a:rPr kumimoji="0" lang="en-US" sz="1100" b="0" i="0" u="none" strike="noStrike" kern="1200" cap="none" spc="0" normalizeH="0" baseline="0" noProof="0">
                <a:ln>
                  <a:noFill/>
                </a:ln>
                <a:solidFill>
                  <a:srgbClr val="000000"/>
                </a:solidFill>
                <a:effectLst/>
                <a:uLnTx/>
                <a:uFillTx/>
                <a:latin typeface="Scotia"/>
                <a:ea typeface="+mn-ea"/>
                <a:cs typeface="+mn-cs"/>
              </a:rPr>
              <a:t>for financial decisions</a:t>
            </a:r>
          </a:p>
        </p:txBody>
      </p:sp>
      <p:sp>
        <p:nvSpPr>
          <p:cNvPr id="75" name="TextBox 74">
            <a:extLst>
              <a:ext uri="{FF2B5EF4-FFF2-40B4-BE49-F238E27FC236}">
                <a16:creationId xmlns:a16="http://schemas.microsoft.com/office/drawing/2014/main" id="{34642784-29B3-6105-FE46-E511E0D08AA8}"/>
              </a:ext>
            </a:extLst>
          </p:cNvPr>
          <p:cNvSpPr txBox="1"/>
          <p:nvPr/>
        </p:nvSpPr>
        <p:spPr>
          <a:xfrm>
            <a:off x="7065716" y="4963875"/>
            <a:ext cx="4591583" cy="430887"/>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9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Need for low-cost products that help </a:t>
            </a:r>
            <a:r>
              <a:rPr kumimoji="0" lang="en-US" sz="1100" b="1" i="0" u="none" strike="noStrike" kern="1200" cap="none" spc="0" normalizeH="0" baseline="0" noProof="0">
                <a:ln>
                  <a:noFill/>
                </a:ln>
                <a:solidFill>
                  <a:srgbClr val="000000"/>
                </a:solidFill>
                <a:effectLst/>
                <a:uLnTx/>
                <a:uFillTx/>
                <a:latin typeface="Scotia"/>
                <a:ea typeface="+mn-ea"/>
                <a:cs typeface="+mn-cs"/>
              </a:rPr>
              <a:t>achieve long‑term life goals, </a:t>
            </a:r>
            <a:r>
              <a:rPr kumimoji="0" lang="en-US" sz="1100" b="0" i="0" u="none" strike="noStrike" kern="1200" cap="none" spc="0" normalizeH="0" baseline="0" noProof="0">
                <a:ln>
                  <a:noFill/>
                </a:ln>
                <a:solidFill>
                  <a:srgbClr val="000000"/>
                </a:solidFill>
                <a:effectLst/>
                <a:uLnTx/>
                <a:uFillTx/>
                <a:latin typeface="Scotia"/>
                <a:ea typeface="+mn-ea"/>
                <a:cs typeface="+mn-cs"/>
              </a:rPr>
              <a:t>whether focused on capital growth or income payout</a:t>
            </a:r>
          </a:p>
        </p:txBody>
      </p:sp>
      <p:grpSp>
        <p:nvGrpSpPr>
          <p:cNvPr id="84" name="Group 83">
            <a:extLst>
              <a:ext uri="{FF2B5EF4-FFF2-40B4-BE49-F238E27FC236}">
                <a16:creationId xmlns:a16="http://schemas.microsoft.com/office/drawing/2014/main" id="{A7D1C906-1C92-B010-8BA5-D1479A637994}"/>
              </a:ext>
            </a:extLst>
          </p:cNvPr>
          <p:cNvGrpSpPr/>
          <p:nvPr/>
        </p:nvGrpSpPr>
        <p:grpSpPr>
          <a:xfrm>
            <a:off x="6956807" y="1907010"/>
            <a:ext cx="4836918" cy="558754"/>
            <a:chOff x="520729" y="2036763"/>
            <a:chExt cx="4274838" cy="574860"/>
          </a:xfrm>
        </p:grpSpPr>
        <p:sp>
          <p:nvSpPr>
            <p:cNvPr id="85" name="Rectangle 84">
              <a:extLst>
                <a:ext uri="{FF2B5EF4-FFF2-40B4-BE49-F238E27FC236}">
                  <a16:creationId xmlns:a16="http://schemas.microsoft.com/office/drawing/2014/main" id="{18C104E2-43FE-DE5E-5877-FEC4B383ACF6}"/>
                </a:ext>
              </a:extLst>
            </p:cNvPr>
            <p:cNvSpPr/>
            <p:nvPr/>
          </p:nvSpPr>
          <p:spPr>
            <a:xfrm>
              <a:off x="520729" y="2036763"/>
              <a:ext cx="4251630" cy="457200"/>
            </a:xfrm>
            <a:prstGeom prst="rect">
              <a:avLst/>
            </a:prstGeom>
            <a:solidFill>
              <a:srgbClr val="F5EFE8"/>
            </a:solidFill>
            <a:ln>
              <a:solidFill>
                <a:srgbClr val="E5E1D7"/>
              </a:solidFill>
            </a:ln>
          </p:spPr>
          <p:style>
            <a:lnRef idx="2">
              <a:schemeClr val="accent1">
                <a:shade val="50000"/>
              </a:schemeClr>
            </a:lnRef>
            <a:fillRef idx="1">
              <a:schemeClr val="accent1"/>
            </a:fillRef>
            <a:effectRef idx="0">
              <a:schemeClr val="accent1"/>
            </a:effectRef>
            <a:fontRef idx="minor">
              <a:schemeClr val="lt1"/>
            </a:fontRef>
          </p:style>
          <p:txBody>
            <a:bodyPr lIns="180000" tIns="18288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EC111A"/>
                  </a:solidFill>
                  <a:effectLst/>
                  <a:uLnTx/>
                  <a:uFillTx/>
                  <a:latin typeface="Scotia"/>
                  <a:ea typeface="+mn-ea"/>
                  <a:cs typeface="+mn-cs"/>
                </a:rPr>
                <a:t>Affluent</a:t>
              </a:r>
            </a:p>
          </p:txBody>
        </p:sp>
        <p:sp>
          <p:nvSpPr>
            <p:cNvPr id="86" name="Isosceles Triangle 90">
              <a:extLst>
                <a:ext uri="{FF2B5EF4-FFF2-40B4-BE49-F238E27FC236}">
                  <a16:creationId xmlns:a16="http://schemas.microsoft.com/office/drawing/2014/main" id="{C3F72FA5-F307-E147-EDCF-A7D70FDDD519}"/>
                </a:ext>
              </a:extLst>
            </p:cNvPr>
            <p:cNvSpPr/>
            <p:nvPr/>
          </p:nvSpPr>
          <p:spPr>
            <a:xfrm rot="14169147" flipV="1">
              <a:off x="4665663" y="2470150"/>
              <a:ext cx="112169" cy="147638"/>
            </a:xfrm>
            <a:custGeom>
              <a:avLst/>
              <a:gdLst>
                <a:gd name="connsiteX0" fmla="*/ 0 w 117653"/>
                <a:gd name="connsiteY0" fmla="*/ 91276 h 91276"/>
                <a:gd name="connsiteX1" fmla="*/ 58827 w 117653"/>
                <a:gd name="connsiteY1" fmla="*/ 0 h 91276"/>
                <a:gd name="connsiteX2" fmla="*/ 117653 w 117653"/>
                <a:gd name="connsiteY2" fmla="*/ 91276 h 91276"/>
                <a:gd name="connsiteX3" fmla="*/ 0 w 117653"/>
                <a:gd name="connsiteY3" fmla="*/ 91276 h 91276"/>
                <a:gd name="connsiteX0" fmla="*/ 0 w 147739"/>
                <a:gd name="connsiteY0" fmla="*/ 91276 h 91276"/>
                <a:gd name="connsiteX1" fmla="*/ 58827 w 147739"/>
                <a:gd name="connsiteY1" fmla="*/ 0 h 91276"/>
                <a:gd name="connsiteX2" fmla="*/ 147739 w 147739"/>
                <a:gd name="connsiteY2" fmla="*/ 66673 h 91276"/>
                <a:gd name="connsiteX3" fmla="*/ 0 w 147739"/>
                <a:gd name="connsiteY3" fmla="*/ 91276 h 91276"/>
                <a:gd name="connsiteX0" fmla="*/ 0 w 152992"/>
                <a:gd name="connsiteY0" fmla="*/ 99586 h 99586"/>
                <a:gd name="connsiteX1" fmla="*/ 64080 w 152992"/>
                <a:gd name="connsiteY1" fmla="*/ 0 h 99586"/>
                <a:gd name="connsiteX2" fmla="*/ 152992 w 152992"/>
                <a:gd name="connsiteY2" fmla="*/ 66673 h 99586"/>
                <a:gd name="connsiteX3" fmla="*/ 0 w 152992"/>
                <a:gd name="connsiteY3" fmla="*/ 99586 h 99586"/>
                <a:gd name="connsiteX0" fmla="*/ 0 w 166132"/>
                <a:gd name="connsiteY0" fmla="*/ 99586 h 99586"/>
                <a:gd name="connsiteX1" fmla="*/ 64080 w 166132"/>
                <a:gd name="connsiteY1" fmla="*/ 0 h 99586"/>
                <a:gd name="connsiteX2" fmla="*/ 166132 w 166132"/>
                <a:gd name="connsiteY2" fmla="*/ 63709 h 99586"/>
                <a:gd name="connsiteX3" fmla="*/ 0 w 166132"/>
                <a:gd name="connsiteY3" fmla="*/ 99586 h 99586"/>
                <a:gd name="connsiteX0" fmla="*/ 0 w 162317"/>
                <a:gd name="connsiteY0" fmla="*/ 93548 h 93548"/>
                <a:gd name="connsiteX1" fmla="*/ 60265 w 162317"/>
                <a:gd name="connsiteY1" fmla="*/ 0 h 93548"/>
                <a:gd name="connsiteX2" fmla="*/ 162317 w 162317"/>
                <a:gd name="connsiteY2" fmla="*/ 63709 h 93548"/>
                <a:gd name="connsiteX3" fmla="*/ 0 w 162317"/>
                <a:gd name="connsiteY3" fmla="*/ 93548 h 93548"/>
                <a:gd name="connsiteX0" fmla="*/ 0 w 134004"/>
                <a:gd name="connsiteY0" fmla="*/ 120111 h 120111"/>
                <a:gd name="connsiteX1" fmla="*/ 31952 w 134004"/>
                <a:gd name="connsiteY1" fmla="*/ 0 h 120111"/>
                <a:gd name="connsiteX2" fmla="*/ 134004 w 134004"/>
                <a:gd name="connsiteY2" fmla="*/ 63709 h 120111"/>
                <a:gd name="connsiteX3" fmla="*/ 0 w 134004"/>
                <a:gd name="connsiteY3" fmla="*/ 120111 h 120111"/>
                <a:gd name="connsiteX0" fmla="*/ 0 w 134004"/>
                <a:gd name="connsiteY0" fmla="*/ 130043 h 130043"/>
                <a:gd name="connsiteX1" fmla="*/ 61134 w 134004"/>
                <a:gd name="connsiteY1" fmla="*/ 0 h 130043"/>
                <a:gd name="connsiteX2" fmla="*/ 134004 w 134004"/>
                <a:gd name="connsiteY2" fmla="*/ 73641 h 130043"/>
                <a:gd name="connsiteX3" fmla="*/ 0 w 134004"/>
                <a:gd name="connsiteY3" fmla="*/ 130043 h 130043"/>
                <a:gd name="connsiteX0" fmla="*/ 0 w 135301"/>
                <a:gd name="connsiteY0" fmla="*/ 134917 h 134917"/>
                <a:gd name="connsiteX1" fmla="*/ 62431 w 135301"/>
                <a:gd name="connsiteY1" fmla="*/ 0 h 134917"/>
                <a:gd name="connsiteX2" fmla="*/ 135301 w 135301"/>
                <a:gd name="connsiteY2" fmla="*/ 73641 h 134917"/>
                <a:gd name="connsiteX3" fmla="*/ 0 w 135301"/>
                <a:gd name="connsiteY3" fmla="*/ 134917 h 134917"/>
                <a:gd name="connsiteX0" fmla="*/ 0 w 135301"/>
                <a:gd name="connsiteY0" fmla="*/ 142227 h 142227"/>
                <a:gd name="connsiteX1" fmla="*/ 64378 w 135301"/>
                <a:gd name="connsiteY1" fmla="*/ 0 h 142227"/>
                <a:gd name="connsiteX2" fmla="*/ 135301 w 135301"/>
                <a:gd name="connsiteY2" fmla="*/ 80951 h 142227"/>
                <a:gd name="connsiteX3" fmla="*/ 0 w 135301"/>
                <a:gd name="connsiteY3" fmla="*/ 142227 h 142227"/>
                <a:gd name="connsiteX0" fmla="*/ 0 w 99239"/>
                <a:gd name="connsiteY0" fmla="*/ 122656 h 122656"/>
                <a:gd name="connsiteX1" fmla="*/ 28316 w 99239"/>
                <a:gd name="connsiteY1" fmla="*/ 0 h 122656"/>
                <a:gd name="connsiteX2" fmla="*/ 99239 w 99239"/>
                <a:gd name="connsiteY2" fmla="*/ 80951 h 122656"/>
                <a:gd name="connsiteX3" fmla="*/ 0 w 99239"/>
                <a:gd name="connsiteY3" fmla="*/ 122656 h 122656"/>
                <a:gd name="connsiteX0" fmla="*/ 0 w 99239"/>
                <a:gd name="connsiteY0" fmla="*/ 118442 h 118442"/>
                <a:gd name="connsiteX1" fmla="*/ 32336 w 99239"/>
                <a:gd name="connsiteY1" fmla="*/ 0 h 118442"/>
                <a:gd name="connsiteX2" fmla="*/ 99239 w 99239"/>
                <a:gd name="connsiteY2" fmla="*/ 76737 h 118442"/>
                <a:gd name="connsiteX3" fmla="*/ 0 w 99239"/>
                <a:gd name="connsiteY3" fmla="*/ 118442 h 118442"/>
                <a:gd name="connsiteX0" fmla="*/ 0 w 105144"/>
                <a:gd name="connsiteY0" fmla="*/ 118442 h 118442"/>
                <a:gd name="connsiteX1" fmla="*/ 32336 w 105144"/>
                <a:gd name="connsiteY1" fmla="*/ 0 h 118442"/>
                <a:gd name="connsiteX2" fmla="*/ 105144 w 105144"/>
                <a:gd name="connsiteY2" fmla="*/ 73868 h 118442"/>
                <a:gd name="connsiteX3" fmla="*/ 0 w 105144"/>
                <a:gd name="connsiteY3" fmla="*/ 118442 h 118442"/>
                <a:gd name="connsiteX0" fmla="*/ 0 w 101208"/>
                <a:gd name="connsiteY0" fmla="*/ 116529 h 116529"/>
                <a:gd name="connsiteX1" fmla="*/ 28400 w 101208"/>
                <a:gd name="connsiteY1" fmla="*/ 0 h 116529"/>
                <a:gd name="connsiteX2" fmla="*/ 101208 w 101208"/>
                <a:gd name="connsiteY2" fmla="*/ 73868 h 116529"/>
                <a:gd name="connsiteX3" fmla="*/ 0 w 101208"/>
                <a:gd name="connsiteY3" fmla="*/ 116529 h 116529"/>
                <a:gd name="connsiteX0" fmla="*/ 0 w 97188"/>
                <a:gd name="connsiteY0" fmla="*/ 120743 h 120743"/>
                <a:gd name="connsiteX1" fmla="*/ 24380 w 97188"/>
                <a:gd name="connsiteY1" fmla="*/ 0 h 120743"/>
                <a:gd name="connsiteX2" fmla="*/ 97188 w 97188"/>
                <a:gd name="connsiteY2" fmla="*/ 73868 h 120743"/>
                <a:gd name="connsiteX3" fmla="*/ 0 w 97188"/>
                <a:gd name="connsiteY3" fmla="*/ 120743 h 120743"/>
                <a:gd name="connsiteX0" fmla="*/ 0 w 97188"/>
                <a:gd name="connsiteY0" fmla="*/ 112893 h 112893"/>
                <a:gd name="connsiteX1" fmla="*/ 11594 w 97188"/>
                <a:gd name="connsiteY1" fmla="*/ 0 h 112893"/>
                <a:gd name="connsiteX2" fmla="*/ 97188 w 97188"/>
                <a:gd name="connsiteY2" fmla="*/ 66018 h 112893"/>
                <a:gd name="connsiteX3" fmla="*/ 0 w 97188"/>
                <a:gd name="connsiteY3" fmla="*/ 112893 h 112893"/>
                <a:gd name="connsiteX0" fmla="*/ 0 w 106333"/>
                <a:gd name="connsiteY0" fmla="*/ 105332 h 105332"/>
                <a:gd name="connsiteX1" fmla="*/ 20739 w 106333"/>
                <a:gd name="connsiteY1" fmla="*/ 0 h 105332"/>
                <a:gd name="connsiteX2" fmla="*/ 106333 w 106333"/>
                <a:gd name="connsiteY2" fmla="*/ 66018 h 105332"/>
                <a:gd name="connsiteX3" fmla="*/ 0 w 106333"/>
                <a:gd name="connsiteY3" fmla="*/ 105332 h 105332"/>
                <a:gd name="connsiteX0" fmla="*/ 0 w 106333"/>
                <a:gd name="connsiteY0" fmla="*/ 100946 h 100946"/>
                <a:gd name="connsiteX1" fmla="*/ 26217 w 106333"/>
                <a:gd name="connsiteY1" fmla="*/ 0 h 100946"/>
                <a:gd name="connsiteX2" fmla="*/ 106333 w 106333"/>
                <a:gd name="connsiteY2" fmla="*/ 61632 h 100946"/>
                <a:gd name="connsiteX3" fmla="*/ 0 w 106333"/>
                <a:gd name="connsiteY3" fmla="*/ 100946 h 100946"/>
                <a:gd name="connsiteX0" fmla="*/ 0 w 106333"/>
                <a:gd name="connsiteY0" fmla="*/ 111974 h 111974"/>
                <a:gd name="connsiteX1" fmla="*/ 55559 w 106333"/>
                <a:gd name="connsiteY1" fmla="*/ 0 h 111974"/>
                <a:gd name="connsiteX2" fmla="*/ 106333 w 106333"/>
                <a:gd name="connsiteY2" fmla="*/ 72660 h 111974"/>
                <a:gd name="connsiteX3" fmla="*/ 0 w 106333"/>
                <a:gd name="connsiteY3" fmla="*/ 111974 h 111974"/>
                <a:gd name="connsiteX0" fmla="*/ 0 w 102201"/>
                <a:gd name="connsiteY0" fmla="*/ 114224 h 114224"/>
                <a:gd name="connsiteX1" fmla="*/ 51427 w 102201"/>
                <a:gd name="connsiteY1" fmla="*/ 0 h 114224"/>
                <a:gd name="connsiteX2" fmla="*/ 102201 w 102201"/>
                <a:gd name="connsiteY2" fmla="*/ 72660 h 114224"/>
                <a:gd name="connsiteX3" fmla="*/ 0 w 102201"/>
                <a:gd name="connsiteY3" fmla="*/ 114224 h 114224"/>
                <a:gd name="connsiteX0" fmla="*/ 0 w 102201"/>
                <a:gd name="connsiteY0" fmla="*/ 98346 h 98346"/>
                <a:gd name="connsiteX1" fmla="*/ 62543 w 102201"/>
                <a:gd name="connsiteY1" fmla="*/ 0 h 98346"/>
                <a:gd name="connsiteX2" fmla="*/ 102201 w 102201"/>
                <a:gd name="connsiteY2" fmla="*/ 56782 h 98346"/>
                <a:gd name="connsiteX3" fmla="*/ 0 w 102201"/>
                <a:gd name="connsiteY3" fmla="*/ 98346 h 98346"/>
                <a:gd name="connsiteX0" fmla="*/ 0 w 108082"/>
                <a:gd name="connsiteY0" fmla="*/ 99070 h 99070"/>
                <a:gd name="connsiteX1" fmla="*/ 68424 w 108082"/>
                <a:gd name="connsiteY1" fmla="*/ 0 h 99070"/>
                <a:gd name="connsiteX2" fmla="*/ 108082 w 108082"/>
                <a:gd name="connsiteY2" fmla="*/ 56782 h 99070"/>
                <a:gd name="connsiteX3" fmla="*/ 0 w 108082"/>
                <a:gd name="connsiteY3" fmla="*/ 99070 h 99070"/>
                <a:gd name="connsiteX0" fmla="*/ 0 w 99493"/>
                <a:gd name="connsiteY0" fmla="*/ 94908 h 94908"/>
                <a:gd name="connsiteX1" fmla="*/ 59835 w 99493"/>
                <a:gd name="connsiteY1" fmla="*/ 0 h 94908"/>
                <a:gd name="connsiteX2" fmla="*/ 99493 w 99493"/>
                <a:gd name="connsiteY2" fmla="*/ 56782 h 94908"/>
                <a:gd name="connsiteX3" fmla="*/ 0 w 99493"/>
                <a:gd name="connsiteY3" fmla="*/ 94908 h 94908"/>
                <a:gd name="connsiteX0" fmla="*/ 0 w 99493"/>
                <a:gd name="connsiteY0" fmla="*/ 97290 h 97290"/>
                <a:gd name="connsiteX1" fmla="*/ 58168 w 99493"/>
                <a:gd name="connsiteY1" fmla="*/ 0 h 97290"/>
                <a:gd name="connsiteX2" fmla="*/ 99493 w 99493"/>
                <a:gd name="connsiteY2" fmla="*/ 59164 h 97290"/>
                <a:gd name="connsiteX3" fmla="*/ 0 w 99493"/>
                <a:gd name="connsiteY3" fmla="*/ 97290 h 97290"/>
                <a:gd name="connsiteX0" fmla="*/ 0 w 110529"/>
                <a:gd name="connsiteY0" fmla="*/ 105776 h 105776"/>
                <a:gd name="connsiteX1" fmla="*/ 69204 w 110529"/>
                <a:gd name="connsiteY1" fmla="*/ 0 h 105776"/>
                <a:gd name="connsiteX2" fmla="*/ 110529 w 110529"/>
                <a:gd name="connsiteY2" fmla="*/ 59164 h 105776"/>
                <a:gd name="connsiteX3" fmla="*/ 0 w 110529"/>
                <a:gd name="connsiteY3" fmla="*/ 105776 h 105776"/>
                <a:gd name="connsiteX0" fmla="*/ 0 w 112169"/>
                <a:gd name="connsiteY0" fmla="*/ 103432 h 103432"/>
                <a:gd name="connsiteX1" fmla="*/ 70844 w 112169"/>
                <a:gd name="connsiteY1" fmla="*/ 0 h 103432"/>
                <a:gd name="connsiteX2" fmla="*/ 112169 w 112169"/>
                <a:gd name="connsiteY2" fmla="*/ 59164 h 103432"/>
                <a:gd name="connsiteX3" fmla="*/ 0 w 112169"/>
                <a:gd name="connsiteY3" fmla="*/ 103432 h 103432"/>
              </a:gdLst>
              <a:ahLst/>
              <a:cxnLst>
                <a:cxn ang="0">
                  <a:pos x="connsiteX0" y="connsiteY0"/>
                </a:cxn>
                <a:cxn ang="0">
                  <a:pos x="connsiteX1" y="connsiteY1"/>
                </a:cxn>
                <a:cxn ang="0">
                  <a:pos x="connsiteX2" y="connsiteY2"/>
                </a:cxn>
                <a:cxn ang="0">
                  <a:pos x="connsiteX3" y="connsiteY3"/>
                </a:cxn>
              </a:cxnLst>
              <a:rect l="l" t="t" r="r" b="b"/>
              <a:pathLst>
                <a:path w="112169" h="103432">
                  <a:moveTo>
                    <a:pt x="0" y="103432"/>
                  </a:moveTo>
                  <a:lnTo>
                    <a:pt x="70844" y="0"/>
                  </a:lnTo>
                  <a:lnTo>
                    <a:pt x="112169" y="59164"/>
                  </a:lnTo>
                  <a:lnTo>
                    <a:pt x="0" y="103432"/>
                  </a:lnTo>
                  <a:close/>
                </a:path>
              </a:pathLst>
            </a:custGeom>
            <a:solidFill>
              <a:srgbClr val="CFB39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87" name="Isosceles Triangle 90">
              <a:extLst>
                <a:ext uri="{FF2B5EF4-FFF2-40B4-BE49-F238E27FC236}">
                  <a16:creationId xmlns:a16="http://schemas.microsoft.com/office/drawing/2014/main" id="{114ECE44-AC07-1724-0710-63A0BDCB8249}"/>
                </a:ext>
              </a:extLst>
            </p:cNvPr>
            <p:cNvSpPr/>
            <p:nvPr/>
          </p:nvSpPr>
          <p:spPr>
            <a:xfrm rot="14744550" flipV="1">
              <a:off x="520700" y="2500313"/>
              <a:ext cx="138482" cy="84138"/>
            </a:xfrm>
            <a:custGeom>
              <a:avLst/>
              <a:gdLst>
                <a:gd name="connsiteX0" fmla="*/ 0 w 117653"/>
                <a:gd name="connsiteY0" fmla="*/ 91276 h 91276"/>
                <a:gd name="connsiteX1" fmla="*/ 58827 w 117653"/>
                <a:gd name="connsiteY1" fmla="*/ 0 h 91276"/>
                <a:gd name="connsiteX2" fmla="*/ 117653 w 117653"/>
                <a:gd name="connsiteY2" fmla="*/ 91276 h 91276"/>
                <a:gd name="connsiteX3" fmla="*/ 0 w 117653"/>
                <a:gd name="connsiteY3" fmla="*/ 91276 h 91276"/>
                <a:gd name="connsiteX0" fmla="*/ 0 w 147739"/>
                <a:gd name="connsiteY0" fmla="*/ 91276 h 91276"/>
                <a:gd name="connsiteX1" fmla="*/ 58827 w 147739"/>
                <a:gd name="connsiteY1" fmla="*/ 0 h 91276"/>
                <a:gd name="connsiteX2" fmla="*/ 147739 w 147739"/>
                <a:gd name="connsiteY2" fmla="*/ 66673 h 91276"/>
                <a:gd name="connsiteX3" fmla="*/ 0 w 147739"/>
                <a:gd name="connsiteY3" fmla="*/ 91276 h 91276"/>
                <a:gd name="connsiteX0" fmla="*/ 0 w 152992"/>
                <a:gd name="connsiteY0" fmla="*/ 99586 h 99586"/>
                <a:gd name="connsiteX1" fmla="*/ 64080 w 152992"/>
                <a:gd name="connsiteY1" fmla="*/ 0 h 99586"/>
                <a:gd name="connsiteX2" fmla="*/ 152992 w 152992"/>
                <a:gd name="connsiteY2" fmla="*/ 66673 h 99586"/>
                <a:gd name="connsiteX3" fmla="*/ 0 w 152992"/>
                <a:gd name="connsiteY3" fmla="*/ 99586 h 99586"/>
                <a:gd name="connsiteX0" fmla="*/ 0 w 166132"/>
                <a:gd name="connsiteY0" fmla="*/ 99586 h 99586"/>
                <a:gd name="connsiteX1" fmla="*/ 64080 w 166132"/>
                <a:gd name="connsiteY1" fmla="*/ 0 h 99586"/>
                <a:gd name="connsiteX2" fmla="*/ 166132 w 166132"/>
                <a:gd name="connsiteY2" fmla="*/ 63709 h 99586"/>
                <a:gd name="connsiteX3" fmla="*/ 0 w 166132"/>
                <a:gd name="connsiteY3" fmla="*/ 99586 h 99586"/>
                <a:gd name="connsiteX0" fmla="*/ 0 w 162317"/>
                <a:gd name="connsiteY0" fmla="*/ 93548 h 93548"/>
                <a:gd name="connsiteX1" fmla="*/ 60265 w 162317"/>
                <a:gd name="connsiteY1" fmla="*/ 0 h 93548"/>
                <a:gd name="connsiteX2" fmla="*/ 162317 w 162317"/>
                <a:gd name="connsiteY2" fmla="*/ 63709 h 93548"/>
                <a:gd name="connsiteX3" fmla="*/ 0 w 162317"/>
                <a:gd name="connsiteY3" fmla="*/ 93548 h 93548"/>
                <a:gd name="connsiteX0" fmla="*/ 0 w 134004"/>
                <a:gd name="connsiteY0" fmla="*/ 120111 h 120111"/>
                <a:gd name="connsiteX1" fmla="*/ 31952 w 134004"/>
                <a:gd name="connsiteY1" fmla="*/ 0 h 120111"/>
                <a:gd name="connsiteX2" fmla="*/ 134004 w 134004"/>
                <a:gd name="connsiteY2" fmla="*/ 63709 h 120111"/>
                <a:gd name="connsiteX3" fmla="*/ 0 w 134004"/>
                <a:gd name="connsiteY3" fmla="*/ 120111 h 120111"/>
                <a:gd name="connsiteX0" fmla="*/ 0 w 134004"/>
                <a:gd name="connsiteY0" fmla="*/ 130043 h 130043"/>
                <a:gd name="connsiteX1" fmla="*/ 61134 w 134004"/>
                <a:gd name="connsiteY1" fmla="*/ 0 h 130043"/>
                <a:gd name="connsiteX2" fmla="*/ 134004 w 134004"/>
                <a:gd name="connsiteY2" fmla="*/ 73641 h 130043"/>
                <a:gd name="connsiteX3" fmla="*/ 0 w 134004"/>
                <a:gd name="connsiteY3" fmla="*/ 130043 h 130043"/>
                <a:gd name="connsiteX0" fmla="*/ 0 w 135301"/>
                <a:gd name="connsiteY0" fmla="*/ 134917 h 134917"/>
                <a:gd name="connsiteX1" fmla="*/ 62431 w 135301"/>
                <a:gd name="connsiteY1" fmla="*/ 0 h 134917"/>
                <a:gd name="connsiteX2" fmla="*/ 135301 w 135301"/>
                <a:gd name="connsiteY2" fmla="*/ 73641 h 134917"/>
                <a:gd name="connsiteX3" fmla="*/ 0 w 135301"/>
                <a:gd name="connsiteY3" fmla="*/ 134917 h 134917"/>
                <a:gd name="connsiteX0" fmla="*/ 0 w 135301"/>
                <a:gd name="connsiteY0" fmla="*/ 142227 h 142227"/>
                <a:gd name="connsiteX1" fmla="*/ 64378 w 135301"/>
                <a:gd name="connsiteY1" fmla="*/ 0 h 142227"/>
                <a:gd name="connsiteX2" fmla="*/ 135301 w 135301"/>
                <a:gd name="connsiteY2" fmla="*/ 80951 h 142227"/>
                <a:gd name="connsiteX3" fmla="*/ 0 w 135301"/>
                <a:gd name="connsiteY3" fmla="*/ 142227 h 142227"/>
                <a:gd name="connsiteX0" fmla="*/ 0 w 99239"/>
                <a:gd name="connsiteY0" fmla="*/ 122656 h 122656"/>
                <a:gd name="connsiteX1" fmla="*/ 28316 w 99239"/>
                <a:gd name="connsiteY1" fmla="*/ 0 h 122656"/>
                <a:gd name="connsiteX2" fmla="*/ 99239 w 99239"/>
                <a:gd name="connsiteY2" fmla="*/ 80951 h 122656"/>
                <a:gd name="connsiteX3" fmla="*/ 0 w 99239"/>
                <a:gd name="connsiteY3" fmla="*/ 122656 h 122656"/>
                <a:gd name="connsiteX0" fmla="*/ 0 w 99239"/>
                <a:gd name="connsiteY0" fmla="*/ 118442 h 118442"/>
                <a:gd name="connsiteX1" fmla="*/ 32336 w 99239"/>
                <a:gd name="connsiteY1" fmla="*/ 0 h 118442"/>
                <a:gd name="connsiteX2" fmla="*/ 99239 w 99239"/>
                <a:gd name="connsiteY2" fmla="*/ 76737 h 118442"/>
                <a:gd name="connsiteX3" fmla="*/ 0 w 99239"/>
                <a:gd name="connsiteY3" fmla="*/ 118442 h 118442"/>
                <a:gd name="connsiteX0" fmla="*/ 0 w 105144"/>
                <a:gd name="connsiteY0" fmla="*/ 118442 h 118442"/>
                <a:gd name="connsiteX1" fmla="*/ 32336 w 105144"/>
                <a:gd name="connsiteY1" fmla="*/ 0 h 118442"/>
                <a:gd name="connsiteX2" fmla="*/ 105144 w 105144"/>
                <a:gd name="connsiteY2" fmla="*/ 73868 h 118442"/>
                <a:gd name="connsiteX3" fmla="*/ 0 w 105144"/>
                <a:gd name="connsiteY3" fmla="*/ 118442 h 118442"/>
                <a:gd name="connsiteX0" fmla="*/ 0 w 101208"/>
                <a:gd name="connsiteY0" fmla="*/ 116529 h 116529"/>
                <a:gd name="connsiteX1" fmla="*/ 28400 w 101208"/>
                <a:gd name="connsiteY1" fmla="*/ 0 h 116529"/>
                <a:gd name="connsiteX2" fmla="*/ 101208 w 101208"/>
                <a:gd name="connsiteY2" fmla="*/ 73868 h 116529"/>
                <a:gd name="connsiteX3" fmla="*/ 0 w 101208"/>
                <a:gd name="connsiteY3" fmla="*/ 116529 h 116529"/>
                <a:gd name="connsiteX0" fmla="*/ 0 w 97188"/>
                <a:gd name="connsiteY0" fmla="*/ 120743 h 120743"/>
                <a:gd name="connsiteX1" fmla="*/ 24380 w 97188"/>
                <a:gd name="connsiteY1" fmla="*/ 0 h 120743"/>
                <a:gd name="connsiteX2" fmla="*/ 97188 w 97188"/>
                <a:gd name="connsiteY2" fmla="*/ 73868 h 120743"/>
                <a:gd name="connsiteX3" fmla="*/ 0 w 97188"/>
                <a:gd name="connsiteY3" fmla="*/ 120743 h 120743"/>
                <a:gd name="connsiteX0" fmla="*/ 0 w 97188"/>
                <a:gd name="connsiteY0" fmla="*/ 112893 h 112893"/>
                <a:gd name="connsiteX1" fmla="*/ 11594 w 97188"/>
                <a:gd name="connsiteY1" fmla="*/ 0 h 112893"/>
                <a:gd name="connsiteX2" fmla="*/ 97188 w 97188"/>
                <a:gd name="connsiteY2" fmla="*/ 66018 h 112893"/>
                <a:gd name="connsiteX3" fmla="*/ 0 w 97188"/>
                <a:gd name="connsiteY3" fmla="*/ 112893 h 112893"/>
                <a:gd name="connsiteX0" fmla="*/ 0 w 106333"/>
                <a:gd name="connsiteY0" fmla="*/ 105332 h 105332"/>
                <a:gd name="connsiteX1" fmla="*/ 20739 w 106333"/>
                <a:gd name="connsiteY1" fmla="*/ 0 h 105332"/>
                <a:gd name="connsiteX2" fmla="*/ 106333 w 106333"/>
                <a:gd name="connsiteY2" fmla="*/ 66018 h 105332"/>
                <a:gd name="connsiteX3" fmla="*/ 0 w 106333"/>
                <a:gd name="connsiteY3" fmla="*/ 105332 h 105332"/>
                <a:gd name="connsiteX0" fmla="*/ 0 w 106333"/>
                <a:gd name="connsiteY0" fmla="*/ 100946 h 100946"/>
                <a:gd name="connsiteX1" fmla="*/ 26217 w 106333"/>
                <a:gd name="connsiteY1" fmla="*/ 0 h 100946"/>
                <a:gd name="connsiteX2" fmla="*/ 106333 w 106333"/>
                <a:gd name="connsiteY2" fmla="*/ 61632 h 100946"/>
                <a:gd name="connsiteX3" fmla="*/ 0 w 106333"/>
                <a:gd name="connsiteY3" fmla="*/ 100946 h 100946"/>
                <a:gd name="connsiteX0" fmla="*/ 0 w 106333"/>
                <a:gd name="connsiteY0" fmla="*/ 111974 h 111974"/>
                <a:gd name="connsiteX1" fmla="*/ 55559 w 106333"/>
                <a:gd name="connsiteY1" fmla="*/ 0 h 111974"/>
                <a:gd name="connsiteX2" fmla="*/ 106333 w 106333"/>
                <a:gd name="connsiteY2" fmla="*/ 72660 h 111974"/>
                <a:gd name="connsiteX3" fmla="*/ 0 w 106333"/>
                <a:gd name="connsiteY3" fmla="*/ 111974 h 111974"/>
                <a:gd name="connsiteX0" fmla="*/ 0 w 102201"/>
                <a:gd name="connsiteY0" fmla="*/ 114224 h 114224"/>
                <a:gd name="connsiteX1" fmla="*/ 51427 w 102201"/>
                <a:gd name="connsiteY1" fmla="*/ 0 h 114224"/>
                <a:gd name="connsiteX2" fmla="*/ 102201 w 102201"/>
                <a:gd name="connsiteY2" fmla="*/ 72660 h 114224"/>
                <a:gd name="connsiteX3" fmla="*/ 0 w 102201"/>
                <a:gd name="connsiteY3" fmla="*/ 114224 h 114224"/>
                <a:gd name="connsiteX0" fmla="*/ 0 w 102201"/>
                <a:gd name="connsiteY0" fmla="*/ 98346 h 98346"/>
                <a:gd name="connsiteX1" fmla="*/ 62543 w 102201"/>
                <a:gd name="connsiteY1" fmla="*/ 0 h 98346"/>
                <a:gd name="connsiteX2" fmla="*/ 102201 w 102201"/>
                <a:gd name="connsiteY2" fmla="*/ 56782 h 98346"/>
                <a:gd name="connsiteX3" fmla="*/ 0 w 102201"/>
                <a:gd name="connsiteY3" fmla="*/ 98346 h 98346"/>
                <a:gd name="connsiteX0" fmla="*/ 0 w 108082"/>
                <a:gd name="connsiteY0" fmla="*/ 99070 h 99070"/>
                <a:gd name="connsiteX1" fmla="*/ 68424 w 108082"/>
                <a:gd name="connsiteY1" fmla="*/ 0 h 99070"/>
                <a:gd name="connsiteX2" fmla="*/ 108082 w 108082"/>
                <a:gd name="connsiteY2" fmla="*/ 56782 h 99070"/>
                <a:gd name="connsiteX3" fmla="*/ 0 w 108082"/>
                <a:gd name="connsiteY3" fmla="*/ 99070 h 99070"/>
                <a:gd name="connsiteX0" fmla="*/ 0 w 99493"/>
                <a:gd name="connsiteY0" fmla="*/ 94908 h 94908"/>
                <a:gd name="connsiteX1" fmla="*/ 59835 w 99493"/>
                <a:gd name="connsiteY1" fmla="*/ 0 h 94908"/>
                <a:gd name="connsiteX2" fmla="*/ 99493 w 99493"/>
                <a:gd name="connsiteY2" fmla="*/ 56782 h 94908"/>
                <a:gd name="connsiteX3" fmla="*/ 0 w 99493"/>
                <a:gd name="connsiteY3" fmla="*/ 94908 h 94908"/>
                <a:gd name="connsiteX0" fmla="*/ 0 w 99493"/>
                <a:gd name="connsiteY0" fmla="*/ 97290 h 97290"/>
                <a:gd name="connsiteX1" fmla="*/ 58168 w 99493"/>
                <a:gd name="connsiteY1" fmla="*/ 0 h 97290"/>
                <a:gd name="connsiteX2" fmla="*/ 99493 w 99493"/>
                <a:gd name="connsiteY2" fmla="*/ 59164 h 97290"/>
                <a:gd name="connsiteX3" fmla="*/ 0 w 99493"/>
                <a:gd name="connsiteY3" fmla="*/ 97290 h 97290"/>
                <a:gd name="connsiteX0" fmla="*/ 0 w 138482"/>
                <a:gd name="connsiteY0" fmla="*/ 47071 h 59164"/>
                <a:gd name="connsiteX1" fmla="*/ 97157 w 138482"/>
                <a:gd name="connsiteY1" fmla="*/ 0 h 59164"/>
                <a:gd name="connsiteX2" fmla="*/ 138482 w 138482"/>
                <a:gd name="connsiteY2" fmla="*/ 59164 h 59164"/>
                <a:gd name="connsiteX3" fmla="*/ 0 w 138482"/>
                <a:gd name="connsiteY3" fmla="*/ 47071 h 59164"/>
              </a:gdLst>
              <a:ahLst/>
              <a:cxnLst>
                <a:cxn ang="0">
                  <a:pos x="connsiteX0" y="connsiteY0"/>
                </a:cxn>
                <a:cxn ang="0">
                  <a:pos x="connsiteX1" y="connsiteY1"/>
                </a:cxn>
                <a:cxn ang="0">
                  <a:pos x="connsiteX2" y="connsiteY2"/>
                </a:cxn>
                <a:cxn ang="0">
                  <a:pos x="connsiteX3" y="connsiteY3"/>
                </a:cxn>
              </a:cxnLst>
              <a:rect l="l" t="t" r="r" b="b"/>
              <a:pathLst>
                <a:path w="138482" h="59164">
                  <a:moveTo>
                    <a:pt x="0" y="47071"/>
                  </a:moveTo>
                  <a:lnTo>
                    <a:pt x="97157" y="0"/>
                  </a:lnTo>
                  <a:lnTo>
                    <a:pt x="138482" y="59164"/>
                  </a:lnTo>
                  <a:lnTo>
                    <a:pt x="0" y="47071"/>
                  </a:lnTo>
                  <a:close/>
                </a:path>
              </a:pathLst>
            </a:custGeom>
            <a:solidFill>
              <a:srgbClr val="CFB39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grpSp>
        <p:nvGrpSpPr>
          <p:cNvPr id="88" name="Group 87">
            <a:extLst>
              <a:ext uri="{FF2B5EF4-FFF2-40B4-BE49-F238E27FC236}">
                <a16:creationId xmlns:a16="http://schemas.microsoft.com/office/drawing/2014/main" id="{DE2814AC-37FD-82B1-69E0-1377CB172CDC}"/>
              </a:ext>
            </a:extLst>
          </p:cNvPr>
          <p:cNvGrpSpPr/>
          <p:nvPr/>
        </p:nvGrpSpPr>
        <p:grpSpPr>
          <a:xfrm>
            <a:off x="2043484" y="1907014"/>
            <a:ext cx="4870903" cy="558755"/>
            <a:chOff x="520729" y="2036763"/>
            <a:chExt cx="4274838" cy="574860"/>
          </a:xfrm>
        </p:grpSpPr>
        <p:sp>
          <p:nvSpPr>
            <p:cNvPr id="89" name="Rectangle 88">
              <a:extLst>
                <a:ext uri="{FF2B5EF4-FFF2-40B4-BE49-F238E27FC236}">
                  <a16:creationId xmlns:a16="http://schemas.microsoft.com/office/drawing/2014/main" id="{367CF0E6-1317-2E3A-1F5F-3CEEF2C205B7}"/>
                </a:ext>
              </a:extLst>
            </p:cNvPr>
            <p:cNvSpPr/>
            <p:nvPr/>
          </p:nvSpPr>
          <p:spPr>
            <a:xfrm>
              <a:off x="520729" y="2036763"/>
              <a:ext cx="4251630" cy="457200"/>
            </a:xfrm>
            <a:prstGeom prst="rect">
              <a:avLst/>
            </a:prstGeom>
            <a:solidFill>
              <a:srgbClr val="F5EFE8"/>
            </a:solidFill>
            <a:ln>
              <a:solidFill>
                <a:srgbClr val="E5E1D7"/>
              </a:solidFill>
            </a:ln>
          </p:spPr>
          <p:style>
            <a:lnRef idx="2">
              <a:schemeClr val="accent1">
                <a:shade val="50000"/>
              </a:schemeClr>
            </a:lnRef>
            <a:fillRef idx="1">
              <a:schemeClr val="accent1"/>
            </a:fillRef>
            <a:effectRef idx="0">
              <a:schemeClr val="accent1"/>
            </a:effectRef>
            <a:fontRef idx="minor">
              <a:schemeClr val="lt1"/>
            </a:fontRef>
          </p:style>
          <p:txBody>
            <a:bodyPr lIns="180000" tIns="18288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EC111A"/>
                  </a:solidFill>
                  <a:effectLst/>
                  <a:uLnTx/>
                  <a:uFillTx/>
                  <a:latin typeface="Scotia"/>
                  <a:ea typeface="+mn-ea"/>
                  <a:cs typeface="+mn-cs"/>
                </a:rPr>
                <a:t>HENRYs</a:t>
              </a:r>
            </a:p>
          </p:txBody>
        </p:sp>
        <p:sp>
          <p:nvSpPr>
            <p:cNvPr id="90" name="Isosceles Triangle 90">
              <a:extLst>
                <a:ext uri="{FF2B5EF4-FFF2-40B4-BE49-F238E27FC236}">
                  <a16:creationId xmlns:a16="http://schemas.microsoft.com/office/drawing/2014/main" id="{FF8DE4EC-28F7-4DE3-4F49-3E527150DCA9}"/>
                </a:ext>
              </a:extLst>
            </p:cNvPr>
            <p:cNvSpPr/>
            <p:nvPr/>
          </p:nvSpPr>
          <p:spPr>
            <a:xfrm rot="14169147" flipV="1">
              <a:off x="4665663" y="2470150"/>
              <a:ext cx="112169" cy="147638"/>
            </a:xfrm>
            <a:custGeom>
              <a:avLst/>
              <a:gdLst>
                <a:gd name="connsiteX0" fmla="*/ 0 w 117653"/>
                <a:gd name="connsiteY0" fmla="*/ 91276 h 91276"/>
                <a:gd name="connsiteX1" fmla="*/ 58827 w 117653"/>
                <a:gd name="connsiteY1" fmla="*/ 0 h 91276"/>
                <a:gd name="connsiteX2" fmla="*/ 117653 w 117653"/>
                <a:gd name="connsiteY2" fmla="*/ 91276 h 91276"/>
                <a:gd name="connsiteX3" fmla="*/ 0 w 117653"/>
                <a:gd name="connsiteY3" fmla="*/ 91276 h 91276"/>
                <a:gd name="connsiteX0" fmla="*/ 0 w 147739"/>
                <a:gd name="connsiteY0" fmla="*/ 91276 h 91276"/>
                <a:gd name="connsiteX1" fmla="*/ 58827 w 147739"/>
                <a:gd name="connsiteY1" fmla="*/ 0 h 91276"/>
                <a:gd name="connsiteX2" fmla="*/ 147739 w 147739"/>
                <a:gd name="connsiteY2" fmla="*/ 66673 h 91276"/>
                <a:gd name="connsiteX3" fmla="*/ 0 w 147739"/>
                <a:gd name="connsiteY3" fmla="*/ 91276 h 91276"/>
                <a:gd name="connsiteX0" fmla="*/ 0 w 152992"/>
                <a:gd name="connsiteY0" fmla="*/ 99586 h 99586"/>
                <a:gd name="connsiteX1" fmla="*/ 64080 w 152992"/>
                <a:gd name="connsiteY1" fmla="*/ 0 h 99586"/>
                <a:gd name="connsiteX2" fmla="*/ 152992 w 152992"/>
                <a:gd name="connsiteY2" fmla="*/ 66673 h 99586"/>
                <a:gd name="connsiteX3" fmla="*/ 0 w 152992"/>
                <a:gd name="connsiteY3" fmla="*/ 99586 h 99586"/>
                <a:gd name="connsiteX0" fmla="*/ 0 w 166132"/>
                <a:gd name="connsiteY0" fmla="*/ 99586 h 99586"/>
                <a:gd name="connsiteX1" fmla="*/ 64080 w 166132"/>
                <a:gd name="connsiteY1" fmla="*/ 0 h 99586"/>
                <a:gd name="connsiteX2" fmla="*/ 166132 w 166132"/>
                <a:gd name="connsiteY2" fmla="*/ 63709 h 99586"/>
                <a:gd name="connsiteX3" fmla="*/ 0 w 166132"/>
                <a:gd name="connsiteY3" fmla="*/ 99586 h 99586"/>
                <a:gd name="connsiteX0" fmla="*/ 0 w 162317"/>
                <a:gd name="connsiteY0" fmla="*/ 93548 h 93548"/>
                <a:gd name="connsiteX1" fmla="*/ 60265 w 162317"/>
                <a:gd name="connsiteY1" fmla="*/ 0 h 93548"/>
                <a:gd name="connsiteX2" fmla="*/ 162317 w 162317"/>
                <a:gd name="connsiteY2" fmla="*/ 63709 h 93548"/>
                <a:gd name="connsiteX3" fmla="*/ 0 w 162317"/>
                <a:gd name="connsiteY3" fmla="*/ 93548 h 93548"/>
                <a:gd name="connsiteX0" fmla="*/ 0 w 134004"/>
                <a:gd name="connsiteY0" fmla="*/ 120111 h 120111"/>
                <a:gd name="connsiteX1" fmla="*/ 31952 w 134004"/>
                <a:gd name="connsiteY1" fmla="*/ 0 h 120111"/>
                <a:gd name="connsiteX2" fmla="*/ 134004 w 134004"/>
                <a:gd name="connsiteY2" fmla="*/ 63709 h 120111"/>
                <a:gd name="connsiteX3" fmla="*/ 0 w 134004"/>
                <a:gd name="connsiteY3" fmla="*/ 120111 h 120111"/>
                <a:gd name="connsiteX0" fmla="*/ 0 w 134004"/>
                <a:gd name="connsiteY0" fmla="*/ 130043 h 130043"/>
                <a:gd name="connsiteX1" fmla="*/ 61134 w 134004"/>
                <a:gd name="connsiteY1" fmla="*/ 0 h 130043"/>
                <a:gd name="connsiteX2" fmla="*/ 134004 w 134004"/>
                <a:gd name="connsiteY2" fmla="*/ 73641 h 130043"/>
                <a:gd name="connsiteX3" fmla="*/ 0 w 134004"/>
                <a:gd name="connsiteY3" fmla="*/ 130043 h 130043"/>
                <a:gd name="connsiteX0" fmla="*/ 0 w 135301"/>
                <a:gd name="connsiteY0" fmla="*/ 134917 h 134917"/>
                <a:gd name="connsiteX1" fmla="*/ 62431 w 135301"/>
                <a:gd name="connsiteY1" fmla="*/ 0 h 134917"/>
                <a:gd name="connsiteX2" fmla="*/ 135301 w 135301"/>
                <a:gd name="connsiteY2" fmla="*/ 73641 h 134917"/>
                <a:gd name="connsiteX3" fmla="*/ 0 w 135301"/>
                <a:gd name="connsiteY3" fmla="*/ 134917 h 134917"/>
                <a:gd name="connsiteX0" fmla="*/ 0 w 135301"/>
                <a:gd name="connsiteY0" fmla="*/ 142227 h 142227"/>
                <a:gd name="connsiteX1" fmla="*/ 64378 w 135301"/>
                <a:gd name="connsiteY1" fmla="*/ 0 h 142227"/>
                <a:gd name="connsiteX2" fmla="*/ 135301 w 135301"/>
                <a:gd name="connsiteY2" fmla="*/ 80951 h 142227"/>
                <a:gd name="connsiteX3" fmla="*/ 0 w 135301"/>
                <a:gd name="connsiteY3" fmla="*/ 142227 h 142227"/>
                <a:gd name="connsiteX0" fmla="*/ 0 w 99239"/>
                <a:gd name="connsiteY0" fmla="*/ 122656 h 122656"/>
                <a:gd name="connsiteX1" fmla="*/ 28316 w 99239"/>
                <a:gd name="connsiteY1" fmla="*/ 0 h 122656"/>
                <a:gd name="connsiteX2" fmla="*/ 99239 w 99239"/>
                <a:gd name="connsiteY2" fmla="*/ 80951 h 122656"/>
                <a:gd name="connsiteX3" fmla="*/ 0 w 99239"/>
                <a:gd name="connsiteY3" fmla="*/ 122656 h 122656"/>
                <a:gd name="connsiteX0" fmla="*/ 0 w 99239"/>
                <a:gd name="connsiteY0" fmla="*/ 118442 h 118442"/>
                <a:gd name="connsiteX1" fmla="*/ 32336 w 99239"/>
                <a:gd name="connsiteY1" fmla="*/ 0 h 118442"/>
                <a:gd name="connsiteX2" fmla="*/ 99239 w 99239"/>
                <a:gd name="connsiteY2" fmla="*/ 76737 h 118442"/>
                <a:gd name="connsiteX3" fmla="*/ 0 w 99239"/>
                <a:gd name="connsiteY3" fmla="*/ 118442 h 118442"/>
                <a:gd name="connsiteX0" fmla="*/ 0 w 105144"/>
                <a:gd name="connsiteY0" fmla="*/ 118442 h 118442"/>
                <a:gd name="connsiteX1" fmla="*/ 32336 w 105144"/>
                <a:gd name="connsiteY1" fmla="*/ 0 h 118442"/>
                <a:gd name="connsiteX2" fmla="*/ 105144 w 105144"/>
                <a:gd name="connsiteY2" fmla="*/ 73868 h 118442"/>
                <a:gd name="connsiteX3" fmla="*/ 0 w 105144"/>
                <a:gd name="connsiteY3" fmla="*/ 118442 h 118442"/>
                <a:gd name="connsiteX0" fmla="*/ 0 w 101208"/>
                <a:gd name="connsiteY0" fmla="*/ 116529 h 116529"/>
                <a:gd name="connsiteX1" fmla="*/ 28400 w 101208"/>
                <a:gd name="connsiteY1" fmla="*/ 0 h 116529"/>
                <a:gd name="connsiteX2" fmla="*/ 101208 w 101208"/>
                <a:gd name="connsiteY2" fmla="*/ 73868 h 116529"/>
                <a:gd name="connsiteX3" fmla="*/ 0 w 101208"/>
                <a:gd name="connsiteY3" fmla="*/ 116529 h 116529"/>
                <a:gd name="connsiteX0" fmla="*/ 0 w 97188"/>
                <a:gd name="connsiteY0" fmla="*/ 120743 h 120743"/>
                <a:gd name="connsiteX1" fmla="*/ 24380 w 97188"/>
                <a:gd name="connsiteY1" fmla="*/ 0 h 120743"/>
                <a:gd name="connsiteX2" fmla="*/ 97188 w 97188"/>
                <a:gd name="connsiteY2" fmla="*/ 73868 h 120743"/>
                <a:gd name="connsiteX3" fmla="*/ 0 w 97188"/>
                <a:gd name="connsiteY3" fmla="*/ 120743 h 120743"/>
                <a:gd name="connsiteX0" fmla="*/ 0 w 97188"/>
                <a:gd name="connsiteY0" fmla="*/ 112893 h 112893"/>
                <a:gd name="connsiteX1" fmla="*/ 11594 w 97188"/>
                <a:gd name="connsiteY1" fmla="*/ 0 h 112893"/>
                <a:gd name="connsiteX2" fmla="*/ 97188 w 97188"/>
                <a:gd name="connsiteY2" fmla="*/ 66018 h 112893"/>
                <a:gd name="connsiteX3" fmla="*/ 0 w 97188"/>
                <a:gd name="connsiteY3" fmla="*/ 112893 h 112893"/>
                <a:gd name="connsiteX0" fmla="*/ 0 w 106333"/>
                <a:gd name="connsiteY0" fmla="*/ 105332 h 105332"/>
                <a:gd name="connsiteX1" fmla="*/ 20739 w 106333"/>
                <a:gd name="connsiteY1" fmla="*/ 0 h 105332"/>
                <a:gd name="connsiteX2" fmla="*/ 106333 w 106333"/>
                <a:gd name="connsiteY2" fmla="*/ 66018 h 105332"/>
                <a:gd name="connsiteX3" fmla="*/ 0 w 106333"/>
                <a:gd name="connsiteY3" fmla="*/ 105332 h 105332"/>
                <a:gd name="connsiteX0" fmla="*/ 0 w 106333"/>
                <a:gd name="connsiteY0" fmla="*/ 100946 h 100946"/>
                <a:gd name="connsiteX1" fmla="*/ 26217 w 106333"/>
                <a:gd name="connsiteY1" fmla="*/ 0 h 100946"/>
                <a:gd name="connsiteX2" fmla="*/ 106333 w 106333"/>
                <a:gd name="connsiteY2" fmla="*/ 61632 h 100946"/>
                <a:gd name="connsiteX3" fmla="*/ 0 w 106333"/>
                <a:gd name="connsiteY3" fmla="*/ 100946 h 100946"/>
                <a:gd name="connsiteX0" fmla="*/ 0 w 106333"/>
                <a:gd name="connsiteY0" fmla="*/ 111974 h 111974"/>
                <a:gd name="connsiteX1" fmla="*/ 55559 w 106333"/>
                <a:gd name="connsiteY1" fmla="*/ 0 h 111974"/>
                <a:gd name="connsiteX2" fmla="*/ 106333 w 106333"/>
                <a:gd name="connsiteY2" fmla="*/ 72660 h 111974"/>
                <a:gd name="connsiteX3" fmla="*/ 0 w 106333"/>
                <a:gd name="connsiteY3" fmla="*/ 111974 h 111974"/>
                <a:gd name="connsiteX0" fmla="*/ 0 w 102201"/>
                <a:gd name="connsiteY0" fmla="*/ 114224 h 114224"/>
                <a:gd name="connsiteX1" fmla="*/ 51427 w 102201"/>
                <a:gd name="connsiteY1" fmla="*/ 0 h 114224"/>
                <a:gd name="connsiteX2" fmla="*/ 102201 w 102201"/>
                <a:gd name="connsiteY2" fmla="*/ 72660 h 114224"/>
                <a:gd name="connsiteX3" fmla="*/ 0 w 102201"/>
                <a:gd name="connsiteY3" fmla="*/ 114224 h 114224"/>
                <a:gd name="connsiteX0" fmla="*/ 0 w 102201"/>
                <a:gd name="connsiteY0" fmla="*/ 98346 h 98346"/>
                <a:gd name="connsiteX1" fmla="*/ 62543 w 102201"/>
                <a:gd name="connsiteY1" fmla="*/ 0 h 98346"/>
                <a:gd name="connsiteX2" fmla="*/ 102201 w 102201"/>
                <a:gd name="connsiteY2" fmla="*/ 56782 h 98346"/>
                <a:gd name="connsiteX3" fmla="*/ 0 w 102201"/>
                <a:gd name="connsiteY3" fmla="*/ 98346 h 98346"/>
                <a:gd name="connsiteX0" fmla="*/ 0 w 108082"/>
                <a:gd name="connsiteY0" fmla="*/ 99070 h 99070"/>
                <a:gd name="connsiteX1" fmla="*/ 68424 w 108082"/>
                <a:gd name="connsiteY1" fmla="*/ 0 h 99070"/>
                <a:gd name="connsiteX2" fmla="*/ 108082 w 108082"/>
                <a:gd name="connsiteY2" fmla="*/ 56782 h 99070"/>
                <a:gd name="connsiteX3" fmla="*/ 0 w 108082"/>
                <a:gd name="connsiteY3" fmla="*/ 99070 h 99070"/>
                <a:gd name="connsiteX0" fmla="*/ 0 w 99493"/>
                <a:gd name="connsiteY0" fmla="*/ 94908 h 94908"/>
                <a:gd name="connsiteX1" fmla="*/ 59835 w 99493"/>
                <a:gd name="connsiteY1" fmla="*/ 0 h 94908"/>
                <a:gd name="connsiteX2" fmla="*/ 99493 w 99493"/>
                <a:gd name="connsiteY2" fmla="*/ 56782 h 94908"/>
                <a:gd name="connsiteX3" fmla="*/ 0 w 99493"/>
                <a:gd name="connsiteY3" fmla="*/ 94908 h 94908"/>
                <a:gd name="connsiteX0" fmla="*/ 0 w 99493"/>
                <a:gd name="connsiteY0" fmla="*/ 97290 h 97290"/>
                <a:gd name="connsiteX1" fmla="*/ 58168 w 99493"/>
                <a:gd name="connsiteY1" fmla="*/ 0 h 97290"/>
                <a:gd name="connsiteX2" fmla="*/ 99493 w 99493"/>
                <a:gd name="connsiteY2" fmla="*/ 59164 h 97290"/>
                <a:gd name="connsiteX3" fmla="*/ 0 w 99493"/>
                <a:gd name="connsiteY3" fmla="*/ 97290 h 97290"/>
                <a:gd name="connsiteX0" fmla="*/ 0 w 110529"/>
                <a:gd name="connsiteY0" fmla="*/ 105776 h 105776"/>
                <a:gd name="connsiteX1" fmla="*/ 69204 w 110529"/>
                <a:gd name="connsiteY1" fmla="*/ 0 h 105776"/>
                <a:gd name="connsiteX2" fmla="*/ 110529 w 110529"/>
                <a:gd name="connsiteY2" fmla="*/ 59164 h 105776"/>
                <a:gd name="connsiteX3" fmla="*/ 0 w 110529"/>
                <a:gd name="connsiteY3" fmla="*/ 105776 h 105776"/>
                <a:gd name="connsiteX0" fmla="*/ 0 w 112169"/>
                <a:gd name="connsiteY0" fmla="*/ 103432 h 103432"/>
                <a:gd name="connsiteX1" fmla="*/ 70844 w 112169"/>
                <a:gd name="connsiteY1" fmla="*/ 0 h 103432"/>
                <a:gd name="connsiteX2" fmla="*/ 112169 w 112169"/>
                <a:gd name="connsiteY2" fmla="*/ 59164 h 103432"/>
                <a:gd name="connsiteX3" fmla="*/ 0 w 112169"/>
                <a:gd name="connsiteY3" fmla="*/ 103432 h 103432"/>
              </a:gdLst>
              <a:ahLst/>
              <a:cxnLst>
                <a:cxn ang="0">
                  <a:pos x="connsiteX0" y="connsiteY0"/>
                </a:cxn>
                <a:cxn ang="0">
                  <a:pos x="connsiteX1" y="connsiteY1"/>
                </a:cxn>
                <a:cxn ang="0">
                  <a:pos x="connsiteX2" y="connsiteY2"/>
                </a:cxn>
                <a:cxn ang="0">
                  <a:pos x="connsiteX3" y="connsiteY3"/>
                </a:cxn>
              </a:cxnLst>
              <a:rect l="l" t="t" r="r" b="b"/>
              <a:pathLst>
                <a:path w="112169" h="103432">
                  <a:moveTo>
                    <a:pt x="0" y="103432"/>
                  </a:moveTo>
                  <a:lnTo>
                    <a:pt x="70844" y="0"/>
                  </a:lnTo>
                  <a:lnTo>
                    <a:pt x="112169" y="59164"/>
                  </a:lnTo>
                  <a:lnTo>
                    <a:pt x="0" y="103432"/>
                  </a:lnTo>
                  <a:close/>
                </a:path>
              </a:pathLst>
            </a:custGeom>
            <a:solidFill>
              <a:srgbClr val="CFB39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91" name="Isosceles Triangle 90">
              <a:extLst>
                <a:ext uri="{FF2B5EF4-FFF2-40B4-BE49-F238E27FC236}">
                  <a16:creationId xmlns:a16="http://schemas.microsoft.com/office/drawing/2014/main" id="{309A1CC9-2140-64F4-2970-1AC45239EFC2}"/>
                </a:ext>
              </a:extLst>
            </p:cNvPr>
            <p:cNvSpPr/>
            <p:nvPr/>
          </p:nvSpPr>
          <p:spPr>
            <a:xfrm rot="14746773" flipV="1">
              <a:off x="520700" y="2500313"/>
              <a:ext cx="138482" cy="84138"/>
            </a:xfrm>
            <a:custGeom>
              <a:avLst/>
              <a:gdLst>
                <a:gd name="connsiteX0" fmla="*/ 0 w 117653"/>
                <a:gd name="connsiteY0" fmla="*/ 91276 h 91276"/>
                <a:gd name="connsiteX1" fmla="*/ 58827 w 117653"/>
                <a:gd name="connsiteY1" fmla="*/ 0 h 91276"/>
                <a:gd name="connsiteX2" fmla="*/ 117653 w 117653"/>
                <a:gd name="connsiteY2" fmla="*/ 91276 h 91276"/>
                <a:gd name="connsiteX3" fmla="*/ 0 w 117653"/>
                <a:gd name="connsiteY3" fmla="*/ 91276 h 91276"/>
                <a:gd name="connsiteX0" fmla="*/ 0 w 147739"/>
                <a:gd name="connsiteY0" fmla="*/ 91276 h 91276"/>
                <a:gd name="connsiteX1" fmla="*/ 58827 w 147739"/>
                <a:gd name="connsiteY1" fmla="*/ 0 h 91276"/>
                <a:gd name="connsiteX2" fmla="*/ 147739 w 147739"/>
                <a:gd name="connsiteY2" fmla="*/ 66673 h 91276"/>
                <a:gd name="connsiteX3" fmla="*/ 0 w 147739"/>
                <a:gd name="connsiteY3" fmla="*/ 91276 h 91276"/>
                <a:gd name="connsiteX0" fmla="*/ 0 w 152992"/>
                <a:gd name="connsiteY0" fmla="*/ 99586 h 99586"/>
                <a:gd name="connsiteX1" fmla="*/ 64080 w 152992"/>
                <a:gd name="connsiteY1" fmla="*/ 0 h 99586"/>
                <a:gd name="connsiteX2" fmla="*/ 152992 w 152992"/>
                <a:gd name="connsiteY2" fmla="*/ 66673 h 99586"/>
                <a:gd name="connsiteX3" fmla="*/ 0 w 152992"/>
                <a:gd name="connsiteY3" fmla="*/ 99586 h 99586"/>
                <a:gd name="connsiteX0" fmla="*/ 0 w 166132"/>
                <a:gd name="connsiteY0" fmla="*/ 99586 h 99586"/>
                <a:gd name="connsiteX1" fmla="*/ 64080 w 166132"/>
                <a:gd name="connsiteY1" fmla="*/ 0 h 99586"/>
                <a:gd name="connsiteX2" fmla="*/ 166132 w 166132"/>
                <a:gd name="connsiteY2" fmla="*/ 63709 h 99586"/>
                <a:gd name="connsiteX3" fmla="*/ 0 w 166132"/>
                <a:gd name="connsiteY3" fmla="*/ 99586 h 99586"/>
                <a:gd name="connsiteX0" fmla="*/ 0 w 162317"/>
                <a:gd name="connsiteY0" fmla="*/ 93548 h 93548"/>
                <a:gd name="connsiteX1" fmla="*/ 60265 w 162317"/>
                <a:gd name="connsiteY1" fmla="*/ 0 h 93548"/>
                <a:gd name="connsiteX2" fmla="*/ 162317 w 162317"/>
                <a:gd name="connsiteY2" fmla="*/ 63709 h 93548"/>
                <a:gd name="connsiteX3" fmla="*/ 0 w 162317"/>
                <a:gd name="connsiteY3" fmla="*/ 93548 h 93548"/>
                <a:gd name="connsiteX0" fmla="*/ 0 w 134004"/>
                <a:gd name="connsiteY0" fmla="*/ 120111 h 120111"/>
                <a:gd name="connsiteX1" fmla="*/ 31952 w 134004"/>
                <a:gd name="connsiteY1" fmla="*/ 0 h 120111"/>
                <a:gd name="connsiteX2" fmla="*/ 134004 w 134004"/>
                <a:gd name="connsiteY2" fmla="*/ 63709 h 120111"/>
                <a:gd name="connsiteX3" fmla="*/ 0 w 134004"/>
                <a:gd name="connsiteY3" fmla="*/ 120111 h 120111"/>
                <a:gd name="connsiteX0" fmla="*/ 0 w 134004"/>
                <a:gd name="connsiteY0" fmla="*/ 130043 h 130043"/>
                <a:gd name="connsiteX1" fmla="*/ 61134 w 134004"/>
                <a:gd name="connsiteY1" fmla="*/ 0 h 130043"/>
                <a:gd name="connsiteX2" fmla="*/ 134004 w 134004"/>
                <a:gd name="connsiteY2" fmla="*/ 73641 h 130043"/>
                <a:gd name="connsiteX3" fmla="*/ 0 w 134004"/>
                <a:gd name="connsiteY3" fmla="*/ 130043 h 130043"/>
                <a:gd name="connsiteX0" fmla="*/ 0 w 135301"/>
                <a:gd name="connsiteY0" fmla="*/ 134917 h 134917"/>
                <a:gd name="connsiteX1" fmla="*/ 62431 w 135301"/>
                <a:gd name="connsiteY1" fmla="*/ 0 h 134917"/>
                <a:gd name="connsiteX2" fmla="*/ 135301 w 135301"/>
                <a:gd name="connsiteY2" fmla="*/ 73641 h 134917"/>
                <a:gd name="connsiteX3" fmla="*/ 0 w 135301"/>
                <a:gd name="connsiteY3" fmla="*/ 134917 h 134917"/>
                <a:gd name="connsiteX0" fmla="*/ 0 w 135301"/>
                <a:gd name="connsiteY0" fmla="*/ 142227 h 142227"/>
                <a:gd name="connsiteX1" fmla="*/ 64378 w 135301"/>
                <a:gd name="connsiteY1" fmla="*/ 0 h 142227"/>
                <a:gd name="connsiteX2" fmla="*/ 135301 w 135301"/>
                <a:gd name="connsiteY2" fmla="*/ 80951 h 142227"/>
                <a:gd name="connsiteX3" fmla="*/ 0 w 135301"/>
                <a:gd name="connsiteY3" fmla="*/ 142227 h 142227"/>
                <a:gd name="connsiteX0" fmla="*/ 0 w 99239"/>
                <a:gd name="connsiteY0" fmla="*/ 122656 h 122656"/>
                <a:gd name="connsiteX1" fmla="*/ 28316 w 99239"/>
                <a:gd name="connsiteY1" fmla="*/ 0 h 122656"/>
                <a:gd name="connsiteX2" fmla="*/ 99239 w 99239"/>
                <a:gd name="connsiteY2" fmla="*/ 80951 h 122656"/>
                <a:gd name="connsiteX3" fmla="*/ 0 w 99239"/>
                <a:gd name="connsiteY3" fmla="*/ 122656 h 122656"/>
                <a:gd name="connsiteX0" fmla="*/ 0 w 99239"/>
                <a:gd name="connsiteY0" fmla="*/ 118442 h 118442"/>
                <a:gd name="connsiteX1" fmla="*/ 32336 w 99239"/>
                <a:gd name="connsiteY1" fmla="*/ 0 h 118442"/>
                <a:gd name="connsiteX2" fmla="*/ 99239 w 99239"/>
                <a:gd name="connsiteY2" fmla="*/ 76737 h 118442"/>
                <a:gd name="connsiteX3" fmla="*/ 0 w 99239"/>
                <a:gd name="connsiteY3" fmla="*/ 118442 h 118442"/>
                <a:gd name="connsiteX0" fmla="*/ 0 w 105144"/>
                <a:gd name="connsiteY0" fmla="*/ 118442 h 118442"/>
                <a:gd name="connsiteX1" fmla="*/ 32336 w 105144"/>
                <a:gd name="connsiteY1" fmla="*/ 0 h 118442"/>
                <a:gd name="connsiteX2" fmla="*/ 105144 w 105144"/>
                <a:gd name="connsiteY2" fmla="*/ 73868 h 118442"/>
                <a:gd name="connsiteX3" fmla="*/ 0 w 105144"/>
                <a:gd name="connsiteY3" fmla="*/ 118442 h 118442"/>
                <a:gd name="connsiteX0" fmla="*/ 0 w 101208"/>
                <a:gd name="connsiteY0" fmla="*/ 116529 h 116529"/>
                <a:gd name="connsiteX1" fmla="*/ 28400 w 101208"/>
                <a:gd name="connsiteY1" fmla="*/ 0 h 116529"/>
                <a:gd name="connsiteX2" fmla="*/ 101208 w 101208"/>
                <a:gd name="connsiteY2" fmla="*/ 73868 h 116529"/>
                <a:gd name="connsiteX3" fmla="*/ 0 w 101208"/>
                <a:gd name="connsiteY3" fmla="*/ 116529 h 116529"/>
                <a:gd name="connsiteX0" fmla="*/ 0 w 97188"/>
                <a:gd name="connsiteY0" fmla="*/ 120743 h 120743"/>
                <a:gd name="connsiteX1" fmla="*/ 24380 w 97188"/>
                <a:gd name="connsiteY1" fmla="*/ 0 h 120743"/>
                <a:gd name="connsiteX2" fmla="*/ 97188 w 97188"/>
                <a:gd name="connsiteY2" fmla="*/ 73868 h 120743"/>
                <a:gd name="connsiteX3" fmla="*/ 0 w 97188"/>
                <a:gd name="connsiteY3" fmla="*/ 120743 h 120743"/>
                <a:gd name="connsiteX0" fmla="*/ 0 w 97188"/>
                <a:gd name="connsiteY0" fmla="*/ 112893 h 112893"/>
                <a:gd name="connsiteX1" fmla="*/ 11594 w 97188"/>
                <a:gd name="connsiteY1" fmla="*/ 0 h 112893"/>
                <a:gd name="connsiteX2" fmla="*/ 97188 w 97188"/>
                <a:gd name="connsiteY2" fmla="*/ 66018 h 112893"/>
                <a:gd name="connsiteX3" fmla="*/ 0 w 97188"/>
                <a:gd name="connsiteY3" fmla="*/ 112893 h 112893"/>
                <a:gd name="connsiteX0" fmla="*/ 0 w 106333"/>
                <a:gd name="connsiteY0" fmla="*/ 105332 h 105332"/>
                <a:gd name="connsiteX1" fmla="*/ 20739 w 106333"/>
                <a:gd name="connsiteY1" fmla="*/ 0 h 105332"/>
                <a:gd name="connsiteX2" fmla="*/ 106333 w 106333"/>
                <a:gd name="connsiteY2" fmla="*/ 66018 h 105332"/>
                <a:gd name="connsiteX3" fmla="*/ 0 w 106333"/>
                <a:gd name="connsiteY3" fmla="*/ 105332 h 105332"/>
                <a:gd name="connsiteX0" fmla="*/ 0 w 106333"/>
                <a:gd name="connsiteY0" fmla="*/ 100946 h 100946"/>
                <a:gd name="connsiteX1" fmla="*/ 26217 w 106333"/>
                <a:gd name="connsiteY1" fmla="*/ 0 h 100946"/>
                <a:gd name="connsiteX2" fmla="*/ 106333 w 106333"/>
                <a:gd name="connsiteY2" fmla="*/ 61632 h 100946"/>
                <a:gd name="connsiteX3" fmla="*/ 0 w 106333"/>
                <a:gd name="connsiteY3" fmla="*/ 100946 h 100946"/>
                <a:gd name="connsiteX0" fmla="*/ 0 w 106333"/>
                <a:gd name="connsiteY0" fmla="*/ 111974 h 111974"/>
                <a:gd name="connsiteX1" fmla="*/ 55559 w 106333"/>
                <a:gd name="connsiteY1" fmla="*/ 0 h 111974"/>
                <a:gd name="connsiteX2" fmla="*/ 106333 w 106333"/>
                <a:gd name="connsiteY2" fmla="*/ 72660 h 111974"/>
                <a:gd name="connsiteX3" fmla="*/ 0 w 106333"/>
                <a:gd name="connsiteY3" fmla="*/ 111974 h 111974"/>
                <a:gd name="connsiteX0" fmla="*/ 0 w 102201"/>
                <a:gd name="connsiteY0" fmla="*/ 114224 h 114224"/>
                <a:gd name="connsiteX1" fmla="*/ 51427 w 102201"/>
                <a:gd name="connsiteY1" fmla="*/ 0 h 114224"/>
                <a:gd name="connsiteX2" fmla="*/ 102201 w 102201"/>
                <a:gd name="connsiteY2" fmla="*/ 72660 h 114224"/>
                <a:gd name="connsiteX3" fmla="*/ 0 w 102201"/>
                <a:gd name="connsiteY3" fmla="*/ 114224 h 114224"/>
                <a:gd name="connsiteX0" fmla="*/ 0 w 102201"/>
                <a:gd name="connsiteY0" fmla="*/ 98346 h 98346"/>
                <a:gd name="connsiteX1" fmla="*/ 62543 w 102201"/>
                <a:gd name="connsiteY1" fmla="*/ 0 h 98346"/>
                <a:gd name="connsiteX2" fmla="*/ 102201 w 102201"/>
                <a:gd name="connsiteY2" fmla="*/ 56782 h 98346"/>
                <a:gd name="connsiteX3" fmla="*/ 0 w 102201"/>
                <a:gd name="connsiteY3" fmla="*/ 98346 h 98346"/>
                <a:gd name="connsiteX0" fmla="*/ 0 w 108082"/>
                <a:gd name="connsiteY0" fmla="*/ 99070 h 99070"/>
                <a:gd name="connsiteX1" fmla="*/ 68424 w 108082"/>
                <a:gd name="connsiteY1" fmla="*/ 0 h 99070"/>
                <a:gd name="connsiteX2" fmla="*/ 108082 w 108082"/>
                <a:gd name="connsiteY2" fmla="*/ 56782 h 99070"/>
                <a:gd name="connsiteX3" fmla="*/ 0 w 108082"/>
                <a:gd name="connsiteY3" fmla="*/ 99070 h 99070"/>
                <a:gd name="connsiteX0" fmla="*/ 0 w 99493"/>
                <a:gd name="connsiteY0" fmla="*/ 94908 h 94908"/>
                <a:gd name="connsiteX1" fmla="*/ 59835 w 99493"/>
                <a:gd name="connsiteY1" fmla="*/ 0 h 94908"/>
                <a:gd name="connsiteX2" fmla="*/ 99493 w 99493"/>
                <a:gd name="connsiteY2" fmla="*/ 56782 h 94908"/>
                <a:gd name="connsiteX3" fmla="*/ 0 w 99493"/>
                <a:gd name="connsiteY3" fmla="*/ 94908 h 94908"/>
                <a:gd name="connsiteX0" fmla="*/ 0 w 99493"/>
                <a:gd name="connsiteY0" fmla="*/ 97290 h 97290"/>
                <a:gd name="connsiteX1" fmla="*/ 58168 w 99493"/>
                <a:gd name="connsiteY1" fmla="*/ 0 h 97290"/>
                <a:gd name="connsiteX2" fmla="*/ 99493 w 99493"/>
                <a:gd name="connsiteY2" fmla="*/ 59164 h 97290"/>
                <a:gd name="connsiteX3" fmla="*/ 0 w 99493"/>
                <a:gd name="connsiteY3" fmla="*/ 97290 h 97290"/>
                <a:gd name="connsiteX0" fmla="*/ 0 w 138482"/>
                <a:gd name="connsiteY0" fmla="*/ 47071 h 59164"/>
                <a:gd name="connsiteX1" fmla="*/ 97157 w 138482"/>
                <a:gd name="connsiteY1" fmla="*/ 0 h 59164"/>
                <a:gd name="connsiteX2" fmla="*/ 138482 w 138482"/>
                <a:gd name="connsiteY2" fmla="*/ 59164 h 59164"/>
                <a:gd name="connsiteX3" fmla="*/ 0 w 138482"/>
                <a:gd name="connsiteY3" fmla="*/ 47071 h 59164"/>
              </a:gdLst>
              <a:ahLst/>
              <a:cxnLst>
                <a:cxn ang="0">
                  <a:pos x="connsiteX0" y="connsiteY0"/>
                </a:cxn>
                <a:cxn ang="0">
                  <a:pos x="connsiteX1" y="connsiteY1"/>
                </a:cxn>
                <a:cxn ang="0">
                  <a:pos x="connsiteX2" y="connsiteY2"/>
                </a:cxn>
                <a:cxn ang="0">
                  <a:pos x="connsiteX3" y="connsiteY3"/>
                </a:cxn>
              </a:cxnLst>
              <a:rect l="l" t="t" r="r" b="b"/>
              <a:pathLst>
                <a:path w="138482" h="59164">
                  <a:moveTo>
                    <a:pt x="0" y="47071"/>
                  </a:moveTo>
                  <a:lnTo>
                    <a:pt x="97157" y="0"/>
                  </a:lnTo>
                  <a:lnTo>
                    <a:pt x="138482" y="59164"/>
                  </a:lnTo>
                  <a:lnTo>
                    <a:pt x="0" y="47071"/>
                  </a:lnTo>
                  <a:close/>
                </a:path>
              </a:pathLst>
            </a:custGeom>
            <a:solidFill>
              <a:srgbClr val="CFB39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sp>
        <p:nvSpPr>
          <p:cNvPr id="10" name="Oval 9">
            <a:extLst>
              <a:ext uri="{FF2B5EF4-FFF2-40B4-BE49-F238E27FC236}">
                <a16:creationId xmlns:a16="http://schemas.microsoft.com/office/drawing/2014/main" id="{EF0C62FC-0BC1-FB9A-872B-0A9A18D351B1}"/>
              </a:ext>
            </a:extLst>
          </p:cNvPr>
          <p:cNvSpPr/>
          <p:nvPr/>
        </p:nvSpPr>
        <p:spPr>
          <a:xfrm>
            <a:off x="115665" y="661850"/>
            <a:ext cx="301752" cy="301752"/>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180000" rIns="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Scotia"/>
                <a:ea typeface="+mn-ea"/>
                <a:cs typeface="+mn-cs"/>
              </a:rPr>
              <a:t>1</a:t>
            </a:r>
          </a:p>
        </p:txBody>
      </p:sp>
      <p:cxnSp>
        <p:nvCxnSpPr>
          <p:cNvPr id="30" name="Straight Connector 29">
            <a:extLst>
              <a:ext uri="{FF2B5EF4-FFF2-40B4-BE49-F238E27FC236}">
                <a16:creationId xmlns:a16="http://schemas.microsoft.com/office/drawing/2014/main" id="{127040F8-9761-51C3-B8F8-ED199A83F976}"/>
              </a:ext>
            </a:extLst>
          </p:cNvPr>
          <p:cNvCxnSpPr>
            <a:cxnSpLocks/>
          </p:cNvCxnSpPr>
          <p:nvPr/>
        </p:nvCxnSpPr>
        <p:spPr>
          <a:xfrm>
            <a:off x="2174251" y="4910976"/>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F15B849-15EA-4072-5224-50143E32C68E}"/>
              </a:ext>
            </a:extLst>
          </p:cNvPr>
          <p:cNvCxnSpPr>
            <a:cxnSpLocks/>
          </p:cNvCxnSpPr>
          <p:nvPr/>
        </p:nvCxnSpPr>
        <p:spPr>
          <a:xfrm>
            <a:off x="7093766" y="4910976"/>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1634783-64B9-0D93-A86A-0890725621E3}"/>
              </a:ext>
            </a:extLst>
          </p:cNvPr>
          <p:cNvCxnSpPr>
            <a:cxnSpLocks/>
          </p:cNvCxnSpPr>
          <p:nvPr/>
        </p:nvCxnSpPr>
        <p:spPr>
          <a:xfrm>
            <a:off x="2174251" y="3902312"/>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89C67820-B6EF-6749-4DD9-03EC6D3C7B19}"/>
              </a:ext>
            </a:extLst>
          </p:cNvPr>
          <p:cNvCxnSpPr>
            <a:cxnSpLocks/>
          </p:cNvCxnSpPr>
          <p:nvPr/>
        </p:nvCxnSpPr>
        <p:spPr>
          <a:xfrm>
            <a:off x="7093766" y="3902312"/>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F4DA6CC-A1E2-C5C5-DE0D-0482FC8C98C2}"/>
              </a:ext>
            </a:extLst>
          </p:cNvPr>
          <p:cNvCxnSpPr>
            <a:cxnSpLocks/>
          </p:cNvCxnSpPr>
          <p:nvPr/>
        </p:nvCxnSpPr>
        <p:spPr>
          <a:xfrm>
            <a:off x="2174251" y="3208045"/>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25CC7E9-6E3C-C19A-A85F-59A26BE76062}"/>
              </a:ext>
            </a:extLst>
          </p:cNvPr>
          <p:cNvCxnSpPr>
            <a:cxnSpLocks/>
          </p:cNvCxnSpPr>
          <p:nvPr/>
        </p:nvCxnSpPr>
        <p:spPr>
          <a:xfrm>
            <a:off x="7093766" y="3208045"/>
            <a:ext cx="4572000" cy="0"/>
          </a:xfrm>
          <a:prstGeom prst="line">
            <a:avLst/>
          </a:prstGeom>
          <a:ln>
            <a:solidFill>
              <a:srgbClr val="F5EFE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297994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66C3E7-A326-993D-05B1-C03E9B15D15A}"/>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44311F9B-3A82-16BD-3A7E-902E22A417B0}"/>
              </a:ext>
            </a:extLst>
          </p:cNvPr>
          <p:cNvSpPr>
            <a:spLocks noGrp="1"/>
          </p:cNvSpPr>
          <p:nvPr>
            <p:ph type="body" sz="quarter" idx="11"/>
          </p:nvPr>
        </p:nvSpPr>
        <p:spPr/>
        <p:txBody>
          <a:bodyPr/>
          <a:lstStyle/>
          <a:p>
            <a:r>
              <a:rPr lang="en-US"/>
              <a:t>Overviews of Strategic Work Packages, Roadmaps, Milestones etc.</a:t>
            </a:r>
            <a:endParaRPr lang="en-CA"/>
          </a:p>
        </p:txBody>
      </p:sp>
      <p:sp>
        <p:nvSpPr>
          <p:cNvPr id="3" name="Text Placeholder 2">
            <a:extLst>
              <a:ext uri="{FF2B5EF4-FFF2-40B4-BE49-F238E27FC236}">
                <a16:creationId xmlns:a16="http://schemas.microsoft.com/office/drawing/2014/main" id="{0EC708C0-7F81-11C9-5DF8-611C2F68ED27}"/>
              </a:ext>
            </a:extLst>
          </p:cNvPr>
          <p:cNvSpPr>
            <a:spLocks noGrp="1"/>
          </p:cNvSpPr>
          <p:nvPr>
            <p:ph type="body" sz="quarter" idx="12"/>
          </p:nvPr>
        </p:nvSpPr>
        <p:spPr/>
        <p:txBody>
          <a:bodyPr/>
          <a:lstStyle/>
          <a:p>
            <a:r>
              <a:rPr lang="en-CA"/>
              <a:t>13</a:t>
            </a:r>
          </a:p>
        </p:txBody>
      </p:sp>
    </p:spTree>
    <p:extLst>
      <p:ext uri="{BB962C8B-B14F-4D97-AF65-F5344CB8AC3E}">
        <p14:creationId xmlns:p14="http://schemas.microsoft.com/office/powerpoint/2010/main" val="33470066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D28A4-ADB6-9EA7-493D-0F7888C4E646}"/>
            </a:ext>
          </a:extLst>
        </p:cNvPr>
        <p:cNvGrpSpPr/>
        <p:nvPr/>
      </p:nvGrpSpPr>
      <p:grpSpPr>
        <a:xfrm>
          <a:off x="0" y="0"/>
          <a:ext cx="0" cy="0"/>
          <a:chOff x="0" y="0"/>
          <a:chExt cx="0" cy="0"/>
        </a:xfrm>
      </p:grpSpPr>
      <p:graphicFrame>
        <p:nvGraphicFramePr>
          <p:cNvPr id="60" name="think-cell data - do not delete" hidden="1">
            <a:extLst>
              <a:ext uri="{FF2B5EF4-FFF2-40B4-BE49-F238E27FC236}">
                <a16:creationId xmlns:a16="http://schemas.microsoft.com/office/drawing/2014/main" id="{BB476262-299B-5F30-1401-5FF4DD1FBCF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60" name="think-cell data - do not delete" hidden="1">
                        <a:extLst>
                          <a:ext uri="{FF2B5EF4-FFF2-40B4-BE49-F238E27FC236}">
                            <a16:creationId xmlns:a16="http://schemas.microsoft.com/office/drawing/2014/main" id="{BB476262-299B-5F30-1401-5FF4DD1FBCF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56" name="Title 55">
            <a:extLst>
              <a:ext uri="{FF2B5EF4-FFF2-40B4-BE49-F238E27FC236}">
                <a16:creationId xmlns:a16="http://schemas.microsoft.com/office/drawing/2014/main" id="{45CBE784-A11A-B957-DB5F-65727475B163}"/>
              </a:ext>
            </a:extLst>
          </p:cNvPr>
          <p:cNvSpPr>
            <a:spLocks noGrp="1"/>
          </p:cNvSpPr>
          <p:nvPr>
            <p:ph type="title"/>
          </p:nvPr>
        </p:nvSpPr>
        <p:spPr/>
        <p:txBody>
          <a:bodyPr vert="horz"/>
          <a:lstStyle/>
          <a:p>
            <a:r>
              <a:rPr lang="en-CA" sz="2400">
                <a:solidFill>
                  <a:schemeClr val="accent1"/>
                </a:solidFill>
              </a:rPr>
              <a:t>Points of Intersection | </a:t>
            </a:r>
            <a:r>
              <a:rPr lang="en-CA" sz="2400"/>
              <a:t>To scal</a:t>
            </a:r>
            <a:r>
              <a:rPr lang="en-CA"/>
              <a:t>e virtual successfully</a:t>
            </a:r>
            <a:r>
              <a:rPr lang="en-CA" sz="2400"/>
              <a:t>, </a:t>
            </a:r>
            <a:r>
              <a:rPr lang="en-CA" sz="2400" b="1"/>
              <a:t>entry points need to be embedded into </a:t>
            </a:r>
            <a:r>
              <a:rPr lang="en-CA" b="1"/>
              <a:t>digital </a:t>
            </a:r>
            <a:r>
              <a:rPr lang="en-CA" sz="2400"/>
              <a:t>to connect inbound clients to virtual / branch </a:t>
            </a:r>
            <a:endParaRPr lang="en-CA"/>
          </a:p>
        </p:txBody>
      </p:sp>
      <p:sp>
        <p:nvSpPr>
          <p:cNvPr id="32" name="Slide Number Placeholder 2">
            <a:extLst>
              <a:ext uri="{FF2B5EF4-FFF2-40B4-BE49-F238E27FC236}">
                <a16:creationId xmlns:a16="http://schemas.microsoft.com/office/drawing/2014/main" id="{D596920E-C19D-3121-CA9F-9F99BD785DF0}"/>
              </a:ext>
            </a:extLst>
          </p:cNvPr>
          <p:cNvSpPr>
            <a:spLocks noGrp="1"/>
          </p:cNvSpPr>
          <p:nvPr>
            <p:ph type="sldNum" sz="quarter" idx="10"/>
          </p:nvPr>
        </p:nvSpPr>
        <p:spPr/>
        <p:txBody>
          <a:bodyPr/>
          <a:lstStyle/>
          <a:p>
            <a:fld id="{95D835A7-12B2-4074-8DA2-469A8808C237}" type="slidenum">
              <a:rPr lang="en-CA" smtClean="0"/>
              <a:pPr/>
              <a:t>64</a:t>
            </a:fld>
            <a:endParaRPr lang="en-CA"/>
          </a:p>
        </p:txBody>
      </p:sp>
      <p:sp>
        <p:nvSpPr>
          <p:cNvPr id="113" name="Text Placeholder 97">
            <a:extLst>
              <a:ext uri="{FF2B5EF4-FFF2-40B4-BE49-F238E27FC236}">
                <a16:creationId xmlns:a16="http://schemas.microsoft.com/office/drawing/2014/main" id="{6BECD178-74BB-924F-9C05-6B30B8040EB1}"/>
              </a:ext>
            </a:extLst>
          </p:cNvPr>
          <p:cNvSpPr>
            <a:spLocks noGrp="1"/>
          </p:cNvSpPr>
          <p:nvPr>
            <p:ph type="body" sz="quarter" idx="11"/>
          </p:nvPr>
        </p:nvSpPr>
        <p:spPr/>
        <p:txBody>
          <a:bodyPr/>
          <a:lstStyle/>
          <a:p>
            <a:r>
              <a:rPr lang="en-CA"/>
              <a:t>Note: Outbound sales and service out of scope within client journey map </a:t>
            </a:r>
          </a:p>
        </p:txBody>
      </p:sp>
      <p:sp>
        <p:nvSpPr>
          <p:cNvPr id="100" name="Text Placeholder 58">
            <a:extLst>
              <a:ext uri="{FF2B5EF4-FFF2-40B4-BE49-F238E27FC236}">
                <a16:creationId xmlns:a16="http://schemas.microsoft.com/office/drawing/2014/main" id="{B272A5C6-988E-501E-E4E6-295DA1A6BA05}"/>
              </a:ext>
            </a:extLst>
          </p:cNvPr>
          <p:cNvSpPr txBox="1">
            <a:spLocks/>
          </p:cNvSpPr>
          <p:nvPr/>
        </p:nvSpPr>
        <p:spPr>
          <a:xfrm>
            <a:off x="515938" y="1672753"/>
            <a:ext cx="5400000" cy="180000"/>
          </a:xfrm>
          <a:prstGeom prst="rect">
            <a:avLst/>
          </a:prstGeom>
        </p:spPr>
        <p:txBody>
          <a:bodyPr vert="horz" lIns="0" tIns="0" rIns="0" bIns="0" rtlCol="0" anchor="ctr">
            <a:normAutofit/>
          </a:bodyPr>
          <a:lstStyle>
            <a:lvl1pPr marL="0" indent="0" algn="l" defTabSz="914411" rtl="0" eaLnBrk="1" latinLnBrk="0" hangingPunct="1">
              <a:lnSpc>
                <a:spcPct val="100000"/>
              </a:lnSpc>
              <a:spcBef>
                <a:spcPts val="0"/>
              </a:spcBef>
              <a:buClr>
                <a:schemeClr val="tx1"/>
              </a:buClr>
              <a:buFont typeface="Arial" panose="020B0604020202020204" pitchFamily="34" charset="0"/>
              <a:buNone/>
              <a:defRPr sz="900" kern="1200" spc="200" baseline="0">
                <a:solidFill>
                  <a:schemeClr val="tx1"/>
                </a:solidFill>
                <a:latin typeface="+mn-lt"/>
                <a:ea typeface="+mn-ea"/>
                <a:cs typeface="+mn-cs"/>
              </a:defRPr>
            </a:lvl1pPr>
            <a:lvl2pPr marL="685809"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2pPr>
            <a:lvl3pPr marL="1143015" indent="-228604" algn="l" defTabSz="914411" rtl="0" eaLnBrk="1" latinLnBrk="0" hangingPunct="1">
              <a:lnSpc>
                <a:spcPct val="100000"/>
              </a:lnSpc>
              <a:spcBef>
                <a:spcPts val="601"/>
              </a:spcBef>
              <a:buClr>
                <a:schemeClr val="tx1"/>
              </a:buClr>
              <a:buFont typeface="Arial" panose="020B0604020202020204" pitchFamily="34" charset="0"/>
              <a:buChar char="•"/>
              <a:defRPr sz="1200" kern="1200">
                <a:solidFill>
                  <a:schemeClr val="tx1"/>
                </a:solidFill>
                <a:latin typeface="+mn-lt"/>
                <a:ea typeface="+mn-ea"/>
                <a:cs typeface="+mn-cs"/>
              </a:defRPr>
            </a:lvl3pPr>
            <a:lvl4pPr marL="1600221"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4pPr>
            <a:lvl5pPr marL="2057427" indent="-228604" algn="l" defTabSz="914411" rtl="0" eaLnBrk="1" latinLnBrk="0" hangingPunct="1">
              <a:lnSpc>
                <a:spcPct val="100000"/>
              </a:lnSpc>
              <a:spcBef>
                <a:spcPts val="601"/>
              </a:spcBef>
              <a:buClr>
                <a:schemeClr val="tx1"/>
              </a:buClr>
              <a:buFont typeface="Arial" panose="020B0604020202020204" pitchFamily="34" charset="0"/>
              <a:buChar char="•"/>
              <a:defRPr sz="1100" kern="1200">
                <a:solidFill>
                  <a:schemeClr val="tx1"/>
                </a:solidFill>
                <a:latin typeface="+mn-lt"/>
                <a:ea typeface="+mn-ea"/>
                <a:cs typeface="+mn-cs"/>
              </a:defRPr>
            </a:lvl5pPr>
            <a:lvl6pPr marL="2514632"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6pPr>
            <a:lvl7pPr marL="2971838"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7pPr>
            <a:lvl8pPr marL="3429044"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8pPr>
            <a:lvl9pPr marL="3886249" indent="-228604" algn="l" defTabSz="914411" rtl="0" eaLnBrk="1" latinLnBrk="0" hangingPunct="1">
              <a:lnSpc>
                <a:spcPct val="90000"/>
              </a:lnSpc>
              <a:spcBef>
                <a:spcPts val="500"/>
              </a:spcBef>
              <a:buFont typeface="Arial" panose="020B0604020202020204" pitchFamily="34" charset="0"/>
              <a:buChar char="•"/>
              <a:defRPr sz="1801" kern="1200">
                <a:solidFill>
                  <a:schemeClr val="tx1"/>
                </a:solidFill>
                <a:latin typeface="+mn-lt"/>
                <a:ea typeface="+mn-ea"/>
                <a:cs typeface="+mn-cs"/>
              </a:defRPr>
            </a:lvl9pPr>
          </a:lstStyle>
          <a:p>
            <a:r>
              <a:rPr lang="en-CA"/>
              <a:t>INBOUND CLIENT JOURNEY MAP</a:t>
            </a:r>
          </a:p>
        </p:txBody>
      </p:sp>
      <p:sp>
        <p:nvSpPr>
          <p:cNvPr id="115" name="Rectangle: Rounded Corners 114">
            <a:extLst>
              <a:ext uri="{FF2B5EF4-FFF2-40B4-BE49-F238E27FC236}">
                <a16:creationId xmlns:a16="http://schemas.microsoft.com/office/drawing/2014/main" id="{97AFB6CC-B514-3350-EEF2-AD8755F18237}"/>
              </a:ext>
            </a:extLst>
          </p:cNvPr>
          <p:cNvSpPr/>
          <p:nvPr/>
        </p:nvSpPr>
        <p:spPr>
          <a:xfrm>
            <a:off x="515938" y="2004012"/>
            <a:ext cx="1544401" cy="1688860"/>
          </a:xfrm>
          <a:prstGeom prst="roundRect">
            <a:avLst>
              <a:gd name="adj" fmla="val 0"/>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tIns="182880" rtlCol="0" anchor="ctr"/>
          <a:lstStyle/>
          <a:p>
            <a:endParaRPr lang="en-CA" sz="1000" b="1">
              <a:solidFill>
                <a:schemeClr val="tx1"/>
              </a:solidFill>
            </a:endParaRPr>
          </a:p>
          <a:p>
            <a:r>
              <a:rPr lang="en-CA" sz="1000" b="1">
                <a:solidFill>
                  <a:schemeClr val="tx1"/>
                </a:solidFill>
              </a:rPr>
              <a:t>SIMPLE </a:t>
            </a:r>
          </a:p>
          <a:p>
            <a:pPr>
              <a:spcAft>
                <a:spcPts val="800"/>
              </a:spcAft>
            </a:pPr>
            <a:r>
              <a:rPr lang="en-CA" sz="1000" b="1">
                <a:solidFill>
                  <a:schemeClr val="tx1"/>
                </a:solidFill>
              </a:rPr>
              <a:t>SALES &amp; SERVICE</a:t>
            </a:r>
          </a:p>
          <a:p>
            <a:r>
              <a:rPr lang="en-CA" sz="1000">
                <a:solidFill>
                  <a:schemeClr val="tx1"/>
                </a:solidFill>
              </a:rPr>
              <a:t>Low degree of info &amp; short task duration</a:t>
            </a:r>
            <a:endParaRPr lang="en-CA" sz="1000" b="1">
              <a:solidFill>
                <a:schemeClr val="tx1"/>
              </a:solidFill>
            </a:endParaRPr>
          </a:p>
        </p:txBody>
      </p:sp>
      <p:grpSp>
        <p:nvGrpSpPr>
          <p:cNvPr id="289" name="Group 288">
            <a:extLst>
              <a:ext uri="{FF2B5EF4-FFF2-40B4-BE49-F238E27FC236}">
                <a16:creationId xmlns:a16="http://schemas.microsoft.com/office/drawing/2014/main" id="{5E6C2582-C6D1-3304-07E7-73C495B7E51B}"/>
              </a:ext>
            </a:extLst>
          </p:cNvPr>
          <p:cNvGrpSpPr/>
          <p:nvPr/>
        </p:nvGrpSpPr>
        <p:grpSpPr>
          <a:xfrm>
            <a:off x="2359043" y="2273128"/>
            <a:ext cx="1544400" cy="1429098"/>
            <a:chOff x="1335603" y="2305618"/>
            <a:chExt cx="1544400" cy="1429098"/>
          </a:xfrm>
        </p:grpSpPr>
        <p:grpSp>
          <p:nvGrpSpPr>
            <p:cNvPr id="106" name="Group 105">
              <a:extLst>
                <a:ext uri="{FF2B5EF4-FFF2-40B4-BE49-F238E27FC236}">
                  <a16:creationId xmlns:a16="http://schemas.microsoft.com/office/drawing/2014/main" id="{CE663D8E-EAEE-DF58-466E-974911A81508}"/>
                </a:ext>
              </a:extLst>
            </p:cNvPr>
            <p:cNvGrpSpPr/>
            <p:nvPr/>
          </p:nvGrpSpPr>
          <p:grpSpPr>
            <a:xfrm>
              <a:off x="1810623" y="2305618"/>
              <a:ext cx="594360" cy="594360"/>
              <a:chOff x="3393984" y="2532111"/>
              <a:chExt cx="594360" cy="594360"/>
            </a:xfrm>
          </p:grpSpPr>
          <p:sp>
            <p:nvSpPr>
              <p:cNvPr id="57" name="Oval 56">
                <a:extLst>
                  <a:ext uri="{FF2B5EF4-FFF2-40B4-BE49-F238E27FC236}">
                    <a16:creationId xmlns:a16="http://schemas.microsoft.com/office/drawing/2014/main" id="{FFFCC7EE-B0EE-9A9F-2826-8D004BEBD559}"/>
                  </a:ext>
                </a:extLst>
              </p:cNvPr>
              <p:cNvSpPr/>
              <p:nvPr/>
            </p:nvSpPr>
            <p:spPr>
              <a:xfrm>
                <a:off x="3393984" y="2532111"/>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104" name="Shape 2785">
                <a:extLst>
                  <a:ext uri="{FF2B5EF4-FFF2-40B4-BE49-F238E27FC236}">
                    <a16:creationId xmlns:a16="http://schemas.microsoft.com/office/drawing/2014/main" id="{4B40AB27-C822-68B3-E198-DA21A3010852}"/>
                  </a:ext>
                </a:extLst>
              </p:cNvPr>
              <p:cNvSpPr/>
              <p:nvPr/>
            </p:nvSpPr>
            <p:spPr>
              <a:xfrm>
                <a:off x="3508284" y="2692131"/>
                <a:ext cx="365760" cy="274320"/>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D7D5C9"/>
              </a:solidFill>
              <a:ln w="12700">
                <a:solidFill>
                  <a:srgbClr val="D7D5C9"/>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
          <p:nvSpPr>
            <p:cNvPr id="165" name="Rectangle 164">
              <a:extLst>
                <a:ext uri="{FF2B5EF4-FFF2-40B4-BE49-F238E27FC236}">
                  <a16:creationId xmlns:a16="http://schemas.microsoft.com/office/drawing/2014/main" id="{916FEBB2-DA08-BF71-2554-6CADF352BD51}"/>
                </a:ext>
              </a:extLst>
            </p:cNvPr>
            <p:cNvSpPr/>
            <p:nvPr/>
          </p:nvSpPr>
          <p:spPr>
            <a:xfrm>
              <a:off x="1422003" y="2959817"/>
              <a:ext cx="1371600"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RESEARCH</a:t>
              </a:r>
            </a:p>
          </p:txBody>
        </p:sp>
        <p:sp>
          <p:nvSpPr>
            <p:cNvPr id="178" name="TextBox 177">
              <a:extLst>
                <a:ext uri="{FF2B5EF4-FFF2-40B4-BE49-F238E27FC236}">
                  <a16:creationId xmlns:a16="http://schemas.microsoft.com/office/drawing/2014/main" id="{773F3AC7-79EC-6D66-CE0B-7ADA62897105}"/>
                </a:ext>
              </a:extLst>
            </p:cNvPr>
            <p:cNvSpPr txBox="1"/>
            <p:nvPr/>
          </p:nvSpPr>
          <p:spPr>
            <a:xfrm>
              <a:off x="1335603" y="3203801"/>
              <a:ext cx="1544400" cy="530915"/>
            </a:xfrm>
            <a:prstGeom prst="rect">
              <a:avLst/>
            </a:prstGeom>
            <a:noFill/>
          </p:spPr>
          <p:txBody>
            <a:bodyPr wrap="square" lIns="0" rIns="0" rtlCol="0">
              <a:spAutoFit/>
            </a:bodyPr>
            <a:lstStyle/>
            <a:p>
              <a:pPr algn="ctr"/>
              <a:r>
                <a:rPr lang="en-CA" sz="950" b="1"/>
                <a:t>Digital discovery </a:t>
              </a:r>
              <a:r>
                <a:rPr lang="en-CA" sz="950"/>
                <a:t>in the exploration of simple products /services</a:t>
              </a:r>
            </a:p>
          </p:txBody>
        </p:sp>
      </p:grpSp>
      <p:sp>
        <p:nvSpPr>
          <p:cNvPr id="175" name="Rectangle 174">
            <a:extLst>
              <a:ext uri="{FF2B5EF4-FFF2-40B4-BE49-F238E27FC236}">
                <a16:creationId xmlns:a16="http://schemas.microsoft.com/office/drawing/2014/main" id="{055331C0-D280-CB50-A809-8623A2EA38F6}"/>
              </a:ext>
            </a:extLst>
          </p:cNvPr>
          <p:cNvSpPr/>
          <p:nvPr/>
        </p:nvSpPr>
        <p:spPr>
          <a:xfrm>
            <a:off x="10130382" y="2927327"/>
            <a:ext cx="1544400" cy="2332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VIRTUAL / BRANCH</a:t>
            </a:r>
          </a:p>
        </p:txBody>
      </p:sp>
      <p:sp>
        <p:nvSpPr>
          <p:cNvPr id="179" name="TextBox 178">
            <a:extLst>
              <a:ext uri="{FF2B5EF4-FFF2-40B4-BE49-F238E27FC236}">
                <a16:creationId xmlns:a16="http://schemas.microsoft.com/office/drawing/2014/main" id="{75CA6A04-E68A-B088-4104-0503BDA6F4B3}"/>
              </a:ext>
            </a:extLst>
          </p:cNvPr>
          <p:cNvSpPr txBox="1"/>
          <p:nvPr/>
        </p:nvSpPr>
        <p:spPr>
          <a:xfrm>
            <a:off x="10130382" y="3171311"/>
            <a:ext cx="1544400" cy="530915"/>
          </a:xfrm>
          <a:prstGeom prst="rect">
            <a:avLst/>
          </a:prstGeom>
          <a:noFill/>
        </p:spPr>
        <p:txBody>
          <a:bodyPr wrap="square" lIns="0" rIns="0" rtlCol="0">
            <a:spAutoFit/>
          </a:bodyPr>
          <a:lstStyle/>
          <a:p>
            <a:pPr algn="ctr"/>
            <a:r>
              <a:rPr lang="en-CA" sz="950" b="1"/>
              <a:t>Branch or virtual </a:t>
            </a:r>
            <a:r>
              <a:rPr lang="en-CA" sz="950"/>
              <a:t>support provided to fulfill              client needs </a:t>
            </a:r>
          </a:p>
        </p:txBody>
      </p:sp>
      <p:grpSp>
        <p:nvGrpSpPr>
          <p:cNvPr id="287" name="Group 286">
            <a:extLst>
              <a:ext uri="{FF2B5EF4-FFF2-40B4-BE49-F238E27FC236}">
                <a16:creationId xmlns:a16="http://schemas.microsoft.com/office/drawing/2014/main" id="{6F077418-DB63-01B1-FAA1-6A479EC28EAC}"/>
              </a:ext>
            </a:extLst>
          </p:cNvPr>
          <p:cNvGrpSpPr/>
          <p:nvPr/>
        </p:nvGrpSpPr>
        <p:grpSpPr>
          <a:xfrm>
            <a:off x="6153681" y="2273128"/>
            <a:ext cx="1704099" cy="1429098"/>
            <a:chOff x="5658581" y="2305618"/>
            <a:chExt cx="1704099" cy="1429098"/>
          </a:xfrm>
        </p:grpSpPr>
        <p:grpSp>
          <p:nvGrpSpPr>
            <p:cNvPr id="128" name="Group 127">
              <a:extLst>
                <a:ext uri="{FF2B5EF4-FFF2-40B4-BE49-F238E27FC236}">
                  <a16:creationId xmlns:a16="http://schemas.microsoft.com/office/drawing/2014/main" id="{29FADCAF-BD5B-30F0-EAAC-CF3A4E98B2E4}"/>
                </a:ext>
              </a:extLst>
            </p:cNvPr>
            <p:cNvGrpSpPr/>
            <p:nvPr/>
          </p:nvGrpSpPr>
          <p:grpSpPr>
            <a:xfrm>
              <a:off x="6213450" y="2305618"/>
              <a:ext cx="594360" cy="594360"/>
              <a:chOff x="7015418" y="2532111"/>
              <a:chExt cx="594360" cy="594360"/>
            </a:xfrm>
          </p:grpSpPr>
          <p:sp>
            <p:nvSpPr>
              <p:cNvPr id="69" name="Oval 68">
                <a:extLst>
                  <a:ext uri="{FF2B5EF4-FFF2-40B4-BE49-F238E27FC236}">
                    <a16:creationId xmlns:a16="http://schemas.microsoft.com/office/drawing/2014/main" id="{6DA0E8B3-B5F1-C2F5-C61B-A8FEBD11CA08}"/>
                  </a:ext>
                </a:extLst>
              </p:cNvPr>
              <p:cNvSpPr/>
              <p:nvPr/>
            </p:nvSpPr>
            <p:spPr>
              <a:xfrm>
                <a:off x="7015418" y="2532111"/>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pic>
            <p:nvPicPr>
              <p:cNvPr id="127" name="Graphic 126">
                <a:extLst>
                  <a:ext uri="{FF2B5EF4-FFF2-40B4-BE49-F238E27FC236}">
                    <a16:creationId xmlns:a16="http://schemas.microsoft.com/office/drawing/2014/main" id="{06942562-9667-3E04-1B1D-352643C9830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122195" y="2666889"/>
                <a:ext cx="380806" cy="324805"/>
              </a:xfrm>
              <a:prstGeom prst="rect">
                <a:avLst/>
              </a:prstGeom>
            </p:spPr>
          </p:pic>
        </p:grpSp>
        <p:sp>
          <p:nvSpPr>
            <p:cNvPr id="173" name="Rectangle 172">
              <a:extLst>
                <a:ext uri="{FF2B5EF4-FFF2-40B4-BE49-F238E27FC236}">
                  <a16:creationId xmlns:a16="http://schemas.microsoft.com/office/drawing/2014/main" id="{5DF76569-C98E-6FBF-BE64-1897906DE58B}"/>
                </a:ext>
              </a:extLst>
            </p:cNvPr>
            <p:cNvSpPr/>
            <p:nvPr/>
          </p:nvSpPr>
          <p:spPr>
            <a:xfrm>
              <a:off x="5658581" y="2959817"/>
              <a:ext cx="1704099"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SUPPORT REQUIRED</a:t>
              </a:r>
            </a:p>
          </p:txBody>
        </p:sp>
        <p:sp>
          <p:nvSpPr>
            <p:cNvPr id="180" name="TextBox 179">
              <a:extLst>
                <a:ext uri="{FF2B5EF4-FFF2-40B4-BE49-F238E27FC236}">
                  <a16:creationId xmlns:a16="http://schemas.microsoft.com/office/drawing/2014/main" id="{599832B8-6971-43EE-DCCD-E240456B9174}"/>
                </a:ext>
              </a:extLst>
            </p:cNvPr>
            <p:cNvSpPr txBox="1"/>
            <p:nvPr/>
          </p:nvSpPr>
          <p:spPr>
            <a:xfrm>
              <a:off x="5738430" y="3203801"/>
              <a:ext cx="1544400" cy="530915"/>
            </a:xfrm>
            <a:prstGeom prst="rect">
              <a:avLst/>
            </a:prstGeom>
            <a:noFill/>
          </p:spPr>
          <p:txBody>
            <a:bodyPr wrap="square" lIns="0" rIns="0" rtlCol="0">
              <a:spAutoFit/>
            </a:bodyPr>
            <a:lstStyle/>
            <a:p>
              <a:pPr algn="ctr"/>
              <a:r>
                <a:rPr lang="en-CA" sz="950"/>
                <a:t>Client </a:t>
              </a:r>
              <a:r>
                <a:rPr lang="en-CA" sz="950" b="1"/>
                <a:t>requires person support</a:t>
              </a:r>
              <a:r>
                <a:rPr lang="en-CA" sz="950"/>
                <a:t>, and cannot digitally self-serve</a:t>
              </a:r>
            </a:p>
          </p:txBody>
        </p:sp>
      </p:grpSp>
      <p:grpSp>
        <p:nvGrpSpPr>
          <p:cNvPr id="288" name="Group 287">
            <a:extLst>
              <a:ext uri="{FF2B5EF4-FFF2-40B4-BE49-F238E27FC236}">
                <a16:creationId xmlns:a16="http://schemas.microsoft.com/office/drawing/2014/main" id="{E4B7C296-FD8C-D39E-8B47-FF6FAA7165BA}"/>
              </a:ext>
            </a:extLst>
          </p:cNvPr>
          <p:cNvGrpSpPr/>
          <p:nvPr/>
        </p:nvGrpSpPr>
        <p:grpSpPr>
          <a:xfrm>
            <a:off x="4261953" y="2273128"/>
            <a:ext cx="1544400" cy="1429098"/>
            <a:chOff x="3497092" y="2305618"/>
            <a:chExt cx="1544400" cy="1429098"/>
          </a:xfrm>
        </p:grpSpPr>
        <p:grpSp>
          <p:nvGrpSpPr>
            <p:cNvPr id="126" name="Group 125">
              <a:extLst>
                <a:ext uri="{FF2B5EF4-FFF2-40B4-BE49-F238E27FC236}">
                  <a16:creationId xmlns:a16="http://schemas.microsoft.com/office/drawing/2014/main" id="{7991F0BB-AEF9-05B0-85E3-6F31E47E7DA5}"/>
                </a:ext>
              </a:extLst>
            </p:cNvPr>
            <p:cNvGrpSpPr/>
            <p:nvPr/>
          </p:nvGrpSpPr>
          <p:grpSpPr>
            <a:xfrm>
              <a:off x="3972112" y="2305618"/>
              <a:ext cx="594360" cy="594360"/>
              <a:chOff x="5204701" y="2532111"/>
              <a:chExt cx="594360" cy="594360"/>
            </a:xfrm>
          </p:grpSpPr>
          <p:sp>
            <p:nvSpPr>
              <p:cNvPr id="61" name="Oval 60">
                <a:extLst>
                  <a:ext uri="{FF2B5EF4-FFF2-40B4-BE49-F238E27FC236}">
                    <a16:creationId xmlns:a16="http://schemas.microsoft.com/office/drawing/2014/main" id="{54C006D9-86B6-42C4-B967-3503A8F3F3A9}"/>
                  </a:ext>
                </a:extLst>
              </p:cNvPr>
              <p:cNvSpPr/>
              <p:nvPr/>
            </p:nvSpPr>
            <p:spPr>
              <a:xfrm>
                <a:off x="5204701" y="2532111"/>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grpSp>
            <p:nvGrpSpPr>
              <p:cNvPr id="114" name="Group 113">
                <a:extLst>
                  <a:ext uri="{FF2B5EF4-FFF2-40B4-BE49-F238E27FC236}">
                    <a16:creationId xmlns:a16="http://schemas.microsoft.com/office/drawing/2014/main" id="{FB0B6B51-8060-FEBD-CA83-C03FCA796500}"/>
                  </a:ext>
                </a:extLst>
              </p:cNvPr>
              <p:cNvGrpSpPr/>
              <p:nvPr/>
            </p:nvGrpSpPr>
            <p:grpSpPr>
              <a:xfrm>
                <a:off x="5387931" y="2618525"/>
                <a:ext cx="227900" cy="421533"/>
                <a:chOff x="5209544" y="2329157"/>
                <a:chExt cx="323356" cy="592818"/>
              </a:xfrm>
              <a:solidFill>
                <a:srgbClr val="D7D5C9"/>
              </a:solidFill>
            </p:grpSpPr>
            <p:sp>
              <p:nvSpPr>
                <p:cNvPr id="123" name="Shape 2643">
                  <a:extLst>
                    <a:ext uri="{FF2B5EF4-FFF2-40B4-BE49-F238E27FC236}">
                      <a16:creationId xmlns:a16="http://schemas.microsoft.com/office/drawing/2014/main" id="{FFFBE747-FA44-A019-C080-3296D03CD875}"/>
                    </a:ext>
                  </a:extLst>
                </p:cNvPr>
                <p:cNvSpPr/>
                <p:nvPr/>
              </p:nvSpPr>
              <p:spPr>
                <a:xfrm>
                  <a:off x="5209544" y="2329157"/>
                  <a:ext cx="323356" cy="592818"/>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noFill/>
                <a:ln w="12700">
                  <a:solidFill>
                    <a:srgbClr val="D7D5C9"/>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4" name="Rectangle 123">
                  <a:extLst>
                    <a:ext uri="{FF2B5EF4-FFF2-40B4-BE49-F238E27FC236}">
                      <a16:creationId xmlns:a16="http://schemas.microsoft.com/office/drawing/2014/main" id="{ECD15398-3B6F-BB4B-5E46-42443E74E9AC}"/>
                    </a:ext>
                  </a:extLst>
                </p:cNvPr>
                <p:cNvSpPr/>
                <p:nvPr/>
              </p:nvSpPr>
              <p:spPr>
                <a:xfrm>
                  <a:off x="5232659" y="2433761"/>
                  <a:ext cx="277126" cy="382560"/>
                </a:xfrm>
                <a:prstGeom prst="rect">
                  <a:avLst/>
                </a:prstGeom>
                <a:grpFill/>
                <a:ln>
                  <a:solidFill>
                    <a:srgbClr val="D7D5C9"/>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grpSp>
          <p:grpSp>
            <p:nvGrpSpPr>
              <p:cNvPr id="117" name="Group 4">
                <a:extLst>
                  <a:ext uri="{FF2B5EF4-FFF2-40B4-BE49-F238E27FC236}">
                    <a16:creationId xmlns:a16="http://schemas.microsoft.com/office/drawing/2014/main" id="{83669319-1A3E-C181-FC04-AEE956AA24C3}"/>
                  </a:ext>
                </a:extLst>
              </p:cNvPr>
              <p:cNvGrpSpPr>
                <a:grpSpLocks noChangeAspect="1"/>
              </p:cNvGrpSpPr>
              <p:nvPr/>
            </p:nvGrpSpPr>
            <p:grpSpPr bwMode="auto">
              <a:xfrm>
                <a:off x="5452209" y="2774949"/>
                <a:ext cx="99342" cy="107938"/>
                <a:chOff x="7312" y="4020"/>
                <a:chExt cx="143" cy="157"/>
              </a:xfrm>
              <a:solidFill>
                <a:srgbClr val="EC111A"/>
              </a:solidFill>
            </p:grpSpPr>
            <p:sp>
              <p:nvSpPr>
                <p:cNvPr id="119" name="Freeform 5">
                  <a:extLst>
                    <a:ext uri="{FF2B5EF4-FFF2-40B4-BE49-F238E27FC236}">
                      <a16:creationId xmlns:a16="http://schemas.microsoft.com/office/drawing/2014/main" id="{92DB09AE-2734-6976-13CB-1A1C79C53602}"/>
                    </a:ext>
                  </a:extLst>
                </p:cNvPr>
                <p:cNvSpPr>
                  <a:spLocks/>
                </p:cNvSpPr>
                <p:nvPr userDrawn="1"/>
              </p:nvSpPr>
              <p:spPr bwMode="auto">
                <a:xfrm>
                  <a:off x="7316" y="4020"/>
                  <a:ext cx="139" cy="73"/>
                </a:xfrm>
                <a:custGeom>
                  <a:avLst/>
                  <a:gdLst>
                    <a:gd name="T0" fmla="*/ 794 w 982"/>
                    <a:gd name="T1" fmla="*/ 209 h 520"/>
                    <a:gd name="T2" fmla="*/ 478 w 982"/>
                    <a:gd name="T3" fmla="*/ 209 h 520"/>
                    <a:gd name="T4" fmla="*/ 129 w 982"/>
                    <a:gd name="T5" fmla="*/ 520 h 520"/>
                    <a:gd name="T6" fmla="*/ 129 w 982"/>
                    <a:gd name="T7" fmla="*/ 520 h 520"/>
                    <a:gd name="T8" fmla="*/ 436 w 982"/>
                    <a:gd name="T9" fmla="*/ 0 h 520"/>
                    <a:gd name="T10" fmla="*/ 982 w 982"/>
                    <a:gd name="T11" fmla="*/ 0 h 520"/>
                    <a:gd name="T12" fmla="*/ 794 w 982"/>
                    <a:gd name="T13" fmla="*/ 209 h 520"/>
                  </a:gdLst>
                  <a:ahLst/>
                  <a:cxnLst>
                    <a:cxn ang="0">
                      <a:pos x="T0" y="T1"/>
                    </a:cxn>
                    <a:cxn ang="0">
                      <a:pos x="T2" y="T3"/>
                    </a:cxn>
                    <a:cxn ang="0">
                      <a:pos x="T4" y="T5"/>
                    </a:cxn>
                    <a:cxn ang="0">
                      <a:pos x="T6" y="T7"/>
                    </a:cxn>
                    <a:cxn ang="0">
                      <a:pos x="T8" y="T9"/>
                    </a:cxn>
                    <a:cxn ang="0">
                      <a:pos x="T10" y="T11"/>
                    </a:cxn>
                    <a:cxn ang="0">
                      <a:pos x="T12" y="T13"/>
                    </a:cxn>
                  </a:cxnLst>
                  <a:rect l="0" t="0" r="r" b="b"/>
                  <a:pathLst>
                    <a:path w="982" h="520">
                      <a:moveTo>
                        <a:pt x="794" y="209"/>
                      </a:moveTo>
                      <a:lnTo>
                        <a:pt x="478" y="209"/>
                      </a:lnTo>
                      <a:cubicBezTo>
                        <a:pt x="299" y="208"/>
                        <a:pt x="149" y="343"/>
                        <a:pt x="129" y="520"/>
                      </a:cubicBezTo>
                      <a:lnTo>
                        <a:pt x="129" y="520"/>
                      </a:lnTo>
                      <a:cubicBezTo>
                        <a:pt x="0" y="287"/>
                        <a:pt x="169" y="1"/>
                        <a:pt x="436" y="0"/>
                      </a:cubicBezTo>
                      <a:lnTo>
                        <a:pt x="982" y="0"/>
                      </a:lnTo>
                      <a:lnTo>
                        <a:pt x="794" y="209"/>
                      </a:lnTo>
                      <a:close/>
                    </a:path>
                  </a:pathLst>
                </a:custGeom>
                <a:grpFill/>
                <a:ln w="0">
                  <a:solidFill>
                    <a:srgbClr val="D7D5C9"/>
                  </a:solid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21" name="Freeform 6">
                  <a:extLst>
                    <a:ext uri="{FF2B5EF4-FFF2-40B4-BE49-F238E27FC236}">
                      <a16:creationId xmlns:a16="http://schemas.microsoft.com/office/drawing/2014/main" id="{043C80ED-9993-6F2C-07AF-8C0F96966CC5}"/>
                    </a:ext>
                  </a:extLst>
                </p:cNvPr>
                <p:cNvSpPr>
                  <a:spLocks/>
                </p:cNvSpPr>
                <p:nvPr userDrawn="1"/>
              </p:nvSpPr>
              <p:spPr bwMode="auto">
                <a:xfrm>
                  <a:off x="7312" y="4104"/>
                  <a:ext cx="139" cy="73"/>
                </a:xfrm>
                <a:custGeom>
                  <a:avLst/>
                  <a:gdLst>
                    <a:gd name="T0" fmla="*/ 188 w 983"/>
                    <a:gd name="T1" fmla="*/ 312 h 521"/>
                    <a:gd name="T2" fmla="*/ 505 w 983"/>
                    <a:gd name="T3" fmla="*/ 312 h 521"/>
                    <a:gd name="T4" fmla="*/ 853 w 983"/>
                    <a:gd name="T5" fmla="*/ 0 h 521"/>
                    <a:gd name="T6" fmla="*/ 853 w 983"/>
                    <a:gd name="T7" fmla="*/ 0 h 521"/>
                    <a:gd name="T8" fmla="*/ 546 w 983"/>
                    <a:gd name="T9" fmla="*/ 520 h 521"/>
                    <a:gd name="T10" fmla="*/ 0 w 983"/>
                    <a:gd name="T11" fmla="*/ 520 h 521"/>
                    <a:gd name="T12" fmla="*/ 188 w 983"/>
                    <a:gd name="T13" fmla="*/ 312 h 521"/>
                  </a:gdLst>
                  <a:ahLst/>
                  <a:cxnLst>
                    <a:cxn ang="0">
                      <a:pos x="T0" y="T1"/>
                    </a:cxn>
                    <a:cxn ang="0">
                      <a:pos x="T2" y="T3"/>
                    </a:cxn>
                    <a:cxn ang="0">
                      <a:pos x="T4" y="T5"/>
                    </a:cxn>
                    <a:cxn ang="0">
                      <a:pos x="T6" y="T7"/>
                    </a:cxn>
                    <a:cxn ang="0">
                      <a:pos x="T8" y="T9"/>
                    </a:cxn>
                    <a:cxn ang="0">
                      <a:pos x="T10" y="T11"/>
                    </a:cxn>
                    <a:cxn ang="0">
                      <a:pos x="T12" y="T13"/>
                    </a:cxn>
                  </a:cxnLst>
                  <a:rect l="0" t="0" r="r" b="b"/>
                  <a:pathLst>
                    <a:path w="983" h="521">
                      <a:moveTo>
                        <a:pt x="188" y="312"/>
                      </a:moveTo>
                      <a:lnTo>
                        <a:pt x="505" y="312"/>
                      </a:lnTo>
                      <a:cubicBezTo>
                        <a:pt x="683" y="312"/>
                        <a:pt x="833" y="178"/>
                        <a:pt x="853" y="0"/>
                      </a:cubicBezTo>
                      <a:lnTo>
                        <a:pt x="853" y="0"/>
                      </a:lnTo>
                      <a:cubicBezTo>
                        <a:pt x="983" y="234"/>
                        <a:pt x="813" y="521"/>
                        <a:pt x="546" y="520"/>
                      </a:cubicBezTo>
                      <a:lnTo>
                        <a:pt x="0" y="520"/>
                      </a:lnTo>
                      <a:lnTo>
                        <a:pt x="188" y="312"/>
                      </a:lnTo>
                      <a:close/>
                    </a:path>
                  </a:pathLst>
                </a:custGeom>
                <a:grpFill/>
                <a:ln w="0">
                  <a:solidFill>
                    <a:srgbClr val="D7D5C9"/>
                  </a:solid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sp>
              <p:nvSpPr>
                <p:cNvPr id="122" name="Oval 7">
                  <a:extLst>
                    <a:ext uri="{FF2B5EF4-FFF2-40B4-BE49-F238E27FC236}">
                      <a16:creationId xmlns:a16="http://schemas.microsoft.com/office/drawing/2014/main" id="{9FF46100-1462-0C1B-27E7-AF05D0A61CC0}"/>
                    </a:ext>
                  </a:extLst>
                </p:cNvPr>
                <p:cNvSpPr>
                  <a:spLocks noChangeArrowheads="1"/>
                </p:cNvSpPr>
                <p:nvPr userDrawn="1"/>
              </p:nvSpPr>
              <p:spPr bwMode="auto">
                <a:xfrm>
                  <a:off x="7344" y="4059"/>
                  <a:ext cx="79" cy="79"/>
                </a:xfrm>
                <a:prstGeom prst="ellipse">
                  <a:avLst/>
                </a:prstGeom>
                <a:grpFill/>
                <a:ln w="0">
                  <a:solidFill>
                    <a:srgbClr val="D7D5C9"/>
                  </a:solidFill>
                  <a:prstDash val="solid"/>
                  <a:round/>
                  <a:headEnd/>
                  <a:tailEnd/>
                </a:ln>
              </p:spPr>
              <p:txBody>
                <a:bodyPr vert="horz" wrap="square" lIns="91440" tIns="45720" rIns="91440" bIns="45720" numCol="1" anchor="t" anchorCtr="0" compatLnSpc="1">
                  <a:prstTxWarp prst="textNoShape">
                    <a:avLst/>
                  </a:prstTxWarp>
                </a:bodyPr>
                <a:lstStyle/>
                <a:p>
                  <a:endParaRPr lang="en-CA" sz="1801"/>
                </a:p>
              </p:txBody>
            </p:sp>
          </p:grpSp>
        </p:grpSp>
        <p:sp>
          <p:nvSpPr>
            <p:cNvPr id="172" name="Rectangle 171">
              <a:extLst>
                <a:ext uri="{FF2B5EF4-FFF2-40B4-BE49-F238E27FC236}">
                  <a16:creationId xmlns:a16="http://schemas.microsoft.com/office/drawing/2014/main" id="{839A2201-6C10-144D-0155-1B6AE890F50C}"/>
                </a:ext>
              </a:extLst>
            </p:cNvPr>
            <p:cNvSpPr/>
            <p:nvPr/>
          </p:nvSpPr>
          <p:spPr>
            <a:xfrm>
              <a:off x="3583492" y="2959817"/>
              <a:ext cx="1371600"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SELF-SERVE</a:t>
              </a:r>
            </a:p>
          </p:txBody>
        </p:sp>
        <p:sp>
          <p:nvSpPr>
            <p:cNvPr id="181" name="TextBox 180">
              <a:extLst>
                <a:ext uri="{FF2B5EF4-FFF2-40B4-BE49-F238E27FC236}">
                  <a16:creationId xmlns:a16="http://schemas.microsoft.com/office/drawing/2014/main" id="{EE0FE139-F9C0-76CB-2A78-DE8756B01EA9}"/>
                </a:ext>
              </a:extLst>
            </p:cNvPr>
            <p:cNvSpPr txBox="1"/>
            <p:nvPr/>
          </p:nvSpPr>
          <p:spPr>
            <a:xfrm>
              <a:off x="3497092" y="3203801"/>
              <a:ext cx="1544400" cy="530915"/>
            </a:xfrm>
            <a:prstGeom prst="rect">
              <a:avLst/>
            </a:prstGeom>
            <a:noFill/>
          </p:spPr>
          <p:txBody>
            <a:bodyPr wrap="square" lIns="0" rIns="0" rtlCol="0">
              <a:spAutoFit/>
            </a:bodyPr>
            <a:lstStyle/>
            <a:p>
              <a:pPr algn="ctr"/>
              <a:r>
                <a:rPr lang="en-CA" sz="950"/>
                <a:t>Client </a:t>
              </a:r>
              <a:r>
                <a:rPr lang="en-CA" sz="950" b="1"/>
                <a:t>digitally self-serves</a:t>
              </a:r>
              <a:r>
                <a:rPr lang="en-CA" sz="950"/>
                <a:t>, fulfilling their banking needs without person support</a:t>
              </a:r>
            </a:p>
          </p:txBody>
        </p:sp>
      </p:grpSp>
      <p:grpSp>
        <p:nvGrpSpPr>
          <p:cNvPr id="291" name="Group 290">
            <a:extLst>
              <a:ext uri="{FF2B5EF4-FFF2-40B4-BE49-F238E27FC236}">
                <a16:creationId xmlns:a16="http://schemas.microsoft.com/office/drawing/2014/main" id="{BA76A259-243A-CC1E-9558-59123D3961B2}"/>
              </a:ext>
            </a:extLst>
          </p:cNvPr>
          <p:cNvGrpSpPr/>
          <p:nvPr/>
        </p:nvGrpSpPr>
        <p:grpSpPr>
          <a:xfrm>
            <a:off x="2359043" y="4231975"/>
            <a:ext cx="1544400" cy="1429098"/>
            <a:chOff x="1335603" y="2305618"/>
            <a:chExt cx="1544400" cy="1429098"/>
          </a:xfrm>
        </p:grpSpPr>
        <p:grpSp>
          <p:nvGrpSpPr>
            <p:cNvPr id="292" name="Group 291">
              <a:extLst>
                <a:ext uri="{FF2B5EF4-FFF2-40B4-BE49-F238E27FC236}">
                  <a16:creationId xmlns:a16="http://schemas.microsoft.com/office/drawing/2014/main" id="{BBED611F-C168-89EE-30BA-8BBE7A995AA8}"/>
                </a:ext>
              </a:extLst>
            </p:cNvPr>
            <p:cNvGrpSpPr/>
            <p:nvPr/>
          </p:nvGrpSpPr>
          <p:grpSpPr>
            <a:xfrm>
              <a:off x="1810623" y="2305618"/>
              <a:ext cx="594360" cy="594360"/>
              <a:chOff x="3393984" y="2532111"/>
              <a:chExt cx="594360" cy="594360"/>
            </a:xfrm>
          </p:grpSpPr>
          <p:sp>
            <p:nvSpPr>
              <p:cNvPr id="295" name="Oval 294">
                <a:extLst>
                  <a:ext uri="{FF2B5EF4-FFF2-40B4-BE49-F238E27FC236}">
                    <a16:creationId xmlns:a16="http://schemas.microsoft.com/office/drawing/2014/main" id="{AE735DD5-D448-FD11-EAA4-CEB2D8CC8118}"/>
                  </a:ext>
                </a:extLst>
              </p:cNvPr>
              <p:cNvSpPr/>
              <p:nvPr/>
            </p:nvSpPr>
            <p:spPr>
              <a:xfrm>
                <a:off x="3393984" y="2532111"/>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296" name="Shape 2785">
                <a:extLst>
                  <a:ext uri="{FF2B5EF4-FFF2-40B4-BE49-F238E27FC236}">
                    <a16:creationId xmlns:a16="http://schemas.microsoft.com/office/drawing/2014/main" id="{CCD45007-3DC9-CD6D-43DF-51B513DAC34D}"/>
                  </a:ext>
                </a:extLst>
              </p:cNvPr>
              <p:cNvSpPr/>
              <p:nvPr/>
            </p:nvSpPr>
            <p:spPr>
              <a:xfrm>
                <a:off x="3508284" y="2692131"/>
                <a:ext cx="365760" cy="274320"/>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D7D5C9"/>
              </a:solidFill>
              <a:ln w="12700">
                <a:solidFill>
                  <a:srgbClr val="D7D5C9"/>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
          <p:nvSpPr>
            <p:cNvPr id="293" name="Rectangle 292">
              <a:extLst>
                <a:ext uri="{FF2B5EF4-FFF2-40B4-BE49-F238E27FC236}">
                  <a16:creationId xmlns:a16="http://schemas.microsoft.com/office/drawing/2014/main" id="{FA00450C-1EAA-EFED-3DE9-03B498C0153D}"/>
                </a:ext>
              </a:extLst>
            </p:cNvPr>
            <p:cNvSpPr/>
            <p:nvPr/>
          </p:nvSpPr>
          <p:spPr>
            <a:xfrm>
              <a:off x="1422003" y="2959817"/>
              <a:ext cx="1371600"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RESEARCH</a:t>
              </a:r>
            </a:p>
          </p:txBody>
        </p:sp>
        <p:sp>
          <p:nvSpPr>
            <p:cNvPr id="294" name="TextBox 293">
              <a:extLst>
                <a:ext uri="{FF2B5EF4-FFF2-40B4-BE49-F238E27FC236}">
                  <a16:creationId xmlns:a16="http://schemas.microsoft.com/office/drawing/2014/main" id="{1D1147D3-C726-2360-3977-9C0C1F397660}"/>
                </a:ext>
              </a:extLst>
            </p:cNvPr>
            <p:cNvSpPr txBox="1"/>
            <p:nvPr/>
          </p:nvSpPr>
          <p:spPr>
            <a:xfrm>
              <a:off x="1335603" y="3203801"/>
              <a:ext cx="1544400" cy="530915"/>
            </a:xfrm>
            <a:prstGeom prst="rect">
              <a:avLst/>
            </a:prstGeom>
            <a:noFill/>
          </p:spPr>
          <p:txBody>
            <a:bodyPr wrap="square" lIns="0" rIns="0" rtlCol="0">
              <a:spAutoFit/>
            </a:bodyPr>
            <a:lstStyle/>
            <a:p>
              <a:pPr algn="ctr"/>
              <a:r>
                <a:rPr lang="en-CA" sz="950" b="1"/>
                <a:t>Digital discovery </a:t>
              </a:r>
              <a:r>
                <a:rPr lang="en-CA" sz="950"/>
                <a:t>in the exploration of complex products /services</a:t>
              </a:r>
            </a:p>
          </p:txBody>
        </p:sp>
      </p:grpSp>
      <p:sp>
        <p:nvSpPr>
          <p:cNvPr id="299" name="Rectangle 298">
            <a:extLst>
              <a:ext uri="{FF2B5EF4-FFF2-40B4-BE49-F238E27FC236}">
                <a16:creationId xmlns:a16="http://schemas.microsoft.com/office/drawing/2014/main" id="{A2F10318-CC3E-F698-E374-386B8838CA0B}"/>
              </a:ext>
            </a:extLst>
          </p:cNvPr>
          <p:cNvSpPr/>
          <p:nvPr/>
        </p:nvSpPr>
        <p:spPr>
          <a:xfrm>
            <a:off x="6153681" y="4886174"/>
            <a:ext cx="1544400" cy="2332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tx1"/>
                </a:solidFill>
              </a:rPr>
              <a:t>VIRTUAL / BRANCH</a:t>
            </a:r>
          </a:p>
        </p:txBody>
      </p:sp>
      <p:sp>
        <p:nvSpPr>
          <p:cNvPr id="300" name="TextBox 299">
            <a:extLst>
              <a:ext uri="{FF2B5EF4-FFF2-40B4-BE49-F238E27FC236}">
                <a16:creationId xmlns:a16="http://schemas.microsoft.com/office/drawing/2014/main" id="{1FD78233-6C8E-0CD2-29C1-90B13C402F9A}"/>
              </a:ext>
            </a:extLst>
          </p:cNvPr>
          <p:cNvSpPr txBox="1"/>
          <p:nvPr/>
        </p:nvSpPr>
        <p:spPr>
          <a:xfrm>
            <a:off x="6153681" y="5130158"/>
            <a:ext cx="1544400" cy="530915"/>
          </a:xfrm>
          <a:prstGeom prst="rect">
            <a:avLst/>
          </a:prstGeom>
          <a:noFill/>
        </p:spPr>
        <p:txBody>
          <a:bodyPr wrap="square" lIns="0" rIns="0" rtlCol="0">
            <a:spAutoFit/>
          </a:bodyPr>
          <a:lstStyle/>
          <a:p>
            <a:pPr algn="ctr"/>
            <a:r>
              <a:rPr lang="en-CA" sz="950" b="1"/>
              <a:t>Branch or virtual </a:t>
            </a:r>
            <a:r>
              <a:rPr lang="en-CA" sz="950"/>
              <a:t>support provided to fulfill              client needs </a:t>
            </a:r>
          </a:p>
        </p:txBody>
      </p:sp>
      <p:grpSp>
        <p:nvGrpSpPr>
          <p:cNvPr id="325" name="Group 324">
            <a:extLst>
              <a:ext uri="{FF2B5EF4-FFF2-40B4-BE49-F238E27FC236}">
                <a16:creationId xmlns:a16="http://schemas.microsoft.com/office/drawing/2014/main" id="{DD2A9972-F019-2D04-151D-10CF84BD9580}"/>
              </a:ext>
            </a:extLst>
          </p:cNvPr>
          <p:cNvGrpSpPr/>
          <p:nvPr/>
        </p:nvGrpSpPr>
        <p:grpSpPr>
          <a:xfrm>
            <a:off x="604067" y="2123275"/>
            <a:ext cx="374904" cy="371309"/>
            <a:chOff x="1583267" y="2532111"/>
            <a:chExt cx="594360" cy="594360"/>
          </a:xfrm>
        </p:grpSpPr>
        <p:sp>
          <p:nvSpPr>
            <p:cNvPr id="326" name="Oval 325">
              <a:extLst>
                <a:ext uri="{FF2B5EF4-FFF2-40B4-BE49-F238E27FC236}">
                  <a16:creationId xmlns:a16="http://schemas.microsoft.com/office/drawing/2014/main" id="{887EF15A-5988-995F-7FAB-CA83A3666B78}"/>
                </a:ext>
              </a:extLst>
            </p:cNvPr>
            <p:cNvSpPr/>
            <p:nvPr/>
          </p:nvSpPr>
          <p:spPr>
            <a:xfrm>
              <a:off x="1583267" y="2532111"/>
              <a:ext cx="594360" cy="594360"/>
            </a:xfrm>
            <a:prstGeom prst="ellipse">
              <a:avLst/>
            </a:prstGeom>
            <a:solidFill>
              <a:srgbClr val="D7D5C9"/>
            </a:solidFill>
            <a:ln>
              <a:solidFill>
                <a:srgbClr val="D7D5C9"/>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grpSp>
          <p:nvGrpSpPr>
            <p:cNvPr id="327" name="Group 326">
              <a:extLst>
                <a:ext uri="{FF2B5EF4-FFF2-40B4-BE49-F238E27FC236}">
                  <a16:creationId xmlns:a16="http://schemas.microsoft.com/office/drawing/2014/main" id="{31A5A15C-617F-3C9D-1164-6CC6B1BAF82D}"/>
                </a:ext>
              </a:extLst>
            </p:cNvPr>
            <p:cNvGrpSpPr/>
            <p:nvPr/>
          </p:nvGrpSpPr>
          <p:grpSpPr>
            <a:xfrm>
              <a:off x="1705745" y="2606713"/>
              <a:ext cx="349405" cy="419286"/>
              <a:chOff x="1705744" y="2606713"/>
              <a:chExt cx="349405" cy="419286"/>
            </a:xfrm>
          </p:grpSpPr>
          <p:sp>
            <p:nvSpPr>
              <p:cNvPr id="328" name="Shape 2579">
                <a:extLst>
                  <a:ext uri="{FF2B5EF4-FFF2-40B4-BE49-F238E27FC236}">
                    <a16:creationId xmlns:a16="http://schemas.microsoft.com/office/drawing/2014/main" id="{012BD7B2-8C7E-A1FE-3F83-40C6E1E3AB9E}"/>
                  </a:ext>
                </a:extLst>
              </p:cNvPr>
              <p:cNvSpPr/>
              <p:nvPr/>
            </p:nvSpPr>
            <p:spPr>
              <a:xfrm>
                <a:off x="1822941" y="2864656"/>
                <a:ext cx="115010" cy="118996"/>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bg1"/>
              </a:solidFill>
              <a:ln w="3175">
                <a:solidFill>
                  <a:schemeClr val="bg1"/>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329" name="Graphic 328">
                <a:extLst>
                  <a:ext uri="{FF2B5EF4-FFF2-40B4-BE49-F238E27FC236}">
                    <a16:creationId xmlns:a16="http://schemas.microsoft.com/office/drawing/2014/main" id="{6316BE1E-9A8F-722E-73A6-CB89E0499DD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705744" y="2606713"/>
                <a:ext cx="349405" cy="419286"/>
              </a:xfrm>
              <a:prstGeom prst="rect">
                <a:avLst/>
              </a:prstGeom>
            </p:spPr>
          </p:pic>
        </p:grpSp>
      </p:grpSp>
      <p:sp>
        <p:nvSpPr>
          <p:cNvPr id="336" name="Rectangle: Rounded Corners 335">
            <a:extLst>
              <a:ext uri="{FF2B5EF4-FFF2-40B4-BE49-F238E27FC236}">
                <a16:creationId xmlns:a16="http://schemas.microsoft.com/office/drawing/2014/main" id="{0EDF3F00-F878-7E66-5DFB-15259041BE18}"/>
              </a:ext>
            </a:extLst>
          </p:cNvPr>
          <p:cNvSpPr/>
          <p:nvPr/>
        </p:nvSpPr>
        <p:spPr>
          <a:xfrm>
            <a:off x="515938" y="3937723"/>
            <a:ext cx="1544401" cy="1688860"/>
          </a:xfrm>
          <a:prstGeom prst="roundRect">
            <a:avLst>
              <a:gd name="adj" fmla="val 0"/>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tIns="182880" rtlCol="0" anchor="ctr"/>
          <a:lstStyle/>
          <a:p>
            <a:endParaRPr lang="en-CA" sz="1000" b="1">
              <a:solidFill>
                <a:schemeClr val="tx1"/>
              </a:solidFill>
            </a:endParaRPr>
          </a:p>
          <a:p>
            <a:r>
              <a:rPr lang="en-CA" sz="1000" b="1">
                <a:solidFill>
                  <a:schemeClr val="tx1"/>
                </a:solidFill>
              </a:rPr>
              <a:t>COMPLEX</a:t>
            </a:r>
          </a:p>
          <a:p>
            <a:pPr>
              <a:spcAft>
                <a:spcPts val="800"/>
              </a:spcAft>
            </a:pPr>
            <a:r>
              <a:rPr lang="en-CA" sz="1000" b="1">
                <a:solidFill>
                  <a:schemeClr val="tx1"/>
                </a:solidFill>
              </a:rPr>
              <a:t>SALES &amp; SERVICE</a:t>
            </a:r>
          </a:p>
          <a:p>
            <a:r>
              <a:rPr lang="en-US" sz="1000">
                <a:solidFill>
                  <a:schemeClr val="tx1"/>
                </a:solidFill>
              </a:rPr>
              <a:t>High degree of info &amp; long task duration</a:t>
            </a:r>
            <a:endParaRPr lang="en-CA" sz="1000" b="1">
              <a:solidFill>
                <a:schemeClr val="tx1"/>
              </a:solidFill>
            </a:endParaRPr>
          </a:p>
        </p:txBody>
      </p:sp>
      <p:grpSp>
        <p:nvGrpSpPr>
          <p:cNvPr id="337" name="Group 336">
            <a:extLst>
              <a:ext uri="{FF2B5EF4-FFF2-40B4-BE49-F238E27FC236}">
                <a16:creationId xmlns:a16="http://schemas.microsoft.com/office/drawing/2014/main" id="{19C56821-0B03-2113-447A-47D0FECD5D25}"/>
              </a:ext>
            </a:extLst>
          </p:cNvPr>
          <p:cNvGrpSpPr/>
          <p:nvPr/>
        </p:nvGrpSpPr>
        <p:grpSpPr>
          <a:xfrm>
            <a:off x="628003" y="4056986"/>
            <a:ext cx="374904" cy="371309"/>
            <a:chOff x="1583267" y="2532111"/>
            <a:chExt cx="594360" cy="594360"/>
          </a:xfrm>
        </p:grpSpPr>
        <p:sp>
          <p:nvSpPr>
            <p:cNvPr id="338" name="Oval 337">
              <a:extLst>
                <a:ext uri="{FF2B5EF4-FFF2-40B4-BE49-F238E27FC236}">
                  <a16:creationId xmlns:a16="http://schemas.microsoft.com/office/drawing/2014/main" id="{814C3E93-063C-3AEF-BA72-DB54AE29B87D}"/>
                </a:ext>
              </a:extLst>
            </p:cNvPr>
            <p:cNvSpPr/>
            <p:nvPr/>
          </p:nvSpPr>
          <p:spPr>
            <a:xfrm>
              <a:off x="1583267" y="2532111"/>
              <a:ext cx="594360" cy="594360"/>
            </a:xfrm>
            <a:prstGeom prst="ellipse">
              <a:avLst/>
            </a:prstGeom>
            <a:solidFill>
              <a:srgbClr val="D7D5C9"/>
            </a:solidFill>
            <a:ln>
              <a:solidFill>
                <a:srgbClr val="D7D5C9"/>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grpSp>
          <p:nvGrpSpPr>
            <p:cNvPr id="339" name="Group 338">
              <a:extLst>
                <a:ext uri="{FF2B5EF4-FFF2-40B4-BE49-F238E27FC236}">
                  <a16:creationId xmlns:a16="http://schemas.microsoft.com/office/drawing/2014/main" id="{50008021-A239-FB6B-0AD9-82FB08DB8B15}"/>
                </a:ext>
              </a:extLst>
            </p:cNvPr>
            <p:cNvGrpSpPr/>
            <p:nvPr/>
          </p:nvGrpSpPr>
          <p:grpSpPr>
            <a:xfrm>
              <a:off x="1705745" y="2606713"/>
              <a:ext cx="349405" cy="419286"/>
              <a:chOff x="1705744" y="2606713"/>
              <a:chExt cx="349405" cy="419286"/>
            </a:xfrm>
          </p:grpSpPr>
          <p:sp>
            <p:nvSpPr>
              <p:cNvPr id="340" name="Shape 2579">
                <a:extLst>
                  <a:ext uri="{FF2B5EF4-FFF2-40B4-BE49-F238E27FC236}">
                    <a16:creationId xmlns:a16="http://schemas.microsoft.com/office/drawing/2014/main" id="{F2D7E9EB-C578-DA5E-8A0F-5EFBBD5DA3DB}"/>
                  </a:ext>
                </a:extLst>
              </p:cNvPr>
              <p:cNvSpPr/>
              <p:nvPr/>
            </p:nvSpPr>
            <p:spPr>
              <a:xfrm>
                <a:off x="1787365" y="2859826"/>
                <a:ext cx="115010" cy="118995"/>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bg1"/>
              </a:solidFill>
              <a:ln w="3175">
                <a:solidFill>
                  <a:schemeClr val="bg1"/>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341" name="Graphic 340">
                <a:extLst>
                  <a:ext uri="{FF2B5EF4-FFF2-40B4-BE49-F238E27FC236}">
                    <a16:creationId xmlns:a16="http://schemas.microsoft.com/office/drawing/2014/main" id="{8FFC0C84-04E5-542D-137B-C571847AF60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705744" y="2606713"/>
                <a:ext cx="349405" cy="419286"/>
              </a:xfrm>
              <a:prstGeom prst="rect">
                <a:avLst/>
              </a:prstGeom>
            </p:spPr>
          </p:pic>
        </p:grpSp>
      </p:grpSp>
      <p:sp>
        <p:nvSpPr>
          <p:cNvPr id="344" name="Shape 2579">
            <a:extLst>
              <a:ext uri="{FF2B5EF4-FFF2-40B4-BE49-F238E27FC236}">
                <a16:creationId xmlns:a16="http://schemas.microsoft.com/office/drawing/2014/main" id="{91361377-C038-CE89-6AFA-A5BFA2FD6B7D}"/>
              </a:ext>
            </a:extLst>
          </p:cNvPr>
          <p:cNvSpPr/>
          <p:nvPr/>
        </p:nvSpPr>
        <p:spPr>
          <a:xfrm>
            <a:off x="836950" y="4289742"/>
            <a:ext cx="36576" cy="36576"/>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CFB391"/>
          </a:solidFill>
          <a:ln w="3175">
            <a:solidFill>
              <a:schemeClr val="bg1"/>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nvGrpSpPr>
          <p:cNvPr id="362" name="Group 361">
            <a:extLst>
              <a:ext uri="{FF2B5EF4-FFF2-40B4-BE49-F238E27FC236}">
                <a16:creationId xmlns:a16="http://schemas.microsoft.com/office/drawing/2014/main" id="{EB2893CE-E75E-69F8-99D0-CD18651A5155}"/>
              </a:ext>
            </a:extLst>
          </p:cNvPr>
          <p:cNvGrpSpPr/>
          <p:nvPr/>
        </p:nvGrpSpPr>
        <p:grpSpPr>
          <a:xfrm>
            <a:off x="3496043" y="1873360"/>
            <a:ext cx="1071211" cy="1176522"/>
            <a:chOff x="3501615" y="1876076"/>
            <a:chExt cx="1071211" cy="1176522"/>
          </a:xfrm>
        </p:grpSpPr>
        <p:sp>
          <p:nvSpPr>
            <p:cNvPr id="324" name="Rectangle 323">
              <a:extLst>
                <a:ext uri="{FF2B5EF4-FFF2-40B4-BE49-F238E27FC236}">
                  <a16:creationId xmlns:a16="http://schemas.microsoft.com/office/drawing/2014/main" id="{9E435B0D-1722-0065-A530-27F0F9787FF3}"/>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bg2"/>
                  </a:solidFill>
                </a:rPr>
                <a:t>Digital Self-Serve (Mobile / Web) </a:t>
              </a:r>
            </a:p>
          </p:txBody>
        </p:sp>
        <p:sp>
          <p:nvSpPr>
            <p:cNvPr id="361" name="Arc 360">
              <a:extLst>
                <a:ext uri="{FF2B5EF4-FFF2-40B4-BE49-F238E27FC236}">
                  <a16:creationId xmlns:a16="http://schemas.microsoft.com/office/drawing/2014/main" id="{A9438616-29D8-3E30-4602-8DE6CB772F07}"/>
                </a:ext>
              </a:extLst>
            </p:cNvPr>
            <p:cNvSpPr/>
            <p:nvPr/>
          </p:nvSpPr>
          <p:spPr>
            <a:xfrm rot="19142566">
              <a:off x="3630795" y="2285215"/>
              <a:ext cx="812850" cy="767383"/>
            </a:xfrm>
            <a:prstGeom prst="arc">
              <a:avLst>
                <a:gd name="adj1" fmla="val 15924961"/>
                <a:gd name="adj2" fmla="val 0"/>
              </a:avLst>
            </a:prstGeom>
            <a:ln>
              <a:solidFill>
                <a:schemeClr val="bg1">
                  <a:lumMod val="65000"/>
                </a:schemeClr>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63" name="Group 362">
            <a:extLst>
              <a:ext uri="{FF2B5EF4-FFF2-40B4-BE49-F238E27FC236}">
                <a16:creationId xmlns:a16="http://schemas.microsoft.com/office/drawing/2014/main" id="{9BA3D957-F2D3-2CB7-9285-EA41C21D2DA1}"/>
              </a:ext>
            </a:extLst>
          </p:cNvPr>
          <p:cNvGrpSpPr/>
          <p:nvPr/>
        </p:nvGrpSpPr>
        <p:grpSpPr>
          <a:xfrm>
            <a:off x="5482191" y="1873360"/>
            <a:ext cx="1071211" cy="1176522"/>
            <a:chOff x="3501615" y="1876076"/>
            <a:chExt cx="1071211" cy="1176522"/>
          </a:xfrm>
        </p:grpSpPr>
        <p:sp>
          <p:nvSpPr>
            <p:cNvPr id="364" name="Rectangle 363">
              <a:extLst>
                <a:ext uri="{FF2B5EF4-FFF2-40B4-BE49-F238E27FC236}">
                  <a16:creationId xmlns:a16="http://schemas.microsoft.com/office/drawing/2014/main" id="{7CBD2C3C-1B39-B176-CE8A-7CEABEDA582B}"/>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bg2"/>
                  </a:solidFill>
                </a:rPr>
                <a:t>Digital Self-Serve (Mobile / Web) </a:t>
              </a:r>
            </a:p>
          </p:txBody>
        </p:sp>
        <p:sp>
          <p:nvSpPr>
            <p:cNvPr id="365" name="Arc 364">
              <a:extLst>
                <a:ext uri="{FF2B5EF4-FFF2-40B4-BE49-F238E27FC236}">
                  <a16:creationId xmlns:a16="http://schemas.microsoft.com/office/drawing/2014/main" id="{7A66D59C-173D-EC6E-E39D-89F591A503E4}"/>
                </a:ext>
              </a:extLst>
            </p:cNvPr>
            <p:cNvSpPr/>
            <p:nvPr/>
          </p:nvSpPr>
          <p:spPr>
            <a:xfrm rot="19142566">
              <a:off x="3630795" y="2285215"/>
              <a:ext cx="812850" cy="767383"/>
            </a:xfrm>
            <a:prstGeom prst="arc">
              <a:avLst>
                <a:gd name="adj1" fmla="val 15924961"/>
                <a:gd name="adj2" fmla="val 0"/>
              </a:avLst>
            </a:prstGeom>
            <a:ln>
              <a:solidFill>
                <a:schemeClr val="bg1">
                  <a:lumMod val="65000"/>
                </a:schemeClr>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66" name="Group 365">
            <a:extLst>
              <a:ext uri="{FF2B5EF4-FFF2-40B4-BE49-F238E27FC236}">
                <a16:creationId xmlns:a16="http://schemas.microsoft.com/office/drawing/2014/main" id="{BA87E9EE-5E21-E9AC-91DB-75D52664ED33}"/>
              </a:ext>
            </a:extLst>
          </p:cNvPr>
          <p:cNvGrpSpPr/>
          <p:nvPr/>
        </p:nvGrpSpPr>
        <p:grpSpPr>
          <a:xfrm>
            <a:off x="7468339" y="1873360"/>
            <a:ext cx="1071211" cy="1176522"/>
            <a:chOff x="3501615" y="1876076"/>
            <a:chExt cx="1071211" cy="1176522"/>
          </a:xfrm>
        </p:grpSpPr>
        <p:sp>
          <p:nvSpPr>
            <p:cNvPr id="367" name="Rectangle 366">
              <a:extLst>
                <a:ext uri="{FF2B5EF4-FFF2-40B4-BE49-F238E27FC236}">
                  <a16:creationId xmlns:a16="http://schemas.microsoft.com/office/drawing/2014/main" id="{BB785106-B07B-6CAA-7852-4631DF3A5346}"/>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bg2"/>
                  </a:solidFill>
                </a:rPr>
                <a:t>Digital Self-Serve (Mobile / Web) </a:t>
              </a:r>
            </a:p>
          </p:txBody>
        </p:sp>
        <p:sp>
          <p:nvSpPr>
            <p:cNvPr id="368" name="Arc 367">
              <a:extLst>
                <a:ext uri="{FF2B5EF4-FFF2-40B4-BE49-F238E27FC236}">
                  <a16:creationId xmlns:a16="http://schemas.microsoft.com/office/drawing/2014/main" id="{02D52E60-7CFB-0EB4-124F-0E83F910B40E}"/>
                </a:ext>
              </a:extLst>
            </p:cNvPr>
            <p:cNvSpPr/>
            <p:nvPr/>
          </p:nvSpPr>
          <p:spPr>
            <a:xfrm rot="19142566">
              <a:off x="3630795" y="2285215"/>
              <a:ext cx="812850" cy="767383"/>
            </a:xfrm>
            <a:prstGeom prst="arc">
              <a:avLst>
                <a:gd name="adj1" fmla="val 15924961"/>
                <a:gd name="adj2" fmla="val 0"/>
              </a:avLst>
            </a:prstGeom>
            <a:ln>
              <a:solidFill>
                <a:schemeClr val="bg2"/>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69" name="Group 368">
            <a:extLst>
              <a:ext uri="{FF2B5EF4-FFF2-40B4-BE49-F238E27FC236}">
                <a16:creationId xmlns:a16="http://schemas.microsoft.com/office/drawing/2014/main" id="{EF43FF28-9EC9-A447-009B-F554FC1E4428}"/>
              </a:ext>
            </a:extLst>
          </p:cNvPr>
          <p:cNvGrpSpPr/>
          <p:nvPr/>
        </p:nvGrpSpPr>
        <p:grpSpPr>
          <a:xfrm>
            <a:off x="9454487" y="1873360"/>
            <a:ext cx="1071211" cy="1176522"/>
            <a:chOff x="3501615" y="1876076"/>
            <a:chExt cx="1071211" cy="1176522"/>
          </a:xfrm>
        </p:grpSpPr>
        <p:sp>
          <p:nvSpPr>
            <p:cNvPr id="370" name="Rectangle 369">
              <a:extLst>
                <a:ext uri="{FF2B5EF4-FFF2-40B4-BE49-F238E27FC236}">
                  <a16:creationId xmlns:a16="http://schemas.microsoft.com/office/drawing/2014/main" id="{1EAFECB6-38A6-7D54-3A30-13D26AA854C2}"/>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accent1"/>
                  </a:solidFill>
                </a:rPr>
                <a:t>Virtual / In-person Support</a:t>
              </a:r>
            </a:p>
          </p:txBody>
        </p:sp>
        <p:sp>
          <p:nvSpPr>
            <p:cNvPr id="371" name="Arc 370">
              <a:extLst>
                <a:ext uri="{FF2B5EF4-FFF2-40B4-BE49-F238E27FC236}">
                  <a16:creationId xmlns:a16="http://schemas.microsoft.com/office/drawing/2014/main" id="{9753305B-3A19-128F-72C8-4378EAE48710}"/>
                </a:ext>
              </a:extLst>
            </p:cNvPr>
            <p:cNvSpPr/>
            <p:nvPr/>
          </p:nvSpPr>
          <p:spPr>
            <a:xfrm rot="19142566">
              <a:off x="3630795" y="2285215"/>
              <a:ext cx="812850" cy="767383"/>
            </a:xfrm>
            <a:prstGeom prst="arc">
              <a:avLst>
                <a:gd name="adj1" fmla="val 15924961"/>
                <a:gd name="adj2" fmla="val 0"/>
              </a:avLst>
            </a:prstGeom>
            <a:ln>
              <a:solidFill>
                <a:schemeClr val="accent1"/>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73" name="Group 372">
            <a:extLst>
              <a:ext uri="{FF2B5EF4-FFF2-40B4-BE49-F238E27FC236}">
                <a16:creationId xmlns:a16="http://schemas.microsoft.com/office/drawing/2014/main" id="{0378B75B-2D12-A738-9596-085D9D6A4AEF}"/>
              </a:ext>
            </a:extLst>
          </p:cNvPr>
          <p:cNvGrpSpPr/>
          <p:nvPr/>
        </p:nvGrpSpPr>
        <p:grpSpPr>
          <a:xfrm>
            <a:off x="3496043" y="3874915"/>
            <a:ext cx="1071211" cy="1176522"/>
            <a:chOff x="3501615" y="1876076"/>
            <a:chExt cx="1071211" cy="1176522"/>
          </a:xfrm>
        </p:grpSpPr>
        <p:sp>
          <p:nvSpPr>
            <p:cNvPr id="374" name="Rectangle 373">
              <a:extLst>
                <a:ext uri="{FF2B5EF4-FFF2-40B4-BE49-F238E27FC236}">
                  <a16:creationId xmlns:a16="http://schemas.microsoft.com/office/drawing/2014/main" id="{6F1CC262-DBD0-A78D-B856-0263F9D04F51}"/>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bg2"/>
                  </a:solidFill>
                </a:rPr>
                <a:t>Digital Self-Serve (Mobile / Web) </a:t>
              </a:r>
            </a:p>
          </p:txBody>
        </p:sp>
        <p:sp>
          <p:nvSpPr>
            <p:cNvPr id="375" name="Arc 374">
              <a:extLst>
                <a:ext uri="{FF2B5EF4-FFF2-40B4-BE49-F238E27FC236}">
                  <a16:creationId xmlns:a16="http://schemas.microsoft.com/office/drawing/2014/main" id="{D94A9772-E3B1-95B0-034C-333F6C5FA3CA}"/>
                </a:ext>
              </a:extLst>
            </p:cNvPr>
            <p:cNvSpPr/>
            <p:nvPr/>
          </p:nvSpPr>
          <p:spPr>
            <a:xfrm rot="19142566">
              <a:off x="3630795" y="2285215"/>
              <a:ext cx="812850" cy="767383"/>
            </a:xfrm>
            <a:prstGeom prst="arc">
              <a:avLst>
                <a:gd name="adj1" fmla="val 15924961"/>
                <a:gd name="adj2" fmla="val 0"/>
              </a:avLst>
            </a:prstGeom>
            <a:ln>
              <a:solidFill>
                <a:schemeClr val="bg1">
                  <a:lumMod val="65000"/>
                </a:schemeClr>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76" name="Group 375">
            <a:extLst>
              <a:ext uri="{FF2B5EF4-FFF2-40B4-BE49-F238E27FC236}">
                <a16:creationId xmlns:a16="http://schemas.microsoft.com/office/drawing/2014/main" id="{98CBF81D-1B0F-9393-5943-DDE3CB1D15E6}"/>
              </a:ext>
            </a:extLst>
          </p:cNvPr>
          <p:cNvGrpSpPr/>
          <p:nvPr/>
        </p:nvGrpSpPr>
        <p:grpSpPr>
          <a:xfrm>
            <a:off x="5482191" y="3874915"/>
            <a:ext cx="1071211" cy="1176522"/>
            <a:chOff x="3501615" y="1876076"/>
            <a:chExt cx="1071211" cy="1176522"/>
          </a:xfrm>
        </p:grpSpPr>
        <p:sp>
          <p:nvSpPr>
            <p:cNvPr id="377" name="Rectangle 376">
              <a:extLst>
                <a:ext uri="{FF2B5EF4-FFF2-40B4-BE49-F238E27FC236}">
                  <a16:creationId xmlns:a16="http://schemas.microsoft.com/office/drawing/2014/main" id="{E6B618F9-3936-947F-7928-9ED9765E9964}"/>
                </a:ext>
              </a:extLst>
            </p:cNvPr>
            <p:cNvSpPr/>
            <p:nvPr/>
          </p:nvSpPr>
          <p:spPr>
            <a:xfrm>
              <a:off x="3501615" y="1876076"/>
              <a:ext cx="1071211" cy="3713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8000" tIns="180000" rIns="108000" bIns="180000" rtlCol="0" anchor="ctr"/>
            <a:lstStyle/>
            <a:p>
              <a:pPr algn="ctr">
                <a:spcBef>
                  <a:spcPts val="600"/>
                </a:spcBef>
              </a:pPr>
              <a:r>
                <a:rPr lang="en-CA" sz="800" i="1">
                  <a:solidFill>
                    <a:schemeClr val="accent1"/>
                  </a:solidFill>
                </a:rPr>
                <a:t>Virtual / In-person Support</a:t>
              </a:r>
            </a:p>
          </p:txBody>
        </p:sp>
        <p:sp>
          <p:nvSpPr>
            <p:cNvPr id="378" name="Arc 377">
              <a:extLst>
                <a:ext uri="{FF2B5EF4-FFF2-40B4-BE49-F238E27FC236}">
                  <a16:creationId xmlns:a16="http://schemas.microsoft.com/office/drawing/2014/main" id="{051DA9A2-6467-634C-69CF-10D1D8157243}"/>
                </a:ext>
              </a:extLst>
            </p:cNvPr>
            <p:cNvSpPr/>
            <p:nvPr/>
          </p:nvSpPr>
          <p:spPr>
            <a:xfrm rot="19142566">
              <a:off x="3630795" y="2285215"/>
              <a:ext cx="812850" cy="767383"/>
            </a:xfrm>
            <a:prstGeom prst="arc">
              <a:avLst>
                <a:gd name="adj1" fmla="val 15924961"/>
                <a:gd name="adj2" fmla="val 0"/>
              </a:avLst>
            </a:prstGeom>
            <a:ln>
              <a:solidFill>
                <a:schemeClr val="accent1"/>
              </a:solidFill>
              <a:prstDash val="sysDot"/>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grpSp>
      <p:grpSp>
        <p:nvGrpSpPr>
          <p:cNvPr id="382" name="Group 381">
            <a:extLst>
              <a:ext uri="{FF2B5EF4-FFF2-40B4-BE49-F238E27FC236}">
                <a16:creationId xmlns:a16="http://schemas.microsoft.com/office/drawing/2014/main" id="{DFB72916-2A59-3325-5981-20561F22D988}"/>
              </a:ext>
            </a:extLst>
          </p:cNvPr>
          <p:cNvGrpSpPr/>
          <p:nvPr/>
        </p:nvGrpSpPr>
        <p:grpSpPr>
          <a:xfrm>
            <a:off x="6628701" y="4231975"/>
            <a:ext cx="594360" cy="594360"/>
            <a:chOff x="6628701" y="4259545"/>
            <a:chExt cx="594360" cy="594360"/>
          </a:xfrm>
        </p:grpSpPr>
        <p:sp>
          <p:nvSpPr>
            <p:cNvPr id="301" name="Oval 300">
              <a:extLst>
                <a:ext uri="{FF2B5EF4-FFF2-40B4-BE49-F238E27FC236}">
                  <a16:creationId xmlns:a16="http://schemas.microsoft.com/office/drawing/2014/main" id="{82433B41-9764-C50E-988E-33B0DDDF31BF}"/>
                </a:ext>
              </a:extLst>
            </p:cNvPr>
            <p:cNvSpPr/>
            <p:nvPr/>
          </p:nvSpPr>
          <p:spPr>
            <a:xfrm>
              <a:off x="6628701" y="4259545"/>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pic>
          <p:nvPicPr>
            <p:cNvPr id="381" name="Graphic 380">
              <a:extLst>
                <a:ext uri="{FF2B5EF4-FFF2-40B4-BE49-F238E27FC236}">
                  <a16:creationId xmlns:a16="http://schemas.microsoft.com/office/drawing/2014/main" id="{ED743B7F-EB78-79C2-A392-7C301C8CB3A8}"/>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763981" y="4362445"/>
              <a:ext cx="323800" cy="388560"/>
            </a:xfrm>
            <a:prstGeom prst="rect">
              <a:avLst/>
            </a:prstGeom>
          </p:spPr>
        </p:pic>
      </p:grpSp>
      <p:grpSp>
        <p:nvGrpSpPr>
          <p:cNvPr id="384" name="Group 383">
            <a:extLst>
              <a:ext uri="{FF2B5EF4-FFF2-40B4-BE49-F238E27FC236}">
                <a16:creationId xmlns:a16="http://schemas.microsoft.com/office/drawing/2014/main" id="{3F346380-6A42-8705-6E71-40068FEC16A3}"/>
              </a:ext>
            </a:extLst>
          </p:cNvPr>
          <p:cNvGrpSpPr/>
          <p:nvPr/>
        </p:nvGrpSpPr>
        <p:grpSpPr>
          <a:xfrm>
            <a:off x="10605402" y="2273128"/>
            <a:ext cx="594360" cy="594360"/>
            <a:chOff x="10605402" y="2300698"/>
            <a:chExt cx="594360" cy="594360"/>
          </a:xfrm>
        </p:grpSpPr>
        <p:sp>
          <p:nvSpPr>
            <p:cNvPr id="75" name="Oval 74">
              <a:extLst>
                <a:ext uri="{FF2B5EF4-FFF2-40B4-BE49-F238E27FC236}">
                  <a16:creationId xmlns:a16="http://schemas.microsoft.com/office/drawing/2014/main" id="{CB5150EE-0874-97D0-139B-59F3A98DB8D3}"/>
                </a:ext>
              </a:extLst>
            </p:cNvPr>
            <p:cNvSpPr/>
            <p:nvPr/>
          </p:nvSpPr>
          <p:spPr>
            <a:xfrm>
              <a:off x="10605402" y="2300698"/>
              <a:ext cx="594360" cy="594360"/>
            </a:xfrm>
            <a:prstGeom prst="ellipse">
              <a:avLst/>
            </a:prstGeom>
            <a:solidFill>
              <a:srgbClr val="F5EFE8"/>
            </a:solidFill>
            <a:ln>
              <a:solidFill>
                <a:srgbClr val="F5EFE8"/>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pic>
          <p:nvPicPr>
            <p:cNvPr id="383" name="Graphic 382">
              <a:extLst>
                <a:ext uri="{FF2B5EF4-FFF2-40B4-BE49-F238E27FC236}">
                  <a16:creationId xmlns:a16="http://schemas.microsoft.com/office/drawing/2014/main" id="{DA354B97-D0AF-D82D-FD5B-A94C1FB6089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740682" y="2403598"/>
              <a:ext cx="323800" cy="388560"/>
            </a:xfrm>
            <a:prstGeom prst="rect">
              <a:avLst/>
            </a:prstGeom>
          </p:spPr>
        </p:pic>
      </p:grpSp>
      <p:grpSp>
        <p:nvGrpSpPr>
          <p:cNvPr id="387" name="Group 386">
            <a:extLst>
              <a:ext uri="{FF2B5EF4-FFF2-40B4-BE49-F238E27FC236}">
                <a16:creationId xmlns:a16="http://schemas.microsoft.com/office/drawing/2014/main" id="{6BF31E5A-A19E-F217-1410-321B123BCA00}"/>
              </a:ext>
            </a:extLst>
          </p:cNvPr>
          <p:cNvGrpSpPr/>
          <p:nvPr/>
        </p:nvGrpSpPr>
        <p:grpSpPr>
          <a:xfrm>
            <a:off x="8068866" y="2273128"/>
            <a:ext cx="1871662" cy="1429098"/>
            <a:chOff x="8068866" y="2300698"/>
            <a:chExt cx="1871662" cy="1429098"/>
          </a:xfrm>
        </p:grpSpPr>
        <p:sp>
          <p:nvSpPr>
            <p:cNvPr id="174" name="Rectangle 173">
              <a:extLst>
                <a:ext uri="{FF2B5EF4-FFF2-40B4-BE49-F238E27FC236}">
                  <a16:creationId xmlns:a16="http://schemas.microsoft.com/office/drawing/2014/main" id="{4A4297C3-6935-E089-ACB0-A24B9DAB9C50}"/>
                </a:ext>
              </a:extLst>
            </p:cNvPr>
            <p:cNvSpPr/>
            <p:nvPr/>
          </p:nvSpPr>
          <p:spPr>
            <a:xfrm>
              <a:off x="8068866" y="2954897"/>
              <a:ext cx="1871662"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accent1"/>
                  </a:solidFill>
                </a:rPr>
                <a:t>CHANNEL INTERSECTION </a:t>
              </a:r>
            </a:p>
          </p:txBody>
        </p:sp>
        <p:sp>
          <p:nvSpPr>
            <p:cNvPr id="189" name="TextBox 188">
              <a:extLst>
                <a:ext uri="{FF2B5EF4-FFF2-40B4-BE49-F238E27FC236}">
                  <a16:creationId xmlns:a16="http://schemas.microsoft.com/office/drawing/2014/main" id="{A2F3687C-C22A-D649-2418-62AEC18EC7E8}"/>
                </a:ext>
              </a:extLst>
            </p:cNvPr>
            <p:cNvSpPr txBox="1"/>
            <p:nvPr/>
          </p:nvSpPr>
          <p:spPr>
            <a:xfrm>
              <a:off x="8232497" y="3198881"/>
              <a:ext cx="1544400" cy="530915"/>
            </a:xfrm>
            <a:prstGeom prst="rect">
              <a:avLst/>
            </a:prstGeom>
            <a:noFill/>
          </p:spPr>
          <p:txBody>
            <a:bodyPr wrap="square" lIns="0" rIns="0" rtlCol="0">
              <a:spAutoFit/>
            </a:bodyPr>
            <a:lstStyle/>
            <a:p>
              <a:pPr algn="ctr"/>
              <a:r>
                <a:rPr lang="en-CA" sz="950" b="1">
                  <a:solidFill>
                    <a:schemeClr val="accent1"/>
                  </a:solidFill>
                </a:rPr>
                <a:t>Appointment booking </a:t>
              </a:r>
              <a:r>
                <a:rPr lang="en-CA" sz="950">
                  <a:solidFill>
                    <a:schemeClr val="accent1"/>
                  </a:solidFill>
                </a:rPr>
                <a:t>or</a:t>
              </a:r>
              <a:r>
                <a:rPr lang="en-CA" sz="950" b="1">
                  <a:solidFill>
                    <a:schemeClr val="accent1"/>
                  </a:solidFill>
                </a:rPr>
                <a:t> on-demand support </a:t>
              </a:r>
              <a:r>
                <a:rPr lang="en-CA" sz="950">
                  <a:solidFill>
                    <a:schemeClr val="accent1"/>
                  </a:solidFill>
                </a:rPr>
                <a:t>offered to connect clients</a:t>
              </a:r>
            </a:p>
          </p:txBody>
        </p:sp>
        <p:grpSp>
          <p:nvGrpSpPr>
            <p:cNvPr id="386" name="Group 385">
              <a:extLst>
                <a:ext uri="{FF2B5EF4-FFF2-40B4-BE49-F238E27FC236}">
                  <a16:creationId xmlns:a16="http://schemas.microsoft.com/office/drawing/2014/main" id="{20667525-5D81-8E47-5040-7A8390549743}"/>
                </a:ext>
              </a:extLst>
            </p:cNvPr>
            <p:cNvGrpSpPr/>
            <p:nvPr/>
          </p:nvGrpSpPr>
          <p:grpSpPr>
            <a:xfrm>
              <a:off x="8702492" y="2300698"/>
              <a:ext cx="594360" cy="594360"/>
              <a:chOff x="8702492" y="2300698"/>
              <a:chExt cx="594360" cy="594360"/>
            </a:xfrm>
          </p:grpSpPr>
          <p:sp>
            <p:nvSpPr>
              <p:cNvPr id="72" name="Oval 71">
                <a:extLst>
                  <a:ext uri="{FF2B5EF4-FFF2-40B4-BE49-F238E27FC236}">
                    <a16:creationId xmlns:a16="http://schemas.microsoft.com/office/drawing/2014/main" id="{73645A19-BB96-869D-1989-FB4345241854}"/>
                  </a:ext>
                </a:extLst>
              </p:cNvPr>
              <p:cNvSpPr/>
              <p:nvPr/>
            </p:nvSpPr>
            <p:spPr>
              <a:xfrm>
                <a:off x="8702492" y="2300698"/>
                <a:ext cx="594360" cy="59436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385" name="Shape 2931">
                <a:extLst>
                  <a:ext uri="{FF2B5EF4-FFF2-40B4-BE49-F238E27FC236}">
                    <a16:creationId xmlns:a16="http://schemas.microsoft.com/office/drawing/2014/main" id="{B2E377E6-3B99-D97A-11E5-C7A631B6C85F}"/>
                  </a:ext>
                </a:extLst>
              </p:cNvPr>
              <p:cNvSpPr/>
              <p:nvPr/>
            </p:nvSpPr>
            <p:spPr>
              <a:xfrm>
                <a:off x="8846368" y="2486384"/>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chemeClr val="bg1"/>
              </a:solidFill>
              <a:ln w="12700">
                <a:solidFill>
                  <a:schemeClr val="bg1"/>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grpSp>
      <p:grpSp>
        <p:nvGrpSpPr>
          <p:cNvPr id="389" name="Group 388">
            <a:extLst>
              <a:ext uri="{FF2B5EF4-FFF2-40B4-BE49-F238E27FC236}">
                <a16:creationId xmlns:a16="http://schemas.microsoft.com/office/drawing/2014/main" id="{573D1804-B659-C11A-28FA-2048C4F00324}"/>
              </a:ext>
            </a:extLst>
          </p:cNvPr>
          <p:cNvGrpSpPr/>
          <p:nvPr/>
        </p:nvGrpSpPr>
        <p:grpSpPr>
          <a:xfrm>
            <a:off x="4000464" y="4231975"/>
            <a:ext cx="2088887" cy="1429098"/>
            <a:chOff x="4000464" y="4259545"/>
            <a:chExt cx="2088887" cy="1429098"/>
          </a:xfrm>
        </p:grpSpPr>
        <p:sp>
          <p:nvSpPr>
            <p:cNvPr id="321" name="Oval 320">
              <a:extLst>
                <a:ext uri="{FF2B5EF4-FFF2-40B4-BE49-F238E27FC236}">
                  <a16:creationId xmlns:a16="http://schemas.microsoft.com/office/drawing/2014/main" id="{831F0844-F3CA-0717-3E9B-DA3B169180DF}"/>
                </a:ext>
              </a:extLst>
            </p:cNvPr>
            <p:cNvSpPr/>
            <p:nvPr/>
          </p:nvSpPr>
          <p:spPr>
            <a:xfrm>
              <a:off x="4736973" y="4259545"/>
              <a:ext cx="594360" cy="59436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indent="-171450" algn="l">
                <a:spcBef>
                  <a:spcPts val="600"/>
                </a:spcBef>
                <a:buFont typeface="Arial" panose="020B0604020202020204" pitchFamily="34" charset="0"/>
                <a:buChar char="•"/>
              </a:pPr>
              <a:endParaRPr lang="en-CA" sz="1000">
                <a:solidFill>
                  <a:schemeClr val="tx1"/>
                </a:solidFill>
              </a:endParaRPr>
            </a:p>
          </p:txBody>
        </p:sp>
        <p:sp>
          <p:nvSpPr>
            <p:cNvPr id="319" name="Rectangle 318">
              <a:extLst>
                <a:ext uri="{FF2B5EF4-FFF2-40B4-BE49-F238E27FC236}">
                  <a16:creationId xmlns:a16="http://schemas.microsoft.com/office/drawing/2014/main" id="{985AD0BF-C456-D381-C24F-ED37BB69A7FA}"/>
                </a:ext>
              </a:extLst>
            </p:cNvPr>
            <p:cNvSpPr/>
            <p:nvPr/>
          </p:nvSpPr>
          <p:spPr>
            <a:xfrm>
              <a:off x="4000464" y="4913744"/>
              <a:ext cx="2088887" cy="2680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algn="ctr">
                <a:spcBef>
                  <a:spcPts val="600"/>
                </a:spcBef>
              </a:pPr>
              <a:r>
                <a:rPr lang="en-CA" sz="1000" b="1">
                  <a:solidFill>
                    <a:schemeClr val="accent1"/>
                  </a:solidFill>
                </a:rPr>
                <a:t>CHANNEL INTERSECTION </a:t>
              </a:r>
            </a:p>
          </p:txBody>
        </p:sp>
        <p:sp>
          <p:nvSpPr>
            <p:cNvPr id="320" name="TextBox 319">
              <a:extLst>
                <a:ext uri="{FF2B5EF4-FFF2-40B4-BE49-F238E27FC236}">
                  <a16:creationId xmlns:a16="http://schemas.microsoft.com/office/drawing/2014/main" id="{F06947F9-07A6-136A-03C1-2D40C8767083}"/>
                </a:ext>
              </a:extLst>
            </p:cNvPr>
            <p:cNvSpPr txBox="1"/>
            <p:nvPr/>
          </p:nvSpPr>
          <p:spPr>
            <a:xfrm>
              <a:off x="4275738" y="5157728"/>
              <a:ext cx="1544400" cy="530915"/>
            </a:xfrm>
            <a:prstGeom prst="rect">
              <a:avLst/>
            </a:prstGeom>
            <a:noFill/>
          </p:spPr>
          <p:txBody>
            <a:bodyPr wrap="square" lIns="0" rIns="0" rtlCol="0">
              <a:spAutoFit/>
            </a:bodyPr>
            <a:lstStyle/>
            <a:p>
              <a:pPr algn="ctr"/>
              <a:r>
                <a:rPr lang="en-CA" sz="950" b="1">
                  <a:solidFill>
                    <a:schemeClr val="accent1"/>
                  </a:solidFill>
                </a:rPr>
                <a:t>Appointment booking </a:t>
              </a:r>
              <a:r>
                <a:rPr lang="en-CA" sz="950">
                  <a:solidFill>
                    <a:schemeClr val="accent1"/>
                  </a:solidFill>
                </a:rPr>
                <a:t>or</a:t>
              </a:r>
              <a:r>
                <a:rPr lang="en-CA" sz="950" b="1">
                  <a:solidFill>
                    <a:schemeClr val="accent1"/>
                  </a:solidFill>
                </a:rPr>
                <a:t> on-demand support </a:t>
              </a:r>
              <a:r>
                <a:rPr lang="en-CA" sz="950">
                  <a:solidFill>
                    <a:schemeClr val="accent1"/>
                  </a:solidFill>
                </a:rPr>
                <a:t>offered to connect clients</a:t>
              </a:r>
            </a:p>
          </p:txBody>
        </p:sp>
        <p:sp>
          <p:nvSpPr>
            <p:cNvPr id="388" name="Shape 2931">
              <a:extLst>
                <a:ext uri="{FF2B5EF4-FFF2-40B4-BE49-F238E27FC236}">
                  <a16:creationId xmlns:a16="http://schemas.microsoft.com/office/drawing/2014/main" id="{2B4B8770-B63C-E4EF-0E01-F6F86093BF81}"/>
                </a:ext>
              </a:extLst>
            </p:cNvPr>
            <p:cNvSpPr/>
            <p:nvPr/>
          </p:nvSpPr>
          <p:spPr>
            <a:xfrm>
              <a:off x="4880849" y="4445231"/>
              <a:ext cx="306608" cy="222989"/>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chemeClr val="bg1"/>
            </a:solidFill>
            <a:ln w="12700">
              <a:solidFill>
                <a:schemeClr val="bg1"/>
              </a:solidFill>
              <a:miter lim="400000"/>
            </a:ln>
          </p:spPr>
          <p:txBody>
            <a:bodyPr lIns="38091" tIns="38091" rIns="38091" bIns="38091" anchor="ctr"/>
            <a:lstStyle/>
            <a:p>
              <a:pPr defTabSz="45705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cxnSp>
        <p:nvCxnSpPr>
          <p:cNvPr id="393" name="Straight Connector 392">
            <a:extLst>
              <a:ext uri="{FF2B5EF4-FFF2-40B4-BE49-F238E27FC236}">
                <a16:creationId xmlns:a16="http://schemas.microsoft.com/office/drawing/2014/main" id="{4533CB43-AD16-31DB-9008-94BA188DD4B8}"/>
              </a:ext>
            </a:extLst>
          </p:cNvPr>
          <p:cNvCxnSpPr>
            <a:cxnSpLocks/>
          </p:cNvCxnSpPr>
          <p:nvPr/>
        </p:nvCxnSpPr>
        <p:spPr>
          <a:xfrm>
            <a:off x="519013" y="3822167"/>
            <a:ext cx="11148063" cy="0"/>
          </a:xfrm>
          <a:prstGeom prst="line">
            <a:avLst/>
          </a:prstGeom>
          <a:ln w="19050">
            <a:solidFill>
              <a:srgbClr val="E5E1D7"/>
            </a:solidFill>
            <a:prstDash val="sysDot"/>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A4035145-49B7-7F3F-9598-FA06104718D0}"/>
              </a:ext>
            </a:extLst>
          </p:cNvPr>
          <p:cNvSpPr/>
          <p:nvPr/>
        </p:nvSpPr>
        <p:spPr>
          <a:xfrm>
            <a:off x="517218" y="5769389"/>
            <a:ext cx="11157564" cy="31757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100" b="1">
                <a:solidFill>
                  <a:sysClr val="windowText" lastClr="000000"/>
                </a:solidFill>
              </a:rPr>
              <a:t>FOR DISCUSSION: </a:t>
            </a:r>
            <a:r>
              <a:rPr lang="en-CA" sz="1100">
                <a:solidFill>
                  <a:schemeClr val="tx1"/>
                </a:solidFill>
              </a:rPr>
              <a:t>Are we aligned on the above digital to virtual / branch points of connectivity? </a:t>
            </a:r>
            <a:endParaRPr lang="en-CA" sz="1100">
              <a:solidFill>
                <a:sysClr val="windowText" lastClr="000000"/>
              </a:solidFill>
            </a:endParaRPr>
          </a:p>
        </p:txBody>
      </p:sp>
      <p:sp>
        <p:nvSpPr>
          <p:cNvPr id="5" name="Text Placeholder 4">
            <a:extLst>
              <a:ext uri="{FF2B5EF4-FFF2-40B4-BE49-F238E27FC236}">
                <a16:creationId xmlns:a16="http://schemas.microsoft.com/office/drawing/2014/main" id="{0C393B06-F3B0-4ED8-777B-EA5BF59B5B91}"/>
              </a:ext>
            </a:extLst>
          </p:cNvPr>
          <p:cNvSpPr>
            <a:spLocks noGrp="1"/>
          </p:cNvSpPr>
          <p:nvPr>
            <p:ph type="body" sz="quarter" idx="13"/>
          </p:nvPr>
        </p:nvSpPr>
        <p:spPr/>
        <p:txBody>
          <a:bodyPr/>
          <a:lstStyle/>
          <a:p>
            <a:endParaRPr lang="en-CA"/>
          </a:p>
        </p:txBody>
      </p:sp>
    </p:spTree>
    <p:extLst>
      <p:ext uri="{BB962C8B-B14F-4D97-AF65-F5344CB8AC3E}">
        <p14:creationId xmlns:p14="http://schemas.microsoft.com/office/powerpoint/2010/main" val="65963352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5B439-81B9-A097-4A93-958389DAA48B}"/>
            </a:ext>
          </a:extLst>
        </p:cNvPr>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92CD1F52-E874-8955-0CA9-A8FF5EAE44A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9" name="think-cell data - do not delete" hidden="1">
                        <a:extLst>
                          <a:ext uri="{FF2B5EF4-FFF2-40B4-BE49-F238E27FC236}">
                            <a16:creationId xmlns:a16="http://schemas.microsoft.com/office/drawing/2014/main" id="{92CD1F52-E874-8955-0CA9-A8FF5EAE44A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A80D59D8-7BB8-5A9A-1D61-57796BC91019}"/>
              </a:ext>
            </a:extLst>
          </p:cNvPr>
          <p:cNvSpPr>
            <a:spLocks noGrp="1"/>
          </p:cNvSpPr>
          <p:nvPr>
            <p:ph type="title"/>
          </p:nvPr>
        </p:nvSpPr>
        <p:spPr>
          <a:xfrm>
            <a:off x="515938" y="652614"/>
            <a:ext cx="11160124" cy="720000"/>
          </a:xfrm>
        </p:spPr>
        <p:txBody>
          <a:bodyPr vert="horz"/>
          <a:lstStyle/>
          <a:p>
            <a:r>
              <a:rPr lang="en-CA">
                <a:solidFill>
                  <a:schemeClr val="accent1"/>
                </a:solidFill>
              </a:rPr>
              <a:t>BNS &amp; TNG Roadmap | </a:t>
            </a:r>
            <a:r>
              <a:rPr lang="en-CA"/>
              <a:t>Red Bank and Tangerine have planned strategies and investments to continue strengthening the value proposition</a:t>
            </a:r>
          </a:p>
        </p:txBody>
      </p:sp>
      <p:sp>
        <p:nvSpPr>
          <p:cNvPr id="7" name="Text Placeholder 6">
            <a:extLst>
              <a:ext uri="{FF2B5EF4-FFF2-40B4-BE49-F238E27FC236}">
                <a16:creationId xmlns:a16="http://schemas.microsoft.com/office/drawing/2014/main" id="{D2951906-8696-C633-41F0-DD31A1893905}"/>
              </a:ext>
            </a:extLst>
          </p:cNvPr>
          <p:cNvSpPr>
            <a:spLocks noGrp="1"/>
          </p:cNvSpPr>
          <p:nvPr>
            <p:ph type="body" sz="quarter" idx="13"/>
          </p:nvPr>
        </p:nvSpPr>
        <p:spPr/>
        <p:txBody>
          <a:bodyPr/>
          <a:lstStyle/>
          <a:p>
            <a:r>
              <a:rPr lang="en-US"/>
              <a:t>PATH FORWARD</a:t>
            </a:r>
          </a:p>
        </p:txBody>
      </p:sp>
      <p:sp>
        <p:nvSpPr>
          <p:cNvPr id="10" name="Rectangle 9">
            <a:extLst>
              <a:ext uri="{FF2B5EF4-FFF2-40B4-BE49-F238E27FC236}">
                <a16:creationId xmlns:a16="http://schemas.microsoft.com/office/drawing/2014/main" id="{05A174CA-FB93-9861-8D90-62CCD9F935F7}"/>
              </a:ext>
            </a:extLst>
          </p:cNvPr>
          <p:cNvSpPr/>
          <p:nvPr/>
        </p:nvSpPr>
        <p:spPr>
          <a:xfrm>
            <a:off x="1908" y="1665288"/>
            <a:ext cx="2542225" cy="4464050"/>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731520" rIns="137160" bIns="180000" rtlCol="0" anchor="t"/>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US" sz="1400" b="1" i="0" u="none" strike="noStrike" kern="1200" cap="none" spc="50" normalizeH="0" baseline="0" noProof="0">
              <a:ln>
                <a:noFill/>
              </a:ln>
              <a:solidFill>
                <a:srgbClr val="000000"/>
              </a:solidFill>
              <a:effectLst/>
              <a:uLnTx/>
              <a:uFillTx/>
              <a:latin typeface="Scotia"/>
              <a:ea typeface="+mn-ea"/>
              <a:cs typeface="+mn-cs"/>
            </a:endParaRPr>
          </a:p>
        </p:txBody>
      </p:sp>
      <p:sp>
        <p:nvSpPr>
          <p:cNvPr id="16" name="Text Placeholder 48">
            <a:extLst>
              <a:ext uri="{FF2B5EF4-FFF2-40B4-BE49-F238E27FC236}">
                <a16:creationId xmlns:a16="http://schemas.microsoft.com/office/drawing/2014/main" id="{8C736B5D-D9C1-18ED-53C5-C4BD758AE56A}"/>
              </a:ext>
            </a:extLst>
          </p:cNvPr>
          <p:cNvSpPr txBox="1">
            <a:spLocks/>
          </p:cNvSpPr>
          <p:nvPr/>
        </p:nvSpPr>
        <p:spPr>
          <a:xfrm>
            <a:off x="341693" y="1902611"/>
            <a:ext cx="1887615" cy="202605"/>
          </a:xfrm>
          <a:prstGeom prst="rect">
            <a:avLst/>
          </a:prstGeom>
          <a:noFill/>
          <a:ln>
            <a:noFill/>
          </a:ln>
        </p:spPr>
        <p:txBody>
          <a:bodyPr vert="horz" lIns="0" tIns="0" rIns="0" bIns="0" rtlCol="0" anchor="ctr">
            <a:noAutofit/>
          </a:bodyPr>
          <a:lstStyle>
            <a:defPPr>
              <a:defRPr lang="en-US"/>
            </a:defPPr>
            <a:lvl1pPr>
              <a:spcBef>
                <a:spcPts val="600"/>
              </a:spcBef>
              <a:buClr>
                <a:schemeClr val="tx1"/>
              </a:buClr>
              <a:defRPr sz="1300" b="1" cap="all" spc="200">
                <a:solidFill>
                  <a:srgbClr val="EC111A"/>
                </a:solidFill>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05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355" rtl="0" eaLnBrk="1" fontAlgn="auto" latinLnBrk="0" hangingPunct="1">
              <a:lnSpc>
                <a:spcPct val="100000"/>
              </a:lnSpc>
              <a:spcBef>
                <a:spcPts val="600"/>
              </a:spcBef>
              <a:spcAft>
                <a:spcPts val="0"/>
              </a:spcAft>
              <a:buClr>
                <a:srgbClr val="000000"/>
              </a:buClr>
              <a:buSzTx/>
              <a:buFontTx/>
              <a:buNone/>
              <a:tabLst/>
              <a:defRPr/>
            </a:pPr>
            <a:r>
              <a:rPr kumimoji="0" lang="en-CA" sz="1100" b="1" i="0" u="none" strike="noStrike" kern="1200" cap="all" spc="200" normalizeH="0" baseline="0" noProof="0">
                <a:ln>
                  <a:noFill/>
                </a:ln>
                <a:solidFill>
                  <a:srgbClr val="EC111A"/>
                </a:solidFill>
                <a:effectLst/>
                <a:uLnTx/>
                <a:uFillTx/>
                <a:latin typeface="Scotia"/>
                <a:ea typeface="+mn-ea"/>
                <a:cs typeface="+mn-cs"/>
              </a:rPr>
              <a:t>OVERVIEW</a:t>
            </a:r>
          </a:p>
        </p:txBody>
      </p:sp>
      <p:sp>
        <p:nvSpPr>
          <p:cNvPr id="20" name="TextBox 19">
            <a:extLst>
              <a:ext uri="{FF2B5EF4-FFF2-40B4-BE49-F238E27FC236}">
                <a16:creationId xmlns:a16="http://schemas.microsoft.com/office/drawing/2014/main" id="{95147F1A-F20A-C37E-F166-0D97C15096A5}"/>
              </a:ext>
            </a:extLst>
          </p:cNvPr>
          <p:cNvSpPr txBox="1"/>
          <p:nvPr/>
        </p:nvSpPr>
        <p:spPr>
          <a:xfrm>
            <a:off x="248243" y="2232213"/>
            <a:ext cx="2133965" cy="3761830"/>
          </a:xfrm>
          <a:prstGeom prst="rect">
            <a:avLst/>
          </a:prstGeom>
          <a:noFill/>
          <a:ln>
            <a:noFill/>
          </a:ln>
        </p:spPr>
        <p:txBody>
          <a:bodyPr wrap="square" lIns="137160" tIns="45720" rIns="137160" bIns="91440" rtlCol="0" anchor="t">
            <a:noAutofit/>
          </a:bodyPr>
          <a:lstStyle/>
          <a:p>
            <a:pPr marL="91440" marR="0" lvl="0" indent="-91440" algn="l" defTabSz="914400" rtl="0" eaLnBrk="1" fontAlgn="auto" latinLnBrk="0" hangingPunct="1">
              <a:lnSpc>
                <a:spcPct val="100000"/>
              </a:lnSpc>
              <a:spcBef>
                <a:spcPts val="600"/>
              </a:spcBef>
              <a:spcAft>
                <a:spcPts val="12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There are multiple </a:t>
            </a:r>
            <a:r>
              <a:rPr kumimoji="0" lang="en-US" sz="1100" b="1" i="0" u="none" strike="noStrike" kern="1200" cap="none" spc="0" normalizeH="0" baseline="0" noProof="0">
                <a:ln>
                  <a:noFill/>
                </a:ln>
                <a:solidFill>
                  <a:srgbClr val="000000"/>
                </a:solidFill>
                <a:effectLst/>
                <a:uLnTx/>
                <a:uFillTx/>
                <a:latin typeface="Scotia"/>
                <a:ea typeface="+mn-ea"/>
                <a:cs typeface="+mn-cs"/>
              </a:rPr>
              <a:t>short-</a:t>
            </a:r>
            <a:r>
              <a:rPr kumimoji="0" lang="en-US" sz="1100" b="0" i="0" u="none" strike="noStrike" kern="1200" cap="none" spc="0" normalizeH="0" baseline="0" noProof="0">
                <a:ln>
                  <a:noFill/>
                </a:ln>
                <a:solidFill>
                  <a:srgbClr val="000000"/>
                </a:solidFill>
                <a:effectLst/>
                <a:uLnTx/>
                <a:uFillTx/>
                <a:latin typeface="Scotia"/>
                <a:ea typeface="+mn-ea"/>
                <a:cs typeface="+mn-cs"/>
              </a:rPr>
              <a:t> </a:t>
            </a:r>
            <a:br>
              <a:rPr kumimoji="0" lang="en-US" sz="1100" b="0" i="0" u="none" strike="noStrike" kern="1200" cap="none" spc="0" normalizeH="0" baseline="0" noProof="0">
                <a:ln>
                  <a:noFill/>
                </a:ln>
                <a:solidFill>
                  <a:srgbClr val="000000"/>
                </a:solidFill>
                <a:effectLst/>
                <a:uLnTx/>
                <a:uFillTx/>
                <a:latin typeface="Scotia"/>
                <a:ea typeface="+mn-ea"/>
                <a:cs typeface="+mn-cs"/>
              </a:rPr>
            </a:br>
            <a:r>
              <a:rPr kumimoji="0" lang="en-US" sz="1100" b="0" i="0" u="none" strike="noStrike" kern="1200" cap="none" spc="0" normalizeH="0" baseline="0" noProof="0">
                <a:ln>
                  <a:noFill/>
                </a:ln>
                <a:solidFill>
                  <a:srgbClr val="000000"/>
                </a:solidFill>
                <a:effectLst/>
                <a:uLnTx/>
                <a:uFillTx/>
                <a:latin typeface="Scotia"/>
                <a:ea typeface="+mn-ea"/>
                <a:cs typeface="+mn-cs"/>
              </a:rPr>
              <a:t>and </a:t>
            </a:r>
            <a:r>
              <a:rPr kumimoji="0" lang="en-US" sz="1100" b="1" i="0" u="none" strike="noStrike" kern="1200" cap="none" spc="0" normalizeH="0" baseline="0" noProof="0">
                <a:ln>
                  <a:noFill/>
                </a:ln>
                <a:solidFill>
                  <a:srgbClr val="000000"/>
                </a:solidFill>
                <a:effectLst/>
                <a:uLnTx/>
                <a:uFillTx/>
                <a:latin typeface="Scotia"/>
                <a:ea typeface="+mn-ea"/>
                <a:cs typeface="+mn-cs"/>
              </a:rPr>
              <a:t>long-term initiatives </a:t>
            </a:r>
            <a:br>
              <a:rPr kumimoji="0" lang="en-US" sz="1100" b="1" i="0" u="none" strike="noStrike" kern="1200" cap="none" spc="0" normalizeH="0" baseline="0" noProof="0">
                <a:ln>
                  <a:noFill/>
                </a:ln>
                <a:solidFill>
                  <a:srgbClr val="000000"/>
                </a:solidFill>
                <a:effectLst/>
                <a:uLnTx/>
                <a:uFillTx/>
                <a:latin typeface="Scotia"/>
                <a:ea typeface="+mn-ea"/>
                <a:cs typeface="+mn-cs"/>
              </a:rPr>
            </a:br>
            <a:r>
              <a:rPr kumimoji="0" lang="en-US" sz="1100" b="0" i="0" u="none" strike="noStrike" kern="1200" cap="none" spc="0" normalizeH="0" baseline="0" noProof="0">
                <a:ln>
                  <a:noFill/>
                </a:ln>
                <a:solidFill>
                  <a:srgbClr val="000000"/>
                </a:solidFill>
                <a:effectLst/>
                <a:uLnTx/>
                <a:uFillTx/>
                <a:latin typeface="Scotia"/>
                <a:ea typeface="+mn-ea"/>
                <a:cs typeface="+mn-cs"/>
              </a:rPr>
              <a:t>underway to continue strengthening the value proposition and overall competitiveness </a:t>
            </a:r>
          </a:p>
          <a:p>
            <a:pPr marL="91440" marR="0" lvl="0" indent="-91440" algn="l" defTabSz="914400" rtl="0" eaLnBrk="1" fontAlgn="auto" latinLnBrk="0" hangingPunct="1">
              <a:lnSpc>
                <a:spcPct val="100000"/>
              </a:lnSpc>
              <a:spcBef>
                <a:spcPts val="600"/>
              </a:spcBef>
              <a:spcAft>
                <a:spcPts val="12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Focus will remain on these efforts to </a:t>
            </a:r>
            <a:r>
              <a:rPr kumimoji="0" lang="en-US" sz="1100" b="1" i="0" u="none" strike="noStrike" kern="1200" cap="none" spc="0" normalizeH="0" baseline="0" noProof="0">
                <a:ln>
                  <a:noFill/>
                </a:ln>
                <a:solidFill>
                  <a:srgbClr val="000000"/>
                </a:solidFill>
                <a:effectLst/>
                <a:uLnTx/>
                <a:uFillTx/>
                <a:latin typeface="Scotia"/>
                <a:ea typeface="+mn-ea"/>
                <a:cs typeface="+mn-cs"/>
              </a:rPr>
              <a:t>execute and realize benefits</a:t>
            </a:r>
            <a:r>
              <a:rPr kumimoji="0" lang="en-US" sz="1100" b="0" i="0" u="none" strike="noStrike" kern="1200" cap="none" spc="0" normalizeH="0" baseline="0" noProof="0">
                <a:ln>
                  <a:noFill/>
                </a:ln>
                <a:solidFill>
                  <a:srgbClr val="000000"/>
                </a:solidFill>
                <a:effectLst/>
                <a:uLnTx/>
                <a:uFillTx/>
                <a:latin typeface="Scotia"/>
                <a:ea typeface="+mn-ea"/>
                <a:cs typeface="+mn-cs"/>
              </a:rPr>
              <a:t>, particularly Project Clarity and our digital customer experience</a:t>
            </a:r>
          </a:p>
        </p:txBody>
      </p:sp>
      <p:sp>
        <p:nvSpPr>
          <p:cNvPr id="80" name="TextBox 79">
            <a:extLst>
              <a:ext uri="{FF2B5EF4-FFF2-40B4-BE49-F238E27FC236}">
                <a16:creationId xmlns:a16="http://schemas.microsoft.com/office/drawing/2014/main" id="{3A2684F7-E4F7-ACD8-D5CA-D3CD95CA0746}"/>
              </a:ext>
            </a:extLst>
          </p:cNvPr>
          <p:cNvSpPr txBox="1"/>
          <p:nvPr/>
        </p:nvSpPr>
        <p:spPr>
          <a:xfrm>
            <a:off x="2775813" y="3403664"/>
            <a:ext cx="296553" cy="1280160"/>
          </a:xfrm>
          <a:prstGeom prst="rect">
            <a:avLst/>
          </a:prstGeom>
          <a:solidFill>
            <a:srgbClr val="EC111A"/>
          </a:solidFill>
        </p:spPr>
        <p:txBody>
          <a:bodyPr vert="vert270"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300" normalizeH="0" baseline="0" noProof="0">
                <a:ln>
                  <a:noFill/>
                </a:ln>
                <a:solidFill>
                  <a:srgbClr val="FFFFFF"/>
                </a:solidFill>
                <a:effectLst/>
                <a:uLnTx/>
                <a:uFillTx/>
                <a:latin typeface="Scotia"/>
                <a:ea typeface="+mn-ea"/>
                <a:cs typeface="+mn-cs"/>
              </a:rPr>
              <a:t>WEALTH</a:t>
            </a:r>
          </a:p>
        </p:txBody>
      </p:sp>
      <p:sp>
        <p:nvSpPr>
          <p:cNvPr id="28" name="Text Placeholder 48">
            <a:extLst>
              <a:ext uri="{FF2B5EF4-FFF2-40B4-BE49-F238E27FC236}">
                <a16:creationId xmlns:a16="http://schemas.microsoft.com/office/drawing/2014/main" id="{03873DAE-DEAA-B3A5-0CF6-C93B146A45C3}"/>
              </a:ext>
            </a:extLst>
          </p:cNvPr>
          <p:cNvSpPr txBox="1">
            <a:spLocks/>
          </p:cNvSpPr>
          <p:nvPr/>
        </p:nvSpPr>
        <p:spPr>
          <a:xfrm>
            <a:off x="2775813" y="1678154"/>
            <a:ext cx="4963705" cy="192024"/>
          </a:xfrm>
          <a:prstGeom prst="rect">
            <a:avLst/>
          </a:prstGeom>
        </p:spPr>
        <p:txBody>
          <a:bodyPr vert="horz" lIns="0" tIns="0" rIns="0" bIns="0" rtlCol="0" anchor="ctr">
            <a:noAutofit/>
          </a:bodyPr>
          <a:lstStyle>
            <a:defPPr>
              <a:defRPr lang="en-US"/>
            </a:defPPr>
            <a:lvl1pPr>
              <a:spcBef>
                <a:spcPts val="600"/>
              </a:spcBef>
              <a:buClr>
                <a:schemeClr val="tx1"/>
              </a:buClr>
              <a:defRPr sz="1300" b="1" cap="all" spc="200">
                <a:solidFill>
                  <a:srgbClr val="EC111A"/>
                </a:solidFill>
              </a:defRPr>
            </a:lvl1pPr>
            <a:lvl2pPr marL="685800" indent="-228600"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2pPr>
            <a:lvl3pPr marL="1143000" indent="-22860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1600200" indent="-228600" algn="l" defTabSz="914400" rtl="0" eaLnBrk="1" latinLnBrk="0" hangingPunct="1">
              <a:lnSpc>
                <a:spcPct val="100000"/>
              </a:lnSpc>
              <a:spcBef>
                <a:spcPts val="600"/>
              </a:spcBef>
              <a:buClr>
                <a:schemeClr val="tx1"/>
              </a:buClr>
              <a:buFont typeface="Arial" panose="020B0604020202020204" pitchFamily="34" charset="0"/>
              <a:buChar char="•"/>
              <a:defRPr sz="1050" kern="1200">
                <a:solidFill>
                  <a:schemeClr val="tx1"/>
                </a:solidFill>
                <a:latin typeface="+mn-lt"/>
                <a:ea typeface="+mn-ea"/>
                <a:cs typeface="+mn-cs"/>
              </a:defRPr>
            </a:lvl4pPr>
            <a:lvl5pPr marL="2057400" indent="-228600" algn="l" defTabSz="914400" rtl="0" eaLnBrk="1" latinLnBrk="0" hangingPunct="1">
              <a:lnSpc>
                <a:spcPct val="100000"/>
              </a:lnSpc>
              <a:spcBef>
                <a:spcPts val="600"/>
              </a:spcBef>
              <a:buClr>
                <a:schemeClr val="tx1"/>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55" rtl="0" eaLnBrk="1" fontAlgn="auto" latinLnBrk="0" hangingPunct="1">
              <a:lnSpc>
                <a:spcPct val="100000"/>
              </a:lnSpc>
              <a:spcBef>
                <a:spcPts val="600"/>
              </a:spcBef>
              <a:spcAft>
                <a:spcPts val="0"/>
              </a:spcAft>
              <a:buClr>
                <a:srgbClr val="000000"/>
              </a:buClr>
              <a:buSzTx/>
              <a:buFontTx/>
              <a:buNone/>
              <a:tabLst/>
              <a:defRPr/>
            </a:pPr>
            <a:r>
              <a:rPr kumimoji="0" lang="en-CA" sz="1100" b="1" i="0" u="none" strike="noStrike" kern="1200" cap="all" spc="200" normalizeH="0" baseline="0" noProof="0">
                <a:ln>
                  <a:noFill/>
                </a:ln>
                <a:solidFill>
                  <a:srgbClr val="000000"/>
                </a:solidFill>
                <a:effectLst/>
                <a:uLnTx/>
                <a:uFillTx/>
                <a:latin typeface="Scotia"/>
                <a:ea typeface="+mn-ea"/>
                <a:cs typeface="+mn-cs"/>
              </a:rPr>
              <a:t>LONG-TERM INITIATIVES in design / UNDERWAY </a:t>
            </a:r>
          </a:p>
        </p:txBody>
      </p:sp>
      <p:sp>
        <p:nvSpPr>
          <p:cNvPr id="64" name="Rectangle 63">
            <a:extLst>
              <a:ext uri="{FF2B5EF4-FFF2-40B4-BE49-F238E27FC236}">
                <a16:creationId xmlns:a16="http://schemas.microsoft.com/office/drawing/2014/main" id="{D5266B4E-4B32-9231-BA2E-B7DB2D538772}"/>
              </a:ext>
            </a:extLst>
          </p:cNvPr>
          <p:cNvSpPr/>
          <p:nvPr/>
        </p:nvSpPr>
        <p:spPr>
          <a:xfrm>
            <a:off x="3172204" y="3398325"/>
            <a:ext cx="274320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iTRADE Strategy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Accelerate growth by enhancing foundational capabilities &amp; building differentiators</a:t>
            </a:r>
          </a:p>
        </p:txBody>
      </p:sp>
      <p:sp>
        <p:nvSpPr>
          <p:cNvPr id="76" name="Rectangle 75">
            <a:extLst>
              <a:ext uri="{FF2B5EF4-FFF2-40B4-BE49-F238E27FC236}">
                <a16:creationId xmlns:a16="http://schemas.microsoft.com/office/drawing/2014/main" id="{7120E8C5-CCF6-89B9-71A3-A3F038B42C75}"/>
              </a:ext>
            </a:extLst>
          </p:cNvPr>
          <p:cNvSpPr/>
          <p:nvPr/>
        </p:nvSpPr>
        <p:spPr>
          <a:xfrm>
            <a:off x="3172205" y="4846758"/>
            <a:ext cx="8528499" cy="1280160"/>
          </a:xfrm>
          <a:prstGeom prst="rect">
            <a:avLst/>
          </a:prstGeom>
          <a:noFill/>
          <a:ln>
            <a:solidFill>
              <a:srgbClr val="F05329"/>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Project Clarity</a:t>
            </a:r>
          </a:p>
        </p:txBody>
      </p:sp>
      <p:sp>
        <p:nvSpPr>
          <p:cNvPr id="84" name="TextBox 83">
            <a:extLst>
              <a:ext uri="{FF2B5EF4-FFF2-40B4-BE49-F238E27FC236}">
                <a16:creationId xmlns:a16="http://schemas.microsoft.com/office/drawing/2014/main" id="{71C9C185-D356-265B-AAE4-C27D8FD013B7}"/>
              </a:ext>
            </a:extLst>
          </p:cNvPr>
          <p:cNvSpPr txBox="1"/>
          <p:nvPr/>
        </p:nvSpPr>
        <p:spPr>
          <a:xfrm>
            <a:off x="2775813" y="1967468"/>
            <a:ext cx="296553" cy="1280160"/>
          </a:xfrm>
          <a:prstGeom prst="rect">
            <a:avLst/>
          </a:prstGeom>
          <a:solidFill>
            <a:srgbClr val="EC111A"/>
          </a:solidFill>
        </p:spPr>
        <p:txBody>
          <a:bodyPr vert="vert270"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300" normalizeH="0" baseline="0" noProof="0">
                <a:ln>
                  <a:noFill/>
                </a:ln>
                <a:solidFill>
                  <a:srgbClr val="FFFFFF"/>
                </a:solidFill>
                <a:effectLst/>
                <a:uLnTx/>
                <a:uFillTx/>
                <a:latin typeface="Scotia"/>
                <a:ea typeface="+mn-ea"/>
                <a:cs typeface="+mn-cs"/>
              </a:rPr>
              <a:t>RETAIL</a:t>
            </a:r>
          </a:p>
        </p:txBody>
      </p:sp>
      <p:sp>
        <p:nvSpPr>
          <p:cNvPr id="88" name="TextBox 87">
            <a:extLst>
              <a:ext uri="{FF2B5EF4-FFF2-40B4-BE49-F238E27FC236}">
                <a16:creationId xmlns:a16="http://schemas.microsoft.com/office/drawing/2014/main" id="{7C9936E5-F9B1-F6DD-9F84-77C13641D16E}"/>
              </a:ext>
            </a:extLst>
          </p:cNvPr>
          <p:cNvSpPr txBox="1"/>
          <p:nvPr/>
        </p:nvSpPr>
        <p:spPr>
          <a:xfrm>
            <a:off x="2775813" y="4846758"/>
            <a:ext cx="296553" cy="1280160"/>
          </a:xfrm>
          <a:prstGeom prst="rect">
            <a:avLst/>
          </a:prstGeom>
          <a:solidFill>
            <a:srgbClr val="EE8447"/>
          </a:solidFill>
        </p:spPr>
        <p:txBody>
          <a:bodyPr vert="vert270"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300" normalizeH="0" baseline="0" noProof="0">
                <a:ln>
                  <a:noFill/>
                </a:ln>
                <a:solidFill>
                  <a:srgbClr val="FFFFFF"/>
                </a:solidFill>
                <a:effectLst/>
                <a:uLnTx/>
                <a:uFillTx/>
                <a:latin typeface="Scotia"/>
                <a:ea typeface="+mn-ea"/>
                <a:cs typeface="+mn-cs"/>
              </a:rPr>
              <a:t>TANGERINE</a:t>
            </a:r>
          </a:p>
        </p:txBody>
      </p:sp>
      <p:sp>
        <p:nvSpPr>
          <p:cNvPr id="94" name="Rectangle 93">
            <a:extLst>
              <a:ext uri="{FF2B5EF4-FFF2-40B4-BE49-F238E27FC236}">
                <a16:creationId xmlns:a16="http://schemas.microsoft.com/office/drawing/2014/main" id="{7EF7982F-DC53-33F3-9A5E-8FD30236283F}"/>
              </a:ext>
            </a:extLst>
          </p:cNvPr>
          <p:cNvSpPr/>
          <p:nvPr/>
        </p:nvSpPr>
        <p:spPr>
          <a:xfrm>
            <a:off x="3277633" y="350776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96" name="Rectangle 95">
            <a:extLst>
              <a:ext uri="{FF2B5EF4-FFF2-40B4-BE49-F238E27FC236}">
                <a16:creationId xmlns:a16="http://schemas.microsoft.com/office/drawing/2014/main" id="{52543324-89A2-ADAB-CAB2-178CC950C262}"/>
              </a:ext>
            </a:extLst>
          </p:cNvPr>
          <p:cNvSpPr/>
          <p:nvPr/>
        </p:nvSpPr>
        <p:spPr>
          <a:xfrm>
            <a:off x="3277633" y="5134864"/>
            <a:ext cx="362297" cy="365760"/>
          </a:xfrm>
          <a:prstGeom prst="rect">
            <a:avLst/>
          </a:prstGeom>
          <a:solidFill>
            <a:srgbClr val="EE8447"/>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8" name="Rectangle 77">
            <a:extLst>
              <a:ext uri="{FF2B5EF4-FFF2-40B4-BE49-F238E27FC236}">
                <a16:creationId xmlns:a16="http://schemas.microsoft.com/office/drawing/2014/main" id="{81DB9CF0-CF6A-E37E-C34F-118451F39EC4}"/>
              </a:ext>
            </a:extLst>
          </p:cNvPr>
          <p:cNvSpPr/>
          <p:nvPr/>
        </p:nvSpPr>
        <p:spPr>
          <a:xfrm>
            <a:off x="2993096" y="6196150"/>
            <a:ext cx="5760720" cy="1785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1" i="0" u="none" strike="noStrike" kern="1200" cap="none" spc="0" normalizeH="0" baseline="0" noProof="0">
                <a:ln>
                  <a:noFill/>
                </a:ln>
                <a:solidFill>
                  <a:srgbClr val="EC111A"/>
                </a:solidFill>
                <a:effectLst/>
                <a:uLnTx/>
                <a:uFillTx/>
                <a:latin typeface="Scotia"/>
                <a:ea typeface="+mn-ea"/>
                <a:cs typeface="+mn-cs"/>
              </a:rPr>
              <a:t>See appendix for more detail on strategic initiatives</a:t>
            </a:r>
          </a:p>
        </p:txBody>
      </p:sp>
      <p:pic>
        <p:nvPicPr>
          <p:cNvPr id="81" name="Graphic 80" descr="Online meeting outline">
            <a:extLst>
              <a:ext uri="{FF2B5EF4-FFF2-40B4-BE49-F238E27FC236}">
                <a16:creationId xmlns:a16="http://schemas.microsoft.com/office/drawing/2014/main" id="{565F0478-946B-2408-9C3B-DAC5DF1A4CB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302774" y="3534635"/>
            <a:ext cx="312015" cy="312015"/>
          </a:xfrm>
          <a:prstGeom prst="rect">
            <a:avLst/>
          </a:prstGeom>
        </p:spPr>
      </p:pic>
      <p:grpSp>
        <p:nvGrpSpPr>
          <p:cNvPr id="57" name="Group 56">
            <a:extLst>
              <a:ext uri="{FF2B5EF4-FFF2-40B4-BE49-F238E27FC236}">
                <a16:creationId xmlns:a16="http://schemas.microsoft.com/office/drawing/2014/main" id="{6FC1AEF1-C60C-D77E-B081-BE10B1A6A4FF}"/>
              </a:ext>
            </a:extLst>
          </p:cNvPr>
          <p:cNvGrpSpPr/>
          <p:nvPr/>
        </p:nvGrpSpPr>
        <p:grpSpPr>
          <a:xfrm>
            <a:off x="8957504" y="3398325"/>
            <a:ext cx="2743200" cy="1280160"/>
            <a:chOff x="6064854" y="3398325"/>
            <a:chExt cx="2743200" cy="1280160"/>
          </a:xfrm>
        </p:grpSpPr>
        <p:grpSp>
          <p:nvGrpSpPr>
            <p:cNvPr id="56" name="Group 55">
              <a:extLst>
                <a:ext uri="{FF2B5EF4-FFF2-40B4-BE49-F238E27FC236}">
                  <a16:creationId xmlns:a16="http://schemas.microsoft.com/office/drawing/2014/main" id="{E67B070B-3EB3-555F-ADFC-436DC2F13569}"/>
                </a:ext>
              </a:extLst>
            </p:cNvPr>
            <p:cNvGrpSpPr/>
            <p:nvPr/>
          </p:nvGrpSpPr>
          <p:grpSpPr>
            <a:xfrm>
              <a:off x="6064854" y="3398325"/>
              <a:ext cx="2743200" cy="1280160"/>
              <a:chOff x="6064854" y="3398325"/>
              <a:chExt cx="2743200" cy="1280160"/>
            </a:xfrm>
          </p:grpSpPr>
          <p:sp>
            <p:nvSpPr>
              <p:cNvPr id="75" name="Rectangle 74">
                <a:extLst>
                  <a:ext uri="{FF2B5EF4-FFF2-40B4-BE49-F238E27FC236}">
                    <a16:creationId xmlns:a16="http://schemas.microsoft.com/office/drawing/2014/main" id="{CBB8F69D-0223-3A98-695C-FB7CB666F315}"/>
                  </a:ext>
                </a:extLst>
              </p:cNvPr>
              <p:cNvSpPr/>
              <p:nvPr/>
            </p:nvSpPr>
            <p:spPr>
              <a:xfrm>
                <a:off x="6064854" y="3398325"/>
                <a:ext cx="274320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18288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Next-Gen Strategy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Win the next-generation of wealth clients through tailored offerings and servicing</a:t>
                </a:r>
              </a:p>
            </p:txBody>
          </p:sp>
          <p:sp>
            <p:nvSpPr>
              <p:cNvPr id="95" name="Rectangle 94">
                <a:extLst>
                  <a:ext uri="{FF2B5EF4-FFF2-40B4-BE49-F238E27FC236}">
                    <a16:creationId xmlns:a16="http://schemas.microsoft.com/office/drawing/2014/main" id="{4566B6B7-48C1-9CC6-75D5-359FF7CE71DB}"/>
                  </a:ext>
                </a:extLst>
              </p:cNvPr>
              <p:cNvSpPr/>
              <p:nvPr/>
            </p:nvSpPr>
            <p:spPr>
              <a:xfrm>
                <a:off x="6165761" y="350776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grpSp>
        <p:pic>
          <p:nvPicPr>
            <p:cNvPr id="82" name="Graphic 81">
              <a:extLst>
                <a:ext uri="{FF2B5EF4-FFF2-40B4-BE49-F238E27FC236}">
                  <a16:creationId xmlns:a16="http://schemas.microsoft.com/office/drawing/2014/main" id="{9AE2FF4B-CF30-65C0-FD70-F39186FE0E0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220995" y="3565132"/>
              <a:ext cx="258193" cy="251020"/>
            </a:xfrm>
            <a:prstGeom prst="rect">
              <a:avLst/>
            </a:prstGeom>
          </p:spPr>
        </p:pic>
      </p:grpSp>
      <p:pic>
        <p:nvPicPr>
          <p:cNvPr id="87" name="Picture 4" descr="Tangerine Reviews | Read Customer Service Reviews of tangerine.ca">
            <a:extLst>
              <a:ext uri="{FF2B5EF4-FFF2-40B4-BE49-F238E27FC236}">
                <a16:creationId xmlns:a16="http://schemas.microsoft.com/office/drawing/2014/main" id="{44C7C931-24ED-7BDF-AA2F-23AEB706EF7F}"/>
              </a:ext>
            </a:extLst>
          </p:cNvPr>
          <p:cNvPicPr>
            <a:picLocks noChangeAspect="1" noChangeArrowheads="1"/>
          </p:cNvPicPr>
          <p:nvPr/>
        </p:nvPicPr>
        <p:blipFill>
          <a:blip r:embed="rId8">
            <a:biLevel thresh="25000"/>
            <a:extLst>
              <a:ext uri="{28A0092B-C50C-407E-A947-70E740481C1C}">
                <a14:useLocalDpi xmlns:a14="http://schemas.microsoft.com/office/drawing/2010/main" val="0"/>
              </a:ext>
            </a:extLst>
          </a:blip>
          <a:srcRect/>
          <a:stretch>
            <a:fillRect/>
          </a:stretch>
        </p:blipFill>
        <p:spPr bwMode="auto">
          <a:xfrm>
            <a:off x="3378455" y="5237418"/>
            <a:ext cx="160653" cy="160653"/>
          </a:xfrm>
          <a:prstGeom prst="rect">
            <a:avLst/>
          </a:prstGeom>
          <a:noFill/>
          <a:extLst>
            <a:ext uri="{909E8E84-426E-40DD-AFC4-6F175D3DCCD1}">
              <a14:hiddenFill xmlns:a14="http://schemas.microsoft.com/office/drawing/2010/main">
                <a:solidFill>
                  <a:srgbClr val="FFFFFF"/>
                </a:solidFill>
              </a14:hiddenFill>
            </a:ext>
          </a:extLst>
        </p:spPr>
      </p:pic>
      <p:grpSp>
        <p:nvGrpSpPr>
          <p:cNvPr id="59" name="Group 58">
            <a:extLst>
              <a:ext uri="{FF2B5EF4-FFF2-40B4-BE49-F238E27FC236}">
                <a16:creationId xmlns:a16="http://schemas.microsoft.com/office/drawing/2014/main" id="{D170393B-7E5C-F737-9063-923F187ECF41}"/>
              </a:ext>
            </a:extLst>
          </p:cNvPr>
          <p:cNvGrpSpPr/>
          <p:nvPr/>
        </p:nvGrpSpPr>
        <p:grpSpPr>
          <a:xfrm>
            <a:off x="6611641" y="1967468"/>
            <a:ext cx="1634280" cy="1280160"/>
            <a:chOff x="4884249" y="1967468"/>
            <a:chExt cx="1634280" cy="1280160"/>
          </a:xfrm>
        </p:grpSpPr>
        <p:sp>
          <p:nvSpPr>
            <p:cNvPr id="27" name="Rectangle 26">
              <a:extLst>
                <a:ext uri="{FF2B5EF4-FFF2-40B4-BE49-F238E27FC236}">
                  <a16:creationId xmlns:a16="http://schemas.microsoft.com/office/drawing/2014/main" id="{4AE87932-A07B-6544-1146-9EFAA6D7F04F}"/>
                </a:ext>
              </a:extLst>
            </p:cNvPr>
            <p:cNvSpPr/>
            <p:nvPr/>
          </p:nvSpPr>
          <p:spPr>
            <a:xfrm>
              <a:off x="4884249" y="1967468"/>
              <a:ext cx="163428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Channel strategy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Putting the right channel in front of the right client</a:t>
              </a:r>
            </a:p>
          </p:txBody>
        </p:sp>
        <p:sp>
          <p:nvSpPr>
            <p:cNvPr id="91" name="Rectangle 90">
              <a:extLst>
                <a:ext uri="{FF2B5EF4-FFF2-40B4-BE49-F238E27FC236}">
                  <a16:creationId xmlns:a16="http://schemas.microsoft.com/office/drawing/2014/main" id="{4C3D6685-033A-3BAA-3B11-2839BFBE206A}"/>
                </a:ext>
              </a:extLst>
            </p:cNvPr>
            <p:cNvSpPr/>
            <p:nvPr/>
          </p:nvSpPr>
          <p:spPr>
            <a:xfrm>
              <a:off x="5001043" y="206434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77" name="Graphic 76">
              <a:extLst>
                <a:ext uri="{FF2B5EF4-FFF2-40B4-BE49-F238E27FC236}">
                  <a16:creationId xmlns:a16="http://schemas.microsoft.com/office/drawing/2014/main" id="{44031E3D-D197-1B3A-D0F7-E7DCD3122A13}"/>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045491" y="2110765"/>
              <a:ext cx="270330" cy="272914"/>
            </a:xfrm>
            <a:prstGeom prst="rect">
              <a:avLst/>
            </a:prstGeom>
          </p:spPr>
        </p:pic>
      </p:grpSp>
      <p:grpSp>
        <p:nvGrpSpPr>
          <p:cNvPr id="60" name="Group 59">
            <a:extLst>
              <a:ext uri="{FF2B5EF4-FFF2-40B4-BE49-F238E27FC236}">
                <a16:creationId xmlns:a16="http://schemas.microsoft.com/office/drawing/2014/main" id="{3A3A35F9-780D-9DE4-F7F3-D89B5836CB31}"/>
              </a:ext>
            </a:extLst>
          </p:cNvPr>
          <p:cNvGrpSpPr/>
          <p:nvPr/>
        </p:nvGrpSpPr>
        <p:grpSpPr>
          <a:xfrm>
            <a:off x="4884249" y="1967468"/>
            <a:ext cx="1634280" cy="1280160"/>
            <a:chOff x="3156857" y="1967468"/>
            <a:chExt cx="1634280" cy="1280160"/>
          </a:xfrm>
        </p:grpSpPr>
        <p:sp>
          <p:nvSpPr>
            <p:cNvPr id="110" name="Rectangle 109">
              <a:extLst>
                <a:ext uri="{FF2B5EF4-FFF2-40B4-BE49-F238E27FC236}">
                  <a16:creationId xmlns:a16="http://schemas.microsoft.com/office/drawing/2014/main" id="{FA3822C3-73FB-730C-3A90-FD128516CB8B}"/>
                </a:ext>
              </a:extLst>
            </p:cNvPr>
            <p:cNvSpPr/>
            <p:nvPr/>
          </p:nvSpPr>
          <p:spPr>
            <a:xfrm>
              <a:off x="3156857" y="1967468"/>
              <a:ext cx="163428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Client segmentation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Tiering that rewards all-bank relationships</a:t>
              </a:r>
            </a:p>
          </p:txBody>
        </p:sp>
        <p:sp>
          <p:nvSpPr>
            <p:cNvPr id="90" name="Rectangle 89">
              <a:extLst>
                <a:ext uri="{FF2B5EF4-FFF2-40B4-BE49-F238E27FC236}">
                  <a16:creationId xmlns:a16="http://schemas.microsoft.com/office/drawing/2014/main" id="{7F0F6529-35B7-BB9E-EF40-E0E760021284}"/>
                </a:ext>
              </a:extLst>
            </p:cNvPr>
            <p:cNvSpPr/>
            <p:nvPr/>
          </p:nvSpPr>
          <p:spPr>
            <a:xfrm>
              <a:off x="3277633" y="206434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79" name="Shape 2580">
              <a:extLst>
                <a:ext uri="{FF2B5EF4-FFF2-40B4-BE49-F238E27FC236}">
                  <a16:creationId xmlns:a16="http://schemas.microsoft.com/office/drawing/2014/main" id="{1F4FC13E-F469-B252-4D21-3A5ECBCEC9CE}"/>
                </a:ext>
              </a:extLst>
            </p:cNvPr>
            <p:cNvSpPr/>
            <p:nvPr/>
          </p:nvSpPr>
          <p:spPr>
            <a:xfrm>
              <a:off x="3346499" y="2122531"/>
              <a:ext cx="224564" cy="249382"/>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chemeClr val="bg1"/>
            </a:solidFill>
            <a:ln w="12700">
              <a:noFill/>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grpSp>
      <p:sp>
        <p:nvSpPr>
          <p:cNvPr id="14" name="Rectangle 13">
            <a:extLst>
              <a:ext uri="{FF2B5EF4-FFF2-40B4-BE49-F238E27FC236}">
                <a16:creationId xmlns:a16="http://schemas.microsoft.com/office/drawing/2014/main" id="{9EA91632-651A-978F-94C7-6193EEC01D11}"/>
              </a:ext>
            </a:extLst>
          </p:cNvPr>
          <p:cNvSpPr/>
          <p:nvPr/>
        </p:nvSpPr>
        <p:spPr>
          <a:xfrm>
            <a:off x="8339033" y="1967468"/>
            <a:ext cx="163428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Cards &amp; Loyalty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Refreshing credit card </a:t>
            </a:r>
            <a:br>
              <a:rPr kumimoji="0" lang="en-CA" sz="1000" b="0" i="0" u="none" strike="noStrike" kern="1200" cap="none" spc="0" normalizeH="0" baseline="0" noProof="0">
                <a:ln>
                  <a:noFill/>
                </a:ln>
                <a:solidFill>
                  <a:srgbClr val="000000"/>
                </a:solidFill>
                <a:effectLst/>
                <a:uLnTx/>
                <a:uFillTx/>
                <a:latin typeface="Scotia"/>
                <a:ea typeface="+mn-ea"/>
                <a:cs typeface="+mn-cs"/>
              </a:rPr>
            </a:br>
            <a:r>
              <a:rPr kumimoji="0" lang="en-CA" sz="1000" b="0" i="0" u="none" strike="noStrike" kern="1200" cap="none" spc="0" normalizeH="0" baseline="0" noProof="0">
                <a:ln>
                  <a:noFill/>
                </a:ln>
                <a:solidFill>
                  <a:srgbClr val="000000"/>
                </a:solidFill>
                <a:effectLst/>
                <a:uLnTx/>
                <a:uFillTx/>
                <a:latin typeface="Scotia"/>
                <a:ea typeface="+mn-ea"/>
                <a:cs typeface="+mn-cs"/>
              </a:rPr>
              <a:t>3–5-year growth strategy</a:t>
            </a:r>
          </a:p>
        </p:txBody>
      </p:sp>
      <p:sp>
        <p:nvSpPr>
          <p:cNvPr id="17" name="Rectangle 16">
            <a:extLst>
              <a:ext uri="{FF2B5EF4-FFF2-40B4-BE49-F238E27FC236}">
                <a16:creationId xmlns:a16="http://schemas.microsoft.com/office/drawing/2014/main" id="{CCCF1D2B-0D82-9A84-C8FC-D6F4DBEA1AA6}"/>
              </a:ext>
            </a:extLst>
          </p:cNvPr>
          <p:cNvSpPr/>
          <p:nvPr/>
        </p:nvSpPr>
        <p:spPr>
          <a:xfrm>
            <a:off x="8447861" y="206434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sp>
        <p:nvSpPr>
          <p:cNvPr id="21" name="Rectangle 20">
            <a:extLst>
              <a:ext uri="{FF2B5EF4-FFF2-40B4-BE49-F238E27FC236}">
                <a16:creationId xmlns:a16="http://schemas.microsoft.com/office/drawing/2014/main" id="{AD7502FA-3253-9AED-9A27-2E8826BF0DD9}"/>
              </a:ext>
            </a:extLst>
          </p:cNvPr>
          <p:cNvSpPr/>
          <p:nvPr/>
        </p:nvSpPr>
        <p:spPr>
          <a:xfrm>
            <a:off x="10066424" y="1967468"/>
            <a:ext cx="163428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Digital Strategy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Refining vision and optimizing op model</a:t>
            </a:r>
          </a:p>
        </p:txBody>
      </p:sp>
      <p:sp>
        <p:nvSpPr>
          <p:cNvPr id="22" name="Rectangle 21">
            <a:extLst>
              <a:ext uri="{FF2B5EF4-FFF2-40B4-BE49-F238E27FC236}">
                <a16:creationId xmlns:a16="http://schemas.microsoft.com/office/drawing/2014/main" id="{5DE63AE5-7211-E11D-A58B-D0F2C8583697}"/>
              </a:ext>
            </a:extLst>
          </p:cNvPr>
          <p:cNvSpPr/>
          <p:nvPr/>
        </p:nvSpPr>
        <p:spPr>
          <a:xfrm>
            <a:off x="10171271" y="206434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47" name="Graphic 46">
            <a:extLst>
              <a:ext uri="{FF2B5EF4-FFF2-40B4-BE49-F238E27FC236}">
                <a16:creationId xmlns:a16="http://schemas.microsoft.com/office/drawing/2014/main" id="{04EADF38-7A80-FFB9-F2C9-8C4A94AC4554}"/>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499912" y="2157571"/>
            <a:ext cx="258193" cy="179301"/>
          </a:xfrm>
          <a:prstGeom prst="rect">
            <a:avLst/>
          </a:prstGeom>
        </p:spPr>
      </p:pic>
      <p:pic>
        <p:nvPicPr>
          <p:cNvPr id="48" name="Graphic 47">
            <a:extLst>
              <a:ext uri="{FF2B5EF4-FFF2-40B4-BE49-F238E27FC236}">
                <a16:creationId xmlns:a16="http://schemas.microsoft.com/office/drawing/2014/main" id="{89715F30-6F80-C26C-3F79-D7C403A3A327}"/>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0269582" y="2105216"/>
            <a:ext cx="165674" cy="284012"/>
          </a:xfrm>
          <a:prstGeom prst="rect">
            <a:avLst/>
          </a:prstGeom>
        </p:spPr>
      </p:pic>
      <p:grpSp>
        <p:nvGrpSpPr>
          <p:cNvPr id="54" name="Group 53">
            <a:extLst>
              <a:ext uri="{FF2B5EF4-FFF2-40B4-BE49-F238E27FC236}">
                <a16:creationId xmlns:a16="http://schemas.microsoft.com/office/drawing/2014/main" id="{9F293DF0-F8AD-A739-55FD-F4A5958A8981}"/>
              </a:ext>
            </a:extLst>
          </p:cNvPr>
          <p:cNvGrpSpPr/>
          <p:nvPr/>
        </p:nvGrpSpPr>
        <p:grpSpPr>
          <a:xfrm>
            <a:off x="6064854" y="3398325"/>
            <a:ext cx="2743200" cy="1280160"/>
            <a:chOff x="8957504" y="3398325"/>
            <a:chExt cx="2743200" cy="1280160"/>
          </a:xfrm>
        </p:grpSpPr>
        <p:sp>
          <p:nvSpPr>
            <p:cNvPr id="24" name="Rectangle 23">
              <a:extLst>
                <a:ext uri="{FF2B5EF4-FFF2-40B4-BE49-F238E27FC236}">
                  <a16:creationId xmlns:a16="http://schemas.microsoft.com/office/drawing/2014/main" id="{F8198CFC-F30B-BDAD-F315-DD63AC91A434}"/>
                </a:ext>
              </a:extLst>
            </p:cNvPr>
            <p:cNvSpPr/>
            <p:nvPr/>
          </p:nvSpPr>
          <p:spPr>
            <a:xfrm>
              <a:off x="8957504" y="3398325"/>
              <a:ext cx="274320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18288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Scotia Financial Planning Strategy</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Enhancing investments product shelf and operational capabilities</a:t>
              </a:r>
            </a:p>
          </p:txBody>
        </p:sp>
        <p:sp>
          <p:nvSpPr>
            <p:cNvPr id="25" name="Rectangle 24">
              <a:extLst>
                <a:ext uri="{FF2B5EF4-FFF2-40B4-BE49-F238E27FC236}">
                  <a16:creationId xmlns:a16="http://schemas.microsoft.com/office/drawing/2014/main" id="{B171D2A1-2DF7-28C0-5A37-110476B9376B}"/>
                </a:ext>
              </a:extLst>
            </p:cNvPr>
            <p:cNvSpPr/>
            <p:nvPr/>
          </p:nvSpPr>
          <p:spPr>
            <a:xfrm>
              <a:off x="9053890" y="350776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50" name="Graphic 49">
              <a:extLst>
                <a:ext uri="{FF2B5EF4-FFF2-40B4-BE49-F238E27FC236}">
                  <a16:creationId xmlns:a16="http://schemas.microsoft.com/office/drawing/2014/main" id="{05B338E3-40F4-8237-B230-B0DC52D9F8B0}"/>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9127459" y="3561546"/>
              <a:ext cx="215159" cy="258193"/>
            </a:xfrm>
            <a:prstGeom prst="rect">
              <a:avLst/>
            </a:prstGeom>
          </p:spPr>
        </p:pic>
      </p:grpSp>
      <p:grpSp>
        <p:nvGrpSpPr>
          <p:cNvPr id="58" name="Group 57">
            <a:extLst>
              <a:ext uri="{FF2B5EF4-FFF2-40B4-BE49-F238E27FC236}">
                <a16:creationId xmlns:a16="http://schemas.microsoft.com/office/drawing/2014/main" id="{4FDE67DD-7095-38BA-9B64-AB30B6A02D7A}"/>
              </a:ext>
            </a:extLst>
          </p:cNvPr>
          <p:cNvGrpSpPr/>
          <p:nvPr/>
        </p:nvGrpSpPr>
        <p:grpSpPr>
          <a:xfrm>
            <a:off x="3156857" y="1967468"/>
            <a:ext cx="1634280" cy="1280160"/>
            <a:chOff x="6611641" y="1967468"/>
            <a:chExt cx="1634280" cy="1280160"/>
          </a:xfrm>
        </p:grpSpPr>
        <p:sp>
          <p:nvSpPr>
            <p:cNvPr id="13" name="Rectangle 12">
              <a:extLst>
                <a:ext uri="{FF2B5EF4-FFF2-40B4-BE49-F238E27FC236}">
                  <a16:creationId xmlns:a16="http://schemas.microsoft.com/office/drawing/2014/main" id="{63CF08CA-4883-D994-884D-CDBB73868D55}"/>
                </a:ext>
              </a:extLst>
            </p:cNvPr>
            <p:cNvSpPr/>
            <p:nvPr/>
          </p:nvSpPr>
          <p:spPr>
            <a:xfrm>
              <a:off x="6611641" y="1967468"/>
              <a:ext cx="1634280" cy="128016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548640" rIns="91440" bIns="9144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200" b="1" i="0" u="none" strike="noStrike" kern="1200" cap="none" spc="0" normalizeH="0" baseline="0" noProof="0">
                  <a:ln>
                    <a:noFill/>
                  </a:ln>
                  <a:solidFill>
                    <a:srgbClr val="000000"/>
                  </a:solidFill>
                  <a:effectLst/>
                  <a:uLnTx/>
                  <a:uFillTx/>
                  <a:latin typeface="Scotia"/>
                  <a:ea typeface="+mn-ea"/>
                  <a:cs typeface="+mn-cs"/>
                </a:rPr>
                <a:t>Primacy Must-Win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Driving deeper client relationships in Canada</a:t>
              </a:r>
            </a:p>
          </p:txBody>
        </p:sp>
        <p:sp>
          <p:nvSpPr>
            <p:cNvPr id="15" name="Rectangle 14">
              <a:extLst>
                <a:ext uri="{FF2B5EF4-FFF2-40B4-BE49-F238E27FC236}">
                  <a16:creationId xmlns:a16="http://schemas.microsoft.com/office/drawing/2014/main" id="{DF4CFCF8-6817-13AD-A199-EA3E566E1E9D}"/>
                </a:ext>
              </a:extLst>
            </p:cNvPr>
            <p:cNvSpPr/>
            <p:nvPr/>
          </p:nvSpPr>
          <p:spPr>
            <a:xfrm>
              <a:off x="6724452" y="2064342"/>
              <a:ext cx="362297" cy="365760"/>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CA" sz="1000" b="0" i="0" u="none" strike="noStrike" kern="1200" cap="none" spc="0" normalizeH="0" baseline="0" noProof="0">
                <a:ln>
                  <a:noFill/>
                </a:ln>
                <a:solidFill>
                  <a:srgbClr val="000000"/>
                </a:solidFill>
                <a:effectLst/>
                <a:uLnTx/>
                <a:uFillTx/>
                <a:latin typeface="Scotia"/>
                <a:ea typeface="+mn-ea"/>
                <a:cs typeface="+mn-cs"/>
              </a:endParaRPr>
            </a:p>
          </p:txBody>
        </p:sp>
        <p:pic>
          <p:nvPicPr>
            <p:cNvPr id="52" name="Graphic 51">
              <a:extLst>
                <a:ext uri="{FF2B5EF4-FFF2-40B4-BE49-F238E27FC236}">
                  <a16:creationId xmlns:a16="http://schemas.microsoft.com/office/drawing/2014/main" id="{278D88E6-F1A1-9485-641C-F1D17122787C}"/>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6793650" y="2111038"/>
              <a:ext cx="260343" cy="260343"/>
            </a:xfrm>
            <a:prstGeom prst="rect">
              <a:avLst/>
            </a:prstGeom>
          </p:spPr>
        </p:pic>
      </p:grpSp>
      <p:sp>
        <p:nvSpPr>
          <p:cNvPr id="97" name="Rectangle 96">
            <a:extLst>
              <a:ext uri="{FF2B5EF4-FFF2-40B4-BE49-F238E27FC236}">
                <a16:creationId xmlns:a16="http://schemas.microsoft.com/office/drawing/2014/main" id="{B99609C4-9BDB-9ABC-78E4-7B66673D3494}"/>
              </a:ext>
            </a:extLst>
          </p:cNvPr>
          <p:cNvSpPr/>
          <p:nvPr/>
        </p:nvSpPr>
        <p:spPr>
          <a:xfrm>
            <a:off x="5053895" y="5220716"/>
            <a:ext cx="2070723" cy="7248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3152" tIns="180000" rIns="73152" bIns="180000" rtlCol="0" anchor="ctr"/>
          <a:lstStyle/>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Win For Today</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Building foundational capabilities i.e., bundled banking propositions</a:t>
            </a:r>
          </a:p>
        </p:txBody>
      </p:sp>
      <p:sp>
        <p:nvSpPr>
          <p:cNvPr id="98" name="Rectangle 97">
            <a:extLst>
              <a:ext uri="{FF2B5EF4-FFF2-40B4-BE49-F238E27FC236}">
                <a16:creationId xmlns:a16="http://schemas.microsoft.com/office/drawing/2014/main" id="{A8A1D229-B0F2-A0F8-6BFD-CC99C46E4CA7}"/>
              </a:ext>
            </a:extLst>
          </p:cNvPr>
          <p:cNvSpPr/>
          <p:nvPr/>
        </p:nvSpPr>
        <p:spPr>
          <a:xfrm>
            <a:off x="7228482" y="5220716"/>
            <a:ext cx="2070723" cy="7248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Next-Gen Digital Capabilities </a:t>
            </a:r>
          </a:p>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i.e., Engine, Open Architecture Wealth platform </a:t>
            </a:r>
          </a:p>
        </p:txBody>
      </p:sp>
      <p:sp>
        <p:nvSpPr>
          <p:cNvPr id="99" name="Rectangle 98">
            <a:extLst>
              <a:ext uri="{FF2B5EF4-FFF2-40B4-BE49-F238E27FC236}">
                <a16:creationId xmlns:a16="http://schemas.microsoft.com/office/drawing/2014/main" id="{E8D5E120-9235-7B4F-8527-BDF804B1D4A1}"/>
              </a:ext>
            </a:extLst>
          </p:cNvPr>
          <p:cNvSpPr/>
          <p:nvPr/>
        </p:nvSpPr>
        <p:spPr>
          <a:xfrm>
            <a:off x="9403070" y="5220716"/>
            <a:ext cx="2070723" cy="7248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CA" sz="1100" b="1" i="0" u="none" strike="noStrike" kern="1200" cap="none" spc="0" normalizeH="0" baseline="0" noProof="0">
                <a:ln>
                  <a:noFill/>
                </a:ln>
                <a:solidFill>
                  <a:srgbClr val="000000"/>
                </a:solidFill>
                <a:effectLst/>
                <a:uLnTx/>
                <a:uFillTx/>
                <a:latin typeface="Scotia"/>
                <a:ea typeface="+mn-ea"/>
                <a:cs typeface="+mn-cs"/>
              </a:rPr>
              <a:t>Strategic Extensions</a:t>
            </a:r>
          </a:p>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CA" sz="1000" b="0" i="0" u="none" strike="noStrike" kern="1200" cap="none" spc="0" normalizeH="0" baseline="0" noProof="0">
                <a:ln>
                  <a:noFill/>
                </a:ln>
                <a:solidFill>
                  <a:srgbClr val="000000"/>
                </a:solidFill>
                <a:effectLst/>
                <a:uLnTx/>
                <a:uFillTx/>
                <a:latin typeface="Scotia"/>
                <a:ea typeface="+mn-ea"/>
                <a:cs typeface="+mn-cs"/>
              </a:rPr>
              <a:t>Digital wealth, SME Capabilities </a:t>
            </a:r>
          </a:p>
        </p:txBody>
      </p:sp>
      <p:cxnSp>
        <p:nvCxnSpPr>
          <p:cNvPr id="4" name="Straight Connector 3">
            <a:extLst>
              <a:ext uri="{FF2B5EF4-FFF2-40B4-BE49-F238E27FC236}">
                <a16:creationId xmlns:a16="http://schemas.microsoft.com/office/drawing/2014/main" id="{946516C5-3973-5254-1505-690A2911A4B5}"/>
              </a:ext>
            </a:extLst>
          </p:cNvPr>
          <p:cNvCxnSpPr>
            <a:cxnSpLocks/>
          </p:cNvCxnSpPr>
          <p:nvPr/>
        </p:nvCxnSpPr>
        <p:spPr>
          <a:xfrm flipV="1">
            <a:off x="7176550" y="5264594"/>
            <a:ext cx="0" cy="637107"/>
          </a:xfrm>
          <a:prstGeom prst="line">
            <a:avLst/>
          </a:prstGeom>
          <a:ln w="12700">
            <a:solidFill>
              <a:srgbClr val="F05329"/>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8AB12C3-0B28-DE0B-D389-AC2A962389FC}"/>
              </a:ext>
            </a:extLst>
          </p:cNvPr>
          <p:cNvCxnSpPr>
            <a:cxnSpLocks/>
          </p:cNvCxnSpPr>
          <p:nvPr/>
        </p:nvCxnSpPr>
        <p:spPr>
          <a:xfrm flipV="1">
            <a:off x="9351137" y="5264594"/>
            <a:ext cx="0" cy="637107"/>
          </a:xfrm>
          <a:prstGeom prst="line">
            <a:avLst/>
          </a:prstGeom>
          <a:ln w="12700">
            <a:solidFill>
              <a:srgbClr val="F05329"/>
            </a:solidFill>
            <a:prstDash val="sysDot"/>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EB39198-FAE5-1578-2F77-86C7B233A258}"/>
              </a:ext>
            </a:extLst>
          </p:cNvPr>
          <p:cNvSpPr/>
          <p:nvPr/>
        </p:nvSpPr>
        <p:spPr>
          <a:xfrm>
            <a:off x="5005025" y="4995499"/>
            <a:ext cx="6226171" cy="1998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0000" rIns="91440" bIns="180000" rtlCol="0" anchor="ct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CA" sz="1000" b="0" i="0" u="none" strike="noStrike" kern="1200" cap="none" spc="600" normalizeH="0" baseline="0" noProof="0">
                <a:ln>
                  <a:noFill/>
                </a:ln>
                <a:solidFill>
                  <a:srgbClr val="000000"/>
                </a:solidFill>
                <a:effectLst/>
                <a:uLnTx/>
                <a:uFillTx/>
                <a:latin typeface="Scotia"/>
                <a:ea typeface="+mn-ea"/>
                <a:cs typeface="+mn-cs"/>
              </a:rPr>
              <a:t>BUSINESS PRIORITIES</a:t>
            </a:r>
            <a:endParaRPr kumimoji="0" lang="en-CA" sz="800" b="0" i="0" u="none" strike="noStrike" kern="1200" cap="none" spc="600" normalizeH="0" baseline="0" noProof="0">
              <a:ln>
                <a:noFill/>
              </a:ln>
              <a:solidFill>
                <a:srgbClr val="000000"/>
              </a:solidFill>
              <a:effectLst/>
              <a:uLnTx/>
              <a:uFillTx/>
              <a:latin typeface="Scotia"/>
              <a:ea typeface="+mn-ea"/>
              <a:cs typeface="+mn-cs"/>
            </a:endParaRPr>
          </a:p>
        </p:txBody>
      </p:sp>
      <p:sp>
        <p:nvSpPr>
          <p:cNvPr id="5" name="Slide Number Placeholder 2">
            <a:extLst>
              <a:ext uri="{FF2B5EF4-FFF2-40B4-BE49-F238E27FC236}">
                <a16:creationId xmlns:a16="http://schemas.microsoft.com/office/drawing/2014/main" id="{F097A6D6-70FC-FBE7-BFD8-8494B059E498}"/>
              </a:ext>
            </a:extLst>
          </p:cNvPr>
          <p:cNvSpPr>
            <a:spLocks noGrp="1"/>
          </p:cNvSpPr>
          <p:nvPr>
            <p:ph type="sldNum" sz="quarter" idx="10"/>
          </p:nvPr>
        </p:nvSpPr>
        <p:spPr>
          <a:xfrm>
            <a:off x="11231211" y="338582"/>
            <a:ext cx="435865" cy="1800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3" name="Rectangle 2">
            <a:extLst>
              <a:ext uri="{FF2B5EF4-FFF2-40B4-BE49-F238E27FC236}">
                <a16:creationId xmlns:a16="http://schemas.microsoft.com/office/drawing/2014/main" id="{7BD876EC-5152-816E-275F-866B6FFDC2EB}"/>
              </a:ext>
            </a:extLst>
          </p:cNvPr>
          <p:cNvSpPr/>
          <p:nvPr/>
        </p:nvSpPr>
        <p:spPr>
          <a:xfrm>
            <a:off x="10101942" y="-775"/>
            <a:ext cx="2104345" cy="31646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Scotia"/>
                <a:ea typeface="+mn-ea"/>
                <a:cs typeface="+mn-cs"/>
              </a:rPr>
              <a:t>NOT EXHAUSTIVE</a:t>
            </a:r>
          </a:p>
        </p:txBody>
      </p:sp>
    </p:spTree>
    <p:extLst>
      <p:ext uri="{BB962C8B-B14F-4D97-AF65-F5344CB8AC3E}">
        <p14:creationId xmlns:p14="http://schemas.microsoft.com/office/powerpoint/2010/main" val="40741825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7B8BCC-19FB-D130-43EB-7080D7731C6E}"/>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695A9D64-D0E9-8DE0-555E-C6CC98EDB328}"/>
              </a:ext>
            </a:extLst>
          </p:cNvPr>
          <p:cNvSpPr>
            <a:spLocks noGrp="1"/>
          </p:cNvSpPr>
          <p:nvPr>
            <p:ph type="body" sz="quarter" idx="11"/>
          </p:nvPr>
        </p:nvSpPr>
        <p:spPr/>
        <p:txBody>
          <a:bodyPr/>
          <a:lstStyle/>
          <a:p>
            <a:r>
              <a:rPr lang="en-US"/>
              <a:t>Measures of Success, Metrics, KPIs, Targets</a:t>
            </a:r>
            <a:endParaRPr lang="en-CA"/>
          </a:p>
        </p:txBody>
      </p:sp>
      <p:sp>
        <p:nvSpPr>
          <p:cNvPr id="3" name="Text Placeholder 2">
            <a:extLst>
              <a:ext uri="{FF2B5EF4-FFF2-40B4-BE49-F238E27FC236}">
                <a16:creationId xmlns:a16="http://schemas.microsoft.com/office/drawing/2014/main" id="{0E13F1D0-11E1-3E60-6562-1B099BA8412F}"/>
              </a:ext>
            </a:extLst>
          </p:cNvPr>
          <p:cNvSpPr>
            <a:spLocks noGrp="1"/>
          </p:cNvSpPr>
          <p:nvPr>
            <p:ph type="body" sz="quarter" idx="12"/>
          </p:nvPr>
        </p:nvSpPr>
        <p:spPr/>
        <p:txBody>
          <a:bodyPr/>
          <a:lstStyle/>
          <a:p>
            <a:r>
              <a:rPr lang="en-CA"/>
              <a:t>14</a:t>
            </a:r>
          </a:p>
        </p:txBody>
      </p:sp>
    </p:spTree>
    <p:extLst>
      <p:ext uri="{BB962C8B-B14F-4D97-AF65-F5344CB8AC3E}">
        <p14:creationId xmlns:p14="http://schemas.microsoft.com/office/powerpoint/2010/main" val="77225432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34CA39-9932-94F2-14F6-2B3647AAF0E1}"/>
            </a:ext>
          </a:extLst>
        </p:cNvPr>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35E53B85-D0E4-B581-CE4C-FEEA3414E2E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11" name="think-cell data - do not delete" hidden="1">
                        <a:extLst>
                          <a:ext uri="{FF2B5EF4-FFF2-40B4-BE49-F238E27FC236}">
                            <a16:creationId xmlns:a16="http://schemas.microsoft.com/office/drawing/2014/main" id="{35E53B85-D0E4-B581-CE4C-FEEA3414E2E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5531DF2A-4093-4A00-F311-866D67562206}"/>
              </a:ext>
            </a:extLst>
          </p:cNvPr>
          <p:cNvSpPr>
            <a:spLocks noGrp="1"/>
          </p:cNvSpPr>
          <p:nvPr>
            <p:ph type="title"/>
          </p:nvPr>
        </p:nvSpPr>
        <p:spPr/>
        <p:txBody>
          <a:bodyPr vert="horz" rIns="0"/>
          <a:lstStyle/>
          <a:p>
            <a:r>
              <a:rPr lang="en-CA">
                <a:solidFill>
                  <a:srgbClr val="EC111A"/>
                </a:solidFill>
              </a:rPr>
              <a:t>Performance – Fortify the Bank | </a:t>
            </a:r>
            <a:r>
              <a:rPr lang="en-US"/>
              <a:t>We </a:t>
            </a:r>
            <a:r>
              <a:rPr lang="en-CA"/>
              <a:t>report on a set of Board-approved Key Risk Indicators (</a:t>
            </a:r>
            <a:r>
              <a:rPr lang="en-CA" err="1"/>
              <a:t>KRIs</a:t>
            </a:r>
            <a:r>
              <a:rPr lang="en-CA"/>
              <a:t>) which are published in the Quarterly Board Report</a:t>
            </a:r>
            <a:endParaRPr lang="en-US"/>
          </a:p>
        </p:txBody>
      </p:sp>
      <p:sp>
        <p:nvSpPr>
          <p:cNvPr id="3" name="Slide Number Placeholder 2">
            <a:extLst>
              <a:ext uri="{FF2B5EF4-FFF2-40B4-BE49-F238E27FC236}">
                <a16:creationId xmlns:a16="http://schemas.microsoft.com/office/drawing/2014/main" id="{7FEAC527-15FC-E97C-55E4-57EA01066BE4}"/>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6" name="Text Placeholder 5">
            <a:extLst>
              <a:ext uri="{FF2B5EF4-FFF2-40B4-BE49-F238E27FC236}">
                <a16:creationId xmlns:a16="http://schemas.microsoft.com/office/drawing/2014/main" id="{B9BA27F7-2A90-87C7-39C3-37F42D3DA774}"/>
              </a:ext>
            </a:extLst>
          </p:cNvPr>
          <p:cNvSpPr>
            <a:spLocks noGrp="1"/>
          </p:cNvSpPr>
          <p:nvPr>
            <p:ph type="body" sz="quarter" idx="13"/>
          </p:nvPr>
        </p:nvSpPr>
        <p:spPr/>
        <p:txBody>
          <a:bodyPr/>
          <a:lstStyle/>
          <a:p>
            <a:r>
              <a:rPr lang="en-US"/>
              <a:t>BOARD OF DIRECTOR ONBOARDING – Enterprise Security</a:t>
            </a:r>
          </a:p>
        </p:txBody>
      </p:sp>
      <p:sp>
        <p:nvSpPr>
          <p:cNvPr id="13" name="Rectangle 12">
            <a:extLst>
              <a:ext uri="{FF2B5EF4-FFF2-40B4-BE49-F238E27FC236}">
                <a16:creationId xmlns:a16="http://schemas.microsoft.com/office/drawing/2014/main" id="{323025C8-564B-FC9D-9DF2-0C55044BE727}"/>
              </a:ext>
            </a:extLst>
          </p:cNvPr>
          <p:cNvSpPr/>
          <p:nvPr/>
        </p:nvSpPr>
        <p:spPr>
          <a:xfrm>
            <a:off x="8734425" y="1567978"/>
            <a:ext cx="2932652" cy="462817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144000" rtlCol="0" anchor="t"/>
          <a:lstStyle/>
          <a:p>
            <a:pPr marL="0" marR="0" lvl="0" indent="0" algn="l" defTabSz="914357" rtl="0" eaLnBrk="1" fontAlgn="auto" latinLnBrk="0" hangingPunct="1">
              <a:lnSpc>
                <a:spcPct val="100000"/>
              </a:lnSpc>
              <a:spcBef>
                <a:spcPts val="0"/>
              </a:spcBef>
              <a:spcAft>
                <a:spcPts val="1200"/>
              </a:spcAft>
              <a:buClrTx/>
              <a:buSzTx/>
              <a:buFontTx/>
              <a:buNone/>
              <a:tabLst/>
              <a:defRPr/>
            </a:pPr>
            <a:r>
              <a:rPr kumimoji="0" lang="en-CA" sz="1400" b="1" i="0" u="none" strike="noStrike" kern="1200" cap="none" spc="200" normalizeH="0" baseline="0" noProof="0">
                <a:ln>
                  <a:noFill/>
                </a:ln>
                <a:solidFill>
                  <a:srgbClr val="EC111A"/>
                </a:solidFill>
                <a:effectLst/>
                <a:uLnTx/>
                <a:uFillTx/>
                <a:latin typeface="Scotia"/>
                <a:ea typeface="Scotia" panose="020B0503020203020204" pitchFamily="34" charset="0"/>
                <a:cs typeface="+mn-cs"/>
              </a:rPr>
              <a:t>HIGHLIGHTS </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We track a set of nine Board-approved </a:t>
            </a:r>
            <a:r>
              <a:rPr kumimoji="0" lang="en-US" sz="1200" b="1" i="0" u="none" strike="noStrike" kern="1200" cap="none" spc="0" normalizeH="0" baseline="0" noProof="0">
                <a:ln>
                  <a:noFill/>
                </a:ln>
                <a:solidFill>
                  <a:srgbClr val="000000"/>
                </a:solidFill>
                <a:effectLst/>
                <a:uLnTx/>
                <a:uFillTx/>
                <a:latin typeface="Scotia"/>
                <a:ea typeface="+mn-ea"/>
                <a:cs typeface="+mn-cs"/>
              </a:rPr>
              <a:t>Key Risk Indicators </a:t>
            </a:r>
            <a:r>
              <a:rPr kumimoji="0" lang="en-US" sz="1200" b="0" i="0" u="none" strike="noStrike" kern="1200" cap="none" spc="0" normalizeH="0" baseline="0" noProof="0">
                <a:ln>
                  <a:noFill/>
                </a:ln>
                <a:solidFill>
                  <a:srgbClr val="000000"/>
                </a:solidFill>
                <a:effectLst/>
                <a:uLnTx/>
                <a:uFillTx/>
                <a:latin typeface="Scotia"/>
                <a:ea typeface="+mn-ea"/>
                <a:cs typeface="+mn-cs"/>
              </a:rPr>
              <a:t>(KRIs) which are reported every quarter</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For F26, </a:t>
            </a:r>
            <a:r>
              <a:rPr kumimoji="0" lang="en-CA" sz="1200" b="0" i="0" u="none" strike="noStrike" kern="1200" cap="none" spc="0" normalizeH="0" baseline="0" noProof="0">
                <a:ln>
                  <a:noFill/>
                </a:ln>
                <a:solidFill>
                  <a:srgbClr val="000000"/>
                </a:solidFill>
                <a:effectLst/>
                <a:uLnTx/>
                <a:uFillTx/>
                <a:latin typeface="Scotia"/>
                <a:ea typeface="+mn-ea"/>
                <a:cs typeface="+mn-cs"/>
              </a:rPr>
              <a:t>we tightened our KRI targets, with the expectation that we would </a:t>
            </a:r>
            <a:r>
              <a:rPr kumimoji="0" lang="en-US" sz="1200" b="0" i="0" u="none" strike="noStrike" kern="1200" cap="none" spc="0" normalizeH="0" baseline="0" noProof="0">
                <a:ln>
                  <a:noFill/>
                </a:ln>
                <a:solidFill>
                  <a:srgbClr val="000000"/>
                </a:solidFill>
                <a:effectLst/>
                <a:uLnTx/>
                <a:uFillTx/>
                <a:latin typeface="Scotia"/>
                <a:ea typeface="+mn-ea"/>
                <a:cs typeface="+mn-cs"/>
              </a:rPr>
              <a:t>reduce risk over time</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Therefore, we expect that, in the short-term, many of our metrics </a:t>
            </a:r>
            <a:r>
              <a:rPr kumimoji="0" lang="en-CA" sz="1200" b="0" i="0" u="none" strike="noStrike" kern="1200" cap="none" spc="0" normalizeH="0" baseline="0" noProof="0">
                <a:ln>
                  <a:noFill/>
                </a:ln>
                <a:solidFill>
                  <a:srgbClr val="000000"/>
                </a:solidFill>
                <a:effectLst/>
                <a:uLnTx/>
                <a:uFillTx/>
                <a:latin typeface="Scotia"/>
                <a:ea typeface="+mn-ea"/>
                <a:cs typeface="+mn-cs"/>
              </a:rPr>
              <a:t>would fall outside of tolerance limits, with progress made over subsequent quarters  </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CA" sz="1200" b="0" i="0" u="none" strike="noStrike" kern="1200" cap="none" spc="0" normalizeH="0" baseline="0" noProof="0">
                <a:ln>
                  <a:noFill/>
                </a:ln>
                <a:solidFill>
                  <a:srgbClr val="000000"/>
                </a:solidFill>
                <a:effectLst/>
                <a:uLnTx/>
                <a:uFillTx/>
                <a:latin typeface="Scotia"/>
                <a:ea typeface="+mn-ea"/>
                <a:cs typeface="+mn-cs"/>
              </a:rPr>
              <a:t>The current set of KRIs have a remediation focus; we are planning to evolve them to ensure they track towards </a:t>
            </a:r>
            <a:r>
              <a:rPr kumimoji="0" lang="en-CA" sz="1200" b="1" i="0" u="none" strike="noStrike" kern="1200" cap="none" spc="0" normalizeH="0" baseline="0" noProof="0">
                <a:ln>
                  <a:noFill/>
                </a:ln>
                <a:solidFill>
                  <a:srgbClr val="000000"/>
                </a:solidFill>
                <a:effectLst/>
                <a:uLnTx/>
                <a:uFillTx/>
                <a:latin typeface="Scotia"/>
                <a:ea typeface="+mn-ea"/>
                <a:cs typeface="+mn-cs"/>
              </a:rPr>
              <a:t>reducing risk overall</a:t>
            </a:r>
            <a:endParaRPr kumimoji="0" lang="en-US" sz="1200" b="0" i="1" u="none" strike="noStrike" kern="1200" cap="none" spc="0" normalizeH="0" baseline="0" noProof="0">
              <a:ln>
                <a:noFill/>
              </a:ln>
              <a:solidFill>
                <a:srgbClr val="EC111A"/>
              </a:solidFill>
              <a:effectLst/>
              <a:uLnTx/>
              <a:uFillTx/>
              <a:latin typeface="Scotia"/>
              <a:ea typeface="Scotia" panose="020B0503020203020204" pitchFamily="34" charset="0"/>
              <a:cs typeface="+mn-cs"/>
            </a:endParaRPr>
          </a:p>
        </p:txBody>
      </p:sp>
      <p:graphicFrame>
        <p:nvGraphicFramePr>
          <p:cNvPr id="17" name="Table 57">
            <a:extLst>
              <a:ext uri="{FF2B5EF4-FFF2-40B4-BE49-F238E27FC236}">
                <a16:creationId xmlns:a16="http://schemas.microsoft.com/office/drawing/2014/main" id="{70F69268-7D17-05EE-015C-4EBA42624004}"/>
              </a:ext>
            </a:extLst>
          </p:cNvPr>
          <p:cNvGraphicFramePr>
            <a:graphicFrameLocks noGrp="1"/>
          </p:cNvGraphicFramePr>
          <p:nvPr/>
        </p:nvGraphicFramePr>
        <p:xfrm>
          <a:off x="515938" y="1567977"/>
          <a:ext cx="8100000" cy="4607996"/>
        </p:xfrm>
        <a:graphic>
          <a:graphicData uri="http://schemas.openxmlformats.org/drawingml/2006/table">
            <a:tbl>
              <a:tblPr firstRow="1" bandRow="1">
                <a:tableStyleId>{5940675A-B579-460E-94D1-54222C63F5DA}</a:tableStyleId>
              </a:tblPr>
              <a:tblGrid>
                <a:gridCol w="3694112">
                  <a:extLst>
                    <a:ext uri="{9D8B030D-6E8A-4147-A177-3AD203B41FA5}">
                      <a16:colId xmlns:a16="http://schemas.microsoft.com/office/drawing/2014/main" val="2873501656"/>
                    </a:ext>
                  </a:extLst>
                </a:gridCol>
                <a:gridCol w="1771650">
                  <a:extLst>
                    <a:ext uri="{9D8B030D-6E8A-4147-A177-3AD203B41FA5}">
                      <a16:colId xmlns:a16="http://schemas.microsoft.com/office/drawing/2014/main" val="4271132980"/>
                    </a:ext>
                  </a:extLst>
                </a:gridCol>
                <a:gridCol w="2634238">
                  <a:extLst>
                    <a:ext uri="{9D8B030D-6E8A-4147-A177-3AD203B41FA5}">
                      <a16:colId xmlns:a16="http://schemas.microsoft.com/office/drawing/2014/main" val="3494983553"/>
                    </a:ext>
                  </a:extLst>
                </a:gridCol>
              </a:tblGrid>
              <a:tr h="276350">
                <a:tc>
                  <a:txBody>
                    <a:bodyPr/>
                    <a:lstStyle/>
                    <a:p>
                      <a:r>
                        <a:rPr lang="en-CA" sz="1200" b="0" kern="1200" spc="200" baseline="0">
                          <a:solidFill>
                            <a:schemeClr val="tx1"/>
                          </a:solidFill>
                          <a:latin typeface="+mn-lt"/>
                          <a:ea typeface="+mn-ea"/>
                          <a:cs typeface="+mn-cs"/>
                        </a:rPr>
                        <a:t>KRI</a:t>
                      </a:r>
                    </a:p>
                  </a:txBody>
                  <a:tcPr marL="45720" marR="45720" anchor="ctr">
                    <a:lnL w="12700" cmpd="sng">
                      <a:noFill/>
                    </a:lnL>
                    <a:lnR w="12700" cmpd="sng">
                      <a:noFill/>
                    </a:lnR>
                    <a:lnT w="12700" cmpd="sng">
                      <a:noFill/>
                    </a:lnT>
                    <a:lnB w="19050" cap="flat" cmpd="sng" algn="ctr">
                      <a:solidFill>
                        <a:srgbClr val="E1111A"/>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CA" sz="1200" b="0" kern="1200" spc="200" baseline="0">
                          <a:solidFill>
                            <a:schemeClr val="tx1"/>
                          </a:solidFill>
                          <a:latin typeface="+mn-lt"/>
                          <a:ea typeface="+mn-ea"/>
                          <a:cs typeface="+mn-cs"/>
                        </a:rPr>
                        <a:t>F26 Q2 YTD</a:t>
                      </a:r>
                    </a:p>
                  </a:txBody>
                  <a:tcPr marL="45720" marR="45720" anchor="ctr">
                    <a:lnL w="12700" cmpd="sng">
                      <a:noFill/>
                    </a:lnL>
                    <a:lnR w="12700" cmpd="sng">
                      <a:noFill/>
                    </a:lnR>
                    <a:lnT w="12700" cmpd="sng">
                      <a:noFill/>
                    </a:lnT>
                    <a:lnB w="19050" cap="flat" cmpd="sng" algn="ctr">
                      <a:solidFill>
                        <a:srgbClr val="E1111A"/>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algn="ctr"/>
                      <a:r>
                        <a:rPr lang="en-CA" sz="1200" b="0" kern="1200" spc="200" baseline="0">
                          <a:solidFill>
                            <a:schemeClr val="tx1"/>
                          </a:solidFill>
                          <a:latin typeface="+mn-lt"/>
                          <a:ea typeface="+mn-ea"/>
                          <a:cs typeface="+mn-cs"/>
                        </a:rPr>
                        <a:t>F26 TARGET</a:t>
                      </a:r>
                    </a:p>
                  </a:txBody>
                  <a:tcPr marL="45720" marR="45720" anchor="ctr">
                    <a:lnL w="12700" cmpd="sng">
                      <a:noFill/>
                    </a:lnL>
                    <a:lnR w="12700" cmpd="sng">
                      <a:noFill/>
                    </a:lnR>
                    <a:lnT w="12700" cmpd="sng">
                      <a:noFill/>
                    </a:lnT>
                    <a:lnB w="19050" cap="flat" cmpd="sng" algn="ctr">
                      <a:solidFill>
                        <a:srgbClr val="E1111A"/>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576692"/>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Incidents Impacting Customers &amp; Business (Sev1)</a:t>
                      </a:r>
                      <a:endParaRPr kumimoji="0" lang="en-US" sz="1200" b="0" i="0" u="none" strike="noStrike" kern="1200" cap="none" spc="0" normalizeH="0" baseline="0" noProof="0">
                        <a:ln>
                          <a:noFill/>
                        </a:ln>
                        <a:solidFill>
                          <a:srgbClr val="EC111A"/>
                        </a:solidFill>
                        <a:effectLst/>
                        <a:uLnTx/>
                        <a:uFillTx/>
                        <a:latin typeface="+mn-lt"/>
                        <a:ea typeface="+mn-ea"/>
                        <a:cs typeface="+mn-cs"/>
                      </a:endParaRPr>
                    </a:p>
                  </a:txBody>
                  <a:tcPr marL="45720" marR="45720" anchor="ctr">
                    <a:lnL w="12700" cap="flat" cmpd="sng" algn="ctr">
                      <a:noFill/>
                      <a:prstDash val="solid"/>
                      <a:round/>
                      <a:headEnd type="none" w="med" len="med"/>
                      <a:tailEnd type="none" w="med" len="med"/>
                    </a:lnL>
                    <a:lnR w="12700" cmpd="sng">
                      <a:noFill/>
                    </a:lnR>
                    <a:lnT w="19050" cap="flat" cmpd="sng" algn="ctr">
                      <a:solidFill>
                        <a:srgbClr val="E1111A"/>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a:t>
                      </a:r>
                      <a:r>
                        <a:rPr kumimoji="0" lang="en-US" altLang="zh-CN" sz="1200" b="0" i="0" u="none" strike="noStrike" kern="1200" cap="none" spc="0" normalizeH="0" baseline="0" noProof="0">
                          <a:ln>
                            <a:noFill/>
                          </a:ln>
                          <a:solidFill>
                            <a:schemeClr val="tx1"/>
                          </a:solidFill>
                          <a:effectLst/>
                          <a:uLnTx/>
                          <a:uFillTx/>
                          <a:latin typeface="+mn-lt"/>
                          <a:ea typeface="+mn-ea"/>
                          <a:cs typeface="+mn-cs"/>
                        </a:rPr>
                        <a:t>pril</a:t>
                      </a:r>
                      <a:r>
                        <a:rPr kumimoji="0" lang="en-US" sz="1200" b="0" i="0" u="none" strike="noStrike" kern="1200" cap="none" spc="0" normalizeH="0" baseline="0" noProof="0">
                          <a:ln>
                            <a:noFill/>
                          </a:ln>
                          <a:solidFill>
                            <a:schemeClr val="tx1"/>
                          </a:solidFill>
                          <a:effectLst/>
                          <a:uLnTx/>
                          <a:uFillTx/>
                          <a:latin typeface="+mn-lt"/>
                          <a:ea typeface="+mn-ea"/>
                          <a:cs typeface="+mn-cs"/>
                        </a:rPr>
                        <a:t>: (1);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Q2 / YTD: (2)</a:t>
                      </a:r>
                    </a:p>
                  </a:txBody>
                  <a:tcPr marL="45720" marR="45720" anchor="ctr">
                    <a:lnL w="12700" cmpd="sng">
                      <a:noFill/>
                    </a:lnL>
                    <a:lnR w="12700" cmpd="sng">
                      <a:noFill/>
                    </a:lnR>
                    <a:lnT w="19050" cap="flat" cmpd="sng" algn="ctr">
                      <a:solidFill>
                        <a:srgbClr val="E1111A"/>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indent="0" algn="ctr">
                        <a:buFontTx/>
                        <a:buNone/>
                      </a:pPr>
                      <a:r>
                        <a:rPr kumimoji="0" lang="en-US" sz="1200" b="0" i="0" u="none" strike="noStrike" kern="1200" cap="none" spc="0" normalizeH="0" baseline="0" noProof="0">
                          <a:ln>
                            <a:noFill/>
                          </a:ln>
                          <a:solidFill>
                            <a:schemeClr val="tx1"/>
                          </a:solidFill>
                          <a:effectLst/>
                          <a:uLnTx/>
                          <a:uFillTx/>
                          <a:latin typeface="+mn-lt"/>
                          <a:ea typeface="+mn-ea"/>
                          <a:cs typeface="+mn-cs"/>
                        </a:rPr>
                        <a:t>≤</a:t>
                      </a:r>
                      <a:r>
                        <a:rPr lang="en-CA" sz="1200"/>
                        <a:t>3/month (9/quarter, 36/year)</a:t>
                      </a:r>
                    </a:p>
                  </a:txBody>
                  <a:tcPr marL="45720" marR="45720" anchor="ctr">
                    <a:lnL w="12700" cmpd="sng">
                      <a:noFill/>
                    </a:lnL>
                    <a:lnR w="12700" cmpd="sng">
                      <a:noFill/>
                    </a:lnR>
                    <a:lnT w="19050" cap="flat" cmpd="sng" algn="ctr">
                      <a:solidFill>
                        <a:srgbClr val="E1111A"/>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472513"/>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Unsupported Software (Tier 1, 2)</a:t>
                      </a:r>
                      <a:endParaRPr kumimoji="0" lang="en-US" sz="1200" b="0" i="0" u="none" strike="noStrike" kern="1200" cap="none" spc="0" normalizeH="0" baseline="0" noProof="0">
                        <a:ln>
                          <a:noFill/>
                        </a:ln>
                        <a:solidFill>
                          <a:srgbClr val="EC111A"/>
                        </a:solidFill>
                        <a:effectLst/>
                        <a:uLnTx/>
                        <a:uFillTx/>
                        <a:latin typeface="+mn-lt"/>
                        <a:ea typeface="+mn-ea"/>
                        <a:cs typeface="+mn-cs"/>
                      </a:endParaRPr>
                    </a:p>
                  </a:txBody>
                  <a:tcPr marL="45720" marR="4572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8.1%</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t>
                      </a:r>
                      <a:r>
                        <a:rPr lang="en-CA" sz="1200" kern="1200">
                          <a:solidFill>
                            <a:schemeClr val="tx1"/>
                          </a:solidFill>
                          <a:latin typeface="+mn-lt"/>
                          <a:ea typeface="+mn-ea"/>
                          <a:cs typeface="+mn-cs"/>
                        </a:rPr>
                        <a: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53870422"/>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Application Recovery Testing Outside SLA (Tier 1, 2)</a:t>
                      </a:r>
                      <a:endParaRPr kumimoji="0" lang="en-US" sz="1200" b="0" i="0" u="none" strike="noStrike" kern="1200" cap="none" spc="0" normalizeH="0" baseline="0" noProof="0">
                        <a:ln>
                          <a:noFill/>
                        </a:ln>
                        <a:solidFill>
                          <a:srgbClr val="EC111A"/>
                        </a:solidFill>
                        <a:effectLst/>
                        <a:uLnTx/>
                        <a:uFillTx/>
                        <a:latin typeface="+mn-lt"/>
                        <a:ea typeface="+mn-ea"/>
                        <a:cs typeface="+mn-cs"/>
                      </a:endParaRP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15%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&lt;</a:t>
                      </a:r>
                      <a:r>
                        <a:rPr lang="en-CA" sz="1200">
                          <a:latin typeface="+mn-lt"/>
                        </a:rPr>
                        <a:t>10%</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8141655"/>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Critical Vulnerabilities not Remediated within SLA (Tier 1, 2)</a:t>
                      </a: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21%</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&lt;</a:t>
                      </a:r>
                      <a:r>
                        <a:rPr lang="en-CA" sz="1200">
                          <a:solidFill>
                            <a:schemeClr val="tx1"/>
                          </a:solidFill>
                          <a:latin typeface="+mn-lt"/>
                        </a:rPr>
                        <a:t>10%</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251982"/>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High Vulnerabilities not Remediated within SLA (Tier 1, 2)</a:t>
                      </a: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39%</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&lt;</a:t>
                      </a:r>
                      <a:r>
                        <a:rPr lang="en-CA" sz="1200">
                          <a:solidFill>
                            <a:schemeClr val="tx1"/>
                          </a:solidFill>
                          <a:latin typeface="+mn-lt"/>
                        </a:rPr>
                        <a: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97112216"/>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Asset Logs not Centrally Managed (Tier 1, 2)</a:t>
                      </a: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5.5%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&lt;</a:t>
                      </a:r>
                      <a:r>
                        <a:rPr lang="en-CA" sz="1200">
                          <a:solidFill>
                            <a:schemeClr val="tx1"/>
                          </a:solidFill>
                          <a:latin typeface="+mn-lt"/>
                        </a:rPr>
                        <a: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7396843"/>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Apps Not Enrolled in Logical Access Management  (Tier 1,2)</a:t>
                      </a: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28%</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&lt;</a:t>
                      </a:r>
                      <a:r>
                        <a:rPr lang="en-CA" sz="1200">
                          <a:solidFill>
                            <a:schemeClr val="tx1"/>
                          </a:solidFill>
                          <a:latin typeface="+mn-lt"/>
                        </a:rPr>
                        <a: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4717354"/>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Endpoints Missing Key Security Controls (Tier 1, 2)</a:t>
                      </a:r>
                    </a:p>
                  </a:txBody>
                  <a:tcPr marL="45720" marR="45720" anchor="ctr">
                    <a:lnL w="12700" cap="flat" cmpd="sng" algn="ctr">
                      <a:solidFill>
                        <a:schemeClr val="bg1"/>
                      </a:solid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4.8%</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200">
                          <a:solidFill>
                            <a:schemeClr val="tx1"/>
                          </a:solidFill>
                          <a:latin typeface="+mn-lt"/>
                        </a:rPr>
                        <a:t>&lt;5%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6004358"/>
                  </a:ext>
                </a:extLst>
              </a:tr>
              <a:tr h="481294">
                <a:tc>
                  <a:txBody>
                    <a:bodyPr/>
                    <a:lstStyle/>
                    <a:p>
                      <a:pPr marL="0" marR="0" lvl="0" indent="0" algn="l" defTabSz="914411" rtl="0" eaLnBrk="1" fontAlgn="auto" latinLnBrk="0" hangingPunct="1">
                        <a:lnSpc>
                          <a:spcPct val="100000"/>
                        </a:lnSpc>
                        <a:spcBef>
                          <a:spcPts val="0"/>
                        </a:spcBef>
                        <a:spcAft>
                          <a:spcPts val="0"/>
                        </a:spcAft>
                        <a:buClrTx/>
                        <a:buSzTx/>
                        <a:buFont typeface="+mj-lt"/>
                        <a:buNone/>
                        <a:tabLst/>
                        <a:defRPr/>
                      </a:pPr>
                      <a:r>
                        <a:rPr kumimoji="0" lang="en-US" sz="1200" b="0" i="0" u="none" strike="noStrike" kern="1200" cap="none" spc="0" normalizeH="0" baseline="0" noProof="0">
                          <a:ln>
                            <a:noFill/>
                          </a:ln>
                          <a:solidFill>
                            <a:schemeClr val="tx1"/>
                          </a:solidFill>
                          <a:effectLst/>
                          <a:uLnTx/>
                          <a:uFillTx/>
                          <a:latin typeface="+mn-lt"/>
                          <a:ea typeface="+mn-ea"/>
                          <a:cs typeface="+mn-cs"/>
                        </a:rPr>
                        <a:t>Asset Management Error Rate</a:t>
                      </a:r>
                    </a:p>
                  </a:txBody>
                  <a:tcPr marL="45720" marR="4572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chemeClr val="tx1"/>
                          </a:solidFill>
                          <a:effectLst/>
                          <a:uLnTx/>
                          <a:uFillTx/>
                          <a:latin typeface="+mn-lt"/>
                          <a:ea typeface="+mn-ea"/>
                          <a:cs typeface="+mn-cs"/>
                        </a:rPr>
                        <a:t>4%</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5EFE8"/>
                    </a:solidFill>
                  </a:tcPr>
                </a:tc>
                <a:tc>
                  <a:txBody>
                    <a:bodyPr/>
                    <a:lstStyle/>
                    <a:p>
                      <a:pPr marL="0" marR="0" lvl="0" indent="0" algn="ctr" defTabSz="914411" rtl="0" eaLnBrk="1" fontAlgn="auto" latinLnBrk="0" hangingPunct="1">
                        <a:lnSpc>
                          <a:spcPct val="100000"/>
                        </a:lnSpc>
                        <a:spcBef>
                          <a:spcPts val="0"/>
                        </a:spcBef>
                        <a:spcAft>
                          <a:spcPts val="0"/>
                        </a:spcAft>
                        <a:buClrTx/>
                        <a:buSzTx/>
                        <a:buFontTx/>
                        <a:buNone/>
                        <a:tabLst/>
                        <a:defRPr/>
                      </a:pPr>
                      <a:r>
                        <a:rPr lang="en-CA" sz="1200">
                          <a:solidFill>
                            <a:schemeClr val="tx1"/>
                          </a:solidFill>
                          <a:latin typeface="+mn-lt"/>
                        </a:rPr>
                        <a:t>&lt;5%</a:t>
                      </a:r>
                    </a:p>
                  </a:txBody>
                  <a:tcPr marL="45720" marR="45720" anchor="ctr">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41922245"/>
                  </a:ext>
                </a:extLst>
              </a:tr>
            </a:tbl>
          </a:graphicData>
        </a:graphic>
      </p:graphicFrame>
      <p:sp>
        <p:nvSpPr>
          <p:cNvPr id="7" name="Speech Bubble: Rectangle 6">
            <a:extLst>
              <a:ext uri="{FF2B5EF4-FFF2-40B4-BE49-F238E27FC236}">
                <a16:creationId xmlns:a16="http://schemas.microsoft.com/office/drawing/2014/main" id="{98C0118B-A2CB-A08D-7F61-0B53EC403A28}"/>
              </a:ext>
            </a:extLst>
          </p:cNvPr>
          <p:cNvSpPr/>
          <p:nvPr/>
        </p:nvSpPr>
        <p:spPr>
          <a:xfrm>
            <a:off x="7949684" y="5430856"/>
            <a:ext cx="3676261" cy="651770"/>
          </a:xfrm>
          <a:prstGeom prst="wedgeRectCallout">
            <a:avLst>
              <a:gd name="adj1" fmla="val -1042"/>
              <a:gd name="adj2" fmla="val -68942"/>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0" i="1" u="none" strike="noStrike" kern="1200" cap="none" spc="0" normalizeH="0" baseline="0" noProof="0">
                <a:ln>
                  <a:noFill/>
                </a:ln>
                <a:solidFill>
                  <a:srgbClr val="000000"/>
                </a:solidFill>
                <a:effectLst/>
                <a:uLnTx/>
                <a:uFillTx/>
                <a:latin typeface="Scotia"/>
                <a:ea typeface="+mn-ea"/>
                <a:cs typeface="+mn-cs"/>
              </a:rPr>
              <a:t>For more details on how we are reducing risk and fortifying the bank, please see the </a:t>
            </a:r>
            <a:r>
              <a:rPr kumimoji="0" lang="en-CA" sz="1100" b="1" i="1" u="none" strike="noStrike" kern="1200" cap="none" spc="0" normalizeH="0" baseline="0" noProof="0">
                <a:ln>
                  <a:noFill/>
                </a:ln>
                <a:solidFill>
                  <a:srgbClr val="000000"/>
                </a:solidFill>
                <a:effectLst/>
                <a:uLnTx/>
                <a:uFillTx/>
                <a:latin typeface="Scotia"/>
                <a:ea typeface="+mn-ea"/>
                <a:cs typeface="+mn-cs"/>
              </a:rPr>
              <a:t>Q2 IT, Cyber &amp; Risk Report </a:t>
            </a:r>
            <a:r>
              <a:rPr kumimoji="0" lang="en-CA" sz="1100" b="0" i="1" u="none" strike="noStrike" kern="1200" cap="none" spc="0" normalizeH="0" baseline="0" noProof="0">
                <a:ln>
                  <a:noFill/>
                </a:ln>
                <a:solidFill>
                  <a:srgbClr val="000000"/>
                </a:solidFill>
                <a:effectLst/>
                <a:uLnTx/>
                <a:uFillTx/>
                <a:latin typeface="Scotia"/>
                <a:ea typeface="+mn-ea"/>
                <a:cs typeface="+mn-cs"/>
              </a:rPr>
              <a:t>as well as the </a:t>
            </a:r>
            <a:r>
              <a:rPr kumimoji="0" lang="en-CA" sz="1100" b="1" i="1" u="none" strike="noStrike" kern="1200" cap="none" spc="0" normalizeH="0" baseline="0" noProof="0">
                <a:ln>
                  <a:noFill/>
                </a:ln>
                <a:solidFill>
                  <a:srgbClr val="000000"/>
                </a:solidFill>
                <a:effectLst/>
                <a:uLnTx/>
                <a:uFillTx/>
                <a:latin typeface="Scotia"/>
                <a:ea typeface="+mn-ea"/>
                <a:cs typeface="+mn-cs"/>
              </a:rPr>
              <a:t>Enterprise Security Strategy</a:t>
            </a:r>
          </a:p>
        </p:txBody>
      </p:sp>
    </p:spTree>
    <p:extLst>
      <p:ext uri="{BB962C8B-B14F-4D97-AF65-F5344CB8AC3E}">
        <p14:creationId xmlns:p14="http://schemas.microsoft.com/office/powerpoint/2010/main" val="124645563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F1517BDA-4A8C-7F6E-D2A1-F636E60CB77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6" progId="TCLayout.ActiveDocument.1">
                  <p:embed/>
                </p:oleObj>
              </mc:Choice>
              <mc:Fallback>
                <p:oleObj name="think-cell Slide" r:id="rId3" imgW="473" imgH="476" progId="TCLayout.ActiveDocument.1">
                  <p:embed/>
                  <p:pic>
                    <p:nvPicPr>
                      <p:cNvPr id="7" name="think-cell data - do not delete" hidden="1">
                        <a:extLst>
                          <a:ext uri="{FF2B5EF4-FFF2-40B4-BE49-F238E27FC236}">
                            <a16:creationId xmlns:a16="http://schemas.microsoft.com/office/drawing/2014/main" id="{F1517BDA-4A8C-7F6E-D2A1-F636E60CB77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Rectangle 7">
            <a:extLst>
              <a:ext uri="{FF2B5EF4-FFF2-40B4-BE49-F238E27FC236}">
                <a16:creationId xmlns:a16="http://schemas.microsoft.com/office/drawing/2014/main" id="{C4595EC8-1580-472C-34F6-5FFC3D04F9C7}"/>
              </a:ext>
            </a:extLst>
          </p:cNvPr>
          <p:cNvSpPr/>
          <p:nvPr/>
        </p:nvSpPr>
        <p:spPr>
          <a:xfrm>
            <a:off x="515939" y="1420061"/>
            <a:ext cx="3524229" cy="5069639"/>
          </a:xfrm>
          <a:prstGeom prst="rect">
            <a:avLst/>
          </a:prstGeom>
          <a:solidFill>
            <a:schemeClr val="bg1"/>
          </a:solidFill>
          <a:ln w="19050">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9" name="Rectangle 8">
            <a:extLst>
              <a:ext uri="{FF2B5EF4-FFF2-40B4-BE49-F238E27FC236}">
                <a16:creationId xmlns:a16="http://schemas.microsoft.com/office/drawing/2014/main" id="{DD6E911F-886A-0F3F-078C-F84066605399}"/>
              </a:ext>
            </a:extLst>
          </p:cNvPr>
          <p:cNvSpPr/>
          <p:nvPr/>
        </p:nvSpPr>
        <p:spPr>
          <a:xfrm>
            <a:off x="4328536" y="1420061"/>
            <a:ext cx="3524229" cy="5069639"/>
          </a:xfrm>
          <a:prstGeom prst="rect">
            <a:avLst/>
          </a:prstGeom>
          <a:solidFill>
            <a:schemeClr val="bg1"/>
          </a:solidFill>
          <a:ln w="19050">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10" name="Rectangle 9">
            <a:extLst>
              <a:ext uri="{FF2B5EF4-FFF2-40B4-BE49-F238E27FC236}">
                <a16:creationId xmlns:a16="http://schemas.microsoft.com/office/drawing/2014/main" id="{583AA9F3-35E0-3FD9-3D9C-441B736D4765}"/>
              </a:ext>
            </a:extLst>
          </p:cNvPr>
          <p:cNvSpPr/>
          <p:nvPr/>
        </p:nvSpPr>
        <p:spPr>
          <a:xfrm>
            <a:off x="8151834" y="1420061"/>
            <a:ext cx="3524229" cy="5069639"/>
          </a:xfrm>
          <a:prstGeom prst="rect">
            <a:avLst/>
          </a:prstGeom>
          <a:solidFill>
            <a:schemeClr val="bg1"/>
          </a:solidFill>
          <a:ln w="19050">
            <a:solidFill>
              <a:srgbClr val="EC111A"/>
            </a:solid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29" name="Rectangle 28">
            <a:extLst>
              <a:ext uri="{FF2B5EF4-FFF2-40B4-BE49-F238E27FC236}">
                <a16:creationId xmlns:a16="http://schemas.microsoft.com/office/drawing/2014/main" id="{DD1DD0C3-693D-2FDB-33B9-CAF0C566D1D9}"/>
              </a:ext>
            </a:extLst>
          </p:cNvPr>
          <p:cNvSpPr/>
          <p:nvPr/>
        </p:nvSpPr>
        <p:spPr>
          <a:xfrm>
            <a:off x="8148040" y="1420061"/>
            <a:ext cx="3520440" cy="31581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Scotia"/>
                <a:ea typeface="Scotia" panose="020B0503020203020204" pitchFamily="34" charset="0"/>
                <a:cs typeface="+mn-cs"/>
              </a:rPr>
              <a:t>C. ENGINEER FOR SIMPLICITY </a:t>
            </a:r>
          </a:p>
        </p:txBody>
      </p:sp>
      <p:sp>
        <p:nvSpPr>
          <p:cNvPr id="31" name="Rectangle 30">
            <a:extLst>
              <a:ext uri="{FF2B5EF4-FFF2-40B4-BE49-F238E27FC236}">
                <a16:creationId xmlns:a16="http://schemas.microsoft.com/office/drawing/2014/main" id="{10BCF057-4FB9-EC49-EFB6-3AABFF9D732B}"/>
              </a:ext>
            </a:extLst>
          </p:cNvPr>
          <p:cNvSpPr/>
          <p:nvPr/>
        </p:nvSpPr>
        <p:spPr>
          <a:xfrm>
            <a:off x="4333884" y="1420061"/>
            <a:ext cx="3520440" cy="315818"/>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342873"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Scotia"/>
                <a:ea typeface="Scotia" panose="020B0503020203020204" pitchFamily="34" charset="0"/>
                <a:cs typeface="+mn-cs"/>
              </a:rPr>
              <a:t>B. DELIVER WITH EXCELLENCE</a:t>
            </a:r>
          </a:p>
        </p:txBody>
      </p:sp>
      <p:sp>
        <p:nvSpPr>
          <p:cNvPr id="94" name="Rectangle 93">
            <a:extLst>
              <a:ext uri="{FF2B5EF4-FFF2-40B4-BE49-F238E27FC236}">
                <a16:creationId xmlns:a16="http://schemas.microsoft.com/office/drawing/2014/main" id="{2CA93C0B-879C-0C26-827F-81C7FC9B401C}"/>
              </a:ext>
            </a:extLst>
          </p:cNvPr>
          <p:cNvSpPr/>
          <p:nvPr/>
        </p:nvSpPr>
        <p:spPr>
          <a:xfrm>
            <a:off x="515937" y="1420061"/>
            <a:ext cx="3524229" cy="319866"/>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342873"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Scotia"/>
                <a:ea typeface="Scotia" panose="020B0503020203020204" pitchFamily="34" charset="0"/>
                <a:cs typeface="+mn-cs"/>
              </a:rPr>
              <a:t>A. RUN TECHNOLOGY AS A BUSINESS</a:t>
            </a:r>
          </a:p>
        </p:txBody>
      </p:sp>
      <p:sp>
        <p:nvSpPr>
          <p:cNvPr id="95" name="Title 1">
            <a:extLst>
              <a:ext uri="{FF2B5EF4-FFF2-40B4-BE49-F238E27FC236}">
                <a16:creationId xmlns:a16="http://schemas.microsoft.com/office/drawing/2014/main" id="{F2E90407-284F-5B9F-8C40-80A73407A573}"/>
              </a:ext>
            </a:extLst>
          </p:cNvPr>
          <p:cNvSpPr>
            <a:spLocks noGrp="1"/>
          </p:cNvSpPr>
          <p:nvPr>
            <p:ph type="title"/>
          </p:nvPr>
        </p:nvSpPr>
        <p:spPr>
          <a:xfrm>
            <a:off x="515940" y="661850"/>
            <a:ext cx="11160124" cy="720000"/>
          </a:xfrm>
        </p:spPr>
        <p:txBody>
          <a:bodyPr vert="horz" rIns="0"/>
          <a:lstStyle/>
          <a:p>
            <a:r>
              <a:rPr lang="en-CA">
                <a:solidFill>
                  <a:srgbClr val="FF0000"/>
                </a:solidFill>
              </a:rPr>
              <a:t>Q2 F26 Summary | </a:t>
            </a:r>
            <a:r>
              <a:rPr lang="en-CA"/>
              <a:t>Dashboard (1 of 2)</a:t>
            </a:r>
          </a:p>
        </p:txBody>
      </p:sp>
      <p:sp>
        <p:nvSpPr>
          <p:cNvPr id="96" name="Text Placeholder 151">
            <a:extLst>
              <a:ext uri="{FF2B5EF4-FFF2-40B4-BE49-F238E27FC236}">
                <a16:creationId xmlns:a16="http://schemas.microsoft.com/office/drawing/2014/main" id="{CAFCC663-1DA7-517D-605B-7D77470A939E}"/>
              </a:ext>
            </a:extLst>
          </p:cNvPr>
          <p:cNvSpPr>
            <a:spLocks noGrp="1"/>
          </p:cNvSpPr>
          <p:nvPr>
            <p:ph type="body" sz="quarter" idx="13"/>
          </p:nvPr>
        </p:nvSpPr>
        <p:spPr>
          <a:xfrm>
            <a:off x="515938" y="342857"/>
            <a:ext cx="5400000" cy="180000"/>
          </a:xfrm>
        </p:spPr>
        <p:txBody>
          <a:bodyPr/>
          <a:lstStyle/>
          <a:p>
            <a:r>
              <a:rPr lang="en-US"/>
              <a:t>SCOTIATECH STRATEGY EXECUTION UPDATE – Q2 F26</a:t>
            </a:r>
          </a:p>
        </p:txBody>
      </p:sp>
      <p:sp>
        <p:nvSpPr>
          <p:cNvPr id="46" name="Rectangle 45">
            <a:extLst>
              <a:ext uri="{FF2B5EF4-FFF2-40B4-BE49-F238E27FC236}">
                <a16:creationId xmlns:a16="http://schemas.microsoft.com/office/drawing/2014/main" id="{3EDC1D13-16CA-A96B-5CC8-22520D74663F}"/>
              </a:ext>
            </a:extLst>
          </p:cNvPr>
          <p:cNvSpPr/>
          <p:nvPr/>
        </p:nvSpPr>
        <p:spPr>
          <a:xfrm>
            <a:off x="605493" y="4895223"/>
            <a:ext cx="3345120" cy="1456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areas of concern</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CA" sz="1200" b="0" i="0" u="none" strike="noStrike" kern="1200" cap="none" spc="0" normalizeH="0" baseline="0" noProof="0">
                <a:ln>
                  <a:noFill/>
                </a:ln>
                <a:solidFill>
                  <a:srgbClr val="000000"/>
                </a:solidFill>
                <a:effectLst/>
                <a:uLnTx/>
                <a:uFillTx/>
                <a:latin typeface="Scotia"/>
                <a:ea typeface="+mn-ea"/>
                <a:cs typeface="+mn-cs"/>
              </a:rPr>
              <a:t>Closing the Project Falcon FY26 savings gap remains dependent on accelerating medium‑confidence opportunities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Supply chain / changing commercial pricing is adding pressure to our cost profile </a:t>
            </a:r>
            <a:r>
              <a:rPr kumimoji="0" lang="en-CA" sz="1200" b="0" i="0" u="none" strike="noStrike" kern="1200" cap="none" spc="0" normalizeH="0" baseline="0" noProof="0">
                <a:ln>
                  <a:noFill/>
                </a:ln>
                <a:solidFill>
                  <a:srgbClr val="000000"/>
                </a:solidFill>
                <a:effectLst/>
                <a:uLnTx/>
                <a:uFillTx/>
                <a:latin typeface="Scotia"/>
                <a:ea typeface="+mn-ea"/>
                <a:cs typeface="+mn-cs"/>
              </a:rPr>
              <a:t>[A4]</a:t>
            </a:r>
            <a:endParaRPr kumimoji="0" lang="en-US" sz="1200" b="1" i="0" u="none" strike="noStrike" kern="1200" cap="none" spc="0" normalizeH="0" baseline="0" noProof="0">
              <a:ln>
                <a:noFill/>
              </a:ln>
              <a:solidFill>
                <a:srgbClr val="000000"/>
              </a:solidFill>
              <a:effectLst/>
              <a:uLnTx/>
              <a:uFillTx/>
              <a:latin typeface="Scotia"/>
              <a:ea typeface="+mn-ea"/>
              <a:cs typeface="+mn-cs"/>
            </a:endParaRPr>
          </a:p>
        </p:txBody>
      </p:sp>
      <p:sp>
        <p:nvSpPr>
          <p:cNvPr id="55" name="Rectangle 54">
            <a:extLst>
              <a:ext uri="{FF2B5EF4-FFF2-40B4-BE49-F238E27FC236}">
                <a16:creationId xmlns:a16="http://schemas.microsoft.com/office/drawing/2014/main" id="{FBCD8067-484D-CA55-0C16-C51B04052C12}"/>
              </a:ext>
            </a:extLst>
          </p:cNvPr>
          <p:cNvSpPr/>
          <p:nvPr/>
        </p:nvSpPr>
        <p:spPr>
          <a:xfrm>
            <a:off x="2042159" y="1791121"/>
            <a:ext cx="199082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Work package completion</a:t>
            </a:r>
          </a:p>
        </p:txBody>
      </p:sp>
      <p:sp>
        <p:nvSpPr>
          <p:cNvPr id="93" name="Rectangle 92">
            <a:extLst>
              <a:ext uri="{FF2B5EF4-FFF2-40B4-BE49-F238E27FC236}">
                <a16:creationId xmlns:a16="http://schemas.microsoft.com/office/drawing/2014/main" id="{E6F85A80-DF88-D938-210E-D903C1E90C2E}"/>
              </a:ext>
            </a:extLst>
          </p:cNvPr>
          <p:cNvSpPr/>
          <p:nvPr/>
        </p:nvSpPr>
        <p:spPr>
          <a:xfrm>
            <a:off x="540854" y="1791121"/>
            <a:ext cx="138437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Initiative health</a:t>
            </a:r>
          </a:p>
        </p:txBody>
      </p:sp>
      <p:sp>
        <p:nvSpPr>
          <p:cNvPr id="72" name="Oval 71">
            <a:extLst>
              <a:ext uri="{FF2B5EF4-FFF2-40B4-BE49-F238E27FC236}">
                <a16:creationId xmlns:a16="http://schemas.microsoft.com/office/drawing/2014/main" id="{DC261A85-FE3B-9C84-C617-AA06A23703B4}"/>
              </a:ext>
            </a:extLst>
          </p:cNvPr>
          <p:cNvSpPr/>
          <p:nvPr/>
        </p:nvSpPr>
        <p:spPr>
          <a:xfrm>
            <a:off x="934806" y="2168302"/>
            <a:ext cx="91440" cy="9144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73" name="Oval 72">
            <a:extLst>
              <a:ext uri="{FF2B5EF4-FFF2-40B4-BE49-F238E27FC236}">
                <a16:creationId xmlns:a16="http://schemas.microsoft.com/office/drawing/2014/main" id="{03A48C47-5275-06D1-9990-BE61C7AB02DC}"/>
              </a:ext>
            </a:extLst>
          </p:cNvPr>
          <p:cNvSpPr/>
          <p:nvPr/>
        </p:nvSpPr>
        <p:spPr>
          <a:xfrm>
            <a:off x="934806" y="2409412"/>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74" name="Oval 73">
            <a:extLst>
              <a:ext uri="{FF2B5EF4-FFF2-40B4-BE49-F238E27FC236}">
                <a16:creationId xmlns:a16="http://schemas.microsoft.com/office/drawing/2014/main" id="{0FE0F793-74AF-549E-D9FD-16EFCFE5108C}"/>
              </a:ext>
            </a:extLst>
          </p:cNvPr>
          <p:cNvSpPr/>
          <p:nvPr/>
        </p:nvSpPr>
        <p:spPr>
          <a:xfrm>
            <a:off x="934806" y="2650522"/>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75" name="Oval 74">
            <a:extLst>
              <a:ext uri="{FF2B5EF4-FFF2-40B4-BE49-F238E27FC236}">
                <a16:creationId xmlns:a16="http://schemas.microsoft.com/office/drawing/2014/main" id="{1780DCFB-7374-E0E9-244C-CD296E0549C5}"/>
              </a:ext>
            </a:extLst>
          </p:cNvPr>
          <p:cNvSpPr/>
          <p:nvPr/>
        </p:nvSpPr>
        <p:spPr>
          <a:xfrm>
            <a:off x="934806" y="2891632"/>
            <a:ext cx="91440" cy="91440"/>
          </a:xfrm>
          <a:prstGeom prst="ellips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98" name="Rectangle 97">
            <a:extLst>
              <a:ext uri="{FF2B5EF4-FFF2-40B4-BE49-F238E27FC236}">
                <a16:creationId xmlns:a16="http://schemas.microsoft.com/office/drawing/2014/main" id="{91043405-23B6-B8A4-4ED1-2730517D74AF}"/>
              </a:ext>
            </a:extLst>
          </p:cNvPr>
          <p:cNvSpPr/>
          <p:nvPr/>
        </p:nvSpPr>
        <p:spPr>
          <a:xfrm>
            <a:off x="1079721" y="212465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Major Issues</a:t>
            </a:r>
          </a:p>
        </p:txBody>
      </p:sp>
      <p:sp>
        <p:nvSpPr>
          <p:cNvPr id="99" name="Rectangle 98">
            <a:extLst>
              <a:ext uri="{FF2B5EF4-FFF2-40B4-BE49-F238E27FC236}">
                <a16:creationId xmlns:a16="http://schemas.microsoft.com/office/drawing/2014/main" id="{AA44986E-39C1-21C9-9A22-9B501AFE19D4}"/>
              </a:ext>
            </a:extLst>
          </p:cNvPr>
          <p:cNvSpPr/>
          <p:nvPr/>
        </p:nvSpPr>
        <p:spPr>
          <a:xfrm>
            <a:off x="1079721" y="285677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Not Started</a:t>
            </a:r>
          </a:p>
        </p:txBody>
      </p:sp>
      <p:sp>
        <p:nvSpPr>
          <p:cNvPr id="100" name="Rectangle 99">
            <a:extLst>
              <a:ext uri="{FF2B5EF4-FFF2-40B4-BE49-F238E27FC236}">
                <a16:creationId xmlns:a16="http://schemas.microsoft.com/office/drawing/2014/main" id="{A7909EE6-8390-4C0B-AD3E-D306B3A1D4B7}"/>
              </a:ext>
            </a:extLst>
          </p:cNvPr>
          <p:cNvSpPr/>
          <p:nvPr/>
        </p:nvSpPr>
        <p:spPr>
          <a:xfrm>
            <a:off x="1079721" y="236869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At Risk</a:t>
            </a:r>
          </a:p>
        </p:txBody>
      </p:sp>
      <p:sp>
        <p:nvSpPr>
          <p:cNvPr id="101" name="Rectangle 100">
            <a:extLst>
              <a:ext uri="{FF2B5EF4-FFF2-40B4-BE49-F238E27FC236}">
                <a16:creationId xmlns:a16="http://schemas.microsoft.com/office/drawing/2014/main" id="{D9BE1596-3698-8F4D-B13B-1A198015048D}"/>
              </a:ext>
            </a:extLst>
          </p:cNvPr>
          <p:cNvSpPr/>
          <p:nvPr/>
        </p:nvSpPr>
        <p:spPr>
          <a:xfrm>
            <a:off x="1079721" y="261273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On Track</a:t>
            </a:r>
          </a:p>
        </p:txBody>
      </p:sp>
      <p:sp>
        <p:nvSpPr>
          <p:cNvPr id="102" name="Oval 101">
            <a:extLst>
              <a:ext uri="{FF2B5EF4-FFF2-40B4-BE49-F238E27FC236}">
                <a16:creationId xmlns:a16="http://schemas.microsoft.com/office/drawing/2014/main" id="{51FE4E0E-C021-76BF-E227-B905983B2EBF}"/>
              </a:ext>
            </a:extLst>
          </p:cNvPr>
          <p:cNvSpPr/>
          <p:nvPr/>
        </p:nvSpPr>
        <p:spPr>
          <a:xfrm>
            <a:off x="934806" y="3134107"/>
            <a:ext cx="91440" cy="9144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103" name="Rectangle 102">
            <a:extLst>
              <a:ext uri="{FF2B5EF4-FFF2-40B4-BE49-F238E27FC236}">
                <a16:creationId xmlns:a16="http://schemas.microsoft.com/office/drawing/2014/main" id="{4249FC55-9969-2BD6-B71D-999E704DF20B}"/>
              </a:ext>
            </a:extLst>
          </p:cNvPr>
          <p:cNvSpPr/>
          <p:nvPr/>
        </p:nvSpPr>
        <p:spPr>
          <a:xfrm>
            <a:off x="1079721" y="3099250"/>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Completed</a:t>
            </a:r>
          </a:p>
        </p:txBody>
      </p:sp>
      <p:graphicFrame>
        <p:nvGraphicFramePr>
          <p:cNvPr id="114" name="Chart 113">
            <a:extLst>
              <a:ext uri="{FF2B5EF4-FFF2-40B4-BE49-F238E27FC236}">
                <a16:creationId xmlns:a16="http://schemas.microsoft.com/office/drawing/2014/main" id="{A3B9BF20-84E2-2E76-D50A-5B737E0F9C5D}"/>
              </a:ext>
            </a:extLst>
          </p:cNvPr>
          <p:cNvGraphicFramePr/>
          <p:nvPr/>
        </p:nvGraphicFramePr>
        <p:xfrm>
          <a:off x="1887440" y="2016565"/>
          <a:ext cx="2093601" cy="2416358"/>
        </p:xfrm>
        <a:graphic>
          <a:graphicData uri="http://schemas.openxmlformats.org/drawingml/2006/chart">
            <c:chart xmlns:c="http://schemas.openxmlformats.org/drawingml/2006/chart" xmlns:r="http://schemas.openxmlformats.org/officeDocument/2006/relationships" r:id="rId5"/>
          </a:graphicData>
        </a:graphic>
      </p:graphicFrame>
      <p:sp>
        <p:nvSpPr>
          <p:cNvPr id="92" name="Rectangle 91">
            <a:extLst>
              <a:ext uri="{FF2B5EF4-FFF2-40B4-BE49-F238E27FC236}">
                <a16:creationId xmlns:a16="http://schemas.microsoft.com/office/drawing/2014/main" id="{40996150-A767-01C5-B0DB-5CBF2FAB43FE}"/>
              </a:ext>
            </a:extLst>
          </p:cNvPr>
          <p:cNvSpPr/>
          <p:nvPr/>
        </p:nvSpPr>
        <p:spPr>
          <a:xfrm>
            <a:off x="612338" y="3439761"/>
            <a:ext cx="3331430" cy="12319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accomplishments this quarter</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CA" sz="1200" b="0" i="0" u="none" strike="noStrike" kern="1200" cap="none" spc="0" normalizeH="0" baseline="0" noProof="0">
                <a:ln>
                  <a:noFill/>
                </a:ln>
                <a:solidFill>
                  <a:srgbClr val="000000"/>
                </a:solidFill>
                <a:effectLst/>
                <a:uLnTx/>
                <a:uFillTx/>
                <a:latin typeface="Scotia"/>
                <a:ea typeface="+mn-ea"/>
                <a:cs typeface="+mn-cs"/>
              </a:rPr>
              <a:t>Reached $76MM in run-rate savings out of ~$150MM target through Project Falcon [A4]</a:t>
            </a:r>
            <a:endParaRPr kumimoji="0" lang="en-US" sz="1200" b="0" i="0" u="none" strike="noStrike" kern="1200" cap="none" spc="0" normalizeH="0" baseline="0" noProof="0">
              <a:ln>
                <a:noFill/>
              </a:ln>
              <a:solidFill>
                <a:srgbClr val="000000"/>
              </a:solidFill>
              <a:effectLst/>
              <a:uLnTx/>
              <a:uFillTx/>
              <a:latin typeface="Scotia"/>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Scotia"/>
              <a:ea typeface="+mn-ea"/>
              <a:cs typeface="+mn-cs"/>
            </a:endParaRPr>
          </a:p>
        </p:txBody>
      </p:sp>
      <p:sp>
        <p:nvSpPr>
          <p:cNvPr id="12" name="Rectangle 11">
            <a:extLst>
              <a:ext uri="{FF2B5EF4-FFF2-40B4-BE49-F238E27FC236}">
                <a16:creationId xmlns:a16="http://schemas.microsoft.com/office/drawing/2014/main" id="{0198F886-5B89-257B-790D-4E874CDBA372}"/>
              </a:ext>
            </a:extLst>
          </p:cNvPr>
          <p:cNvSpPr/>
          <p:nvPr/>
        </p:nvSpPr>
        <p:spPr>
          <a:xfrm>
            <a:off x="627824" y="212465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sp>
        <p:nvSpPr>
          <p:cNvPr id="13" name="Rectangle 12">
            <a:extLst>
              <a:ext uri="{FF2B5EF4-FFF2-40B4-BE49-F238E27FC236}">
                <a16:creationId xmlns:a16="http://schemas.microsoft.com/office/drawing/2014/main" id="{6EDDF78F-F035-D489-562D-0E1FF5198A1E}"/>
              </a:ext>
            </a:extLst>
          </p:cNvPr>
          <p:cNvSpPr/>
          <p:nvPr/>
        </p:nvSpPr>
        <p:spPr>
          <a:xfrm>
            <a:off x="627824" y="285677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1</a:t>
            </a:r>
          </a:p>
        </p:txBody>
      </p:sp>
      <p:sp>
        <p:nvSpPr>
          <p:cNvPr id="14" name="Rectangle 13">
            <a:extLst>
              <a:ext uri="{FF2B5EF4-FFF2-40B4-BE49-F238E27FC236}">
                <a16:creationId xmlns:a16="http://schemas.microsoft.com/office/drawing/2014/main" id="{FE99282B-D85A-BF87-62DE-C2131E1DEF39}"/>
              </a:ext>
            </a:extLst>
          </p:cNvPr>
          <p:cNvSpPr/>
          <p:nvPr/>
        </p:nvSpPr>
        <p:spPr>
          <a:xfrm>
            <a:off x="627824" y="236869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2</a:t>
            </a:r>
          </a:p>
        </p:txBody>
      </p:sp>
      <p:sp>
        <p:nvSpPr>
          <p:cNvPr id="15" name="Rectangle 14">
            <a:extLst>
              <a:ext uri="{FF2B5EF4-FFF2-40B4-BE49-F238E27FC236}">
                <a16:creationId xmlns:a16="http://schemas.microsoft.com/office/drawing/2014/main" id="{2E605925-DF88-CE91-54A8-0F1C2F2B6879}"/>
              </a:ext>
            </a:extLst>
          </p:cNvPr>
          <p:cNvSpPr/>
          <p:nvPr/>
        </p:nvSpPr>
        <p:spPr>
          <a:xfrm>
            <a:off x="627824" y="261273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1</a:t>
            </a:r>
          </a:p>
        </p:txBody>
      </p:sp>
      <p:sp>
        <p:nvSpPr>
          <p:cNvPr id="16" name="Rectangle 15">
            <a:extLst>
              <a:ext uri="{FF2B5EF4-FFF2-40B4-BE49-F238E27FC236}">
                <a16:creationId xmlns:a16="http://schemas.microsoft.com/office/drawing/2014/main" id="{164765C2-295E-12A5-E3A7-D40731670ADF}"/>
              </a:ext>
            </a:extLst>
          </p:cNvPr>
          <p:cNvSpPr/>
          <p:nvPr/>
        </p:nvSpPr>
        <p:spPr>
          <a:xfrm>
            <a:off x="627824" y="3099250"/>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cxnSp>
        <p:nvCxnSpPr>
          <p:cNvPr id="18" name="Straight Connector 17">
            <a:extLst>
              <a:ext uri="{FF2B5EF4-FFF2-40B4-BE49-F238E27FC236}">
                <a16:creationId xmlns:a16="http://schemas.microsoft.com/office/drawing/2014/main" id="{DD8A5412-6741-83D6-E023-69909E6C0546}"/>
              </a:ext>
            </a:extLst>
          </p:cNvPr>
          <p:cNvCxnSpPr/>
          <p:nvPr/>
        </p:nvCxnSpPr>
        <p:spPr>
          <a:xfrm>
            <a:off x="1911141" y="1836841"/>
            <a:ext cx="0" cy="1500719"/>
          </a:xfrm>
          <a:prstGeom prst="line">
            <a:avLst/>
          </a:prstGeom>
          <a:ln w="12700">
            <a:solidFill>
              <a:srgbClr val="A6A6A6"/>
            </a:solidFill>
            <a:prstDash val="sysDot"/>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0391243D-4DD5-B579-66F7-A89E2EC755C5}"/>
              </a:ext>
            </a:extLst>
          </p:cNvPr>
          <p:cNvSpPr/>
          <p:nvPr/>
        </p:nvSpPr>
        <p:spPr>
          <a:xfrm>
            <a:off x="4418090" y="4895223"/>
            <a:ext cx="3345120" cy="1456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areas of concern</a:t>
            </a:r>
          </a:p>
          <a:p>
            <a:pPr marL="182563" marR="0" lvl="0" indent="-182563"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Scotia" panose="020B0503020203020204" pitchFamily="34" charset="0"/>
                <a:cs typeface="+mn-cs"/>
              </a:rPr>
              <a:t>Approximately a third of active Marquee Programs are non-green [B1] </a:t>
            </a:r>
            <a:r>
              <a:rPr kumimoji="0" lang="en-US" sz="1200" b="0" i="1" u="none" strike="noStrike" kern="1200" cap="none" spc="0" normalizeH="0" baseline="0" noProof="0">
                <a:ln>
                  <a:noFill/>
                </a:ln>
                <a:solidFill>
                  <a:srgbClr val="EC111A"/>
                </a:solidFill>
                <a:effectLst/>
                <a:uLnTx/>
                <a:uFillTx/>
                <a:latin typeface="Scotia"/>
                <a:ea typeface="Scotia" panose="020B0503020203020204" pitchFamily="34" charset="0"/>
                <a:cs typeface="+mn-cs"/>
              </a:rPr>
              <a:t>(see Quarterly Board Report for details)</a:t>
            </a:r>
            <a:r>
              <a:rPr kumimoji="0" lang="en-US" sz="1200" b="0" i="0" u="none" strike="noStrike" kern="1200" cap="none" spc="0" normalizeH="0" baseline="0" noProof="0">
                <a:ln>
                  <a:noFill/>
                </a:ln>
                <a:solidFill>
                  <a:srgbClr val="000000"/>
                </a:solidFill>
                <a:effectLst/>
                <a:uLnTx/>
                <a:uFillTx/>
                <a:latin typeface="Scotia"/>
                <a:ea typeface="Scotia" panose="020B0503020203020204" pitchFamily="34" charset="0"/>
                <a:cs typeface="+mn-cs"/>
              </a:rPr>
              <a:t>, with return-to-green planning and ongoing efforts to strengthen delivery capability underway </a:t>
            </a:r>
          </a:p>
        </p:txBody>
      </p:sp>
      <p:sp>
        <p:nvSpPr>
          <p:cNvPr id="47" name="Rectangle 46">
            <a:extLst>
              <a:ext uri="{FF2B5EF4-FFF2-40B4-BE49-F238E27FC236}">
                <a16:creationId xmlns:a16="http://schemas.microsoft.com/office/drawing/2014/main" id="{C4569D97-48D4-5B1D-36DF-3DC0BD40C64F}"/>
              </a:ext>
            </a:extLst>
          </p:cNvPr>
          <p:cNvSpPr/>
          <p:nvPr/>
        </p:nvSpPr>
        <p:spPr>
          <a:xfrm>
            <a:off x="5790278" y="1791121"/>
            <a:ext cx="199082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Work package completion</a:t>
            </a:r>
          </a:p>
        </p:txBody>
      </p:sp>
      <p:sp>
        <p:nvSpPr>
          <p:cNvPr id="48" name="Rectangle 47">
            <a:extLst>
              <a:ext uri="{FF2B5EF4-FFF2-40B4-BE49-F238E27FC236}">
                <a16:creationId xmlns:a16="http://schemas.microsoft.com/office/drawing/2014/main" id="{D909D69D-31A7-8C63-46DC-E0734743ADB3}"/>
              </a:ext>
            </a:extLst>
          </p:cNvPr>
          <p:cNvSpPr/>
          <p:nvPr/>
        </p:nvSpPr>
        <p:spPr>
          <a:xfrm>
            <a:off x="4288973" y="1791121"/>
            <a:ext cx="138437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Initiative health</a:t>
            </a:r>
          </a:p>
        </p:txBody>
      </p:sp>
      <p:sp>
        <p:nvSpPr>
          <p:cNvPr id="49" name="Oval 48">
            <a:extLst>
              <a:ext uri="{FF2B5EF4-FFF2-40B4-BE49-F238E27FC236}">
                <a16:creationId xmlns:a16="http://schemas.microsoft.com/office/drawing/2014/main" id="{9617F963-5FB8-B260-A8F8-ECF966A9BC91}"/>
              </a:ext>
            </a:extLst>
          </p:cNvPr>
          <p:cNvSpPr/>
          <p:nvPr/>
        </p:nvSpPr>
        <p:spPr>
          <a:xfrm>
            <a:off x="4682925" y="2168302"/>
            <a:ext cx="91440" cy="9144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50" name="Oval 49">
            <a:extLst>
              <a:ext uri="{FF2B5EF4-FFF2-40B4-BE49-F238E27FC236}">
                <a16:creationId xmlns:a16="http://schemas.microsoft.com/office/drawing/2014/main" id="{1ABF29BA-26CB-52CA-4991-BB43E294A151}"/>
              </a:ext>
            </a:extLst>
          </p:cNvPr>
          <p:cNvSpPr/>
          <p:nvPr/>
        </p:nvSpPr>
        <p:spPr>
          <a:xfrm>
            <a:off x="4682925" y="2409412"/>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51" name="Oval 50">
            <a:extLst>
              <a:ext uri="{FF2B5EF4-FFF2-40B4-BE49-F238E27FC236}">
                <a16:creationId xmlns:a16="http://schemas.microsoft.com/office/drawing/2014/main" id="{55168D39-1A1F-2F2A-B3DB-B75FC2CB1BDA}"/>
              </a:ext>
            </a:extLst>
          </p:cNvPr>
          <p:cNvSpPr/>
          <p:nvPr/>
        </p:nvSpPr>
        <p:spPr>
          <a:xfrm>
            <a:off x="4682925" y="2650522"/>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52" name="Oval 51">
            <a:extLst>
              <a:ext uri="{FF2B5EF4-FFF2-40B4-BE49-F238E27FC236}">
                <a16:creationId xmlns:a16="http://schemas.microsoft.com/office/drawing/2014/main" id="{2DBBEAEB-98AA-29EA-4907-4D79CB010BF3}"/>
              </a:ext>
            </a:extLst>
          </p:cNvPr>
          <p:cNvSpPr/>
          <p:nvPr/>
        </p:nvSpPr>
        <p:spPr>
          <a:xfrm>
            <a:off x="4682925" y="2891632"/>
            <a:ext cx="91440" cy="91440"/>
          </a:xfrm>
          <a:prstGeom prst="ellips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53" name="Rectangle 52">
            <a:extLst>
              <a:ext uri="{FF2B5EF4-FFF2-40B4-BE49-F238E27FC236}">
                <a16:creationId xmlns:a16="http://schemas.microsoft.com/office/drawing/2014/main" id="{9B580CB1-327E-F7D6-A63A-A0BC69A80580}"/>
              </a:ext>
            </a:extLst>
          </p:cNvPr>
          <p:cNvSpPr/>
          <p:nvPr/>
        </p:nvSpPr>
        <p:spPr>
          <a:xfrm>
            <a:off x="4827840" y="212465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Major Issues</a:t>
            </a:r>
          </a:p>
        </p:txBody>
      </p:sp>
      <p:sp>
        <p:nvSpPr>
          <p:cNvPr id="54" name="Rectangle 53">
            <a:extLst>
              <a:ext uri="{FF2B5EF4-FFF2-40B4-BE49-F238E27FC236}">
                <a16:creationId xmlns:a16="http://schemas.microsoft.com/office/drawing/2014/main" id="{46E275D4-C07D-263B-F116-17A2127197B0}"/>
              </a:ext>
            </a:extLst>
          </p:cNvPr>
          <p:cNvSpPr/>
          <p:nvPr/>
        </p:nvSpPr>
        <p:spPr>
          <a:xfrm>
            <a:off x="4827840" y="285677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Not Started</a:t>
            </a:r>
          </a:p>
        </p:txBody>
      </p:sp>
      <p:sp>
        <p:nvSpPr>
          <p:cNvPr id="56" name="Rectangle 55">
            <a:extLst>
              <a:ext uri="{FF2B5EF4-FFF2-40B4-BE49-F238E27FC236}">
                <a16:creationId xmlns:a16="http://schemas.microsoft.com/office/drawing/2014/main" id="{BD48C965-7F1F-DB28-1F26-7344E126F3F6}"/>
              </a:ext>
            </a:extLst>
          </p:cNvPr>
          <p:cNvSpPr/>
          <p:nvPr/>
        </p:nvSpPr>
        <p:spPr>
          <a:xfrm>
            <a:off x="4827840" y="236869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At Risk</a:t>
            </a:r>
          </a:p>
        </p:txBody>
      </p:sp>
      <p:sp>
        <p:nvSpPr>
          <p:cNvPr id="57" name="Rectangle 56">
            <a:extLst>
              <a:ext uri="{FF2B5EF4-FFF2-40B4-BE49-F238E27FC236}">
                <a16:creationId xmlns:a16="http://schemas.microsoft.com/office/drawing/2014/main" id="{CAD34C7F-269C-CFB0-2E35-A4EF3FD48E5C}"/>
              </a:ext>
            </a:extLst>
          </p:cNvPr>
          <p:cNvSpPr/>
          <p:nvPr/>
        </p:nvSpPr>
        <p:spPr>
          <a:xfrm>
            <a:off x="4827840" y="261273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On Track</a:t>
            </a:r>
          </a:p>
        </p:txBody>
      </p:sp>
      <p:sp>
        <p:nvSpPr>
          <p:cNvPr id="58" name="Oval 57">
            <a:extLst>
              <a:ext uri="{FF2B5EF4-FFF2-40B4-BE49-F238E27FC236}">
                <a16:creationId xmlns:a16="http://schemas.microsoft.com/office/drawing/2014/main" id="{8176E836-95B0-FE71-30D7-B21D23CC0B31}"/>
              </a:ext>
            </a:extLst>
          </p:cNvPr>
          <p:cNvSpPr/>
          <p:nvPr/>
        </p:nvSpPr>
        <p:spPr>
          <a:xfrm>
            <a:off x="4682925" y="3134107"/>
            <a:ext cx="91440" cy="9144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59" name="Rectangle 58">
            <a:extLst>
              <a:ext uri="{FF2B5EF4-FFF2-40B4-BE49-F238E27FC236}">
                <a16:creationId xmlns:a16="http://schemas.microsoft.com/office/drawing/2014/main" id="{9BA652BB-F61C-812E-10F1-DD3F8943FEA3}"/>
              </a:ext>
            </a:extLst>
          </p:cNvPr>
          <p:cNvSpPr/>
          <p:nvPr/>
        </p:nvSpPr>
        <p:spPr>
          <a:xfrm>
            <a:off x="4827840" y="3099250"/>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Completed</a:t>
            </a:r>
          </a:p>
        </p:txBody>
      </p:sp>
      <p:graphicFrame>
        <p:nvGraphicFramePr>
          <p:cNvPr id="60" name="Chart 59">
            <a:extLst>
              <a:ext uri="{FF2B5EF4-FFF2-40B4-BE49-F238E27FC236}">
                <a16:creationId xmlns:a16="http://schemas.microsoft.com/office/drawing/2014/main" id="{3F3A6B7D-6DD0-0342-2DA4-6891109F3EA5}"/>
              </a:ext>
            </a:extLst>
          </p:cNvPr>
          <p:cNvGraphicFramePr/>
          <p:nvPr/>
        </p:nvGraphicFramePr>
        <p:xfrm>
          <a:off x="5635559" y="2016565"/>
          <a:ext cx="2093601" cy="2416358"/>
        </p:xfrm>
        <a:graphic>
          <a:graphicData uri="http://schemas.openxmlformats.org/drawingml/2006/chart">
            <c:chart xmlns:c="http://schemas.openxmlformats.org/drawingml/2006/chart" xmlns:r="http://schemas.openxmlformats.org/officeDocument/2006/relationships" r:id="rId6"/>
          </a:graphicData>
        </a:graphic>
      </p:graphicFrame>
      <p:sp>
        <p:nvSpPr>
          <p:cNvPr id="61" name="Rectangle 60">
            <a:extLst>
              <a:ext uri="{FF2B5EF4-FFF2-40B4-BE49-F238E27FC236}">
                <a16:creationId xmlns:a16="http://schemas.microsoft.com/office/drawing/2014/main" id="{16D4CE26-23F4-384B-49D4-4D002973C6B4}"/>
              </a:ext>
            </a:extLst>
          </p:cNvPr>
          <p:cNvSpPr/>
          <p:nvPr/>
        </p:nvSpPr>
        <p:spPr>
          <a:xfrm>
            <a:off x="4424935" y="3439762"/>
            <a:ext cx="3331430" cy="123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accomplishments this quarter</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Launched first Agile pilot (Data and AI Platforms) [B2]</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CA" sz="1200" b="0" i="0" u="none" strike="noStrike" kern="1200" cap="none" spc="0" normalizeH="0" baseline="0" noProof="0">
                <a:ln>
                  <a:noFill/>
                </a:ln>
                <a:solidFill>
                  <a:srgbClr val="000000"/>
                </a:solidFill>
                <a:effectLst/>
                <a:uLnTx/>
                <a:uFillTx/>
                <a:latin typeface="Scotia"/>
                <a:ea typeface="Scotia" panose="020B0503020203020204" pitchFamily="34" charset="0"/>
                <a:cs typeface="+mn-cs"/>
              </a:rPr>
              <a:t>Rolled out</a:t>
            </a:r>
            <a:r>
              <a:rPr kumimoji="0" lang="en-US" sz="1200" b="0" i="0" u="none" strike="noStrike" kern="1200" cap="none" spc="0" normalizeH="0" baseline="0" noProof="0">
                <a:ln>
                  <a:noFill/>
                </a:ln>
                <a:solidFill>
                  <a:srgbClr val="000000"/>
                </a:solidFill>
                <a:effectLst/>
                <a:uLnTx/>
                <a:uFillTx/>
                <a:latin typeface="Scotia"/>
                <a:ea typeface="+mn-ea"/>
                <a:cs typeface="+mn-cs"/>
              </a:rPr>
              <a:t> </a:t>
            </a:r>
            <a:r>
              <a:rPr kumimoji="0" lang="en-US" sz="1200" b="0" i="0" u="none" strike="noStrike" kern="1200" cap="none" spc="0" normalizeH="0" baseline="0" noProof="0" err="1">
                <a:ln>
                  <a:noFill/>
                </a:ln>
                <a:solidFill>
                  <a:srgbClr val="000000"/>
                </a:solidFill>
                <a:effectLst/>
                <a:uLnTx/>
                <a:uFillTx/>
                <a:latin typeface="Scotia"/>
                <a:ea typeface="+mn-ea"/>
                <a:cs typeface="+mn-cs"/>
              </a:rPr>
              <a:t>Github</a:t>
            </a:r>
            <a:r>
              <a:rPr kumimoji="0" lang="en-US" sz="1200" b="0" i="0" u="none" strike="noStrike" kern="1200" cap="none" spc="0" normalizeH="0" baseline="0" noProof="0">
                <a:ln>
                  <a:noFill/>
                </a:ln>
                <a:solidFill>
                  <a:srgbClr val="000000"/>
                </a:solidFill>
                <a:effectLst/>
                <a:uLnTx/>
                <a:uFillTx/>
                <a:latin typeface="Scotia"/>
                <a:ea typeface="+mn-ea"/>
                <a:cs typeface="+mn-cs"/>
              </a:rPr>
              <a:t> Copilot to ~4,000 technologists through Navigator [B5]</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Scotia"/>
              <a:ea typeface="+mn-ea"/>
              <a:cs typeface="+mn-cs"/>
            </a:endParaRPr>
          </a:p>
        </p:txBody>
      </p:sp>
      <p:sp>
        <p:nvSpPr>
          <p:cNvPr id="64" name="Rectangle 63">
            <a:extLst>
              <a:ext uri="{FF2B5EF4-FFF2-40B4-BE49-F238E27FC236}">
                <a16:creationId xmlns:a16="http://schemas.microsoft.com/office/drawing/2014/main" id="{9A29BD6F-5FFA-C70B-9595-9FDAA605B678}"/>
              </a:ext>
            </a:extLst>
          </p:cNvPr>
          <p:cNvSpPr/>
          <p:nvPr/>
        </p:nvSpPr>
        <p:spPr>
          <a:xfrm>
            <a:off x="4375943" y="212465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sp>
        <p:nvSpPr>
          <p:cNvPr id="65" name="Rectangle 64">
            <a:extLst>
              <a:ext uri="{FF2B5EF4-FFF2-40B4-BE49-F238E27FC236}">
                <a16:creationId xmlns:a16="http://schemas.microsoft.com/office/drawing/2014/main" id="{5C58518F-EAC1-6420-3800-61A772CB7CA3}"/>
              </a:ext>
            </a:extLst>
          </p:cNvPr>
          <p:cNvSpPr/>
          <p:nvPr/>
        </p:nvSpPr>
        <p:spPr>
          <a:xfrm>
            <a:off x="4375943" y="285677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sp>
        <p:nvSpPr>
          <p:cNvPr id="66" name="Rectangle 65">
            <a:extLst>
              <a:ext uri="{FF2B5EF4-FFF2-40B4-BE49-F238E27FC236}">
                <a16:creationId xmlns:a16="http://schemas.microsoft.com/office/drawing/2014/main" id="{614E295C-3FEE-2519-9920-C223392022CE}"/>
              </a:ext>
            </a:extLst>
          </p:cNvPr>
          <p:cNvSpPr/>
          <p:nvPr/>
        </p:nvSpPr>
        <p:spPr>
          <a:xfrm>
            <a:off x="4375943" y="236869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sp>
        <p:nvSpPr>
          <p:cNvPr id="67" name="Rectangle 66">
            <a:extLst>
              <a:ext uri="{FF2B5EF4-FFF2-40B4-BE49-F238E27FC236}">
                <a16:creationId xmlns:a16="http://schemas.microsoft.com/office/drawing/2014/main" id="{4D04126F-707D-0AF2-D91E-4EE58FB022E8}"/>
              </a:ext>
            </a:extLst>
          </p:cNvPr>
          <p:cNvSpPr/>
          <p:nvPr/>
        </p:nvSpPr>
        <p:spPr>
          <a:xfrm>
            <a:off x="4375943" y="261273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5</a:t>
            </a:r>
          </a:p>
        </p:txBody>
      </p:sp>
      <p:sp>
        <p:nvSpPr>
          <p:cNvPr id="68" name="Rectangle 67">
            <a:extLst>
              <a:ext uri="{FF2B5EF4-FFF2-40B4-BE49-F238E27FC236}">
                <a16:creationId xmlns:a16="http://schemas.microsoft.com/office/drawing/2014/main" id="{A4211D99-ED6B-EAEF-A613-3DF1A39B9DEC}"/>
              </a:ext>
            </a:extLst>
          </p:cNvPr>
          <p:cNvSpPr/>
          <p:nvPr/>
        </p:nvSpPr>
        <p:spPr>
          <a:xfrm>
            <a:off x="4375943" y="3099250"/>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cxnSp>
        <p:nvCxnSpPr>
          <p:cNvPr id="69" name="Straight Connector 68">
            <a:extLst>
              <a:ext uri="{FF2B5EF4-FFF2-40B4-BE49-F238E27FC236}">
                <a16:creationId xmlns:a16="http://schemas.microsoft.com/office/drawing/2014/main" id="{C8F51A1F-C568-78A9-A0A0-C950B1015902}"/>
              </a:ext>
            </a:extLst>
          </p:cNvPr>
          <p:cNvCxnSpPr/>
          <p:nvPr/>
        </p:nvCxnSpPr>
        <p:spPr>
          <a:xfrm>
            <a:off x="5659260" y="1836841"/>
            <a:ext cx="0" cy="1500719"/>
          </a:xfrm>
          <a:prstGeom prst="line">
            <a:avLst/>
          </a:prstGeom>
          <a:ln w="12700">
            <a:solidFill>
              <a:srgbClr val="A6A6A6"/>
            </a:solidFill>
            <a:prstDash val="sysDot"/>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3AB4C1D3-88C2-061B-61D1-4845BD299F0F}"/>
              </a:ext>
            </a:extLst>
          </p:cNvPr>
          <p:cNvSpPr/>
          <p:nvPr/>
        </p:nvSpPr>
        <p:spPr>
          <a:xfrm>
            <a:off x="8241388" y="4895223"/>
            <a:ext cx="3345120" cy="1456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areas of concern</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Cloud enablement program is at risk due to dependency risks and module delays [C5] </a:t>
            </a:r>
            <a:r>
              <a:rPr kumimoji="0" lang="en-US" sz="1200" b="0" i="1" u="none" strike="noStrike" kern="1200" cap="none" spc="0" normalizeH="0" baseline="0" noProof="0">
                <a:ln>
                  <a:noFill/>
                </a:ln>
                <a:solidFill>
                  <a:srgbClr val="EC111A"/>
                </a:solidFill>
                <a:effectLst/>
                <a:uLnTx/>
                <a:uFillTx/>
                <a:latin typeface="Scotia"/>
                <a:ea typeface="Scotia" panose="020B0503020203020204" pitchFamily="34" charset="0"/>
                <a:cs typeface="+mn-cs"/>
              </a:rPr>
              <a:t>(see </a:t>
            </a:r>
            <a:r>
              <a:rPr kumimoji="0" lang="en-US" sz="1200" b="0" i="1" u="none" strike="noStrike" kern="1200" cap="none" spc="0" normalizeH="0" baseline="0" noProof="0">
                <a:ln>
                  <a:noFill/>
                </a:ln>
                <a:solidFill>
                  <a:srgbClr val="EC111A"/>
                </a:solidFill>
                <a:effectLst/>
                <a:uLnTx/>
                <a:uFillTx/>
                <a:latin typeface="Scotia"/>
                <a:ea typeface="+mn-ea"/>
                <a:cs typeface="+mn-cs"/>
              </a:rPr>
              <a:t>Cloud Strategy Update for</a:t>
            </a:r>
            <a:r>
              <a:rPr kumimoji="0" lang="en-US" sz="1200" b="0" i="1" u="none" strike="noStrike" kern="1200" cap="none" spc="0" normalizeH="0" baseline="0" noProof="0">
                <a:ln>
                  <a:noFill/>
                </a:ln>
                <a:solidFill>
                  <a:srgbClr val="EC111A"/>
                </a:solidFill>
                <a:effectLst/>
                <a:uLnTx/>
                <a:uFillTx/>
                <a:latin typeface="Scotia"/>
                <a:ea typeface="Scotia" panose="020B0503020203020204" pitchFamily="34" charset="0"/>
                <a:cs typeface="+mn-cs"/>
              </a:rPr>
              <a:t> details)</a:t>
            </a:r>
            <a:endParaRPr kumimoji="0" lang="en-CA" sz="1200" b="0" i="0" u="none" strike="noStrike" kern="1200" cap="none" spc="0" normalizeH="0" baseline="0" noProof="0">
              <a:ln>
                <a:noFill/>
              </a:ln>
              <a:solidFill>
                <a:srgbClr val="000000"/>
              </a:solidFill>
              <a:effectLst/>
              <a:uLnTx/>
              <a:uFillTx/>
              <a:latin typeface="Scotia"/>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Scotia"/>
              <a:ea typeface="+mn-ea"/>
              <a:cs typeface="+mn-cs"/>
            </a:endParaRPr>
          </a:p>
        </p:txBody>
      </p:sp>
      <p:sp>
        <p:nvSpPr>
          <p:cNvPr id="76" name="Rectangle 75">
            <a:extLst>
              <a:ext uri="{FF2B5EF4-FFF2-40B4-BE49-F238E27FC236}">
                <a16:creationId xmlns:a16="http://schemas.microsoft.com/office/drawing/2014/main" id="{57C63AEC-E2CA-CEEB-3245-286D7F84CDE5}"/>
              </a:ext>
            </a:extLst>
          </p:cNvPr>
          <p:cNvSpPr/>
          <p:nvPr/>
        </p:nvSpPr>
        <p:spPr>
          <a:xfrm>
            <a:off x="9660321" y="1791121"/>
            <a:ext cx="199082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Work package completion</a:t>
            </a:r>
          </a:p>
        </p:txBody>
      </p:sp>
      <p:sp>
        <p:nvSpPr>
          <p:cNvPr id="77" name="Rectangle 76">
            <a:extLst>
              <a:ext uri="{FF2B5EF4-FFF2-40B4-BE49-F238E27FC236}">
                <a16:creationId xmlns:a16="http://schemas.microsoft.com/office/drawing/2014/main" id="{816F073F-1754-547B-EFB3-6194EF4975C0}"/>
              </a:ext>
            </a:extLst>
          </p:cNvPr>
          <p:cNvSpPr/>
          <p:nvPr/>
        </p:nvSpPr>
        <p:spPr>
          <a:xfrm>
            <a:off x="8159016" y="1791121"/>
            <a:ext cx="1384375"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Scotia"/>
                <a:ea typeface="+mn-ea"/>
                <a:cs typeface="+mn-cs"/>
              </a:rPr>
              <a:t>Initiative health</a:t>
            </a:r>
          </a:p>
        </p:txBody>
      </p:sp>
      <p:sp>
        <p:nvSpPr>
          <p:cNvPr id="78" name="Oval 77">
            <a:extLst>
              <a:ext uri="{FF2B5EF4-FFF2-40B4-BE49-F238E27FC236}">
                <a16:creationId xmlns:a16="http://schemas.microsoft.com/office/drawing/2014/main" id="{2B88D05A-31F3-51F6-DBC6-B43C4571CC14}"/>
              </a:ext>
            </a:extLst>
          </p:cNvPr>
          <p:cNvSpPr/>
          <p:nvPr/>
        </p:nvSpPr>
        <p:spPr>
          <a:xfrm>
            <a:off x="8552968" y="2168302"/>
            <a:ext cx="91440" cy="91440"/>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79" name="Oval 78">
            <a:extLst>
              <a:ext uri="{FF2B5EF4-FFF2-40B4-BE49-F238E27FC236}">
                <a16:creationId xmlns:a16="http://schemas.microsoft.com/office/drawing/2014/main" id="{9634B32B-AEF7-4C3D-4C00-29F20AC6AF1F}"/>
              </a:ext>
            </a:extLst>
          </p:cNvPr>
          <p:cNvSpPr/>
          <p:nvPr/>
        </p:nvSpPr>
        <p:spPr>
          <a:xfrm>
            <a:off x="8552968" y="2409412"/>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80" name="Oval 79">
            <a:extLst>
              <a:ext uri="{FF2B5EF4-FFF2-40B4-BE49-F238E27FC236}">
                <a16:creationId xmlns:a16="http://schemas.microsoft.com/office/drawing/2014/main" id="{9231485C-E671-6050-DA95-27E5357880A2}"/>
              </a:ext>
            </a:extLst>
          </p:cNvPr>
          <p:cNvSpPr/>
          <p:nvPr/>
        </p:nvSpPr>
        <p:spPr>
          <a:xfrm>
            <a:off x="8552968" y="2650522"/>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81" name="Oval 80">
            <a:extLst>
              <a:ext uri="{FF2B5EF4-FFF2-40B4-BE49-F238E27FC236}">
                <a16:creationId xmlns:a16="http://schemas.microsoft.com/office/drawing/2014/main" id="{876AD438-56D6-EA16-E405-0B5185A762ED}"/>
              </a:ext>
            </a:extLst>
          </p:cNvPr>
          <p:cNvSpPr/>
          <p:nvPr/>
        </p:nvSpPr>
        <p:spPr>
          <a:xfrm>
            <a:off x="8552968" y="2891632"/>
            <a:ext cx="91440" cy="91440"/>
          </a:xfrm>
          <a:prstGeom prst="ellips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82" name="Rectangle 81">
            <a:extLst>
              <a:ext uri="{FF2B5EF4-FFF2-40B4-BE49-F238E27FC236}">
                <a16:creationId xmlns:a16="http://schemas.microsoft.com/office/drawing/2014/main" id="{02D7F3E3-D594-2B62-FC1D-368B294E25D8}"/>
              </a:ext>
            </a:extLst>
          </p:cNvPr>
          <p:cNvSpPr/>
          <p:nvPr/>
        </p:nvSpPr>
        <p:spPr>
          <a:xfrm>
            <a:off x="8697883" y="212465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Major Issues</a:t>
            </a:r>
          </a:p>
        </p:txBody>
      </p:sp>
      <p:sp>
        <p:nvSpPr>
          <p:cNvPr id="83" name="Rectangle 82">
            <a:extLst>
              <a:ext uri="{FF2B5EF4-FFF2-40B4-BE49-F238E27FC236}">
                <a16:creationId xmlns:a16="http://schemas.microsoft.com/office/drawing/2014/main" id="{F658BBE8-E5D6-2900-A109-3F7A973CF650}"/>
              </a:ext>
            </a:extLst>
          </p:cNvPr>
          <p:cNvSpPr/>
          <p:nvPr/>
        </p:nvSpPr>
        <p:spPr>
          <a:xfrm>
            <a:off x="8697883" y="285677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Not Started</a:t>
            </a:r>
          </a:p>
        </p:txBody>
      </p:sp>
      <p:sp>
        <p:nvSpPr>
          <p:cNvPr id="84" name="Rectangle 83">
            <a:extLst>
              <a:ext uri="{FF2B5EF4-FFF2-40B4-BE49-F238E27FC236}">
                <a16:creationId xmlns:a16="http://schemas.microsoft.com/office/drawing/2014/main" id="{57014B51-36B0-A69D-A4A0-B820490B7388}"/>
              </a:ext>
            </a:extLst>
          </p:cNvPr>
          <p:cNvSpPr/>
          <p:nvPr/>
        </p:nvSpPr>
        <p:spPr>
          <a:xfrm>
            <a:off x="8697883" y="2368697"/>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At Risk</a:t>
            </a:r>
          </a:p>
        </p:txBody>
      </p:sp>
      <p:sp>
        <p:nvSpPr>
          <p:cNvPr id="85" name="Rectangle 84">
            <a:extLst>
              <a:ext uri="{FF2B5EF4-FFF2-40B4-BE49-F238E27FC236}">
                <a16:creationId xmlns:a16="http://schemas.microsoft.com/office/drawing/2014/main" id="{0B99977B-8CFB-5D16-D875-1169B2A5C477}"/>
              </a:ext>
            </a:extLst>
          </p:cNvPr>
          <p:cNvSpPr/>
          <p:nvPr/>
        </p:nvSpPr>
        <p:spPr>
          <a:xfrm>
            <a:off x="8697883" y="2612736"/>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On Track</a:t>
            </a:r>
          </a:p>
        </p:txBody>
      </p:sp>
      <p:sp>
        <p:nvSpPr>
          <p:cNvPr id="86" name="Oval 85">
            <a:extLst>
              <a:ext uri="{FF2B5EF4-FFF2-40B4-BE49-F238E27FC236}">
                <a16:creationId xmlns:a16="http://schemas.microsoft.com/office/drawing/2014/main" id="{3BA45C9D-5F73-D43E-F8F4-9EB8F57B1998}"/>
              </a:ext>
            </a:extLst>
          </p:cNvPr>
          <p:cNvSpPr/>
          <p:nvPr/>
        </p:nvSpPr>
        <p:spPr>
          <a:xfrm>
            <a:off x="8552968" y="3134107"/>
            <a:ext cx="91440" cy="9144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Scotia"/>
              <a:ea typeface="+mn-ea"/>
              <a:cs typeface="+mn-cs"/>
            </a:endParaRPr>
          </a:p>
        </p:txBody>
      </p:sp>
      <p:sp>
        <p:nvSpPr>
          <p:cNvPr id="90" name="Rectangle 89">
            <a:extLst>
              <a:ext uri="{FF2B5EF4-FFF2-40B4-BE49-F238E27FC236}">
                <a16:creationId xmlns:a16="http://schemas.microsoft.com/office/drawing/2014/main" id="{FC1446B4-DEB8-3F0F-DC6F-9218F8943D52}"/>
              </a:ext>
            </a:extLst>
          </p:cNvPr>
          <p:cNvSpPr/>
          <p:nvPr/>
        </p:nvSpPr>
        <p:spPr>
          <a:xfrm>
            <a:off x="8697883" y="3099250"/>
            <a:ext cx="900000" cy="1815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mn-cs"/>
              </a:rPr>
              <a:t>Completed</a:t>
            </a:r>
          </a:p>
        </p:txBody>
      </p:sp>
      <p:graphicFrame>
        <p:nvGraphicFramePr>
          <p:cNvPr id="91" name="Chart 90">
            <a:extLst>
              <a:ext uri="{FF2B5EF4-FFF2-40B4-BE49-F238E27FC236}">
                <a16:creationId xmlns:a16="http://schemas.microsoft.com/office/drawing/2014/main" id="{BD3DD56F-786A-0D7D-95EE-6182DFA8C054}"/>
              </a:ext>
            </a:extLst>
          </p:cNvPr>
          <p:cNvGraphicFramePr/>
          <p:nvPr/>
        </p:nvGraphicFramePr>
        <p:xfrm>
          <a:off x="9505602" y="2016565"/>
          <a:ext cx="2093601" cy="2416358"/>
        </p:xfrm>
        <a:graphic>
          <a:graphicData uri="http://schemas.openxmlformats.org/drawingml/2006/chart">
            <c:chart xmlns:c="http://schemas.openxmlformats.org/drawingml/2006/chart" xmlns:r="http://schemas.openxmlformats.org/officeDocument/2006/relationships" r:id="rId7"/>
          </a:graphicData>
        </a:graphic>
      </p:graphicFrame>
      <p:sp>
        <p:nvSpPr>
          <p:cNvPr id="97" name="Rectangle 96">
            <a:extLst>
              <a:ext uri="{FF2B5EF4-FFF2-40B4-BE49-F238E27FC236}">
                <a16:creationId xmlns:a16="http://schemas.microsoft.com/office/drawing/2014/main" id="{96002D00-22E1-57A1-E77A-4D75D6065384}"/>
              </a:ext>
            </a:extLst>
          </p:cNvPr>
          <p:cNvSpPr/>
          <p:nvPr/>
        </p:nvSpPr>
        <p:spPr>
          <a:xfrm>
            <a:off x="8248233" y="3439762"/>
            <a:ext cx="3331430" cy="123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Key accomplishments this quarter</a:t>
            </a:r>
          </a:p>
          <a:p>
            <a:pPr marL="182563" marR="0" lvl="0" indent="-182563"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Deployed Databricks data platform production environment, </a:t>
            </a:r>
            <a:r>
              <a:rPr kumimoji="0" lang="en-CA" sz="1200" b="0" i="0" u="none" strike="noStrike" kern="1200" cap="none" spc="0" normalizeH="0" baseline="0" noProof="0">
                <a:ln>
                  <a:noFill/>
                </a:ln>
                <a:solidFill>
                  <a:srgbClr val="000000"/>
                </a:solidFill>
                <a:effectLst/>
                <a:uLnTx/>
                <a:uFillTx/>
                <a:latin typeface="Scotia"/>
                <a:ea typeface="+mn-ea"/>
                <a:cs typeface="+mn-cs"/>
              </a:rPr>
              <a:t>delivered core Azure cloud foundations to enable </a:t>
            </a:r>
            <a:r>
              <a:rPr kumimoji="0" lang="en-US" sz="1200" b="0" i="0" u="none" strike="noStrike" kern="1200" cap="none" spc="0" normalizeH="0" baseline="0" noProof="0">
                <a:ln>
                  <a:noFill/>
                </a:ln>
                <a:solidFill>
                  <a:srgbClr val="000000"/>
                </a:solidFill>
                <a:effectLst/>
                <a:uLnTx/>
                <a:uFillTx/>
                <a:latin typeface="Scotia"/>
                <a:ea typeface="+mn-ea"/>
                <a:cs typeface="+mn-cs"/>
              </a:rPr>
              <a:t>[C5, C6]</a:t>
            </a:r>
          </a:p>
          <a:p>
            <a:pPr marL="182563" marR="0" lvl="0" indent="-182563"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Scotia"/>
                <a:ea typeface="+mn-ea"/>
                <a:cs typeface="+mn-cs"/>
              </a:rPr>
              <a:t>Launched Scotia Intelligence and rolled out Microsoft 365 Copilot </a:t>
            </a:r>
            <a:r>
              <a:rPr kumimoji="0" lang="en-CA" sz="1200" b="0" i="0" u="none" strike="noStrike" kern="1200" cap="none" spc="0" normalizeH="0" baseline="0" noProof="0">
                <a:ln>
                  <a:noFill/>
                </a:ln>
                <a:solidFill>
                  <a:srgbClr val="000000"/>
                </a:solidFill>
                <a:effectLst/>
                <a:uLnTx/>
                <a:uFillTx/>
                <a:latin typeface="Scotia"/>
                <a:ea typeface="+mn-ea"/>
                <a:cs typeface="+mn-cs"/>
              </a:rPr>
              <a:t>to ~34,000 users [C7] </a:t>
            </a:r>
            <a:r>
              <a:rPr kumimoji="0" lang="en-US" sz="1200" b="0" i="1" u="none" strike="noStrike" kern="1200" cap="none" spc="0" normalizeH="0" baseline="0" noProof="0">
                <a:ln>
                  <a:noFill/>
                </a:ln>
                <a:solidFill>
                  <a:srgbClr val="EC111A"/>
                </a:solidFill>
                <a:effectLst/>
                <a:uLnTx/>
                <a:uFillTx/>
                <a:latin typeface="Scotia"/>
                <a:ea typeface="Scotia" panose="020B0503020203020204" pitchFamily="34" charset="0"/>
                <a:cs typeface="+mn-cs"/>
              </a:rPr>
              <a:t>(see Scotia Intelligence Update for details)</a:t>
            </a:r>
            <a:endParaRPr kumimoji="0" lang="en-CA" sz="1200" b="0" i="0" u="none" strike="noStrike" kern="1200" cap="none" spc="0" normalizeH="0" baseline="0" noProof="0">
              <a:ln>
                <a:noFill/>
              </a:ln>
              <a:solidFill>
                <a:srgbClr val="000000"/>
              </a:solidFill>
              <a:effectLst/>
              <a:uLnTx/>
              <a:uFillTx/>
              <a:latin typeface="Scotia"/>
              <a:ea typeface="+mn-ea"/>
              <a:cs typeface="+mn-cs"/>
            </a:endParaRPr>
          </a:p>
        </p:txBody>
      </p:sp>
      <p:sp>
        <p:nvSpPr>
          <p:cNvPr id="106" name="Rectangle 105">
            <a:extLst>
              <a:ext uri="{FF2B5EF4-FFF2-40B4-BE49-F238E27FC236}">
                <a16:creationId xmlns:a16="http://schemas.microsoft.com/office/drawing/2014/main" id="{4C8D97F6-F9D1-06A8-29D4-99E77E45F087}"/>
              </a:ext>
            </a:extLst>
          </p:cNvPr>
          <p:cNvSpPr/>
          <p:nvPr/>
        </p:nvSpPr>
        <p:spPr>
          <a:xfrm>
            <a:off x="8245986" y="212465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sp>
        <p:nvSpPr>
          <p:cNvPr id="107" name="Rectangle 106">
            <a:extLst>
              <a:ext uri="{FF2B5EF4-FFF2-40B4-BE49-F238E27FC236}">
                <a16:creationId xmlns:a16="http://schemas.microsoft.com/office/drawing/2014/main" id="{D72E4F03-0E42-6F2B-AC3A-C0068EEAB17A}"/>
              </a:ext>
            </a:extLst>
          </p:cNvPr>
          <p:cNvSpPr/>
          <p:nvPr/>
        </p:nvSpPr>
        <p:spPr>
          <a:xfrm>
            <a:off x="8245986" y="285677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1</a:t>
            </a:r>
          </a:p>
        </p:txBody>
      </p:sp>
      <p:sp>
        <p:nvSpPr>
          <p:cNvPr id="108" name="Rectangle 107">
            <a:extLst>
              <a:ext uri="{FF2B5EF4-FFF2-40B4-BE49-F238E27FC236}">
                <a16:creationId xmlns:a16="http://schemas.microsoft.com/office/drawing/2014/main" id="{3187CFC0-36AA-14DD-8F23-3F10D2017F92}"/>
              </a:ext>
            </a:extLst>
          </p:cNvPr>
          <p:cNvSpPr/>
          <p:nvPr/>
        </p:nvSpPr>
        <p:spPr>
          <a:xfrm>
            <a:off x="8245986" y="2368697"/>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1</a:t>
            </a:r>
          </a:p>
        </p:txBody>
      </p:sp>
      <p:sp>
        <p:nvSpPr>
          <p:cNvPr id="109" name="Rectangle 108">
            <a:extLst>
              <a:ext uri="{FF2B5EF4-FFF2-40B4-BE49-F238E27FC236}">
                <a16:creationId xmlns:a16="http://schemas.microsoft.com/office/drawing/2014/main" id="{0D06268C-E7A5-1BAA-FF92-9FE0F73DED50}"/>
              </a:ext>
            </a:extLst>
          </p:cNvPr>
          <p:cNvSpPr/>
          <p:nvPr/>
        </p:nvSpPr>
        <p:spPr>
          <a:xfrm>
            <a:off x="8245986" y="2612736"/>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6</a:t>
            </a:r>
          </a:p>
        </p:txBody>
      </p:sp>
      <p:sp>
        <p:nvSpPr>
          <p:cNvPr id="110" name="Rectangle 109">
            <a:extLst>
              <a:ext uri="{FF2B5EF4-FFF2-40B4-BE49-F238E27FC236}">
                <a16:creationId xmlns:a16="http://schemas.microsoft.com/office/drawing/2014/main" id="{06E40BC8-F1EC-DABA-50C3-D9C173AE6627}"/>
              </a:ext>
            </a:extLst>
          </p:cNvPr>
          <p:cNvSpPr/>
          <p:nvPr/>
        </p:nvSpPr>
        <p:spPr>
          <a:xfrm>
            <a:off x="8245986" y="3099250"/>
            <a:ext cx="263716" cy="1925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0</a:t>
            </a:r>
          </a:p>
        </p:txBody>
      </p:sp>
      <p:cxnSp>
        <p:nvCxnSpPr>
          <p:cNvPr id="111" name="Straight Connector 110">
            <a:extLst>
              <a:ext uri="{FF2B5EF4-FFF2-40B4-BE49-F238E27FC236}">
                <a16:creationId xmlns:a16="http://schemas.microsoft.com/office/drawing/2014/main" id="{E5F81C1A-8EFB-D407-8B05-6BF1974B00D3}"/>
              </a:ext>
            </a:extLst>
          </p:cNvPr>
          <p:cNvCxnSpPr/>
          <p:nvPr/>
        </p:nvCxnSpPr>
        <p:spPr>
          <a:xfrm>
            <a:off x="9529303" y="1836841"/>
            <a:ext cx="0" cy="1500719"/>
          </a:xfrm>
          <a:prstGeom prst="line">
            <a:avLst/>
          </a:prstGeom>
          <a:ln w="12700">
            <a:solidFill>
              <a:srgbClr val="A6A6A6"/>
            </a:solidFill>
            <a:prstDash val="sysDot"/>
          </a:ln>
        </p:spPr>
        <p:style>
          <a:lnRef idx="1">
            <a:schemeClr val="accent1"/>
          </a:lnRef>
          <a:fillRef idx="0">
            <a:schemeClr val="accent1"/>
          </a:fillRef>
          <a:effectRef idx="0">
            <a:schemeClr val="accent1"/>
          </a:effectRef>
          <a:fontRef idx="minor">
            <a:schemeClr val="tx1"/>
          </a:fontRef>
        </p:style>
      </p:cxnSp>
      <p:sp>
        <p:nvSpPr>
          <p:cNvPr id="2" name="Slide Number Placeholder 2">
            <a:extLst>
              <a:ext uri="{FF2B5EF4-FFF2-40B4-BE49-F238E27FC236}">
                <a16:creationId xmlns:a16="http://schemas.microsoft.com/office/drawing/2014/main" id="{478A05D2-A67C-B062-C0E6-FAB5F9BD8CBA}"/>
              </a:ext>
            </a:extLst>
          </p:cNvPr>
          <p:cNvSpPr>
            <a:spLocks noGrp="1"/>
          </p:cNvSpPr>
          <p:nvPr>
            <p:ph type="sldNum" sz="quarter" idx="10"/>
          </p:nvPr>
        </p:nvSpPr>
        <p:spPr>
          <a:xfrm>
            <a:off x="11231211" y="338582"/>
            <a:ext cx="435865" cy="167661"/>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rPr>
              <a:t>4</a:t>
            </a:r>
          </a:p>
        </p:txBody>
      </p:sp>
    </p:spTree>
    <p:extLst>
      <p:ext uri="{BB962C8B-B14F-4D97-AF65-F5344CB8AC3E}">
        <p14:creationId xmlns:p14="http://schemas.microsoft.com/office/powerpoint/2010/main" val="380027674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158E82-FD4F-1F6D-C7DC-C045962D5705}"/>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EA5E6CD0-0531-646F-7BB3-2D5EB936D698}"/>
              </a:ext>
            </a:extLst>
          </p:cNvPr>
          <p:cNvSpPr>
            <a:spLocks noGrp="1"/>
          </p:cNvSpPr>
          <p:nvPr>
            <p:ph type="body" sz="quarter" idx="11"/>
          </p:nvPr>
        </p:nvSpPr>
        <p:spPr/>
        <p:txBody>
          <a:bodyPr/>
          <a:lstStyle/>
          <a:p>
            <a:r>
              <a:rPr lang="en-US"/>
              <a:t>Risk and Key Considerations</a:t>
            </a:r>
            <a:endParaRPr lang="en-CA"/>
          </a:p>
        </p:txBody>
      </p:sp>
      <p:sp>
        <p:nvSpPr>
          <p:cNvPr id="3" name="Text Placeholder 2">
            <a:extLst>
              <a:ext uri="{FF2B5EF4-FFF2-40B4-BE49-F238E27FC236}">
                <a16:creationId xmlns:a16="http://schemas.microsoft.com/office/drawing/2014/main" id="{DF692C53-8BDD-D483-F745-3DB0676993A7}"/>
              </a:ext>
            </a:extLst>
          </p:cNvPr>
          <p:cNvSpPr>
            <a:spLocks noGrp="1"/>
          </p:cNvSpPr>
          <p:nvPr>
            <p:ph type="body" sz="quarter" idx="12"/>
          </p:nvPr>
        </p:nvSpPr>
        <p:spPr/>
        <p:txBody>
          <a:bodyPr/>
          <a:lstStyle/>
          <a:p>
            <a:r>
              <a:rPr lang="en-CA"/>
              <a:t>15</a:t>
            </a:r>
          </a:p>
        </p:txBody>
      </p:sp>
    </p:spTree>
    <p:extLst>
      <p:ext uri="{BB962C8B-B14F-4D97-AF65-F5344CB8AC3E}">
        <p14:creationId xmlns:p14="http://schemas.microsoft.com/office/powerpoint/2010/main" val="158813112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EE5EF7-4796-6F7E-52D9-CFE7DF53C8CC}"/>
            </a:ext>
          </a:extLst>
        </p:cNvPr>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07A674D0-BE47-3DB7-6A9C-5E34175A61B9}"/>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9" name="think-cell data - do not delete" hidden="1">
                        <a:extLst>
                          <a:ext uri="{FF2B5EF4-FFF2-40B4-BE49-F238E27FC236}">
                            <a16:creationId xmlns:a16="http://schemas.microsoft.com/office/drawing/2014/main" id="{07A674D0-BE47-3DB7-6A9C-5E34175A61B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4AD24E62-17A9-46C7-F7C7-085A60AE78BF}"/>
              </a:ext>
            </a:extLst>
          </p:cNvPr>
          <p:cNvSpPr>
            <a:spLocks noGrp="1"/>
          </p:cNvSpPr>
          <p:nvPr>
            <p:ph type="title"/>
          </p:nvPr>
        </p:nvSpPr>
        <p:spPr/>
        <p:txBody>
          <a:bodyPr vert="horz" rIns="0"/>
          <a:lstStyle/>
          <a:p>
            <a:br>
              <a:rPr lang="en-CA">
                <a:solidFill>
                  <a:srgbClr val="EC111A"/>
                </a:solidFill>
              </a:rPr>
            </a:br>
            <a:br>
              <a:rPr lang="en-CA">
                <a:solidFill>
                  <a:srgbClr val="EC111A"/>
                </a:solidFill>
              </a:rPr>
            </a:br>
            <a:br>
              <a:rPr lang="en-CA">
                <a:solidFill>
                  <a:srgbClr val="EC111A"/>
                </a:solidFill>
              </a:rPr>
            </a:br>
            <a:br>
              <a:rPr lang="en-CA">
                <a:solidFill>
                  <a:srgbClr val="EC111A"/>
                </a:solidFill>
              </a:rPr>
            </a:br>
            <a:br>
              <a:rPr lang="en-CA">
                <a:solidFill>
                  <a:srgbClr val="EC111A"/>
                </a:solidFill>
              </a:rPr>
            </a:br>
            <a:br>
              <a:rPr lang="en-CA">
                <a:solidFill>
                  <a:srgbClr val="EC111A"/>
                </a:solidFill>
              </a:rPr>
            </a:br>
            <a:br>
              <a:rPr lang="en-CA">
                <a:solidFill>
                  <a:srgbClr val="EC111A"/>
                </a:solidFill>
              </a:rPr>
            </a:br>
            <a:r>
              <a:rPr lang="en-CA">
                <a:solidFill>
                  <a:srgbClr val="EC111A"/>
                </a:solidFill>
              </a:rPr>
              <a:t>Risk Perspectives | </a:t>
            </a:r>
            <a:r>
              <a:rPr lang="en-CA"/>
              <a:t>Capital Management and Strategic Risk Oversight</a:t>
            </a:r>
          </a:p>
        </p:txBody>
      </p:sp>
      <p:sp>
        <p:nvSpPr>
          <p:cNvPr id="7" name="Text Placeholder 6">
            <a:extLst>
              <a:ext uri="{FF2B5EF4-FFF2-40B4-BE49-F238E27FC236}">
                <a16:creationId xmlns:a16="http://schemas.microsoft.com/office/drawing/2014/main" id="{AD63377B-61A8-404D-ABED-92E25E077AE5}"/>
              </a:ext>
            </a:extLst>
          </p:cNvPr>
          <p:cNvSpPr>
            <a:spLocks noGrp="1"/>
          </p:cNvSpPr>
          <p:nvPr>
            <p:ph type="body" sz="quarter" idx="13"/>
          </p:nvPr>
        </p:nvSpPr>
        <p:spPr/>
        <p:txBody>
          <a:bodyPr/>
          <a:lstStyle/>
          <a:p>
            <a:r>
              <a:rPr lang="en-CA"/>
              <a:t>RISK PERSPECTIVE</a:t>
            </a:r>
          </a:p>
        </p:txBody>
      </p:sp>
      <p:sp>
        <p:nvSpPr>
          <p:cNvPr id="2" name="Rectangle 1">
            <a:extLst>
              <a:ext uri="{FF2B5EF4-FFF2-40B4-BE49-F238E27FC236}">
                <a16:creationId xmlns:a16="http://schemas.microsoft.com/office/drawing/2014/main" id="{4EB7C302-B5BF-7016-4951-95B369B107B0}"/>
              </a:ext>
            </a:extLst>
          </p:cNvPr>
          <p:cNvSpPr/>
          <p:nvPr/>
        </p:nvSpPr>
        <p:spPr>
          <a:xfrm>
            <a:off x="8960464" y="1659092"/>
            <a:ext cx="3246050" cy="4469513"/>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274320" rIns="457200" bIns="180000" rtlCol="0" anchor="t"/>
          <a:lstStyle/>
          <a:p>
            <a:pPr marL="0" marR="0" lvl="0" indent="0" algn="l" defTabSz="914400" rtl="0" eaLnBrk="1" fontAlgn="auto" latinLnBrk="0" hangingPunct="1">
              <a:lnSpc>
                <a:spcPct val="100000"/>
              </a:lnSpc>
              <a:spcBef>
                <a:spcPts val="400"/>
              </a:spcBef>
              <a:spcAft>
                <a:spcPts val="400"/>
              </a:spcAft>
              <a:buClr>
                <a:srgbClr val="000000"/>
              </a:buClr>
              <a:buSzTx/>
              <a:buFontTx/>
              <a:buNone/>
              <a:tabLst/>
              <a:defRPr/>
            </a:pPr>
            <a:endParaRPr kumimoji="0" lang="en-CA" sz="1100" b="0" i="0" u="none" strike="noStrike" kern="1200" cap="none" spc="0" normalizeH="0" baseline="0" noProof="0">
              <a:ln>
                <a:noFill/>
              </a:ln>
              <a:solidFill>
                <a:srgbClr val="000000"/>
              </a:solidFill>
              <a:effectLst/>
              <a:uLnTx/>
              <a:uFillTx/>
              <a:latin typeface="Scotia"/>
              <a:ea typeface="Scotia Light" panose="020B0403020203020204" pitchFamily="34" charset="0"/>
              <a:cs typeface="Arial" panose="020B0604020202020204" pitchFamily="34" charset="0"/>
            </a:endParaRPr>
          </a:p>
          <a:p>
            <a:pPr marL="171450" marR="0" lvl="0" indent="-17145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Arial" panose="020B0604020202020204" pitchFamily="34" charset="0"/>
              </a:rPr>
              <a:t>Business Strategies</a:t>
            </a:r>
            <a:r>
              <a:rPr kumimoji="0" lang="en-US" sz="11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 and their alignment with Risk Appetite are reviewed/challenged by GRM Senior Management as part of the Bank’s Annual Planning Cycle. </a:t>
            </a:r>
          </a:p>
          <a:p>
            <a:pPr marL="171450" marR="0" lvl="0" indent="-17145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Arial" panose="020B0604020202020204" pitchFamily="34" charset="0"/>
              </a:rPr>
              <a:t>Clear KPI Metrics: </a:t>
            </a:r>
            <a:r>
              <a:rPr kumimoji="0" lang="en-US" sz="11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Second line has established metrics for monitoring the Bank’s execution against it strategic, financial, and capital plans, which feed into it’s view of the Bank’s Strategic Risk Profile. </a:t>
            </a:r>
          </a:p>
          <a:p>
            <a:pPr marL="171450" marR="0" lvl="0" indent="-17145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Arial" panose="020B0604020202020204" pitchFamily="34" charset="0"/>
              </a:rPr>
              <a:t>Risk Appetite: </a:t>
            </a:r>
            <a:r>
              <a:rPr kumimoji="0" lang="en-US" sz="11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As of Q1/26, Strategic Risk profile remains within appetite, with risk appetite metrics within thresholds.</a:t>
            </a:r>
          </a:p>
          <a:p>
            <a:pPr marL="171450" marR="0" lvl="0" indent="-17145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Arial" panose="020B0604020202020204" pitchFamily="34" charset="0"/>
              </a:rPr>
              <a:t>Strategic Risk </a:t>
            </a:r>
            <a:r>
              <a:rPr kumimoji="0" lang="en-US" sz="11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is assessed as Moderate High (Residual) driven by external geopolitical events (conflicts, trade barriers) and resulting macro-economic uncertainties. </a:t>
            </a: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US" sz="105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US" sz="105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US" sz="110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US" sz="1100" b="0"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US" sz="900" b="0" i="0" u="none" strike="noStrike" kern="1200" cap="none" spc="20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kumimoji="0" lang="en-CA" sz="1100" b="0" i="0" u="none" strike="noStrike" kern="1200" cap="none" spc="0" normalizeH="0" baseline="0" noProof="0">
              <a:ln>
                <a:noFill/>
              </a:ln>
              <a:solidFill>
                <a:srgbClr val="000000"/>
              </a:solidFill>
              <a:effectLst/>
              <a:uLnTx/>
              <a:uFillTx/>
              <a:latin typeface="Scotia"/>
              <a:ea typeface="+mn-ea"/>
              <a:cs typeface="+mn-cs"/>
            </a:endParaRPr>
          </a:p>
        </p:txBody>
      </p:sp>
      <p:sp>
        <p:nvSpPr>
          <p:cNvPr id="3" name="Rectangle 2">
            <a:extLst>
              <a:ext uri="{FF2B5EF4-FFF2-40B4-BE49-F238E27FC236}">
                <a16:creationId xmlns:a16="http://schemas.microsoft.com/office/drawing/2014/main" id="{8A363032-B230-CE01-72A3-0AACF0FD9225}"/>
              </a:ext>
            </a:extLst>
          </p:cNvPr>
          <p:cNvSpPr/>
          <p:nvPr/>
        </p:nvSpPr>
        <p:spPr>
          <a:xfrm>
            <a:off x="8970838" y="1795958"/>
            <a:ext cx="2709194" cy="2565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CA" sz="1100" b="1" i="0" u="none" strike="noStrike" kern="1200" cap="none" spc="300" normalizeH="0" baseline="0" noProof="0">
                <a:ln>
                  <a:noFill/>
                </a:ln>
                <a:solidFill>
                  <a:srgbClr val="000000"/>
                </a:solidFill>
                <a:effectLst/>
                <a:uLnTx/>
                <a:uFillTx/>
                <a:latin typeface="Scotia"/>
                <a:ea typeface="+mn-ea"/>
                <a:cs typeface="+mn-cs"/>
              </a:rPr>
              <a:t>BOARD INSIGHTS</a:t>
            </a:r>
            <a:endParaRPr kumimoji="0" lang="en-US" sz="1050" b="0" i="0" u="none" strike="noStrike" kern="1200" cap="none" spc="200" normalizeH="0" baseline="0" noProof="0">
              <a:ln>
                <a:noFill/>
              </a:ln>
              <a:solidFill>
                <a:srgbClr val="000000"/>
              </a:solidFill>
              <a:effectLst/>
              <a:uLnTx/>
              <a:uFillTx/>
              <a:latin typeface="Scotia"/>
              <a:ea typeface="+mn-ea"/>
              <a:cs typeface="+mn-cs"/>
            </a:endParaRPr>
          </a:p>
        </p:txBody>
      </p:sp>
      <p:sp>
        <p:nvSpPr>
          <p:cNvPr id="5" name="Shape 2582">
            <a:extLst>
              <a:ext uri="{FF2B5EF4-FFF2-40B4-BE49-F238E27FC236}">
                <a16:creationId xmlns:a16="http://schemas.microsoft.com/office/drawing/2014/main" id="{EC79DF3B-4A7B-5B3F-E325-3B21620E8C97}"/>
              </a:ext>
            </a:extLst>
          </p:cNvPr>
          <p:cNvSpPr/>
          <p:nvPr/>
        </p:nvSpPr>
        <p:spPr>
          <a:xfrm>
            <a:off x="9114520" y="1809900"/>
            <a:ext cx="206516" cy="228700"/>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CBAE87"/>
          </a:solidFill>
          <a:ln w="12700">
            <a:miter lim="400000"/>
          </a:ln>
        </p:spPr>
        <p:txBody>
          <a:bodyPr lIns="38091" tIns="38091" rIns="38091" bIns="38091" anchor="ctr"/>
          <a:lstStyle/>
          <a:p>
            <a:pPr marL="0" marR="0" lvl="0" indent="0" algn="l" defTabSz="457051"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Arial" panose="020B0604020202020204" pitchFamily="34" charset="0"/>
              <a:cs typeface="Arial" panose="020B0604020202020204" pitchFamily="34" charset="0"/>
              <a:sym typeface="Gill Sans"/>
            </a:endParaRPr>
          </a:p>
        </p:txBody>
      </p:sp>
      <p:sp>
        <p:nvSpPr>
          <p:cNvPr id="6" name="TextBox 5">
            <a:extLst>
              <a:ext uri="{FF2B5EF4-FFF2-40B4-BE49-F238E27FC236}">
                <a16:creationId xmlns:a16="http://schemas.microsoft.com/office/drawing/2014/main" id="{919D40BA-5731-3C61-34CF-459CD711621F}"/>
              </a:ext>
            </a:extLst>
          </p:cNvPr>
          <p:cNvSpPr txBox="1"/>
          <p:nvPr/>
        </p:nvSpPr>
        <p:spPr>
          <a:xfrm>
            <a:off x="515938" y="6308725"/>
            <a:ext cx="1018063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1. </a:t>
            </a:r>
            <a:r>
              <a:rPr kumimoji="0" lang="en-US" sz="900" b="0" i="0" u="none" strike="noStrike" kern="1200" cap="none" spc="0" normalizeH="0" baseline="0" noProof="0" err="1">
                <a:ln>
                  <a:noFill/>
                </a:ln>
                <a:solidFill>
                  <a:srgbClr val="000000"/>
                </a:solidFill>
                <a:effectLst/>
                <a:uLnTx/>
                <a:uFillTx/>
                <a:latin typeface="Scotia"/>
                <a:ea typeface="+mn-ea"/>
                <a:cs typeface="Arial" panose="020B0604020202020204" pitchFamily="34" charset="0"/>
              </a:rPr>
              <a:t>RoE</a:t>
            </a:r>
            <a:r>
              <a:rPr kumimoji="0" lang="en-US" sz="9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 Return on Equity; </a:t>
            </a:r>
            <a:r>
              <a:rPr kumimoji="0" lang="en-US" sz="900" b="0" i="0" u="none" strike="noStrike" kern="1200" cap="none" spc="0" normalizeH="0" baseline="0" noProof="0" err="1">
                <a:ln>
                  <a:noFill/>
                </a:ln>
                <a:solidFill>
                  <a:srgbClr val="000000"/>
                </a:solidFill>
                <a:effectLst/>
                <a:uLnTx/>
                <a:uFillTx/>
                <a:latin typeface="Scotia"/>
                <a:ea typeface="+mn-ea"/>
                <a:cs typeface="Arial" panose="020B0604020202020204" pitchFamily="34" charset="0"/>
              </a:rPr>
              <a:t>RoRWA</a:t>
            </a:r>
            <a:r>
              <a:rPr kumimoji="0" lang="en-US" sz="900" b="0" i="0" u="none" strike="noStrike" kern="1200" cap="none" spc="0" normalizeH="0" baseline="0" noProof="0">
                <a:ln>
                  <a:noFill/>
                </a:ln>
                <a:solidFill>
                  <a:srgbClr val="000000"/>
                </a:solidFill>
                <a:effectLst/>
                <a:uLnTx/>
                <a:uFillTx/>
                <a:latin typeface="Scotia"/>
                <a:ea typeface="+mn-ea"/>
                <a:cs typeface="Arial" panose="020B0604020202020204" pitchFamily="34" charset="0"/>
              </a:rPr>
              <a:t>: Return on Risk Weighted Assets; RAM: Risk Adjusted Margin; Strategic Risk Appetite Metrics within the Bank’s Enterprise Risk Appetite Framework;2. NIAT: Net income after Taxes. PTPP: Pre-Tax Pre-Provision Earnings</a:t>
            </a:r>
          </a:p>
        </p:txBody>
      </p:sp>
      <p:graphicFrame>
        <p:nvGraphicFramePr>
          <p:cNvPr id="8" name="Table 7">
            <a:extLst>
              <a:ext uri="{FF2B5EF4-FFF2-40B4-BE49-F238E27FC236}">
                <a16:creationId xmlns:a16="http://schemas.microsoft.com/office/drawing/2014/main" id="{2512A309-2EC2-69F8-9E3F-4F78FC96C962}"/>
              </a:ext>
            </a:extLst>
          </p:cNvPr>
          <p:cNvGraphicFramePr>
            <a:graphicFrameLocks noGrp="1"/>
          </p:cNvGraphicFramePr>
          <p:nvPr/>
        </p:nvGraphicFramePr>
        <p:xfrm>
          <a:off x="515938" y="1641906"/>
          <a:ext cx="8102111" cy="308367"/>
        </p:xfrm>
        <a:graphic>
          <a:graphicData uri="http://schemas.openxmlformats.org/drawingml/2006/table">
            <a:tbl>
              <a:tblPr firstRow="1" bandRow="1">
                <a:tableStyleId>{5C22544A-7EE6-4342-B048-85BDC9FD1C3A}</a:tableStyleId>
              </a:tblPr>
              <a:tblGrid>
                <a:gridCol w="8102111">
                  <a:extLst>
                    <a:ext uri="{9D8B030D-6E8A-4147-A177-3AD203B41FA5}">
                      <a16:colId xmlns:a16="http://schemas.microsoft.com/office/drawing/2014/main" val="3010510302"/>
                    </a:ext>
                  </a:extLst>
                </a:gridCol>
              </a:tblGrid>
              <a:tr h="308367">
                <a:tc>
                  <a:txBody>
                    <a:bodyPr/>
                    <a:lstStyle/>
                    <a:p>
                      <a:r>
                        <a:rPr lang="en-CA" sz="1100" b="1" kern="1200" spc="200" baseline="0">
                          <a:solidFill>
                            <a:schemeClr val="tx1"/>
                          </a:solidFill>
                          <a:latin typeface="+mn-lt"/>
                          <a:ea typeface="+mn-ea"/>
                          <a:cs typeface="+mn-cs"/>
                        </a:rPr>
                        <a:t>STRATEGIC RISK OVERSIGHT</a:t>
                      </a:r>
                    </a:p>
                  </a:txBody>
                  <a:tcPr marL="0" marR="18288" marT="25807" marB="25807" anchor="ctr">
                    <a:lnL w="12700" cmpd="sng">
                      <a:noFill/>
                    </a:lnL>
                    <a:lnR w="6350" cap="flat" cmpd="sng" algn="ctr">
                      <a:noFill/>
                      <a:prstDash val="solid"/>
                      <a:round/>
                      <a:headEnd type="none" w="med" len="med"/>
                      <a:tailEnd type="none" w="med" len="med"/>
                    </a:lnR>
                    <a:lnT w="12700" cmpd="sng">
                      <a:noFill/>
                    </a:lnT>
                    <a:lnB w="6350" cap="flat" cmpd="sng" algn="ctr">
                      <a:solidFill>
                        <a:srgbClr val="9E957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28527174"/>
                  </a:ext>
                </a:extLst>
              </a:tr>
            </a:tbl>
          </a:graphicData>
        </a:graphic>
      </p:graphicFrame>
      <p:sp>
        <p:nvSpPr>
          <p:cNvPr id="11" name="TextBox 10">
            <a:extLst>
              <a:ext uri="{FF2B5EF4-FFF2-40B4-BE49-F238E27FC236}">
                <a16:creationId xmlns:a16="http://schemas.microsoft.com/office/drawing/2014/main" id="{051BF306-A06B-1790-9888-02613C7ED203}"/>
              </a:ext>
            </a:extLst>
          </p:cNvPr>
          <p:cNvSpPr txBox="1"/>
          <p:nvPr/>
        </p:nvSpPr>
        <p:spPr>
          <a:xfrm>
            <a:off x="515938" y="2043942"/>
            <a:ext cx="7928418" cy="4085734"/>
          </a:xfrm>
          <a:prstGeom prst="rect">
            <a:avLst/>
          </a:prstGeom>
          <a:noFill/>
        </p:spPr>
        <p:txBody>
          <a:bodyPr wrap="square" tIns="0">
            <a:spAutoFit/>
          </a:bodyPr>
          <a:lstStyle/>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The Bank has an established Strategic Risk Management Framework (SRMF) that integrates inter-related enterprise-wide processes to manage and oversee strategic risk. </a:t>
            </a:r>
          </a:p>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The SRMF requires the First Line to ensure regulatory capital consumption and growth in Risk Weighted Assets (RWAs) is supported by adequate revenue and profit generation. </a:t>
            </a:r>
          </a:p>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The Bank’s Strategic Planning incorporates Capital and Financial planning including key capital metrics and constraints. Global Risk Management (GRM) Senior Management, challenges the Bank’s Business Strategies and Plans considering the Bank’s strategic and financial priorities, and established Risk Appetite Metrics. </a:t>
            </a:r>
          </a:p>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GRM monitors the Bank’s execution of its strategy, horizon scan of emerging threats, and business environment via the Top &amp; Emerging Risk Assessment process. This enables the development of an independent second line view of the Bank’s Strategic Risk Profile. </a:t>
            </a:r>
          </a:p>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GRM monitors the following risk metrics to oversee the Business’ capital consumption and revenue/profit generation as part of its monitoring activities: </a:t>
            </a:r>
          </a:p>
          <a:p>
            <a:pPr marL="457200" marR="0" lvl="1" indent="-228600" algn="l" defTabSz="914400" rtl="0" eaLnBrk="1" fontAlgn="auto" latinLnBrk="0" hangingPunct="1">
              <a:lnSpc>
                <a:spcPts val="1300"/>
              </a:lnSpc>
              <a:spcBef>
                <a:spcPts val="300"/>
              </a:spcBef>
              <a:spcAft>
                <a:spcPts val="600"/>
              </a:spcAft>
              <a:buClrTx/>
              <a:buSzTx/>
              <a:buFont typeface="Scotia" panose="020B0503020203020204" pitchFamily="34" charset="0"/>
              <a:buChar char="–"/>
              <a:tabLst/>
              <a:defRPr/>
            </a:pPr>
            <a:r>
              <a:rPr kumimoji="0" lang="en-CA" sz="1100" b="0" i="0" u="none" strike="noStrike" kern="1200" cap="none" spc="0" normalizeH="0" baseline="0" noProof="0" err="1">
                <a:ln>
                  <a:noFill/>
                </a:ln>
                <a:solidFill>
                  <a:srgbClr val="000000"/>
                </a:solidFill>
                <a:effectLst/>
                <a:uLnTx/>
                <a:uFillTx/>
                <a:latin typeface="Scotia"/>
                <a:ea typeface="+mn-ea"/>
                <a:cs typeface="+mn-cs"/>
              </a:rPr>
              <a:t>RoE</a:t>
            </a:r>
            <a:r>
              <a:rPr kumimoji="0" lang="en-CA" sz="1100" b="0" i="0" u="none" strike="noStrike" kern="1200" cap="none" spc="0" normalizeH="0" baseline="0" noProof="0">
                <a:ln>
                  <a:noFill/>
                </a:ln>
                <a:solidFill>
                  <a:srgbClr val="000000"/>
                </a:solidFill>
                <a:effectLst/>
                <a:uLnTx/>
                <a:uFillTx/>
                <a:latin typeface="Scotia"/>
                <a:ea typeface="+mn-ea"/>
                <a:cs typeface="+mn-cs"/>
              </a:rPr>
              <a:t>, </a:t>
            </a:r>
            <a:r>
              <a:rPr kumimoji="0" lang="en-CA" sz="1100" b="0" i="0" u="none" strike="noStrike" kern="1200" cap="none" spc="0" normalizeH="0" baseline="0" noProof="0" err="1">
                <a:ln>
                  <a:noFill/>
                </a:ln>
                <a:solidFill>
                  <a:srgbClr val="000000"/>
                </a:solidFill>
                <a:effectLst/>
                <a:uLnTx/>
                <a:uFillTx/>
                <a:latin typeface="Scotia"/>
                <a:ea typeface="+mn-ea"/>
                <a:cs typeface="+mn-cs"/>
              </a:rPr>
              <a:t>RoRWA</a:t>
            </a:r>
            <a:r>
              <a:rPr kumimoji="0" lang="en-CA" sz="1100" b="0" i="0" u="none" strike="noStrike" kern="1200" cap="none" spc="0" normalizeH="0" baseline="0" noProof="0">
                <a:ln>
                  <a:noFill/>
                </a:ln>
                <a:solidFill>
                  <a:srgbClr val="000000"/>
                </a:solidFill>
                <a:effectLst/>
                <a:uLnTx/>
                <a:uFillTx/>
                <a:latin typeface="Scotia"/>
                <a:ea typeface="+mn-ea"/>
                <a:cs typeface="+mn-cs"/>
              </a:rPr>
              <a:t>, RAM (Enterprise Risk Appetite Metrics)</a:t>
            </a:r>
            <a:r>
              <a:rPr kumimoji="0" lang="en-CA" sz="1100" b="0" i="0" u="none" strike="noStrike" kern="1200" cap="none" spc="0" normalizeH="0" baseline="30000" noProof="0">
                <a:ln>
                  <a:noFill/>
                </a:ln>
                <a:solidFill>
                  <a:srgbClr val="000000"/>
                </a:solidFill>
                <a:effectLst/>
                <a:uLnTx/>
                <a:uFillTx/>
                <a:latin typeface="Scotia"/>
                <a:ea typeface="+mn-ea"/>
                <a:cs typeface="+mn-cs"/>
              </a:rPr>
              <a:t>1</a:t>
            </a:r>
          </a:p>
          <a:p>
            <a:pPr marL="457200" marR="0" lvl="1" indent="-228600" algn="l" defTabSz="914400" rtl="0" eaLnBrk="1" fontAlgn="auto" latinLnBrk="0" hangingPunct="1">
              <a:lnSpc>
                <a:spcPts val="1300"/>
              </a:lnSpc>
              <a:spcBef>
                <a:spcPts val="300"/>
              </a:spcBef>
              <a:spcAft>
                <a:spcPts val="600"/>
              </a:spcAft>
              <a:buClrTx/>
              <a:buSzTx/>
              <a:buFont typeface="Scotia" panose="020B0503020203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Strategic KPIs (KPIs pertaining to the four pillars of the Bank’s strategy)</a:t>
            </a:r>
          </a:p>
          <a:p>
            <a:pPr marL="457200" marR="0" lvl="1" indent="-228600" algn="l" defTabSz="914400" rtl="0" eaLnBrk="1" fontAlgn="auto" latinLnBrk="0" hangingPunct="1">
              <a:lnSpc>
                <a:spcPts val="1300"/>
              </a:lnSpc>
              <a:spcBef>
                <a:spcPts val="300"/>
              </a:spcBef>
              <a:spcAft>
                <a:spcPts val="600"/>
              </a:spcAft>
              <a:buClrTx/>
              <a:buSzTx/>
              <a:buFont typeface="Scotia" panose="020B0503020203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NIAT and PTPP v/s Plan</a:t>
            </a:r>
            <a:r>
              <a:rPr kumimoji="0" lang="en-CA" sz="1100" b="0" i="0" u="none" strike="noStrike" kern="1200" cap="none" spc="0" normalizeH="0" baseline="30000" noProof="0">
                <a:ln>
                  <a:noFill/>
                </a:ln>
                <a:solidFill>
                  <a:srgbClr val="000000"/>
                </a:solidFill>
                <a:effectLst/>
                <a:uLnTx/>
                <a:uFillTx/>
                <a:latin typeface="Scotia"/>
                <a:ea typeface="+mn-ea"/>
                <a:cs typeface="+mn-cs"/>
              </a:rPr>
              <a:t>2</a:t>
            </a:r>
            <a:r>
              <a:rPr kumimoji="0" lang="en-CA" sz="1100" b="0" i="0" u="none" strike="noStrike" kern="1200" cap="none" spc="0" normalizeH="0" baseline="0" noProof="0">
                <a:ln>
                  <a:noFill/>
                </a:ln>
                <a:solidFill>
                  <a:srgbClr val="000000"/>
                </a:solidFill>
                <a:effectLst/>
                <a:uLnTx/>
                <a:uFillTx/>
                <a:latin typeface="Scotia"/>
                <a:ea typeface="+mn-ea"/>
                <a:cs typeface="+mn-cs"/>
              </a:rPr>
              <a:t> </a:t>
            </a:r>
          </a:p>
          <a:p>
            <a:pPr marL="457200" marR="0" lvl="1" indent="-228600" algn="l" defTabSz="914400" rtl="0" eaLnBrk="1" fontAlgn="auto" latinLnBrk="0" hangingPunct="1">
              <a:lnSpc>
                <a:spcPts val="1300"/>
              </a:lnSpc>
              <a:spcBef>
                <a:spcPts val="300"/>
              </a:spcBef>
              <a:spcAft>
                <a:spcPts val="600"/>
              </a:spcAft>
              <a:buClrTx/>
              <a:buSzTx/>
              <a:buFont typeface="Scotia" panose="020B0503020203020204" pitchFamily="34" charset="0"/>
              <a:buChar char="–"/>
              <a:tabLst/>
              <a:defRPr/>
            </a:pPr>
            <a:r>
              <a:rPr kumimoji="0" lang="en-CA" sz="1100" b="0" i="0" u="none" strike="noStrike" kern="1200" cap="none" spc="0" normalizeH="0" baseline="0" noProof="0" err="1">
                <a:ln>
                  <a:noFill/>
                </a:ln>
                <a:solidFill>
                  <a:srgbClr val="000000"/>
                </a:solidFill>
                <a:effectLst/>
                <a:uLnTx/>
                <a:uFillTx/>
                <a:latin typeface="Scotia"/>
                <a:ea typeface="+mn-ea"/>
                <a:cs typeface="+mn-cs"/>
              </a:rPr>
              <a:t>RoRWA</a:t>
            </a:r>
            <a:r>
              <a:rPr kumimoji="0" lang="en-CA" sz="1100" b="0" i="0" u="none" strike="noStrike" kern="1200" cap="none" spc="0" normalizeH="0" baseline="0" noProof="0">
                <a:ln>
                  <a:noFill/>
                </a:ln>
                <a:solidFill>
                  <a:srgbClr val="000000"/>
                </a:solidFill>
                <a:effectLst/>
                <a:uLnTx/>
                <a:uFillTx/>
                <a:latin typeface="Scotia"/>
                <a:ea typeface="+mn-ea"/>
                <a:cs typeface="+mn-cs"/>
              </a:rPr>
              <a:t> and RWA growth v/s Plan</a:t>
            </a:r>
          </a:p>
          <a:p>
            <a:pPr marL="228600" marR="0" lvl="0" indent="-228600" algn="l" defTabSz="914400" rtl="0" eaLnBrk="1" fontAlgn="auto" latinLnBrk="0" hangingPunct="1">
              <a:lnSpc>
                <a:spcPts val="1300"/>
              </a:lnSpc>
              <a:spcBef>
                <a:spcPts val="300"/>
              </a:spcBef>
              <a:spcAft>
                <a:spcPts val="600"/>
              </a:spcAft>
              <a:buClrTx/>
              <a:buSzTx/>
              <a:buFont typeface="Arial" panose="020B0604020202020204" pitchFamily="34" charset="0"/>
              <a:buChar char="•"/>
              <a:tabLst/>
              <a:defRPr/>
            </a:pPr>
            <a:r>
              <a:rPr kumimoji="0" lang="en-CA" sz="1100" b="0" i="0" u="none" strike="noStrike" kern="1200" cap="none" spc="0" normalizeH="0" baseline="0" noProof="0">
                <a:ln>
                  <a:noFill/>
                </a:ln>
                <a:solidFill>
                  <a:srgbClr val="000000"/>
                </a:solidFill>
                <a:effectLst/>
                <a:uLnTx/>
                <a:uFillTx/>
                <a:latin typeface="Scotia"/>
                <a:ea typeface="+mn-ea"/>
                <a:cs typeface="+mn-cs"/>
              </a:rPr>
              <a:t>The Bank’s Strategic Risk Profile is reported to the Bank’s Risk Management Committee (RMC) and the Risk Committee of the Board on a quarterly basis via the Quarterly Risk Report (QRR).  </a:t>
            </a:r>
          </a:p>
        </p:txBody>
      </p:sp>
      <p:sp>
        <p:nvSpPr>
          <p:cNvPr id="10" name="Slide Number Placeholder 9">
            <a:extLst>
              <a:ext uri="{FF2B5EF4-FFF2-40B4-BE49-F238E27FC236}">
                <a16:creationId xmlns:a16="http://schemas.microsoft.com/office/drawing/2014/main" id="{0E45565C-D6ED-82AF-E753-7E6E6C37F20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Tree>
    <p:extLst>
      <p:ext uri="{BB962C8B-B14F-4D97-AF65-F5344CB8AC3E}">
        <p14:creationId xmlns:p14="http://schemas.microsoft.com/office/powerpoint/2010/main" val="83193942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33501-2584-15BD-D1AE-FEDDDFBE58B7}"/>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60FF0458-AA5D-7494-C206-CE225DDE0869}"/>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8" name="think-cell data - do not delete" hidden="1">
                        <a:extLst>
                          <a:ext uri="{FF2B5EF4-FFF2-40B4-BE49-F238E27FC236}">
                            <a16:creationId xmlns:a16="http://schemas.microsoft.com/office/drawing/2014/main" id="{60FF0458-AA5D-7494-C206-CE225DDE086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52" name="Rectangle 51">
            <a:extLst>
              <a:ext uri="{FF2B5EF4-FFF2-40B4-BE49-F238E27FC236}">
                <a16:creationId xmlns:a16="http://schemas.microsoft.com/office/drawing/2014/main" id="{8EAF0C40-19AB-61BD-0C81-5D1709517007}"/>
              </a:ext>
            </a:extLst>
          </p:cNvPr>
          <p:cNvSpPr/>
          <p:nvPr/>
        </p:nvSpPr>
        <p:spPr>
          <a:xfrm>
            <a:off x="-1" y="1643648"/>
            <a:ext cx="4289783" cy="4552502"/>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731520" rIns="137160" bIns="180000" rtlCol="0" anchor="t"/>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US" sz="1400" b="1" i="0" u="none" strike="noStrike" kern="1200" cap="none" spc="50" normalizeH="0" baseline="0" noProof="0">
              <a:ln>
                <a:noFill/>
              </a:ln>
              <a:solidFill>
                <a:srgbClr val="000000"/>
              </a:solidFill>
              <a:effectLst/>
              <a:uLnTx/>
              <a:uFillTx/>
              <a:latin typeface="Scotia"/>
              <a:ea typeface="+mn-ea"/>
              <a:cs typeface="+mn-cs"/>
            </a:endParaRPr>
          </a:p>
        </p:txBody>
      </p:sp>
      <p:sp>
        <p:nvSpPr>
          <p:cNvPr id="2" name="Title 1">
            <a:extLst>
              <a:ext uri="{FF2B5EF4-FFF2-40B4-BE49-F238E27FC236}">
                <a16:creationId xmlns:a16="http://schemas.microsoft.com/office/drawing/2014/main" id="{DE00D84B-8E00-0293-6785-7B7377B03D96}"/>
              </a:ext>
            </a:extLst>
          </p:cNvPr>
          <p:cNvSpPr>
            <a:spLocks noGrp="1"/>
          </p:cNvSpPr>
          <p:nvPr>
            <p:ph type="title"/>
          </p:nvPr>
        </p:nvSpPr>
        <p:spPr>
          <a:xfrm>
            <a:off x="515940" y="661850"/>
            <a:ext cx="11160124" cy="720000"/>
          </a:xfrm>
        </p:spPr>
        <p:txBody>
          <a:bodyPr vert="horz"/>
          <a:lstStyle/>
          <a:p>
            <a:r>
              <a:rPr lang="en-CA">
                <a:solidFill>
                  <a:srgbClr val="EC111A"/>
                </a:solidFill>
              </a:rPr>
              <a:t>Economic Conditions | </a:t>
            </a:r>
            <a:r>
              <a:rPr lang="en-US"/>
              <a:t>More broadly, economic conditions will play a role in future of our wealth &amp; asset mgmt. businesses, with persistent volatility likely </a:t>
            </a:r>
            <a:endParaRPr lang="en-CA"/>
          </a:p>
        </p:txBody>
      </p:sp>
      <p:sp>
        <p:nvSpPr>
          <p:cNvPr id="3" name="Slide Number Placeholder 2">
            <a:extLst>
              <a:ext uri="{FF2B5EF4-FFF2-40B4-BE49-F238E27FC236}">
                <a16:creationId xmlns:a16="http://schemas.microsoft.com/office/drawing/2014/main" id="{5F135ECD-D072-72E7-AF7B-36E82D19FE54}"/>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835A7-12B2-4074-8DA2-469A8808C237}" type="slidenum">
              <a:rPr kumimoji="0" lang="en-CA" sz="1200" b="0" i="0" u="none" strike="noStrike" kern="1200" cap="none" spc="0" normalizeH="0" baseline="0" noProof="0" smtClean="0">
                <a:ln>
                  <a:noFill/>
                </a:ln>
                <a:solidFill>
                  <a:srgbClr val="000000"/>
                </a:solidFill>
                <a:effectLst/>
                <a:uLnTx/>
                <a:uFillTx/>
                <a:latin typeface="Scotia Light" panose="020B0403020203020204" pitchFamily="34" charset="0"/>
                <a:ea typeface="Scotia Light" panose="020B0403020203020204" pitchFamily="34"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CA" sz="1200" b="0" i="0" u="none" strike="noStrike" kern="1200" cap="none" spc="0" normalizeH="0" baseline="0" noProof="0">
              <a:ln>
                <a:noFill/>
              </a:ln>
              <a:solidFill>
                <a:srgbClr val="000000"/>
              </a:solidFill>
              <a:effectLst/>
              <a:uLnTx/>
              <a:uFillTx/>
              <a:latin typeface="Scotia Light" panose="020B0403020203020204" pitchFamily="34" charset="0"/>
              <a:ea typeface="Scotia Light" panose="020B0403020203020204" pitchFamily="34" charset="0"/>
              <a:cs typeface="+mn-cs"/>
            </a:endParaRPr>
          </a:p>
        </p:txBody>
      </p:sp>
      <p:sp>
        <p:nvSpPr>
          <p:cNvPr id="5" name="Text Placeholder 4">
            <a:extLst>
              <a:ext uri="{FF2B5EF4-FFF2-40B4-BE49-F238E27FC236}">
                <a16:creationId xmlns:a16="http://schemas.microsoft.com/office/drawing/2014/main" id="{5D36A003-8310-8679-7D40-C0CDE78451D4}"/>
              </a:ext>
            </a:extLst>
          </p:cNvPr>
          <p:cNvSpPr>
            <a:spLocks noGrp="1"/>
          </p:cNvSpPr>
          <p:nvPr>
            <p:ph type="body" sz="quarter" idx="13"/>
          </p:nvPr>
        </p:nvSpPr>
        <p:spPr/>
        <p:txBody>
          <a:bodyPr/>
          <a:lstStyle/>
          <a:p>
            <a:r>
              <a:rPr lang="en-US"/>
              <a:t>Economic considerations</a:t>
            </a:r>
          </a:p>
        </p:txBody>
      </p:sp>
      <p:sp>
        <p:nvSpPr>
          <p:cNvPr id="6" name="Text Placeholder 5">
            <a:extLst>
              <a:ext uri="{FF2B5EF4-FFF2-40B4-BE49-F238E27FC236}">
                <a16:creationId xmlns:a16="http://schemas.microsoft.com/office/drawing/2014/main" id="{1C6C92BC-5158-F7BD-7BB3-B1CBBA7D5896}"/>
              </a:ext>
            </a:extLst>
          </p:cNvPr>
          <p:cNvSpPr>
            <a:spLocks noGrp="1"/>
          </p:cNvSpPr>
          <p:nvPr>
            <p:ph type="body" sz="quarter" idx="11"/>
          </p:nvPr>
        </p:nvSpPr>
        <p:spPr/>
        <p:txBody>
          <a:bodyPr anchor="t"/>
          <a:lstStyle/>
          <a:p>
            <a:r>
              <a:rPr lang="en-CA"/>
              <a:t>1. </a:t>
            </a:r>
            <a:r>
              <a:rPr lang="en-US"/>
              <a:t>Behavioral Finance Perspective on Stock Market Investment Decisions by the International Journal of Environmental Sciences, 2025; 2. Impact of Sentiment on Realized Higher-Order Moments in the S&amp;P 500 by the Journal of risk and Financial Management, 2025</a:t>
            </a:r>
            <a:endParaRPr lang="en-CA"/>
          </a:p>
        </p:txBody>
      </p:sp>
      <p:sp>
        <p:nvSpPr>
          <p:cNvPr id="10" name="Rectangle 9">
            <a:extLst>
              <a:ext uri="{FF2B5EF4-FFF2-40B4-BE49-F238E27FC236}">
                <a16:creationId xmlns:a16="http://schemas.microsoft.com/office/drawing/2014/main" id="{C495F35D-567B-93ED-2BE9-4790E2A7CE9E}"/>
              </a:ext>
            </a:extLst>
          </p:cNvPr>
          <p:cNvSpPr/>
          <p:nvPr/>
        </p:nvSpPr>
        <p:spPr>
          <a:xfrm>
            <a:off x="515937" y="2575204"/>
            <a:ext cx="3240090" cy="4603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300" b="1" i="0" u="none" strike="noStrike" kern="1200" cap="none" spc="0" normalizeH="0" baseline="0" noProof="0">
                <a:ln>
                  <a:noFill/>
                </a:ln>
                <a:solidFill>
                  <a:srgbClr val="000000"/>
                </a:solidFill>
                <a:effectLst/>
                <a:uLnTx/>
                <a:uFillTx/>
                <a:latin typeface="Scotia"/>
                <a:ea typeface="+mn-ea"/>
                <a:cs typeface="+mn-cs"/>
              </a:rPr>
              <a:t>Investor behavior is heavily shaped by market conditions, </a:t>
            </a:r>
            <a:r>
              <a:rPr kumimoji="0" lang="en-US" sz="1300" b="0" i="0" u="none" strike="noStrike" kern="1200" cap="none" spc="0" normalizeH="0" baseline="0" noProof="0">
                <a:ln>
                  <a:noFill/>
                </a:ln>
                <a:solidFill>
                  <a:srgbClr val="000000"/>
                </a:solidFill>
                <a:effectLst/>
                <a:uLnTx/>
                <a:uFillTx/>
                <a:latin typeface="Scotia"/>
                <a:ea typeface="+mn-ea"/>
                <a:cs typeface="+mn-cs"/>
              </a:rPr>
              <a:t>with significant implications for wealth and asset managers</a:t>
            </a:r>
          </a:p>
        </p:txBody>
      </p:sp>
      <p:sp>
        <p:nvSpPr>
          <p:cNvPr id="14" name="Rectangle 13">
            <a:extLst>
              <a:ext uri="{FF2B5EF4-FFF2-40B4-BE49-F238E27FC236}">
                <a16:creationId xmlns:a16="http://schemas.microsoft.com/office/drawing/2014/main" id="{992244AE-8970-BA77-C461-68E5E98C2238}"/>
              </a:ext>
            </a:extLst>
          </p:cNvPr>
          <p:cNvSpPr/>
          <p:nvPr/>
        </p:nvSpPr>
        <p:spPr>
          <a:xfrm>
            <a:off x="4843874" y="1765854"/>
            <a:ext cx="6604139" cy="4603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300" b="1" i="0" u="none" strike="noStrike" kern="1200" cap="none" spc="0" normalizeH="0" baseline="0" noProof="0">
                <a:ln>
                  <a:noFill/>
                </a:ln>
                <a:solidFill>
                  <a:srgbClr val="000000"/>
                </a:solidFill>
                <a:effectLst/>
                <a:uLnTx/>
                <a:uFillTx/>
                <a:latin typeface="Scotia"/>
                <a:ea typeface="+mn-ea"/>
                <a:cs typeface="+mn-cs"/>
              </a:rPr>
              <a:t>As volatility continues to be influenced by various macroeconomic forces, long-term success will be driven by our ability to adapt to new and emerging risks </a:t>
            </a:r>
          </a:p>
        </p:txBody>
      </p:sp>
      <p:sp>
        <p:nvSpPr>
          <p:cNvPr id="20" name="Rectangle 19">
            <a:extLst>
              <a:ext uri="{FF2B5EF4-FFF2-40B4-BE49-F238E27FC236}">
                <a16:creationId xmlns:a16="http://schemas.microsoft.com/office/drawing/2014/main" id="{B6D0C1A4-BB23-D92E-9C85-D22AD38AE0D6}"/>
              </a:ext>
            </a:extLst>
          </p:cNvPr>
          <p:cNvSpPr/>
          <p:nvPr/>
        </p:nvSpPr>
        <p:spPr>
          <a:xfrm>
            <a:off x="4843874" y="5541751"/>
            <a:ext cx="6592817" cy="474055"/>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0000" rIns="18288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Scotia"/>
                <a:ea typeface="+mn-ea"/>
                <a:cs typeface="+mn-cs"/>
              </a:rPr>
              <a:t>As we shape the future of our business, we must </a:t>
            </a:r>
            <a:r>
              <a:rPr kumimoji="0" lang="en-US" sz="1100" b="1" i="0" u="none" strike="noStrike" kern="1200" cap="none" spc="0" normalizeH="0" baseline="0" noProof="0">
                <a:ln>
                  <a:noFill/>
                </a:ln>
                <a:solidFill>
                  <a:srgbClr val="FFFFFF"/>
                </a:solidFill>
                <a:effectLst/>
                <a:uLnTx/>
                <a:uFillTx/>
                <a:latin typeface="Scotia"/>
                <a:ea typeface="+mn-ea"/>
                <a:cs typeface="+mn-cs"/>
              </a:rPr>
              <a:t>design a resilient and responsive </a:t>
            </a:r>
            <a:br>
              <a:rPr kumimoji="0" lang="en-US" sz="1100" b="1" i="0" u="none" strike="noStrike" kern="1200" cap="none" spc="0" normalizeH="0" baseline="0" noProof="0">
                <a:ln>
                  <a:noFill/>
                </a:ln>
                <a:solidFill>
                  <a:srgbClr val="FFFFFF"/>
                </a:solidFill>
                <a:effectLst/>
                <a:uLnTx/>
                <a:uFillTx/>
                <a:latin typeface="Scotia"/>
                <a:ea typeface="+mn-ea"/>
                <a:cs typeface="+mn-cs"/>
              </a:rPr>
            </a:br>
            <a:r>
              <a:rPr kumimoji="0" lang="en-US" sz="1100" b="1" i="0" u="none" strike="noStrike" kern="1200" cap="none" spc="0" normalizeH="0" baseline="0" noProof="0">
                <a:ln>
                  <a:noFill/>
                </a:ln>
                <a:solidFill>
                  <a:srgbClr val="FFFFFF"/>
                </a:solidFill>
                <a:effectLst/>
                <a:uLnTx/>
                <a:uFillTx/>
                <a:latin typeface="Scotia"/>
                <a:ea typeface="+mn-ea"/>
                <a:cs typeface="+mn-cs"/>
              </a:rPr>
              <a:t>organization </a:t>
            </a:r>
            <a:r>
              <a:rPr kumimoji="0" lang="en-US" sz="1100" b="0" i="0" u="none" strike="noStrike" kern="1200" cap="none" spc="0" normalizeH="0" baseline="0" noProof="0">
                <a:ln>
                  <a:noFill/>
                </a:ln>
                <a:solidFill>
                  <a:srgbClr val="FFFFFF"/>
                </a:solidFill>
                <a:effectLst/>
                <a:uLnTx/>
                <a:uFillTx/>
                <a:latin typeface="Scotia"/>
                <a:ea typeface="+mn-ea"/>
                <a:cs typeface="+mn-cs"/>
              </a:rPr>
              <a:t>that can </a:t>
            </a:r>
            <a:r>
              <a:rPr kumimoji="0" lang="en-US" sz="1100" b="1" i="0" u="none" strike="noStrike" kern="1200" cap="none" spc="0" normalizeH="0" baseline="0" noProof="0">
                <a:ln>
                  <a:noFill/>
                </a:ln>
                <a:solidFill>
                  <a:srgbClr val="FFFFFF"/>
                </a:solidFill>
                <a:effectLst/>
                <a:uLnTx/>
                <a:uFillTx/>
                <a:latin typeface="Scotia"/>
                <a:ea typeface="+mn-ea"/>
                <a:cs typeface="+mn-cs"/>
              </a:rPr>
              <a:t>navigate across a wide range of possible outcomes</a:t>
            </a:r>
          </a:p>
        </p:txBody>
      </p:sp>
      <p:sp>
        <p:nvSpPr>
          <p:cNvPr id="21" name="Rectangle 20">
            <a:extLst>
              <a:ext uri="{FF2B5EF4-FFF2-40B4-BE49-F238E27FC236}">
                <a16:creationId xmlns:a16="http://schemas.microsoft.com/office/drawing/2014/main" id="{90442D61-F593-0387-FC37-FAABB09888EA}"/>
              </a:ext>
            </a:extLst>
          </p:cNvPr>
          <p:cNvSpPr/>
          <p:nvPr/>
        </p:nvSpPr>
        <p:spPr>
          <a:xfrm>
            <a:off x="4843874" y="2861724"/>
            <a:ext cx="1517904" cy="25129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731520" rIns="180000" bIns="180000" rtlCol="0" anchor="t"/>
          <a:lstStyle/>
          <a:p>
            <a:pPr marL="0" marR="0" lvl="0" indent="0" algn="l" defTabSz="914400" rtl="0" eaLnBrk="1" fontAlgn="auto" latinLnBrk="0" hangingPunct="1">
              <a:lnSpc>
                <a:spcPct val="100000"/>
              </a:lnSpc>
              <a:spcBef>
                <a:spcPts val="120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Market Conditions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GDP growth</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Inflation</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Employment</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Interest rates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Productivity </a:t>
            </a:r>
          </a:p>
        </p:txBody>
      </p:sp>
      <p:sp>
        <p:nvSpPr>
          <p:cNvPr id="34" name="Rectangle 33">
            <a:extLst>
              <a:ext uri="{FF2B5EF4-FFF2-40B4-BE49-F238E27FC236}">
                <a16:creationId xmlns:a16="http://schemas.microsoft.com/office/drawing/2014/main" id="{19A03B12-F44A-F06B-F3F5-BBB1E1CD2C17}"/>
              </a:ext>
            </a:extLst>
          </p:cNvPr>
          <p:cNvSpPr/>
          <p:nvPr/>
        </p:nvSpPr>
        <p:spPr>
          <a:xfrm>
            <a:off x="5032765" y="3028836"/>
            <a:ext cx="395084" cy="395084"/>
          </a:xfrm>
          <a:prstGeom prst="rect">
            <a:avLst/>
          </a:prstGeom>
          <a:solidFill>
            <a:srgbClr val="C6C3B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41" name="Shape 2545">
            <a:extLst>
              <a:ext uri="{FF2B5EF4-FFF2-40B4-BE49-F238E27FC236}">
                <a16:creationId xmlns:a16="http://schemas.microsoft.com/office/drawing/2014/main" id="{3ACEFFDE-54C2-77D3-2CA5-2E327B688EF7}"/>
              </a:ext>
            </a:extLst>
          </p:cNvPr>
          <p:cNvSpPr/>
          <p:nvPr/>
        </p:nvSpPr>
        <p:spPr>
          <a:xfrm>
            <a:off x="5109436" y="3105507"/>
            <a:ext cx="241742" cy="241742"/>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chemeClr val="bg2"/>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24" name="Rectangle 23">
            <a:extLst>
              <a:ext uri="{FF2B5EF4-FFF2-40B4-BE49-F238E27FC236}">
                <a16:creationId xmlns:a16="http://schemas.microsoft.com/office/drawing/2014/main" id="{CF4A00C9-535A-F996-4A5D-F3AB42CE34E3}"/>
              </a:ext>
            </a:extLst>
          </p:cNvPr>
          <p:cNvSpPr/>
          <p:nvPr/>
        </p:nvSpPr>
        <p:spPr>
          <a:xfrm>
            <a:off x="6539286" y="2861724"/>
            <a:ext cx="1517904" cy="25129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731520" rIns="180000" bIns="180000" rtlCol="0" anchor="t"/>
          <a:lstStyle/>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Institutional Forces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Tax regime</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Public spending </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Regulations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Industrial policy</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35" name="Rectangle 34">
            <a:extLst>
              <a:ext uri="{FF2B5EF4-FFF2-40B4-BE49-F238E27FC236}">
                <a16:creationId xmlns:a16="http://schemas.microsoft.com/office/drawing/2014/main" id="{7D320997-8DE0-5D90-61D6-77346EFDB2EA}"/>
              </a:ext>
            </a:extLst>
          </p:cNvPr>
          <p:cNvSpPr/>
          <p:nvPr/>
        </p:nvSpPr>
        <p:spPr>
          <a:xfrm>
            <a:off x="6728177" y="3028836"/>
            <a:ext cx="395084" cy="395084"/>
          </a:xfrm>
          <a:prstGeom prst="rect">
            <a:avLst/>
          </a:prstGeom>
          <a:solidFill>
            <a:srgbClr val="C6C3B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42" name="Shape 2624">
            <a:extLst>
              <a:ext uri="{FF2B5EF4-FFF2-40B4-BE49-F238E27FC236}">
                <a16:creationId xmlns:a16="http://schemas.microsoft.com/office/drawing/2014/main" id="{FA0F4460-80AD-5326-D16F-82515CBE98BD}"/>
              </a:ext>
            </a:extLst>
          </p:cNvPr>
          <p:cNvSpPr/>
          <p:nvPr/>
        </p:nvSpPr>
        <p:spPr>
          <a:xfrm>
            <a:off x="6804848" y="3105507"/>
            <a:ext cx="241742" cy="241742"/>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chemeClr val="bg2"/>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22" name="Rectangle 21">
            <a:extLst>
              <a:ext uri="{FF2B5EF4-FFF2-40B4-BE49-F238E27FC236}">
                <a16:creationId xmlns:a16="http://schemas.microsoft.com/office/drawing/2014/main" id="{741DD0A4-0D79-90AB-B97C-FD8DF6A57FAA}"/>
              </a:ext>
            </a:extLst>
          </p:cNvPr>
          <p:cNvSpPr/>
          <p:nvPr/>
        </p:nvSpPr>
        <p:spPr>
          <a:xfrm>
            <a:off x="8234698" y="2861724"/>
            <a:ext cx="1517904" cy="25129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731520" rIns="180000" bIns="180000" rtlCol="0" anchor="t"/>
          <a:lstStyle/>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Geopolitical Tensions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Trade disputes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Sanctions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Conflicts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Shift in global alliances</a:t>
            </a:r>
          </a:p>
        </p:txBody>
      </p:sp>
      <p:sp>
        <p:nvSpPr>
          <p:cNvPr id="36" name="Rectangle 35">
            <a:extLst>
              <a:ext uri="{FF2B5EF4-FFF2-40B4-BE49-F238E27FC236}">
                <a16:creationId xmlns:a16="http://schemas.microsoft.com/office/drawing/2014/main" id="{51918A8C-580E-9CB2-E62D-9F8225CAF34A}"/>
              </a:ext>
            </a:extLst>
          </p:cNvPr>
          <p:cNvSpPr/>
          <p:nvPr/>
        </p:nvSpPr>
        <p:spPr>
          <a:xfrm>
            <a:off x="8423589" y="3028836"/>
            <a:ext cx="395084" cy="395084"/>
          </a:xfrm>
          <a:prstGeom prst="rect">
            <a:avLst/>
          </a:prstGeom>
          <a:solidFill>
            <a:srgbClr val="C6C3B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43" name="Shape 2941">
            <a:extLst>
              <a:ext uri="{FF2B5EF4-FFF2-40B4-BE49-F238E27FC236}">
                <a16:creationId xmlns:a16="http://schemas.microsoft.com/office/drawing/2014/main" id="{B9F03422-222D-F6F2-5C1D-8C717AEF204E}"/>
              </a:ext>
            </a:extLst>
          </p:cNvPr>
          <p:cNvSpPr/>
          <p:nvPr/>
        </p:nvSpPr>
        <p:spPr>
          <a:xfrm>
            <a:off x="8499401" y="3104649"/>
            <a:ext cx="243460" cy="243458"/>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bg2"/>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23" name="Rectangle 22">
            <a:extLst>
              <a:ext uri="{FF2B5EF4-FFF2-40B4-BE49-F238E27FC236}">
                <a16:creationId xmlns:a16="http://schemas.microsoft.com/office/drawing/2014/main" id="{BEE487D8-8F86-1FD6-44C3-BF4483A8345D}"/>
              </a:ext>
            </a:extLst>
          </p:cNvPr>
          <p:cNvSpPr/>
          <p:nvPr/>
        </p:nvSpPr>
        <p:spPr>
          <a:xfrm>
            <a:off x="9930109" y="2861724"/>
            <a:ext cx="1517904" cy="2512915"/>
          </a:xfrm>
          <a:prstGeom prst="rect">
            <a:avLst/>
          </a:prstGeom>
          <a:solidFill>
            <a:srgbClr val="F5EFE8"/>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731520" rIns="182880" bIns="180000" rtlCol="0" anchor="t"/>
          <a:lstStyle/>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sz="1200" b="1" i="0" u="none" strike="noStrike" kern="1200" cap="none" spc="0" normalizeH="0" baseline="0" noProof="0">
                <a:ln>
                  <a:noFill/>
                </a:ln>
                <a:solidFill>
                  <a:srgbClr val="000000"/>
                </a:solidFill>
                <a:effectLst/>
                <a:uLnTx/>
                <a:uFillTx/>
                <a:latin typeface="Scotia"/>
                <a:ea typeface="+mn-ea"/>
                <a:cs typeface="+mn-cs"/>
              </a:rPr>
              <a:t>Black Swan Events</a:t>
            </a:r>
            <a:endParaRPr kumimoji="0" lang="en-US" sz="1000" b="1" i="0" u="none" strike="noStrike" kern="1200" cap="none" spc="0" normalizeH="0" baseline="0" noProof="0">
              <a:ln>
                <a:noFill/>
              </a:ln>
              <a:solidFill>
                <a:srgbClr val="000000"/>
              </a:solidFill>
              <a:effectLst/>
              <a:uLnTx/>
              <a:uFillTx/>
              <a:latin typeface="Scotia"/>
              <a:ea typeface="+mn-ea"/>
              <a:cs typeface="+mn-cs"/>
            </a:endParaRP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Natural disasters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Global pandemics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Cyberattacks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00000"/>
                </a:solidFill>
                <a:effectLst/>
                <a:uLnTx/>
                <a:uFillTx/>
                <a:latin typeface="Scotia"/>
                <a:ea typeface="+mn-ea"/>
                <a:cs typeface="+mn-cs"/>
              </a:rPr>
              <a:t>Terrorism</a:t>
            </a:r>
          </a:p>
        </p:txBody>
      </p:sp>
      <p:sp>
        <p:nvSpPr>
          <p:cNvPr id="37" name="Rectangle 36">
            <a:extLst>
              <a:ext uri="{FF2B5EF4-FFF2-40B4-BE49-F238E27FC236}">
                <a16:creationId xmlns:a16="http://schemas.microsoft.com/office/drawing/2014/main" id="{FC7C7417-024A-1910-1AD5-9A5CC491C5F1}"/>
              </a:ext>
            </a:extLst>
          </p:cNvPr>
          <p:cNvSpPr/>
          <p:nvPr/>
        </p:nvSpPr>
        <p:spPr>
          <a:xfrm>
            <a:off x="10119000" y="3028836"/>
            <a:ext cx="395084" cy="395084"/>
          </a:xfrm>
          <a:prstGeom prst="rect">
            <a:avLst/>
          </a:prstGeom>
          <a:solidFill>
            <a:srgbClr val="C6C3B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44" name="Shape 2625">
            <a:extLst>
              <a:ext uri="{FF2B5EF4-FFF2-40B4-BE49-F238E27FC236}">
                <a16:creationId xmlns:a16="http://schemas.microsoft.com/office/drawing/2014/main" id="{FC4DCEDB-54E3-CEF7-2450-5F1E5423DA92}"/>
              </a:ext>
            </a:extLst>
          </p:cNvPr>
          <p:cNvSpPr/>
          <p:nvPr/>
        </p:nvSpPr>
        <p:spPr>
          <a:xfrm>
            <a:off x="10195671" y="3127483"/>
            <a:ext cx="241742" cy="197790"/>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chemeClr val="bg2"/>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grpSp>
        <p:nvGrpSpPr>
          <p:cNvPr id="59" name="Group 58">
            <a:extLst>
              <a:ext uri="{FF2B5EF4-FFF2-40B4-BE49-F238E27FC236}">
                <a16:creationId xmlns:a16="http://schemas.microsoft.com/office/drawing/2014/main" id="{EAF5249D-4381-5876-A699-665B708732F4}"/>
              </a:ext>
            </a:extLst>
          </p:cNvPr>
          <p:cNvGrpSpPr/>
          <p:nvPr/>
        </p:nvGrpSpPr>
        <p:grpSpPr>
          <a:xfrm>
            <a:off x="5183743" y="2386014"/>
            <a:ext cx="5913078" cy="280943"/>
            <a:chOff x="5044598" y="2335214"/>
            <a:chExt cx="5913078" cy="280943"/>
          </a:xfrm>
        </p:grpSpPr>
        <p:sp>
          <p:nvSpPr>
            <p:cNvPr id="46" name="Left Bracket 45">
              <a:extLst>
                <a:ext uri="{FF2B5EF4-FFF2-40B4-BE49-F238E27FC236}">
                  <a16:creationId xmlns:a16="http://schemas.microsoft.com/office/drawing/2014/main" id="{B0EEA4C1-FFA9-CC97-C63C-15AA04B8773B}"/>
                </a:ext>
              </a:extLst>
            </p:cNvPr>
            <p:cNvSpPr/>
            <p:nvPr/>
          </p:nvSpPr>
          <p:spPr>
            <a:xfrm rot="5400000">
              <a:off x="7939924" y="-430855"/>
              <a:ext cx="122426" cy="5913078"/>
            </a:xfrm>
            <a:prstGeom prst="leftBracket">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cotia"/>
                <a:ea typeface="+mn-ea"/>
                <a:cs typeface="+mn-cs"/>
              </a:endParaRPr>
            </a:p>
          </p:txBody>
        </p:sp>
        <p:sp>
          <p:nvSpPr>
            <p:cNvPr id="40" name="Rectangle 39">
              <a:extLst>
                <a:ext uri="{FF2B5EF4-FFF2-40B4-BE49-F238E27FC236}">
                  <a16:creationId xmlns:a16="http://schemas.microsoft.com/office/drawing/2014/main" id="{E2BB2935-9E61-2E57-C42D-5086C5AB3038}"/>
                </a:ext>
              </a:extLst>
            </p:cNvPr>
            <p:cNvSpPr/>
            <p:nvPr/>
          </p:nvSpPr>
          <p:spPr>
            <a:xfrm>
              <a:off x="5864251" y="2335214"/>
              <a:ext cx="4273772" cy="2809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300" normalizeH="0" baseline="0" noProof="0">
                  <a:ln>
                    <a:noFill/>
                  </a:ln>
                  <a:solidFill>
                    <a:srgbClr val="000000"/>
                  </a:solidFill>
                  <a:effectLst/>
                  <a:uLnTx/>
                  <a:uFillTx/>
                  <a:latin typeface="Scotia"/>
                  <a:ea typeface="+mn-ea"/>
                  <a:cs typeface="+mn-cs"/>
                </a:rPr>
                <a:t>DRIVERS OF LONG-TERM VOLATILITY </a:t>
              </a:r>
            </a:p>
          </p:txBody>
        </p:sp>
      </p:grpSp>
      <p:sp>
        <p:nvSpPr>
          <p:cNvPr id="60" name="Rectangle 59">
            <a:extLst>
              <a:ext uri="{FF2B5EF4-FFF2-40B4-BE49-F238E27FC236}">
                <a16:creationId xmlns:a16="http://schemas.microsoft.com/office/drawing/2014/main" id="{C079DECB-4810-9F4B-6BC0-E6981AE8DAF0}"/>
              </a:ext>
            </a:extLst>
          </p:cNvPr>
          <p:cNvSpPr/>
          <p:nvPr/>
        </p:nvSpPr>
        <p:spPr>
          <a:xfrm>
            <a:off x="1179533" y="1955915"/>
            <a:ext cx="2187866" cy="2809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200" b="1" i="0" u="none" strike="noStrike" kern="1200" cap="none" spc="300" normalizeH="0" baseline="0" noProof="0">
                <a:ln>
                  <a:noFill/>
                </a:ln>
                <a:solidFill>
                  <a:srgbClr val="000000"/>
                </a:solidFill>
                <a:effectLst/>
                <a:uLnTx/>
                <a:uFillTx/>
                <a:latin typeface="Scotia"/>
                <a:ea typeface="+mn-ea"/>
                <a:cs typeface="+mn-cs"/>
              </a:rPr>
              <a:t>MARKET-INVESTOR DYNAMICS</a:t>
            </a:r>
          </a:p>
        </p:txBody>
      </p:sp>
      <p:sp>
        <p:nvSpPr>
          <p:cNvPr id="61" name="Rectangle 60">
            <a:extLst>
              <a:ext uri="{FF2B5EF4-FFF2-40B4-BE49-F238E27FC236}">
                <a16:creationId xmlns:a16="http://schemas.microsoft.com/office/drawing/2014/main" id="{A41C95E1-9B9C-1A64-4DD2-925257E5F1E3}"/>
              </a:ext>
            </a:extLst>
          </p:cNvPr>
          <p:cNvSpPr/>
          <p:nvPr/>
        </p:nvSpPr>
        <p:spPr>
          <a:xfrm>
            <a:off x="515940" y="1535298"/>
            <a:ext cx="490873" cy="841694"/>
          </a:xfrm>
          <a:prstGeom prst="rect">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63" name="Isosceles Triangle 62">
            <a:extLst>
              <a:ext uri="{FF2B5EF4-FFF2-40B4-BE49-F238E27FC236}">
                <a16:creationId xmlns:a16="http://schemas.microsoft.com/office/drawing/2014/main" id="{EACB4EE0-0E0E-B0EC-63F9-E14AB42C7519}"/>
              </a:ext>
            </a:extLst>
          </p:cNvPr>
          <p:cNvSpPr/>
          <p:nvPr/>
        </p:nvSpPr>
        <p:spPr>
          <a:xfrm rot="10800000">
            <a:off x="1932874" y="3319865"/>
            <a:ext cx="424032" cy="136319"/>
          </a:xfrm>
          <a:prstGeom prst="triangl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a:ln>
                <a:noFill/>
              </a:ln>
              <a:solidFill>
                <a:srgbClr val="000000"/>
              </a:solidFill>
              <a:effectLst/>
              <a:uLnTx/>
              <a:uFillTx/>
              <a:latin typeface="Scotia"/>
              <a:ea typeface="+mn-ea"/>
              <a:cs typeface="+mn-cs"/>
            </a:endParaRPr>
          </a:p>
        </p:txBody>
      </p:sp>
      <p:sp>
        <p:nvSpPr>
          <p:cNvPr id="64" name="Shape 2589">
            <a:extLst>
              <a:ext uri="{FF2B5EF4-FFF2-40B4-BE49-F238E27FC236}">
                <a16:creationId xmlns:a16="http://schemas.microsoft.com/office/drawing/2014/main" id="{9F21566C-3751-6939-2FAD-203D71E2CDEB}"/>
              </a:ext>
            </a:extLst>
          </p:cNvPr>
          <p:cNvSpPr/>
          <p:nvPr/>
        </p:nvSpPr>
        <p:spPr>
          <a:xfrm>
            <a:off x="609352" y="1919280"/>
            <a:ext cx="304048" cy="27641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chemeClr val="bg1"/>
          </a:solidFill>
          <a:ln w="12700">
            <a:miter lim="400000"/>
          </a:ln>
        </p:spPr>
        <p:txBody>
          <a:bodyPr lIns="38091" tIns="38091" rIns="38091" bIns="38091" anchor="ctr"/>
          <a:lstStyle/>
          <a:p>
            <a:pPr marL="0" marR="0" lvl="0" indent="0" algn="l" defTabSz="457056" rtl="0" eaLnBrk="1" fontAlgn="auto" latinLnBrk="0" hangingPunct="1">
              <a:lnSpc>
                <a:spcPct val="100000"/>
              </a:lnSpc>
              <a:spcBef>
                <a:spcPts val="0"/>
              </a:spcBef>
              <a:spcAft>
                <a:spcPts val="0"/>
              </a:spcAft>
              <a:buClrTx/>
              <a:buSzTx/>
              <a:buFontTx/>
              <a:buNone/>
              <a:tabLst/>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kumimoji="0" sz="2999"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Gill Sans"/>
              <a:sym typeface="Gill Sans"/>
            </a:endParaRPr>
          </a:p>
        </p:txBody>
      </p:sp>
      <p:sp>
        <p:nvSpPr>
          <p:cNvPr id="9" name="Rectangle 8">
            <a:extLst>
              <a:ext uri="{FF2B5EF4-FFF2-40B4-BE49-F238E27FC236}">
                <a16:creationId xmlns:a16="http://schemas.microsoft.com/office/drawing/2014/main" id="{846AE391-CEBA-2512-B6C4-F1826E7F5381}"/>
              </a:ext>
            </a:extLst>
          </p:cNvPr>
          <p:cNvSpPr/>
          <p:nvPr/>
        </p:nvSpPr>
        <p:spPr>
          <a:xfrm>
            <a:off x="515937" y="3579945"/>
            <a:ext cx="3287044" cy="2407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Behavioural biases have strong correlation with market returns </a:t>
            </a:r>
            <a:r>
              <a:rPr kumimoji="0" lang="en-US" sz="1100" b="0" i="0" u="none" strike="noStrike" kern="1200" cap="none" spc="0" normalizeH="0" baseline="0" noProof="0">
                <a:ln>
                  <a:noFill/>
                </a:ln>
                <a:solidFill>
                  <a:srgbClr val="000000"/>
                </a:solidFill>
                <a:effectLst/>
                <a:uLnTx/>
                <a:uFillTx/>
                <a:latin typeface="Scotia"/>
                <a:ea typeface="+mn-ea"/>
                <a:cs typeface="+mn-cs"/>
              </a:rPr>
              <a:t>– research shows 47% of return variance can be attributed to investor behaviour</a:t>
            </a:r>
            <a:r>
              <a:rPr kumimoji="0" lang="en-US" sz="1100" b="0" i="0" u="none" strike="noStrike" kern="1200" cap="none" spc="0" normalizeH="0" baseline="30000" noProof="0">
                <a:ln>
                  <a:noFill/>
                </a:ln>
                <a:solidFill>
                  <a:srgbClr val="000000"/>
                </a:solidFill>
                <a:effectLst/>
                <a:uLnTx/>
                <a:uFillTx/>
                <a:latin typeface="Scotia"/>
                <a:ea typeface="+mn-ea"/>
                <a:cs typeface="+mn-cs"/>
              </a:rPr>
              <a:t>1</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Scotia"/>
                <a:ea typeface="+mn-ea"/>
                <a:cs typeface="+mn-cs"/>
              </a:rPr>
              <a:t>Types of </a:t>
            </a:r>
            <a:r>
              <a:rPr kumimoji="0" lang="en-US" sz="1100" b="0" i="0" u="none" strike="noStrike" kern="1200" cap="none" spc="0" normalizeH="0" baseline="0" noProof="0" err="1">
                <a:ln>
                  <a:noFill/>
                </a:ln>
                <a:solidFill>
                  <a:srgbClr val="000000"/>
                </a:solidFill>
                <a:effectLst/>
                <a:uLnTx/>
                <a:uFillTx/>
                <a:latin typeface="Scotia"/>
                <a:ea typeface="+mn-ea"/>
                <a:cs typeface="+mn-cs"/>
              </a:rPr>
              <a:t>behavioural</a:t>
            </a:r>
            <a:r>
              <a:rPr kumimoji="0" lang="en-US" sz="1100" b="0" i="0" u="none" strike="noStrike" kern="1200" cap="none" spc="0" normalizeH="0" baseline="0" noProof="0">
                <a:ln>
                  <a:noFill/>
                </a:ln>
                <a:solidFill>
                  <a:srgbClr val="000000"/>
                </a:solidFill>
                <a:effectLst/>
                <a:uLnTx/>
                <a:uFillTx/>
                <a:latin typeface="Scotia"/>
                <a:ea typeface="+mn-ea"/>
                <a:cs typeface="+mn-cs"/>
              </a:rPr>
              <a:t> biases include:</a:t>
            </a:r>
          </a:p>
          <a:p>
            <a:pPr marL="628650" marR="0" lvl="1"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Overconfidence</a:t>
            </a:r>
            <a:r>
              <a:rPr kumimoji="0" lang="en-US" sz="1100" b="0" i="0" u="none" strike="noStrike" kern="1200" cap="none" spc="0" normalizeH="0" baseline="0" noProof="0">
                <a:ln>
                  <a:noFill/>
                </a:ln>
                <a:solidFill>
                  <a:srgbClr val="000000"/>
                </a:solidFill>
                <a:effectLst/>
                <a:uLnTx/>
                <a:uFillTx/>
                <a:latin typeface="Scotia"/>
                <a:ea typeface="+mn-ea"/>
                <a:cs typeface="+mn-cs"/>
              </a:rPr>
              <a:t>: overestimating skills, knowledge, or predictive ability</a:t>
            </a:r>
          </a:p>
          <a:p>
            <a:pPr marL="628650" marR="0" lvl="1"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Anchoring: </a:t>
            </a:r>
            <a:r>
              <a:rPr kumimoji="0" lang="en-US" sz="1100" b="0" i="0" u="none" strike="noStrike" kern="1200" cap="none" spc="0" normalizeH="0" baseline="0" noProof="0">
                <a:ln>
                  <a:noFill/>
                </a:ln>
                <a:solidFill>
                  <a:srgbClr val="000000"/>
                </a:solidFill>
                <a:effectLst/>
                <a:uLnTx/>
                <a:uFillTx/>
                <a:latin typeface="Scotia"/>
                <a:ea typeface="+mn-ea"/>
                <a:cs typeface="+mn-cs"/>
              </a:rPr>
              <a:t>bias towards early information</a:t>
            </a:r>
          </a:p>
          <a:p>
            <a:pPr marL="628650" marR="0" lvl="1"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Herding: </a:t>
            </a:r>
            <a:r>
              <a:rPr kumimoji="0" lang="en-US" sz="1100" b="0" i="0" u="none" strike="noStrike" kern="1200" cap="none" spc="0" normalizeH="0" baseline="0" noProof="0">
                <a:ln>
                  <a:noFill/>
                </a:ln>
                <a:solidFill>
                  <a:srgbClr val="000000"/>
                </a:solidFill>
                <a:effectLst/>
                <a:uLnTx/>
                <a:uFillTx/>
                <a:latin typeface="Scotia"/>
                <a:ea typeface="+mn-ea"/>
                <a:cs typeface="+mn-cs"/>
              </a:rPr>
              <a:t>following other’s actions</a:t>
            </a:r>
          </a:p>
          <a:p>
            <a:pPr marL="171450" marR="0" lvl="0" indent="-1714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Scotia"/>
                <a:ea typeface="+mn-ea"/>
                <a:cs typeface="+mn-cs"/>
              </a:rPr>
              <a:t>Fear</a:t>
            </a:r>
            <a:r>
              <a:rPr kumimoji="0" lang="en-US" sz="1100" b="0" i="0" u="none" strike="noStrike" kern="1200" cap="none" spc="0" normalizeH="0" baseline="0" noProof="0">
                <a:ln>
                  <a:noFill/>
                </a:ln>
                <a:solidFill>
                  <a:srgbClr val="000000"/>
                </a:solidFill>
                <a:effectLst/>
                <a:uLnTx/>
                <a:uFillTx/>
                <a:latin typeface="Scotia"/>
                <a:ea typeface="+mn-ea"/>
                <a:cs typeface="+mn-cs"/>
              </a:rPr>
              <a:t> has been shown to </a:t>
            </a:r>
            <a:r>
              <a:rPr kumimoji="0" lang="en-US" sz="1100" b="1" i="0" u="none" strike="noStrike" kern="1200" cap="none" spc="0" normalizeH="0" baseline="0" noProof="0">
                <a:ln>
                  <a:noFill/>
                </a:ln>
                <a:solidFill>
                  <a:srgbClr val="000000"/>
                </a:solidFill>
                <a:effectLst/>
                <a:uLnTx/>
                <a:uFillTx/>
                <a:latin typeface="Scotia"/>
                <a:ea typeface="+mn-ea"/>
                <a:cs typeface="+mn-cs"/>
              </a:rPr>
              <a:t>correlate with greater price swings and return patterns</a:t>
            </a:r>
            <a:r>
              <a:rPr kumimoji="0" lang="en-US" sz="1100" b="0" i="0" u="none" strike="noStrike" kern="1200" cap="none" spc="0" normalizeH="0" baseline="0" noProof="0">
                <a:ln>
                  <a:noFill/>
                </a:ln>
                <a:solidFill>
                  <a:srgbClr val="000000"/>
                </a:solidFill>
                <a:effectLst/>
                <a:uLnTx/>
                <a:uFillTx/>
                <a:latin typeface="Scotia"/>
                <a:ea typeface="+mn-ea"/>
                <a:cs typeface="+mn-cs"/>
              </a:rPr>
              <a:t>, exacerbating volatility during periods of economic uncertainty</a:t>
            </a:r>
            <a:r>
              <a:rPr kumimoji="0" lang="en-US" sz="1100" b="0" i="0" u="none" strike="noStrike" kern="1200" cap="none" spc="0" normalizeH="0" baseline="30000" noProof="0">
                <a:ln>
                  <a:noFill/>
                </a:ln>
                <a:solidFill>
                  <a:srgbClr val="000000"/>
                </a:solidFill>
                <a:effectLst/>
                <a:uLnTx/>
                <a:uFillTx/>
                <a:latin typeface="Scotia"/>
                <a:ea typeface="+mn-ea"/>
                <a:cs typeface="+mn-cs"/>
              </a:rPr>
              <a:t>2</a:t>
            </a:r>
          </a:p>
        </p:txBody>
      </p:sp>
      <p:sp>
        <p:nvSpPr>
          <p:cNvPr id="7" name="Oval 6">
            <a:extLst>
              <a:ext uri="{FF2B5EF4-FFF2-40B4-BE49-F238E27FC236}">
                <a16:creationId xmlns:a16="http://schemas.microsoft.com/office/drawing/2014/main" id="{6F4354E0-F38A-FB28-1F55-A174771DBB71}"/>
              </a:ext>
            </a:extLst>
          </p:cNvPr>
          <p:cNvSpPr/>
          <p:nvPr/>
        </p:nvSpPr>
        <p:spPr>
          <a:xfrm>
            <a:off x="115665" y="661850"/>
            <a:ext cx="301752" cy="301752"/>
          </a:xfrm>
          <a:prstGeom prst="ellipse">
            <a:avLst/>
          </a:prstGeom>
          <a:solidFill>
            <a:srgbClr val="EC11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Scotia"/>
                <a:ea typeface="+mn-ea"/>
                <a:cs typeface="+mn-cs"/>
              </a:rPr>
              <a:t>6</a:t>
            </a:r>
          </a:p>
        </p:txBody>
      </p:sp>
    </p:spTree>
    <p:extLst>
      <p:ext uri="{BB962C8B-B14F-4D97-AF65-F5344CB8AC3E}">
        <p14:creationId xmlns:p14="http://schemas.microsoft.com/office/powerpoint/2010/main" val="303090137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6XEaDrvALyuR.l3rITU5.g"/>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U6Mc7VSUdt1J4ZRlvofk8Q"/>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ZL8Q_COSj1JIpkRu.2d8QA"/>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C31bdsIUGYpAQdC06m3Ggw"/>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BKDchUjoR_9S8VbjN6JOjw"/>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0whDRtnR9_QtqVkbQs_mEg"/>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S8vnaGlQsogSGq25k_aRug"/>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5aF7Xzb9.w3sw2mQQJO19w"/>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6mmMHLSddhOvA7rbB__DTg"/>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3QjTsFUhsQpvqXelAe5pjA"/>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BkoPRkO..9TQMPrYX_qUdg"/>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GtH5hKli8BxVoi9BPAVUOQ"/>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OoMiZ5B_Rsp6uJebAqrM6w"/>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5X8moWGPTPGr4GKvTeiZEw"/>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1wemhg0WuIKYnOENMHoXXA"/>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vFFu7UjauVdWbeDpz9ki5g"/>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_pdeXUsEQ2Y5kMJyatez2A"/>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iNciCy4D8zBX17k.lZP_pQ"/>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AS5RLDFntCFCGwX9RvfKZg"/>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CZFSF6nXEly1wy2mewLmx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Nkyi_1c74bSRLROSK99A7Q"/>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6HCdTRsr.eIdMGsB_5hVtA"/>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RnmwdxTrCFunhOaYIPsX2w"/>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pQ9IYHLr1r8STVlKMJES8Nw"/>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pvkKERn5N3BzlYYUtoxHKFw"/>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pD5DCoj6dSkSB7B.5PNwBiA"/>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znC9S_DH5PubPKFSzSQ07g"/>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2w7Z6bib3OWFRZVo4q4m5w"/>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4J0KxhWkOI2UqRzqBAsaA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bOv6jel.2s6SU_HzbuUK2w"/>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OXwBsfuxBQt1sb3S7lCSAQ"/>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u0T2z8kA.q7bSQG2IV1cn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7jwzdQZTvXmVkNZ4H24f5A"/>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HDVRU_g5cWXTT0ZPZYXSXQ"/>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pEVzsNmGrtN8AEWB.vyVJ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fkJTCMn4D1wbu6qSge.Zb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DBD2bfy1ipj0IlpeixPQrw"/>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cqtzrhWthYrtKLbHQUVLKA"/>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P9iTL.6I2At3A6AOBQ49dQ"/>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PKlFgo0pyDabrk_wnyHZSQ"/>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8LDuanMExW2lRfA7SfaSlA"/>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oruvXREskyXRZ4yfHZf.dA"/>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yepnlg1ScUxI.zO6lnTAdg"/>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4mb8tdxlMzYwTDfrTTqqhw"/>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RNUlhSbRlWfL4TtDHfDpo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okkzerO3caSLfrbIkJ4SVw"/>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AwZzS5RUkYI167lS1ezLBA"/>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rRM2va6LxUBjpsMyl4RA1A"/>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Qy0T5jS8GCXNc7eScYexT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_.ZqDkrWFz3R4Z7tc3Rgo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oa1QD5JQinmQZqQufm4CWA"/>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nrtfrelPSzQ1EwCu4MbjGg"/>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2KpxnZZ7Bejv99OB7iQTxg"/>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Q7YvSBgdBmqjr7DV2akwOw"/>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IBQwb71VuCHBtuaizEZsw"/>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PKvbpB31rlJ8rsrJk.hRS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pCTkd_T17sxt_9P5vrAa9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gi2v4lJt4R8y8Ax3sKRMSw"/>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UXqEpZiGFUuBzXS2caP2Mw"/>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iRVi1kJ9lhY2qIDtSrDS5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Cif.NvkfEP9wPHjfEY.CFQ"/>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_coa5Zyl08IVvYaBtPt1EA"/>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7KUa5fxPW0VF.GfMD.9n7A"/>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nuxbouMhBNZRSgjZnyFvNw"/>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tbpOW.Q2lQ1EudrpIVjCcg"/>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pvkKERn5N3BzlYYUtoxHKFw"/>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pD5DCoj6dSkSB7B.5PNwBiA"/>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XkKqNKDpXaShXf8kNt1SzA"/>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BVCBBbIBWibklJMmPZgs6w"/>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Q44FlZQdVpLlighFhhG6gQ"/>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ZwvkgN88DeZyqnLTN6i1hA"/>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T0FUl_RLLevYKl6phMrIQA"/>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NfMc7y2YTxyue85tMiKjZQ"/>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qpTN.iR_4TK7NLfKFlcVIg"/>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T9LaerS3rYIJXVXoRkl8Kw"/>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5W.zf.K6iK8yQppPLC7eaA"/>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5FPZoNknlYAcitWei6KI.Q"/>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NKnxYjjYCDPE7wx.arLKLw"/>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_PSmR1WyRsZ.T8R75eYqjw"/>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qgo6U9DIDgT3Pc72FsLJMQ"/>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fR5gaReau8OcIVdRFQTrpQ"/>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ms1qzajtuoEtoBvdQO39uw"/>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o4kkO.fYA7pL4AOIG8v.kQ"/>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fj6xO_vrlkR_DaR60dpsOw"/>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XEy9ucXowjZPxwRlavtLe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b7XwQG3FGp35h6HsJ6wbUQ"/>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rlP_Ko.7GLPowKlDYhhH8A"/>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ij6lSlKxJ7Y8.n_uH_1zQA"/>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9VFxXdlsxD5_XoYg330uew"/>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B0_Ab1REUO2rtj5oCb7DOA"/>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d94JwWOx3dqLQoRLzr.IFA"/>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uH65Cen7cFn4Pm6Dpb6XeA"/>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aOSrJSgFL.8nUD5Bu1zS2g"/>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7inTPbkA6W0lXs5KPmOQ7g"/>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Lu01jSN76.sEVFNjAy6cSg"/>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HAgLYtkX21WnUV5YCIIxqA"/>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rn_000cNLfqB2rsb8RF8Q"/>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e_eUKEA1gwM24bIvvS98Wg"/>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1zCEPJyMnLecG_s8la2YPA"/>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kFv.IldG4LCYW1u1t9Fy3Q"/>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H0RHSrnyeR0ncBhyNA1yyA"/>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ldEvT2E5sD_Gg_TwtfEpQw"/>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RxmXLl4bPEy_AuAPC5jgyQ"/>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FL8eNKbehTYqfW9.SL1xlw"/>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exQgSE8oIwycZ4yZfigxtQ"/>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MkQTsq7mWfuT9BHNgOMiOw"/>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8VNqbDnXrHc6VgqWDp5faQ"/>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Hb.OGjyuOEz7JmCoYvuvzA"/>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TaLd6x9dxAgXUoZyLwt8.g"/>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jQsZT.WxbvO7r72y_a9UuQ"/>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6HaUyUHzO4q6CB1Y6V4pBA"/>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Tp5CJixUS9JPHiYlwzkiew"/>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WfpFbwMuJvktBT0j7xMrPQ"/>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YzEtzQyMvu4XcyiCKt8HOg"/>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eeqreOdxbu8QeOBe43DkQQ"/>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HVT24k50laFDuIAOQwLWOw"/>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dV8L3envyX81_l5X7VJ6.w"/>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e2dNrtOZu9Xs8P40hRqNeg"/>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147TE71SOW2U5nWR4WytFg"/>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afE5VT3P1ZNtkeN6T_mwwQ"/>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NoukZkdxmYJ5EQuR1BIEZw"/>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2lGQsFWCgqBDothiaKBO3g"/>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rf7zCekCPfwdnDDHCy3pUw"/>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cpM9U0yP.DUP9QARhvUinA"/>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gEuZOFPjo9FxefsNeNJLmQ"/>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oL.a5rfg_NPWjA9vwkazTw"/>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mVaIcoRs35xU7WNnA2aSzQ"/>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oyIC7Z2aQAhAOkbu60bQl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71cTu9_jDlW6da_7MKGZ5g"/>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kElPwMauXK2D.8NjFKIojg"/>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NxThv2KT4UXfNNw9BMztug"/>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tvmc1Ew_6S0ugs2VXjFVYw"/>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jV7SVE93NZV1iQrJh4RL6w"/>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8048HVRvK5llfBWdOT6R5w"/>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2vvvdfxQ.9zfH.ahJLVjeQ"/>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uYBbxEsESbfmSJM331RhWA"/>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tdy4bEsbQf_5fdvr9Eyq.CQ"/>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skgPlAEVlGssdFQCmOu3YQ"/>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WErJ4MS2dPDeOrgI8zx62A"/>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kq7gpbm5KWCyFhouFf8GUg"/>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YDVei1x3IZXWm.csrpBUiw"/>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ckF5s7AzbLOZTHL8M6YRvw"/>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Hcnn3za6Mug2EB2tXl4l_A"/>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BLcAqU2WnFcDHeWO3_nTtQ"/>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gLFUWze6wCdvhCtDV1BiYw"/>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nN8SB6K4sXGaucJdj1vT3w"/>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yGqDRd_J2cC6vggOuO4SLA"/>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J1OM_VzAbqV6JsTVNvZuSg"/>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C1_J51US7CS5bM9AtPiMVA"/>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aJDzt7axx2iU29QM54WL4Q"/>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Kq_1jssY22EVrmMNmSrraQ"/>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f4RfMf0HKPkVsMvan9MyFw"/>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vISQrvyLfw8vnrGt..QMbg"/>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a7xiUdn0NxxU3.56dD2OF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Voi0T3ZLFcFTdHlJBiMx_A"/>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bPIPNXULd_i2xxj14KPJXw"/>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YRkCJSzwHA5ZMSUOse2l3Q"/>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D5s0g7S0YQ.8tTJXC_9t2g"/>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_OgnCBndJq5sExZBLV98Dg"/>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HApHIad61EhaCL8lW.t2Q"/>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k9HX0PTOhGY9CUjno0niQ"/>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pvghVjsGh8tgyedQazRjkw"/>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g6xhlE7h7cYD8unEvv.7ww"/>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5bL94Khe4eqgjFCyn2DBnA"/>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vvO5_zWvzJMwZ_QyIxl_LQ"/>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Xnm3t02HeHSUiw958eelNg"/>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92QIN8_efrfgdxZMW2bQFA"/>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UNQLfeuWYx2.WWVFssx0Aw"/>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G8IDxrzjaZZCgKJTGIvckA"/>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fUl7dRl22aaqSmins1gP2w"/>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cFR6m54U.I_qkpuphc7aSw"/>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zJoSu7Nhnu1u.7VIfgoVPA"/>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_ca5yNmZAtNl6Sq8avnjLQ"/>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trWH0vGWiz9rC0WUiVBwuA"/>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Gu3NrtbiLnHRXgnAVtb6iA"/>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jq7rRoQpZxdI3Y2PKUIntQ"/>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fbuarO5D6HFlmPBTDqI1Bw"/>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QG6xw13570mOs6y6M59UWg"/>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S0zAekf51o2LIPLyhD95Pw"/>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k1DaOxuUfYGQVMD89Ag2UA"/>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RwGsvzXizmQhnOxNoeZY1w"/>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dqngv18vT.d2CB6BxRmWPg"/>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OyTzBgCyIpk_j1Bca0pY1w"/>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LvncfvxYtIov0wtkpQsH9w"/>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nRqNe_mX92VTmWZQl71o.A"/>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hR3ZMAEzXvZnAYEeaj2M8w"/>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G0Vd2HKGTcbOILQ9BpdAuQ"/>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Nw1_Kzh95LENlmPU1SdMOw"/>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Z_Fs8GY47pcsdf44vYtLig"/>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CbhcUdHni9alkaQ2g9CM5A"/>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NOa4tZuwESTBWJxu9AbNDA"/>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Kjt3HQ3CNOSEDnft2cLk9Q"/>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NiNXMRwebigScFLniE4Hjw"/>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NGb6iy63AHBRJG.0YI9cIg"/>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RzQqhS9AcXoZdSZDSsk.vg"/>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IRjoLmCpEMT00ltYuyvm8w"/>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EUZzGp7aFMFiI77Oo.05lw"/>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rIctVMS8p8X1a4DpSPq61g"/>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4drezTF7Qw7.PgEQ3rs4xA"/>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MutGnK.qj.Xxdq5Cwerysw"/>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RImMCItvEKk1oa8rXNAI8Q"/>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AfIPHVFH0v1AG5hOkh7F6Q"/>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AVeLfP_iZzPrXp1IkQJBHw"/>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ioK0CvEnNSbijI2bsdyGng"/>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xHub2NyFbIBEuur0YL_5EA"/>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F3EKyoB8i3sNLkY3pgeO5g"/>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8cYXRMLZGCrj.wXQZEaVQg"/>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n1KhcBSC.fIBUp2Wl4EXjA"/>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aD9u8JfExVQglFcI5n.e4Q"/>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cazLK4pZ0n_CWzWyb9TlpQ"/>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ceozq.O6INwEkBV70ndtjQ"/>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lDofoGV.jbgGcvtP2O4Wgg"/>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fJiX5fMSafsYXhNHVWeg1A"/>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KSs47N3NifE2z4rt.VLHUw"/>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pCepLMPbunKBIrbUJY04xg"/>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G8LuzzsvlHrXJ3fsUMyYnw"/>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60cG7S1AguN5AV58kgtvVA"/>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0EWblUDvPKf0IsiKwsRUdQ"/>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7mKAGrMXrtQnWyQnlWFQBw"/>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GsJDy7qcQ7EPWp9JuQuR0g"/>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H6I._p5psXhfkOvWIpzF1g"/>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vXDaAzANj9ukfu3kFHDtWg"/>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frponDMfaXDVT2ayxx4P8w"/>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CUI5M0yQxPhrvr8Coge8AQ"/>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vvldoBHxly8aAZSRsVby7A"/>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AzgJBgazzjUC1coWc7_XMg"/>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YYGLqTK2yB06zscNb3TkVQ"/>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Lg5Z5u41TazaCocDW4o5Cg"/>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aVWpCFvQ3ycmQWflWSAJ1g"/>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omPkRNyY4JmivPpEp8CFtg"/>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GYwrY32wAsYiL198dG3DiA"/>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QDKHR2xRF.N33SIPSshewQ"/>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EB3A08n03Ph7xZvIXDVO6A"/>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PlY8kp7ZQMzQq0CrIni8Bg"/>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t.I4zw8B4ajV5GBZiT9BCg"/>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zlnHU1rMDfGll3jK5sE3Qg"/>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99k36M0yE1qY9Dxa42Ms1Q"/>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8FNKnhAGvlp4cdOBs1R1TA"/>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02oUoYR4jP4SfmzmyIf3Tw"/>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logNyOWv_opCCnEg_Uur_A"/>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IZGm8cE._nZyjEn1uSMDRA"/>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XAMlKTo0CZfPpuKd5C.q.w"/>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gmVr6as8AxhVWHJH2LnW2g"/>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RNM00gYL_Um9pEpGq0K9sQ"/>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cEJOSm2lt0.P5rpr8i1D_g"/>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sgZCeL9Qg0P68olCMghRKQ"/>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yvFLyiKWB3GSa_88wgqIs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8KOvcG7CCdGQNAQGtoOlGw"/>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lVM3QbVY_rUq1x9_ZNvaFA"/>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oSmk8ChuLDJvkvYTQgLDiA"/>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E5_QI1XKfnI7k1irJiQKzA"/>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ivb1gPPlqhaF3k7P6Lxj8g"/>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x.zbvY.krqfeuXbqJ8LLcA"/>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czppGAtuL1STDaDcHIq2Vg"/>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DXmEsjOxZ2UH0GaQUQm_sQ"/>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R.nhBCYBRcsf43UyZH1U.g"/>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G5i3PS9lUVDZoa4q5NjJOQ"/>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xEpE79klh6bTnaVhf_QeqQ"/>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iy1OSumRLcFKM4Yu2yFcQ"/>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YDdfcQU0vPeT.IKd9wlhSw"/>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TFka5CaJiiyRkLcGVqjU_w"/>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3uZ9.dNUdm3SS8aTOnzwRA"/>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4izVH34tlWqxS24YOPrsog"/>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0pFXyeSN60_eMZD_vjZMPA"/>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774jHq6ePl.fHAU.Q7SWZw"/>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8cZgqKMEVL3vHJp9rpYloA"/>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cZbpbL1Ux7lkOZVYDTXwnA"/>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tnGZF3cXyUIiD9gFgBv6_A"/>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9dP.IrWiGC5tDkP8FolchQ"/>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fvBppBCHCEkJ.A2QSAx2pA"/>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6vhfeE0y.R5sTLHJ.bS6dA"/>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I0RJ5JBm82dUxGDwj.FU6Q"/>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D05EuJ5URtc6cI9sLhHj.g"/>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Cbh5Akt86iaYKip8QFSYbA"/>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_aiI66duGnH78tu0pcoaYg"/>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5RddP3O1tG9vepBv1rNPVg"/>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B52T_0udx8rNK3j9x02ZRQ"/>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u0UwT1SfMT0CE2NNoOPntA"/>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98o6GFUIDtZpgjF.HgzVzQ"/>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Xafk9LBD1AupHgQKv_KeYQ"/>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_zVAqPup7lUvfvodB_5ppA"/>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gmvGvq4cuJLl6IxFU9zCzA"/>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O9PNzq9vJ2FxsFebHE8c5A"/>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P0fLK9aWPs1LjIBX57yU1Q"/>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tZzqDeuIWXXF8Ozcd0.V.A"/>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HUH5qltXrcOQThIL_QLCJQ"/>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W24plUixnFd62z8tx8yq2w"/>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7FMdMeQkXZyVVo5Gji2r5w"/>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flPEsb96RVVORXuKyBKw"/>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4y1RqllUh3jq4UQ40ExDuA"/>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TjCSJZfGFLVmTP6xOpczpg"/>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wtqvebIngVkTQYV8rv2Nhg"/>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N2XrbCH4n4_1BnzY1mCy3A"/>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d7MMDn1OhG1PC07qvNUg5A"/>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KqxVe78oRHCF4eDpQ75Bjw"/>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C5DtWAg9_gHMa778TWxWmQ"/>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8K57idvtVJyVKtiMJRzhTQ"/>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f2Aeu4FyhIpOwR2thNDV.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MG.qXcMSZhclw19yV7rz9g"/>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gC5V21Oxm_t1KQ7PzKpbNg"/>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XGncOHqnhbmg4MgfD8eDGA"/>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wqtzXKFBfo3bz2y3tW6YYQ"/>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NNJ4UydrkiZJE2du_g1wTA"/>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NNJ4UydrkiZJE2du_g1wTA"/>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FTnpVrOJEXec69.9XSDqTg"/>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2QEOpoZRq635A.3UR0FcCg"/>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bm_gB3RiODn3YX1.TIR6cw"/>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Wu_eRl31lv60dwnC5QZrVA"/>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qHDu4zmHFAMyRVRgWLCB4w"/>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t9gKjmfB7X4oaJyxtfPvKg"/>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feeLf_1SAkUhdBmVyTmzmg"/>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sES7Cc7r0TU3tyrQ9PMxtg"/>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DJhtts8KCtqQmthWC2hZGQ"/>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N7b1uG6RqCxd48s3Xjb3vQ"/>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J7E1oj2hCCKJqpsxP3fdlg"/>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3PQl.VLbMYMF1XPqsEbBhA"/>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6Qa9XIxEy9IYL0TYIXitsA"/>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bf7X..6N1X.lattFLrwEtQ"/>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2nOMihEbx5PoYI7DzHgu4g"/>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5opYqPpitCR1VgxI5c5QFA"/>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6.unAYUAEraS_HT7mzZqCw"/>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I5SK7N1yg_j5xrXQeiGkhg"/>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P50vCevpEidaBjDasKHGlw"/>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F5OqmOkjTVMRkSvF9kpL9A"/>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P934tdwYealQirvz2zZg8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ulqJ5OhVOaBma1qihHA42A"/>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MVZGCsvEgeZxTCq_BLurbA"/>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LakkpHEejRAksXS2vl2MbA"/>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rpsTmg0Wn21_2IZ9T039NQ"/>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WLHG5acdP9uf0hGrqk8oJg"/>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SGARoeMO3qMKnmakyJdOpQ"/>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U1xY8gVshQbX8wmEnXEpKw"/>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TJNVUVw8BjuKy.yos65E6w"/>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NNJ4UydrkiZJE2du_g1wTA"/>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pq32163wRdrKETWMvZbQq5Q"/>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pcHnsN69SHxmhJ4uzML_Iuw"/>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piezcEaroK1wTYQXZj9v9ag"/>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phdu9UhzlO3pMcjeUUpyr3w"/>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pGKGF4p7gzrV8eUHodB0hSQ"/>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pIiiykSlUYVc.axjK_m8pug"/>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pgSeSLzK6curqjfF137Nvuw"/>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plLHTJgFC0vQm0CH.XOK3sA"/>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pCJv.iBdjnZant8NkL6TXjw"/>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J0qKdk6bGdnksqN11ICgrg"/>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XGWRGWK2.fI6YRo65.2MLw"/>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hDczz4WtfmRZw.zI6Vpjpg"/>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TMVAHq2gHbW8VOkYvZfEcQ"/>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wEkSX_p_4IKNs560l0HV8Q"/>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0ZFm8_YDDwoGLDIGu.utOg"/>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heAC8SDh1QjwcXLDYNZ5aQ"/>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xdXitdfzIw4fEmRdxTqwLQ"/>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8WNL0pErRMk37kWbUc5GLg"/>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9XgKHCq6ChzK_1GY1_P8SA"/>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vBjEAS7jAo86XntpHpyUFg"/>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xIlWEvqFdUCYjCXpdm3UHA"/>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PnK5ilNhV0ZYM8BEGiJAkA"/>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BYMeWnyMHJFbkqnDoVQTjw"/>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Jdw8UisnMoggAS.CewS99g"/>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2mHWeUXwiwoKTJ3u.jDhOA"/>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UNeVayUBiFRZhp.NwWv6aA"/>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1PtLuRLLodscVtjfVhtTDQ"/>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PZR2lI9f9SAQiSPjf7g4Sg"/>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BP66ZiY4fehKfG5oL3AUXA"/>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u4CUnErbNFahECtYqh42Jg"/>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Gnjvbb.TkvwXqHp9eC07HA"/>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BEBfuDdFB1pkQcJv068Pmg"/>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_IWkodbqgof95OyIj66HGg"/>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6Tbn32qHs1MoTTheBJzqSw"/>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yoi.BxlE2GWZ5iVVkUp5dQ"/>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EDjCTqBZCbFcd1AawEHPdQ"/>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GzbMEQ1OwJqKs4AHcSAsrg"/>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viwTwloNJaUoG7MapKWdFA"/>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dwceb0MjVVDe_7yt3xAgxw"/>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quSPSl9ZWuIlwZr5EujOOA"/>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yy8yQ7m.AaTPzwSPrG5ZKw"/>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rsyItnRGh7ulUpXA15l16Q"/>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cQuxmD6c4JIRMJe7YNJIwg"/>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Vds40.Mkhpa5OgEXyOeiXg"/>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4_Custom Design">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7030A0"/>
        </a:solidFill>
        <a:ln>
          <a:noFill/>
        </a:ln>
      </a:spPr>
      <a:bodyPr lIns="72000" tIns="72000" rIns="72000" bIns="72000" rtlCol="0" anchor="ctr"/>
      <a:lstStyle>
        <a:defPPr algn="l">
          <a:spcBef>
            <a:spcPts val="600"/>
          </a:spcBef>
          <a:defRPr sz="1000" dirty="0"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eme1">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180000" tIns="180000" rIns="180000" bIns="180000" rtlCol="0" anchor="t"/>
      <a:lstStyle>
        <a:defPPr marL="171450" indent="-171450" algn="l">
          <a:spcBef>
            <a:spcPts val="600"/>
          </a:spcBef>
          <a:buFont typeface="Arial" panose="020B0604020202020204" pitchFamily="34" charset="0"/>
          <a:buChar char="•"/>
          <a:defRPr sz="1000"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Theme1" id="{08444662-6513-45BF-9C7B-8D6DB366CE95}" vid="{05714B63-219A-4E7C-B3B8-CE384B470D06}"/>
    </a:ext>
  </a:extLst>
</a:theme>
</file>

<file path=ppt/theme/theme3.xml><?xml version="1.0" encoding="utf-8"?>
<a:theme xmlns:a="http://schemas.openxmlformats.org/drawingml/2006/main" name="1_Theme1">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180000" tIns="180000" rIns="180000" bIns="180000" rtlCol="0" anchor="t"/>
      <a:lstStyle>
        <a:defPPr marL="171450" indent="-171450" algn="l">
          <a:spcBef>
            <a:spcPts val="600"/>
          </a:spcBef>
          <a:buFont typeface="Arial" panose="020B0604020202020204" pitchFamily="34" charset="0"/>
          <a:buChar char="•"/>
          <a:defRPr sz="1000"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Theme1" id="{B65610AA-DF1A-41BA-9776-4E99B3F1C7F8}" vid="{E76739B7-0A50-41F2-8070-AE5C97F24DED}"/>
    </a:ext>
  </a:extLst>
</a:theme>
</file>

<file path=ppt/theme/theme4.xml><?xml version="1.0" encoding="utf-8"?>
<a:theme xmlns:a="http://schemas.openxmlformats.org/drawingml/2006/main" name="5_Custom Design">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180000" tIns="180000" rIns="180000" bIns="180000" rtlCol="0" anchor="t"/>
      <a:lstStyle>
        <a:defPPr marL="171450" indent="-171450" algn="l">
          <a:spcBef>
            <a:spcPts val="600"/>
          </a:spcBef>
          <a:buFont typeface="Arial" panose="020B0604020202020204" pitchFamily="34" charset="0"/>
          <a:buChar char="•"/>
          <a:defRPr sz="1000"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Theme1">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180000" tIns="180000" rIns="180000" bIns="180000" rtlCol="0" anchor="t"/>
      <a:lstStyle>
        <a:defPPr marL="171450" indent="-171450" algn="l">
          <a:spcBef>
            <a:spcPts val="600"/>
          </a:spcBef>
          <a:buFont typeface="Arial" panose="020B0604020202020204" pitchFamily="34" charset="0"/>
          <a:buChar char="•"/>
          <a:defRPr sz="10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Theme1" id="{B65610AA-DF1A-41BA-9776-4E99B3F1C7F8}" vid="{E76739B7-0A50-41F2-8070-AE5C97F24DED}"/>
    </a:ext>
  </a:extLst>
</a:theme>
</file>

<file path=ppt/theme/theme6.xml><?xml version="1.0" encoding="utf-8"?>
<a:theme xmlns:a="http://schemas.openxmlformats.org/drawingml/2006/main" name="3_Custom Design">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180000" tIns="180000" rIns="180000" bIns="180000" rtlCol="0" anchor="ctr"/>
      <a:lstStyle>
        <a:defPPr algn="ctr">
          <a:spcBef>
            <a:spcPts val="600"/>
          </a:spcBef>
          <a:defRPr sz="1000"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Custom Design">
  <a:themeElements>
    <a:clrScheme name="Scotiabank">
      <a:dk1>
        <a:srgbClr val="000000"/>
      </a:dk1>
      <a:lt1>
        <a:srgbClr val="FFFFFF"/>
      </a:lt1>
      <a:dk2>
        <a:srgbClr val="000000"/>
      </a:dk2>
      <a:lt2>
        <a:srgbClr val="666666"/>
      </a:lt2>
      <a:accent1>
        <a:srgbClr val="EC111A"/>
      </a:accent1>
      <a:accent2>
        <a:srgbClr val="FDB913"/>
      </a:accent2>
      <a:accent3>
        <a:srgbClr val="F05329"/>
      </a:accent3>
      <a:accent4>
        <a:srgbClr val="AEE0EE"/>
      </a:accent4>
      <a:accent5>
        <a:srgbClr val="00A467"/>
      </a:accent5>
      <a:accent6>
        <a:srgbClr val="005547"/>
      </a:accent6>
      <a:hlink>
        <a:srgbClr val="0645AD"/>
      </a:hlink>
      <a:folHlink>
        <a:srgbClr val="0B0080"/>
      </a:folHlink>
    </a:clrScheme>
    <a:fontScheme name="Scotia">
      <a:majorFont>
        <a:latin typeface="Scotia Headline"/>
        <a:ea typeface=""/>
        <a:cs typeface=""/>
      </a:majorFont>
      <a:minorFont>
        <a:latin typeface="Scot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DB913"/>
        </a:solidFill>
        <a:ln>
          <a:noFill/>
        </a:ln>
      </a:spPr>
      <a:bodyPr lIns="72000" tIns="72000" rIns="72000" bIns="72000" rtlCol="0" anchor="ctr"/>
      <a:lstStyle>
        <a:defPPr algn="ctr">
          <a:spcBef>
            <a:spcPts val="600"/>
          </a:spcBef>
          <a:defRPr sz="1000" dirty="0" err="1"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Scotia Red">
      <a:srgbClr val="EC111A"/>
    </a:custClr>
    <a:custClr name="Document">
      <a:srgbClr val="F5EFE8"/>
    </a:custClr>
    <a:custClr name="Stone">
      <a:srgbClr val="D8D6CA"/>
    </a:custClr>
    <a:custClr name="Charcoal">
      <a:srgbClr val="1E1117"/>
    </a:custClr>
    <a:custClr name="Sunflower">
      <a:srgbClr val="FDB913"/>
    </a:custClr>
    <a:custClr name="Apricot">
      <a:srgbClr val="F05329"/>
    </a:custClr>
    <a:custClr name="Sky">
      <a:srgbClr val="AEE0EE"/>
    </a:custClr>
    <a:custClr name="Ocean">
      <a:srgbClr val="005A85"/>
    </a:custClr>
    <a:custClr name="Leaf">
      <a:srgbClr val="00A467"/>
    </a:custClr>
    <a:custClr name="Forest">
      <a:srgbClr val="005547"/>
    </a:custClr>
    <a:custClr name="Blossom">
      <a:srgbClr val="F4999F"/>
    </a:custClr>
    <a:custClr name="Oxblood">
      <a:srgbClr val="450000"/>
    </a:custClr>
    <a:custClr name="Black">
      <a:srgbClr val="000000"/>
    </a:custClr>
    <a:custClr name="White">
      <a:srgbClr val="FFFFFF"/>
    </a:custClr>
  </a:custClr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2B10C6C6BC847441AF093CF1540F85A1" ma:contentTypeVersion="14" ma:contentTypeDescription="Create a new document." ma:contentTypeScope="" ma:versionID="a069785a5e34a4318dce62461221fa31">
  <xsd:schema xmlns:xsd="http://www.w3.org/2001/XMLSchema" xmlns:xs="http://www.w3.org/2001/XMLSchema" xmlns:p="http://schemas.microsoft.com/office/2006/metadata/properties" xmlns:ns2="6892c2a5-2c0e-4a70-9671-7adff67bb34a" xmlns:ns3="b0ec2d0e-14ff-4aa6-bc9a-21ab4a618eff" targetNamespace="http://schemas.microsoft.com/office/2006/metadata/properties" ma:root="true" ma:fieldsID="4a3167c85caa4d4cec59fa673ac637f8" ns2:_="" ns3:_="">
    <xsd:import namespace="6892c2a5-2c0e-4a70-9671-7adff67bb34a"/>
    <xsd:import namespace="b0ec2d0e-14ff-4aa6-bc9a-21ab4a618eff"/>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lcf76f155ced4ddcb4097134ff3c332f" minOccurs="0"/>
                <xsd:element ref="ns3:TaxCatchAll" minOccurs="0"/>
                <xsd:element ref="ns2:MediaServiceDateTaken" minOccurs="0"/>
                <xsd:element ref="ns2:MediaServiceOCR" minOccurs="0"/>
                <xsd:element ref="ns2:MediaServiceGenerationTime" minOccurs="0"/>
                <xsd:element ref="ns2:MediaServiceEventHashCode" minOccurs="0"/>
                <xsd:element ref="ns2:MediaServiceLocation" minOccurs="0"/>
                <xsd:element ref="ns2:MediaLengthInSeconds" minOccurs="0"/>
                <xsd:element ref="ns2:MediaServiceBillingMetadata" minOccurs="0"/>
                <xsd:element ref="ns2:Ques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892c2a5-2c0e-4a70-9671-7adff67bb34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lcf76f155ced4ddcb4097134ff3c332f" ma:index="12" nillable="true" ma:taxonomy="true" ma:internalName="lcf76f155ced4ddcb4097134ff3c332f" ma:taxonomyFieldName="MediaServiceImageTags" ma:displayName="Image Tags" ma:readOnly="false" ma:fieldId="{5cf76f15-5ced-4ddc-b409-7134ff3c332f}" ma:taxonomyMulti="true" ma:sspId="d1ae396a-c076-4d2d-8527-41749cbd11f8" ma:termSetId="09814cd3-568e-fe90-9814-8d621ff8fb84" ma:anchorId="fba54fb3-c3e1-fe81-a776-ca4b69148c4d" ma:open="true" ma:isKeyword="false">
      <xsd:complexType>
        <xsd:sequence>
          <xsd:element ref="pc:Terms" minOccurs="0" maxOccurs="1"/>
        </xsd:sequence>
      </xsd:complexType>
    </xsd:element>
    <xsd:element name="MediaServiceDateTaken" ma:index="14" nillable="true" ma:displayName="MediaServiceDateTaken" ma:hidden="true" ma:indexed="true" ma:internalName="MediaServiceDateTaken"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Location" ma:index="18" nillable="true" ma:displayName="Location" ma:indexed="true" ma:internalName="MediaServiceLocatio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element name="MediaServiceBillingMetadata" ma:index="20" nillable="true" ma:displayName="MediaServiceBillingMetadata" ma:hidden="true" ma:internalName="MediaServiceBillingMetadata" ma:readOnly="true">
      <xsd:simpleType>
        <xsd:restriction base="dms:Note"/>
      </xsd:simpleType>
    </xsd:element>
    <xsd:element name="Question" ma:index="21" nillable="true" ma:displayName="Question" ma:format="Dropdown" ma:internalName="Question">
      <xsd:simpleType>
        <xsd:restriction base="dms:Choice">
          <xsd:enumeration value="Choice 1"/>
          <xsd:enumeration value="Choice 2"/>
          <xsd:enumeration value="Choice 3"/>
        </xsd:restriction>
      </xsd:simpleType>
    </xsd:element>
  </xsd:schema>
  <xsd:schema xmlns:xsd="http://www.w3.org/2001/XMLSchema" xmlns:xs="http://www.w3.org/2001/XMLSchema" xmlns:dms="http://schemas.microsoft.com/office/2006/documentManagement/types" xmlns:pc="http://schemas.microsoft.com/office/infopath/2007/PartnerControls" targetNamespace="b0ec2d0e-14ff-4aa6-bc9a-21ab4a618eff" elementFormDefault="qualified">
    <xsd:import namespace="http://schemas.microsoft.com/office/2006/documentManagement/types"/>
    <xsd:import namespace="http://schemas.microsoft.com/office/infopath/2007/PartnerControls"/>
    <xsd:element name="TaxCatchAll" ma:index="13" nillable="true" ma:displayName="Taxonomy Catch All Column" ma:hidden="true" ma:list="{d4ade0fd-cc8a-4a12-be7e-3a5774b31e01}" ma:internalName="TaxCatchAll" ma:showField="CatchAllData" ma:web="b0ec2d0e-14ff-4aa6-bc9a-21ab4a618ef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Question xmlns="6892c2a5-2c0e-4a70-9671-7adff67bb34a" xsi:nil="true"/>
    <lcf76f155ced4ddcb4097134ff3c332f xmlns="6892c2a5-2c0e-4a70-9671-7adff67bb34a">
      <Terms xmlns="http://schemas.microsoft.com/office/infopath/2007/PartnerControls"/>
    </lcf76f155ced4ddcb4097134ff3c332f>
    <TaxCatchAll xmlns="b0ec2d0e-14ff-4aa6-bc9a-21ab4a618eff" xsi:nil="true"/>
  </documentManagement>
</p:properties>
</file>

<file path=customXml/itemProps1.xml><?xml version="1.0" encoding="utf-8"?>
<ds:datastoreItem xmlns:ds="http://schemas.openxmlformats.org/officeDocument/2006/customXml" ds:itemID="{77049F93-65D1-40C0-85A0-F3D8BD41010A}">
  <ds:schemaRefs>
    <ds:schemaRef ds:uri="6892c2a5-2c0e-4a70-9671-7adff67bb34a"/>
    <ds:schemaRef ds:uri="b0ec2d0e-14ff-4aa6-bc9a-21ab4a618ef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7B83C3FA-1CB5-4E17-B452-8CB218676BC2}">
  <ds:schemaRefs>
    <ds:schemaRef ds:uri="http://schemas.microsoft.com/sharepoint/v3/contenttype/forms"/>
  </ds:schemaRefs>
</ds:datastoreItem>
</file>

<file path=customXml/itemProps3.xml><?xml version="1.0" encoding="utf-8"?>
<ds:datastoreItem xmlns:ds="http://schemas.openxmlformats.org/officeDocument/2006/customXml" ds:itemID="{38CE93F4-CD5A-4FDC-938A-C64158F9BE74}">
  <ds:schemaRefs>
    <ds:schemaRef ds:uri="6892c2a5-2c0e-4a70-9671-7adff67bb34a"/>
    <ds:schemaRef ds:uri="b0ec2d0e-14ff-4aa6-bc9a-21ab4a618eff"/>
    <ds:schemaRef ds:uri="http://schemas.microsoft.com/office/2006/metadata/properties"/>
    <ds:schemaRef ds:uri="http://schemas.microsoft.com/office/infopath/2007/PartnerControls"/>
  </ds:schemaRefs>
</ds:datastoreItem>
</file>

<file path=docMetadata/LabelInfo.xml><?xml version="1.0" encoding="utf-8"?>
<clbl:labelList xmlns:clbl="http://schemas.microsoft.com/office/2020/mipLabelMetadata">
  <clbl:label id="{8ff33436-4701-4dad-b7d3-3462e99c6889}" enabled="0" method="" siteId="{8ff33436-4701-4dad-b7d3-3462e99c6889}" removed="1"/>
</clbl:labelList>
</file>

<file path=docProps/app.xml><?xml version="1.0" encoding="utf-8"?>
<Properties xmlns="http://schemas.openxmlformats.org/officeDocument/2006/extended-properties" xmlns:vt="http://schemas.openxmlformats.org/officeDocument/2006/docPropsVTypes">
  <TotalTime>0</TotalTime>
  <Words>16874</Words>
  <Application>Microsoft Office PowerPoint</Application>
  <PresentationFormat>Widescreen</PresentationFormat>
  <Paragraphs>3001</Paragraphs>
  <Slides>71</Slides>
  <Notes>49</Notes>
  <HiddenSlides>1</HiddenSlides>
  <MMClips>0</MMClips>
  <ScaleCrop>false</ScaleCrop>
  <HeadingPairs>
    <vt:vector size="8" baseType="variant">
      <vt:variant>
        <vt:lpstr>Fonts Used</vt:lpstr>
      </vt:variant>
      <vt:variant>
        <vt:i4>18</vt:i4>
      </vt:variant>
      <vt:variant>
        <vt:lpstr>Theme</vt:lpstr>
      </vt:variant>
      <vt:variant>
        <vt:i4>7</vt:i4>
      </vt:variant>
      <vt:variant>
        <vt:lpstr>Embedded OLE Servers</vt:lpstr>
      </vt:variant>
      <vt:variant>
        <vt:i4>1</vt:i4>
      </vt:variant>
      <vt:variant>
        <vt:lpstr>Slide Titles</vt:lpstr>
      </vt:variant>
      <vt:variant>
        <vt:i4>71</vt:i4>
      </vt:variant>
    </vt:vector>
  </HeadingPairs>
  <TitlesOfParts>
    <vt:vector size="97" baseType="lpstr">
      <vt:lpstr>DengXian</vt:lpstr>
      <vt:lpstr>Aptos</vt:lpstr>
      <vt:lpstr>Arial</vt:lpstr>
      <vt:lpstr>Arial,Sans-Serif</vt:lpstr>
      <vt:lpstr>Calibri</vt:lpstr>
      <vt:lpstr>Courier New</vt:lpstr>
      <vt:lpstr>Gill Sans</vt:lpstr>
      <vt:lpstr>Gotham</vt:lpstr>
      <vt:lpstr>Pratt</vt:lpstr>
      <vt:lpstr>Scotia</vt:lpstr>
      <vt:lpstr>Scotia  </vt:lpstr>
      <vt:lpstr>Scotia (Body)</vt:lpstr>
      <vt:lpstr>Scotia Headline</vt:lpstr>
      <vt:lpstr>Scotia Light</vt:lpstr>
      <vt:lpstr>Scotia Regular</vt:lpstr>
      <vt:lpstr>Scotia Serif Headline</vt:lpstr>
      <vt:lpstr>Symbol</vt:lpstr>
      <vt:lpstr>Wingdings</vt:lpstr>
      <vt:lpstr>4_Custom Design</vt:lpstr>
      <vt:lpstr>Theme1</vt:lpstr>
      <vt:lpstr>1_Theme1</vt:lpstr>
      <vt:lpstr>5_Custom Design</vt:lpstr>
      <vt:lpstr>2_Theme1</vt:lpstr>
      <vt:lpstr>3_Custom Design</vt:lpstr>
      <vt:lpstr>6_Custom Design</vt:lpstr>
      <vt:lpstr>think-cell Slide</vt:lpstr>
      <vt:lpstr>PowerPoint Presentation</vt:lpstr>
      <vt:lpstr>PLEASE READ:  To enrich the context of our slides for AI training purposes we have identified 6-9 context variables that will be useful to collect</vt:lpstr>
      <vt:lpstr>PowerPoint Presentation</vt:lpstr>
      <vt:lpstr>PowerPoint Presentation</vt:lpstr>
      <vt:lpstr>Executive Summary</vt:lpstr>
      <vt:lpstr>Executive Summary</vt:lpstr>
      <vt:lpstr>Executive Summary</vt:lpstr>
      <vt:lpstr>Executive summary</vt:lpstr>
      <vt:lpstr>PowerPoint Presentation</vt:lpstr>
      <vt:lpstr>Agenda | Day 1: Tuesday, March 31st, 2026 </vt:lpstr>
      <vt:lpstr>Offsite Agenda </vt:lpstr>
      <vt:lpstr>Agenda | Day 1</vt:lpstr>
      <vt:lpstr>Aligning on guiding principles and future state client contact strategy are foundational to achieving channel strategy outcomes</vt:lpstr>
      <vt:lpstr>PowerPoint Presentation</vt:lpstr>
      <vt:lpstr>Recall | Multiple workshops have been conducted with the virtual and digital working teams based on prioritized topics for channel strategy</vt:lpstr>
      <vt:lpstr>Workshop Pre-Read | Since the last board session, we have continued to progress on the Bank’s Digital Assets Strategy</vt:lpstr>
      <vt:lpstr>Recall | Consensus was established on key themes that will inform future state team structure, enabling cost effective, scalable growth</vt:lpstr>
      <vt:lpstr>PowerPoint Presentation</vt:lpstr>
      <vt:lpstr>Outline | The BL and Technology Strategic and Financial Updates at the September Board Strategy Session follow a standard format</vt:lpstr>
      <vt:lpstr>PowerPoint Presentation</vt:lpstr>
      <vt:lpstr>Timeline | We are building out a more detailed schedule aligned to Board1, OpCo, and Finance calendars2 we propose 5 SteerCo dates to manage and review progress</vt:lpstr>
      <vt:lpstr>Timeline | We will work collaboratively with the businesses over the next ~4 months to complete program design</vt:lpstr>
      <vt:lpstr>Timeline | This engagement will span 12–16-weeks with monthly executive SteerCo's and bi-weekly working sessions </vt:lpstr>
      <vt:lpstr>Commercial and Wealth Partnership History | Since F16, key progress has been made to increase collaboration &amp; partnership between our businesses</vt:lpstr>
      <vt:lpstr>Investment Roadmap | ~$20MM in F25 is required to support in execution against our strategic priorities; majority of our initiatives are self funded</vt:lpstr>
      <vt:lpstr>PowerPoint Presentation</vt:lpstr>
      <vt:lpstr>Program Team | We will work collaboratively with the business teams and engage with the functional experts to design the program</vt:lpstr>
      <vt:lpstr>Each session will include a core team of participants – with potential to invite domain and subject matter experts as needed</vt:lpstr>
      <vt:lpstr>Approach | We are planning to run this with a more formal governance structure this year to ensure pace and appropriate leadership involvement</vt:lpstr>
      <vt:lpstr>PowerPoint Presentation</vt:lpstr>
      <vt:lpstr>First Impressions | Recent growth driven by mortgages and auto, supported by cost efficiencies (-40% in commercial muscle) but with limited client and revenue growth</vt:lpstr>
      <vt:lpstr>As we reach the midpoint of our 5-year Investor Day journey, revenue momentum is tracking positively, with opportunity to accelerate across strategic metrics</vt:lpstr>
      <vt:lpstr>PowerPoint Presentation</vt:lpstr>
      <vt:lpstr>Competitor Offerings | RBC and BMO have built a leading offering in the retail investment space by developing strong hybrid planning and investing tools </vt:lpstr>
      <vt:lpstr>Overview | Competitors are increasingly catering to evolving Mass Affluent preferences of investment offerings while BNS has been slower to innovate</vt:lpstr>
      <vt:lpstr>Our Performance | We place second in the $25-100MM band, led by our NAC and REB segments, with opportunity to improve in Mid-Market ($1-25MM)</vt:lpstr>
      <vt:lpstr>Leading players have different value props; TD offers best-in-class platforms at high fees while Wealthsimple offers basic features and free trading</vt:lpstr>
      <vt:lpstr>Competitive Overview | Six players lead the banking landscape</vt:lpstr>
      <vt:lpstr>Competitive Overview | Among top players, SBM has the highest concentration in mortgages loans and price sensitive deposits resulting in below industry profitability</vt:lpstr>
      <vt:lpstr>Balance sheet gaps | High secured-loan and non-core deposits concentration are impacting all-bank yield</vt:lpstr>
      <vt:lpstr>Asset Market Overview | Our market share has improved over 5 years within the $25-100MM band; however, we have fallen behind in the $1-25MM band </vt:lpstr>
      <vt:lpstr>Our competitive relationship | Wealthsimple has evolved its product offerings beyond robo, now competing with us across key products that drive primacy</vt:lpstr>
      <vt:lpstr>Market Landscape | We are well positioned to capture the EHNW &amp; HNW growth opportunity through an integrated offering </vt:lpstr>
      <vt:lpstr>Market share | Over the last five years, BNS has steadily lost market share across key IB Markets, notably in Mexico and Peru</vt:lpstr>
      <vt:lpstr>BNS North Star | Scotiabank to leverage its inherent strengths in product &amp; advice while enhancing digital capabilities and improving client-centricity</vt:lpstr>
      <vt:lpstr>PowerPoint Presentation</vt:lpstr>
      <vt:lpstr>Competitive Landscape | With a young, highly digitalized market with rapid financial inclusion led by fintechs, SBM must strengthen capabilities to capture the opportunity</vt:lpstr>
      <vt:lpstr>Headwinds and Tailwinds | Impact of current environment on SBM strategy</vt:lpstr>
      <vt:lpstr>PowerPoint Presentation</vt:lpstr>
      <vt:lpstr>SBM Forward Looking Strategy | Our 2030 plan is anchored on our four strategic pillars</vt:lpstr>
      <vt:lpstr>All-Bank Strategic Priorities | We identified eight strategic priorities to address these challenges and achieve our 2030 goals</vt:lpstr>
      <vt:lpstr>Med-to-long-term roadmap | We have initiatives underway across key value levers to achieve a competitive value proposition over time</vt:lpstr>
      <vt:lpstr>PowerPoint Presentation</vt:lpstr>
      <vt:lpstr>Global Market | The North American corridor drives 90% of GBM revenue, with additional opportunity to capture prospective subsidiaries within this geography</vt:lpstr>
      <vt:lpstr>Loyalty | Fragmentation and subpar UX dilutes value and returns, driving differences in cost, profitability and engagement, requiring consolidation at scale</vt:lpstr>
      <vt:lpstr>NTB Incremental Revenue Analysis | Mexico: ~50% of incremental revenue upside driven by Top of Mass with Auto Loans, D2D, and Credit Cards as the ideal mix</vt:lpstr>
      <vt:lpstr>Products (medium term) | Cards and SPLs remain top growth drivers, with rising card contribution in Peru and easing deposits decline in Mexico and Peru</vt:lpstr>
      <vt:lpstr>Deep-dive: iTRADE | We have multiple tactics in-flight to support growth despite increased competition</vt:lpstr>
      <vt:lpstr>PowerPoint Presentation</vt:lpstr>
      <vt:lpstr>CX gaps in Retail | Digital experience gaps undermine competitiveness and client satisfaction</vt:lpstr>
      <vt:lpstr>Client-centric growth approach | Leveraged client behavior insights to identify highest‑impact strategic levers to drive revenue growth</vt:lpstr>
      <vt:lpstr>Mass Affluent Clients | Age segments have distinct motivations; younger clients show the strongest demand for advice and are the most willing to pay</vt:lpstr>
      <vt:lpstr>PowerPoint Presentation</vt:lpstr>
      <vt:lpstr>Points of Intersection | To scale virtual successfully, entry points need to be embedded into digital to connect inbound clients to virtual / branch </vt:lpstr>
      <vt:lpstr>BNS &amp; TNG Roadmap | Red Bank and Tangerine have planned strategies and investments to continue strengthening the value proposition</vt:lpstr>
      <vt:lpstr>PowerPoint Presentation</vt:lpstr>
      <vt:lpstr>Performance – Fortify the Bank | We report on a set of Board-approved Key Risk Indicators (KRIs) which are published in the Quarterly Board Report</vt:lpstr>
      <vt:lpstr>Q2 F26 Summary | Dashboard (1 of 2)</vt:lpstr>
      <vt:lpstr>PowerPoint Presentation</vt:lpstr>
      <vt:lpstr>       Risk Perspectives | Capital Management and Strategic Risk Oversight</vt:lpstr>
      <vt:lpstr>Economic Conditions | More broadly, economic conditions will play a role in future of our wealth &amp; asset mgmt. businesses, with persistent volatility likely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Deupmann, Tom</dc:creator>
  <cp:lastModifiedBy>Phu, Valerie</cp:lastModifiedBy>
  <cp:revision>1</cp:revision>
  <dcterms:created xsi:type="dcterms:W3CDTF">2026-06-02T15:02:59Z</dcterms:created>
  <dcterms:modified xsi:type="dcterms:W3CDTF">2026-06-25T19:39:07Z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0x0101002B10C6C6BC847441AF093CF1540F85A1</vt:lpwstr>
  </property>
  <property fmtid="{D5CDD505-2E9C-101B-9397-08002B2CF9AE}" pid="3" name="MediaServiceImageTags">
    <vt:lpwstr/>
  </property>
</Properties>
</file>